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42"/>
  </p:notesMasterIdLst>
  <p:sldIdLst>
    <p:sldId id="277" r:id="rId3"/>
    <p:sldId id="317" r:id="rId4"/>
    <p:sldId id="259" r:id="rId5"/>
    <p:sldId id="258" r:id="rId6"/>
    <p:sldId id="316" r:id="rId7"/>
    <p:sldId id="257" r:id="rId8"/>
    <p:sldId id="315" r:id="rId9"/>
    <p:sldId id="261" r:id="rId10"/>
    <p:sldId id="318" r:id="rId11"/>
    <p:sldId id="293" r:id="rId12"/>
    <p:sldId id="319" r:id="rId13"/>
    <p:sldId id="320" r:id="rId14"/>
    <p:sldId id="295" r:id="rId15"/>
    <p:sldId id="297" r:id="rId16"/>
    <p:sldId id="294" r:id="rId17"/>
    <p:sldId id="283" r:id="rId18"/>
    <p:sldId id="263" r:id="rId19"/>
    <p:sldId id="264" r:id="rId20"/>
    <p:sldId id="265" r:id="rId21"/>
    <p:sldId id="278" r:id="rId22"/>
    <p:sldId id="279" r:id="rId23"/>
    <p:sldId id="280" r:id="rId24"/>
    <p:sldId id="281" r:id="rId25"/>
    <p:sldId id="282" r:id="rId26"/>
    <p:sldId id="321" r:id="rId27"/>
    <p:sldId id="284" r:id="rId28"/>
    <p:sldId id="285" r:id="rId29"/>
    <p:sldId id="286" r:id="rId30"/>
    <p:sldId id="287" r:id="rId31"/>
    <p:sldId id="288" r:id="rId32"/>
    <p:sldId id="289" r:id="rId33"/>
    <p:sldId id="290" r:id="rId34"/>
    <p:sldId id="291" r:id="rId35"/>
    <p:sldId id="269" r:id="rId36"/>
    <p:sldId id="270" r:id="rId37"/>
    <p:sldId id="271" r:id="rId38"/>
    <p:sldId id="274" r:id="rId39"/>
    <p:sldId id="275" r:id="rId40"/>
    <p:sldId id="276" r:id="rId41"/>
  </p:sldIdLst>
  <p:sldSz cx="9144000" cy="5143500" type="screen16x9"/>
  <p:notesSz cx="6858000" cy="9144000"/>
  <p:embeddedFontLst>
    <p:embeddedFont>
      <p:font typeface="Roboto" panose="02000000000000000000" pitchFamily="2" charset="0"/>
      <p:regular r:id="rId43"/>
      <p:bold r:id="rId44"/>
      <p:italic r:id="rId45"/>
      <p:boldItalic r:id="rId46"/>
    </p:embeddedFont>
    <p:embeddedFont>
      <p:font typeface="Roboto Light" panose="02000000000000000000" pitchFamily="2" charset="0"/>
      <p:regular r:id="rId47"/>
      <p: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1797DA-E85C-4705-9A51-B631E4801ED5}">
  <a:tblStyle styleId="{BF1797DA-E85C-4705-9A51-B631E4801ED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455"/>
    <p:restoredTop sz="94658"/>
  </p:normalViewPr>
  <p:slideViewPr>
    <p:cSldViewPr snapToGrid="0" showGuides="1">
      <p:cViewPr varScale="1">
        <p:scale>
          <a:sx n="78" d="100"/>
          <a:sy n="78" d="100"/>
        </p:scale>
        <p:origin x="184" y="140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3.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2.fntdata"/><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4.fntdata"/><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53eee17d77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53eee17d77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22a1672f08f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22a1672f08f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822e78a249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822e78a249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9fca2f9a9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9fca2f9a9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0" name="Google Shape;340;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43159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0731af9621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g10731af9621_0_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9" name="Google Shape;27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22e78a249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822e78a249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2a1672f08f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2a1672f08f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5926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22a1672f08f_1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22a1672f08f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3419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22a1672f08f_1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22a1672f08f_1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Collecting samples from healthy controls is crucial!</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4" name="Google Shape;44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822e78a249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822e78a249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822e78a249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822e78a249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822e78a249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822e78a249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22a1672f08f_1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22a1672f08f_1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here I want to run through what an ideal metagenomics study looks like. First we need to make sure we have the proper controls. In this case, we have used traditional diagnostics such as malaria blood smears and trypanosomiasis serology results in which samples 1-6 gave us positives whereas the unknown samples 7-12, the known negatives (such as healthy individuals without a fever) and water controls all have negative results.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2516a8c2adb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2516a8c2ad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here I want to run through what an ideal metagenomics study looks like. First we need to make sure we have the proper controls. In this case, we have used traditional diagnostics such as malaria blood smears and trypanosomiasis serology results in which samples 1-6 gave us positives whereas the unknown samples 7-12, the known negatives (such as healthy individuals without a fever) and water controls all have negative results.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2516a8c2adb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2516a8c2ad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here I want to run through what an ideal metagenomics study looks like. First we need to make sure we have the proper controls. In this case, we have used traditional diagnostics such as malaria blood smears and trypanosomiasis serology results in which samples 1-6 gave us positives whereas the unknown samples 7-12, the known negatives (such as healthy individuals without a fever) and water controls all have negative results.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g2516a8c2adb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2" name="Google Shape;692;g2516a8c2adb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here I want to run through what an ideal metagenomics study looks like. First we need to make sure we have the proper controls. In this case, we have used traditional diagnostics such as malaria blood smears and trypanosomiasis serology results in which samples 1-6 gave us positives whereas the unknown samples 7-12, the known negatives (such as healthy individuals without a fever) and water controls all have negative results.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22a1672f08f_1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22a1672f08f_1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2a1672f08f_1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22a1672f08f_1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22a1672f08f_1_1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3" name="Google Shape;713;g22a1672f08f_1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22a1672f08f_0_6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9" name="Google Shape;719;g22a1672f08f_0_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22a1672f08f_0_7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22a1672f08f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22a1672f08f_0_7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 name="Google Shape;794;g22a1672f08f_0_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22a1672f08f_0_7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 name="Google Shape;835;g22a1672f08f_0_7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22a1672f08f_0_8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0" name="Google Shape;870;g22a1672f08f_0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2a1672f08f_0_8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22a1672f08f_0_8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2a1672f08f_0_8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22a1672f08f_0_8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822e78a249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822e78a249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89f963b436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89f963b436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Before extraction, try to get rid of as much host material as possible, by for example spinning down the material and using the supernatant for extraction.</a:t>
            </a:r>
            <a:endParaRPr/>
          </a:p>
          <a:p>
            <a:pPr marL="0" lvl="0" indent="0" algn="l" rtl="0">
              <a:spcBef>
                <a:spcPts val="0"/>
              </a:spcBef>
              <a:spcAft>
                <a:spcPts val="0"/>
              </a:spcAft>
              <a:buNone/>
            </a:pPr>
            <a:r>
              <a:rPr lang="en"/>
              <a:t>Nucleic acid type depends on your research question since it will affect what you’ll be able to pick up: go for RNA if you are also interested in viruses, provided you have good sample quality. If just interested in bacteria, you can do DNA.</a:t>
            </a:r>
            <a:endParaRPr/>
          </a:p>
          <a:p>
            <a:pPr marL="0" lvl="0" indent="0" algn="l" rtl="0">
              <a:spcBef>
                <a:spcPts val="0"/>
              </a:spcBef>
              <a:spcAft>
                <a:spcPts val="0"/>
              </a:spcAft>
              <a:buNone/>
            </a:pPr>
            <a:r>
              <a:rPr lang="en"/>
              <a:t>TNA: extract both DNA and RNA, and decide later what type of library you’ll prepare.</a:t>
            </a:r>
            <a:endParaRPr/>
          </a:p>
          <a:p>
            <a:pPr marL="0" lvl="0" indent="0" algn="l" rtl="0">
              <a:spcBef>
                <a:spcPts val="0"/>
              </a:spcBef>
              <a:spcAft>
                <a:spcPts val="0"/>
              </a:spcAft>
              <a:buNone/>
            </a:pPr>
            <a:r>
              <a:rPr lang="en"/>
              <a:t>Column vs bead-based extraction: Bead-based extractions are easier to perform, especially when working with larger sample sizes.. You will need magnetic stands though. Whatever type of extraction you do, it will be crucial to avoid cross-contamination as much as possible. You can do this by interspersing samples with water controls during extraction, for example. Also make sure to preserve sample quality, this will be especially important when extracting RNA. Avoid freeze-thaw cycles of RNA and keep it cold at all times.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9fca2f9a9e_0_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g9fca2f9a9e_0_1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Amount of pathogen can be very low (eg CSF) -&gt; microkit or Magbead kit.</a:t>
            </a:r>
            <a:endParaRPr/>
          </a:p>
          <a:p>
            <a:pPr marL="0" lvl="0" indent="0" algn="l" rtl="0">
              <a:spcBef>
                <a:spcPts val="0"/>
              </a:spcBef>
              <a:spcAft>
                <a:spcPts val="0"/>
              </a:spcAft>
              <a:buNone/>
            </a:pPr>
            <a:r>
              <a:rPr lang="en"/>
              <a:t>Clogging issue for columns (use Proteinase K! see protocol serum/plasma), but not with magbead (also includes Prot K). BME will also help degrade cell walls, …</a:t>
            </a:r>
            <a:endParaRPr/>
          </a:p>
          <a:p>
            <a:pPr marL="0" lvl="0" indent="0" algn="l" rtl="0">
              <a:spcBef>
                <a:spcPts val="0"/>
              </a:spcBef>
              <a:spcAft>
                <a:spcPts val="0"/>
              </a:spcAft>
              <a:buNone/>
            </a:pPr>
            <a:r>
              <a:rPr lang="en"/>
              <a:t>DNA/RNA kits are more expensive than just the DNA or RNA kit, but worth it coz you’ll have both</a:t>
            </a:r>
            <a:endParaRPr/>
          </a:p>
          <a:p>
            <a:pPr marL="0" lvl="0" indent="0" algn="l" rtl="0">
              <a:spcBef>
                <a:spcPts val="0"/>
              </a:spcBef>
              <a:spcAft>
                <a:spcPts val="0"/>
              </a:spcAft>
              <a:buNone/>
            </a:pPr>
            <a:r>
              <a:rPr lang="en"/>
              <a:t>Note: Pathogen magbead is about 20% cheaper than the regular magbead kit for 96 samples, mainly because Path kit does not include DNAseI while regular kit does have it.</a:t>
            </a:r>
            <a:endParaRPr/>
          </a:p>
        </p:txBody>
      </p:sp>
      <p:sp>
        <p:nvSpPr>
          <p:cNvPr id="363" name="Google Shape;363;g9fca2f9a9e_0_1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36</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89f963b436_0_8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89f963b436_0_8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After extraction, it’s important to assess sample quality, as that will have a major impact on the downstream steps of library preparation and eventually the quality of your sequencing data. Quality is defined by not only the concentration of nucleic acid, but also the length of your extracted DNA or RNA. The best way to measure concentration is by Qubit fluorometer. This will give you much more accurate values than a UV-absorbance based method, like the Nanodrop.</a:t>
            </a:r>
            <a:endParaRPr/>
          </a:p>
          <a:p>
            <a:pPr marL="0" lvl="0" indent="0" algn="l" rtl="0">
              <a:spcBef>
                <a:spcPts val="0"/>
              </a:spcBef>
              <a:spcAft>
                <a:spcPts val="0"/>
              </a:spcAft>
              <a:buNone/>
            </a:pPr>
            <a:r>
              <a:rPr lang="en"/>
              <a:t>To assess quality or length, capillary electrophoresis is the most sensitive method, using a Tapestation or a Bioanalyzer for example. But you could also do gel electrophoresis but you’ll lose more material with that. The graph on the right shows the profiles you can expect from samples with high to low RNA quality. If high quality, the ribosomal RNA peaks will be very prominent, either 28S and 18S when a lot of human RNA is present, or 23S and 16S when its mostly bacterial RNA. Some machines will automatically assign a RNA Integrity Number or RIN to samples, which are a measure for RNA quality. Knowing the quality of your RNA is important, as it will inform you on how long you you’ll need to fragment your nucleic acid in the first steps of library prep.</a:t>
            </a:r>
            <a:endParaRPr/>
          </a:p>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9fca2f9a9e_0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9fca2f9a9e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822e78a249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822e78a249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Slide">
  <p:cSld name="Content Slide">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2" name="Google Shape;52;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3" name="Google Shape;53;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13"/>
          <p:cNvSpPr/>
          <p:nvPr/>
        </p:nvSpPr>
        <p:spPr>
          <a:xfrm>
            <a:off x="0" y="-9"/>
            <a:ext cx="9144000" cy="627000"/>
          </a:xfrm>
          <a:prstGeom prst="rect">
            <a:avLst/>
          </a:prstGeom>
          <a:gradFill>
            <a:gsLst>
              <a:gs pos="0">
                <a:srgbClr val="DDEAF6"/>
              </a:gs>
              <a:gs pos="10000">
                <a:srgbClr val="DDEAF6"/>
              </a:gs>
              <a:gs pos="55000">
                <a:srgbClr val="A1C1E4"/>
              </a:gs>
              <a:gs pos="100000">
                <a:srgbClr val="90B8E4"/>
              </a:gs>
            </a:gsLst>
            <a:lin ang="0" scaled="0"/>
          </a:gra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pic>
        <p:nvPicPr>
          <p:cNvPr id="55" name="Google Shape;55;p13" descr=" Biohub Logo V2.pdf"/>
          <p:cNvPicPr preferRelativeResize="0"/>
          <p:nvPr/>
        </p:nvPicPr>
        <p:blipFill rotWithShape="1">
          <a:blip r:embed="rId2">
            <a:alphaModFix/>
          </a:blip>
          <a:srcRect l="24284" t="34387" r="58249" b="34255"/>
          <a:stretch/>
        </p:blipFill>
        <p:spPr>
          <a:xfrm>
            <a:off x="158122" y="48182"/>
            <a:ext cx="826758" cy="834871"/>
          </a:xfrm>
          <a:prstGeom prst="rect">
            <a:avLst/>
          </a:prstGeom>
          <a:noFill/>
          <a:ln>
            <a:noFill/>
          </a:ln>
          <a:effectLst>
            <a:outerShdw blurRad="50800" dist="38100" dir="2700000" algn="tl" rotWithShape="0">
              <a:srgbClr val="000000">
                <a:alpha val="40000"/>
              </a:srgbClr>
            </a:outerShdw>
          </a:effectLst>
        </p:spPr>
      </p:pic>
      <p:sp>
        <p:nvSpPr>
          <p:cNvPr id="56" name="Google Shape;56;p13"/>
          <p:cNvSpPr txBox="1">
            <a:spLocks noGrp="1"/>
          </p:cNvSpPr>
          <p:nvPr>
            <p:ph type="body" idx="1"/>
          </p:nvPr>
        </p:nvSpPr>
        <p:spPr>
          <a:xfrm>
            <a:off x="158353" y="995363"/>
            <a:ext cx="8853600" cy="3660000"/>
          </a:xfrm>
          <a:prstGeom prst="rect">
            <a:avLst/>
          </a:prstGeom>
          <a:noFill/>
          <a:ln>
            <a:noFill/>
          </a:ln>
        </p:spPr>
        <p:txBody>
          <a:bodyPr spcFirstLastPara="1" wrap="square" lIns="68575" tIns="34275" rIns="68575" bIns="34275" anchor="t" anchorCtr="0">
            <a:noAutofit/>
          </a:bodyPr>
          <a:lstStyle>
            <a:lvl1pPr marL="457200" marR="0" lvl="0"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lnSpc>
                <a:spcPct val="90000"/>
              </a:lnSpc>
              <a:spcBef>
                <a:spcPts val="16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7" name="Google Shape;57;p13"/>
          <p:cNvSpPr txBox="1">
            <a:spLocks noGrp="1"/>
          </p:cNvSpPr>
          <p:nvPr>
            <p:ph type="body" idx="2"/>
          </p:nvPr>
        </p:nvSpPr>
        <p:spPr>
          <a:xfrm>
            <a:off x="1197769" y="48183"/>
            <a:ext cx="7003200" cy="550500"/>
          </a:xfrm>
          <a:prstGeom prst="rect">
            <a:avLst/>
          </a:prstGeom>
          <a:noFill/>
          <a:ln>
            <a:noFill/>
          </a:ln>
        </p:spPr>
        <p:txBody>
          <a:bodyPr spcFirstLastPara="1" wrap="square" lIns="68575" tIns="34275" rIns="68575" bIns="34275" anchor="ctr" anchorCtr="1">
            <a:noAutofit/>
          </a:bodyPr>
          <a:lstStyle>
            <a:lvl1pPr marL="457200" marR="0" lvl="0" indent="-228600" algn="l" rtl="0">
              <a:lnSpc>
                <a:spcPct val="90000"/>
              </a:lnSpc>
              <a:spcBef>
                <a:spcPts val="800"/>
              </a:spcBef>
              <a:spcAft>
                <a:spcPts val="0"/>
              </a:spcAft>
              <a:buClr>
                <a:schemeClr val="dk1"/>
              </a:buClr>
              <a:buSzPts val="3000"/>
              <a:buFont typeface="Arial"/>
              <a:buNone/>
              <a:defRPr sz="30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Layout">
  <p:cSld name="Blank Layout">
    <p:spTree>
      <p:nvGrpSpPr>
        <p:cNvPr id="1" name="Shape 58"/>
        <p:cNvGrpSpPr/>
        <p:nvPr/>
      </p:nvGrpSpPr>
      <p:grpSpPr>
        <a:xfrm>
          <a:off x="0" y="0"/>
          <a:ext cx="0" cy="0"/>
          <a:chOff x="0" y="0"/>
          <a:chExt cx="0" cy="0"/>
        </a:xfrm>
      </p:grpSpPr>
      <p:sp>
        <p:nvSpPr>
          <p:cNvPr id="59" name="Google Shape;59;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6">
  <p:cSld name="Title and body 6">
    <p:spTree>
      <p:nvGrpSpPr>
        <p:cNvPr id="1" name="Shape 281"/>
        <p:cNvGrpSpPr/>
        <p:nvPr/>
      </p:nvGrpSpPr>
      <p:grpSpPr>
        <a:xfrm>
          <a:off x="0" y="0"/>
          <a:ext cx="0" cy="0"/>
          <a:chOff x="0" y="0"/>
          <a:chExt cx="0" cy="0"/>
        </a:xfrm>
      </p:grpSpPr>
      <p:sp>
        <p:nvSpPr>
          <p:cNvPr id="282" name="Google Shape;282;p6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3" name="Google Shape;283;p6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84" name="Google Shape;284;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2610710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6"/>
        <p:cNvGrpSpPr/>
        <p:nvPr/>
      </p:nvGrpSpPr>
      <p:grpSpPr>
        <a:xfrm>
          <a:off x="0" y="0"/>
          <a:ext cx="0" cy="0"/>
          <a:chOff x="0" y="0"/>
          <a:chExt cx="0" cy="0"/>
        </a:xfrm>
      </p:grpSpPr>
      <p:sp>
        <p:nvSpPr>
          <p:cNvPr id="67" name="Google Shape;67;p1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68" name="Google Shape;68;p1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9" name="Google Shape;69;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2" name="Google Shape;72;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76" name="Google Shape;7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7"/>
        <p:cNvGrpSpPr/>
        <p:nvPr/>
      </p:nvGrpSpPr>
      <p:grpSpPr>
        <a:xfrm>
          <a:off x="0" y="0"/>
          <a:ext cx="0" cy="0"/>
          <a:chOff x="0" y="0"/>
          <a:chExt cx="0" cy="0"/>
        </a:xfrm>
      </p:grpSpPr>
      <p:sp>
        <p:nvSpPr>
          <p:cNvPr id="78" name="Google Shape;78;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9" name="Google Shape;79;p19"/>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0" name="Google Shape;80;p19"/>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1" name="Google Shape;81;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2"/>
        <p:cNvGrpSpPr/>
        <p:nvPr/>
      </p:nvGrpSpPr>
      <p:grpSpPr>
        <a:xfrm>
          <a:off x="0" y="0"/>
          <a:ext cx="0" cy="0"/>
          <a:chOff x="0" y="0"/>
          <a:chExt cx="0" cy="0"/>
        </a:xfrm>
      </p:grpSpPr>
      <p:sp>
        <p:nvSpPr>
          <p:cNvPr id="83" name="Google Shape;83;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4" name="Google Shape;84;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5"/>
        <p:cNvGrpSpPr/>
        <p:nvPr/>
      </p:nvGrpSpPr>
      <p:grpSpPr>
        <a:xfrm>
          <a:off x="0" y="0"/>
          <a:ext cx="0" cy="0"/>
          <a:chOff x="0" y="0"/>
          <a:chExt cx="0" cy="0"/>
        </a:xfrm>
      </p:grpSpPr>
      <p:sp>
        <p:nvSpPr>
          <p:cNvPr id="86" name="Google Shape;86;p21"/>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7" name="Google Shape;87;p21"/>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8" name="Google Shape;88;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9"/>
        <p:cNvGrpSpPr/>
        <p:nvPr/>
      </p:nvGrpSpPr>
      <p:grpSpPr>
        <a:xfrm>
          <a:off x="0" y="0"/>
          <a:ext cx="0" cy="0"/>
          <a:chOff x="0" y="0"/>
          <a:chExt cx="0" cy="0"/>
        </a:xfrm>
      </p:grpSpPr>
      <p:sp>
        <p:nvSpPr>
          <p:cNvPr id="90" name="Google Shape;90;p22"/>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91" name="Google Shape;9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2"/>
        <p:cNvGrpSpPr/>
        <p:nvPr/>
      </p:nvGrpSpPr>
      <p:grpSpPr>
        <a:xfrm>
          <a:off x="0" y="0"/>
          <a:ext cx="0" cy="0"/>
          <a:chOff x="0" y="0"/>
          <a:chExt cx="0" cy="0"/>
        </a:xfrm>
      </p:grpSpPr>
      <p:sp>
        <p:nvSpPr>
          <p:cNvPr id="93" name="Google Shape;93;p2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3"/>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95" name="Google Shape;95;p23"/>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6" name="Google Shape;96;p23"/>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97" name="Google Shape;97;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8"/>
        <p:cNvGrpSpPr/>
        <p:nvPr/>
      </p:nvGrpSpPr>
      <p:grpSpPr>
        <a:xfrm>
          <a:off x="0" y="0"/>
          <a:ext cx="0" cy="0"/>
          <a:chOff x="0" y="0"/>
          <a:chExt cx="0" cy="0"/>
        </a:xfrm>
      </p:grpSpPr>
      <p:sp>
        <p:nvSpPr>
          <p:cNvPr id="99" name="Google Shape;99;p24"/>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100" name="Google Shape;100;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1"/>
        <p:cNvGrpSpPr/>
        <p:nvPr/>
      </p:nvGrpSpPr>
      <p:grpSpPr>
        <a:xfrm>
          <a:off x="0" y="0"/>
          <a:ext cx="0" cy="0"/>
          <a:chOff x="0" y="0"/>
          <a:chExt cx="0" cy="0"/>
        </a:xfrm>
      </p:grpSpPr>
      <p:sp>
        <p:nvSpPr>
          <p:cNvPr id="102" name="Google Shape;102;p25"/>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03" name="Google Shape;103;p25"/>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104" name="Google Shape;104;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5"/>
        <p:cNvGrpSpPr/>
        <p:nvPr/>
      </p:nvGrpSpPr>
      <p:grpSpPr>
        <a:xfrm>
          <a:off x="0" y="0"/>
          <a:ext cx="0" cy="0"/>
          <a:chOff x="0" y="0"/>
          <a:chExt cx="0" cy="0"/>
        </a:xfrm>
      </p:grpSpPr>
      <p:sp>
        <p:nvSpPr>
          <p:cNvPr id="106" name="Google Shape;106;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6">
  <p:cSld name="TITLE_AND_BODY_7">
    <p:spTree>
      <p:nvGrpSpPr>
        <p:cNvPr id="1" name="Shape 107"/>
        <p:cNvGrpSpPr/>
        <p:nvPr/>
      </p:nvGrpSpPr>
      <p:grpSpPr>
        <a:xfrm>
          <a:off x="0" y="0"/>
          <a:ext cx="0" cy="0"/>
          <a:chOff x="0" y="0"/>
          <a:chExt cx="0" cy="0"/>
        </a:xfrm>
      </p:grpSpPr>
      <p:sp>
        <p:nvSpPr>
          <p:cNvPr id="108" name="Google Shape;108;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9" name="Google Shape;109;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10" name="Google Shape;11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1"/>
        <p:cNvGrpSpPr/>
        <p:nvPr/>
      </p:nvGrpSpPr>
      <p:grpSpPr>
        <a:xfrm>
          <a:off x="0" y="0"/>
          <a:ext cx="0" cy="0"/>
          <a:chOff x="0" y="0"/>
          <a:chExt cx="0" cy="0"/>
        </a:xfrm>
      </p:grpSpPr>
      <p:sp>
        <p:nvSpPr>
          <p:cNvPr id="112" name="Google Shape;112;p2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3" name="Google Shape;113;p28"/>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1200"/>
              </a:spcBef>
              <a:spcAft>
                <a:spcPts val="0"/>
              </a:spcAft>
              <a:buClr>
                <a:schemeClr val="dk1"/>
              </a:buClr>
              <a:buSzPts val="1400"/>
              <a:buChar char="○"/>
              <a:defRPr/>
            </a:lvl2pPr>
            <a:lvl3pPr marL="1371600" lvl="2" indent="-317500" algn="l" rtl="0">
              <a:lnSpc>
                <a:spcPct val="90000"/>
              </a:lnSpc>
              <a:spcBef>
                <a:spcPts val="1200"/>
              </a:spcBef>
              <a:spcAft>
                <a:spcPts val="0"/>
              </a:spcAft>
              <a:buClr>
                <a:schemeClr val="dk1"/>
              </a:buClr>
              <a:buSzPts val="1400"/>
              <a:buChar char="■"/>
              <a:defRPr/>
            </a:lvl3pPr>
            <a:lvl4pPr marL="1828800" lvl="3" indent="-317500" algn="l" rtl="0">
              <a:lnSpc>
                <a:spcPct val="90000"/>
              </a:lnSpc>
              <a:spcBef>
                <a:spcPts val="1200"/>
              </a:spcBef>
              <a:spcAft>
                <a:spcPts val="0"/>
              </a:spcAft>
              <a:buClr>
                <a:schemeClr val="dk1"/>
              </a:buClr>
              <a:buSzPts val="1400"/>
              <a:buChar char="●"/>
              <a:defRPr/>
            </a:lvl4pPr>
            <a:lvl5pPr marL="2286000" lvl="4" indent="-317500" algn="l" rtl="0">
              <a:lnSpc>
                <a:spcPct val="90000"/>
              </a:lnSpc>
              <a:spcBef>
                <a:spcPts val="1200"/>
              </a:spcBef>
              <a:spcAft>
                <a:spcPts val="0"/>
              </a:spcAft>
              <a:buClr>
                <a:schemeClr val="dk1"/>
              </a:buClr>
              <a:buSzPts val="1400"/>
              <a:buChar char="○"/>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114" name="Google Shape;114;p2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5" name="Google Shape;115;p2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6" name="Google Shape;116;p2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Layout">
  <p:cSld name="Blank Layout">
    <p:spTree>
      <p:nvGrpSpPr>
        <p:cNvPr id="1" name="Shape 117"/>
        <p:cNvGrpSpPr/>
        <p:nvPr/>
      </p:nvGrpSpPr>
      <p:grpSpPr>
        <a:xfrm>
          <a:off x="0" y="0"/>
          <a:ext cx="0" cy="0"/>
          <a:chOff x="0" y="0"/>
          <a:chExt cx="0" cy="0"/>
        </a:xfrm>
      </p:grpSpPr>
      <p:sp>
        <p:nvSpPr>
          <p:cNvPr id="118" name="Google Shape;118;p2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9" name="Google Shape;119;p2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0" name="Google Shape;120;p2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77"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64" name="Google Shape;64;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65" name="Google Shape;65;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3.jpg"/><Relationship Id="rId7"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jp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6.jp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jpg"/><Relationship Id="rId12"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5.xml"/><Relationship Id="rId6" Type="http://schemas.openxmlformats.org/officeDocument/2006/relationships/image" Target="../media/image14.jpg"/><Relationship Id="rId11" Type="http://schemas.openxmlformats.org/officeDocument/2006/relationships/image" Target="../media/image19.png"/><Relationship Id="rId5" Type="http://schemas.openxmlformats.org/officeDocument/2006/relationships/image" Target="../media/image13.jpg"/><Relationship Id="rId10" Type="http://schemas.openxmlformats.org/officeDocument/2006/relationships/image" Target="../media/image18.png"/><Relationship Id="rId4" Type="http://schemas.openxmlformats.org/officeDocument/2006/relationships/image" Target="../media/image12.jpg"/><Relationship Id="rId9" Type="http://schemas.openxmlformats.org/officeDocument/2006/relationships/image" Target="../media/image17.jp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sv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5772/intechopen.1006372" TargetMode="External"/><Relationship Id="rId2" Type="http://schemas.openxmlformats.org/officeDocument/2006/relationships/image" Target="../media/image36.png"/><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39.jp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6.jpg"/><Relationship Id="rId5" Type="http://schemas.openxmlformats.org/officeDocument/2006/relationships/image" Target="../media/image50.png"/><Relationship Id="rId4" Type="http://schemas.openxmlformats.org/officeDocument/2006/relationships/image" Target="../media/image49.png"/></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6.jpg"/></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76"/>
          <p:cNvSpPr txBox="1">
            <a:spLocks noGrp="1"/>
          </p:cNvSpPr>
          <p:nvPr>
            <p:ph type="ctrTitle"/>
          </p:nvPr>
        </p:nvSpPr>
        <p:spPr>
          <a:xfrm>
            <a:off x="311708" y="1201775"/>
            <a:ext cx="8520600" cy="20526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9200" b="1" dirty="0" err="1">
                <a:solidFill>
                  <a:schemeClr val="bg2"/>
                </a:solidFill>
              </a:rPr>
              <a:t>mNGS</a:t>
            </a:r>
            <a:r>
              <a:rPr lang="en" sz="9200" b="1" dirty="0">
                <a:solidFill>
                  <a:schemeClr val="bg2"/>
                </a:solidFill>
              </a:rPr>
              <a:t> </a:t>
            </a:r>
            <a:endParaRPr sz="9200" b="1" dirty="0">
              <a:solidFill>
                <a:schemeClr val="bg2"/>
              </a:solidFill>
            </a:endParaRPr>
          </a:p>
          <a:p>
            <a:pPr marL="0" lvl="0" indent="0" algn="ctr" rtl="0">
              <a:lnSpc>
                <a:spcPct val="115000"/>
              </a:lnSpc>
              <a:spcBef>
                <a:spcPts val="0"/>
              </a:spcBef>
              <a:spcAft>
                <a:spcPts val="0"/>
              </a:spcAft>
              <a:buNone/>
            </a:pPr>
            <a:r>
              <a:rPr lang="en" sz="3000" b="1" dirty="0">
                <a:solidFill>
                  <a:schemeClr val="bg2"/>
                </a:solidFill>
              </a:rPr>
              <a:t>Study design and sample </a:t>
            </a:r>
            <a:r>
              <a:rPr lang="en" sz="3000" b="1" dirty="0" err="1">
                <a:solidFill>
                  <a:schemeClr val="bg2"/>
                </a:solidFill>
              </a:rPr>
              <a:t>prepration</a:t>
            </a:r>
            <a:endParaRPr sz="3000" b="1" dirty="0">
              <a:solidFill>
                <a:schemeClr val="bg2"/>
              </a:solidFill>
            </a:endParaRPr>
          </a:p>
        </p:txBody>
      </p:sp>
      <p:sp>
        <p:nvSpPr>
          <p:cNvPr id="2" name="TextBox 1">
            <a:extLst>
              <a:ext uri="{FF2B5EF4-FFF2-40B4-BE49-F238E27FC236}">
                <a16:creationId xmlns:a16="http://schemas.microsoft.com/office/drawing/2014/main" id="{C8A032AB-E5EE-1771-4C8C-C6859E5E915D}"/>
              </a:ext>
            </a:extLst>
          </p:cNvPr>
          <p:cNvSpPr txBox="1"/>
          <p:nvPr/>
        </p:nvSpPr>
        <p:spPr>
          <a:xfrm>
            <a:off x="6400800" y="4897279"/>
            <a:ext cx="2743200" cy="246221"/>
          </a:xfrm>
          <a:prstGeom prst="rect">
            <a:avLst/>
          </a:prstGeom>
          <a:noFill/>
        </p:spPr>
        <p:txBody>
          <a:bodyPr wrap="square" rtlCol="0">
            <a:spAutoFit/>
          </a:bodyPr>
          <a:lstStyle/>
          <a:p>
            <a:r>
              <a:rPr lang="en-US" sz="1000" dirty="0">
                <a:solidFill>
                  <a:schemeClr val="bg2"/>
                </a:solidFill>
              </a:rPr>
              <a:t>Rapid Response – Updated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8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r>
              <a:rPr lang="en" dirty="0">
                <a:solidFill>
                  <a:schemeClr val="bg2"/>
                </a:solidFill>
                <a:latin typeface="Roboto"/>
                <a:ea typeface="Roboto"/>
                <a:cs typeface="Roboto"/>
                <a:sym typeface="Roboto"/>
              </a:rPr>
              <a:t>Key points to learn in this session</a:t>
            </a:r>
            <a:endParaRPr dirty="0">
              <a:latin typeface="Roboto"/>
              <a:ea typeface="Roboto"/>
              <a:cs typeface="Roboto"/>
              <a:sym typeface="Roboto"/>
            </a:endParaRPr>
          </a:p>
        </p:txBody>
      </p:sp>
      <p:sp>
        <p:nvSpPr>
          <p:cNvPr id="445" name="Google Shape;445;p8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0"/>
              </a:spcAft>
              <a:buNone/>
            </a:pPr>
            <a:r>
              <a:rPr lang="en" sz="2200" dirty="0">
                <a:latin typeface="Roboto"/>
                <a:ea typeface="Roboto"/>
                <a:cs typeface="Roboto"/>
                <a:sym typeface="Roboto"/>
              </a:rPr>
              <a:t>Good study is essential for </a:t>
            </a:r>
            <a:r>
              <a:rPr lang="en" sz="2200" dirty="0" err="1">
                <a:latin typeface="Roboto"/>
                <a:ea typeface="Roboto"/>
                <a:cs typeface="Roboto"/>
                <a:sym typeface="Roboto"/>
              </a:rPr>
              <a:t>mNGS</a:t>
            </a:r>
            <a:r>
              <a:rPr lang="en" sz="2200" dirty="0">
                <a:latin typeface="Roboto"/>
                <a:ea typeface="Roboto"/>
                <a:cs typeface="Roboto"/>
                <a:sym typeface="Roboto"/>
              </a:rPr>
              <a:t> an requires an understanding of:</a:t>
            </a:r>
            <a:endParaRPr sz="2200" dirty="0">
              <a:latin typeface="Roboto"/>
              <a:ea typeface="Roboto"/>
              <a:cs typeface="Roboto"/>
              <a:sym typeface="Roboto"/>
            </a:endParaRPr>
          </a:p>
          <a:p>
            <a:pPr marL="457200" lvl="0" indent="-342900" algn="l" rtl="0">
              <a:lnSpc>
                <a:spcPct val="150000"/>
              </a:lnSpc>
              <a:spcBef>
                <a:spcPts val="0"/>
              </a:spcBef>
              <a:spcAft>
                <a:spcPts val="0"/>
              </a:spcAft>
              <a:buSzPts val="1800"/>
              <a:buFont typeface="Roboto"/>
              <a:buChar char="●"/>
            </a:pPr>
            <a:r>
              <a:rPr lang="en" dirty="0">
                <a:latin typeface="Roboto"/>
                <a:ea typeface="Roboto"/>
                <a:cs typeface="Roboto"/>
                <a:sym typeface="Roboto"/>
              </a:rPr>
              <a:t>Purpose of the study (e.g. clinical diagnostics, outbreak detection)</a:t>
            </a:r>
          </a:p>
          <a:p>
            <a:pPr marL="457200" lvl="0" indent="-342900" algn="l" rtl="0">
              <a:lnSpc>
                <a:spcPct val="150000"/>
              </a:lnSpc>
              <a:spcBef>
                <a:spcPts val="0"/>
              </a:spcBef>
              <a:spcAft>
                <a:spcPts val="0"/>
              </a:spcAft>
              <a:buSzPts val="1800"/>
              <a:buFont typeface="Roboto"/>
              <a:buChar char="●"/>
            </a:pPr>
            <a:r>
              <a:rPr lang="en" dirty="0">
                <a:latin typeface="Roboto"/>
                <a:ea typeface="Roboto"/>
                <a:cs typeface="Roboto"/>
                <a:sym typeface="Roboto"/>
              </a:rPr>
              <a:t>Pathogen landscape</a:t>
            </a:r>
          </a:p>
          <a:p>
            <a:pPr marL="457200" lvl="0" indent="-342900" algn="l" rtl="0">
              <a:lnSpc>
                <a:spcPct val="150000"/>
              </a:lnSpc>
              <a:spcBef>
                <a:spcPts val="0"/>
              </a:spcBef>
              <a:spcAft>
                <a:spcPts val="0"/>
              </a:spcAft>
              <a:buSzPts val="1800"/>
              <a:buFont typeface="Roboto"/>
              <a:buChar char="●"/>
            </a:pPr>
            <a:r>
              <a:rPr lang="en" dirty="0">
                <a:latin typeface="Roboto"/>
                <a:ea typeface="Roboto"/>
                <a:cs typeface="Roboto"/>
                <a:sym typeface="Roboto"/>
              </a:rPr>
              <a:t>Sample type</a:t>
            </a:r>
          </a:p>
          <a:p>
            <a:pPr>
              <a:lnSpc>
                <a:spcPct val="150000"/>
              </a:lnSpc>
              <a:buFont typeface="Roboto"/>
              <a:buChar char="●"/>
            </a:pPr>
            <a:r>
              <a:rPr lang="en" dirty="0">
                <a:latin typeface="Roboto"/>
                <a:ea typeface="Roboto"/>
                <a:cs typeface="Roboto"/>
                <a:sym typeface="Roboto"/>
              </a:rPr>
              <a:t>Controls </a:t>
            </a:r>
          </a:p>
          <a:p>
            <a:pPr marL="457200" lvl="0" indent="-342900" algn="l" rtl="0">
              <a:lnSpc>
                <a:spcPct val="150000"/>
              </a:lnSpc>
              <a:spcBef>
                <a:spcPts val="0"/>
              </a:spcBef>
              <a:spcAft>
                <a:spcPts val="0"/>
              </a:spcAft>
              <a:buSzPts val="1800"/>
              <a:buFont typeface="Roboto"/>
              <a:buChar char="●"/>
            </a:pPr>
            <a:r>
              <a:rPr lang="en" dirty="0">
                <a:latin typeface="Roboto"/>
                <a:ea typeface="Roboto"/>
                <a:cs typeface="Roboto"/>
                <a:sym typeface="Roboto"/>
              </a:rPr>
              <a:t>Sample selection and metadata</a:t>
            </a:r>
          </a:p>
          <a:p>
            <a:pPr lvl="1" indent="-342900">
              <a:lnSpc>
                <a:spcPct val="150000"/>
              </a:lnSpc>
              <a:spcBef>
                <a:spcPts val="0"/>
              </a:spcBef>
              <a:buSzPts val="1800"/>
              <a:buFont typeface="Roboto"/>
              <a:buChar char="●"/>
            </a:pPr>
            <a:r>
              <a:rPr lang="en-US" dirty="0">
                <a:latin typeface="Roboto"/>
                <a:ea typeface="Roboto"/>
                <a:cs typeface="Roboto"/>
                <a:sym typeface="Roboto"/>
              </a:rPr>
              <a:t>Sensitivity of </a:t>
            </a:r>
            <a:r>
              <a:rPr lang="en-US" dirty="0" err="1">
                <a:latin typeface="Roboto"/>
                <a:ea typeface="Roboto"/>
                <a:cs typeface="Roboto"/>
                <a:sym typeface="Roboto"/>
              </a:rPr>
              <a:t>mNGS</a:t>
            </a:r>
            <a:r>
              <a:rPr lang="en-US" dirty="0">
                <a:latin typeface="Roboto"/>
                <a:ea typeface="Roboto"/>
                <a:cs typeface="Roboto"/>
                <a:sym typeface="Roboto"/>
              </a:rPr>
              <a:t> (</a:t>
            </a:r>
            <a:r>
              <a:rPr lang="en-US" i="1" dirty="0">
                <a:latin typeface="Roboto"/>
                <a:ea typeface="Roboto"/>
                <a:cs typeface="Roboto"/>
                <a:sym typeface="Roboto"/>
              </a:rPr>
              <a:t>e.g. are we getting enough reads?</a:t>
            </a:r>
            <a:r>
              <a:rPr lang="en-US" dirty="0">
                <a:latin typeface="Roboto"/>
                <a:ea typeface="Roboto"/>
                <a:cs typeface="Roboto"/>
                <a:sym typeface="Roboto"/>
              </a:rPr>
              <a:t>)</a:t>
            </a:r>
            <a:endParaRPr lang="en" dirty="0">
              <a:latin typeface="Roboto"/>
              <a:ea typeface="Roboto"/>
              <a:cs typeface="Roboto"/>
              <a:sym typeface="Roboto"/>
            </a:endParaRPr>
          </a:p>
          <a:p>
            <a:pPr marL="571500" lvl="1" indent="0">
              <a:lnSpc>
                <a:spcPct val="150000"/>
              </a:lnSpc>
              <a:spcBef>
                <a:spcPts val="0"/>
              </a:spcBef>
              <a:buSzPts val="1800"/>
              <a:buNone/>
            </a:pPr>
            <a:endParaRPr dirty="0">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33"/>
          <p:cNvPicPr preferRelativeResize="0"/>
          <p:nvPr/>
        </p:nvPicPr>
        <p:blipFill rotWithShape="1">
          <a:blip r:embed="rId3">
            <a:alphaModFix/>
          </a:blip>
          <a:srcRect l="13069" t="15507" r="15081" b="13227"/>
          <a:stretch/>
        </p:blipFill>
        <p:spPr>
          <a:xfrm>
            <a:off x="3744600" y="1976512"/>
            <a:ext cx="1654800" cy="1952475"/>
          </a:xfrm>
          <a:prstGeom prst="rect">
            <a:avLst/>
          </a:prstGeom>
          <a:noFill/>
          <a:ln>
            <a:noFill/>
          </a:ln>
        </p:spPr>
      </p:pic>
      <p:sp>
        <p:nvSpPr>
          <p:cNvPr id="210" name="Google Shape;210;p33"/>
          <p:cNvSpPr txBox="1"/>
          <p:nvPr/>
        </p:nvSpPr>
        <p:spPr>
          <a:xfrm>
            <a:off x="252225" y="745400"/>
            <a:ext cx="8747700" cy="36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6100" b="1" dirty="0">
                <a:solidFill>
                  <a:schemeClr val="bg2"/>
                </a:solidFill>
              </a:rPr>
              <a:t>Study design</a:t>
            </a:r>
            <a:endParaRPr sz="6100" b="1" dirty="0">
              <a:solidFill>
                <a:schemeClr val="bg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2"/>
          <p:cNvSpPr/>
          <p:nvPr/>
        </p:nvSpPr>
        <p:spPr>
          <a:xfrm>
            <a:off x="337700" y="251875"/>
            <a:ext cx="8594700" cy="959100"/>
          </a:xfrm>
          <a:prstGeom prst="stripedRightArrow">
            <a:avLst>
              <a:gd name="adj1" fmla="val 67480"/>
              <a:gd name="adj2" fmla="val 147356"/>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2"/>
          <p:cNvSpPr txBox="1">
            <a:spLocks noGrp="1"/>
          </p:cNvSpPr>
          <p:nvPr>
            <p:ph type="title"/>
          </p:nvPr>
        </p:nvSpPr>
        <p:spPr>
          <a:xfrm>
            <a:off x="2065200" y="287875"/>
            <a:ext cx="4755600" cy="88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400" b="1">
                <a:solidFill>
                  <a:srgbClr val="FFFFFF"/>
                </a:solidFill>
              </a:rPr>
              <a:t>mNGS pipeline</a:t>
            </a:r>
            <a:endParaRPr sz="4400" b="1">
              <a:solidFill>
                <a:srgbClr val="FFFFFF"/>
              </a:solidFill>
            </a:endParaRPr>
          </a:p>
        </p:txBody>
      </p:sp>
      <p:sp>
        <p:nvSpPr>
          <p:cNvPr id="176" name="Google Shape;176;p32"/>
          <p:cNvSpPr txBox="1"/>
          <p:nvPr/>
        </p:nvSpPr>
        <p:spPr>
          <a:xfrm>
            <a:off x="250750" y="13113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Study design</a:t>
            </a:r>
            <a:endParaRPr/>
          </a:p>
        </p:txBody>
      </p:sp>
      <p:sp>
        <p:nvSpPr>
          <p:cNvPr id="177" name="Google Shape;177;p32"/>
          <p:cNvSpPr txBox="1"/>
          <p:nvPr/>
        </p:nvSpPr>
        <p:spPr>
          <a:xfrm>
            <a:off x="1640775" y="13113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xNA extraction</a:t>
            </a:r>
            <a:endParaRPr/>
          </a:p>
        </p:txBody>
      </p:sp>
      <p:sp>
        <p:nvSpPr>
          <p:cNvPr id="178" name="Google Shape;178;p32"/>
          <p:cNvSpPr txBox="1"/>
          <p:nvPr/>
        </p:nvSpPr>
        <p:spPr>
          <a:xfrm>
            <a:off x="2950075" y="13875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Library prep</a:t>
            </a:r>
            <a:endParaRPr/>
          </a:p>
        </p:txBody>
      </p:sp>
      <p:sp>
        <p:nvSpPr>
          <p:cNvPr id="179" name="Google Shape;179;p32"/>
          <p:cNvSpPr txBox="1"/>
          <p:nvPr/>
        </p:nvSpPr>
        <p:spPr>
          <a:xfrm>
            <a:off x="4592180" y="13875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Sequencing</a:t>
            </a:r>
            <a:endParaRPr/>
          </a:p>
        </p:txBody>
      </p:sp>
      <p:sp>
        <p:nvSpPr>
          <p:cNvPr id="180" name="Google Shape;180;p32"/>
          <p:cNvSpPr txBox="1"/>
          <p:nvPr/>
        </p:nvSpPr>
        <p:spPr>
          <a:xfrm>
            <a:off x="6132613" y="1387500"/>
            <a:ext cx="13446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Data analysis</a:t>
            </a:r>
            <a:endParaRPr/>
          </a:p>
        </p:txBody>
      </p:sp>
      <p:sp>
        <p:nvSpPr>
          <p:cNvPr id="181" name="Google Shape;181;p32"/>
          <p:cNvSpPr txBox="1"/>
          <p:nvPr/>
        </p:nvSpPr>
        <p:spPr>
          <a:xfrm>
            <a:off x="-500" y="3033150"/>
            <a:ext cx="1503900" cy="4326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Type(s)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Controls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Storage</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Lab setup</a:t>
            </a:r>
            <a:endParaRPr sz="1200">
              <a:solidFill>
                <a:schemeClr val="dk2"/>
              </a:solidFill>
            </a:endParaRPr>
          </a:p>
        </p:txBody>
      </p:sp>
      <p:sp>
        <p:nvSpPr>
          <p:cNvPr id="182" name="Google Shape;182;p32"/>
          <p:cNvSpPr txBox="1"/>
          <p:nvPr/>
        </p:nvSpPr>
        <p:spPr>
          <a:xfrm>
            <a:off x="1340475" y="3033150"/>
            <a:ext cx="1344600" cy="4326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Type(s)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Controls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QC</a:t>
            </a:r>
            <a:endParaRPr sz="1200">
              <a:solidFill>
                <a:schemeClr val="dk2"/>
              </a:solidFill>
            </a:endParaRPr>
          </a:p>
        </p:txBody>
      </p:sp>
      <p:sp>
        <p:nvSpPr>
          <p:cNvPr id="183" name="Google Shape;183;p32"/>
          <p:cNvSpPr txBox="1"/>
          <p:nvPr/>
        </p:nvSpPr>
        <p:spPr>
          <a:xfrm>
            <a:off x="2546425" y="3033150"/>
            <a:ext cx="2173200" cy="21120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Host removal</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Fragmentation</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dsDNA generation</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End-repair</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Adapter ligation</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Barcoding &amp; PCR</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Clean-up</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Pooling</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QC</a:t>
            </a:r>
            <a:endParaRPr sz="1200">
              <a:solidFill>
                <a:schemeClr val="dk2"/>
              </a:solidFill>
            </a:endParaRPr>
          </a:p>
        </p:txBody>
      </p:sp>
      <p:sp>
        <p:nvSpPr>
          <p:cNvPr id="184" name="Google Shape;184;p32"/>
          <p:cNvSpPr txBox="1"/>
          <p:nvPr/>
        </p:nvSpPr>
        <p:spPr>
          <a:xfrm>
            <a:off x="5846725" y="3033150"/>
            <a:ext cx="2173200" cy="9591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QC data</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Host removal</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Alignment</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Blast</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Ranking of hits</a:t>
            </a:r>
            <a:endParaRPr sz="1200">
              <a:solidFill>
                <a:schemeClr val="dk2"/>
              </a:solidFill>
            </a:endParaRPr>
          </a:p>
        </p:txBody>
      </p:sp>
      <p:pic>
        <p:nvPicPr>
          <p:cNvPr id="185" name="Google Shape;185;p32"/>
          <p:cNvPicPr preferRelativeResize="0"/>
          <p:nvPr/>
        </p:nvPicPr>
        <p:blipFill rotWithShape="1">
          <a:blip r:embed="rId3">
            <a:alphaModFix/>
          </a:blip>
          <a:srcRect l="14551" r="17611" b="13941"/>
          <a:stretch/>
        </p:blipFill>
        <p:spPr>
          <a:xfrm>
            <a:off x="4679550" y="1896300"/>
            <a:ext cx="1126125" cy="959049"/>
          </a:xfrm>
          <a:prstGeom prst="rect">
            <a:avLst/>
          </a:prstGeom>
          <a:noFill/>
          <a:ln>
            <a:noFill/>
          </a:ln>
        </p:spPr>
      </p:pic>
      <p:grpSp>
        <p:nvGrpSpPr>
          <p:cNvPr id="186" name="Google Shape;186;p32"/>
          <p:cNvGrpSpPr/>
          <p:nvPr/>
        </p:nvGrpSpPr>
        <p:grpSpPr>
          <a:xfrm>
            <a:off x="6241847" y="1990187"/>
            <a:ext cx="1126132" cy="877745"/>
            <a:chOff x="5059375" y="3618825"/>
            <a:chExt cx="1583426" cy="1234175"/>
          </a:xfrm>
        </p:grpSpPr>
        <p:pic>
          <p:nvPicPr>
            <p:cNvPr id="187" name="Google Shape;187;p32" descr="A screenshot of a cell phone&#10;&#10;Description automatically generated"/>
            <p:cNvPicPr preferRelativeResize="0"/>
            <p:nvPr/>
          </p:nvPicPr>
          <p:blipFill rotWithShape="1">
            <a:blip r:embed="rId4">
              <a:alphaModFix/>
            </a:blip>
            <a:srcRect l="47033" t="64643" r="26638" b="6039"/>
            <a:stretch/>
          </p:blipFill>
          <p:spPr>
            <a:xfrm>
              <a:off x="5059375" y="3618825"/>
              <a:ext cx="1583426" cy="1234175"/>
            </a:xfrm>
            <a:prstGeom prst="rect">
              <a:avLst/>
            </a:prstGeom>
            <a:noFill/>
            <a:ln>
              <a:noFill/>
            </a:ln>
          </p:spPr>
        </p:pic>
        <p:grpSp>
          <p:nvGrpSpPr>
            <p:cNvPr id="188" name="Google Shape;188;p32"/>
            <p:cNvGrpSpPr/>
            <p:nvPr/>
          </p:nvGrpSpPr>
          <p:grpSpPr>
            <a:xfrm>
              <a:off x="5111211" y="3670860"/>
              <a:ext cx="1459635" cy="832076"/>
              <a:chOff x="4301800" y="3312000"/>
              <a:chExt cx="1612500" cy="923400"/>
            </a:xfrm>
          </p:grpSpPr>
          <p:sp>
            <p:nvSpPr>
              <p:cNvPr id="189" name="Google Shape;189;p32"/>
              <p:cNvSpPr/>
              <p:nvPr/>
            </p:nvSpPr>
            <p:spPr>
              <a:xfrm>
                <a:off x="4301800" y="3312000"/>
                <a:ext cx="1612500" cy="923400"/>
              </a:xfrm>
              <a:prstGeom prst="rect">
                <a:avLst/>
              </a:prstGeom>
              <a:solidFill>
                <a:srgbClr val="E7E6E6"/>
              </a:solidFill>
              <a:ln w="9525" cap="flat" cmpd="sng">
                <a:solidFill>
                  <a:srgbClr val="4454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0" name="Google Shape;190;p32" descr="IDseq_logo.png"/>
              <p:cNvPicPr preferRelativeResize="0"/>
              <p:nvPr/>
            </p:nvPicPr>
            <p:blipFill rotWithShape="1">
              <a:blip r:embed="rId5">
                <a:alphaModFix/>
              </a:blip>
              <a:srcRect/>
              <a:stretch/>
            </p:blipFill>
            <p:spPr>
              <a:xfrm>
                <a:off x="4497525" y="3575725"/>
                <a:ext cx="1221038" cy="395950"/>
              </a:xfrm>
              <a:prstGeom prst="rect">
                <a:avLst/>
              </a:prstGeom>
              <a:noFill/>
              <a:ln>
                <a:noFill/>
              </a:ln>
            </p:spPr>
          </p:pic>
        </p:grpSp>
      </p:grpSp>
      <p:pic>
        <p:nvPicPr>
          <p:cNvPr id="191" name="Google Shape;191;p32"/>
          <p:cNvPicPr preferRelativeResize="0"/>
          <p:nvPr/>
        </p:nvPicPr>
        <p:blipFill rotWithShape="1">
          <a:blip r:embed="rId6">
            <a:alphaModFix/>
          </a:blip>
          <a:srcRect l="13069" t="15507" r="15081" b="13227"/>
          <a:stretch/>
        </p:blipFill>
        <p:spPr>
          <a:xfrm>
            <a:off x="379113" y="1914700"/>
            <a:ext cx="871875" cy="1028700"/>
          </a:xfrm>
          <a:prstGeom prst="rect">
            <a:avLst/>
          </a:prstGeom>
          <a:noFill/>
          <a:ln>
            <a:noFill/>
          </a:ln>
        </p:spPr>
      </p:pic>
      <p:sp>
        <p:nvSpPr>
          <p:cNvPr id="192" name="Google Shape;192;p32"/>
          <p:cNvSpPr txBox="1"/>
          <p:nvPr/>
        </p:nvSpPr>
        <p:spPr>
          <a:xfrm>
            <a:off x="4315963" y="3033150"/>
            <a:ext cx="2245200" cy="8565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Machine</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Read length</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Loading conc.</a:t>
            </a:r>
            <a:endParaRPr sz="1200">
              <a:solidFill>
                <a:schemeClr val="dk2"/>
              </a:solidFill>
            </a:endParaRPr>
          </a:p>
        </p:txBody>
      </p:sp>
      <p:pic>
        <p:nvPicPr>
          <p:cNvPr id="193" name="Google Shape;193;p32"/>
          <p:cNvPicPr preferRelativeResize="0"/>
          <p:nvPr/>
        </p:nvPicPr>
        <p:blipFill>
          <a:blip r:embed="rId7">
            <a:alphaModFix/>
          </a:blip>
          <a:stretch>
            <a:fillRect/>
          </a:stretch>
        </p:blipFill>
        <p:spPr>
          <a:xfrm rot="1149689">
            <a:off x="1852263" y="2113663"/>
            <a:ext cx="607525" cy="727926"/>
          </a:xfrm>
          <a:prstGeom prst="rect">
            <a:avLst/>
          </a:prstGeom>
          <a:noFill/>
          <a:ln>
            <a:noFill/>
          </a:ln>
        </p:spPr>
      </p:pic>
      <p:pic>
        <p:nvPicPr>
          <p:cNvPr id="194" name="Google Shape;194;p32"/>
          <p:cNvPicPr preferRelativeResize="0"/>
          <p:nvPr/>
        </p:nvPicPr>
        <p:blipFill rotWithShape="1">
          <a:blip r:embed="rId8">
            <a:alphaModFix/>
          </a:blip>
          <a:srcRect b="50615"/>
          <a:stretch/>
        </p:blipFill>
        <p:spPr>
          <a:xfrm>
            <a:off x="2884550" y="2066066"/>
            <a:ext cx="1344551" cy="725959"/>
          </a:xfrm>
          <a:prstGeom prst="rect">
            <a:avLst/>
          </a:prstGeom>
          <a:noFill/>
          <a:ln>
            <a:noFill/>
          </a:ln>
        </p:spPr>
      </p:pic>
      <p:cxnSp>
        <p:nvCxnSpPr>
          <p:cNvPr id="195" name="Google Shape;195;p32"/>
          <p:cNvCxnSpPr/>
          <p:nvPr/>
        </p:nvCxnSpPr>
        <p:spPr>
          <a:xfrm rot="10800000" flipH="1">
            <a:off x="7638150" y="2419325"/>
            <a:ext cx="309300" cy="1500"/>
          </a:xfrm>
          <a:prstGeom prst="straightConnector1">
            <a:avLst/>
          </a:prstGeom>
          <a:noFill/>
          <a:ln w="19050" cap="flat" cmpd="sng">
            <a:solidFill>
              <a:srgbClr val="FF0000"/>
            </a:solidFill>
            <a:prstDash val="solid"/>
            <a:round/>
            <a:headEnd type="none" w="med" len="med"/>
            <a:tailEnd type="none" w="med" len="med"/>
          </a:ln>
        </p:spPr>
      </p:cxnSp>
      <p:grpSp>
        <p:nvGrpSpPr>
          <p:cNvPr id="196" name="Google Shape;196;p32"/>
          <p:cNvGrpSpPr/>
          <p:nvPr/>
        </p:nvGrpSpPr>
        <p:grpSpPr>
          <a:xfrm>
            <a:off x="7765375" y="1751825"/>
            <a:ext cx="1252725" cy="1357550"/>
            <a:chOff x="7841575" y="1370825"/>
            <a:chExt cx="1252725" cy="1357550"/>
          </a:xfrm>
        </p:grpSpPr>
        <p:sp>
          <p:nvSpPr>
            <p:cNvPr id="197" name="Google Shape;197;p32"/>
            <p:cNvSpPr/>
            <p:nvPr/>
          </p:nvSpPr>
          <p:spPr>
            <a:xfrm>
              <a:off x="7841575" y="1486750"/>
              <a:ext cx="1122600" cy="1122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8" name="Google Shape;198;p32"/>
            <p:cNvPicPr preferRelativeResize="0"/>
            <p:nvPr/>
          </p:nvPicPr>
          <p:blipFill>
            <a:blip r:embed="rId9">
              <a:alphaModFix/>
            </a:blip>
            <a:stretch>
              <a:fillRect/>
            </a:stretch>
          </p:blipFill>
          <p:spPr>
            <a:xfrm>
              <a:off x="8147262" y="1685076"/>
              <a:ext cx="502137" cy="725949"/>
            </a:xfrm>
            <a:prstGeom prst="rect">
              <a:avLst/>
            </a:prstGeom>
            <a:noFill/>
            <a:ln>
              <a:noFill/>
            </a:ln>
          </p:spPr>
        </p:pic>
        <p:sp>
          <p:nvSpPr>
            <p:cNvPr id="199" name="Google Shape;199;p32"/>
            <p:cNvSpPr/>
            <p:nvPr/>
          </p:nvSpPr>
          <p:spPr>
            <a:xfrm>
              <a:off x="7887625" y="1532800"/>
              <a:ext cx="1030500" cy="10305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0" name="Google Shape;200;p32"/>
            <p:cNvCxnSpPr/>
            <p:nvPr/>
          </p:nvCxnSpPr>
          <p:spPr>
            <a:xfrm>
              <a:off x="8395325" y="2446075"/>
              <a:ext cx="3000" cy="282300"/>
            </a:xfrm>
            <a:prstGeom prst="straightConnector1">
              <a:avLst/>
            </a:prstGeom>
            <a:noFill/>
            <a:ln w="19050" cap="flat" cmpd="sng">
              <a:solidFill>
                <a:srgbClr val="FF0000"/>
              </a:solidFill>
              <a:prstDash val="solid"/>
              <a:round/>
              <a:headEnd type="none" w="med" len="med"/>
              <a:tailEnd type="none" w="med" len="med"/>
            </a:ln>
          </p:spPr>
        </p:cxnSp>
        <p:cxnSp>
          <p:nvCxnSpPr>
            <p:cNvPr id="201" name="Google Shape;201;p32"/>
            <p:cNvCxnSpPr/>
            <p:nvPr/>
          </p:nvCxnSpPr>
          <p:spPr>
            <a:xfrm>
              <a:off x="8401375" y="1370825"/>
              <a:ext cx="3000" cy="282300"/>
            </a:xfrm>
            <a:prstGeom prst="straightConnector1">
              <a:avLst/>
            </a:prstGeom>
            <a:noFill/>
            <a:ln w="19050" cap="flat" cmpd="sng">
              <a:solidFill>
                <a:srgbClr val="FF0000"/>
              </a:solidFill>
              <a:prstDash val="solid"/>
              <a:round/>
              <a:headEnd type="none" w="med" len="med"/>
              <a:tailEnd type="none" w="med" len="med"/>
            </a:ln>
          </p:spPr>
        </p:cxnSp>
        <p:cxnSp>
          <p:nvCxnSpPr>
            <p:cNvPr id="202" name="Google Shape;202;p32"/>
            <p:cNvCxnSpPr/>
            <p:nvPr/>
          </p:nvCxnSpPr>
          <p:spPr>
            <a:xfrm rot="10800000" flipH="1">
              <a:off x="8785000" y="2038325"/>
              <a:ext cx="309300" cy="1500"/>
            </a:xfrm>
            <a:prstGeom prst="straightConnector1">
              <a:avLst/>
            </a:prstGeom>
            <a:noFill/>
            <a:ln w="19050" cap="flat" cmpd="sng">
              <a:solidFill>
                <a:srgbClr val="FF0000"/>
              </a:solidFill>
              <a:prstDash val="solid"/>
              <a:round/>
              <a:headEnd type="none" w="med" len="med"/>
              <a:tailEnd type="none" w="med" len="med"/>
            </a:ln>
          </p:spPr>
        </p:cxnSp>
      </p:grpSp>
      <p:sp>
        <p:nvSpPr>
          <p:cNvPr id="203" name="Google Shape;203;p32"/>
          <p:cNvSpPr txBox="1"/>
          <p:nvPr/>
        </p:nvSpPr>
        <p:spPr>
          <a:xfrm>
            <a:off x="7650363" y="1387500"/>
            <a:ext cx="13446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Pathogen ID</a:t>
            </a:r>
            <a:endParaRPr/>
          </a:p>
        </p:txBody>
      </p:sp>
      <p:sp>
        <p:nvSpPr>
          <p:cNvPr id="204" name="Google Shape;204;p32"/>
          <p:cNvSpPr/>
          <p:nvPr/>
        </p:nvSpPr>
        <p:spPr>
          <a:xfrm>
            <a:off x="175850" y="1276500"/>
            <a:ext cx="2544000" cy="37239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latin typeface="Roboto"/>
                <a:ea typeface="Roboto"/>
                <a:cs typeface="Roboto"/>
                <a:sym typeface="Roboto"/>
              </a:rPr>
              <a:t>Good study design is essential for mNGS!</a:t>
            </a:r>
            <a:endParaRPr>
              <a:latin typeface="Roboto"/>
              <a:ea typeface="Roboto"/>
              <a:cs typeface="Roboto"/>
              <a:sym typeface="Roboto"/>
            </a:endParaRPr>
          </a:p>
        </p:txBody>
      </p:sp>
      <p:sp>
        <p:nvSpPr>
          <p:cNvPr id="343" name="Google Shape;343;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50000"/>
              </a:lnSpc>
              <a:spcBef>
                <a:spcPts val="0"/>
              </a:spcBef>
              <a:spcAft>
                <a:spcPts val="0"/>
              </a:spcAft>
              <a:buSzPts val="1800"/>
              <a:buNone/>
            </a:pPr>
            <a:r>
              <a:rPr lang="en" sz="2200" dirty="0">
                <a:latin typeface="Roboto"/>
                <a:ea typeface="Roboto"/>
                <a:cs typeface="Roboto"/>
                <a:sym typeface="Roboto"/>
              </a:rPr>
              <a:t>It requires an definition of:</a:t>
            </a:r>
            <a:endParaRPr sz="2200" dirty="0">
              <a:latin typeface="Roboto"/>
              <a:ea typeface="Roboto"/>
              <a:cs typeface="Roboto"/>
              <a:sym typeface="Roboto"/>
            </a:endParaRPr>
          </a:p>
          <a:p>
            <a:pPr marL="457200" lvl="0" indent="-342900" algn="l" rtl="0">
              <a:lnSpc>
                <a:spcPct val="150000"/>
              </a:lnSpc>
              <a:spcBef>
                <a:spcPts val="0"/>
              </a:spcBef>
              <a:spcAft>
                <a:spcPts val="0"/>
              </a:spcAft>
              <a:buSzPts val="1800"/>
              <a:buFont typeface="Roboto"/>
              <a:buChar char="●"/>
            </a:pPr>
            <a:r>
              <a:rPr lang="en" b="1" dirty="0">
                <a:latin typeface="Roboto"/>
                <a:ea typeface="Roboto"/>
                <a:cs typeface="Roboto"/>
                <a:sym typeface="Roboto"/>
              </a:rPr>
              <a:t>Purpose of the study (e.g. clinical diagnostics, outbreak detection)</a:t>
            </a:r>
            <a:endParaRPr b="1" dirty="0">
              <a:latin typeface="Roboto"/>
              <a:ea typeface="Roboto"/>
              <a:cs typeface="Roboto"/>
              <a:sym typeface="Roboto"/>
            </a:endParaRPr>
          </a:p>
          <a:p>
            <a:pPr marL="0" lvl="0" indent="0" algn="l" rtl="0">
              <a:lnSpc>
                <a:spcPct val="150000"/>
              </a:lnSpc>
              <a:spcBef>
                <a:spcPts val="0"/>
              </a:spcBef>
              <a:spcAft>
                <a:spcPts val="0"/>
              </a:spcAft>
              <a:buNone/>
            </a:pPr>
            <a:endParaRPr b="1" dirty="0">
              <a:latin typeface="Roboto"/>
              <a:ea typeface="Roboto"/>
              <a:cs typeface="Roboto"/>
              <a:sym typeface="Roboto"/>
            </a:endParaRPr>
          </a:p>
        </p:txBody>
      </p:sp>
      <p:pic>
        <p:nvPicPr>
          <p:cNvPr id="344" name="Google Shape;344;p14"/>
          <p:cNvPicPr preferRelativeResize="0"/>
          <p:nvPr/>
        </p:nvPicPr>
        <p:blipFill rotWithShape="1">
          <a:blip r:embed="rId3">
            <a:alphaModFix/>
          </a:blip>
          <a:srcRect l="13069" t="15507" r="15081" b="13226"/>
          <a:stretch/>
        </p:blipFill>
        <p:spPr>
          <a:xfrm>
            <a:off x="7092488" y="445025"/>
            <a:ext cx="871875" cy="1028700"/>
          </a:xfrm>
          <a:prstGeom prst="rect">
            <a:avLst/>
          </a:prstGeom>
          <a:noFill/>
          <a:ln>
            <a:noFill/>
          </a:ln>
        </p:spPr>
      </p:pic>
      <p:pic>
        <p:nvPicPr>
          <p:cNvPr id="345" name="Google Shape;345;p14" title="Screenshot 2025-07-15 at 10.29.22 AM.png"/>
          <p:cNvPicPr preferRelativeResize="0"/>
          <p:nvPr/>
        </p:nvPicPr>
        <p:blipFill>
          <a:blip r:embed="rId4">
            <a:alphaModFix/>
          </a:blip>
          <a:stretch>
            <a:fillRect/>
          </a:stretch>
        </p:blipFill>
        <p:spPr>
          <a:xfrm>
            <a:off x="5045242" y="2488761"/>
            <a:ext cx="1630976" cy="1667200"/>
          </a:xfrm>
          <a:prstGeom prst="rect">
            <a:avLst/>
          </a:prstGeom>
          <a:noFill/>
          <a:ln>
            <a:noFill/>
          </a:ln>
        </p:spPr>
      </p:pic>
      <p:pic>
        <p:nvPicPr>
          <p:cNvPr id="346" name="Google Shape;346;p14" title="Screenshot 2025-07-15 at 10.29.00 AM.png"/>
          <p:cNvPicPr preferRelativeResize="0"/>
          <p:nvPr/>
        </p:nvPicPr>
        <p:blipFill>
          <a:blip r:embed="rId5">
            <a:alphaModFix/>
          </a:blip>
          <a:stretch>
            <a:fillRect/>
          </a:stretch>
        </p:blipFill>
        <p:spPr>
          <a:xfrm>
            <a:off x="2112763" y="2764999"/>
            <a:ext cx="940225" cy="1114725"/>
          </a:xfrm>
          <a:prstGeom prst="rect">
            <a:avLst/>
          </a:prstGeom>
          <a:noFill/>
          <a:ln>
            <a:noFill/>
          </a:ln>
        </p:spPr>
      </p:pic>
      <p:sp>
        <p:nvSpPr>
          <p:cNvPr id="347" name="Google Shape;347;p14"/>
          <p:cNvSpPr txBox="1"/>
          <p:nvPr/>
        </p:nvSpPr>
        <p:spPr>
          <a:xfrm>
            <a:off x="0" y="4612438"/>
            <a:ext cx="3192600" cy="1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900">
              <a:solidFill>
                <a:schemeClr val="dk2"/>
              </a:solidFill>
            </a:endParaRPr>
          </a:p>
        </p:txBody>
      </p:sp>
    </p:spTree>
    <p:extLst>
      <p:ext uri="{BB962C8B-B14F-4D97-AF65-F5344CB8AC3E}">
        <p14:creationId xmlns:p14="http://schemas.microsoft.com/office/powerpoint/2010/main" val="528759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31"/>
          <p:cNvSpPr/>
          <p:nvPr/>
        </p:nvSpPr>
        <p:spPr>
          <a:xfrm>
            <a:off x="336550" y="1026400"/>
            <a:ext cx="4127700" cy="1806900"/>
          </a:xfrm>
          <a:prstGeom prst="flowChartAlternateProcess">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pic>
        <p:nvPicPr>
          <p:cNvPr id="134" name="Google Shape;134;p31"/>
          <p:cNvPicPr preferRelativeResize="0"/>
          <p:nvPr/>
        </p:nvPicPr>
        <p:blipFill rotWithShape="1">
          <a:blip r:embed="rId3">
            <a:alphaModFix/>
          </a:blip>
          <a:srcRect l="65423" t="56413" b="13406"/>
          <a:stretch/>
        </p:blipFill>
        <p:spPr>
          <a:xfrm>
            <a:off x="1675675" y="1452450"/>
            <a:ext cx="1476724" cy="1288975"/>
          </a:xfrm>
          <a:prstGeom prst="rect">
            <a:avLst/>
          </a:prstGeom>
          <a:noFill/>
          <a:ln>
            <a:noFill/>
          </a:ln>
        </p:spPr>
      </p:pic>
      <p:sp>
        <p:nvSpPr>
          <p:cNvPr id="135" name="Google Shape;135;p31"/>
          <p:cNvSpPr/>
          <p:nvPr/>
        </p:nvSpPr>
        <p:spPr>
          <a:xfrm>
            <a:off x="4736160" y="1026400"/>
            <a:ext cx="4127700" cy="1822200"/>
          </a:xfrm>
          <a:prstGeom prst="flowChartAlternateProcess">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136" name="Google Shape;136;p31"/>
          <p:cNvSpPr/>
          <p:nvPr/>
        </p:nvSpPr>
        <p:spPr>
          <a:xfrm>
            <a:off x="336550" y="3045506"/>
            <a:ext cx="4127700" cy="1806900"/>
          </a:xfrm>
          <a:prstGeom prst="flowChartAlternateProcess">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137" name="Google Shape;137;p31"/>
          <p:cNvSpPr/>
          <p:nvPr/>
        </p:nvSpPr>
        <p:spPr>
          <a:xfrm>
            <a:off x="4736160" y="3033931"/>
            <a:ext cx="4127700" cy="1806900"/>
          </a:xfrm>
          <a:prstGeom prst="flowChartAlternateProcess">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138" name="Google Shape;138;p31"/>
          <p:cNvSpPr txBox="1">
            <a:spLocks noGrp="1"/>
          </p:cNvSpPr>
          <p:nvPr>
            <p:ph type="title" idx="4294967295"/>
          </p:nvPr>
        </p:nvSpPr>
        <p:spPr>
          <a:xfrm>
            <a:off x="342900" y="270196"/>
            <a:ext cx="8417700" cy="571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a:t>Some use cases for </a:t>
            </a:r>
            <a:r>
              <a:rPr lang="en" dirty="0" err="1"/>
              <a:t>mNGS</a:t>
            </a:r>
            <a:endParaRPr dirty="0"/>
          </a:p>
        </p:txBody>
      </p:sp>
      <p:sp>
        <p:nvSpPr>
          <p:cNvPr id="139" name="Google Shape;139;p31"/>
          <p:cNvSpPr txBox="1"/>
          <p:nvPr/>
        </p:nvSpPr>
        <p:spPr>
          <a:xfrm>
            <a:off x="814763" y="1159838"/>
            <a:ext cx="3171300" cy="414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140" name="Google Shape;140;p31"/>
          <p:cNvSpPr txBox="1"/>
          <p:nvPr/>
        </p:nvSpPr>
        <p:spPr>
          <a:xfrm>
            <a:off x="4747735" y="1112542"/>
            <a:ext cx="4127700" cy="41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Helvetica Neue"/>
                <a:ea typeface="Helvetica Neue"/>
                <a:cs typeface="Helvetica Neue"/>
                <a:sym typeface="Helvetica Neue"/>
              </a:rPr>
              <a:t>Outbreak detection and prevention</a:t>
            </a:r>
            <a:endParaRPr sz="1800" b="0" i="0" u="none" strike="noStrike" cap="none">
              <a:solidFill>
                <a:srgbClr val="000000"/>
              </a:solidFill>
              <a:latin typeface="Helvetica Neue"/>
              <a:ea typeface="Helvetica Neue"/>
              <a:cs typeface="Helvetica Neue"/>
              <a:sym typeface="Helvetica Neue"/>
            </a:endParaRPr>
          </a:p>
        </p:txBody>
      </p:sp>
      <p:sp>
        <p:nvSpPr>
          <p:cNvPr id="141" name="Google Shape;141;p31"/>
          <p:cNvSpPr txBox="1"/>
          <p:nvPr/>
        </p:nvSpPr>
        <p:spPr>
          <a:xfrm>
            <a:off x="814763" y="3171742"/>
            <a:ext cx="3171300" cy="41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142" name="Google Shape;142;p31"/>
          <p:cNvSpPr txBox="1"/>
          <p:nvPr/>
        </p:nvSpPr>
        <p:spPr>
          <a:xfrm>
            <a:off x="336550" y="1110175"/>
            <a:ext cx="4127700" cy="41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Helvetica Neue"/>
                <a:ea typeface="Helvetica Neue"/>
                <a:cs typeface="Helvetica Neue"/>
                <a:sym typeface="Helvetica Neue"/>
              </a:rPr>
              <a:t>Identify a novel pathogen</a:t>
            </a:r>
            <a:endParaRPr sz="1800" b="0" i="0" u="none" strike="noStrike" cap="none">
              <a:solidFill>
                <a:srgbClr val="000000"/>
              </a:solidFill>
              <a:latin typeface="Helvetica Neue"/>
              <a:ea typeface="Helvetica Neue"/>
              <a:cs typeface="Helvetica Neue"/>
              <a:sym typeface="Helvetica Neue"/>
            </a:endParaRPr>
          </a:p>
        </p:txBody>
      </p:sp>
      <p:sp>
        <p:nvSpPr>
          <p:cNvPr id="143" name="Google Shape;143;p31"/>
          <p:cNvSpPr txBox="1"/>
          <p:nvPr/>
        </p:nvSpPr>
        <p:spPr>
          <a:xfrm>
            <a:off x="814763" y="3171742"/>
            <a:ext cx="3171300" cy="414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144" name="Google Shape;144;p31"/>
          <p:cNvSpPr txBox="1"/>
          <p:nvPr/>
        </p:nvSpPr>
        <p:spPr>
          <a:xfrm>
            <a:off x="336538" y="3110480"/>
            <a:ext cx="4127700" cy="41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Helvetica Neue"/>
                <a:ea typeface="Helvetica Neue"/>
                <a:cs typeface="Helvetica Neue"/>
                <a:sym typeface="Helvetica Neue"/>
              </a:rPr>
              <a:t>Identify coinfections</a:t>
            </a:r>
            <a:endParaRPr sz="1800" b="0" i="0" u="none" strike="noStrike" cap="none">
              <a:solidFill>
                <a:srgbClr val="000000"/>
              </a:solidFill>
              <a:latin typeface="Helvetica Neue"/>
              <a:ea typeface="Helvetica Neue"/>
              <a:cs typeface="Helvetica Neue"/>
              <a:sym typeface="Helvetica Neue"/>
            </a:endParaRPr>
          </a:p>
        </p:txBody>
      </p:sp>
      <p:sp>
        <p:nvSpPr>
          <p:cNvPr id="145" name="Google Shape;145;p31"/>
          <p:cNvSpPr txBox="1"/>
          <p:nvPr/>
        </p:nvSpPr>
        <p:spPr>
          <a:xfrm>
            <a:off x="5225913" y="3171742"/>
            <a:ext cx="3171300" cy="414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146" name="Google Shape;146;p31"/>
          <p:cNvSpPr txBox="1"/>
          <p:nvPr/>
        </p:nvSpPr>
        <p:spPr>
          <a:xfrm>
            <a:off x="4736149" y="3104308"/>
            <a:ext cx="4127700" cy="41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Helvetica Neue"/>
                <a:ea typeface="Helvetica Neue"/>
                <a:cs typeface="Helvetica Neue"/>
                <a:sym typeface="Helvetica Neue"/>
              </a:rPr>
              <a:t>Characterize the microbial landscape</a:t>
            </a:r>
            <a:endParaRPr sz="1800" b="0" i="0" u="none" strike="noStrike" cap="none">
              <a:solidFill>
                <a:srgbClr val="000000"/>
              </a:solidFill>
              <a:latin typeface="Helvetica Neue"/>
              <a:ea typeface="Helvetica Neue"/>
              <a:cs typeface="Helvetica Neue"/>
              <a:sym typeface="Helvetica Neue"/>
            </a:endParaRPr>
          </a:p>
        </p:txBody>
      </p:sp>
      <p:sp>
        <p:nvSpPr>
          <p:cNvPr id="147" name="Google Shape;147;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pic>
        <p:nvPicPr>
          <p:cNvPr id="148" name="Google Shape;148;p31"/>
          <p:cNvPicPr preferRelativeResize="0"/>
          <p:nvPr/>
        </p:nvPicPr>
        <p:blipFill rotWithShape="1">
          <a:blip r:embed="rId4">
            <a:alphaModFix/>
          </a:blip>
          <a:srcRect l="3809" t="5168"/>
          <a:stretch/>
        </p:blipFill>
        <p:spPr>
          <a:xfrm>
            <a:off x="5167452" y="3579696"/>
            <a:ext cx="391898" cy="393675"/>
          </a:xfrm>
          <a:prstGeom prst="rect">
            <a:avLst/>
          </a:prstGeom>
          <a:noFill/>
          <a:ln>
            <a:noFill/>
          </a:ln>
        </p:spPr>
      </p:pic>
      <p:pic>
        <p:nvPicPr>
          <p:cNvPr id="149" name="Google Shape;149;p31"/>
          <p:cNvPicPr preferRelativeResize="0"/>
          <p:nvPr/>
        </p:nvPicPr>
        <p:blipFill>
          <a:blip r:embed="rId5">
            <a:alphaModFix/>
          </a:blip>
          <a:stretch>
            <a:fillRect/>
          </a:stretch>
        </p:blipFill>
        <p:spPr>
          <a:xfrm>
            <a:off x="6397057" y="4347356"/>
            <a:ext cx="372683" cy="344731"/>
          </a:xfrm>
          <a:prstGeom prst="rect">
            <a:avLst/>
          </a:prstGeom>
          <a:noFill/>
          <a:ln>
            <a:noFill/>
          </a:ln>
        </p:spPr>
      </p:pic>
      <p:pic>
        <p:nvPicPr>
          <p:cNvPr id="150" name="Google Shape;150;p31"/>
          <p:cNvPicPr preferRelativeResize="0"/>
          <p:nvPr/>
        </p:nvPicPr>
        <p:blipFill>
          <a:blip r:embed="rId6">
            <a:alphaModFix/>
          </a:blip>
          <a:stretch>
            <a:fillRect/>
          </a:stretch>
        </p:blipFill>
        <p:spPr>
          <a:xfrm>
            <a:off x="5788127" y="3774605"/>
            <a:ext cx="228750" cy="253909"/>
          </a:xfrm>
          <a:prstGeom prst="rect">
            <a:avLst/>
          </a:prstGeom>
          <a:noFill/>
          <a:ln>
            <a:noFill/>
          </a:ln>
        </p:spPr>
      </p:pic>
      <p:pic>
        <p:nvPicPr>
          <p:cNvPr id="151" name="Google Shape;151;p31"/>
          <p:cNvPicPr preferRelativeResize="0"/>
          <p:nvPr/>
        </p:nvPicPr>
        <p:blipFill>
          <a:blip r:embed="rId7">
            <a:alphaModFix/>
          </a:blip>
          <a:stretch>
            <a:fillRect/>
          </a:stretch>
        </p:blipFill>
        <p:spPr>
          <a:xfrm rot="3995643">
            <a:off x="5788095" y="4343848"/>
            <a:ext cx="454467" cy="95247"/>
          </a:xfrm>
          <a:prstGeom prst="rect">
            <a:avLst/>
          </a:prstGeom>
          <a:noFill/>
          <a:ln>
            <a:noFill/>
          </a:ln>
        </p:spPr>
      </p:pic>
      <p:sp>
        <p:nvSpPr>
          <p:cNvPr id="152" name="Google Shape;152;p31"/>
          <p:cNvSpPr/>
          <p:nvPr/>
        </p:nvSpPr>
        <p:spPr>
          <a:xfrm rot="9167033">
            <a:off x="5466154" y="4434097"/>
            <a:ext cx="141686" cy="147053"/>
          </a:xfrm>
          <a:prstGeom prst="ellipse">
            <a:avLst/>
          </a:prstGeom>
          <a:solidFill>
            <a:srgbClr val="A4C2F4"/>
          </a:solidFill>
          <a:ln>
            <a:noFill/>
          </a:ln>
          <a:effectLst>
            <a:outerShdw blurRad="57150" dist="19050" dir="117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3" name="Google Shape;153;p31"/>
          <p:cNvPicPr preferRelativeResize="0"/>
          <p:nvPr/>
        </p:nvPicPr>
        <p:blipFill>
          <a:blip r:embed="rId8">
            <a:alphaModFix/>
          </a:blip>
          <a:stretch>
            <a:fillRect/>
          </a:stretch>
        </p:blipFill>
        <p:spPr>
          <a:xfrm rot="4124068">
            <a:off x="6148707" y="3775047"/>
            <a:ext cx="556585" cy="200831"/>
          </a:xfrm>
          <a:prstGeom prst="rect">
            <a:avLst/>
          </a:prstGeom>
          <a:noFill/>
          <a:ln>
            <a:noFill/>
          </a:ln>
        </p:spPr>
      </p:pic>
      <p:pic>
        <p:nvPicPr>
          <p:cNvPr id="154" name="Google Shape;154;p31"/>
          <p:cNvPicPr preferRelativeResize="0"/>
          <p:nvPr/>
        </p:nvPicPr>
        <p:blipFill rotWithShape="1">
          <a:blip r:embed="rId4">
            <a:alphaModFix/>
          </a:blip>
          <a:srcRect l="3809" t="5168"/>
          <a:stretch/>
        </p:blipFill>
        <p:spPr>
          <a:xfrm>
            <a:off x="7053265" y="3579696"/>
            <a:ext cx="391898" cy="393675"/>
          </a:xfrm>
          <a:prstGeom prst="rect">
            <a:avLst/>
          </a:prstGeom>
          <a:noFill/>
          <a:ln>
            <a:noFill/>
          </a:ln>
        </p:spPr>
      </p:pic>
      <p:pic>
        <p:nvPicPr>
          <p:cNvPr id="155" name="Google Shape;155;p31"/>
          <p:cNvPicPr preferRelativeResize="0"/>
          <p:nvPr/>
        </p:nvPicPr>
        <p:blipFill>
          <a:blip r:embed="rId5">
            <a:alphaModFix/>
          </a:blip>
          <a:stretch>
            <a:fillRect/>
          </a:stretch>
        </p:blipFill>
        <p:spPr>
          <a:xfrm>
            <a:off x="8024544" y="4264331"/>
            <a:ext cx="372684" cy="344731"/>
          </a:xfrm>
          <a:prstGeom prst="rect">
            <a:avLst/>
          </a:prstGeom>
          <a:noFill/>
          <a:ln>
            <a:noFill/>
          </a:ln>
        </p:spPr>
      </p:pic>
      <p:pic>
        <p:nvPicPr>
          <p:cNvPr id="156" name="Google Shape;156;p31"/>
          <p:cNvPicPr preferRelativeResize="0"/>
          <p:nvPr/>
        </p:nvPicPr>
        <p:blipFill>
          <a:blip r:embed="rId6">
            <a:alphaModFix/>
          </a:blip>
          <a:stretch>
            <a:fillRect/>
          </a:stretch>
        </p:blipFill>
        <p:spPr>
          <a:xfrm>
            <a:off x="6837089" y="4010405"/>
            <a:ext cx="228750" cy="253909"/>
          </a:xfrm>
          <a:prstGeom prst="rect">
            <a:avLst/>
          </a:prstGeom>
          <a:noFill/>
          <a:ln>
            <a:noFill/>
          </a:ln>
        </p:spPr>
      </p:pic>
      <p:pic>
        <p:nvPicPr>
          <p:cNvPr id="157" name="Google Shape;157;p31"/>
          <p:cNvPicPr preferRelativeResize="0"/>
          <p:nvPr/>
        </p:nvPicPr>
        <p:blipFill>
          <a:blip r:embed="rId7">
            <a:alphaModFix/>
          </a:blip>
          <a:stretch>
            <a:fillRect/>
          </a:stretch>
        </p:blipFill>
        <p:spPr>
          <a:xfrm rot="6274924">
            <a:off x="7762132" y="3821373"/>
            <a:ext cx="454467" cy="95247"/>
          </a:xfrm>
          <a:prstGeom prst="rect">
            <a:avLst/>
          </a:prstGeom>
          <a:noFill/>
          <a:ln>
            <a:noFill/>
          </a:ln>
        </p:spPr>
      </p:pic>
      <p:sp>
        <p:nvSpPr>
          <p:cNvPr id="158" name="Google Shape;158;p31"/>
          <p:cNvSpPr/>
          <p:nvPr/>
        </p:nvSpPr>
        <p:spPr>
          <a:xfrm rot="9167033">
            <a:off x="7071817" y="4547897"/>
            <a:ext cx="141686" cy="147053"/>
          </a:xfrm>
          <a:prstGeom prst="ellipse">
            <a:avLst/>
          </a:prstGeom>
          <a:solidFill>
            <a:srgbClr val="A4C2F4"/>
          </a:solidFill>
          <a:ln>
            <a:noFill/>
          </a:ln>
          <a:effectLst>
            <a:outerShdw blurRad="57150" dist="19050" dir="117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9" name="Google Shape;159;p31"/>
          <p:cNvPicPr preferRelativeResize="0"/>
          <p:nvPr/>
        </p:nvPicPr>
        <p:blipFill>
          <a:blip r:embed="rId8">
            <a:alphaModFix/>
          </a:blip>
          <a:stretch>
            <a:fillRect/>
          </a:stretch>
        </p:blipFill>
        <p:spPr>
          <a:xfrm rot="10547009">
            <a:off x="7322857" y="4239284"/>
            <a:ext cx="556585" cy="200831"/>
          </a:xfrm>
          <a:prstGeom prst="rect">
            <a:avLst/>
          </a:prstGeom>
          <a:noFill/>
          <a:ln>
            <a:noFill/>
          </a:ln>
        </p:spPr>
      </p:pic>
      <p:pic>
        <p:nvPicPr>
          <p:cNvPr id="160" name="Google Shape;160;p31"/>
          <p:cNvPicPr preferRelativeResize="0"/>
          <p:nvPr/>
        </p:nvPicPr>
        <p:blipFill>
          <a:blip r:embed="rId5">
            <a:alphaModFix/>
          </a:blip>
          <a:stretch>
            <a:fillRect/>
          </a:stretch>
        </p:blipFill>
        <p:spPr>
          <a:xfrm>
            <a:off x="1370867" y="3713292"/>
            <a:ext cx="828913" cy="766750"/>
          </a:xfrm>
          <a:prstGeom prst="rect">
            <a:avLst/>
          </a:prstGeom>
          <a:noFill/>
          <a:ln>
            <a:noFill/>
          </a:ln>
        </p:spPr>
      </p:pic>
      <p:pic>
        <p:nvPicPr>
          <p:cNvPr id="161" name="Google Shape;161;p31"/>
          <p:cNvPicPr preferRelativeResize="0"/>
          <p:nvPr/>
        </p:nvPicPr>
        <p:blipFill>
          <a:blip r:embed="rId9">
            <a:alphaModFix/>
          </a:blip>
          <a:stretch>
            <a:fillRect/>
          </a:stretch>
        </p:blipFill>
        <p:spPr>
          <a:xfrm rot="-2210331">
            <a:off x="2244573" y="3952882"/>
            <a:ext cx="1464564" cy="368971"/>
          </a:xfrm>
          <a:prstGeom prst="rect">
            <a:avLst/>
          </a:prstGeom>
          <a:noFill/>
          <a:ln>
            <a:noFill/>
          </a:ln>
        </p:spPr>
      </p:pic>
      <p:pic>
        <p:nvPicPr>
          <p:cNvPr id="162" name="Google Shape;162;p31" descr="Bats"/>
          <p:cNvPicPr preferRelativeResize="0"/>
          <p:nvPr/>
        </p:nvPicPr>
        <p:blipFill rotWithShape="1">
          <a:blip r:embed="rId10">
            <a:alphaModFix/>
          </a:blip>
          <a:srcRect/>
          <a:stretch/>
        </p:blipFill>
        <p:spPr>
          <a:xfrm>
            <a:off x="4805938" y="1881838"/>
            <a:ext cx="657725" cy="657725"/>
          </a:xfrm>
          <a:prstGeom prst="rect">
            <a:avLst/>
          </a:prstGeom>
          <a:noFill/>
          <a:ln>
            <a:noFill/>
          </a:ln>
        </p:spPr>
      </p:pic>
      <p:pic>
        <p:nvPicPr>
          <p:cNvPr id="163" name="Google Shape;163;p31"/>
          <p:cNvPicPr preferRelativeResize="0"/>
          <p:nvPr/>
        </p:nvPicPr>
        <p:blipFill>
          <a:blip r:embed="rId11">
            <a:alphaModFix/>
          </a:blip>
          <a:stretch>
            <a:fillRect/>
          </a:stretch>
        </p:blipFill>
        <p:spPr>
          <a:xfrm>
            <a:off x="7115154" y="1778324"/>
            <a:ext cx="1660973" cy="934576"/>
          </a:xfrm>
          <a:prstGeom prst="rect">
            <a:avLst/>
          </a:prstGeom>
          <a:noFill/>
          <a:ln>
            <a:noFill/>
          </a:ln>
        </p:spPr>
      </p:pic>
      <p:pic>
        <p:nvPicPr>
          <p:cNvPr id="164" name="Google Shape;164;p31"/>
          <p:cNvPicPr preferRelativeResize="0"/>
          <p:nvPr/>
        </p:nvPicPr>
        <p:blipFill rotWithShape="1">
          <a:blip r:embed="rId12">
            <a:alphaModFix/>
          </a:blip>
          <a:srcRect l="12978" r="23958" b="23225"/>
          <a:stretch/>
        </p:blipFill>
        <p:spPr>
          <a:xfrm>
            <a:off x="5960562" y="1778313"/>
            <a:ext cx="657725" cy="864751"/>
          </a:xfrm>
          <a:prstGeom prst="rect">
            <a:avLst/>
          </a:prstGeom>
          <a:noFill/>
          <a:ln>
            <a:noFill/>
          </a:ln>
        </p:spPr>
      </p:pic>
      <p:cxnSp>
        <p:nvCxnSpPr>
          <p:cNvPr id="165" name="Google Shape;165;p31"/>
          <p:cNvCxnSpPr/>
          <p:nvPr/>
        </p:nvCxnSpPr>
        <p:spPr>
          <a:xfrm>
            <a:off x="6673663" y="2243913"/>
            <a:ext cx="386100" cy="0"/>
          </a:xfrm>
          <a:prstGeom prst="straightConnector1">
            <a:avLst/>
          </a:prstGeom>
          <a:noFill/>
          <a:ln w="38100" cap="flat" cmpd="sng">
            <a:solidFill>
              <a:schemeClr val="dk2"/>
            </a:solidFill>
            <a:prstDash val="solid"/>
            <a:round/>
            <a:headEnd type="none" w="med" len="med"/>
            <a:tailEnd type="triangle" w="med" len="med"/>
          </a:ln>
        </p:spPr>
      </p:cxnSp>
      <p:cxnSp>
        <p:nvCxnSpPr>
          <p:cNvPr id="166" name="Google Shape;166;p31"/>
          <p:cNvCxnSpPr/>
          <p:nvPr/>
        </p:nvCxnSpPr>
        <p:spPr>
          <a:xfrm>
            <a:off x="5539863" y="2236600"/>
            <a:ext cx="386100" cy="0"/>
          </a:xfrm>
          <a:prstGeom prst="straightConnector1">
            <a:avLst/>
          </a:prstGeom>
          <a:noFill/>
          <a:ln w="38100" cap="flat" cmpd="sng">
            <a:solidFill>
              <a:schemeClr val="dk2"/>
            </a:solidFill>
            <a:prstDash val="solid"/>
            <a:round/>
            <a:headEnd type="none" w="med" len="med"/>
            <a:tailEnd type="triangle" w="med" len="med"/>
          </a:ln>
        </p:spPr>
      </p:cxnSp>
      <p:pic>
        <p:nvPicPr>
          <p:cNvPr id="167" name="Google Shape;167;p31"/>
          <p:cNvPicPr preferRelativeResize="0"/>
          <p:nvPr/>
        </p:nvPicPr>
        <p:blipFill rotWithShape="1">
          <a:blip r:embed="rId13">
            <a:alphaModFix/>
          </a:blip>
          <a:srcRect l="9479" t="5348" r="9438" b="12624"/>
          <a:stretch/>
        </p:blipFill>
        <p:spPr>
          <a:xfrm>
            <a:off x="5516169" y="1670222"/>
            <a:ext cx="391900" cy="426966"/>
          </a:xfrm>
          <a:prstGeom prst="rect">
            <a:avLst/>
          </a:prstGeom>
          <a:noFill/>
          <a:ln>
            <a:noFill/>
          </a:ln>
        </p:spPr>
      </p:pic>
      <p:sp>
        <p:nvSpPr>
          <p:cNvPr id="168" name="Google Shape;168;p31"/>
          <p:cNvSpPr txBox="1"/>
          <p:nvPr/>
        </p:nvSpPr>
        <p:spPr>
          <a:xfrm>
            <a:off x="2227738" y="3802250"/>
            <a:ext cx="3726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a:t>+</a:t>
            </a:r>
            <a:endParaRPr sz="2500"/>
          </a:p>
        </p:txBody>
      </p:sp>
      <p:pic>
        <p:nvPicPr>
          <p:cNvPr id="169" name="Google Shape;169;p31"/>
          <p:cNvPicPr preferRelativeResize="0"/>
          <p:nvPr/>
        </p:nvPicPr>
        <p:blipFill rotWithShape="1">
          <a:blip r:embed="rId13">
            <a:alphaModFix/>
          </a:blip>
          <a:srcRect l="9479" t="5348" r="9438" b="12624"/>
          <a:stretch/>
        </p:blipFill>
        <p:spPr>
          <a:xfrm>
            <a:off x="6670769" y="1672047"/>
            <a:ext cx="391900" cy="42696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latin typeface="Roboto"/>
                <a:ea typeface="Roboto"/>
                <a:cs typeface="Roboto"/>
                <a:sym typeface="Roboto"/>
              </a:rPr>
              <a:t>Pathogen landscape</a:t>
            </a:r>
            <a:endParaRPr dirty="0">
              <a:latin typeface="Roboto"/>
              <a:ea typeface="Roboto"/>
              <a:cs typeface="Roboto"/>
              <a:sym typeface="Roboto"/>
            </a:endParaRPr>
          </a:p>
        </p:txBody>
      </p:sp>
      <p:sp>
        <p:nvSpPr>
          <p:cNvPr id="282" name="Google Shape;28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114300" lvl="0" indent="0" algn="l" rtl="0">
              <a:lnSpc>
                <a:spcPct val="150000"/>
              </a:lnSpc>
              <a:spcBef>
                <a:spcPts val="1200"/>
              </a:spcBef>
              <a:spcAft>
                <a:spcPts val="0"/>
              </a:spcAft>
              <a:buSzPts val="1800"/>
              <a:buNone/>
            </a:pPr>
            <a:r>
              <a:rPr lang="en-US" b="1" dirty="0">
                <a:latin typeface="Roboto"/>
                <a:ea typeface="Roboto"/>
                <a:cs typeface="Roboto"/>
                <a:sym typeface="Roboto"/>
              </a:rPr>
              <a:t>What pathogens are suspected, what other microorganisms are we expecting</a:t>
            </a:r>
            <a:endParaRPr b="1" dirty="0">
              <a:latin typeface="Roboto"/>
              <a:ea typeface="Roboto"/>
              <a:cs typeface="Roboto"/>
              <a:sym typeface="Roboto"/>
            </a:endParaRPr>
          </a:p>
          <a:p>
            <a:pPr marL="457200" lvl="0" indent="0" algn="l" rtl="0">
              <a:lnSpc>
                <a:spcPct val="150000"/>
              </a:lnSpc>
              <a:spcBef>
                <a:spcPts val="0"/>
              </a:spcBef>
              <a:spcAft>
                <a:spcPts val="0"/>
              </a:spcAft>
              <a:buNone/>
            </a:pPr>
            <a:endParaRPr dirty="0">
              <a:latin typeface="Roboto"/>
              <a:ea typeface="Roboto"/>
              <a:cs typeface="Roboto"/>
              <a:sym typeface="Roboto"/>
            </a:endParaRPr>
          </a:p>
        </p:txBody>
      </p:sp>
      <p:pic>
        <p:nvPicPr>
          <p:cNvPr id="283" name="Google Shape;283;p13"/>
          <p:cNvPicPr preferRelativeResize="0"/>
          <p:nvPr/>
        </p:nvPicPr>
        <p:blipFill rotWithShape="1">
          <a:blip r:embed="rId3">
            <a:alphaModFix/>
          </a:blip>
          <a:srcRect l="13069" t="15507" r="15081" b="13226"/>
          <a:stretch/>
        </p:blipFill>
        <p:spPr>
          <a:xfrm>
            <a:off x="7092488" y="445025"/>
            <a:ext cx="871875" cy="1028700"/>
          </a:xfrm>
          <a:prstGeom prst="rect">
            <a:avLst/>
          </a:prstGeom>
          <a:noFill/>
          <a:ln>
            <a:noFill/>
          </a:ln>
        </p:spPr>
      </p:pic>
      <p:pic>
        <p:nvPicPr>
          <p:cNvPr id="3" name="Picture 2">
            <a:extLst>
              <a:ext uri="{FF2B5EF4-FFF2-40B4-BE49-F238E27FC236}">
                <a16:creationId xmlns:a16="http://schemas.microsoft.com/office/drawing/2014/main" id="{961663CB-CD94-B437-9AAD-5CADDA95E5B1}"/>
              </a:ext>
            </a:extLst>
          </p:cNvPr>
          <p:cNvPicPr>
            <a:picLocks noChangeAspect="1"/>
          </p:cNvPicPr>
          <p:nvPr/>
        </p:nvPicPr>
        <p:blipFill>
          <a:blip r:embed="rId4"/>
          <a:srcRect b="6836"/>
          <a:stretch>
            <a:fillRect/>
          </a:stretch>
        </p:blipFill>
        <p:spPr>
          <a:xfrm>
            <a:off x="1421476" y="2161071"/>
            <a:ext cx="6019352" cy="2336114"/>
          </a:xfrm>
          <a:prstGeom prst="rect">
            <a:avLst/>
          </a:prstGeom>
        </p:spPr>
      </p:pic>
      <p:sp>
        <p:nvSpPr>
          <p:cNvPr id="4" name="TextBox 3">
            <a:extLst>
              <a:ext uri="{FF2B5EF4-FFF2-40B4-BE49-F238E27FC236}">
                <a16:creationId xmlns:a16="http://schemas.microsoft.com/office/drawing/2014/main" id="{C0219A3C-2F76-8AE7-1E43-3365A6975A2A}"/>
              </a:ext>
            </a:extLst>
          </p:cNvPr>
          <p:cNvSpPr txBox="1"/>
          <p:nvPr/>
        </p:nvSpPr>
        <p:spPr>
          <a:xfrm>
            <a:off x="7013036" y="4497185"/>
            <a:ext cx="1030778" cy="230832"/>
          </a:xfrm>
          <a:prstGeom prst="rect">
            <a:avLst/>
          </a:prstGeom>
          <a:noFill/>
        </p:spPr>
        <p:txBody>
          <a:bodyPr wrap="square" rtlCol="0">
            <a:spAutoFit/>
          </a:bodyPr>
          <a:lstStyle/>
          <a:p>
            <a:r>
              <a:rPr lang="en-US" sz="900" b="1" dirty="0">
                <a:solidFill>
                  <a:srgbClr val="7030A0"/>
                </a:solidFill>
              </a:rPr>
              <a:t>…or pathogen?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5"/>
          <p:cNvSpPr txBox="1">
            <a:spLocks noGrp="1"/>
          </p:cNvSpPr>
          <p:nvPr>
            <p:ph type="body" idx="1"/>
          </p:nvPr>
        </p:nvSpPr>
        <p:spPr>
          <a:xfrm>
            <a:off x="83100" y="923875"/>
            <a:ext cx="9060900" cy="5727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700">
                <a:solidFill>
                  <a:schemeClr val="dk1"/>
                </a:solidFill>
              </a:rPr>
              <a:t>How to choose the sample type? Depends on the question!</a:t>
            </a:r>
            <a:endParaRPr sz="1700">
              <a:solidFill>
                <a:schemeClr val="dk1"/>
              </a:solidFill>
            </a:endParaRPr>
          </a:p>
          <a:p>
            <a:pPr marL="457200" lvl="0" indent="0" algn="l" rtl="0">
              <a:spcBef>
                <a:spcPts val="1600"/>
              </a:spcBef>
              <a:spcAft>
                <a:spcPts val="1600"/>
              </a:spcAft>
              <a:buNone/>
            </a:pPr>
            <a:endParaRPr sz="1300">
              <a:solidFill>
                <a:schemeClr val="dk1"/>
              </a:solidFill>
            </a:endParaRPr>
          </a:p>
        </p:txBody>
      </p:sp>
      <p:pic>
        <p:nvPicPr>
          <p:cNvPr id="263" name="Google Shape;263;p35"/>
          <p:cNvPicPr preferRelativeResize="0"/>
          <p:nvPr/>
        </p:nvPicPr>
        <p:blipFill rotWithShape="1">
          <a:blip r:embed="rId3">
            <a:alphaModFix/>
          </a:blip>
          <a:srcRect l="13069" t="15507" r="15081" b="13227"/>
          <a:stretch/>
        </p:blipFill>
        <p:spPr>
          <a:xfrm>
            <a:off x="243075" y="199975"/>
            <a:ext cx="563950" cy="665401"/>
          </a:xfrm>
          <a:prstGeom prst="rect">
            <a:avLst/>
          </a:prstGeom>
          <a:noFill/>
          <a:ln>
            <a:noFill/>
          </a:ln>
        </p:spPr>
      </p:pic>
      <p:sp>
        <p:nvSpPr>
          <p:cNvPr id="264" name="Google Shape;264;p35"/>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Sample type</a:t>
            </a:r>
            <a:endParaRPr dirty="0"/>
          </a:p>
        </p:txBody>
      </p:sp>
      <p:pic>
        <p:nvPicPr>
          <p:cNvPr id="265" name="Google Shape;265;p35"/>
          <p:cNvPicPr preferRelativeResize="0"/>
          <p:nvPr/>
        </p:nvPicPr>
        <p:blipFill>
          <a:blip r:embed="rId4">
            <a:alphaModFix/>
          </a:blip>
          <a:stretch>
            <a:fillRect/>
          </a:stretch>
        </p:blipFill>
        <p:spPr>
          <a:xfrm>
            <a:off x="431899" y="1595025"/>
            <a:ext cx="1061975" cy="1518799"/>
          </a:xfrm>
          <a:prstGeom prst="rect">
            <a:avLst/>
          </a:prstGeom>
          <a:noFill/>
          <a:ln>
            <a:noFill/>
          </a:ln>
        </p:spPr>
      </p:pic>
      <p:sp>
        <p:nvSpPr>
          <p:cNvPr id="266" name="Google Shape;266;p35"/>
          <p:cNvSpPr/>
          <p:nvPr/>
        </p:nvSpPr>
        <p:spPr>
          <a:xfrm>
            <a:off x="757250" y="1595025"/>
            <a:ext cx="400200" cy="405300"/>
          </a:xfrm>
          <a:prstGeom prst="ellipse">
            <a:avLst/>
          </a:prstGeom>
          <a:gradFill>
            <a:gsLst>
              <a:gs pos="0">
                <a:srgbClr val="DB0000"/>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7" name="Google Shape;267;p35"/>
          <p:cNvPicPr preferRelativeResize="0"/>
          <p:nvPr/>
        </p:nvPicPr>
        <p:blipFill>
          <a:blip r:embed="rId4">
            <a:alphaModFix/>
          </a:blip>
          <a:stretch>
            <a:fillRect/>
          </a:stretch>
        </p:blipFill>
        <p:spPr>
          <a:xfrm>
            <a:off x="4105749" y="1496575"/>
            <a:ext cx="1061975" cy="1518799"/>
          </a:xfrm>
          <a:prstGeom prst="rect">
            <a:avLst/>
          </a:prstGeom>
          <a:noFill/>
          <a:ln>
            <a:noFill/>
          </a:ln>
        </p:spPr>
      </p:pic>
      <p:sp>
        <p:nvSpPr>
          <p:cNvPr id="268" name="Google Shape;268;p35"/>
          <p:cNvSpPr/>
          <p:nvPr/>
        </p:nvSpPr>
        <p:spPr>
          <a:xfrm rot="10800000" flipH="1">
            <a:off x="4466525" y="1931950"/>
            <a:ext cx="338700" cy="405300"/>
          </a:xfrm>
          <a:prstGeom prst="round2SameRect">
            <a:avLst>
              <a:gd name="adj1" fmla="val 16667"/>
              <a:gd name="adj2" fmla="val 0"/>
            </a:avLst>
          </a:prstGeom>
          <a:gradFill>
            <a:gsLst>
              <a:gs pos="0">
                <a:srgbClr val="DB0000"/>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9" name="Google Shape;269;p35"/>
          <p:cNvPicPr preferRelativeResize="0"/>
          <p:nvPr/>
        </p:nvPicPr>
        <p:blipFill>
          <a:blip r:embed="rId4">
            <a:alphaModFix/>
          </a:blip>
          <a:stretch>
            <a:fillRect/>
          </a:stretch>
        </p:blipFill>
        <p:spPr>
          <a:xfrm>
            <a:off x="1945199" y="3352275"/>
            <a:ext cx="1061975" cy="1518799"/>
          </a:xfrm>
          <a:prstGeom prst="rect">
            <a:avLst/>
          </a:prstGeom>
          <a:noFill/>
          <a:ln>
            <a:noFill/>
          </a:ln>
        </p:spPr>
      </p:pic>
      <p:sp>
        <p:nvSpPr>
          <p:cNvPr id="270" name="Google Shape;270;p35"/>
          <p:cNvSpPr/>
          <p:nvPr/>
        </p:nvSpPr>
        <p:spPr>
          <a:xfrm>
            <a:off x="2306850" y="4140825"/>
            <a:ext cx="338700" cy="200700"/>
          </a:xfrm>
          <a:prstGeom prst="round2SameRect">
            <a:avLst>
              <a:gd name="adj1" fmla="val 0"/>
              <a:gd name="adj2" fmla="val 0"/>
            </a:avLst>
          </a:prstGeom>
          <a:gradFill>
            <a:gsLst>
              <a:gs pos="0">
                <a:srgbClr val="DB0000"/>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1" name="Google Shape;271;p35"/>
          <p:cNvPicPr preferRelativeResize="0"/>
          <p:nvPr/>
        </p:nvPicPr>
        <p:blipFill>
          <a:blip r:embed="rId5">
            <a:alphaModFix/>
          </a:blip>
          <a:stretch>
            <a:fillRect/>
          </a:stretch>
        </p:blipFill>
        <p:spPr>
          <a:xfrm>
            <a:off x="4739899" y="3367575"/>
            <a:ext cx="1061975" cy="1518799"/>
          </a:xfrm>
          <a:prstGeom prst="rect">
            <a:avLst/>
          </a:prstGeom>
          <a:noFill/>
          <a:ln>
            <a:noFill/>
          </a:ln>
        </p:spPr>
      </p:pic>
      <p:sp>
        <p:nvSpPr>
          <p:cNvPr id="272" name="Google Shape;272;p35"/>
          <p:cNvSpPr/>
          <p:nvPr/>
        </p:nvSpPr>
        <p:spPr>
          <a:xfrm>
            <a:off x="5070788" y="3367575"/>
            <a:ext cx="400200" cy="405300"/>
          </a:xfrm>
          <a:prstGeom prst="ellipse">
            <a:avLst/>
          </a:prstGeom>
          <a:gradFill>
            <a:gsLst>
              <a:gs pos="0">
                <a:srgbClr val="DB0000"/>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5"/>
          <p:cNvSpPr txBox="1"/>
          <p:nvPr/>
        </p:nvSpPr>
        <p:spPr>
          <a:xfrm>
            <a:off x="1595550" y="1743775"/>
            <a:ext cx="2132700" cy="8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Neurological symptoms?</a:t>
            </a:r>
            <a:endParaRPr sz="1300"/>
          </a:p>
          <a:p>
            <a:pPr marL="0" lvl="0" indent="0" algn="l" rtl="0">
              <a:spcBef>
                <a:spcPts val="0"/>
              </a:spcBef>
              <a:spcAft>
                <a:spcPts val="0"/>
              </a:spcAft>
              <a:buNone/>
            </a:pPr>
            <a:r>
              <a:rPr lang="en" sz="1300"/>
              <a:t>Meningitis/Encephalitis?</a:t>
            </a:r>
            <a:endParaRPr sz="1300"/>
          </a:p>
          <a:p>
            <a:pPr marL="0" lvl="0" indent="0" algn="l" rtl="0">
              <a:spcBef>
                <a:spcPts val="0"/>
              </a:spcBef>
              <a:spcAft>
                <a:spcPts val="0"/>
              </a:spcAft>
              <a:buNone/>
            </a:pPr>
            <a:r>
              <a:rPr lang="en" sz="1300" b="1"/>
              <a:t>CSF and Serum</a:t>
            </a:r>
            <a:endParaRPr sz="1300" b="1"/>
          </a:p>
        </p:txBody>
      </p:sp>
      <p:pic>
        <p:nvPicPr>
          <p:cNvPr id="274" name="Google Shape;274;p35"/>
          <p:cNvPicPr preferRelativeResize="0"/>
          <p:nvPr/>
        </p:nvPicPr>
        <p:blipFill>
          <a:blip r:embed="rId4">
            <a:alphaModFix/>
          </a:blip>
          <a:stretch>
            <a:fillRect/>
          </a:stretch>
        </p:blipFill>
        <p:spPr>
          <a:xfrm>
            <a:off x="7458549" y="1442625"/>
            <a:ext cx="1061975" cy="1518799"/>
          </a:xfrm>
          <a:prstGeom prst="rect">
            <a:avLst/>
          </a:prstGeom>
          <a:noFill/>
          <a:ln>
            <a:noFill/>
          </a:ln>
        </p:spPr>
      </p:pic>
      <p:sp>
        <p:nvSpPr>
          <p:cNvPr id="275" name="Google Shape;275;p35"/>
          <p:cNvSpPr/>
          <p:nvPr/>
        </p:nvSpPr>
        <p:spPr>
          <a:xfrm>
            <a:off x="7845238" y="1890550"/>
            <a:ext cx="288600" cy="405300"/>
          </a:xfrm>
          <a:prstGeom prst="rect">
            <a:avLst/>
          </a:prstGeom>
          <a:gradFill>
            <a:gsLst>
              <a:gs pos="0">
                <a:srgbClr val="DB0000"/>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5"/>
          <p:cNvSpPr/>
          <p:nvPr/>
        </p:nvSpPr>
        <p:spPr>
          <a:xfrm>
            <a:off x="7819325" y="1878000"/>
            <a:ext cx="338700" cy="405300"/>
          </a:xfrm>
          <a:prstGeom prst="round2SameRect">
            <a:avLst>
              <a:gd name="adj1" fmla="val 16667"/>
              <a:gd name="adj2" fmla="val 0"/>
            </a:avLst>
          </a:prstGeom>
          <a:gradFill>
            <a:gsLst>
              <a:gs pos="0">
                <a:srgbClr val="DB0000"/>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5"/>
          <p:cNvSpPr/>
          <p:nvPr/>
        </p:nvSpPr>
        <p:spPr>
          <a:xfrm>
            <a:off x="7936650" y="1591375"/>
            <a:ext cx="106500" cy="286500"/>
          </a:xfrm>
          <a:prstGeom prst="round2SameRect">
            <a:avLst>
              <a:gd name="adj1" fmla="val 16667"/>
              <a:gd name="adj2" fmla="val 0"/>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5"/>
          <p:cNvSpPr txBox="1"/>
          <p:nvPr/>
        </p:nvSpPr>
        <p:spPr>
          <a:xfrm>
            <a:off x="5304600" y="1515175"/>
            <a:ext cx="2154000" cy="8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Respiratory symptoms?</a:t>
            </a:r>
            <a:endParaRPr sz="1300"/>
          </a:p>
          <a:p>
            <a:pPr marL="0" lvl="0" indent="0" algn="l" rtl="0">
              <a:spcBef>
                <a:spcPts val="0"/>
              </a:spcBef>
              <a:spcAft>
                <a:spcPts val="0"/>
              </a:spcAft>
              <a:buNone/>
            </a:pPr>
            <a:r>
              <a:rPr lang="en" sz="1300"/>
              <a:t>Upper = </a:t>
            </a:r>
            <a:r>
              <a:rPr lang="en" sz="1300" b="1"/>
              <a:t>NP, OP swab, saliva</a:t>
            </a:r>
            <a:endParaRPr sz="1300" b="1"/>
          </a:p>
          <a:p>
            <a:pPr marL="0" lvl="0" indent="0" algn="l" rtl="0">
              <a:spcBef>
                <a:spcPts val="0"/>
              </a:spcBef>
              <a:spcAft>
                <a:spcPts val="0"/>
              </a:spcAft>
              <a:buNone/>
            </a:pPr>
            <a:r>
              <a:rPr lang="en" sz="1300"/>
              <a:t>Lower= </a:t>
            </a:r>
            <a:r>
              <a:rPr lang="en" sz="1300" b="1"/>
              <a:t>Bronchial lavage, pleural fluid, lung biopsy</a:t>
            </a:r>
            <a:endParaRPr sz="1300" b="1"/>
          </a:p>
        </p:txBody>
      </p:sp>
      <p:sp>
        <p:nvSpPr>
          <p:cNvPr id="279" name="Google Shape;279;p35"/>
          <p:cNvSpPr txBox="1"/>
          <p:nvPr/>
        </p:nvSpPr>
        <p:spPr>
          <a:xfrm>
            <a:off x="203300" y="3842575"/>
            <a:ext cx="1741800" cy="8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Gastrointestinal symptoms?</a:t>
            </a:r>
            <a:endParaRPr sz="1300"/>
          </a:p>
          <a:p>
            <a:pPr marL="0" lvl="0" indent="0" algn="l" rtl="0">
              <a:spcBef>
                <a:spcPts val="0"/>
              </a:spcBef>
              <a:spcAft>
                <a:spcPts val="0"/>
              </a:spcAft>
              <a:buNone/>
            </a:pPr>
            <a:r>
              <a:rPr lang="en" sz="1300" b="1"/>
              <a:t>Stool, urine, rectal swab, vaginal swab</a:t>
            </a:r>
            <a:endParaRPr sz="1300" b="1"/>
          </a:p>
        </p:txBody>
      </p:sp>
      <p:sp>
        <p:nvSpPr>
          <p:cNvPr id="280" name="Google Shape;280;p35"/>
          <p:cNvSpPr txBox="1"/>
          <p:nvPr/>
        </p:nvSpPr>
        <p:spPr>
          <a:xfrm>
            <a:off x="3197475" y="3347375"/>
            <a:ext cx="2132700" cy="8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Systemic infection? Rash?</a:t>
            </a:r>
            <a:endParaRPr/>
          </a:p>
          <a:p>
            <a:pPr marL="0" lvl="0" indent="0" algn="l" rtl="0">
              <a:spcBef>
                <a:spcPts val="0"/>
              </a:spcBef>
              <a:spcAft>
                <a:spcPts val="0"/>
              </a:spcAft>
              <a:buNone/>
            </a:pPr>
            <a:r>
              <a:rPr lang="en" b="1"/>
              <a:t>Serum or plasma</a:t>
            </a:r>
            <a:endParaRPr b="1"/>
          </a:p>
        </p:txBody>
      </p:sp>
      <p:pic>
        <p:nvPicPr>
          <p:cNvPr id="281" name="Google Shape;281;p35"/>
          <p:cNvPicPr preferRelativeResize="0"/>
          <p:nvPr/>
        </p:nvPicPr>
        <p:blipFill>
          <a:blip r:embed="rId4">
            <a:alphaModFix/>
          </a:blip>
          <a:stretch>
            <a:fillRect/>
          </a:stretch>
        </p:blipFill>
        <p:spPr>
          <a:xfrm>
            <a:off x="7832399" y="3481775"/>
            <a:ext cx="1061975" cy="1518799"/>
          </a:xfrm>
          <a:prstGeom prst="rect">
            <a:avLst/>
          </a:prstGeom>
          <a:noFill/>
          <a:ln>
            <a:noFill/>
          </a:ln>
        </p:spPr>
      </p:pic>
      <p:pic>
        <p:nvPicPr>
          <p:cNvPr id="282" name="Google Shape;282;p35"/>
          <p:cNvPicPr preferRelativeResize="0"/>
          <p:nvPr/>
        </p:nvPicPr>
        <p:blipFill>
          <a:blip r:embed="rId5">
            <a:alphaModFix/>
          </a:blip>
          <a:stretch>
            <a:fillRect/>
          </a:stretch>
        </p:blipFill>
        <p:spPr>
          <a:xfrm rot="-3521880">
            <a:off x="7854307" y="3893360"/>
            <a:ext cx="371286" cy="531001"/>
          </a:xfrm>
          <a:prstGeom prst="rect">
            <a:avLst/>
          </a:prstGeom>
          <a:noFill/>
          <a:ln>
            <a:noFill/>
          </a:ln>
        </p:spPr>
      </p:pic>
      <p:sp>
        <p:nvSpPr>
          <p:cNvPr id="283" name="Google Shape;283;p35"/>
          <p:cNvSpPr txBox="1"/>
          <p:nvPr/>
        </p:nvSpPr>
        <p:spPr>
          <a:xfrm>
            <a:off x="5882100" y="3578625"/>
            <a:ext cx="2132700" cy="8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Neonatal infection?</a:t>
            </a:r>
            <a:endParaRPr sz="1300"/>
          </a:p>
          <a:p>
            <a:pPr marL="0" lvl="0" indent="0" algn="l" rtl="0">
              <a:spcBef>
                <a:spcPts val="0"/>
              </a:spcBef>
              <a:spcAft>
                <a:spcPts val="0"/>
              </a:spcAft>
              <a:buNone/>
            </a:pPr>
            <a:r>
              <a:rPr lang="en" sz="1300" b="1"/>
              <a:t>Paired sample of neonatal CSF/Serum +</a:t>
            </a:r>
            <a:endParaRPr sz="1300" b="1"/>
          </a:p>
          <a:p>
            <a:pPr marL="0" lvl="0" indent="0" algn="l" rtl="0">
              <a:spcBef>
                <a:spcPts val="0"/>
              </a:spcBef>
              <a:spcAft>
                <a:spcPts val="0"/>
              </a:spcAft>
              <a:buNone/>
            </a:pPr>
            <a:r>
              <a:rPr lang="en" sz="1300" b="1"/>
              <a:t>rectal, vaginal, or serum sample from mother</a:t>
            </a:r>
            <a:endParaRPr sz="1300"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pic>
        <p:nvPicPr>
          <p:cNvPr id="480" name="Google Shape;480;p84"/>
          <p:cNvPicPr preferRelativeResize="0"/>
          <p:nvPr/>
        </p:nvPicPr>
        <p:blipFill>
          <a:blip r:embed="rId3">
            <a:alphaModFix/>
          </a:blip>
          <a:stretch>
            <a:fillRect/>
          </a:stretch>
        </p:blipFill>
        <p:spPr>
          <a:xfrm>
            <a:off x="3009900" y="1147725"/>
            <a:ext cx="2671698" cy="3820975"/>
          </a:xfrm>
          <a:prstGeom prst="rect">
            <a:avLst/>
          </a:prstGeom>
          <a:noFill/>
          <a:ln>
            <a:noFill/>
          </a:ln>
        </p:spPr>
      </p:pic>
      <p:sp>
        <p:nvSpPr>
          <p:cNvPr id="481" name="Google Shape;481;p84"/>
          <p:cNvSpPr/>
          <p:nvPr/>
        </p:nvSpPr>
        <p:spPr>
          <a:xfrm rot="-7571297">
            <a:off x="5464019" y="2091986"/>
            <a:ext cx="549759" cy="1128677"/>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84"/>
          <p:cNvSpPr/>
          <p:nvPr/>
        </p:nvSpPr>
        <p:spPr>
          <a:xfrm>
            <a:off x="5995150" y="1580025"/>
            <a:ext cx="1098300" cy="1098300"/>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84"/>
          <p:cNvSpPr/>
          <p:nvPr/>
        </p:nvSpPr>
        <p:spPr>
          <a:xfrm rot="-3832108">
            <a:off x="7131669" y="1871534"/>
            <a:ext cx="549686" cy="1128755"/>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84"/>
          <p:cNvSpPr/>
          <p:nvPr/>
        </p:nvSpPr>
        <p:spPr>
          <a:xfrm rot="6212151">
            <a:off x="3274597" y="1641565"/>
            <a:ext cx="549873" cy="1128638"/>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84"/>
          <p:cNvSpPr/>
          <p:nvPr/>
        </p:nvSpPr>
        <p:spPr>
          <a:xfrm rot="-7816828">
            <a:off x="2077640" y="1383121"/>
            <a:ext cx="1098325" cy="1098325"/>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84"/>
          <p:cNvSpPr txBox="1"/>
          <p:nvPr/>
        </p:nvSpPr>
        <p:spPr>
          <a:xfrm>
            <a:off x="49200" y="497475"/>
            <a:ext cx="2460900" cy="7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Cerebral Spinal Fluid </a:t>
            </a:r>
            <a:endParaRPr sz="1300"/>
          </a:p>
          <a:p>
            <a:pPr marL="0" lvl="0" indent="0" algn="l" rtl="0">
              <a:spcBef>
                <a:spcPts val="0"/>
              </a:spcBef>
              <a:spcAft>
                <a:spcPts val="0"/>
              </a:spcAft>
              <a:buNone/>
            </a:pPr>
            <a:r>
              <a:rPr lang="en" sz="1300"/>
              <a:t>No infection: 0% microbial</a:t>
            </a:r>
            <a:endParaRPr sz="1300"/>
          </a:p>
          <a:p>
            <a:pPr marL="0" lvl="0" indent="0" algn="l" rtl="0">
              <a:spcBef>
                <a:spcPts val="0"/>
              </a:spcBef>
              <a:spcAft>
                <a:spcPts val="0"/>
              </a:spcAft>
              <a:buNone/>
            </a:pPr>
            <a:r>
              <a:rPr lang="en" sz="1300"/>
              <a:t>With infection: &lt;1% - 5%</a:t>
            </a:r>
            <a:endParaRPr sz="1300"/>
          </a:p>
        </p:txBody>
      </p:sp>
      <p:sp>
        <p:nvSpPr>
          <p:cNvPr id="487" name="Google Shape;487;p84"/>
          <p:cNvSpPr/>
          <p:nvPr/>
        </p:nvSpPr>
        <p:spPr>
          <a:xfrm rot="-4720300">
            <a:off x="4924134" y="3189805"/>
            <a:ext cx="549812" cy="1128688"/>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84"/>
          <p:cNvSpPr/>
          <p:nvPr/>
        </p:nvSpPr>
        <p:spPr>
          <a:xfrm rot="2851450">
            <a:off x="5582555" y="3442972"/>
            <a:ext cx="1098212" cy="1098212"/>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84"/>
          <p:cNvSpPr txBox="1"/>
          <p:nvPr/>
        </p:nvSpPr>
        <p:spPr>
          <a:xfrm>
            <a:off x="6448775" y="4134400"/>
            <a:ext cx="1692000" cy="75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Rectal or Vaginal swabs or stool</a:t>
            </a:r>
            <a:endParaRPr sz="1300"/>
          </a:p>
          <a:p>
            <a:pPr marL="0" lvl="0" indent="0" algn="ctr" rtl="0">
              <a:spcBef>
                <a:spcPts val="0"/>
              </a:spcBef>
              <a:spcAft>
                <a:spcPts val="0"/>
              </a:spcAft>
              <a:buNone/>
            </a:pPr>
            <a:r>
              <a:rPr lang="en" sz="1300"/>
              <a:t>50% microbial (mostly bacteria)</a:t>
            </a:r>
            <a:endParaRPr sz="1300"/>
          </a:p>
        </p:txBody>
      </p:sp>
      <p:sp>
        <p:nvSpPr>
          <p:cNvPr id="490" name="Google Shape;490;p84"/>
          <p:cNvSpPr/>
          <p:nvPr/>
        </p:nvSpPr>
        <p:spPr>
          <a:xfrm rot="-7571297">
            <a:off x="4640319" y="741486"/>
            <a:ext cx="549759" cy="1128677"/>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84"/>
          <p:cNvSpPr txBox="1"/>
          <p:nvPr/>
        </p:nvSpPr>
        <p:spPr>
          <a:xfrm>
            <a:off x="6002300" y="208575"/>
            <a:ext cx="3112200" cy="75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Nasal or oral swab</a:t>
            </a:r>
            <a:endParaRPr sz="1300"/>
          </a:p>
          <a:p>
            <a:pPr marL="0" lvl="0" indent="0" algn="ctr" rtl="0">
              <a:spcBef>
                <a:spcPts val="0"/>
              </a:spcBef>
              <a:spcAft>
                <a:spcPts val="0"/>
              </a:spcAft>
              <a:buNone/>
            </a:pPr>
            <a:r>
              <a:rPr lang="en" sz="1300"/>
              <a:t>50% microbial (mostly bacteria)</a:t>
            </a:r>
            <a:endParaRPr sz="1300"/>
          </a:p>
          <a:p>
            <a:pPr marL="0" lvl="0" indent="0" algn="ctr" rtl="0">
              <a:spcBef>
                <a:spcPts val="0"/>
              </a:spcBef>
              <a:spcAft>
                <a:spcPts val="0"/>
              </a:spcAft>
              <a:buNone/>
            </a:pPr>
            <a:endParaRPr sz="1300"/>
          </a:p>
        </p:txBody>
      </p:sp>
      <p:sp>
        <p:nvSpPr>
          <p:cNvPr id="492" name="Google Shape;492;p84"/>
          <p:cNvSpPr/>
          <p:nvPr/>
        </p:nvSpPr>
        <p:spPr>
          <a:xfrm rot="3593663">
            <a:off x="3349653" y="2479438"/>
            <a:ext cx="549646" cy="1128617"/>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84"/>
          <p:cNvSpPr/>
          <p:nvPr/>
        </p:nvSpPr>
        <p:spPr>
          <a:xfrm>
            <a:off x="324975" y="4347875"/>
            <a:ext cx="694800" cy="6948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84"/>
          <p:cNvSpPr txBox="1"/>
          <p:nvPr/>
        </p:nvSpPr>
        <p:spPr>
          <a:xfrm>
            <a:off x="405775" y="4014875"/>
            <a:ext cx="1064700" cy="7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Host</a:t>
            </a:r>
            <a:endParaRPr sz="1300"/>
          </a:p>
        </p:txBody>
      </p:sp>
      <p:sp>
        <p:nvSpPr>
          <p:cNvPr id="495" name="Google Shape;495;p84"/>
          <p:cNvSpPr/>
          <p:nvPr/>
        </p:nvSpPr>
        <p:spPr>
          <a:xfrm>
            <a:off x="1090725" y="4347875"/>
            <a:ext cx="694800" cy="6948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84"/>
          <p:cNvSpPr txBox="1"/>
          <p:nvPr/>
        </p:nvSpPr>
        <p:spPr>
          <a:xfrm>
            <a:off x="1019775" y="4014875"/>
            <a:ext cx="1064700" cy="7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Microbial</a:t>
            </a:r>
            <a:endParaRPr sz="1300"/>
          </a:p>
        </p:txBody>
      </p:sp>
      <p:sp>
        <p:nvSpPr>
          <p:cNvPr id="497" name="Google Shape;497;p84"/>
          <p:cNvSpPr/>
          <p:nvPr/>
        </p:nvSpPr>
        <p:spPr>
          <a:xfrm>
            <a:off x="5171450" y="229525"/>
            <a:ext cx="1098300" cy="1098300"/>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84"/>
          <p:cNvSpPr/>
          <p:nvPr/>
        </p:nvSpPr>
        <p:spPr>
          <a:xfrm>
            <a:off x="5188250" y="208575"/>
            <a:ext cx="1064700" cy="1041900"/>
          </a:xfrm>
          <a:prstGeom prst="arc">
            <a:avLst>
              <a:gd name="adj1" fmla="val 10870514"/>
              <a:gd name="adj2" fmla="val 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84"/>
          <p:cNvSpPr/>
          <p:nvPr/>
        </p:nvSpPr>
        <p:spPr>
          <a:xfrm>
            <a:off x="5582563" y="3387913"/>
            <a:ext cx="1098300" cy="1208400"/>
          </a:xfrm>
          <a:prstGeom prst="arc">
            <a:avLst>
              <a:gd name="adj1" fmla="val 10870514"/>
              <a:gd name="adj2" fmla="val 21473896"/>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84"/>
          <p:cNvSpPr/>
          <p:nvPr/>
        </p:nvSpPr>
        <p:spPr>
          <a:xfrm rot="3738905">
            <a:off x="7698426" y="2355087"/>
            <a:ext cx="1098343" cy="1098343"/>
          </a:xfrm>
          <a:prstGeom prst="ellipse">
            <a:avLst/>
          </a:prstGeom>
          <a:solidFill>
            <a:srgbClr val="E0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84"/>
          <p:cNvSpPr txBox="1"/>
          <p:nvPr/>
        </p:nvSpPr>
        <p:spPr>
          <a:xfrm>
            <a:off x="6626350" y="1017725"/>
            <a:ext cx="2589000" cy="75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Whole Blood: lot of background</a:t>
            </a:r>
            <a:endParaRPr sz="1200"/>
          </a:p>
          <a:p>
            <a:pPr marL="0" lvl="0" indent="0" algn="ctr" rtl="0">
              <a:spcBef>
                <a:spcPts val="0"/>
              </a:spcBef>
              <a:spcAft>
                <a:spcPts val="0"/>
              </a:spcAft>
              <a:buNone/>
            </a:pPr>
            <a:r>
              <a:rPr lang="en" sz="1200"/>
              <a:t>No infection:</a:t>
            </a:r>
            <a:endParaRPr sz="1200"/>
          </a:p>
          <a:p>
            <a:pPr marL="0" lvl="0" indent="0" algn="ctr" rtl="0">
              <a:spcBef>
                <a:spcPts val="0"/>
              </a:spcBef>
              <a:spcAft>
                <a:spcPts val="0"/>
              </a:spcAft>
              <a:buNone/>
            </a:pPr>
            <a:r>
              <a:rPr lang="en" sz="1200"/>
              <a:t>During infection: &lt;&lt;&lt;0% microbial</a:t>
            </a:r>
            <a:endParaRPr sz="1200"/>
          </a:p>
          <a:p>
            <a:pPr marL="0" lvl="0" indent="0" algn="ctr" rtl="0">
              <a:spcBef>
                <a:spcPts val="0"/>
              </a:spcBef>
              <a:spcAft>
                <a:spcPts val="0"/>
              </a:spcAft>
              <a:buNone/>
            </a:pPr>
            <a:endParaRPr sz="1200"/>
          </a:p>
        </p:txBody>
      </p:sp>
      <p:sp>
        <p:nvSpPr>
          <p:cNvPr id="502" name="Google Shape;502;p84"/>
          <p:cNvSpPr txBox="1"/>
          <p:nvPr/>
        </p:nvSpPr>
        <p:spPr>
          <a:xfrm>
            <a:off x="7423000" y="3367525"/>
            <a:ext cx="1692000" cy="75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Serum or Plasma</a:t>
            </a:r>
            <a:endParaRPr sz="1300"/>
          </a:p>
          <a:p>
            <a:pPr marL="0" lvl="0" indent="0" algn="ctr" rtl="0">
              <a:spcBef>
                <a:spcPts val="0"/>
              </a:spcBef>
              <a:spcAft>
                <a:spcPts val="0"/>
              </a:spcAft>
              <a:buNone/>
            </a:pPr>
            <a:r>
              <a:rPr lang="en" sz="1300"/>
              <a:t>10-100x less host material </a:t>
            </a:r>
            <a:endParaRPr sz="1300"/>
          </a:p>
        </p:txBody>
      </p:sp>
      <p:sp>
        <p:nvSpPr>
          <p:cNvPr id="503" name="Google Shape;503;p84"/>
          <p:cNvSpPr txBox="1"/>
          <p:nvPr/>
        </p:nvSpPr>
        <p:spPr>
          <a:xfrm>
            <a:off x="0" y="2974275"/>
            <a:ext cx="2559300" cy="7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Tracheal Aspirate</a:t>
            </a:r>
            <a:endParaRPr sz="1300"/>
          </a:p>
          <a:p>
            <a:pPr marL="0" lvl="0" indent="0" algn="l" rtl="0">
              <a:spcBef>
                <a:spcPts val="0"/>
              </a:spcBef>
              <a:spcAft>
                <a:spcPts val="0"/>
              </a:spcAft>
              <a:buNone/>
            </a:pPr>
            <a:r>
              <a:rPr lang="en" sz="1300"/>
              <a:t>5% microbial, 95% human</a:t>
            </a:r>
            <a:endParaRPr sz="1300"/>
          </a:p>
        </p:txBody>
      </p:sp>
      <p:sp>
        <p:nvSpPr>
          <p:cNvPr id="504" name="Google Shape;504;p84"/>
          <p:cNvSpPr/>
          <p:nvPr/>
        </p:nvSpPr>
        <p:spPr>
          <a:xfrm rot="-10435871">
            <a:off x="2218816" y="2933861"/>
            <a:ext cx="1098154" cy="1098154"/>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84"/>
          <p:cNvSpPr/>
          <p:nvPr/>
        </p:nvSpPr>
        <p:spPr>
          <a:xfrm rot="-555012">
            <a:off x="2381573" y="2944466"/>
            <a:ext cx="772648" cy="1260176"/>
          </a:xfrm>
          <a:prstGeom prst="arc">
            <a:avLst>
              <a:gd name="adj1" fmla="val 16231257"/>
              <a:gd name="adj2" fmla="val 16823809"/>
            </a:avLst>
          </a:prstGeom>
          <a:solidFill>
            <a:srgbClr val="0070C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84"/>
          <p:cNvSpPr txBox="1"/>
          <p:nvPr/>
        </p:nvSpPr>
        <p:spPr>
          <a:xfrm>
            <a:off x="0" y="19375"/>
            <a:ext cx="6250200" cy="154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t>Different human sample types have different RNA contents!</a:t>
            </a:r>
            <a:endParaRPr b="1"/>
          </a:p>
        </p:txBody>
      </p:sp>
    </p:spTree>
    <p:extLst>
      <p:ext uri="{BB962C8B-B14F-4D97-AF65-F5344CB8AC3E}">
        <p14:creationId xmlns:p14="http://schemas.microsoft.com/office/powerpoint/2010/main" val="354351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animEffect transition="in" filter="fade">
                                      <p:cBhvr>
                                        <p:cTn id="7" dur="1000"/>
                                        <p:tgtEl>
                                          <p:spTgt spid="482"/>
                                        </p:tgtEl>
                                      </p:cBhvr>
                                    </p:animEffect>
                                  </p:childTnLst>
                                </p:cTn>
                              </p:par>
                              <p:par>
                                <p:cTn id="8" presetID="10" presetClass="entr" presetSubtype="0" fill="hold" nodeType="withEffect">
                                  <p:stCondLst>
                                    <p:cond delay="0"/>
                                  </p:stCondLst>
                                  <p:childTnLst>
                                    <p:set>
                                      <p:cBhvr>
                                        <p:cTn id="9" dur="1" fill="hold">
                                          <p:stCondLst>
                                            <p:cond delay="0"/>
                                          </p:stCondLst>
                                        </p:cTn>
                                        <p:tgtEl>
                                          <p:spTgt spid="501"/>
                                        </p:tgtEl>
                                        <p:attrNameLst>
                                          <p:attrName>style.visibility</p:attrName>
                                        </p:attrNameLst>
                                      </p:cBhvr>
                                      <p:to>
                                        <p:strVal val="visible"/>
                                      </p:to>
                                    </p:set>
                                    <p:animEffect transition="in" filter="fade">
                                      <p:cBhvr>
                                        <p:cTn id="10" dur="1000"/>
                                        <p:tgtEl>
                                          <p:spTgt spid="501"/>
                                        </p:tgtEl>
                                      </p:cBhvr>
                                    </p:animEffect>
                                  </p:childTnLst>
                                </p:cTn>
                              </p:par>
                              <p:par>
                                <p:cTn id="11" presetID="10" presetClass="entr" presetSubtype="0" fill="hold" nodeType="withEffect">
                                  <p:stCondLst>
                                    <p:cond delay="0"/>
                                  </p:stCondLst>
                                  <p:childTnLst>
                                    <p:set>
                                      <p:cBhvr>
                                        <p:cTn id="12" dur="1" fill="hold">
                                          <p:stCondLst>
                                            <p:cond delay="0"/>
                                          </p:stCondLst>
                                        </p:cTn>
                                        <p:tgtEl>
                                          <p:spTgt spid="481"/>
                                        </p:tgtEl>
                                        <p:attrNameLst>
                                          <p:attrName>style.visibility</p:attrName>
                                        </p:attrNameLst>
                                      </p:cBhvr>
                                      <p:to>
                                        <p:strVal val="visible"/>
                                      </p:to>
                                    </p:set>
                                    <p:animEffect transition="in" filter="fade">
                                      <p:cBhvr>
                                        <p:cTn id="13" dur="1000"/>
                                        <p:tgtEl>
                                          <p:spTgt spid="48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83"/>
                                        </p:tgtEl>
                                        <p:attrNameLst>
                                          <p:attrName>style.visibility</p:attrName>
                                        </p:attrNameLst>
                                      </p:cBhvr>
                                      <p:to>
                                        <p:strVal val="visible"/>
                                      </p:to>
                                    </p:set>
                                    <p:animEffect transition="in" filter="fade">
                                      <p:cBhvr>
                                        <p:cTn id="18" dur="1000"/>
                                        <p:tgtEl>
                                          <p:spTgt spid="483"/>
                                        </p:tgtEl>
                                      </p:cBhvr>
                                    </p:animEffect>
                                  </p:childTnLst>
                                </p:cTn>
                              </p:par>
                              <p:par>
                                <p:cTn id="19" presetID="10" presetClass="entr" presetSubtype="0" fill="hold" nodeType="withEffect">
                                  <p:stCondLst>
                                    <p:cond delay="0"/>
                                  </p:stCondLst>
                                  <p:childTnLst>
                                    <p:set>
                                      <p:cBhvr>
                                        <p:cTn id="20" dur="1" fill="hold">
                                          <p:stCondLst>
                                            <p:cond delay="0"/>
                                          </p:stCondLst>
                                        </p:cTn>
                                        <p:tgtEl>
                                          <p:spTgt spid="500"/>
                                        </p:tgtEl>
                                        <p:attrNameLst>
                                          <p:attrName>style.visibility</p:attrName>
                                        </p:attrNameLst>
                                      </p:cBhvr>
                                      <p:to>
                                        <p:strVal val="visible"/>
                                      </p:to>
                                    </p:set>
                                    <p:animEffect transition="in" filter="fade">
                                      <p:cBhvr>
                                        <p:cTn id="21" dur="1000"/>
                                        <p:tgtEl>
                                          <p:spTgt spid="500"/>
                                        </p:tgtEl>
                                      </p:cBhvr>
                                    </p:animEffect>
                                  </p:childTnLst>
                                </p:cTn>
                              </p:par>
                              <p:par>
                                <p:cTn id="22" presetID="10" presetClass="entr" presetSubtype="0" fill="hold" nodeType="withEffect">
                                  <p:stCondLst>
                                    <p:cond delay="0"/>
                                  </p:stCondLst>
                                  <p:childTnLst>
                                    <p:set>
                                      <p:cBhvr>
                                        <p:cTn id="23" dur="1" fill="hold">
                                          <p:stCondLst>
                                            <p:cond delay="0"/>
                                          </p:stCondLst>
                                        </p:cTn>
                                        <p:tgtEl>
                                          <p:spTgt spid="502"/>
                                        </p:tgtEl>
                                        <p:attrNameLst>
                                          <p:attrName>style.visibility</p:attrName>
                                        </p:attrNameLst>
                                      </p:cBhvr>
                                      <p:to>
                                        <p:strVal val="visible"/>
                                      </p:to>
                                    </p:set>
                                    <p:animEffect transition="in" filter="fade">
                                      <p:cBhvr>
                                        <p:cTn id="24" dur="1000"/>
                                        <p:tgtEl>
                                          <p:spTgt spid="50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84"/>
                                        </p:tgtEl>
                                        <p:attrNameLst>
                                          <p:attrName>style.visibility</p:attrName>
                                        </p:attrNameLst>
                                      </p:cBhvr>
                                      <p:to>
                                        <p:strVal val="visible"/>
                                      </p:to>
                                    </p:set>
                                    <p:animEffect transition="in" filter="fade">
                                      <p:cBhvr>
                                        <p:cTn id="29" dur="1000"/>
                                        <p:tgtEl>
                                          <p:spTgt spid="484"/>
                                        </p:tgtEl>
                                      </p:cBhvr>
                                    </p:animEffect>
                                  </p:childTnLst>
                                </p:cTn>
                              </p:par>
                              <p:par>
                                <p:cTn id="30" presetID="10" presetClass="entr" presetSubtype="0" fill="hold" nodeType="withEffect">
                                  <p:stCondLst>
                                    <p:cond delay="0"/>
                                  </p:stCondLst>
                                  <p:childTnLst>
                                    <p:set>
                                      <p:cBhvr>
                                        <p:cTn id="31" dur="1" fill="hold">
                                          <p:stCondLst>
                                            <p:cond delay="0"/>
                                          </p:stCondLst>
                                        </p:cTn>
                                        <p:tgtEl>
                                          <p:spTgt spid="485"/>
                                        </p:tgtEl>
                                        <p:attrNameLst>
                                          <p:attrName>style.visibility</p:attrName>
                                        </p:attrNameLst>
                                      </p:cBhvr>
                                      <p:to>
                                        <p:strVal val="visible"/>
                                      </p:to>
                                    </p:set>
                                    <p:animEffect transition="in" filter="fade">
                                      <p:cBhvr>
                                        <p:cTn id="32" dur="1000"/>
                                        <p:tgtEl>
                                          <p:spTgt spid="485"/>
                                        </p:tgtEl>
                                      </p:cBhvr>
                                    </p:animEffect>
                                  </p:childTnLst>
                                </p:cTn>
                              </p:par>
                              <p:par>
                                <p:cTn id="33" presetID="10" presetClass="entr" presetSubtype="0" fill="hold" nodeType="withEffect">
                                  <p:stCondLst>
                                    <p:cond delay="0"/>
                                  </p:stCondLst>
                                  <p:childTnLst>
                                    <p:set>
                                      <p:cBhvr>
                                        <p:cTn id="34" dur="1" fill="hold">
                                          <p:stCondLst>
                                            <p:cond delay="0"/>
                                          </p:stCondLst>
                                        </p:cTn>
                                        <p:tgtEl>
                                          <p:spTgt spid="486"/>
                                        </p:tgtEl>
                                        <p:attrNameLst>
                                          <p:attrName>style.visibility</p:attrName>
                                        </p:attrNameLst>
                                      </p:cBhvr>
                                      <p:to>
                                        <p:strVal val="visible"/>
                                      </p:to>
                                    </p:set>
                                    <p:animEffect transition="in" filter="fade">
                                      <p:cBhvr>
                                        <p:cTn id="35" dur="1000"/>
                                        <p:tgtEl>
                                          <p:spTgt spid="48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92"/>
                                        </p:tgtEl>
                                        <p:attrNameLst>
                                          <p:attrName>style.visibility</p:attrName>
                                        </p:attrNameLst>
                                      </p:cBhvr>
                                      <p:to>
                                        <p:strVal val="visible"/>
                                      </p:to>
                                    </p:set>
                                    <p:animEffect transition="in" filter="fade">
                                      <p:cBhvr>
                                        <p:cTn id="40" dur="1000"/>
                                        <p:tgtEl>
                                          <p:spTgt spid="492"/>
                                        </p:tgtEl>
                                      </p:cBhvr>
                                    </p:animEffect>
                                  </p:childTnLst>
                                </p:cTn>
                              </p:par>
                              <p:par>
                                <p:cTn id="41" presetID="10" presetClass="entr" presetSubtype="0" fill="hold" nodeType="withEffect">
                                  <p:stCondLst>
                                    <p:cond delay="0"/>
                                  </p:stCondLst>
                                  <p:childTnLst>
                                    <p:set>
                                      <p:cBhvr>
                                        <p:cTn id="42" dur="1" fill="hold">
                                          <p:stCondLst>
                                            <p:cond delay="0"/>
                                          </p:stCondLst>
                                        </p:cTn>
                                        <p:tgtEl>
                                          <p:spTgt spid="504"/>
                                        </p:tgtEl>
                                        <p:attrNameLst>
                                          <p:attrName>style.visibility</p:attrName>
                                        </p:attrNameLst>
                                      </p:cBhvr>
                                      <p:to>
                                        <p:strVal val="visible"/>
                                      </p:to>
                                    </p:set>
                                    <p:animEffect transition="in" filter="fade">
                                      <p:cBhvr>
                                        <p:cTn id="43" dur="1000"/>
                                        <p:tgtEl>
                                          <p:spTgt spid="504"/>
                                        </p:tgtEl>
                                      </p:cBhvr>
                                    </p:animEffect>
                                  </p:childTnLst>
                                </p:cTn>
                              </p:par>
                              <p:par>
                                <p:cTn id="44" presetID="10" presetClass="entr" presetSubtype="0" fill="hold" nodeType="withEffect">
                                  <p:stCondLst>
                                    <p:cond delay="0"/>
                                  </p:stCondLst>
                                  <p:childTnLst>
                                    <p:set>
                                      <p:cBhvr>
                                        <p:cTn id="45" dur="1" fill="hold">
                                          <p:stCondLst>
                                            <p:cond delay="0"/>
                                          </p:stCondLst>
                                        </p:cTn>
                                        <p:tgtEl>
                                          <p:spTgt spid="505"/>
                                        </p:tgtEl>
                                        <p:attrNameLst>
                                          <p:attrName>style.visibility</p:attrName>
                                        </p:attrNameLst>
                                      </p:cBhvr>
                                      <p:to>
                                        <p:strVal val="visible"/>
                                      </p:to>
                                    </p:set>
                                    <p:animEffect transition="in" filter="fade">
                                      <p:cBhvr>
                                        <p:cTn id="46" dur="1000"/>
                                        <p:tgtEl>
                                          <p:spTgt spid="505"/>
                                        </p:tgtEl>
                                      </p:cBhvr>
                                    </p:animEffect>
                                  </p:childTnLst>
                                </p:cTn>
                              </p:par>
                              <p:par>
                                <p:cTn id="47" presetID="10" presetClass="entr" presetSubtype="0" fill="hold" nodeType="withEffect">
                                  <p:stCondLst>
                                    <p:cond delay="0"/>
                                  </p:stCondLst>
                                  <p:childTnLst>
                                    <p:set>
                                      <p:cBhvr>
                                        <p:cTn id="48" dur="1" fill="hold">
                                          <p:stCondLst>
                                            <p:cond delay="0"/>
                                          </p:stCondLst>
                                        </p:cTn>
                                        <p:tgtEl>
                                          <p:spTgt spid="503"/>
                                        </p:tgtEl>
                                        <p:attrNameLst>
                                          <p:attrName>style.visibility</p:attrName>
                                        </p:attrNameLst>
                                      </p:cBhvr>
                                      <p:to>
                                        <p:strVal val="visible"/>
                                      </p:to>
                                    </p:set>
                                    <p:animEffect transition="in" filter="fade">
                                      <p:cBhvr>
                                        <p:cTn id="49" dur="1000"/>
                                        <p:tgtEl>
                                          <p:spTgt spid="503"/>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490"/>
                                        </p:tgtEl>
                                        <p:attrNameLst>
                                          <p:attrName>style.visibility</p:attrName>
                                        </p:attrNameLst>
                                      </p:cBhvr>
                                      <p:to>
                                        <p:strVal val="visible"/>
                                      </p:to>
                                    </p:set>
                                    <p:animEffect transition="in" filter="fade">
                                      <p:cBhvr>
                                        <p:cTn id="54" dur="1000"/>
                                        <p:tgtEl>
                                          <p:spTgt spid="490"/>
                                        </p:tgtEl>
                                      </p:cBhvr>
                                    </p:animEffect>
                                  </p:childTnLst>
                                </p:cTn>
                              </p:par>
                              <p:par>
                                <p:cTn id="55" presetID="10" presetClass="entr" presetSubtype="0" fill="hold" nodeType="withEffect">
                                  <p:stCondLst>
                                    <p:cond delay="0"/>
                                  </p:stCondLst>
                                  <p:childTnLst>
                                    <p:set>
                                      <p:cBhvr>
                                        <p:cTn id="56" dur="1" fill="hold">
                                          <p:stCondLst>
                                            <p:cond delay="0"/>
                                          </p:stCondLst>
                                        </p:cTn>
                                        <p:tgtEl>
                                          <p:spTgt spid="497"/>
                                        </p:tgtEl>
                                        <p:attrNameLst>
                                          <p:attrName>style.visibility</p:attrName>
                                        </p:attrNameLst>
                                      </p:cBhvr>
                                      <p:to>
                                        <p:strVal val="visible"/>
                                      </p:to>
                                    </p:set>
                                    <p:animEffect transition="in" filter="fade">
                                      <p:cBhvr>
                                        <p:cTn id="57" dur="1000"/>
                                        <p:tgtEl>
                                          <p:spTgt spid="497"/>
                                        </p:tgtEl>
                                      </p:cBhvr>
                                    </p:animEffect>
                                  </p:childTnLst>
                                </p:cTn>
                              </p:par>
                              <p:par>
                                <p:cTn id="58" presetID="10" presetClass="entr" presetSubtype="0" fill="hold" nodeType="withEffect">
                                  <p:stCondLst>
                                    <p:cond delay="0"/>
                                  </p:stCondLst>
                                  <p:childTnLst>
                                    <p:set>
                                      <p:cBhvr>
                                        <p:cTn id="59" dur="1" fill="hold">
                                          <p:stCondLst>
                                            <p:cond delay="0"/>
                                          </p:stCondLst>
                                        </p:cTn>
                                        <p:tgtEl>
                                          <p:spTgt spid="498"/>
                                        </p:tgtEl>
                                        <p:attrNameLst>
                                          <p:attrName>style.visibility</p:attrName>
                                        </p:attrNameLst>
                                      </p:cBhvr>
                                      <p:to>
                                        <p:strVal val="visible"/>
                                      </p:to>
                                    </p:set>
                                    <p:animEffect transition="in" filter="fade">
                                      <p:cBhvr>
                                        <p:cTn id="60" dur="1000"/>
                                        <p:tgtEl>
                                          <p:spTgt spid="498"/>
                                        </p:tgtEl>
                                      </p:cBhvr>
                                    </p:animEffect>
                                  </p:childTnLst>
                                </p:cTn>
                              </p:par>
                              <p:par>
                                <p:cTn id="61" presetID="10" presetClass="entr" presetSubtype="0" fill="hold" nodeType="withEffect">
                                  <p:stCondLst>
                                    <p:cond delay="0"/>
                                  </p:stCondLst>
                                  <p:childTnLst>
                                    <p:set>
                                      <p:cBhvr>
                                        <p:cTn id="62" dur="1" fill="hold">
                                          <p:stCondLst>
                                            <p:cond delay="0"/>
                                          </p:stCondLst>
                                        </p:cTn>
                                        <p:tgtEl>
                                          <p:spTgt spid="491"/>
                                        </p:tgtEl>
                                        <p:attrNameLst>
                                          <p:attrName>style.visibility</p:attrName>
                                        </p:attrNameLst>
                                      </p:cBhvr>
                                      <p:to>
                                        <p:strVal val="visible"/>
                                      </p:to>
                                    </p:set>
                                    <p:animEffect transition="in" filter="fade">
                                      <p:cBhvr>
                                        <p:cTn id="63" dur="1000"/>
                                        <p:tgtEl>
                                          <p:spTgt spid="491"/>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487"/>
                                        </p:tgtEl>
                                        <p:attrNameLst>
                                          <p:attrName>style.visibility</p:attrName>
                                        </p:attrNameLst>
                                      </p:cBhvr>
                                      <p:to>
                                        <p:strVal val="visible"/>
                                      </p:to>
                                    </p:set>
                                    <p:animEffect transition="in" filter="fade">
                                      <p:cBhvr>
                                        <p:cTn id="68" dur="1000"/>
                                        <p:tgtEl>
                                          <p:spTgt spid="487"/>
                                        </p:tgtEl>
                                      </p:cBhvr>
                                    </p:animEffect>
                                  </p:childTnLst>
                                </p:cTn>
                              </p:par>
                              <p:par>
                                <p:cTn id="69" presetID="10" presetClass="entr" presetSubtype="0" fill="hold" nodeType="withEffect">
                                  <p:stCondLst>
                                    <p:cond delay="0"/>
                                  </p:stCondLst>
                                  <p:childTnLst>
                                    <p:set>
                                      <p:cBhvr>
                                        <p:cTn id="70" dur="1" fill="hold">
                                          <p:stCondLst>
                                            <p:cond delay="0"/>
                                          </p:stCondLst>
                                        </p:cTn>
                                        <p:tgtEl>
                                          <p:spTgt spid="488"/>
                                        </p:tgtEl>
                                        <p:attrNameLst>
                                          <p:attrName>style.visibility</p:attrName>
                                        </p:attrNameLst>
                                      </p:cBhvr>
                                      <p:to>
                                        <p:strVal val="visible"/>
                                      </p:to>
                                    </p:set>
                                    <p:animEffect transition="in" filter="fade">
                                      <p:cBhvr>
                                        <p:cTn id="71" dur="1000"/>
                                        <p:tgtEl>
                                          <p:spTgt spid="488"/>
                                        </p:tgtEl>
                                      </p:cBhvr>
                                    </p:animEffect>
                                  </p:childTnLst>
                                </p:cTn>
                              </p:par>
                              <p:par>
                                <p:cTn id="72" presetID="10" presetClass="entr" presetSubtype="0" fill="hold" nodeType="withEffect">
                                  <p:stCondLst>
                                    <p:cond delay="0"/>
                                  </p:stCondLst>
                                  <p:childTnLst>
                                    <p:set>
                                      <p:cBhvr>
                                        <p:cTn id="73" dur="1" fill="hold">
                                          <p:stCondLst>
                                            <p:cond delay="0"/>
                                          </p:stCondLst>
                                        </p:cTn>
                                        <p:tgtEl>
                                          <p:spTgt spid="499"/>
                                        </p:tgtEl>
                                        <p:attrNameLst>
                                          <p:attrName>style.visibility</p:attrName>
                                        </p:attrNameLst>
                                      </p:cBhvr>
                                      <p:to>
                                        <p:strVal val="visible"/>
                                      </p:to>
                                    </p:set>
                                    <p:animEffect transition="in" filter="fade">
                                      <p:cBhvr>
                                        <p:cTn id="74" dur="1000"/>
                                        <p:tgtEl>
                                          <p:spTgt spid="499"/>
                                        </p:tgtEl>
                                      </p:cBhvr>
                                    </p:animEffect>
                                  </p:childTnLst>
                                </p:cTn>
                              </p:par>
                              <p:par>
                                <p:cTn id="75" presetID="10" presetClass="entr" presetSubtype="0" fill="hold" nodeType="withEffect">
                                  <p:stCondLst>
                                    <p:cond delay="0"/>
                                  </p:stCondLst>
                                  <p:childTnLst>
                                    <p:set>
                                      <p:cBhvr>
                                        <p:cTn id="76" dur="1" fill="hold">
                                          <p:stCondLst>
                                            <p:cond delay="0"/>
                                          </p:stCondLst>
                                        </p:cTn>
                                        <p:tgtEl>
                                          <p:spTgt spid="489"/>
                                        </p:tgtEl>
                                        <p:attrNameLst>
                                          <p:attrName>style.visibility</p:attrName>
                                        </p:attrNameLst>
                                      </p:cBhvr>
                                      <p:to>
                                        <p:strVal val="visible"/>
                                      </p:to>
                                    </p:set>
                                    <p:animEffect transition="in" filter="fade">
                                      <p:cBhvr>
                                        <p:cTn id="77" dur="1000"/>
                                        <p:tgtEl>
                                          <p:spTgt spid="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9DB68BDD-6BFC-41D5-4659-DC49D1F9CE6E}"/>
              </a:ext>
            </a:extLst>
          </p:cNvPr>
          <p:cNvGrpSpPr/>
          <p:nvPr/>
        </p:nvGrpSpPr>
        <p:grpSpPr>
          <a:xfrm>
            <a:off x="1081938" y="1731399"/>
            <a:ext cx="3089564" cy="3462798"/>
            <a:chOff x="626225" y="1601132"/>
            <a:chExt cx="3089564" cy="3462798"/>
          </a:xfrm>
        </p:grpSpPr>
        <p:sp>
          <p:nvSpPr>
            <p:cNvPr id="3" name="TextBox 2">
              <a:extLst>
                <a:ext uri="{FF2B5EF4-FFF2-40B4-BE49-F238E27FC236}">
                  <a16:creationId xmlns:a16="http://schemas.microsoft.com/office/drawing/2014/main" id="{E428B2ED-FD12-2F3A-6C78-8DB171D24748}"/>
                </a:ext>
              </a:extLst>
            </p:cNvPr>
            <p:cNvSpPr txBox="1"/>
            <p:nvPr/>
          </p:nvSpPr>
          <p:spPr>
            <a:xfrm>
              <a:off x="626225" y="1601132"/>
              <a:ext cx="2776451" cy="2339102"/>
            </a:xfrm>
            <a:prstGeom prst="rect">
              <a:avLst/>
            </a:prstGeom>
            <a:noFill/>
          </p:spPr>
          <p:txBody>
            <a:bodyPr wrap="square" rtlCol="0">
              <a:spAutoFit/>
            </a:bodyPr>
            <a:lstStyle/>
            <a:p>
              <a:r>
                <a:rPr lang="en-US" sz="2000" b="1" dirty="0">
                  <a:solidFill>
                    <a:schemeClr val="bg2"/>
                  </a:solidFill>
                </a:rPr>
                <a:t>Everything</a:t>
              </a:r>
              <a:r>
                <a:rPr lang="en-US" dirty="0">
                  <a:solidFill>
                    <a:schemeClr val="bg2"/>
                  </a:solidFill>
                </a:rPr>
                <a:t> that’s there</a:t>
              </a:r>
            </a:p>
            <a:p>
              <a:r>
                <a:rPr lang="en-US" dirty="0">
                  <a:solidFill>
                    <a:schemeClr val="bg2"/>
                  </a:solidFill>
                </a:rPr>
                <a:t>…Even if it’s dead</a:t>
              </a:r>
            </a:p>
            <a:p>
              <a:endParaRPr lang="en-US" dirty="0">
                <a:solidFill>
                  <a:schemeClr val="bg2"/>
                </a:solidFill>
              </a:endParaRPr>
            </a:p>
            <a:p>
              <a:pPr marL="285750" indent="-285750">
                <a:buFont typeface="Arial" panose="020B0604020202020204" pitchFamily="34" charset="0"/>
                <a:buChar char="•"/>
              </a:pPr>
              <a:r>
                <a:rPr lang="en-US" dirty="0">
                  <a:solidFill>
                    <a:schemeClr val="bg2"/>
                  </a:solidFill>
                </a:rPr>
                <a:t>Well suited for pathogens with ‘large’ genomes</a:t>
              </a:r>
            </a:p>
            <a:p>
              <a:pPr marL="285750" indent="-285750">
                <a:buFont typeface="Arial" panose="020B0604020202020204" pitchFamily="34" charset="0"/>
                <a:buChar char="•"/>
              </a:pPr>
              <a:r>
                <a:rPr lang="en-US" dirty="0">
                  <a:solidFill>
                    <a:schemeClr val="bg2"/>
                  </a:solidFill>
                </a:rPr>
                <a:t>Can have too much host signal</a:t>
              </a:r>
            </a:p>
            <a:p>
              <a:pPr marL="285750" indent="-285750">
                <a:buFont typeface="Arial" panose="020B0604020202020204" pitchFamily="34" charset="0"/>
                <a:buChar char="•"/>
              </a:pPr>
              <a:r>
                <a:rPr lang="en-US" dirty="0">
                  <a:solidFill>
                    <a:schemeClr val="bg2"/>
                  </a:solidFill>
                </a:rPr>
                <a:t>Easier, faster</a:t>
              </a:r>
            </a:p>
            <a:p>
              <a:pPr marL="285750" indent="-285750">
                <a:buFont typeface="Arial" panose="020B0604020202020204" pitchFamily="34" charset="0"/>
                <a:buChar char="•"/>
              </a:pPr>
              <a:endParaRPr lang="en-US" dirty="0"/>
            </a:p>
            <a:p>
              <a:endParaRPr lang="en-US" dirty="0"/>
            </a:p>
          </p:txBody>
        </p:sp>
        <p:pic>
          <p:nvPicPr>
            <p:cNvPr id="6" name="Google Shape;452;p82">
              <a:extLst>
                <a:ext uri="{FF2B5EF4-FFF2-40B4-BE49-F238E27FC236}">
                  <a16:creationId xmlns:a16="http://schemas.microsoft.com/office/drawing/2014/main" id="{9FAFE550-A130-2E8D-82DA-7C12CD6BF9BE}"/>
                </a:ext>
              </a:extLst>
            </p:cNvPr>
            <p:cNvPicPr preferRelativeResize="0"/>
            <p:nvPr/>
          </p:nvPicPr>
          <p:blipFill rotWithShape="1">
            <a:blip r:embed="rId2">
              <a:alphaModFix/>
            </a:blip>
            <a:srcRect l="18644" t="10959" r="14626" b="21138"/>
            <a:stretch/>
          </p:blipFill>
          <p:spPr>
            <a:xfrm>
              <a:off x="1284593" y="4556689"/>
              <a:ext cx="632506" cy="507241"/>
            </a:xfrm>
            <a:prstGeom prst="rect">
              <a:avLst/>
            </a:prstGeom>
            <a:noFill/>
            <a:ln>
              <a:noFill/>
            </a:ln>
          </p:spPr>
        </p:pic>
        <p:sp>
          <p:nvSpPr>
            <p:cNvPr id="7" name="Oval Callout 6">
              <a:extLst>
                <a:ext uri="{FF2B5EF4-FFF2-40B4-BE49-F238E27FC236}">
                  <a16:creationId xmlns:a16="http://schemas.microsoft.com/office/drawing/2014/main" id="{72D7727B-3C93-BE78-409D-6CC437BE7BDC}"/>
                </a:ext>
              </a:extLst>
            </p:cNvPr>
            <p:cNvSpPr/>
            <p:nvPr/>
          </p:nvSpPr>
          <p:spPr>
            <a:xfrm>
              <a:off x="1512916" y="3433155"/>
              <a:ext cx="2202873" cy="1190335"/>
            </a:xfrm>
            <a:prstGeom prst="wedgeEllipseCallou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6A1524F-155A-6487-5169-AA8AA87B272F}"/>
                </a:ext>
              </a:extLst>
            </p:cNvPr>
            <p:cNvSpPr txBox="1"/>
            <p:nvPr/>
          </p:nvSpPr>
          <p:spPr>
            <a:xfrm>
              <a:off x="1898071" y="3580242"/>
              <a:ext cx="1817718" cy="954107"/>
            </a:xfrm>
            <a:prstGeom prst="rect">
              <a:avLst/>
            </a:prstGeom>
            <a:noFill/>
          </p:spPr>
          <p:txBody>
            <a:bodyPr wrap="square" rtlCol="0">
              <a:spAutoFit/>
            </a:bodyPr>
            <a:lstStyle/>
            <a:p>
              <a:r>
                <a:rPr lang="en-US" dirty="0"/>
                <a:t>You won’t find me here!</a:t>
              </a:r>
            </a:p>
            <a:p>
              <a:r>
                <a:rPr lang="en-US" dirty="0" err="1"/>
                <a:t>Att</a:t>
              </a:r>
              <a:r>
                <a:rPr lang="en-US" dirty="0"/>
                <a:t>: Your favorite RNA virus</a:t>
              </a:r>
            </a:p>
          </p:txBody>
        </p:sp>
      </p:grpSp>
      <p:grpSp>
        <p:nvGrpSpPr>
          <p:cNvPr id="24" name="Group 23">
            <a:extLst>
              <a:ext uri="{FF2B5EF4-FFF2-40B4-BE49-F238E27FC236}">
                <a16:creationId xmlns:a16="http://schemas.microsoft.com/office/drawing/2014/main" id="{82A56F3D-0E25-CA39-2597-B62381FCA4B1}"/>
              </a:ext>
            </a:extLst>
          </p:cNvPr>
          <p:cNvGrpSpPr/>
          <p:nvPr/>
        </p:nvGrpSpPr>
        <p:grpSpPr>
          <a:xfrm>
            <a:off x="5495276" y="2082706"/>
            <a:ext cx="2776451" cy="2803948"/>
            <a:chOff x="4289367" y="1659506"/>
            <a:chExt cx="2776451" cy="2803948"/>
          </a:xfrm>
        </p:grpSpPr>
        <p:sp>
          <p:nvSpPr>
            <p:cNvPr id="5" name="TextBox 4">
              <a:extLst>
                <a:ext uri="{FF2B5EF4-FFF2-40B4-BE49-F238E27FC236}">
                  <a16:creationId xmlns:a16="http://schemas.microsoft.com/office/drawing/2014/main" id="{0CC6B4C0-DE7B-0191-8113-B6B64E89C4F9}"/>
                </a:ext>
              </a:extLst>
            </p:cNvPr>
            <p:cNvSpPr txBox="1"/>
            <p:nvPr/>
          </p:nvSpPr>
          <p:spPr>
            <a:xfrm>
              <a:off x="4289367" y="1659506"/>
              <a:ext cx="2776451" cy="1908215"/>
            </a:xfrm>
            <a:prstGeom prst="rect">
              <a:avLst/>
            </a:prstGeom>
            <a:noFill/>
          </p:spPr>
          <p:txBody>
            <a:bodyPr wrap="square" rtlCol="0">
              <a:spAutoFit/>
            </a:bodyPr>
            <a:lstStyle/>
            <a:p>
              <a:r>
                <a:rPr lang="en-US" dirty="0">
                  <a:solidFill>
                    <a:schemeClr val="bg2"/>
                  </a:solidFill>
                </a:rPr>
                <a:t>Everything that’s </a:t>
              </a:r>
              <a:r>
                <a:rPr lang="en-US" sz="2000" b="1" dirty="0">
                  <a:solidFill>
                    <a:schemeClr val="bg2"/>
                  </a:solidFill>
                </a:rPr>
                <a:t>Alive</a:t>
              </a:r>
            </a:p>
            <a:p>
              <a:r>
                <a:rPr lang="en-US" dirty="0">
                  <a:solidFill>
                    <a:schemeClr val="bg2"/>
                  </a:solidFill>
                </a:rPr>
                <a:t>…Including </a:t>
              </a:r>
              <a:r>
                <a:rPr lang="en-US" i="1" dirty="0">
                  <a:solidFill>
                    <a:schemeClr val="bg2"/>
                  </a:solidFill>
                </a:rPr>
                <a:t>that</a:t>
              </a:r>
              <a:r>
                <a:rPr lang="en-US" dirty="0">
                  <a:solidFill>
                    <a:schemeClr val="bg2"/>
                  </a:solidFill>
                </a:rPr>
                <a:t> RNA virus</a:t>
              </a:r>
            </a:p>
            <a:p>
              <a:endParaRPr lang="en-US" dirty="0">
                <a:solidFill>
                  <a:schemeClr val="bg2"/>
                </a:solidFill>
              </a:endParaRPr>
            </a:p>
            <a:p>
              <a:pPr marL="285750" indent="-285750">
                <a:buFont typeface="Arial" panose="020B0604020202020204" pitchFamily="34" charset="0"/>
                <a:buChar char="•"/>
              </a:pPr>
              <a:r>
                <a:rPr lang="en-US" dirty="0">
                  <a:solidFill>
                    <a:schemeClr val="bg2"/>
                  </a:solidFill>
                </a:rPr>
                <a:t>Most will be rRNA</a:t>
              </a:r>
            </a:p>
            <a:p>
              <a:pPr marL="285750" indent="-285750">
                <a:buFont typeface="Arial" panose="020B0604020202020204" pitchFamily="34" charset="0"/>
                <a:buChar char="•"/>
              </a:pPr>
              <a:r>
                <a:rPr lang="en-US" dirty="0">
                  <a:solidFill>
                    <a:schemeClr val="bg2"/>
                  </a:solidFill>
                </a:rPr>
                <a:t>RNA is labile</a:t>
              </a:r>
            </a:p>
            <a:p>
              <a:pPr marL="285750" indent="-285750">
                <a:buFont typeface="Arial" panose="020B0604020202020204" pitchFamily="34" charset="0"/>
                <a:buChar char="•"/>
              </a:pPr>
              <a:r>
                <a:rPr lang="en-US" dirty="0">
                  <a:solidFill>
                    <a:schemeClr val="bg2"/>
                  </a:solidFill>
                </a:rPr>
                <a:t>Excellent preservation </a:t>
              </a:r>
            </a:p>
            <a:p>
              <a:r>
                <a:rPr lang="en-US" dirty="0">
                  <a:solidFill>
                    <a:schemeClr val="bg2"/>
                  </a:solidFill>
                </a:rPr>
                <a:t>      is mandatory</a:t>
              </a:r>
            </a:p>
            <a:p>
              <a:endParaRPr lang="en-US" dirty="0"/>
            </a:p>
          </p:txBody>
        </p:sp>
        <p:sp>
          <p:nvSpPr>
            <p:cNvPr id="22" name="Curved Left Arrow 21">
              <a:extLst>
                <a:ext uri="{FF2B5EF4-FFF2-40B4-BE49-F238E27FC236}">
                  <a16:creationId xmlns:a16="http://schemas.microsoft.com/office/drawing/2014/main" id="{44F9ACF9-AF53-1E9E-9325-274F5B73B893}"/>
                </a:ext>
              </a:extLst>
            </p:cNvPr>
            <p:cNvSpPr/>
            <p:nvPr/>
          </p:nvSpPr>
          <p:spPr>
            <a:xfrm>
              <a:off x="6398031" y="2439817"/>
              <a:ext cx="390698" cy="1658357"/>
            </a:xfrm>
            <a:prstGeom prst="curvedLef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TextBox 22">
              <a:extLst>
                <a:ext uri="{FF2B5EF4-FFF2-40B4-BE49-F238E27FC236}">
                  <a16:creationId xmlns:a16="http://schemas.microsoft.com/office/drawing/2014/main" id="{1214C92B-9FFA-4B5D-42BB-E3A7AC28F529}"/>
                </a:ext>
              </a:extLst>
            </p:cNvPr>
            <p:cNvSpPr txBox="1"/>
            <p:nvPr/>
          </p:nvSpPr>
          <p:spPr>
            <a:xfrm>
              <a:off x="4289367" y="3940234"/>
              <a:ext cx="2776450" cy="523220"/>
            </a:xfrm>
            <a:prstGeom prst="rect">
              <a:avLst/>
            </a:prstGeom>
            <a:noFill/>
          </p:spPr>
          <p:txBody>
            <a:bodyPr wrap="square" rtlCol="0">
              <a:spAutoFit/>
            </a:bodyPr>
            <a:lstStyle/>
            <a:p>
              <a:r>
                <a:rPr lang="en-US" dirty="0">
                  <a:solidFill>
                    <a:schemeClr val="bg2"/>
                  </a:solidFill>
                </a:rPr>
                <a:t>In some cases, there are depletion methods available</a:t>
              </a:r>
            </a:p>
          </p:txBody>
        </p:sp>
      </p:grpSp>
      <p:pic>
        <p:nvPicPr>
          <p:cNvPr id="27" name="Picture 26">
            <a:extLst>
              <a:ext uri="{FF2B5EF4-FFF2-40B4-BE49-F238E27FC236}">
                <a16:creationId xmlns:a16="http://schemas.microsoft.com/office/drawing/2014/main" id="{F52CEDD4-8329-3FAA-166A-6CF2E89F4B10}"/>
              </a:ext>
            </a:extLst>
          </p:cNvPr>
          <p:cNvPicPr>
            <a:picLocks noChangeAspect="1"/>
          </p:cNvPicPr>
          <p:nvPr/>
        </p:nvPicPr>
        <p:blipFill>
          <a:blip r:embed="rId3"/>
          <a:srcRect l="12405" r="27092"/>
          <a:stretch>
            <a:fillRect/>
          </a:stretch>
        </p:blipFill>
        <p:spPr>
          <a:xfrm rot="5400000">
            <a:off x="1961257" y="319394"/>
            <a:ext cx="695662" cy="2202873"/>
          </a:xfrm>
          <a:prstGeom prst="rect">
            <a:avLst/>
          </a:prstGeom>
        </p:spPr>
      </p:pic>
      <p:pic>
        <p:nvPicPr>
          <p:cNvPr id="29" name="Picture 28">
            <a:extLst>
              <a:ext uri="{FF2B5EF4-FFF2-40B4-BE49-F238E27FC236}">
                <a16:creationId xmlns:a16="http://schemas.microsoft.com/office/drawing/2014/main" id="{7226969C-D509-9558-589A-092FA61FF36B}"/>
              </a:ext>
            </a:extLst>
          </p:cNvPr>
          <p:cNvPicPr>
            <a:picLocks noChangeAspect="1"/>
          </p:cNvPicPr>
          <p:nvPr/>
        </p:nvPicPr>
        <p:blipFill>
          <a:blip r:embed="rId4"/>
          <a:srcRect l="17273" r="30094"/>
          <a:stretch>
            <a:fillRect/>
          </a:stretch>
        </p:blipFill>
        <p:spPr>
          <a:xfrm rot="5400000">
            <a:off x="6404988" y="386102"/>
            <a:ext cx="822177" cy="2641600"/>
          </a:xfrm>
          <a:prstGeom prst="rect">
            <a:avLst/>
          </a:prstGeom>
        </p:spPr>
      </p:pic>
      <p:sp>
        <p:nvSpPr>
          <p:cNvPr id="9" name="Google Shape;264;p35">
            <a:extLst>
              <a:ext uri="{FF2B5EF4-FFF2-40B4-BE49-F238E27FC236}">
                <a16:creationId xmlns:a16="http://schemas.microsoft.com/office/drawing/2014/main" id="{020F2778-9345-F233-3409-9B20DEDD85F3}"/>
              </a:ext>
            </a:extLst>
          </p:cNvPr>
          <p:cNvSpPr txBox="1">
            <a:spLocks/>
          </p:cNvSpPr>
          <p:nvPr/>
        </p:nvSpPr>
        <p:spPr>
          <a:xfrm>
            <a:off x="939400" y="252725"/>
            <a:ext cx="68169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9pPr>
          </a:lstStyle>
          <a:p>
            <a:r>
              <a:rPr lang="en-US" dirty="0"/>
              <a:t>Type of nucleic acid: DNA Vs RNA</a:t>
            </a:r>
          </a:p>
        </p:txBody>
      </p:sp>
    </p:spTree>
    <p:extLst>
      <p:ext uri="{BB962C8B-B14F-4D97-AF65-F5344CB8AC3E}">
        <p14:creationId xmlns:p14="http://schemas.microsoft.com/office/powerpoint/2010/main" val="2147794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88"/>
          <p:cNvSpPr txBox="1">
            <a:spLocks noGrp="1"/>
          </p:cNvSpPr>
          <p:nvPr>
            <p:ph type="body" idx="1"/>
          </p:nvPr>
        </p:nvSpPr>
        <p:spPr>
          <a:xfrm>
            <a:off x="172900" y="714525"/>
            <a:ext cx="8520600" cy="41139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0"/>
              </a:spcAft>
              <a:buNone/>
            </a:pPr>
            <a:endParaRPr sz="1400" b="1">
              <a:solidFill>
                <a:schemeClr val="dk1"/>
              </a:solidFill>
            </a:endParaRPr>
          </a:p>
          <a:p>
            <a:pPr marL="0" lvl="0" indent="0" algn="l" rtl="0">
              <a:lnSpc>
                <a:spcPct val="150000"/>
              </a:lnSpc>
              <a:spcBef>
                <a:spcPts val="0"/>
              </a:spcBef>
              <a:spcAft>
                <a:spcPts val="0"/>
              </a:spcAft>
              <a:buNone/>
            </a:pPr>
            <a:endParaRPr sz="900" b="1">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Healthy controls: clinical samples from healthy controls</a:t>
            </a:r>
            <a:endParaRPr sz="1400">
              <a:solidFill>
                <a:schemeClr val="dk1"/>
              </a:solidFill>
            </a:endParaRPr>
          </a:p>
          <a:p>
            <a:pPr marL="914400" lvl="1" indent="-317500" algn="l" rtl="0">
              <a:lnSpc>
                <a:spcPct val="150000"/>
              </a:lnSpc>
              <a:spcBef>
                <a:spcPts val="0"/>
              </a:spcBef>
              <a:spcAft>
                <a:spcPts val="0"/>
              </a:spcAft>
              <a:buClr>
                <a:schemeClr val="dk1"/>
              </a:buClr>
              <a:buSzPts val="1400"/>
              <a:buChar char="○"/>
            </a:pPr>
            <a:r>
              <a:rPr lang="en">
                <a:solidFill>
                  <a:schemeClr val="dk1"/>
                </a:solidFill>
              </a:rPr>
              <a:t>What are organisms that are commonly found in your population?</a:t>
            </a:r>
            <a:endParaRPr>
              <a:solidFill>
                <a:schemeClr val="dk1"/>
              </a:solidFill>
            </a:endParaRPr>
          </a:p>
          <a:p>
            <a:pPr marL="914400" lvl="0" indent="0" algn="l" rtl="0">
              <a:lnSpc>
                <a:spcPct val="150000"/>
              </a:lnSpc>
              <a:spcBef>
                <a:spcPts val="0"/>
              </a:spcBef>
              <a:spcAft>
                <a:spcPts val="0"/>
              </a:spcAft>
              <a:buNone/>
            </a:pPr>
            <a:endParaRPr sz="12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Sampling: mock samples (e.g. needle touching but not piercing skin during CSF sampling)</a:t>
            </a:r>
            <a:endParaRPr sz="1400">
              <a:solidFill>
                <a:schemeClr val="dk1"/>
              </a:solidFill>
            </a:endParaRPr>
          </a:p>
          <a:p>
            <a:pPr marL="914400" lvl="1" indent="-317500" algn="l" rtl="0">
              <a:lnSpc>
                <a:spcPct val="150000"/>
              </a:lnSpc>
              <a:spcBef>
                <a:spcPts val="0"/>
              </a:spcBef>
              <a:spcAft>
                <a:spcPts val="0"/>
              </a:spcAft>
              <a:buClr>
                <a:schemeClr val="dk1"/>
              </a:buClr>
              <a:buSzPts val="1400"/>
              <a:buChar char="○"/>
            </a:pPr>
            <a:r>
              <a:rPr lang="en">
                <a:solidFill>
                  <a:schemeClr val="dk1"/>
                </a:solidFill>
              </a:rPr>
              <a:t>W</a:t>
            </a:r>
            <a:r>
              <a:rPr lang="en" sz="1400">
                <a:solidFill>
                  <a:schemeClr val="dk1"/>
                </a:solidFill>
              </a:rPr>
              <a:t>hat are the common contaminants that occur during the sampling process?</a:t>
            </a:r>
            <a:endParaRPr sz="1400">
              <a:solidFill>
                <a:schemeClr val="dk1"/>
              </a:solidFill>
            </a:endParaRPr>
          </a:p>
          <a:p>
            <a:pPr marL="914400" lvl="0" indent="0" algn="l" rtl="0">
              <a:lnSpc>
                <a:spcPct val="150000"/>
              </a:lnSpc>
              <a:spcBef>
                <a:spcPts val="0"/>
              </a:spcBef>
              <a:spcAft>
                <a:spcPts val="0"/>
              </a:spcAft>
              <a:buNone/>
            </a:pPr>
            <a:endParaRPr sz="1200">
              <a:solidFill>
                <a:schemeClr val="dk1"/>
              </a:solidFill>
            </a:endParaRPr>
          </a:p>
          <a:p>
            <a:pPr marL="914400" lvl="0" indent="0" algn="l" rtl="0">
              <a:lnSpc>
                <a:spcPct val="150000"/>
              </a:lnSpc>
              <a:spcBef>
                <a:spcPts val="0"/>
              </a:spcBef>
              <a:spcAft>
                <a:spcPts val="0"/>
              </a:spcAft>
              <a:buNone/>
            </a:pPr>
            <a:endParaRPr sz="3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During nucleic acid extraction: water controls</a:t>
            </a:r>
            <a:endParaRPr sz="1400">
              <a:solidFill>
                <a:schemeClr val="dk1"/>
              </a:solidFill>
            </a:endParaRPr>
          </a:p>
          <a:p>
            <a:pPr marL="914400" lvl="1" indent="-317500" algn="l" rtl="0">
              <a:lnSpc>
                <a:spcPct val="150000"/>
              </a:lnSpc>
              <a:spcBef>
                <a:spcPts val="0"/>
              </a:spcBef>
              <a:spcAft>
                <a:spcPts val="0"/>
              </a:spcAft>
              <a:buClr>
                <a:schemeClr val="dk1"/>
              </a:buClr>
              <a:buSzPts val="1400"/>
              <a:buChar char="○"/>
            </a:pPr>
            <a:r>
              <a:rPr lang="en">
                <a:solidFill>
                  <a:schemeClr val="dk1"/>
                </a:solidFill>
              </a:rPr>
              <a:t>What are the common contaminants that occur during extraction?</a:t>
            </a:r>
            <a:endParaRPr>
              <a:solidFill>
                <a:schemeClr val="dk1"/>
              </a:solidFill>
            </a:endParaRPr>
          </a:p>
          <a:p>
            <a:pPr marL="914400" lvl="1" indent="-317500" algn="l" rtl="0">
              <a:lnSpc>
                <a:spcPct val="150000"/>
              </a:lnSpc>
              <a:spcBef>
                <a:spcPts val="0"/>
              </a:spcBef>
              <a:spcAft>
                <a:spcPts val="0"/>
              </a:spcAft>
              <a:buClr>
                <a:schemeClr val="dk1"/>
              </a:buClr>
              <a:buSzPts val="1400"/>
              <a:buChar char="○"/>
            </a:pPr>
            <a:r>
              <a:rPr lang="en">
                <a:solidFill>
                  <a:schemeClr val="dk1"/>
                </a:solidFill>
              </a:rPr>
              <a:t>What is the level of cross-contamination that occurs between samples during extraction?</a:t>
            </a:r>
            <a:endParaRPr>
              <a:solidFill>
                <a:schemeClr val="dk1"/>
              </a:solidFill>
            </a:endParaRPr>
          </a:p>
        </p:txBody>
      </p:sp>
      <p:pic>
        <p:nvPicPr>
          <p:cNvPr id="588" name="Google Shape;588;p88"/>
          <p:cNvPicPr preferRelativeResize="0"/>
          <p:nvPr/>
        </p:nvPicPr>
        <p:blipFill rotWithShape="1">
          <a:blip r:embed="rId3">
            <a:alphaModFix/>
          </a:blip>
          <a:srcRect l="13069" t="15507" r="15081" b="13226"/>
          <a:stretch/>
        </p:blipFill>
        <p:spPr>
          <a:xfrm>
            <a:off x="243075" y="199975"/>
            <a:ext cx="563950" cy="665401"/>
          </a:xfrm>
          <a:prstGeom prst="rect">
            <a:avLst/>
          </a:prstGeom>
          <a:noFill/>
          <a:ln>
            <a:noFill/>
          </a:ln>
        </p:spPr>
      </p:pic>
      <p:sp>
        <p:nvSpPr>
          <p:cNvPr id="589" name="Google Shape;589;p88"/>
          <p:cNvSpPr txBox="1">
            <a:spLocks noGrp="1"/>
          </p:cNvSpPr>
          <p:nvPr>
            <p:ph type="title"/>
          </p:nvPr>
        </p:nvSpPr>
        <p:spPr>
          <a:xfrm>
            <a:off x="939400" y="252725"/>
            <a:ext cx="77541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Study controls are CRUCIAL to make sense of sequencing data</a:t>
            </a:r>
            <a:endParaRPr/>
          </a:p>
        </p:txBody>
      </p:sp>
    </p:spTree>
    <p:extLst>
      <p:ext uri="{BB962C8B-B14F-4D97-AF65-F5344CB8AC3E}">
        <p14:creationId xmlns:p14="http://schemas.microsoft.com/office/powerpoint/2010/main" val="3887550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89"/>
          <p:cNvSpPr txBox="1">
            <a:spLocks noGrp="1"/>
          </p:cNvSpPr>
          <p:nvPr>
            <p:ph type="title"/>
          </p:nvPr>
        </p:nvSpPr>
        <p:spPr>
          <a:xfrm>
            <a:off x="301775" y="252725"/>
            <a:ext cx="8421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320" dirty="0">
                <a:latin typeface="Roboto"/>
                <a:ea typeface="Roboto"/>
                <a:cs typeface="Roboto"/>
                <a:sym typeface="Roboto"/>
              </a:rPr>
              <a:t>Study subject include known positive and negative samples</a:t>
            </a:r>
            <a:endParaRPr sz="2320" dirty="0">
              <a:latin typeface="Roboto"/>
              <a:ea typeface="Roboto"/>
              <a:cs typeface="Roboto"/>
              <a:sym typeface="Roboto"/>
            </a:endParaRPr>
          </a:p>
        </p:txBody>
      </p:sp>
      <p:sp>
        <p:nvSpPr>
          <p:cNvPr id="595" name="Google Shape;595;p89"/>
          <p:cNvSpPr/>
          <p:nvPr/>
        </p:nvSpPr>
        <p:spPr>
          <a:xfrm>
            <a:off x="4397475" y="1176675"/>
            <a:ext cx="4455300" cy="3479700"/>
          </a:xfrm>
          <a:prstGeom prst="roundRect">
            <a:avLst>
              <a:gd name="adj" fmla="val 16667"/>
            </a:avLst>
          </a:prstGeom>
          <a:no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89"/>
          <p:cNvSpPr txBox="1"/>
          <p:nvPr/>
        </p:nvSpPr>
        <p:spPr>
          <a:xfrm>
            <a:off x="4760650" y="2409638"/>
            <a:ext cx="2289300" cy="36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Fever with unknown cause</a:t>
            </a:r>
            <a:endParaRPr>
              <a:latin typeface="Roboto"/>
              <a:ea typeface="Roboto"/>
              <a:cs typeface="Roboto"/>
              <a:sym typeface="Roboto"/>
            </a:endParaRPr>
          </a:p>
        </p:txBody>
      </p:sp>
      <p:sp>
        <p:nvSpPr>
          <p:cNvPr id="597" name="Google Shape;597;p89"/>
          <p:cNvSpPr txBox="1"/>
          <p:nvPr/>
        </p:nvSpPr>
        <p:spPr>
          <a:xfrm>
            <a:off x="6621400" y="3429650"/>
            <a:ext cx="2101800" cy="36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Fever with known cause</a:t>
            </a:r>
            <a:endParaRPr>
              <a:latin typeface="Roboto"/>
              <a:ea typeface="Roboto"/>
              <a:cs typeface="Roboto"/>
              <a:sym typeface="Roboto"/>
            </a:endParaRPr>
          </a:p>
        </p:txBody>
      </p:sp>
      <p:sp>
        <p:nvSpPr>
          <p:cNvPr id="598" name="Google Shape;598;p89"/>
          <p:cNvSpPr txBox="1"/>
          <p:nvPr/>
        </p:nvSpPr>
        <p:spPr>
          <a:xfrm>
            <a:off x="4721553" y="4135475"/>
            <a:ext cx="17835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Healthy individuals</a:t>
            </a:r>
            <a:endParaRPr>
              <a:latin typeface="Roboto"/>
              <a:ea typeface="Roboto"/>
              <a:cs typeface="Roboto"/>
              <a:sym typeface="Roboto"/>
            </a:endParaRPr>
          </a:p>
        </p:txBody>
      </p:sp>
      <p:pic>
        <p:nvPicPr>
          <p:cNvPr id="599" name="Google Shape;599;p89"/>
          <p:cNvPicPr preferRelativeResize="0"/>
          <p:nvPr/>
        </p:nvPicPr>
        <p:blipFill>
          <a:blip r:embed="rId3">
            <a:alphaModFix/>
          </a:blip>
          <a:stretch>
            <a:fillRect/>
          </a:stretch>
        </p:blipFill>
        <p:spPr>
          <a:xfrm>
            <a:off x="5134874" y="2125534"/>
            <a:ext cx="398935" cy="259266"/>
          </a:xfrm>
          <a:prstGeom prst="rect">
            <a:avLst/>
          </a:prstGeom>
          <a:noFill/>
          <a:ln>
            <a:noFill/>
          </a:ln>
        </p:spPr>
      </p:pic>
      <p:pic>
        <p:nvPicPr>
          <p:cNvPr id="600" name="Google Shape;600;p89"/>
          <p:cNvPicPr preferRelativeResize="0"/>
          <p:nvPr/>
        </p:nvPicPr>
        <p:blipFill>
          <a:blip r:embed="rId3">
            <a:alphaModFix/>
          </a:blip>
          <a:stretch>
            <a:fillRect/>
          </a:stretch>
        </p:blipFill>
        <p:spPr>
          <a:xfrm>
            <a:off x="5747939" y="1828427"/>
            <a:ext cx="398935" cy="259266"/>
          </a:xfrm>
          <a:prstGeom prst="rect">
            <a:avLst/>
          </a:prstGeom>
          <a:noFill/>
          <a:ln>
            <a:noFill/>
          </a:ln>
        </p:spPr>
      </p:pic>
      <p:pic>
        <p:nvPicPr>
          <p:cNvPr id="601" name="Google Shape;601;p89"/>
          <p:cNvPicPr preferRelativeResize="0"/>
          <p:nvPr/>
        </p:nvPicPr>
        <p:blipFill>
          <a:blip r:embed="rId3">
            <a:alphaModFix/>
          </a:blip>
          <a:stretch>
            <a:fillRect/>
          </a:stretch>
        </p:blipFill>
        <p:spPr>
          <a:xfrm>
            <a:off x="5664108" y="2164759"/>
            <a:ext cx="398935" cy="259266"/>
          </a:xfrm>
          <a:prstGeom prst="rect">
            <a:avLst/>
          </a:prstGeom>
          <a:noFill/>
          <a:ln>
            <a:noFill/>
          </a:ln>
        </p:spPr>
      </p:pic>
      <p:pic>
        <p:nvPicPr>
          <p:cNvPr id="602" name="Google Shape;602;p89"/>
          <p:cNvPicPr preferRelativeResize="0"/>
          <p:nvPr/>
        </p:nvPicPr>
        <p:blipFill>
          <a:blip r:embed="rId3">
            <a:alphaModFix/>
          </a:blip>
          <a:stretch>
            <a:fillRect/>
          </a:stretch>
        </p:blipFill>
        <p:spPr>
          <a:xfrm>
            <a:off x="6261921" y="1764939"/>
            <a:ext cx="398935" cy="259266"/>
          </a:xfrm>
          <a:prstGeom prst="rect">
            <a:avLst/>
          </a:prstGeom>
          <a:noFill/>
          <a:ln>
            <a:noFill/>
          </a:ln>
        </p:spPr>
      </p:pic>
      <p:pic>
        <p:nvPicPr>
          <p:cNvPr id="603" name="Google Shape;603;p89"/>
          <p:cNvPicPr preferRelativeResize="0"/>
          <p:nvPr/>
        </p:nvPicPr>
        <p:blipFill>
          <a:blip r:embed="rId3">
            <a:alphaModFix/>
          </a:blip>
          <a:stretch>
            <a:fillRect/>
          </a:stretch>
        </p:blipFill>
        <p:spPr>
          <a:xfrm>
            <a:off x="5233973" y="1804450"/>
            <a:ext cx="398935" cy="259266"/>
          </a:xfrm>
          <a:prstGeom prst="rect">
            <a:avLst/>
          </a:prstGeom>
          <a:noFill/>
          <a:ln>
            <a:noFill/>
          </a:ln>
        </p:spPr>
      </p:pic>
      <p:pic>
        <p:nvPicPr>
          <p:cNvPr id="604" name="Google Shape;604;p89"/>
          <p:cNvPicPr preferRelativeResize="0"/>
          <p:nvPr/>
        </p:nvPicPr>
        <p:blipFill>
          <a:blip r:embed="rId3">
            <a:alphaModFix/>
          </a:blip>
          <a:stretch>
            <a:fillRect/>
          </a:stretch>
        </p:blipFill>
        <p:spPr>
          <a:xfrm>
            <a:off x="4663139" y="2019734"/>
            <a:ext cx="398935" cy="259266"/>
          </a:xfrm>
          <a:prstGeom prst="rect">
            <a:avLst/>
          </a:prstGeom>
          <a:noFill/>
          <a:ln>
            <a:noFill/>
          </a:ln>
        </p:spPr>
      </p:pic>
      <p:pic>
        <p:nvPicPr>
          <p:cNvPr id="605" name="Google Shape;605;p89"/>
          <p:cNvPicPr preferRelativeResize="0"/>
          <p:nvPr/>
        </p:nvPicPr>
        <p:blipFill>
          <a:blip r:embed="rId3">
            <a:alphaModFix/>
          </a:blip>
          <a:stretch>
            <a:fillRect/>
          </a:stretch>
        </p:blipFill>
        <p:spPr>
          <a:xfrm>
            <a:off x="6192489" y="2125534"/>
            <a:ext cx="398935" cy="259266"/>
          </a:xfrm>
          <a:prstGeom prst="rect">
            <a:avLst/>
          </a:prstGeom>
          <a:noFill/>
          <a:ln>
            <a:noFill/>
          </a:ln>
        </p:spPr>
      </p:pic>
      <p:pic>
        <p:nvPicPr>
          <p:cNvPr id="606" name="Google Shape;606;p89"/>
          <p:cNvPicPr preferRelativeResize="0"/>
          <p:nvPr/>
        </p:nvPicPr>
        <p:blipFill>
          <a:blip r:embed="rId3">
            <a:alphaModFix/>
          </a:blip>
          <a:stretch>
            <a:fillRect/>
          </a:stretch>
        </p:blipFill>
        <p:spPr>
          <a:xfrm>
            <a:off x="6720864" y="2019734"/>
            <a:ext cx="398935" cy="259266"/>
          </a:xfrm>
          <a:prstGeom prst="rect">
            <a:avLst/>
          </a:prstGeom>
          <a:noFill/>
          <a:ln>
            <a:noFill/>
          </a:ln>
        </p:spPr>
      </p:pic>
      <p:pic>
        <p:nvPicPr>
          <p:cNvPr id="607" name="Google Shape;607;p89"/>
          <p:cNvPicPr preferRelativeResize="0"/>
          <p:nvPr/>
        </p:nvPicPr>
        <p:blipFill>
          <a:blip r:embed="rId3">
            <a:alphaModFix/>
          </a:blip>
          <a:stretch>
            <a:fillRect/>
          </a:stretch>
        </p:blipFill>
        <p:spPr>
          <a:xfrm>
            <a:off x="4735948" y="1663625"/>
            <a:ext cx="398935" cy="259266"/>
          </a:xfrm>
          <a:prstGeom prst="rect">
            <a:avLst/>
          </a:prstGeom>
          <a:noFill/>
          <a:ln>
            <a:noFill/>
          </a:ln>
        </p:spPr>
      </p:pic>
      <p:pic>
        <p:nvPicPr>
          <p:cNvPr id="608" name="Google Shape;608;p89"/>
          <p:cNvPicPr preferRelativeResize="0"/>
          <p:nvPr/>
        </p:nvPicPr>
        <p:blipFill>
          <a:blip r:embed="rId3">
            <a:alphaModFix/>
          </a:blip>
          <a:stretch>
            <a:fillRect/>
          </a:stretch>
        </p:blipFill>
        <p:spPr>
          <a:xfrm>
            <a:off x="5029423" y="1431475"/>
            <a:ext cx="398935" cy="259266"/>
          </a:xfrm>
          <a:prstGeom prst="rect">
            <a:avLst/>
          </a:prstGeom>
          <a:noFill/>
          <a:ln>
            <a:noFill/>
          </a:ln>
        </p:spPr>
      </p:pic>
      <p:pic>
        <p:nvPicPr>
          <p:cNvPr id="609" name="Google Shape;609;p89"/>
          <p:cNvPicPr preferRelativeResize="0"/>
          <p:nvPr/>
        </p:nvPicPr>
        <p:blipFill>
          <a:blip r:embed="rId3">
            <a:alphaModFix/>
          </a:blip>
          <a:stretch>
            <a:fillRect/>
          </a:stretch>
        </p:blipFill>
        <p:spPr>
          <a:xfrm>
            <a:off x="5533798" y="1505675"/>
            <a:ext cx="398935" cy="259266"/>
          </a:xfrm>
          <a:prstGeom prst="rect">
            <a:avLst/>
          </a:prstGeom>
          <a:noFill/>
          <a:ln>
            <a:noFill/>
          </a:ln>
        </p:spPr>
      </p:pic>
      <p:pic>
        <p:nvPicPr>
          <p:cNvPr id="610" name="Google Shape;610;p89"/>
          <p:cNvPicPr preferRelativeResize="0"/>
          <p:nvPr/>
        </p:nvPicPr>
        <p:blipFill>
          <a:blip r:embed="rId3">
            <a:alphaModFix/>
          </a:blip>
          <a:stretch>
            <a:fillRect/>
          </a:stretch>
        </p:blipFill>
        <p:spPr>
          <a:xfrm>
            <a:off x="6038173" y="1431475"/>
            <a:ext cx="398935" cy="259266"/>
          </a:xfrm>
          <a:prstGeom prst="rect">
            <a:avLst/>
          </a:prstGeom>
          <a:noFill/>
          <a:ln>
            <a:noFill/>
          </a:ln>
        </p:spPr>
      </p:pic>
      <p:pic>
        <p:nvPicPr>
          <p:cNvPr id="611" name="Google Shape;611;p89"/>
          <p:cNvPicPr preferRelativeResize="0"/>
          <p:nvPr/>
        </p:nvPicPr>
        <p:blipFill>
          <a:blip r:embed="rId3">
            <a:alphaModFix/>
          </a:blip>
          <a:stretch>
            <a:fillRect/>
          </a:stretch>
        </p:blipFill>
        <p:spPr>
          <a:xfrm>
            <a:off x="6542539" y="1505684"/>
            <a:ext cx="398935" cy="259266"/>
          </a:xfrm>
          <a:prstGeom prst="rect">
            <a:avLst/>
          </a:prstGeom>
          <a:noFill/>
          <a:ln>
            <a:noFill/>
          </a:ln>
        </p:spPr>
      </p:pic>
      <p:pic>
        <p:nvPicPr>
          <p:cNvPr id="612" name="Google Shape;612;p89"/>
          <p:cNvPicPr preferRelativeResize="0"/>
          <p:nvPr/>
        </p:nvPicPr>
        <p:blipFill>
          <a:blip r:embed="rId4">
            <a:alphaModFix/>
          </a:blip>
          <a:stretch>
            <a:fillRect/>
          </a:stretch>
        </p:blipFill>
        <p:spPr>
          <a:xfrm>
            <a:off x="5428340" y="3242341"/>
            <a:ext cx="199500" cy="424632"/>
          </a:xfrm>
          <a:prstGeom prst="rect">
            <a:avLst/>
          </a:prstGeom>
          <a:noFill/>
          <a:ln>
            <a:noFill/>
          </a:ln>
        </p:spPr>
      </p:pic>
      <p:pic>
        <p:nvPicPr>
          <p:cNvPr id="613" name="Google Shape;613;p89"/>
          <p:cNvPicPr preferRelativeResize="0"/>
          <p:nvPr/>
        </p:nvPicPr>
        <p:blipFill>
          <a:blip r:embed="rId4">
            <a:alphaModFix/>
          </a:blip>
          <a:stretch>
            <a:fillRect/>
          </a:stretch>
        </p:blipFill>
        <p:spPr>
          <a:xfrm>
            <a:off x="5289278" y="3761391"/>
            <a:ext cx="199500" cy="424632"/>
          </a:xfrm>
          <a:prstGeom prst="rect">
            <a:avLst/>
          </a:prstGeom>
          <a:noFill/>
          <a:ln>
            <a:noFill/>
          </a:ln>
        </p:spPr>
      </p:pic>
      <p:pic>
        <p:nvPicPr>
          <p:cNvPr id="614" name="Google Shape;614;p89"/>
          <p:cNvPicPr preferRelativeResize="0"/>
          <p:nvPr/>
        </p:nvPicPr>
        <p:blipFill>
          <a:blip r:embed="rId4">
            <a:alphaModFix/>
          </a:blip>
          <a:stretch>
            <a:fillRect/>
          </a:stretch>
        </p:blipFill>
        <p:spPr>
          <a:xfrm>
            <a:off x="5625340" y="3761391"/>
            <a:ext cx="199500" cy="424632"/>
          </a:xfrm>
          <a:prstGeom prst="rect">
            <a:avLst/>
          </a:prstGeom>
          <a:noFill/>
          <a:ln>
            <a:noFill/>
          </a:ln>
        </p:spPr>
      </p:pic>
      <p:pic>
        <p:nvPicPr>
          <p:cNvPr id="615" name="Google Shape;615;p89"/>
          <p:cNvPicPr preferRelativeResize="0"/>
          <p:nvPr/>
        </p:nvPicPr>
        <p:blipFill>
          <a:blip r:embed="rId4">
            <a:alphaModFix/>
          </a:blip>
          <a:stretch>
            <a:fillRect/>
          </a:stretch>
        </p:blipFill>
        <p:spPr>
          <a:xfrm>
            <a:off x="5796890" y="3369216"/>
            <a:ext cx="199500" cy="424632"/>
          </a:xfrm>
          <a:prstGeom prst="rect">
            <a:avLst/>
          </a:prstGeom>
          <a:noFill/>
          <a:ln>
            <a:noFill/>
          </a:ln>
        </p:spPr>
      </p:pic>
      <p:pic>
        <p:nvPicPr>
          <p:cNvPr id="616" name="Google Shape;616;p89"/>
          <p:cNvPicPr preferRelativeResize="0"/>
          <p:nvPr/>
        </p:nvPicPr>
        <p:blipFill>
          <a:blip r:embed="rId4">
            <a:alphaModFix/>
          </a:blip>
          <a:stretch>
            <a:fillRect/>
          </a:stretch>
        </p:blipFill>
        <p:spPr>
          <a:xfrm>
            <a:off x="5059790" y="3399429"/>
            <a:ext cx="199500" cy="424632"/>
          </a:xfrm>
          <a:prstGeom prst="rect">
            <a:avLst/>
          </a:prstGeom>
          <a:noFill/>
          <a:ln>
            <a:noFill/>
          </a:ln>
        </p:spPr>
      </p:pic>
      <p:pic>
        <p:nvPicPr>
          <p:cNvPr id="617" name="Google Shape;617;p89"/>
          <p:cNvPicPr preferRelativeResize="0"/>
          <p:nvPr/>
        </p:nvPicPr>
        <p:blipFill>
          <a:blip r:embed="rId5">
            <a:alphaModFix/>
          </a:blip>
          <a:stretch>
            <a:fillRect/>
          </a:stretch>
        </p:blipFill>
        <p:spPr>
          <a:xfrm>
            <a:off x="6970199" y="3195800"/>
            <a:ext cx="398952" cy="259266"/>
          </a:xfrm>
          <a:prstGeom prst="rect">
            <a:avLst/>
          </a:prstGeom>
          <a:noFill/>
          <a:ln>
            <a:noFill/>
          </a:ln>
        </p:spPr>
      </p:pic>
      <p:pic>
        <p:nvPicPr>
          <p:cNvPr id="618" name="Google Shape;618;p89"/>
          <p:cNvPicPr preferRelativeResize="0"/>
          <p:nvPr/>
        </p:nvPicPr>
        <p:blipFill>
          <a:blip r:embed="rId5">
            <a:alphaModFix/>
          </a:blip>
          <a:stretch>
            <a:fillRect/>
          </a:stretch>
        </p:blipFill>
        <p:spPr>
          <a:xfrm>
            <a:off x="7504499" y="3109950"/>
            <a:ext cx="398952" cy="259266"/>
          </a:xfrm>
          <a:prstGeom prst="rect">
            <a:avLst/>
          </a:prstGeom>
          <a:noFill/>
          <a:ln>
            <a:noFill/>
          </a:ln>
        </p:spPr>
      </p:pic>
      <p:pic>
        <p:nvPicPr>
          <p:cNvPr id="619" name="Google Shape;619;p89"/>
          <p:cNvPicPr preferRelativeResize="0"/>
          <p:nvPr/>
        </p:nvPicPr>
        <p:blipFill>
          <a:blip r:embed="rId5">
            <a:alphaModFix/>
          </a:blip>
          <a:stretch>
            <a:fillRect/>
          </a:stretch>
        </p:blipFill>
        <p:spPr>
          <a:xfrm>
            <a:off x="7976349" y="3242350"/>
            <a:ext cx="398952" cy="259266"/>
          </a:xfrm>
          <a:prstGeom prst="rect">
            <a:avLst/>
          </a:prstGeom>
          <a:noFill/>
          <a:ln>
            <a:noFill/>
          </a:ln>
        </p:spPr>
      </p:pic>
      <p:pic>
        <p:nvPicPr>
          <p:cNvPr id="620" name="Google Shape;620;p89"/>
          <p:cNvPicPr preferRelativeResize="0"/>
          <p:nvPr/>
        </p:nvPicPr>
        <p:blipFill>
          <a:blip r:embed="rId5">
            <a:alphaModFix/>
          </a:blip>
          <a:stretch>
            <a:fillRect/>
          </a:stretch>
        </p:blipFill>
        <p:spPr>
          <a:xfrm>
            <a:off x="7895699" y="2879850"/>
            <a:ext cx="398952" cy="259266"/>
          </a:xfrm>
          <a:prstGeom prst="rect">
            <a:avLst/>
          </a:prstGeom>
          <a:noFill/>
          <a:ln>
            <a:noFill/>
          </a:ln>
        </p:spPr>
      </p:pic>
      <p:pic>
        <p:nvPicPr>
          <p:cNvPr id="621" name="Google Shape;621;p89"/>
          <p:cNvPicPr preferRelativeResize="0"/>
          <p:nvPr/>
        </p:nvPicPr>
        <p:blipFill>
          <a:blip r:embed="rId5">
            <a:alphaModFix/>
          </a:blip>
          <a:stretch>
            <a:fillRect/>
          </a:stretch>
        </p:blipFill>
        <p:spPr>
          <a:xfrm>
            <a:off x="7170074" y="2820875"/>
            <a:ext cx="398952" cy="259266"/>
          </a:xfrm>
          <a:prstGeom prst="rect">
            <a:avLst/>
          </a:prstGeom>
          <a:noFill/>
          <a:ln>
            <a:noFill/>
          </a:ln>
        </p:spPr>
      </p:pic>
      <p:sp>
        <p:nvSpPr>
          <p:cNvPr id="622" name="Google Shape;622;p89"/>
          <p:cNvSpPr txBox="1"/>
          <p:nvPr/>
        </p:nvSpPr>
        <p:spPr>
          <a:xfrm>
            <a:off x="5869775" y="780900"/>
            <a:ext cx="14526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latin typeface="Roboto"/>
                <a:ea typeface="Roboto"/>
                <a:cs typeface="Roboto"/>
                <a:sym typeface="Roboto"/>
              </a:rPr>
              <a:t>Study subjects</a:t>
            </a:r>
            <a:endParaRPr sz="1500">
              <a:latin typeface="Roboto"/>
              <a:ea typeface="Roboto"/>
              <a:cs typeface="Roboto"/>
              <a:sym typeface="Roboto"/>
            </a:endParaRPr>
          </a:p>
        </p:txBody>
      </p:sp>
      <p:sp>
        <p:nvSpPr>
          <p:cNvPr id="623" name="Google Shape;623;p89"/>
          <p:cNvSpPr/>
          <p:nvPr/>
        </p:nvSpPr>
        <p:spPr>
          <a:xfrm>
            <a:off x="1214075" y="2559774"/>
            <a:ext cx="2049000" cy="848100"/>
          </a:xfrm>
          <a:prstGeom prst="roundRect">
            <a:avLst>
              <a:gd name="adj" fmla="val 16667"/>
            </a:avLst>
          </a:prstGeom>
          <a:no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89"/>
          <p:cNvSpPr/>
          <p:nvPr/>
        </p:nvSpPr>
        <p:spPr>
          <a:xfrm>
            <a:off x="792325" y="2384800"/>
            <a:ext cx="2897400" cy="2268300"/>
          </a:xfrm>
          <a:prstGeom prst="roundRect">
            <a:avLst>
              <a:gd name="adj" fmla="val 16667"/>
            </a:avLst>
          </a:prstGeom>
          <a:no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89"/>
          <p:cNvSpPr txBox="1"/>
          <p:nvPr/>
        </p:nvSpPr>
        <p:spPr>
          <a:xfrm>
            <a:off x="1161150" y="2526400"/>
            <a:ext cx="20490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Diagnostic test results</a:t>
            </a:r>
            <a:endParaRPr dirty="0">
              <a:latin typeface="Roboto"/>
              <a:ea typeface="Roboto"/>
              <a:cs typeface="Roboto"/>
              <a:sym typeface="Roboto"/>
            </a:endParaRPr>
          </a:p>
        </p:txBody>
      </p:sp>
      <p:sp>
        <p:nvSpPr>
          <p:cNvPr id="626" name="Google Shape;626;p89"/>
          <p:cNvSpPr txBox="1"/>
          <p:nvPr/>
        </p:nvSpPr>
        <p:spPr>
          <a:xfrm>
            <a:off x="1308125" y="2836450"/>
            <a:ext cx="5640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Roboto"/>
                <a:ea typeface="Roboto"/>
                <a:cs typeface="Roboto"/>
                <a:sym typeface="Roboto"/>
              </a:rPr>
              <a:t>WBC</a:t>
            </a:r>
            <a:endParaRPr sz="1000">
              <a:solidFill>
                <a:srgbClr val="666666"/>
              </a:solidFill>
              <a:latin typeface="Roboto"/>
              <a:ea typeface="Roboto"/>
              <a:cs typeface="Roboto"/>
              <a:sym typeface="Roboto"/>
            </a:endParaRPr>
          </a:p>
        </p:txBody>
      </p:sp>
      <p:sp>
        <p:nvSpPr>
          <p:cNvPr id="627" name="Google Shape;627;p89"/>
          <p:cNvSpPr txBox="1"/>
          <p:nvPr/>
        </p:nvSpPr>
        <p:spPr>
          <a:xfrm>
            <a:off x="2344300" y="3086575"/>
            <a:ext cx="6978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Roboto"/>
                <a:ea typeface="Roboto"/>
                <a:cs typeface="Roboto"/>
                <a:sym typeface="Roboto"/>
              </a:rPr>
              <a:t>Cultures</a:t>
            </a:r>
            <a:endParaRPr sz="1000">
              <a:solidFill>
                <a:srgbClr val="666666"/>
              </a:solidFill>
              <a:latin typeface="Roboto"/>
              <a:ea typeface="Roboto"/>
              <a:cs typeface="Roboto"/>
              <a:sym typeface="Roboto"/>
            </a:endParaRPr>
          </a:p>
        </p:txBody>
      </p:sp>
      <p:sp>
        <p:nvSpPr>
          <p:cNvPr id="628" name="Google Shape;628;p89"/>
          <p:cNvSpPr txBox="1"/>
          <p:nvPr/>
        </p:nvSpPr>
        <p:spPr>
          <a:xfrm>
            <a:off x="2005700" y="2867225"/>
            <a:ext cx="6978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Roboto"/>
                <a:ea typeface="Roboto"/>
                <a:cs typeface="Roboto"/>
                <a:sym typeface="Roboto"/>
              </a:rPr>
              <a:t>PCR</a:t>
            </a:r>
            <a:endParaRPr sz="1000">
              <a:solidFill>
                <a:srgbClr val="666666"/>
              </a:solidFill>
              <a:latin typeface="Roboto"/>
              <a:ea typeface="Roboto"/>
              <a:cs typeface="Roboto"/>
              <a:sym typeface="Roboto"/>
            </a:endParaRPr>
          </a:p>
        </p:txBody>
      </p:sp>
      <p:sp>
        <p:nvSpPr>
          <p:cNvPr id="629" name="Google Shape;629;p89"/>
          <p:cNvSpPr txBox="1"/>
          <p:nvPr/>
        </p:nvSpPr>
        <p:spPr>
          <a:xfrm>
            <a:off x="1526850" y="3025425"/>
            <a:ext cx="6978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Roboto"/>
                <a:ea typeface="Roboto"/>
                <a:cs typeface="Roboto"/>
                <a:sym typeface="Roboto"/>
              </a:rPr>
              <a:t>Ab/Ag</a:t>
            </a:r>
            <a:endParaRPr sz="1000">
              <a:solidFill>
                <a:srgbClr val="666666"/>
              </a:solidFill>
              <a:latin typeface="Roboto"/>
              <a:ea typeface="Roboto"/>
              <a:cs typeface="Roboto"/>
              <a:sym typeface="Roboto"/>
            </a:endParaRPr>
          </a:p>
        </p:txBody>
      </p:sp>
      <p:sp>
        <p:nvSpPr>
          <p:cNvPr id="630" name="Google Shape;630;p89"/>
          <p:cNvSpPr txBox="1"/>
          <p:nvPr/>
        </p:nvSpPr>
        <p:spPr>
          <a:xfrm>
            <a:off x="884630" y="3771275"/>
            <a:ext cx="10833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Symptoms</a:t>
            </a:r>
            <a:endParaRPr dirty="0">
              <a:latin typeface="Roboto"/>
              <a:ea typeface="Roboto"/>
              <a:cs typeface="Roboto"/>
              <a:sym typeface="Roboto"/>
            </a:endParaRPr>
          </a:p>
        </p:txBody>
      </p:sp>
      <p:sp>
        <p:nvSpPr>
          <p:cNvPr id="631" name="Google Shape;631;p89"/>
          <p:cNvSpPr txBox="1"/>
          <p:nvPr/>
        </p:nvSpPr>
        <p:spPr>
          <a:xfrm>
            <a:off x="2463550" y="3720650"/>
            <a:ext cx="10833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Location</a:t>
            </a:r>
            <a:endParaRPr>
              <a:latin typeface="Roboto"/>
              <a:ea typeface="Roboto"/>
              <a:cs typeface="Roboto"/>
              <a:sym typeface="Roboto"/>
            </a:endParaRPr>
          </a:p>
        </p:txBody>
      </p:sp>
      <p:sp>
        <p:nvSpPr>
          <p:cNvPr id="632" name="Google Shape;632;p89"/>
          <p:cNvSpPr txBox="1"/>
          <p:nvPr/>
        </p:nvSpPr>
        <p:spPr>
          <a:xfrm>
            <a:off x="1644000" y="4122050"/>
            <a:ext cx="10833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Age</a:t>
            </a:r>
            <a:endParaRPr>
              <a:latin typeface="Roboto"/>
              <a:ea typeface="Roboto"/>
              <a:cs typeface="Roboto"/>
              <a:sym typeface="Roboto"/>
            </a:endParaRPr>
          </a:p>
        </p:txBody>
      </p:sp>
      <p:sp>
        <p:nvSpPr>
          <p:cNvPr id="633" name="Google Shape;633;p89"/>
          <p:cNvSpPr txBox="1"/>
          <p:nvPr/>
        </p:nvSpPr>
        <p:spPr>
          <a:xfrm>
            <a:off x="1435486" y="1812224"/>
            <a:ext cx="1563646"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b="1" dirty="0">
                <a:solidFill>
                  <a:srgbClr val="C00000"/>
                </a:solidFill>
                <a:latin typeface="Roboto"/>
                <a:ea typeface="Roboto"/>
                <a:cs typeface="Roboto"/>
                <a:sym typeface="Roboto"/>
              </a:rPr>
              <a:t>Metadata</a:t>
            </a:r>
            <a:endParaRPr sz="2000" b="1" dirty="0">
              <a:solidFill>
                <a:srgbClr val="C00000"/>
              </a:solidFill>
              <a:latin typeface="Roboto"/>
              <a:ea typeface="Roboto"/>
              <a:cs typeface="Roboto"/>
              <a:sym typeface="Roboto"/>
            </a:endParaRPr>
          </a:p>
        </p:txBody>
      </p:sp>
      <p:sp>
        <p:nvSpPr>
          <p:cNvPr id="634" name="Google Shape;634;p89"/>
          <p:cNvSpPr txBox="1"/>
          <p:nvPr/>
        </p:nvSpPr>
        <p:spPr>
          <a:xfrm>
            <a:off x="3871325" y="3175050"/>
            <a:ext cx="474600" cy="36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dirty="0">
                <a:solidFill>
                  <a:srgbClr val="999999"/>
                </a:solidFill>
              </a:rPr>
              <a:t>+</a:t>
            </a:r>
            <a:endParaRPr sz="2100" dirty="0">
              <a:solidFill>
                <a:srgbClr val="999999"/>
              </a:solidFill>
            </a:endParaRPr>
          </a:p>
        </p:txBody>
      </p:sp>
      <p:pic>
        <p:nvPicPr>
          <p:cNvPr id="635" name="Google Shape;635;p89"/>
          <p:cNvPicPr preferRelativeResize="0"/>
          <p:nvPr/>
        </p:nvPicPr>
        <p:blipFill>
          <a:blip r:embed="rId6">
            <a:alphaModFix/>
          </a:blip>
          <a:stretch>
            <a:fillRect/>
          </a:stretch>
        </p:blipFill>
        <p:spPr>
          <a:xfrm>
            <a:off x="1761775" y="1099224"/>
            <a:ext cx="847750" cy="617651"/>
          </a:xfrm>
          <a:prstGeom prst="rect">
            <a:avLst/>
          </a:prstGeom>
          <a:noFill/>
          <a:ln>
            <a:noFill/>
          </a:ln>
        </p:spPr>
      </p:pic>
      <p:sp>
        <p:nvSpPr>
          <p:cNvPr id="3" name="Google Shape;630;p89">
            <a:extLst>
              <a:ext uri="{FF2B5EF4-FFF2-40B4-BE49-F238E27FC236}">
                <a16:creationId xmlns:a16="http://schemas.microsoft.com/office/drawing/2014/main" id="{58A0B57E-04FA-B6A4-0A22-A4761D3F748D}"/>
              </a:ext>
            </a:extLst>
          </p:cNvPr>
          <p:cNvSpPr txBox="1"/>
          <p:nvPr/>
        </p:nvSpPr>
        <p:spPr>
          <a:xfrm>
            <a:off x="1725260" y="3533225"/>
            <a:ext cx="10833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Dates</a:t>
            </a:r>
            <a:endParaRPr dirty="0">
              <a:latin typeface="Roboto"/>
              <a:ea typeface="Roboto"/>
              <a:cs typeface="Roboto"/>
              <a:sym typeface="Roboto"/>
            </a:endParaRPr>
          </a:p>
        </p:txBody>
      </p:sp>
      <p:pic>
        <p:nvPicPr>
          <p:cNvPr id="2" name="Graphic 1" descr="Tag outline">
            <a:extLst>
              <a:ext uri="{FF2B5EF4-FFF2-40B4-BE49-F238E27FC236}">
                <a16:creationId xmlns:a16="http://schemas.microsoft.com/office/drawing/2014/main" id="{BE8A19E4-B385-D32D-7162-58120DA884E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9148648">
            <a:off x="6974540" y="1442498"/>
            <a:ext cx="939756" cy="815393"/>
          </a:xfrm>
          <a:prstGeom prst="rect">
            <a:avLst/>
          </a:prstGeom>
        </p:spPr>
      </p:pic>
      <p:sp>
        <p:nvSpPr>
          <p:cNvPr id="4" name="TextBox 3">
            <a:extLst>
              <a:ext uri="{FF2B5EF4-FFF2-40B4-BE49-F238E27FC236}">
                <a16:creationId xmlns:a16="http://schemas.microsoft.com/office/drawing/2014/main" id="{0D2E7D47-C9CE-8E61-1320-F0854059EA01}"/>
              </a:ext>
            </a:extLst>
          </p:cNvPr>
          <p:cNvSpPr txBox="1"/>
          <p:nvPr/>
        </p:nvSpPr>
        <p:spPr>
          <a:xfrm>
            <a:off x="7233542" y="1628061"/>
            <a:ext cx="773523" cy="461665"/>
          </a:xfrm>
          <a:prstGeom prst="rect">
            <a:avLst/>
          </a:prstGeom>
          <a:noFill/>
        </p:spPr>
        <p:txBody>
          <a:bodyPr wrap="square" rtlCol="0">
            <a:spAutoFit/>
          </a:bodyPr>
          <a:lstStyle/>
          <a:p>
            <a:r>
              <a:rPr lang="en-US" sz="800" dirty="0"/>
              <a:t>Unknown, cases of interest</a:t>
            </a:r>
          </a:p>
        </p:txBody>
      </p:sp>
      <p:pic>
        <p:nvPicPr>
          <p:cNvPr id="5" name="Graphic 4" descr="Tag outline">
            <a:extLst>
              <a:ext uri="{FF2B5EF4-FFF2-40B4-BE49-F238E27FC236}">
                <a16:creationId xmlns:a16="http://schemas.microsoft.com/office/drawing/2014/main" id="{A0079AC3-EE2B-B5D2-EDF0-BA88F405169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5694778">
            <a:off x="7566521" y="2117740"/>
            <a:ext cx="914400" cy="914400"/>
          </a:xfrm>
          <a:prstGeom prst="rect">
            <a:avLst/>
          </a:prstGeom>
        </p:spPr>
      </p:pic>
      <p:sp>
        <p:nvSpPr>
          <p:cNvPr id="6" name="TextBox 5">
            <a:extLst>
              <a:ext uri="{FF2B5EF4-FFF2-40B4-BE49-F238E27FC236}">
                <a16:creationId xmlns:a16="http://schemas.microsoft.com/office/drawing/2014/main" id="{264D286E-8339-B86C-5C85-00BB000AD897}"/>
              </a:ext>
            </a:extLst>
          </p:cNvPr>
          <p:cNvSpPr txBox="1"/>
          <p:nvPr/>
        </p:nvSpPr>
        <p:spPr>
          <a:xfrm rot="18569504">
            <a:off x="7772096" y="2279653"/>
            <a:ext cx="671711" cy="369332"/>
          </a:xfrm>
          <a:prstGeom prst="rect">
            <a:avLst/>
          </a:prstGeom>
          <a:noFill/>
        </p:spPr>
        <p:txBody>
          <a:bodyPr wrap="square" rtlCol="0">
            <a:spAutoFit/>
          </a:bodyPr>
          <a:lstStyle/>
          <a:p>
            <a:r>
              <a:rPr lang="en-US" sz="900" dirty="0"/>
              <a:t>Positive controls</a:t>
            </a:r>
          </a:p>
        </p:txBody>
      </p:sp>
      <p:pic>
        <p:nvPicPr>
          <p:cNvPr id="7" name="Graphic 6" descr="Tag outline">
            <a:extLst>
              <a:ext uri="{FF2B5EF4-FFF2-40B4-BE49-F238E27FC236}">
                <a16:creationId xmlns:a16="http://schemas.microsoft.com/office/drawing/2014/main" id="{1204736E-17A5-0F42-750C-19A2FE7DBAE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9148648">
            <a:off x="6308326" y="3459548"/>
            <a:ext cx="1674554" cy="1452951"/>
          </a:xfrm>
          <a:prstGeom prst="rect">
            <a:avLst/>
          </a:prstGeom>
        </p:spPr>
      </p:pic>
      <p:sp>
        <p:nvSpPr>
          <p:cNvPr id="8" name="TextBox 7">
            <a:extLst>
              <a:ext uri="{FF2B5EF4-FFF2-40B4-BE49-F238E27FC236}">
                <a16:creationId xmlns:a16="http://schemas.microsoft.com/office/drawing/2014/main" id="{8B2E5B1A-1609-55CB-A242-DBF455FDE868}"/>
              </a:ext>
            </a:extLst>
          </p:cNvPr>
          <p:cNvSpPr txBox="1"/>
          <p:nvPr/>
        </p:nvSpPr>
        <p:spPr>
          <a:xfrm>
            <a:off x="6944133" y="3870109"/>
            <a:ext cx="834169" cy="630942"/>
          </a:xfrm>
          <a:prstGeom prst="rect">
            <a:avLst/>
          </a:prstGeom>
          <a:noFill/>
        </p:spPr>
        <p:txBody>
          <a:bodyPr wrap="square" rtlCol="0">
            <a:spAutoFit/>
          </a:bodyPr>
          <a:lstStyle/>
          <a:p>
            <a:r>
              <a:rPr lang="en-US" sz="700" dirty="0"/>
              <a:t>Negative controls and potential incidental findings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3"/>
                                        </p:tgtEl>
                                        <p:attrNameLst>
                                          <p:attrName>style.visibility</p:attrName>
                                        </p:attrNameLst>
                                      </p:cBhvr>
                                      <p:to>
                                        <p:strVal val="visible"/>
                                      </p:to>
                                    </p:set>
                                    <p:animEffect transition="in" filter="fade">
                                      <p:cBhvr>
                                        <p:cTn id="7" dur="1000"/>
                                        <p:tgtEl>
                                          <p:spTgt spid="623"/>
                                        </p:tgtEl>
                                      </p:cBhvr>
                                    </p:animEffect>
                                  </p:childTnLst>
                                </p:cTn>
                              </p:par>
                              <p:par>
                                <p:cTn id="8" presetID="10" presetClass="entr" presetSubtype="0" fill="hold" nodeType="withEffect">
                                  <p:stCondLst>
                                    <p:cond delay="0"/>
                                  </p:stCondLst>
                                  <p:childTnLst>
                                    <p:set>
                                      <p:cBhvr>
                                        <p:cTn id="9" dur="1" fill="hold">
                                          <p:stCondLst>
                                            <p:cond delay="0"/>
                                          </p:stCondLst>
                                        </p:cTn>
                                        <p:tgtEl>
                                          <p:spTgt spid="624"/>
                                        </p:tgtEl>
                                        <p:attrNameLst>
                                          <p:attrName>style.visibility</p:attrName>
                                        </p:attrNameLst>
                                      </p:cBhvr>
                                      <p:to>
                                        <p:strVal val="visible"/>
                                      </p:to>
                                    </p:set>
                                    <p:animEffect transition="in" filter="fade">
                                      <p:cBhvr>
                                        <p:cTn id="10" dur="1000"/>
                                        <p:tgtEl>
                                          <p:spTgt spid="624"/>
                                        </p:tgtEl>
                                      </p:cBhvr>
                                    </p:animEffect>
                                  </p:childTnLst>
                                </p:cTn>
                              </p:par>
                              <p:par>
                                <p:cTn id="11" presetID="10" presetClass="entr" presetSubtype="0" fill="hold" nodeType="withEffect">
                                  <p:stCondLst>
                                    <p:cond delay="0"/>
                                  </p:stCondLst>
                                  <p:childTnLst>
                                    <p:set>
                                      <p:cBhvr>
                                        <p:cTn id="12" dur="1" fill="hold">
                                          <p:stCondLst>
                                            <p:cond delay="0"/>
                                          </p:stCondLst>
                                        </p:cTn>
                                        <p:tgtEl>
                                          <p:spTgt spid="625"/>
                                        </p:tgtEl>
                                        <p:attrNameLst>
                                          <p:attrName>style.visibility</p:attrName>
                                        </p:attrNameLst>
                                      </p:cBhvr>
                                      <p:to>
                                        <p:strVal val="visible"/>
                                      </p:to>
                                    </p:set>
                                    <p:animEffect transition="in" filter="fade">
                                      <p:cBhvr>
                                        <p:cTn id="13" dur="1000"/>
                                        <p:tgtEl>
                                          <p:spTgt spid="625"/>
                                        </p:tgtEl>
                                      </p:cBhvr>
                                    </p:animEffect>
                                  </p:childTnLst>
                                </p:cTn>
                              </p:par>
                              <p:par>
                                <p:cTn id="14" presetID="10" presetClass="entr" presetSubtype="0" fill="hold" nodeType="withEffect">
                                  <p:stCondLst>
                                    <p:cond delay="0"/>
                                  </p:stCondLst>
                                  <p:childTnLst>
                                    <p:set>
                                      <p:cBhvr>
                                        <p:cTn id="15" dur="1" fill="hold">
                                          <p:stCondLst>
                                            <p:cond delay="0"/>
                                          </p:stCondLst>
                                        </p:cTn>
                                        <p:tgtEl>
                                          <p:spTgt spid="626"/>
                                        </p:tgtEl>
                                        <p:attrNameLst>
                                          <p:attrName>style.visibility</p:attrName>
                                        </p:attrNameLst>
                                      </p:cBhvr>
                                      <p:to>
                                        <p:strVal val="visible"/>
                                      </p:to>
                                    </p:set>
                                    <p:animEffect transition="in" filter="fade">
                                      <p:cBhvr>
                                        <p:cTn id="16" dur="1000"/>
                                        <p:tgtEl>
                                          <p:spTgt spid="626"/>
                                        </p:tgtEl>
                                      </p:cBhvr>
                                    </p:animEffect>
                                  </p:childTnLst>
                                </p:cTn>
                              </p:par>
                              <p:par>
                                <p:cTn id="17" presetID="10" presetClass="entr" presetSubtype="0" fill="hold" nodeType="withEffect">
                                  <p:stCondLst>
                                    <p:cond delay="0"/>
                                  </p:stCondLst>
                                  <p:childTnLst>
                                    <p:set>
                                      <p:cBhvr>
                                        <p:cTn id="18" dur="1" fill="hold">
                                          <p:stCondLst>
                                            <p:cond delay="0"/>
                                          </p:stCondLst>
                                        </p:cTn>
                                        <p:tgtEl>
                                          <p:spTgt spid="627"/>
                                        </p:tgtEl>
                                        <p:attrNameLst>
                                          <p:attrName>style.visibility</p:attrName>
                                        </p:attrNameLst>
                                      </p:cBhvr>
                                      <p:to>
                                        <p:strVal val="visible"/>
                                      </p:to>
                                    </p:set>
                                    <p:animEffect transition="in" filter="fade">
                                      <p:cBhvr>
                                        <p:cTn id="19" dur="1000"/>
                                        <p:tgtEl>
                                          <p:spTgt spid="627"/>
                                        </p:tgtEl>
                                      </p:cBhvr>
                                    </p:animEffect>
                                  </p:childTnLst>
                                </p:cTn>
                              </p:par>
                              <p:par>
                                <p:cTn id="20" presetID="10" presetClass="entr" presetSubtype="0" fill="hold" nodeType="withEffect">
                                  <p:stCondLst>
                                    <p:cond delay="0"/>
                                  </p:stCondLst>
                                  <p:childTnLst>
                                    <p:set>
                                      <p:cBhvr>
                                        <p:cTn id="21" dur="1" fill="hold">
                                          <p:stCondLst>
                                            <p:cond delay="0"/>
                                          </p:stCondLst>
                                        </p:cTn>
                                        <p:tgtEl>
                                          <p:spTgt spid="628"/>
                                        </p:tgtEl>
                                        <p:attrNameLst>
                                          <p:attrName>style.visibility</p:attrName>
                                        </p:attrNameLst>
                                      </p:cBhvr>
                                      <p:to>
                                        <p:strVal val="visible"/>
                                      </p:to>
                                    </p:set>
                                    <p:animEffect transition="in" filter="fade">
                                      <p:cBhvr>
                                        <p:cTn id="22" dur="1000"/>
                                        <p:tgtEl>
                                          <p:spTgt spid="628"/>
                                        </p:tgtEl>
                                      </p:cBhvr>
                                    </p:animEffect>
                                  </p:childTnLst>
                                </p:cTn>
                              </p:par>
                              <p:par>
                                <p:cTn id="23" presetID="10" presetClass="entr" presetSubtype="0" fill="hold" nodeType="withEffect">
                                  <p:stCondLst>
                                    <p:cond delay="0"/>
                                  </p:stCondLst>
                                  <p:childTnLst>
                                    <p:set>
                                      <p:cBhvr>
                                        <p:cTn id="24" dur="1" fill="hold">
                                          <p:stCondLst>
                                            <p:cond delay="0"/>
                                          </p:stCondLst>
                                        </p:cTn>
                                        <p:tgtEl>
                                          <p:spTgt spid="629"/>
                                        </p:tgtEl>
                                        <p:attrNameLst>
                                          <p:attrName>style.visibility</p:attrName>
                                        </p:attrNameLst>
                                      </p:cBhvr>
                                      <p:to>
                                        <p:strVal val="visible"/>
                                      </p:to>
                                    </p:set>
                                    <p:animEffect transition="in" filter="fade">
                                      <p:cBhvr>
                                        <p:cTn id="25" dur="1000"/>
                                        <p:tgtEl>
                                          <p:spTgt spid="629"/>
                                        </p:tgtEl>
                                      </p:cBhvr>
                                    </p:animEffect>
                                  </p:childTnLst>
                                </p:cTn>
                              </p:par>
                              <p:par>
                                <p:cTn id="26" presetID="10" presetClass="entr" presetSubtype="0" fill="hold" nodeType="withEffect">
                                  <p:stCondLst>
                                    <p:cond delay="0"/>
                                  </p:stCondLst>
                                  <p:childTnLst>
                                    <p:set>
                                      <p:cBhvr>
                                        <p:cTn id="27" dur="1" fill="hold">
                                          <p:stCondLst>
                                            <p:cond delay="0"/>
                                          </p:stCondLst>
                                        </p:cTn>
                                        <p:tgtEl>
                                          <p:spTgt spid="630"/>
                                        </p:tgtEl>
                                        <p:attrNameLst>
                                          <p:attrName>style.visibility</p:attrName>
                                        </p:attrNameLst>
                                      </p:cBhvr>
                                      <p:to>
                                        <p:strVal val="visible"/>
                                      </p:to>
                                    </p:set>
                                    <p:animEffect transition="in" filter="fade">
                                      <p:cBhvr>
                                        <p:cTn id="28" dur="1000"/>
                                        <p:tgtEl>
                                          <p:spTgt spid="630"/>
                                        </p:tgtEl>
                                      </p:cBhvr>
                                    </p:animEffect>
                                  </p:childTnLst>
                                </p:cTn>
                              </p:par>
                              <p:par>
                                <p:cTn id="29" presetID="10" presetClass="entr" presetSubtype="0" fill="hold" nodeType="withEffect">
                                  <p:stCondLst>
                                    <p:cond delay="0"/>
                                  </p:stCondLst>
                                  <p:childTnLst>
                                    <p:set>
                                      <p:cBhvr>
                                        <p:cTn id="30" dur="1" fill="hold">
                                          <p:stCondLst>
                                            <p:cond delay="0"/>
                                          </p:stCondLst>
                                        </p:cTn>
                                        <p:tgtEl>
                                          <p:spTgt spid="631"/>
                                        </p:tgtEl>
                                        <p:attrNameLst>
                                          <p:attrName>style.visibility</p:attrName>
                                        </p:attrNameLst>
                                      </p:cBhvr>
                                      <p:to>
                                        <p:strVal val="visible"/>
                                      </p:to>
                                    </p:set>
                                    <p:animEffect transition="in" filter="fade">
                                      <p:cBhvr>
                                        <p:cTn id="31" dur="1000"/>
                                        <p:tgtEl>
                                          <p:spTgt spid="631"/>
                                        </p:tgtEl>
                                      </p:cBhvr>
                                    </p:animEffect>
                                  </p:childTnLst>
                                </p:cTn>
                              </p:par>
                              <p:par>
                                <p:cTn id="32" presetID="10" presetClass="entr" presetSubtype="0" fill="hold" nodeType="withEffect">
                                  <p:stCondLst>
                                    <p:cond delay="0"/>
                                  </p:stCondLst>
                                  <p:childTnLst>
                                    <p:set>
                                      <p:cBhvr>
                                        <p:cTn id="33" dur="1" fill="hold">
                                          <p:stCondLst>
                                            <p:cond delay="0"/>
                                          </p:stCondLst>
                                        </p:cTn>
                                        <p:tgtEl>
                                          <p:spTgt spid="632"/>
                                        </p:tgtEl>
                                        <p:attrNameLst>
                                          <p:attrName>style.visibility</p:attrName>
                                        </p:attrNameLst>
                                      </p:cBhvr>
                                      <p:to>
                                        <p:strVal val="visible"/>
                                      </p:to>
                                    </p:set>
                                    <p:animEffect transition="in" filter="fade">
                                      <p:cBhvr>
                                        <p:cTn id="34" dur="1000"/>
                                        <p:tgtEl>
                                          <p:spTgt spid="632"/>
                                        </p:tgtEl>
                                      </p:cBhvr>
                                    </p:animEffect>
                                  </p:childTnLst>
                                </p:cTn>
                              </p:par>
                              <p:par>
                                <p:cTn id="35" presetID="10" presetClass="entr" presetSubtype="0" fill="hold" nodeType="withEffect">
                                  <p:stCondLst>
                                    <p:cond delay="0"/>
                                  </p:stCondLst>
                                  <p:childTnLst>
                                    <p:set>
                                      <p:cBhvr>
                                        <p:cTn id="36" dur="1" fill="hold">
                                          <p:stCondLst>
                                            <p:cond delay="0"/>
                                          </p:stCondLst>
                                        </p:cTn>
                                        <p:tgtEl>
                                          <p:spTgt spid="633"/>
                                        </p:tgtEl>
                                        <p:attrNameLst>
                                          <p:attrName>style.visibility</p:attrName>
                                        </p:attrNameLst>
                                      </p:cBhvr>
                                      <p:to>
                                        <p:strVal val="visible"/>
                                      </p:to>
                                    </p:set>
                                    <p:animEffect transition="in" filter="fade">
                                      <p:cBhvr>
                                        <p:cTn id="37" dur="1000"/>
                                        <p:tgtEl>
                                          <p:spTgt spid="633"/>
                                        </p:tgtEl>
                                      </p:cBhvr>
                                    </p:animEffect>
                                  </p:childTnLst>
                                </p:cTn>
                              </p:par>
                              <p:par>
                                <p:cTn id="38" presetID="10" presetClass="entr" presetSubtype="0" fill="hold" nodeType="withEffect">
                                  <p:stCondLst>
                                    <p:cond delay="0"/>
                                  </p:stCondLst>
                                  <p:childTnLst>
                                    <p:set>
                                      <p:cBhvr>
                                        <p:cTn id="39" dur="1" fill="hold">
                                          <p:stCondLst>
                                            <p:cond delay="0"/>
                                          </p:stCondLst>
                                        </p:cTn>
                                        <p:tgtEl>
                                          <p:spTgt spid="634"/>
                                        </p:tgtEl>
                                        <p:attrNameLst>
                                          <p:attrName>style.visibility</p:attrName>
                                        </p:attrNameLst>
                                      </p:cBhvr>
                                      <p:to>
                                        <p:strVal val="visible"/>
                                      </p:to>
                                    </p:set>
                                    <p:animEffect transition="in" filter="fade">
                                      <p:cBhvr>
                                        <p:cTn id="40" dur="1000"/>
                                        <p:tgtEl>
                                          <p:spTgt spid="634"/>
                                        </p:tgtEl>
                                      </p:cBhvr>
                                    </p:animEffect>
                                  </p:childTnLst>
                                </p:cTn>
                              </p:par>
                              <p:par>
                                <p:cTn id="41" presetID="10" presetClass="entr" presetSubtype="0" fill="hold" nodeType="with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AFD83-2E8E-677E-40DF-F68BFC014E2A}"/>
              </a:ext>
            </a:extLst>
          </p:cNvPr>
          <p:cNvSpPr>
            <a:spLocks noGrp="1"/>
          </p:cNvSpPr>
          <p:nvPr>
            <p:ph type="title"/>
          </p:nvPr>
        </p:nvSpPr>
        <p:spPr>
          <a:xfrm>
            <a:off x="0" y="156086"/>
            <a:ext cx="8927869" cy="572700"/>
          </a:xfrm>
        </p:spPr>
        <p:txBody>
          <a:bodyPr>
            <a:normAutofit fontScale="90000"/>
          </a:bodyPr>
          <a:lstStyle/>
          <a:p>
            <a:pPr algn="ctr"/>
            <a:r>
              <a:rPr lang="en-US" dirty="0"/>
              <a:t>Value of positive samples to assess detection and sensibility</a:t>
            </a:r>
          </a:p>
        </p:txBody>
      </p:sp>
      <p:sp>
        <p:nvSpPr>
          <p:cNvPr id="4" name="TextBox 3">
            <a:extLst>
              <a:ext uri="{FF2B5EF4-FFF2-40B4-BE49-F238E27FC236}">
                <a16:creationId xmlns:a16="http://schemas.microsoft.com/office/drawing/2014/main" id="{6EE204CD-6084-83AA-DB76-382C52C5026C}"/>
              </a:ext>
            </a:extLst>
          </p:cNvPr>
          <p:cNvSpPr txBox="1"/>
          <p:nvPr/>
        </p:nvSpPr>
        <p:spPr>
          <a:xfrm>
            <a:off x="5278581" y="1419830"/>
            <a:ext cx="3757353" cy="2462213"/>
          </a:xfrm>
          <a:prstGeom prst="rect">
            <a:avLst/>
          </a:prstGeom>
          <a:noFill/>
        </p:spPr>
        <p:txBody>
          <a:bodyPr wrap="square" rtlCol="0">
            <a:spAutoFit/>
          </a:bodyPr>
          <a:lstStyle/>
          <a:p>
            <a:r>
              <a:rPr lang="en-US" dirty="0"/>
              <a:t>What if you don’t find a pathogen?</a:t>
            </a:r>
          </a:p>
          <a:p>
            <a:endParaRPr lang="en-US" dirty="0"/>
          </a:p>
          <a:p>
            <a:r>
              <a:rPr lang="en-US" dirty="0"/>
              <a:t>Did the experiment fail?</a:t>
            </a:r>
          </a:p>
          <a:p>
            <a:endParaRPr lang="en-US" dirty="0"/>
          </a:p>
          <a:p>
            <a:r>
              <a:rPr lang="en-US" dirty="0"/>
              <a:t>Positive controls are the answer, and a range of pathogen types and abundances will give you a sense of sensibility</a:t>
            </a:r>
          </a:p>
          <a:p>
            <a:endParaRPr lang="en-US" dirty="0"/>
          </a:p>
          <a:p>
            <a:r>
              <a:rPr lang="en-US" dirty="0"/>
              <a:t>Ideally the detection method used is dependent on the presence of nucleic acids (qPCR, etc.) </a:t>
            </a:r>
          </a:p>
        </p:txBody>
      </p:sp>
      <p:pic>
        <p:nvPicPr>
          <p:cNvPr id="6" name="Picture 5">
            <a:extLst>
              <a:ext uri="{FF2B5EF4-FFF2-40B4-BE49-F238E27FC236}">
                <a16:creationId xmlns:a16="http://schemas.microsoft.com/office/drawing/2014/main" id="{422E6836-DE35-B84F-86A6-F5A5DD384350}"/>
              </a:ext>
            </a:extLst>
          </p:cNvPr>
          <p:cNvPicPr>
            <a:picLocks noChangeAspect="1"/>
          </p:cNvPicPr>
          <p:nvPr/>
        </p:nvPicPr>
        <p:blipFill>
          <a:blip r:embed="rId2"/>
          <a:srcRect l="2750" t="10114" r="-259" b="4180"/>
          <a:stretch>
            <a:fillRect/>
          </a:stretch>
        </p:blipFill>
        <p:spPr>
          <a:xfrm>
            <a:off x="324197" y="1596042"/>
            <a:ext cx="4742601" cy="2346051"/>
          </a:xfrm>
          <a:prstGeom prst="rect">
            <a:avLst/>
          </a:prstGeom>
        </p:spPr>
      </p:pic>
    </p:spTree>
    <p:extLst>
      <p:ext uri="{BB962C8B-B14F-4D97-AF65-F5344CB8AC3E}">
        <p14:creationId xmlns:p14="http://schemas.microsoft.com/office/powerpoint/2010/main" val="3432141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0D177F9-7D97-26B5-F305-791CC56A072A}"/>
              </a:ext>
            </a:extLst>
          </p:cNvPr>
          <p:cNvSpPr txBox="1">
            <a:spLocks/>
          </p:cNvSpPr>
          <p:nvPr/>
        </p:nvSpPr>
        <p:spPr>
          <a:xfrm>
            <a:off x="216131" y="288275"/>
            <a:ext cx="824622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Calibri"/>
              <a:buNone/>
              <a:defRPr sz="28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sz="2400" dirty="0"/>
              <a:t>Value of negative samples to assess cross contamination, microbiological landscape and background signal</a:t>
            </a:r>
          </a:p>
        </p:txBody>
      </p:sp>
      <p:sp>
        <p:nvSpPr>
          <p:cNvPr id="3" name="TextBox 2">
            <a:extLst>
              <a:ext uri="{FF2B5EF4-FFF2-40B4-BE49-F238E27FC236}">
                <a16:creationId xmlns:a16="http://schemas.microsoft.com/office/drawing/2014/main" id="{DEEDC8D0-1A3F-E289-C6DB-1E901F3AC522}"/>
              </a:ext>
            </a:extLst>
          </p:cNvPr>
          <p:cNvSpPr txBox="1"/>
          <p:nvPr/>
        </p:nvSpPr>
        <p:spPr>
          <a:xfrm>
            <a:off x="530125" y="4157274"/>
            <a:ext cx="8306304" cy="461665"/>
          </a:xfrm>
          <a:prstGeom prst="rect">
            <a:avLst/>
          </a:prstGeom>
          <a:noFill/>
        </p:spPr>
        <p:txBody>
          <a:bodyPr wrap="square" rtlCol="0">
            <a:spAutoFit/>
          </a:bodyPr>
          <a:lstStyle/>
          <a:p>
            <a:pPr marL="171450" indent="-171450">
              <a:buFont typeface="Arial" panose="020B0604020202020204" pitchFamily="34" charset="0"/>
              <a:buChar char="•"/>
            </a:pPr>
            <a:r>
              <a:rPr lang="en-US" sz="1200" dirty="0"/>
              <a:t>Samples from ”healthy individuals” help distinguishing background microbiota from true disease-causing agents</a:t>
            </a:r>
          </a:p>
          <a:p>
            <a:pPr marL="171450" indent="-171450">
              <a:buFont typeface="Arial" panose="020B0604020202020204" pitchFamily="34" charset="0"/>
              <a:buChar char="•"/>
            </a:pPr>
            <a:r>
              <a:rPr lang="en-US" sz="1200" dirty="0"/>
              <a:t> However association alone does not establish causation</a:t>
            </a:r>
          </a:p>
        </p:txBody>
      </p:sp>
      <p:pic>
        <p:nvPicPr>
          <p:cNvPr id="6" name="Picture 5">
            <a:extLst>
              <a:ext uri="{FF2B5EF4-FFF2-40B4-BE49-F238E27FC236}">
                <a16:creationId xmlns:a16="http://schemas.microsoft.com/office/drawing/2014/main" id="{05DB5D16-2C39-254C-5D46-9063BC44678C}"/>
              </a:ext>
            </a:extLst>
          </p:cNvPr>
          <p:cNvPicPr>
            <a:picLocks noChangeAspect="1"/>
          </p:cNvPicPr>
          <p:nvPr/>
        </p:nvPicPr>
        <p:blipFill>
          <a:blip r:embed="rId2"/>
          <a:srcRect l="7112" t="9753" r="12032" b="43437"/>
          <a:stretch>
            <a:fillRect/>
          </a:stretch>
        </p:blipFill>
        <p:spPr>
          <a:xfrm>
            <a:off x="1770612" y="1888850"/>
            <a:ext cx="5187142" cy="1690059"/>
          </a:xfrm>
          <a:prstGeom prst="rect">
            <a:avLst/>
          </a:prstGeom>
        </p:spPr>
      </p:pic>
    </p:spTree>
    <p:extLst>
      <p:ext uri="{BB962C8B-B14F-4D97-AF65-F5344CB8AC3E}">
        <p14:creationId xmlns:p14="http://schemas.microsoft.com/office/powerpoint/2010/main" val="3035084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CECAA-E893-E6E7-5EF6-C833B2B3AA73}"/>
              </a:ext>
            </a:extLst>
          </p:cNvPr>
          <p:cNvSpPr>
            <a:spLocks noGrp="1"/>
          </p:cNvSpPr>
          <p:nvPr>
            <p:ph type="title"/>
          </p:nvPr>
        </p:nvSpPr>
        <p:spPr/>
        <p:txBody>
          <a:bodyPr>
            <a:normAutofit fontScale="90000"/>
          </a:bodyPr>
          <a:lstStyle/>
          <a:p>
            <a:pPr algn="ctr"/>
            <a:r>
              <a:rPr lang="en-US" dirty="0"/>
              <a:t>Sample selection for sequencing</a:t>
            </a:r>
          </a:p>
        </p:txBody>
      </p:sp>
      <p:sp>
        <p:nvSpPr>
          <p:cNvPr id="3" name="Text Placeholder 2">
            <a:extLst>
              <a:ext uri="{FF2B5EF4-FFF2-40B4-BE49-F238E27FC236}">
                <a16:creationId xmlns:a16="http://schemas.microsoft.com/office/drawing/2014/main" id="{CDC5F796-144D-9F6B-5FAE-D50B595FCDD4}"/>
              </a:ext>
            </a:extLst>
          </p:cNvPr>
          <p:cNvSpPr>
            <a:spLocks noGrp="1"/>
          </p:cNvSpPr>
          <p:nvPr>
            <p:ph type="body" idx="1"/>
          </p:nvPr>
        </p:nvSpPr>
        <p:spPr>
          <a:xfrm>
            <a:off x="311700" y="1152475"/>
            <a:ext cx="5163125" cy="3416400"/>
          </a:xfrm>
        </p:spPr>
        <p:txBody>
          <a:bodyPr/>
          <a:lstStyle/>
          <a:p>
            <a:pPr marL="114300" indent="0">
              <a:buNone/>
            </a:pPr>
            <a:r>
              <a:rPr lang="en-US" dirty="0"/>
              <a:t>When studies are retrospective consider prioritizing samples that:</a:t>
            </a:r>
          </a:p>
          <a:p>
            <a:pPr marL="114300" indent="0">
              <a:buNone/>
            </a:pPr>
            <a:endParaRPr lang="en-US" dirty="0"/>
          </a:p>
          <a:p>
            <a:r>
              <a:rPr lang="en-US" dirty="0"/>
              <a:t>Were collected during the acute phase of symptom onset</a:t>
            </a:r>
          </a:p>
          <a:p>
            <a:r>
              <a:rPr lang="en-US" dirty="0"/>
              <a:t>Presented severe and/or various symptoms</a:t>
            </a:r>
          </a:p>
          <a:p>
            <a:r>
              <a:rPr lang="en-US" dirty="0"/>
              <a:t>Had evidence for infectious etiology</a:t>
            </a:r>
          </a:p>
          <a:p>
            <a:r>
              <a:rPr lang="en-US" dirty="0"/>
              <a:t>Were well preserved</a:t>
            </a:r>
          </a:p>
          <a:p>
            <a:r>
              <a:rPr lang="en-US" dirty="0"/>
              <a:t>Have ample metadata</a:t>
            </a:r>
          </a:p>
          <a:p>
            <a:r>
              <a:rPr lang="en-US" dirty="0"/>
              <a:t>Prioritize positive controls tested with NA</a:t>
            </a:r>
          </a:p>
          <a:p>
            <a:pPr marL="114300" indent="0">
              <a:buNone/>
            </a:pPr>
            <a:endParaRPr lang="en-US" dirty="0"/>
          </a:p>
        </p:txBody>
      </p:sp>
      <p:pic>
        <p:nvPicPr>
          <p:cNvPr id="5" name="Picture 4">
            <a:extLst>
              <a:ext uri="{FF2B5EF4-FFF2-40B4-BE49-F238E27FC236}">
                <a16:creationId xmlns:a16="http://schemas.microsoft.com/office/drawing/2014/main" id="{21F529AA-4013-376B-BF5D-9941F57A5334}"/>
              </a:ext>
            </a:extLst>
          </p:cNvPr>
          <p:cNvPicPr>
            <a:picLocks noChangeAspect="1"/>
          </p:cNvPicPr>
          <p:nvPr/>
        </p:nvPicPr>
        <p:blipFill>
          <a:blip r:embed="rId2"/>
          <a:stretch>
            <a:fillRect/>
          </a:stretch>
        </p:blipFill>
        <p:spPr>
          <a:xfrm>
            <a:off x="5474825" y="1478585"/>
            <a:ext cx="3306339" cy="2262529"/>
          </a:xfrm>
          <a:prstGeom prst="rect">
            <a:avLst/>
          </a:prstGeom>
        </p:spPr>
      </p:pic>
      <p:sp>
        <p:nvSpPr>
          <p:cNvPr id="7" name="TextBox 6">
            <a:extLst>
              <a:ext uri="{FF2B5EF4-FFF2-40B4-BE49-F238E27FC236}">
                <a16:creationId xmlns:a16="http://schemas.microsoft.com/office/drawing/2014/main" id="{B85F4C35-CE55-1F2B-386D-9CFC39F6388F}"/>
              </a:ext>
            </a:extLst>
          </p:cNvPr>
          <p:cNvSpPr txBox="1"/>
          <p:nvPr/>
        </p:nvSpPr>
        <p:spPr>
          <a:xfrm>
            <a:off x="7141580" y="3831828"/>
            <a:ext cx="1639584" cy="215444"/>
          </a:xfrm>
          <a:prstGeom prst="rect">
            <a:avLst/>
          </a:prstGeom>
          <a:noFill/>
        </p:spPr>
        <p:txBody>
          <a:bodyPr wrap="square">
            <a:spAutoFit/>
          </a:bodyPr>
          <a:lstStyle/>
          <a:p>
            <a:pPr marR="0" lvl="0" algn="l"/>
            <a:r>
              <a:rPr lang="en-US" sz="800" b="0" i="0" u="sng" dirty="0">
                <a:solidFill>
                  <a:schemeClr val="tx1"/>
                </a:solidFill>
                <a:effectLst/>
                <a:latin typeface="Inter Var"/>
              </a:rPr>
              <a:t> DOI:</a:t>
            </a:r>
            <a:r>
              <a:rPr lang="en-US" sz="800" b="0" i="0" u="sng" dirty="0">
                <a:solidFill>
                  <a:schemeClr val="tx1"/>
                </a:solidFill>
                <a:effectLst/>
                <a:latin typeface="inherit"/>
                <a:hlinkClick r:id="rId3">
                  <a:extLst>
                    <a:ext uri="{A12FA001-AC4F-418D-AE19-62706E023703}">
                      <ahyp:hlinkClr xmlns:ahyp="http://schemas.microsoft.com/office/drawing/2018/hyperlinkcolor" val="tx"/>
                    </a:ext>
                  </a:extLst>
                </a:hlinkClick>
              </a:rPr>
              <a:t>10.5772/intechopen.1006372</a:t>
            </a:r>
            <a:endParaRPr lang="en-US" sz="800" b="0" i="0" u="sng" dirty="0">
              <a:solidFill>
                <a:schemeClr val="tx1"/>
              </a:solidFill>
              <a:effectLst/>
              <a:latin typeface="Inter Var"/>
            </a:endParaRPr>
          </a:p>
        </p:txBody>
      </p:sp>
      <p:pic>
        <p:nvPicPr>
          <p:cNvPr id="4" name="Google Shape;588;p88">
            <a:extLst>
              <a:ext uri="{FF2B5EF4-FFF2-40B4-BE49-F238E27FC236}">
                <a16:creationId xmlns:a16="http://schemas.microsoft.com/office/drawing/2014/main" id="{03927270-62BC-4846-A383-D5F0E9B81AF5}"/>
              </a:ext>
            </a:extLst>
          </p:cNvPr>
          <p:cNvPicPr preferRelativeResize="0"/>
          <p:nvPr/>
        </p:nvPicPr>
        <p:blipFill rotWithShape="1">
          <a:blip r:embed="rId4">
            <a:alphaModFix/>
          </a:blip>
          <a:srcRect l="13069" t="15507" r="15081" b="13226"/>
          <a:stretch/>
        </p:blipFill>
        <p:spPr>
          <a:xfrm>
            <a:off x="883155" y="398674"/>
            <a:ext cx="563950" cy="665401"/>
          </a:xfrm>
          <a:prstGeom prst="rect">
            <a:avLst/>
          </a:prstGeom>
          <a:noFill/>
          <a:ln>
            <a:noFill/>
          </a:ln>
        </p:spPr>
      </p:pic>
    </p:spTree>
    <p:extLst>
      <p:ext uri="{BB962C8B-B14F-4D97-AF65-F5344CB8AC3E}">
        <p14:creationId xmlns:p14="http://schemas.microsoft.com/office/powerpoint/2010/main" val="59527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latin typeface="Roboto"/>
                <a:ea typeface="Roboto"/>
                <a:cs typeface="Roboto"/>
                <a:sym typeface="Roboto"/>
              </a:rPr>
              <a:t>Understanding the sensitivity/specificity of mNGS </a:t>
            </a:r>
            <a:endParaRPr>
              <a:latin typeface="Roboto"/>
              <a:ea typeface="Roboto"/>
              <a:cs typeface="Roboto"/>
              <a:sym typeface="Roboto"/>
            </a:endParaRPr>
          </a:p>
        </p:txBody>
      </p:sp>
      <p:sp>
        <p:nvSpPr>
          <p:cNvPr id="447" name="Google Shape;447;p22"/>
          <p:cNvSpPr txBox="1">
            <a:spLocks noGrp="1"/>
          </p:cNvSpPr>
          <p:nvPr>
            <p:ph type="body" idx="1"/>
          </p:nvPr>
        </p:nvSpPr>
        <p:spPr>
          <a:xfrm>
            <a:off x="311700" y="1152475"/>
            <a:ext cx="8520600" cy="1848000"/>
          </a:xfrm>
          <a:prstGeom prst="rect">
            <a:avLst/>
          </a:prstGeom>
          <a:noFill/>
          <a:ln>
            <a:noFill/>
          </a:ln>
        </p:spPr>
        <p:txBody>
          <a:bodyPr spcFirstLastPara="1" wrap="square" lIns="91425" tIns="91425" rIns="91425" bIns="91425" anchor="t" anchorCtr="0">
            <a:normAutofit lnSpcReduction="10000"/>
          </a:bodyPr>
          <a:lstStyle/>
          <a:p>
            <a:pPr marL="457200" lvl="0" indent="-342900" algn="l" rtl="0">
              <a:lnSpc>
                <a:spcPct val="150000"/>
              </a:lnSpc>
              <a:spcBef>
                <a:spcPts val="0"/>
              </a:spcBef>
              <a:spcAft>
                <a:spcPts val="0"/>
              </a:spcAft>
              <a:buSzPts val="1800"/>
              <a:buFont typeface="Roboto"/>
              <a:buChar char="●"/>
            </a:pPr>
            <a:r>
              <a:rPr lang="en" dirty="0">
                <a:latin typeface="Roboto"/>
                <a:ea typeface="Roboto"/>
                <a:cs typeface="Roboto"/>
                <a:sym typeface="Roboto"/>
              </a:rPr>
              <a:t>Sensitivity and specificity depend on:</a:t>
            </a:r>
            <a:endParaRPr dirty="0">
              <a:latin typeface="Roboto"/>
              <a:ea typeface="Roboto"/>
              <a:cs typeface="Roboto"/>
              <a:sym typeface="Roboto"/>
            </a:endParaRPr>
          </a:p>
          <a:p>
            <a:pPr marL="914400" lvl="1" indent="-317500" algn="l" rtl="0">
              <a:lnSpc>
                <a:spcPct val="150000"/>
              </a:lnSpc>
              <a:spcBef>
                <a:spcPts val="0"/>
              </a:spcBef>
              <a:spcAft>
                <a:spcPts val="0"/>
              </a:spcAft>
              <a:buSzPts val="1400"/>
              <a:buFont typeface="Roboto"/>
              <a:buChar char="○"/>
            </a:pPr>
            <a:r>
              <a:rPr lang="en" dirty="0">
                <a:latin typeface="Roboto"/>
                <a:ea typeface="Roboto"/>
                <a:cs typeface="Roboto"/>
                <a:sym typeface="Roboto"/>
              </a:rPr>
              <a:t>Amount and </a:t>
            </a:r>
            <a:r>
              <a:rPr lang="en" b="1" dirty="0">
                <a:latin typeface="Roboto"/>
                <a:ea typeface="Roboto"/>
                <a:cs typeface="Roboto"/>
                <a:sym typeface="Roboto"/>
              </a:rPr>
              <a:t>quality </a:t>
            </a:r>
            <a:r>
              <a:rPr lang="en" dirty="0">
                <a:latin typeface="Roboto"/>
                <a:ea typeface="Roboto"/>
                <a:cs typeface="Roboto"/>
                <a:sym typeface="Roboto"/>
              </a:rPr>
              <a:t>of sample input</a:t>
            </a:r>
            <a:endParaRPr dirty="0">
              <a:latin typeface="Roboto"/>
              <a:ea typeface="Roboto"/>
              <a:cs typeface="Roboto"/>
              <a:sym typeface="Roboto"/>
            </a:endParaRPr>
          </a:p>
          <a:p>
            <a:pPr marL="914400" lvl="1" indent="-317500" algn="l" rtl="0">
              <a:lnSpc>
                <a:spcPct val="150000"/>
              </a:lnSpc>
              <a:spcBef>
                <a:spcPts val="0"/>
              </a:spcBef>
              <a:spcAft>
                <a:spcPts val="0"/>
              </a:spcAft>
              <a:buSzPts val="1400"/>
              <a:buFont typeface="Roboto"/>
              <a:buChar char="○"/>
            </a:pPr>
            <a:r>
              <a:rPr lang="en" dirty="0">
                <a:latin typeface="Roboto"/>
                <a:ea typeface="Roboto"/>
                <a:cs typeface="Roboto"/>
                <a:sym typeface="Roboto"/>
              </a:rPr>
              <a:t>Efficiency of each step in </a:t>
            </a:r>
            <a:r>
              <a:rPr lang="en" dirty="0" err="1">
                <a:latin typeface="Roboto"/>
                <a:ea typeface="Roboto"/>
                <a:cs typeface="Roboto"/>
                <a:sym typeface="Roboto"/>
              </a:rPr>
              <a:t>mNGS</a:t>
            </a:r>
            <a:endParaRPr dirty="0">
              <a:latin typeface="Roboto"/>
              <a:ea typeface="Roboto"/>
              <a:cs typeface="Roboto"/>
              <a:sym typeface="Roboto"/>
            </a:endParaRPr>
          </a:p>
          <a:p>
            <a:pPr marL="914400" lvl="1" indent="-317500" algn="l" rtl="0">
              <a:lnSpc>
                <a:spcPct val="150000"/>
              </a:lnSpc>
              <a:spcBef>
                <a:spcPts val="0"/>
              </a:spcBef>
              <a:spcAft>
                <a:spcPts val="0"/>
              </a:spcAft>
              <a:buSzPts val="1400"/>
              <a:buFont typeface="Roboto"/>
              <a:buChar char="○"/>
            </a:pPr>
            <a:r>
              <a:rPr lang="en" dirty="0">
                <a:latin typeface="Roboto"/>
                <a:ea typeface="Roboto"/>
                <a:cs typeface="Roboto"/>
                <a:sym typeface="Roboto"/>
              </a:rPr>
              <a:t>Accuracy of “base calling” during sequencing</a:t>
            </a:r>
            <a:endParaRPr dirty="0">
              <a:latin typeface="Roboto"/>
              <a:ea typeface="Roboto"/>
              <a:cs typeface="Roboto"/>
              <a:sym typeface="Roboto"/>
            </a:endParaRPr>
          </a:p>
          <a:p>
            <a:pPr marL="914400" lvl="1" indent="-317500" algn="l" rtl="0">
              <a:lnSpc>
                <a:spcPct val="150000"/>
              </a:lnSpc>
              <a:spcBef>
                <a:spcPts val="0"/>
              </a:spcBef>
              <a:spcAft>
                <a:spcPts val="0"/>
              </a:spcAft>
              <a:buSzPts val="1400"/>
              <a:buFont typeface="Roboto"/>
              <a:buChar char="○"/>
            </a:pPr>
            <a:r>
              <a:rPr lang="en" dirty="0">
                <a:latin typeface="Roboto"/>
                <a:ea typeface="Roboto"/>
                <a:cs typeface="Roboto"/>
                <a:sym typeface="Roboto"/>
              </a:rPr>
              <a:t>Quality of genome database</a:t>
            </a:r>
            <a:endParaRPr dirty="0">
              <a:latin typeface="Roboto"/>
              <a:ea typeface="Roboto"/>
              <a:cs typeface="Roboto"/>
              <a:sym typeface="Roboto"/>
            </a:endParaRPr>
          </a:p>
        </p:txBody>
      </p:sp>
      <p:grpSp>
        <p:nvGrpSpPr>
          <p:cNvPr id="451" name="Google Shape;451;p22"/>
          <p:cNvGrpSpPr/>
          <p:nvPr/>
        </p:nvGrpSpPr>
        <p:grpSpPr>
          <a:xfrm>
            <a:off x="1980975" y="3494987"/>
            <a:ext cx="4577350" cy="621626"/>
            <a:chOff x="2013325" y="2092225"/>
            <a:chExt cx="4577350" cy="621626"/>
          </a:xfrm>
        </p:grpSpPr>
        <p:pic>
          <p:nvPicPr>
            <p:cNvPr id="452" name="Google Shape;452;p22"/>
            <p:cNvPicPr preferRelativeResize="0"/>
            <p:nvPr/>
          </p:nvPicPr>
          <p:blipFill rotWithShape="1">
            <a:blip r:embed="rId3">
              <a:alphaModFix/>
            </a:blip>
            <a:srcRect l="12305" r="32064" b="78188"/>
            <a:stretch/>
          </p:blipFill>
          <p:spPr>
            <a:xfrm>
              <a:off x="2013325" y="2092225"/>
              <a:ext cx="4577350" cy="621626"/>
            </a:xfrm>
            <a:prstGeom prst="rect">
              <a:avLst/>
            </a:prstGeom>
            <a:noFill/>
            <a:ln>
              <a:noFill/>
            </a:ln>
          </p:spPr>
        </p:pic>
        <p:pic>
          <p:nvPicPr>
            <p:cNvPr id="453" name="Google Shape;453;p22"/>
            <p:cNvPicPr preferRelativeResize="0"/>
            <p:nvPr/>
          </p:nvPicPr>
          <p:blipFill rotWithShape="1">
            <a:blip r:embed="rId3">
              <a:alphaModFix/>
            </a:blip>
            <a:srcRect l="80798" t="3642" r="6263" b="91937"/>
            <a:stretch/>
          </p:blipFill>
          <p:spPr>
            <a:xfrm>
              <a:off x="5315650" y="2212525"/>
              <a:ext cx="1064550" cy="125974"/>
            </a:xfrm>
            <a:prstGeom prst="rect">
              <a:avLst/>
            </a:prstGeom>
            <a:noFill/>
            <a:ln>
              <a:noFill/>
            </a:ln>
          </p:spPr>
        </p:pic>
      </p:grpSp>
      <p:sp>
        <p:nvSpPr>
          <p:cNvPr id="4" name="Left Brace 3">
            <a:extLst>
              <a:ext uri="{FF2B5EF4-FFF2-40B4-BE49-F238E27FC236}">
                <a16:creationId xmlns:a16="http://schemas.microsoft.com/office/drawing/2014/main" id="{21CA6A6B-C876-647A-2879-D69EEC4C4338}"/>
              </a:ext>
            </a:extLst>
          </p:cNvPr>
          <p:cNvSpPr/>
          <p:nvPr/>
        </p:nvSpPr>
        <p:spPr>
          <a:xfrm>
            <a:off x="1752032" y="3439608"/>
            <a:ext cx="334573" cy="904275"/>
          </a:xfrm>
          <a:prstGeom prst="leftBrace">
            <a:avLst>
              <a:gd name="adj1" fmla="val 0"/>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A9F4DAB1-7C16-E09E-8794-73C2E8A68321}"/>
              </a:ext>
            </a:extLst>
          </p:cNvPr>
          <p:cNvSpPr txBox="1"/>
          <p:nvPr/>
        </p:nvSpPr>
        <p:spPr>
          <a:xfrm>
            <a:off x="913151" y="3383915"/>
            <a:ext cx="1006168" cy="1015663"/>
          </a:xfrm>
          <a:prstGeom prst="rect">
            <a:avLst/>
          </a:prstGeom>
          <a:noFill/>
        </p:spPr>
        <p:txBody>
          <a:bodyPr wrap="square" rtlCol="0">
            <a:spAutoFit/>
          </a:bodyPr>
          <a:lstStyle/>
          <a:p>
            <a:r>
              <a:rPr lang="en-US" sz="1000" dirty="0"/>
              <a:t>Total input inferred from reads that mapped to the  ERCC in RNA libraries</a:t>
            </a:r>
          </a:p>
        </p:txBody>
      </p:sp>
      <p:sp>
        <p:nvSpPr>
          <p:cNvPr id="6" name="Right Arrow 5">
            <a:extLst>
              <a:ext uri="{FF2B5EF4-FFF2-40B4-BE49-F238E27FC236}">
                <a16:creationId xmlns:a16="http://schemas.microsoft.com/office/drawing/2014/main" id="{65BA65C4-AD2E-9F81-EB7E-FCF77E488E31}"/>
              </a:ext>
            </a:extLst>
          </p:cNvPr>
          <p:cNvSpPr/>
          <p:nvPr/>
        </p:nvSpPr>
        <p:spPr>
          <a:xfrm>
            <a:off x="6550012" y="3991025"/>
            <a:ext cx="673331" cy="125587"/>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83890B9-67AE-BCD7-913E-72545C2CE437}"/>
              </a:ext>
            </a:extLst>
          </p:cNvPr>
          <p:cNvSpPr txBox="1"/>
          <p:nvPr/>
        </p:nvSpPr>
        <p:spPr>
          <a:xfrm>
            <a:off x="7261333" y="3878761"/>
            <a:ext cx="957730" cy="553998"/>
          </a:xfrm>
          <a:prstGeom prst="rect">
            <a:avLst/>
          </a:prstGeom>
          <a:noFill/>
        </p:spPr>
        <p:txBody>
          <a:bodyPr wrap="square" rtlCol="0">
            <a:spAutoFit/>
          </a:bodyPr>
          <a:lstStyle/>
          <a:p>
            <a:r>
              <a:rPr lang="en-US" sz="1000" dirty="0"/>
              <a:t>Minimum input required for analysis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7"/>
          <p:cNvSpPr txBox="1">
            <a:spLocks noGrp="1"/>
          </p:cNvSpPr>
          <p:nvPr>
            <p:ph type="body" idx="1"/>
          </p:nvPr>
        </p:nvSpPr>
        <p:spPr>
          <a:xfrm>
            <a:off x="83100" y="923875"/>
            <a:ext cx="7242000" cy="1905600"/>
          </a:xfrm>
          <a:prstGeom prst="rect">
            <a:avLst/>
          </a:prstGeom>
        </p:spPr>
        <p:txBody>
          <a:bodyPr spcFirstLastPara="1" wrap="square" lIns="91425" tIns="91425" rIns="91425" bIns="91425" anchor="t" anchorCtr="0">
            <a:noAutofit/>
          </a:bodyPr>
          <a:lstStyle/>
          <a:p>
            <a:pPr marL="457200" lvl="0" indent="-336550" algn="l" rtl="0">
              <a:lnSpc>
                <a:spcPct val="150000"/>
              </a:lnSpc>
              <a:spcBef>
                <a:spcPts val="0"/>
              </a:spcBef>
              <a:spcAft>
                <a:spcPts val="0"/>
              </a:spcAft>
              <a:buClr>
                <a:schemeClr val="dk1"/>
              </a:buClr>
              <a:buSzPts val="1700"/>
              <a:buChar char="●"/>
            </a:pPr>
            <a:r>
              <a:rPr lang="en" sz="1700">
                <a:solidFill>
                  <a:schemeClr val="dk1"/>
                </a:solidFill>
              </a:rPr>
              <a:t>Sample collection:</a:t>
            </a:r>
            <a:endParaRPr sz="1700">
              <a:solidFill>
                <a:schemeClr val="dk1"/>
              </a:solidFill>
            </a:endParaRPr>
          </a:p>
          <a:p>
            <a:pPr marL="914400" lvl="1" indent="-311150" algn="l" rtl="0">
              <a:lnSpc>
                <a:spcPct val="150000"/>
              </a:lnSpc>
              <a:spcBef>
                <a:spcPts val="0"/>
              </a:spcBef>
              <a:spcAft>
                <a:spcPts val="0"/>
              </a:spcAft>
              <a:buClr>
                <a:schemeClr val="dk1"/>
              </a:buClr>
              <a:buSzPts val="1300"/>
              <a:buChar char="○"/>
            </a:pPr>
            <a:r>
              <a:rPr lang="en" sz="1300">
                <a:solidFill>
                  <a:schemeClr val="dk1"/>
                </a:solidFill>
              </a:rPr>
              <a:t>Collect in nucleic acid stabilizers to preserve sample quality</a:t>
            </a:r>
            <a:endParaRPr sz="1300">
              <a:solidFill>
                <a:schemeClr val="dk1"/>
              </a:solidFill>
            </a:endParaRPr>
          </a:p>
          <a:p>
            <a:pPr marL="1371600" lvl="2" indent="-311150" algn="l" rtl="0">
              <a:lnSpc>
                <a:spcPct val="150000"/>
              </a:lnSpc>
              <a:spcBef>
                <a:spcPts val="0"/>
              </a:spcBef>
              <a:spcAft>
                <a:spcPts val="0"/>
              </a:spcAft>
              <a:buClr>
                <a:schemeClr val="dk1"/>
              </a:buClr>
              <a:buSzPts val="1300"/>
              <a:buChar char="■"/>
            </a:pPr>
            <a:r>
              <a:rPr lang="en" sz="1300">
                <a:solidFill>
                  <a:schemeClr val="dk1"/>
                </a:solidFill>
              </a:rPr>
              <a:t>e.g. DNA/RNA Shield (Zymo), RNA</a:t>
            </a:r>
            <a:r>
              <a:rPr lang="en" sz="1300" i="1">
                <a:solidFill>
                  <a:schemeClr val="dk1"/>
                </a:solidFill>
              </a:rPr>
              <a:t>later</a:t>
            </a:r>
            <a:r>
              <a:rPr lang="en" sz="1300">
                <a:solidFill>
                  <a:schemeClr val="dk1"/>
                </a:solidFill>
              </a:rPr>
              <a:t> (Qiagen)</a:t>
            </a:r>
            <a:endParaRPr sz="1300">
              <a:solidFill>
                <a:schemeClr val="dk1"/>
              </a:solidFill>
            </a:endParaRPr>
          </a:p>
          <a:p>
            <a:pPr marL="914400" lvl="1" indent="-311150" algn="l" rtl="0">
              <a:lnSpc>
                <a:spcPct val="150000"/>
              </a:lnSpc>
              <a:spcBef>
                <a:spcPts val="0"/>
              </a:spcBef>
              <a:spcAft>
                <a:spcPts val="0"/>
              </a:spcAft>
              <a:buClr>
                <a:schemeClr val="dk1"/>
              </a:buClr>
              <a:buSzPts val="1300"/>
              <a:buChar char="○"/>
            </a:pPr>
            <a:r>
              <a:rPr lang="en" sz="1300">
                <a:solidFill>
                  <a:schemeClr val="dk1"/>
                </a:solidFill>
              </a:rPr>
              <a:t>Prepare your own collection kits with Shield (cheaper than buying pre-made kits)</a:t>
            </a:r>
            <a:endParaRPr sz="1300">
              <a:solidFill>
                <a:schemeClr val="dk1"/>
              </a:solidFill>
            </a:endParaRPr>
          </a:p>
          <a:p>
            <a:pPr marL="914400" lvl="1" indent="-311150" algn="l" rtl="0">
              <a:lnSpc>
                <a:spcPct val="150000"/>
              </a:lnSpc>
              <a:spcBef>
                <a:spcPts val="0"/>
              </a:spcBef>
              <a:spcAft>
                <a:spcPts val="0"/>
              </a:spcAft>
              <a:buClr>
                <a:schemeClr val="dk1"/>
              </a:buClr>
              <a:buSzPts val="1300"/>
              <a:buChar char="○"/>
            </a:pPr>
            <a:r>
              <a:rPr lang="en" sz="1300">
                <a:solidFill>
                  <a:schemeClr val="dk1"/>
                </a:solidFill>
              </a:rPr>
              <a:t>Collect samples as sterile as possible</a:t>
            </a:r>
            <a:endParaRPr sz="1300">
              <a:solidFill>
                <a:schemeClr val="dk1"/>
              </a:solidFill>
            </a:endParaRPr>
          </a:p>
          <a:p>
            <a:pPr marL="914400" lvl="1" indent="-311150" algn="l" rtl="0">
              <a:lnSpc>
                <a:spcPct val="150000"/>
              </a:lnSpc>
              <a:spcBef>
                <a:spcPts val="0"/>
              </a:spcBef>
              <a:spcAft>
                <a:spcPts val="0"/>
              </a:spcAft>
              <a:buClr>
                <a:schemeClr val="dk1"/>
              </a:buClr>
              <a:buSzPts val="1300"/>
              <a:buChar char="○"/>
            </a:pPr>
            <a:r>
              <a:rPr lang="en" sz="1300">
                <a:solidFill>
                  <a:schemeClr val="dk1"/>
                </a:solidFill>
              </a:rPr>
              <a:t>Collect “collection controls”: e.g. needle touch without aspiration, ...</a:t>
            </a:r>
            <a:endParaRPr sz="1300">
              <a:solidFill>
                <a:schemeClr val="dk1"/>
              </a:solidFill>
            </a:endParaRPr>
          </a:p>
        </p:txBody>
      </p:sp>
      <p:pic>
        <p:nvPicPr>
          <p:cNvPr id="296" name="Google Shape;296;p37"/>
          <p:cNvPicPr preferRelativeResize="0"/>
          <p:nvPr/>
        </p:nvPicPr>
        <p:blipFill rotWithShape="1">
          <a:blip r:embed="rId3">
            <a:alphaModFix/>
          </a:blip>
          <a:srcRect l="13069" t="15507" r="15081" b="13227"/>
          <a:stretch/>
        </p:blipFill>
        <p:spPr>
          <a:xfrm>
            <a:off x="243075" y="199975"/>
            <a:ext cx="563950" cy="665401"/>
          </a:xfrm>
          <a:prstGeom prst="rect">
            <a:avLst/>
          </a:prstGeom>
          <a:noFill/>
          <a:ln>
            <a:noFill/>
          </a:ln>
        </p:spPr>
      </p:pic>
      <p:sp>
        <p:nvSpPr>
          <p:cNvPr id="297" name="Google Shape;297;p37"/>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Sample preservation</a:t>
            </a:r>
            <a:endParaRPr dirty="0"/>
          </a:p>
        </p:txBody>
      </p:sp>
      <p:pic>
        <p:nvPicPr>
          <p:cNvPr id="298" name="Google Shape;298;p37"/>
          <p:cNvPicPr preferRelativeResize="0"/>
          <p:nvPr/>
        </p:nvPicPr>
        <p:blipFill>
          <a:blip r:embed="rId4">
            <a:alphaModFix/>
          </a:blip>
          <a:stretch>
            <a:fillRect/>
          </a:stretch>
        </p:blipFill>
        <p:spPr>
          <a:xfrm>
            <a:off x="7486663" y="1350475"/>
            <a:ext cx="1350850" cy="1721850"/>
          </a:xfrm>
          <a:prstGeom prst="rect">
            <a:avLst/>
          </a:prstGeom>
          <a:noFill/>
          <a:ln>
            <a:noFill/>
          </a:ln>
        </p:spPr>
      </p:pic>
      <p:sp>
        <p:nvSpPr>
          <p:cNvPr id="299" name="Google Shape;299;p37"/>
          <p:cNvSpPr txBox="1"/>
          <p:nvPr/>
        </p:nvSpPr>
        <p:spPr>
          <a:xfrm>
            <a:off x="6904825" y="3369400"/>
            <a:ext cx="2287800" cy="1433400"/>
          </a:xfrm>
          <a:prstGeom prst="rect">
            <a:avLst/>
          </a:prstGeom>
          <a:noFill/>
          <a:ln>
            <a:noFill/>
          </a:ln>
        </p:spPr>
        <p:txBody>
          <a:bodyPr spcFirstLastPara="1" wrap="square" lIns="91425" tIns="91425" rIns="91425" bIns="91425" anchor="t" anchorCtr="0">
            <a:noAutofit/>
          </a:bodyPr>
          <a:lstStyle/>
          <a:p>
            <a:pPr marL="400050" lvl="0" indent="-177800" algn="l" rtl="0">
              <a:lnSpc>
                <a:spcPct val="115000"/>
              </a:lnSpc>
              <a:spcBef>
                <a:spcPts val="0"/>
              </a:spcBef>
              <a:spcAft>
                <a:spcPts val="0"/>
              </a:spcAft>
              <a:buSzPts val="1000"/>
              <a:buChar char="●"/>
            </a:pPr>
            <a:r>
              <a:rPr lang="en" sz="1000"/>
              <a:t>Preserves RNA for 24 hrs at RT, indefinitely at -20</a:t>
            </a:r>
            <a:r>
              <a:rPr lang="en" sz="1000" baseline="30000"/>
              <a:t>o</a:t>
            </a:r>
            <a:r>
              <a:rPr lang="en" sz="1000"/>
              <a:t>C</a:t>
            </a:r>
            <a:endParaRPr sz="1000" baseline="30000"/>
          </a:p>
          <a:p>
            <a:pPr marL="400050" lvl="0" indent="-177800" algn="l" rtl="0">
              <a:lnSpc>
                <a:spcPct val="115000"/>
              </a:lnSpc>
              <a:spcBef>
                <a:spcPts val="0"/>
              </a:spcBef>
              <a:spcAft>
                <a:spcPts val="0"/>
              </a:spcAft>
              <a:buSzPts val="1000"/>
              <a:buChar char="●"/>
            </a:pPr>
            <a:r>
              <a:rPr lang="en" sz="1000"/>
              <a:t>Inactivates pathogens</a:t>
            </a:r>
            <a:endParaRPr sz="1000"/>
          </a:p>
          <a:p>
            <a:pPr marL="400050" lvl="0" indent="-177800" algn="l" rtl="0">
              <a:lnSpc>
                <a:spcPct val="115000"/>
              </a:lnSpc>
              <a:spcBef>
                <a:spcPts val="0"/>
              </a:spcBef>
              <a:spcAft>
                <a:spcPts val="0"/>
              </a:spcAft>
              <a:buSzPts val="1000"/>
              <a:buChar char="●"/>
            </a:pPr>
            <a:r>
              <a:rPr lang="en" sz="1000"/>
              <a:t>1x Solution for solids &amp; swabs</a:t>
            </a:r>
            <a:endParaRPr sz="1000"/>
          </a:p>
          <a:p>
            <a:pPr marL="400050" lvl="0" indent="-177800" algn="l" rtl="0">
              <a:lnSpc>
                <a:spcPct val="115000"/>
              </a:lnSpc>
              <a:spcBef>
                <a:spcPts val="0"/>
              </a:spcBef>
              <a:spcAft>
                <a:spcPts val="0"/>
              </a:spcAft>
              <a:buSzPts val="1000"/>
              <a:buChar char="●"/>
            </a:pPr>
            <a:r>
              <a:rPr lang="en" sz="1000"/>
              <a:t>2x Solution for liquids</a:t>
            </a:r>
            <a:endParaRPr sz="1000"/>
          </a:p>
          <a:p>
            <a:pPr marL="400050" lvl="0" indent="-177800" algn="l" rtl="0">
              <a:lnSpc>
                <a:spcPct val="115000"/>
              </a:lnSpc>
              <a:spcBef>
                <a:spcPts val="0"/>
              </a:spcBef>
              <a:spcAft>
                <a:spcPts val="0"/>
              </a:spcAft>
              <a:buSzPts val="1000"/>
              <a:buChar char="●"/>
            </a:pPr>
            <a:r>
              <a:rPr lang="en" sz="1000"/>
              <a:t>-&gt; Order 2x and dilute ½ for swabs if needed</a:t>
            </a:r>
            <a:endParaRPr sz="1000"/>
          </a:p>
        </p:txBody>
      </p:sp>
      <p:pic>
        <p:nvPicPr>
          <p:cNvPr id="300" name="Google Shape;300;p37"/>
          <p:cNvPicPr preferRelativeResize="0"/>
          <p:nvPr/>
        </p:nvPicPr>
        <p:blipFill>
          <a:blip r:embed="rId5">
            <a:alphaModFix/>
          </a:blip>
          <a:stretch>
            <a:fillRect/>
          </a:stretch>
        </p:blipFill>
        <p:spPr>
          <a:xfrm>
            <a:off x="939400" y="2856900"/>
            <a:ext cx="5429664" cy="1905600"/>
          </a:xfrm>
          <a:prstGeom prst="rect">
            <a:avLst/>
          </a:prstGeom>
          <a:noFill/>
          <a:ln>
            <a:noFill/>
          </a:ln>
        </p:spPr>
      </p:pic>
      <p:sp>
        <p:nvSpPr>
          <p:cNvPr id="301" name="Google Shape;301;p37"/>
          <p:cNvSpPr txBox="1"/>
          <p:nvPr/>
        </p:nvSpPr>
        <p:spPr>
          <a:xfrm>
            <a:off x="1170525" y="4624000"/>
            <a:ext cx="5024400" cy="85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t>In vitro transcribed RNA fragments preserve better in Shield than in Saline when stored at room temperature or at 4</a:t>
            </a:r>
            <a:r>
              <a:rPr lang="en" sz="1000" b="1" baseline="30000"/>
              <a:t>o</a:t>
            </a:r>
            <a:r>
              <a:rPr lang="en" sz="1000" b="1"/>
              <a:t>C, as assessed by qPCR.</a:t>
            </a:r>
            <a:endParaRPr sz="1000" b="1"/>
          </a:p>
        </p:txBody>
      </p:sp>
      <p:sp>
        <p:nvSpPr>
          <p:cNvPr id="302" name="Google Shape;302;p37"/>
          <p:cNvSpPr txBox="1"/>
          <p:nvPr/>
        </p:nvSpPr>
        <p:spPr>
          <a:xfrm>
            <a:off x="7362438" y="3072325"/>
            <a:ext cx="1599300" cy="51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DNA/RNA Shield</a:t>
            </a:r>
            <a:endParaRPr sz="13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8"/>
          <p:cNvSpPr txBox="1">
            <a:spLocks noGrp="1"/>
          </p:cNvSpPr>
          <p:nvPr>
            <p:ph type="body" idx="1"/>
          </p:nvPr>
        </p:nvSpPr>
        <p:spPr>
          <a:xfrm>
            <a:off x="83100" y="923875"/>
            <a:ext cx="4278900" cy="1875000"/>
          </a:xfrm>
          <a:prstGeom prst="rect">
            <a:avLst/>
          </a:prstGeom>
        </p:spPr>
        <p:txBody>
          <a:bodyPr spcFirstLastPara="1" wrap="square" lIns="91425" tIns="91425" rIns="91425" bIns="91425" anchor="t" anchorCtr="0">
            <a:noAutofit/>
          </a:bodyPr>
          <a:lstStyle/>
          <a:p>
            <a:pPr marL="457200" lvl="0" indent="-336550" algn="l" rtl="0">
              <a:lnSpc>
                <a:spcPct val="150000"/>
              </a:lnSpc>
              <a:spcBef>
                <a:spcPts val="0"/>
              </a:spcBef>
              <a:spcAft>
                <a:spcPts val="0"/>
              </a:spcAft>
              <a:buClr>
                <a:schemeClr val="dk1"/>
              </a:buClr>
              <a:buSzPts val="1700"/>
              <a:buChar char="●"/>
            </a:pPr>
            <a:r>
              <a:rPr lang="en" sz="1700" dirty="0">
                <a:solidFill>
                  <a:schemeClr val="dk1"/>
                </a:solidFill>
              </a:rPr>
              <a:t>Cold chain preserves sample quality</a:t>
            </a:r>
            <a:endParaRPr lang="en-US" sz="1700" dirty="0">
              <a:solidFill>
                <a:schemeClr val="dk1"/>
              </a:solidFill>
            </a:endParaRPr>
          </a:p>
        </p:txBody>
      </p:sp>
      <p:pic>
        <p:nvPicPr>
          <p:cNvPr id="308" name="Google Shape;308;p38"/>
          <p:cNvPicPr preferRelativeResize="0"/>
          <p:nvPr/>
        </p:nvPicPr>
        <p:blipFill rotWithShape="1">
          <a:blip r:embed="rId3">
            <a:alphaModFix/>
          </a:blip>
          <a:srcRect l="13069" t="15507" r="15081" b="13227"/>
          <a:stretch/>
        </p:blipFill>
        <p:spPr>
          <a:xfrm>
            <a:off x="243075" y="199975"/>
            <a:ext cx="563950" cy="665401"/>
          </a:xfrm>
          <a:prstGeom prst="rect">
            <a:avLst/>
          </a:prstGeom>
          <a:noFill/>
          <a:ln>
            <a:noFill/>
          </a:ln>
        </p:spPr>
      </p:pic>
      <p:sp>
        <p:nvSpPr>
          <p:cNvPr id="309" name="Google Shape;309;p38"/>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Sample </a:t>
            </a:r>
            <a:r>
              <a:rPr lang="en" dirty="0" err="1"/>
              <a:t>storahe</a:t>
            </a:r>
            <a:endParaRPr dirty="0"/>
          </a:p>
        </p:txBody>
      </p:sp>
      <p:pic>
        <p:nvPicPr>
          <p:cNvPr id="310" name="Google Shape;310;p38"/>
          <p:cNvPicPr preferRelativeResize="0"/>
          <p:nvPr/>
        </p:nvPicPr>
        <p:blipFill>
          <a:blip r:embed="rId4">
            <a:alphaModFix/>
          </a:blip>
          <a:stretch>
            <a:fillRect/>
          </a:stretch>
        </p:blipFill>
        <p:spPr>
          <a:xfrm>
            <a:off x="1417325" y="2108025"/>
            <a:ext cx="1318875" cy="1681100"/>
          </a:xfrm>
          <a:prstGeom prst="rect">
            <a:avLst/>
          </a:prstGeom>
          <a:noFill/>
          <a:ln>
            <a:noFill/>
          </a:ln>
        </p:spPr>
      </p:pic>
      <p:sp>
        <p:nvSpPr>
          <p:cNvPr id="311" name="Google Shape;311;p38"/>
          <p:cNvSpPr txBox="1"/>
          <p:nvPr/>
        </p:nvSpPr>
        <p:spPr>
          <a:xfrm>
            <a:off x="1264888" y="4060100"/>
            <a:ext cx="1599300" cy="51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Collect in</a:t>
            </a:r>
            <a:endParaRPr sz="1300"/>
          </a:p>
          <a:p>
            <a:pPr marL="0" lvl="0" indent="0" algn="ctr" rtl="0">
              <a:spcBef>
                <a:spcPts val="0"/>
              </a:spcBef>
              <a:spcAft>
                <a:spcPts val="0"/>
              </a:spcAft>
              <a:buNone/>
            </a:pPr>
            <a:r>
              <a:rPr lang="en" sz="1300"/>
              <a:t>DNA/RNA Shield</a:t>
            </a:r>
            <a:endParaRPr sz="1300"/>
          </a:p>
          <a:p>
            <a:pPr marL="0" lvl="0" indent="0" algn="ctr" rtl="0">
              <a:spcBef>
                <a:spcPts val="0"/>
              </a:spcBef>
              <a:spcAft>
                <a:spcPts val="0"/>
              </a:spcAft>
              <a:buNone/>
            </a:pPr>
            <a:r>
              <a:rPr lang="en" sz="1300"/>
              <a:t>Or RNA</a:t>
            </a:r>
            <a:r>
              <a:rPr lang="en" sz="1300" i="1"/>
              <a:t>later</a:t>
            </a:r>
            <a:endParaRPr sz="1300" i="1"/>
          </a:p>
        </p:txBody>
      </p:sp>
      <p:pic>
        <p:nvPicPr>
          <p:cNvPr id="312" name="Google Shape;312;p38"/>
          <p:cNvPicPr preferRelativeResize="0"/>
          <p:nvPr/>
        </p:nvPicPr>
        <p:blipFill rotWithShape="1">
          <a:blip r:embed="rId5">
            <a:alphaModFix/>
          </a:blip>
          <a:srcRect l="20780" r="19059"/>
          <a:stretch/>
        </p:blipFill>
        <p:spPr>
          <a:xfrm>
            <a:off x="6364925" y="1796650"/>
            <a:ext cx="1386090" cy="2303850"/>
          </a:xfrm>
          <a:prstGeom prst="rect">
            <a:avLst/>
          </a:prstGeom>
          <a:noFill/>
          <a:ln>
            <a:noFill/>
          </a:ln>
        </p:spPr>
      </p:pic>
      <p:pic>
        <p:nvPicPr>
          <p:cNvPr id="313" name="Google Shape;313;p38"/>
          <p:cNvPicPr preferRelativeResize="0"/>
          <p:nvPr/>
        </p:nvPicPr>
        <p:blipFill>
          <a:blip r:embed="rId6">
            <a:alphaModFix/>
          </a:blip>
          <a:stretch>
            <a:fillRect/>
          </a:stretch>
        </p:blipFill>
        <p:spPr>
          <a:xfrm>
            <a:off x="3680022" y="2078038"/>
            <a:ext cx="1741074" cy="1741074"/>
          </a:xfrm>
          <a:prstGeom prst="rect">
            <a:avLst/>
          </a:prstGeom>
          <a:noFill/>
          <a:ln>
            <a:noFill/>
          </a:ln>
        </p:spPr>
      </p:pic>
      <p:sp>
        <p:nvSpPr>
          <p:cNvPr id="314" name="Google Shape;314;p38"/>
          <p:cNvSpPr txBox="1"/>
          <p:nvPr/>
        </p:nvSpPr>
        <p:spPr>
          <a:xfrm>
            <a:off x="3658613" y="4060100"/>
            <a:ext cx="1599300" cy="51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Keep cold during transport</a:t>
            </a:r>
            <a:endParaRPr sz="1300"/>
          </a:p>
        </p:txBody>
      </p:sp>
      <p:sp>
        <p:nvSpPr>
          <p:cNvPr id="315" name="Google Shape;315;p38"/>
          <p:cNvSpPr txBox="1"/>
          <p:nvPr/>
        </p:nvSpPr>
        <p:spPr>
          <a:xfrm>
            <a:off x="6309388" y="4060100"/>
            <a:ext cx="1599300" cy="51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Long term storage at -80</a:t>
            </a:r>
            <a:r>
              <a:rPr lang="en" sz="1300" baseline="30000"/>
              <a:t>o</a:t>
            </a:r>
            <a:r>
              <a:rPr lang="en" sz="1300"/>
              <a:t>C</a:t>
            </a:r>
            <a:endParaRPr sz="13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9"/>
          <p:cNvSpPr txBox="1">
            <a:spLocks noGrp="1"/>
          </p:cNvSpPr>
          <p:nvPr>
            <p:ph type="body" idx="1"/>
          </p:nvPr>
        </p:nvSpPr>
        <p:spPr>
          <a:xfrm>
            <a:off x="83100" y="923875"/>
            <a:ext cx="8520600" cy="3416400"/>
          </a:xfrm>
          <a:prstGeom prst="rect">
            <a:avLst/>
          </a:prstGeom>
        </p:spPr>
        <p:txBody>
          <a:bodyPr spcFirstLastPara="1" wrap="square" lIns="91425" tIns="91425" rIns="91425" bIns="91425" anchor="t" anchorCtr="0">
            <a:noAutofit/>
          </a:bodyPr>
          <a:lstStyle/>
          <a:p>
            <a:pPr marL="457200" lvl="0" indent="-336550" algn="l" rtl="0">
              <a:spcBef>
                <a:spcPts val="0"/>
              </a:spcBef>
              <a:spcAft>
                <a:spcPts val="0"/>
              </a:spcAft>
              <a:buClr>
                <a:schemeClr val="dk1"/>
              </a:buClr>
              <a:buSzPts val="1700"/>
              <a:buChar char="●"/>
            </a:pPr>
            <a:r>
              <a:rPr lang="en" sz="1700">
                <a:solidFill>
                  <a:schemeClr val="dk1"/>
                </a:solidFill>
              </a:rPr>
              <a:t>Study subjects</a:t>
            </a:r>
            <a:endParaRPr sz="1700">
              <a:solidFill>
                <a:schemeClr val="dk1"/>
              </a:solidFill>
            </a:endParaRPr>
          </a:p>
          <a:p>
            <a:pPr marL="914400" lvl="1" indent="-311150" algn="l" rtl="0">
              <a:spcBef>
                <a:spcPts val="0"/>
              </a:spcBef>
              <a:spcAft>
                <a:spcPts val="0"/>
              </a:spcAft>
              <a:buClr>
                <a:schemeClr val="dk1"/>
              </a:buClr>
              <a:buSzPts val="1300"/>
              <a:buChar char="○"/>
            </a:pPr>
            <a:r>
              <a:rPr lang="en" sz="1300">
                <a:solidFill>
                  <a:schemeClr val="dk1"/>
                </a:solidFill>
              </a:rPr>
              <a:t>Population of interest + metadata</a:t>
            </a:r>
            <a:endParaRPr sz="1300">
              <a:solidFill>
                <a:schemeClr val="dk1"/>
              </a:solidFill>
            </a:endParaRPr>
          </a:p>
          <a:p>
            <a:pPr marL="914400" lvl="1" indent="-311150" algn="l" rtl="0">
              <a:lnSpc>
                <a:spcPct val="200000"/>
              </a:lnSpc>
              <a:spcBef>
                <a:spcPts val="0"/>
              </a:spcBef>
              <a:spcAft>
                <a:spcPts val="0"/>
              </a:spcAft>
              <a:buClr>
                <a:schemeClr val="dk1"/>
              </a:buClr>
              <a:buSzPts val="1300"/>
              <a:buChar char="○"/>
            </a:pPr>
            <a:r>
              <a:rPr lang="en" sz="1300">
                <a:solidFill>
                  <a:schemeClr val="dk1"/>
                </a:solidFill>
              </a:rPr>
              <a:t>Healthy controls (!)</a:t>
            </a:r>
            <a:endParaRPr sz="1300">
              <a:solidFill>
                <a:schemeClr val="dk1"/>
              </a:solidFill>
            </a:endParaRPr>
          </a:p>
          <a:p>
            <a:pPr marL="457200" lvl="0" indent="-336550" algn="l" rtl="0">
              <a:spcBef>
                <a:spcPts val="0"/>
              </a:spcBef>
              <a:spcAft>
                <a:spcPts val="0"/>
              </a:spcAft>
              <a:buClr>
                <a:schemeClr val="dk1"/>
              </a:buClr>
              <a:buSzPts val="1700"/>
              <a:buChar char="●"/>
            </a:pPr>
            <a:r>
              <a:rPr lang="en" sz="1700">
                <a:solidFill>
                  <a:schemeClr val="dk1"/>
                </a:solidFill>
              </a:rPr>
              <a:t>Sample types:</a:t>
            </a:r>
            <a:endParaRPr sz="1700">
              <a:solidFill>
                <a:schemeClr val="dk1"/>
              </a:solidFill>
            </a:endParaRPr>
          </a:p>
          <a:p>
            <a:pPr marL="914400" lvl="1" indent="-311150" algn="l" rtl="0">
              <a:spcBef>
                <a:spcPts val="0"/>
              </a:spcBef>
              <a:spcAft>
                <a:spcPts val="0"/>
              </a:spcAft>
              <a:buClr>
                <a:schemeClr val="dk1"/>
              </a:buClr>
              <a:buSzPts val="1300"/>
              <a:buChar char="○"/>
            </a:pPr>
            <a:r>
              <a:rPr lang="en" sz="1300">
                <a:solidFill>
                  <a:schemeClr val="dk1"/>
                </a:solidFill>
              </a:rPr>
              <a:t>Swabs: oral, rectal, vaginal, ...</a:t>
            </a:r>
            <a:endParaRPr sz="1300">
              <a:solidFill>
                <a:schemeClr val="dk1"/>
              </a:solidFill>
            </a:endParaRPr>
          </a:p>
          <a:p>
            <a:pPr marL="914400" lvl="1" indent="-311150" algn="l" rtl="0">
              <a:lnSpc>
                <a:spcPct val="115000"/>
              </a:lnSpc>
              <a:spcBef>
                <a:spcPts val="0"/>
              </a:spcBef>
              <a:spcAft>
                <a:spcPts val="0"/>
              </a:spcAft>
              <a:buClr>
                <a:schemeClr val="dk1"/>
              </a:buClr>
              <a:buSzPts val="1300"/>
              <a:buChar char="○"/>
            </a:pPr>
            <a:r>
              <a:rPr lang="en" sz="1300">
                <a:solidFill>
                  <a:schemeClr val="dk1"/>
                </a:solidFill>
              </a:rPr>
              <a:t>Blood vs serum</a:t>
            </a:r>
            <a:endParaRPr sz="1300">
              <a:solidFill>
                <a:schemeClr val="dk1"/>
              </a:solidFill>
            </a:endParaRPr>
          </a:p>
          <a:p>
            <a:pPr marL="914400" lvl="1" indent="-311150" algn="l" rtl="0">
              <a:lnSpc>
                <a:spcPct val="200000"/>
              </a:lnSpc>
              <a:spcBef>
                <a:spcPts val="0"/>
              </a:spcBef>
              <a:spcAft>
                <a:spcPts val="0"/>
              </a:spcAft>
              <a:buClr>
                <a:schemeClr val="dk1"/>
              </a:buClr>
              <a:buSzPts val="1300"/>
              <a:buChar char="○"/>
            </a:pPr>
            <a:r>
              <a:rPr lang="en" sz="1300">
                <a:solidFill>
                  <a:schemeClr val="dk1"/>
                </a:solidFill>
              </a:rPr>
              <a:t>CSF</a:t>
            </a:r>
            <a:endParaRPr sz="1300">
              <a:solidFill>
                <a:schemeClr val="dk1"/>
              </a:solidFill>
            </a:endParaRPr>
          </a:p>
          <a:p>
            <a:pPr marL="457200" lvl="0" indent="-336550" algn="l" rtl="0">
              <a:spcBef>
                <a:spcPts val="0"/>
              </a:spcBef>
              <a:spcAft>
                <a:spcPts val="0"/>
              </a:spcAft>
              <a:buClr>
                <a:schemeClr val="dk1"/>
              </a:buClr>
              <a:buSzPts val="1700"/>
              <a:buChar char="●"/>
            </a:pPr>
            <a:r>
              <a:rPr lang="en" sz="1700">
                <a:solidFill>
                  <a:schemeClr val="dk1"/>
                </a:solidFill>
              </a:rPr>
              <a:t>Sample collection:</a:t>
            </a:r>
            <a:endParaRPr sz="1700">
              <a:solidFill>
                <a:schemeClr val="dk1"/>
              </a:solidFill>
            </a:endParaRPr>
          </a:p>
          <a:p>
            <a:pPr marL="914400" lvl="1" indent="-311150" algn="l" rtl="0">
              <a:lnSpc>
                <a:spcPct val="115000"/>
              </a:lnSpc>
              <a:spcBef>
                <a:spcPts val="0"/>
              </a:spcBef>
              <a:spcAft>
                <a:spcPts val="0"/>
              </a:spcAft>
              <a:buClr>
                <a:schemeClr val="dk1"/>
              </a:buClr>
              <a:buSzPts val="1300"/>
              <a:buChar char="○"/>
            </a:pPr>
            <a:r>
              <a:rPr lang="en" sz="1300">
                <a:solidFill>
                  <a:schemeClr val="dk1"/>
                </a:solidFill>
              </a:rPr>
              <a:t>Collect in nucleic acid stabilizers: e.g. DNA/RNA Shield (Zymo), RNA</a:t>
            </a:r>
            <a:r>
              <a:rPr lang="en" sz="1300" i="1">
                <a:solidFill>
                  <a:schemeClr val="dk1"/>
                </a:solidFill>
              </a:rPr>
              <a:t>later</a:t>
            </a:r>
            <a:r>
              <a:rPr lang="en" sz="1300">
                <a:solidFill>
                  <a:schemeClr val="dk1"/>
                </a:solidFill>
              </a:rPr>
              <a:t> (Qiagen)</a:t>
            </a:r>
            <a:endParaRPr sz="1300">
              <a:solidFill>
                <a:schemeClr val="dk1"/>
              </a:solidFill>
            </a:endParaRPr>
          </a:p>
          <a:p>
            <a:pPr marL="914400" lvl="1" indent="-311150" algn="l" rtl="0">
              <a:lnSpc>
                <a:spcPct val="200000"/>
              </a:lnSpc>
              <a:spcBef>
                <a:spcPts val="0"/>
              </a:spcBef>
              <a:spcAft>
                <a:spcPts val="0"/>
              </a:spcAft>
              <a:buClr>
                <a:schemeClr val="dk1"/>
              </a:buClr>
              <a:buSzPts val="1300"/>
              <a:buChar char="○"/>
            </a:pPr>
            <a:r>
              <a:rPr lang="en" sz="1300">
                <a:solidFill>
                  <a:schemeClr val="dk1"/>
                </a:solidFill>
              </a:rPr>
              <a:t>Work as sterile as possible and collect appropriate controls </a:t>
            </a:r>
            <a:endParaRPr sz="1300">
              <a:solidFill>
                <a:schemeClr val="dk1"/>
              </a:solidFill>
            </a:endParaRPr>
          </a:p>
          <a:p>
            <a:pPr marL="457200" lvl="0" indent="-336550" algn="l" rtl="0">
              <a:spcBef>
                <a:spcPts val="0"/>
              </a:spcBef>
              <a:spcAft>
                <a:spcPts val="0"/>
              </a:spcAft>
              <a:buClr>
                <a:schemeClr val="dk1"/>
              </a:buClr>
              <a:buSzPts val="1700"/>
              <a:buChar char="●"/>
            </a:pPr>
            <a:r>
              <a:rPr lang="en" sz="1700">
                <a:solidFill>
                  <a:schemeClr val="dk1"/>
                </a:solidFill>
              </a:rPr>
              <a:t>Sample storage:</a:t>
            </a:r>
            <a:endParaRPr sz="1700">
              <a:solidFill>
                <a:schemeClr val="dk1"/>
              </a:solidFill>
            </a:endParaRPr>
          </a:p>
          <a:p>
            <a:pPr marL="914400" lvl="1" indent="-311150" algn="l" rtl="0">
              <a:spcBef>
                <a:spcPts val="0"/>
              </a:spcBef>
              <a:spcAft>
                <a:spcPts val="0"/>
              </a:spcAft>
              <a:buClr>
                <a:schemeClr val="dk1"/>
              </a:buClr>
              <a:buSzPts val="1300"/>
              <a:buChar char="○"/>
            </a:pPr>
            <a:r>
              <a:rPr lang="en" sz="1300">
                <a:solidFill>
                  <a:schemeClr val="dk1"/>
                </a:solidFill>
              </a:rPr>
              <a:t>Keep cold during transport (!)</a:t>
            </a:r>
            <a:endParaRPr sz="1300">
              <a:solidFill>
                <a:schemeClr val="dk1"/>
              </a:solidFill>
            </a:endParaRPr>
          </a:p>
          <a:p>
            <a:pPr marL="914400" lvl="1" indent="-311150" algn="l" rtl="0">
              <a:spcBef>
                <a:spcPts val="0"/>
              </a:spcBef>
              <a:spcAft>
                <a:spcPts val="0"/>
              </a:spcAft>
              <a:buClr>
                <a:schemeClr val="dk1"/>
              </a:buClr>
              <a:buSzPts val="1300"/>
              <a:buChar char="○"/>
            </a:pPr>
            <a:r>
              <a:rPr lang="en" sz="1300">
                <a:solidFill>
                  <a:schemeClr val="dk1"/>
                </a:solidFill>
              </a:rPr>
              <a:t>Flash freeze as soon as possible (!)</a:t>
            </a:r>
            <a:endParaRPr sz="1300">
              <a:solidFill>
                <a:schemeClr val="dk1"/>
              </a:solidFill>
            </a:endParaRPr>
          </a:p>
        </p:txBody>
      </p:sp>
      <p:pic>
        <p:nvPicPr>
          <p:cNvPr id="321" name="Google Shape;321;p39"/>
          <p:cNvPicPr preferRelativeResize="0"/>
          <p:nvPr/>
        </p:nvPicPr>
        <p:blipFill rotWithShape="1">
          <a:blip r:embed="rId3">
            <a:alphaModFix/>
          </a:blip>
          <a:srcRect l="13069" t="15507" r="15081" b="13227"/>
          <a:stretch/>
        </p:blipFill>
        <p:spPr>
          <a:xfrm>
            <a:off x="243075" y="199975"/>
            <a:ext cx="563950" cy="665401"/>
          </a:xfrm>
          <a:prstGeom prst="rect">
            <a:avLst/>
          </a:prstGeom>
          <a:noFill/>
          <a:ln>
            <a:noFill/>
          </a:ln>
        </p:spPr>
      </p:pic>
      <p:sp>
        <p:nvSpPr>
          <p:cNvPr id="322" name="Google Shape;322;p39"/>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Study design</a:t>
            </a:r>
            <a:endParaRPr/>
          </a:p>
        </p:txBody>
      </p:sp>
      <p:sp>
        <p:nvSpPr>
          <p:cNvPr id="323" name="Google Shape;323;p39"/>
          <p:cNvSpPr txBox="1"/>
          <p:nvPr/>
        </p:nvSpPr>
        <p:spPr>
          <a:xfrm>
            <a:off x="5936650" y="74050"/>
            <a:ext cx="3136500" cy="1547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a:solidFill>
                  <a:srgbClr val="FF0000"/>
                </a:solidFill>
              </a:rPr>
              <a:t>Key points:</a:t>
            </a:r>
            <a:endParaRPr sz="1600">
              <a:solidFill>
                <a:srgbClr val="FF0000"/>
              </a:solidFill>
            </a:endParaRPr>
          </a:p>
          <a:p>
            <a:pPr marL="0" lvl="0" indent="0" algn="l" rtl="0">
              <a:lnSpc>
                <a:spcPct val="150000"/>
              </a:lnSpc>
              <a:spcBef>
                <a:spcPts val="0"/>
              </a:spcBef>
              <a:spcAft>
                <a:spcPts val="0"/>
              </a:spcAft>
              <a:buClr>
                <a:schemeClr val="dk1"/>
              </a:buClr>
              <a:buSzPts val="1100"/>
              <a:buFont typeface="Arial"/>
              <a:buNone/>
            </a:pPr>
            <a:r>
              <a:rPr lang="en" sz="1600">
                <a:solidFill>
                  <a:srgbClr val="FF0000"/>
                </a:solidFill>
              </a:rPr>
              <a:t>✓ Preserve sample quality</a:t>
            </a:r>
            <a:endParaRPr sz="1600">
              <a:solidFill>
                <a:srgbClr val="FF0000"/>
              </a:solidFill>
            </a:endParaRPr>
          </a:p>
          <a:p>
            <a:pPr marL="0" lvl="0" indent="0" algn="l" rtl="0">
              <a:lnSpc>
                <a:spcPct val="150000"/>
              </a:lnSpc>
              <a:spcBef>
                <a:spcPts val="0"/>
              </a:spcBef>
              <a:spcAft>
                <a:spcPts val="0"/>
              </a:spcAft>
              <a:buClr>
                <a:schemeClr val="dk1"/>
              </a:buClr>
              <a:buSzPts val="1100"/>
              <a:buFont typeface="Arial"/>
              <a:buNone/>
            </a:pPr>
            <a:r>
              <a:rPr lang="en" sz="1600">
                <a:solidFill>
                  <a:srgbClr val="FF0000"/>
                </a:solidFill>
              </a:rPr>
              <a:t>✓ Collect metadata</a:t>
            </a:r>
            <a:endParaRPr sz="1600">
              <a:solidFill>
                <a:srgbClr val="FF0000"/>
              </a:solidFill>
            </a:endParaRPr>
          </a:p>
          <a:p>
            <a:pPr marL="0" lvl="0" indent="0" algn="l" rtl="0">
              <a:lnSpc>
                <a:spcPct val="150000"/>
              </a:lnSpc>
              <a:spcBef>
                <a:spcPts val="0"/>
              </a:spcBef>
              <a:spcAft>
                <a:spcPts val="0"/>
              </a:spcAft>
              <a:buNone/>
            </a:pPr>
            <a:r>
              <a:rPr lang="en" sz="1600">
                <a:solidFill>
                  <a:srgbClr val="FF0000"/>
                </a:solidFill>
              </a:rPr>
              <a:t>✓ Include controls !</a:t>
            </a:r>
            <a:endParaRPr sz="1600">
              <a:solidFill>
                <a:srgbClr val="FF0000"/>
              </a:solidFill>
            </a:endParaRPr>
          </a:p>
          <a:p>
            <a:pPr marL="0" lvl="0" indent="0" algn="l" rtl="0">
              <a:lnSpc>
                <a:spcPct val="150000"/>
              </a:lnSpc>
              <a:spcBef>
                <a:spcPts val="0"/>
              </a:spcBef>
              <a:spcAft>
                <a:spcPts val="0"/>
              </a:spcAft>
              <a:buNone/>
            </a:pPr>
            <a:r>
              <a:rPr lang="en" sz="1600">
                <a:solidFill>
                  <a:srgbClr val="FF0000"/>
                </a:solidFill>
              </a:rPr>
              <a:t>✓ Minimize cross-contamination</a:t>
            </a:r>
            <a:endParaRPr sz="16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3"/>
                                        </p:tgtEl>
                                        <p:attrNameLst>
                                          <p:attrName>style.visibility</p:attrName>
                                        </p:attrNameLst>
                                      </p:cBhvr>
                                      <p:to>
                                        <p:strVal val="visible"/>
                                      </p:to>
                                    </p:set>
                                    <p:animEffect transition="in" filter="fade">
                                      <p:cBhvr>
                                        <p:cTn id="7" dur="1000"/>
                                        <p:tgtEl>
                                          <p:spTgt spid="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93"/>
          <p:cNvSpPr txBox="1">
            <a:spLocks noGrp="1"/>
          </p:cNvSpPr>
          <p:nvPr>
            <p:ph type="subTitle" idx="1"/>
          </p:nvPr>
        </p:nvSpPr>
        <p:spPr>
          <a:xfrm>
            <a:off x="362275" y="115475"/>
            <a:ext cx="8227800" cy="489300"/>
          </a:xfrm>
          <a:prstGeom prst="rect">
            <a:avLst/>
          </a:prstGeom>
        </p:spPr>
        <p:txBody>
          <a:bodyPr spcFirstLastPara="1" wrap="square" lIns="91425" tIns="91425" rIns="91425" bIns="91425" anchor="t" anchorCtr="0">
            <a:normAutofit lnSpcReduction="10000"/>
          </a:bodyPr>
          <a:lstStyle/>
          <a:p>
            <a:pPr marL="2514600" lvl="0" indent="-2457450" algn="l" rtl="0">
              <a:lnSpc>
                <a:spcPct val="100000"/>
              </a:lnSpc>
              <a:spcBef>
                <a:spcPts val="0"/>
              </a:spcBef>
              <a:spcAft>
                <a:spcPts val="0"/>
              </a:spcAft>
              <a:buNone/>
            </a:pPr>
            <a:r>
              <a:rPr lang="en" sz="2100"/>
              <a:t>Example dataset - Fever with unknown etiology</a:t>
            </a:r>
            <a:endParaRPr sz="2100"/>
          </a:p>
        </p:txBody>
      </p:sp>
      <p:graphicFrame>
        <p:nvGraphicFramePr>
          <p:cNvPr id="674" name="Google Shape;674;p93"/>
          <p:cNvGraphicFramePr/>
          <p:nvPr/>
        </p:nvGraphicFramePr>
        <p:xfrm>
          <a:off x="420313" y="840775"/>
          <a:ext cx="8010525" cy="3020164"/>
        </p:xfrm>
        <a:graphic>
          <a:graphicData uri="http://schemas.openxmlformats.org/drawingml/2006/table">
            <a:tbl>
              <a:tblPr>
                <a:noFill/>
              </a:tblPr>
              <a:tblGrid>
                <a:gridCol w="876300">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00025">
                  <a:extLst>
                    <a:ext uri="{9D8B030D-6E8A-4147-A177-3AD203B41FA5}">
                      <a16:colId xmlns:a16="http://schemas.microsoft.com/office/drawing/2014/main" val="20002"/>
                    </a:ext>
                  </a:extLst>
                </a:gridCol>
                <a:gridCol w="209550">
                  <a:extLst>
                    <a:ext uri="{9D8B030D-6E8A-4147-A177-3AD203B41FA5}">
                      <a16:colId xmlns:a16="http://schemas.microsoft.com/office/drawing/2014/main" val="20003"/>
                    </a:ext>
                  </a:extLst>
                </a:gridCol>
                <a:gridCol w="209550">
                  <a:extLst>
                    <a:ext uri="{9D8B030D-6E8A-4147-A177-3AD203B41FA5}">
                      <a16:colId xmlns:a16="http://schemas.microsoft.com/office/drawing/2014/main" val="20004"/>
                    </a:ext>
                  </a:extLst>
                </a:gridCol>
                <a:gridCol w="209550">
                  <a:extLst>
                    <a:ext uri="{9D8B030D-6E8A-4147-A177-3AD203B41FA5}">
                      <a16:colId xmlns:a16="http://schemas.microsoft.com/office/drawing/2014/main" val="20005"/>
                    </a:ext>
                  </a:extLst>
                </a:gridCol>
                <a:gridCol w="209550">
                  <a:extLst>
                    <a:ext uri="{9D8B030D-6E8A-4147-A177-3AD203B41FA5}">
                      <a16:colId xmlns:a16="http://schemas.microsoft.com/office/drawing/2014/main" val="20006"/>
                    </a:ext>
                  </a:extLst>
                </a:gridCol>
                <a:gridCol w="209550">
                  <a:extLst>
                    <a:ext uri="{9D8B030D-6E8A-4147-A177-3AD203B41FA5}">
                      <a16:colId xmlns:a16="http://schemas.microsoft.com/office/drawing/2014/main" val="20007"/>
                    </a:ext>
                  </a:extLst>
                </a:gridCol>
                <a:gridCol w="180975">
                  <a:extLst>
                    <a:ext uri="{9D8B030D-6E8A-4147-A177-3AD203B41FA5}">
                      <a16:colId xmlns:a16="http://schemas.microsoft.com/office/drawing/2014/main" val="20008"/>
                    </a:ext>
                  </a:extLst>
                </a:gridCol>
                <a:gridCol w="171450">
                  <a:extLst>
                    <a:ext uri="{9D8B030D-6E8A-4147-A177-3AD203B41FA5}">
                      <a16:colId xmlns:a16="http://schemas.microsoft.com/office/drawing/2014/main" val="20009"/>
                    </a:ext>
                  </a:extLst>
                </a:gridCol>
                <a:gridCol w="180975">
                  <a:extLst>
                    <a:ext uri="{9D8B030D-6E8A-4147-A177-3AD203B41FA5}">
                      <a16:colId xmlns:a16="http://schemas.microsoft.com/office/drawing/2014/main" val="20010"/>
                    </a:ext>
                  </a:extLst>
                </a:gridCol>
                <a:gridCol w="209550">
                  <a:extLst>
                    <a:ext uri="{9D8B030D-6E8A-4147-A177-3AD203B41FA5}">
                      <a16:colId xmlns:a16="http://schemas.microsoft.com/office/drawing/2014/main" val="20011"/>
                    </a:ext>
                  </a:extLst>
                </a:gridCol>
                <a:gridCol w="209550">
                  <a:extLst>
                    <a:ext uri="{9D8B030D-6E8A-4147-A177-3AD203B41FA5}">
                      <a16:colId xmlns:a16="http://schemas.microsoft.com/office/drawing/2014/main" val="20012"/>
                    </a:ext>
                  </a:extLst>
                </a:gridCol>
                <a:gridCol w="209550">
                  <a:extLst>
                    <a:ext uri="{9D8B030D-6E8A-4147-A177-3AD203B41FA5}">
                      <a16:colId xmlns:a16="http://schemas.microsoft.com/office/drawing/2014/main" val="20013"/>
                    </a:ext>
                  </a:extLst>
                </a:gridCol>
                <a:gridCol w="209550">
                  <a:extLst>
                    <a:ext uri="{9D8B030D-6E8A-4147-A177-3AD203B41FA5}">
                      <a16:colId xmlns:a16="http://schemas.microsoft.com/office/drawing/2014/main" val="20014"/>
                    </a:ext>
                  </a:extLst>
                </a:gridCol>
                <a:gridCol w="209550">
                  <a:extLst>
                    <a:ext uri="{9D8B030D-6E8A-4147-A177-3AD203B41FA5}">
                      <a16:colId xmlns:a16="http://schemas.microsoft.com/office/drawing/2014/main" val="20015"/>
                    </a:ext>
                  </a:extLst>
                </a:gridCol>
                <a:gridCol w="209550">
                  <a:extLst>
                    <a:ext uri="{9D8B030D-6E8A-4147-A177-3AD203B41FA5}">
                      <a16:colId xmlns:a16="http://schemas.microsoft.com/office/drawing/2014/main" val="20016"/>
                    </a:ext>
                  </a:extLst>
                </a:gridCol>
                <a:gridCol w="219075">
                  <a:extLst>
                    <a:ext uri="{9D8B030D-6E8A-4147-A177-3AD203B41FA5}">
                      <a16:colId xmlns:a16="http://schemas.microsoft.com/office/drawing/2014/main" val="20017"/>
                    </a:ext>
                  </a:extLst>
                </a:gridCol>
                <a:gridCol w="219075">
                  <a:extLst>
                    <a:ext uri="{9D8B030D-6E8A-4147-A177-3AD203B41FA5}">
                      <a16:colId xmlns:a16="http://schemas.microsoft.com/office/drawing/2014/main" val="20018"/>
                    </a:ext>
                  </a:extLst>
                </a:gridCol>
                <a:gridCol w="219075">
                  <a:extLst>
                    <a:ext uri="{9D8B030D-6E8A-4147-A177-3AD203B41FA5}">
                      <a16:colId xmlns:a16="http://schemas.microsoft.com/office/drawing/2014/main" val="20019"/>
                    </a:ext>
                  </a:extLst>
                </a:gridCol>
                <a:gridCol w="295275">
                  <a:extLst>
                    <a:ext uri="{9D8B030D-6E8A-4147-A177-3AD203B41FA5}">
                      <a16:colId xmlns:a16="http://schemas.microsoft.com/office/drawing/2014/main" val="20020"/>
                    </a:ext>
                  </a:extLst>
                </a:gridCol>
                <a:gridCol w="295275">
                  <a:extLst>
                    <a:ext uri="{9D8B030D-6E8A-4147-A177-3AD203B41FA5}">
                      <a16:colId xmlns:a16="http://schemas.microsoft.com/office/drawing/2014/main" val="20021"/>
                    </a:ext>
                  </a:extLst>
                </a:gridCol>
              </a:tblGrid>
              <a:tr h="200025">
                <a:tc>
                  <a:txBody>
                    <a:bodyPr/>
                    <a:lstStyle/>
                    <a:p>
                      <a:pPr marL="0" lvl="0" indent="0" algn="l" rtl="0">
                        <a:spcBef>
                          <a:spcPts val="0"/>
                        </a:spcBef>
                        <a:spcAft>
                          <a:spcPts val="0"/>
                        </a:spcAft>
                        <a:buNone/>
                      </a:pPr>
                      <a:endParaRPr/>
                    </a:p>
                  </a:txBody>
                  <a:tcPr marL="9525" marR="9525" marT="9525" marB="91425" anchor="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noFill/>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positives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Unknowns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negatives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Water</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extLst>
                  <a:ext uri="{0D108BD9-81ED-4DB2-BD59-A6C34878D82A}">
                    <a16:rowId xmlns:a16="http://schemas.microsoft.com/office/drawing/2014/main" val="10000"/>
                  </a:ext>
                </a:extLst>
              </a:tr>
              <a:tr h="219075">
                <a:tc>
                  <a:txBody>
                    <a:bodyPr/>
                    <a:lstStyle/>
                    <a:p>
                      <a:pPr marL="0" lvl="0" indent="0" algn="l" rtl="0">
                        <a:spcBef>
                          <a:spcPts val="0"/>
                        </a:spcBef>
                        <a:spcAft>
                          <a:spcPts val="0"/>
                        </a:spcAft>
                        <a:buNone/>
                      </a:pPr>
                      <a:endParaRPr/>
                    </a:p>
                  </a:txBody>
                  <a:tcPr marL="9525" marR="9525" marT="9525" marB="91425" anchor="b">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2</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3</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6</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7</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8</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9</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10</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11</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13</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16</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17</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18</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00025">
                <a:tc row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Traditional diagnostics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Malaria blood smear results</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extLst>
                  <a:ext uri="{0D108BD9-81ED-4DB2-BD59-A6C34878D82A}">
                    <a16:rowId xmlns:a16="http://schemas.microsoft.com/office/drawing/2014/main" val="10002"/>
                  </a:ext>
                </a:extLst>
              </a:tr>
              <a:tr h="219075">
                <a:tc vMerge="1">
                  <a:txBody>
                    <a:bodyPr/>
                    <a:lstStyle/>
                    <a:p>
                      <a:endParaRPr lang="en-US"/>
                    </a:p>
                  </a:txBody>
                  <a:tcPr/>
                </a:tc>
                <a:tc>
                  <a:txBody>
                    <a:bodyPr/>
                    <a:lstStyle/>
                    <a:p>
                      <a:pPr marL="0" lvl="0" indent="0" algn="l" rtl="0">
                        <a:spcBef>
                          <a:spcPts val="0"/>
                        </a:spcBef>
                        <a:spcAft>
                          <a:spcPts val="0"/>
                        </a:spcAft>
                        <a:buNone/>
                      </a:pPr>
                      <a:r>
                        <a:rPr lang="en" sz="1200">
                          <a:latin typeface="Calibri"/>
                          <a:ea typeface="Calibri"/>
                          <a:cs typeface="Calibri"/>
                          <a:sym typeface="Calibri"/>
                        </a:rPr>
                        <a:t>Human African Trypanosomiasis serology</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00025">
                <a:tc row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mNGS </a:t>
                      </a:r>
                      <a:endParaRPr sz="1200" b="1">
                        <a:latin typeface="Calibri"/>
                        <a:ea typeface="Calibri"/>
                        <a:cs typeface="Calibri"/>
                        <a:sym typeface="Calibri"/>
                      </a:endParaRPr>
                    </a:p>
                    <a:p>
                      <a:pPr marL="0" lvl="0" indent="0" algn="ctr" rtl="0">
                        <a:lnSpc>
                          <a:spcPct val="115000"/>
                        </a:lnSpc>
                        <a:spcBef>
                          <a:spcPts val="0"/>
                        </a:spcBef>
                        <a:spcAft>
                          <a:spcPts val="0"/>
                        </a:spcAft>
                        <a:buNone/>
                      </a:pPr>
                      <a:r>
                        <a:rPr lang="en" sz="1200" b="1">
                          <a:latin typeface="Calibri"/>
                          <a:ea typeface="Calibri"/>
                          <a:cs typeface="Calibri"/>
                          <a:sym typeface="Calibri"/>
                        </a:rPr>
                        <a:t>results</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i="1">
                          <a:latin typeface="Calibri"/>
                          <a:ea typeface="Calibri"/>
                          <a:cs typeface="Calibri"/>
                          <a:sym typeface="Calibri"/>
                        </a:rPr>
                        <a:t>Plasmodium falciparum</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Trypanosoma brucei gambiense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Nipah henipavirus</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Klebsiella pneumoniae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Pseudomonas aeruginosa</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8"/>
                  </a:ext>
                </a:extLst>
              </a:tr>
              <a:tr h="228600">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Delftia sp. JD2</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9"/>
                  </a:ext>
                </a:extLst>
              </a:tr>
            </a:tbl>
          </a:graphicData>
        </a:graphic>
      </p:graphicFrame>
      <p:sp>
        <p:nvSpPr>
          <p:cNvPr id="675" name="Google Shape;675;p93"/>
          <p:cNvSpPr/>
          <p:nvPr/>
        </p:nvSpPr>
        <p:spPr>
          <a:xfrm>
            <a:off x="306950" y="2099925"/>
            <a:ext cx="8171400" cy="190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94"/>
          <p:cNvSpPr txBox="1">
            <a:spLocks noGrp="1"/>
          </p:cNvSpPr>
          <p:nvPr>
            <p:ph type="subTitle" idx="1"/>
          </p:nvPr>
        </p:nvSpPr>
        <p:spPr>
          <a:xfrm>
            <a:off x="362275" y="115475"/>
            <a:ext cx="8227800" cy="489300"/>
          </a:xfrm>
          <a:prstGeom prst="rect">
            <a:avLst/>
          </a:prstGeom>
        </p:spPr>
        <p:txBody>
          <a:bodyPr spcFirstLastPara="1" wrap="square" lIns="91425" tIns="91425" rIns="91425" bIns="91425" anchor="t" anchorCtr="0">
            <a:normAutofit lnSpcReduction="10000"/>
          </a:bodyPr>
          <a:lstStyle/>
          <a:p>
            <a:pPr marL="2514600" lvl="0" indent="-2457450" algn="l" rtl="0">
              <a:lnSpc>
                <a:spcPct val="100000"/>
              </a:lnSpc>
              <a:spcBef>
                <a:spcPts val="0"/>
              </a:spcBef>
              <a:spcAft>
                <a:spcPts val="0"/>
              </a:spcAft>
              <a:buNone/>
            </a:pPr>
            <a:r>
              <a:rPr lang="en" sz="2100"/>
              <a:t>Example dataset - Fever with unknown etiology</a:t>
            </a:r>
            <a:endParaRPr sz="2100"/>
          </a:p>
        </p:txBody>
      </p:sp>
      <p:graphicFrame>
        <p:nvGraphicFramePr>
          <p:cNvPr id="681" name="Google Shape;681;p94"/>
          <p:cNvGraphicFramePr/>
          <p:nvPr/>
        </p:nvGraphicFramePr>
        <p:xfrm>
          <a:off x="420313" y="840775"/>
          <a:ext cx="3000000" cy="3000000"/>
        </p:xfrm>
        <a:graphic>
          <a:graphicData uri="http://schemas.openxmlformats.org/drawingml/2006/table">
            <a:tbl>
              <a:tblPr>
                <a:noFill/>
              </a:tblPr>
              <a:tblGrid>
                <a:gridCol w="876300">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00025">
                  <a:extLst>
                    <a:ext uri="{9D8B030D-6E8A-4147-A177-3AD203B41FA5}">
                      <a16:colId xmlns:a16="http://schemas.microsoft.com/office/drawing/2014/main" val="20002"/>
                    </a:ext>
                  </a:extLst>
                </a:gridCol>
                <a:gridCol w="209550">
                  <a:extLst>
                    <a:ext uri="{9D8B030D-6E8A-4147-A177-3AD203B41FA5}">
                      <a16:colId xmlns:a16="http://schemas.microsoft.com/office/drawing/2014/main" val="20003"/>
                    </a:ext>
                  </a:extLst>
                </a:gridCol>
                <a:gridCol w="209550">
                  <a:extLst>
                    <a:ext uri="{9D8B030D-6E8A-4147-A177-3AD203B41FA5}">
                      <a16:colId xmlns:a16="http://schemas.microsoft.com/office/drawing/2014/main" val="20004"/>
                    </a:ext>
                  </a:extLst>
                </a:gridCol>
                <a:gridCol w="209550">
                  <a:extLst>
                    <a:ext uri="{9D8B030D-6E8A-4147-A177-3AD203B41FA5}">
                      <a16:colId xmlns:a16="http://schemas.microsoft.com/office/drawing/2014/main" val="20005"/>
                    </a:ext>
                  </a:extLst>
                </a:gridCol>
                <a:gridCol w="209550">
                  <a:extLst>
                    <a:ext uri="{9D8B030D-6E8A-4147-A177-3AD203B41FA5}">
                      <a16:colId xmlns:a16="http://schemas.microsoft.com/office/drawing/2014/main" val="20006"/>
                    </a:ext>
                  </a:extLst>
                </a:gridCol>
                <a:gridCol w="209550">
                  <a:extLst>
                    <a:ext uri="{9D8B030D-6E8A-4147-A177-3AD203B41FA5}">
                      <a16:colId xmlns:a16="http://schemas.microsoft.com/office/drawing/2014/main" val="20007"/>
                    </a:ext>
                  </a:extLst>
                </a:gridCol>
                <a:gridCol w="180975">
                  <a:extLst>
                    <a:ext uri="{9D8B030D-6E8A-4147-A177-3AD203B41FA5}">
                      <a16:colId xmlns:a16="http://schemas.microsoft.com/office/drawing/2014/main" val="20008"/>
                    </a:ext>
                  </a:extLst>
                </a:gridCol>
                <a:gridCol w="171450">
                  <a:extLst>
                    <a:ext uri="{9D8B030D-6E8A-4147-A177-3AD203B41FA5}">
                      <a16:colId xmlns:a16="http://schemas.microsoft.com/office/drawing/2014/main" val="20009"/>
                    </a:ext>
                  </a:extLst>
                </a:gridCol>
                <a:gridCol w="180975">
                  <a:extLst>
                    <a:ext uri="{9D8B030D-6E8A-4147-A177-3AD203B41FA5}">
                      <a16:colId xmlns:a16="http://schemas.microsoft.com/office/drawing/2014/main" val="20010"/>
                    </a:ext>
                  </a:extLst>
                </a:gridCol>
                <a:gridCol w="209550">
                  <a:extLst>
                    <a:ext uri="{9D8B030D-6E8A-4147-A177-3AD203B41FA5}">
                      <a16:colId xmlns:a16="http://schemas.microsoft.com/office/drawing/2014/main" val="20011"/>
                    </a:ext>
                  </a:extLst>
                </a:gridCol>
                <a:gridCol w="209550">
                  <a:extLst>
                    <a:ext uri="{9D8B030D-6E8A-4147-A177-3AD203B41FA5}">
                      <a16:colId xmlns:a16="http://schemas.microsoft.com/office/drawing/2014/main" val="20012"/>
                    </a:ext>
                  </a:extLst>
                </a:gridCol>
                <a:gridCol w="209550">
                  <a:extLst>
                    <a:ext uri="{9D8B030D-6E8A-4147-A177-3AD203B41FA5}">
                      <a16:colId xmlns:a16="http://schemas.microsoft.com/office/drawing/2014/main" val="20013"/>
                    </a:ext>
                  </a:extLst>
                </a:gridCol>
                <a:gridCol w="209550">
                  <a:extLst>
                    <a:ext uri="{9D8B030D-6E8A-4147-A177-3AD203B41FA5}">
                      <a16:colId xmlns:a16="http://schemas.microsoft.com/office/drawing/2014/main" val="20014"/>
                    </a:ext>
                  </a:extLst>
                </a:gridCol>
                <a:gridCol w="209550">
                  <a:extLst>
                    <a:ext uri="{9D8B030D-6E8A-4147-A177-3AD203B41FA5}">
                      <a16:colId xmlns:a16="http://schemas.microsoft.com/office/drawing/2014/main" val="20015"/>
                    </a:ext>
                  </a:extLst>
                </a:gridCol>
                <a:gridCol w="209550">
                  <a:extLst>
                    <a:ext uri="{9D8B030D-6E8A-4147-A177-3AD203B41FA5}">
                      <a16:colId xmlns:a16="http://schemas.microsoft.com/office/drawing/2014/main" val="20016"/>
                    </a:ext>
                  </a:extLst>
                </a:gridCol>
                <a:gridCol w="219075">
                  <a:extLst>
                    <a:ext uri="{9D8B030D-6E8A-4147-A177-3AD203B41FA5}">
                      <a16:colId xmlns:a16="http://schemas.microsoft.com/office/drawing/2014/main" val="20017"/>
                    </a:ext>
                  </a:extLst>
                </a:gridCol>
                <a:gridCol w="219075">
                  <a:extLst>
                    <a:ext uri="{9D8B030D-6E8A-4147-A177-3AD203B41FA5}">
                      <a16:colId xmlns:a16="http://schemas.microsoft.com/office/drawing/2014/main" val="20018"/>
                    </a:ext>
                  </a:extLst>
                </a:gridCol>
                <a:gridCol w="219075">
                  <a:extLst>
                    <a:ext uri="{9D8B030D-6E8A-4147-A177-3AD203B41FA5}">
                      <a16:colId xmlns:a16="http://schemas.microsoft.com/office/drawing/2014/main" val="20019"/>
                    </a:ext>
                  </a:extLst>
                </a:gridCol>
                <a:gridCol w="295275">
                  <a:extLst>
                    <a:ext uri="{9D8B030D-6E8A-4147-A177-3AD203B41FA5}">
                      <a16:colId xmlns:a16="http://schemas.microsoft.com/office/drawing/2014/main" val="20020"/>
                    </a:ext>
                  </a:extLst>
                </a:gridCol>
                <a:gridCol w="295275">
                  <a:extLst>
                    <a:ext uri="{9D8B030D-6E8A-4147-A177-3AD203B41FA5}">
                      <a16:colId xmlns:a16="http://schemas.microsoft.com/office/drawing/2014/main" val="20021"/>
                    </a:ext>
                  </a:extLst>
                </a:gridCol>
              </a:tblGrid>
              <a:tr h="200025">
                <a:tc>
                  <a:txBody>
                    <a:bodyPr/>
                    <a:lstStyle/>
                    <a:p>
                      <a:pPr marL="0" lvl="0" indent="0" algn="l" rtl="0">
                        <a:spcBef>
                          <a:spcPts val="0"/>
                        </a:spcBef>
                        <a:spcAft>
                          <a:spcPts val="0"/>
                        </a:spcAft>
                        <a:buNone/>
                      </a:pPr>
                      <a:endParaRPr/>
                    </a:p>
                  </a:txBody>
                  <a:tcPr marL="9525" marR="9525" marT="9525" marB="91425" anchor="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noFill/>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positives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Unknowns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negatives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Water</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extLst>
                  <a:ext uri="{0D108BD9-81ED-4DB2-BD59-A6C34878D82A}">
                    <a16:rowId xmlns:a16="http://schemas.microsoft.com/office/drawing/2014/main" val="10000"/>
                  </a:ext>
                </a:extLst>
              </a:tr>
              <a:tr h="219075">
                <a:tc>
                  <a:txBody>
                    <a:bodyPr/>
                    <a:lstStyle/>
                    <a:p>
                      <a:pPr marL="0" lvl="0" indent="0" algn="l" rtl="0">
                        <a:spcBef>
                          <a:spcPts val="0"/>
                        </a:spcBef>
                        <a:spcAft>
                          <a:spcPts val="0"/>
                        </a:spcAft>
                        <a:buNone/>
                      </a:pPr>
                      <a:endParaRPr/>
                    </a:p>
                  </a:txBody>
                  <a:tcPr marL="9525" marR="9525" marT="9525" marB="91425" anchor="b">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2</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3</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6</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7</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8</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9</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10</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11</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13</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16</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17</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18</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00025">
                <a:tc row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Traditional diagnostics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Malaria blood smear results</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extLst>
                  <a:ext uri="{0D108BD9-81ED-4DB2-BD59-A6C34878D82A}">
                    <a16:rowId xmlns:a16="http://schemas.microsoft.com/office/drawing/2014/main" val="10002"/>
                  </a:ext>
                </a:extLst>
              </a:tr>
              <a:tr h="219075">
                <a:tc vMerge="1">
                  <a:txBody>
                    <a:bodyPr/>
                    <a:lstStyle/>
                    <a:p>
                      <a:endParaRPr lang="en-US"/>
                    </a:p>
                  </a:txBody>
                  <a:tcPr/>
                </a:tc>
                <a:tc>
                  <a:txBody>
                    <a:bodyPr/>
                    <a:lstStyle/>
                    <a:p>
                      <a:pPr marL="0" lvl="0" indent="0" algn="l" rtl="0">
                        <a:spcBef>
                          <a:spcPts val="0"/>
                        </a:spcBef>
                        <a:spcAft>
                          <a:spcPts val="0"/>
                        </a:spcAft>
                        <a:buNone/>
                      </a:pPr>
                      <a:r>
                        <a:rPr lang="en" sz="1200">
                          <a:latin typeface="Calibri"/>
                          <a:ea typeface="Calibri"/>
                          <a:cs typeface="Calibri"/>
                          <a:sym typeface="Calibri"/>
                        </a:rPr>
                        <a:t>Human African Trypanosomiasis serology</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00025">
                <a:tc row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mNGS </a:t>
                      </a:r>
                      <a:endParaRPr sz="1200" b="1">
                        <a:latin typeface="Calibri"/>
                        <a:ea typeface="Calibri"/>
                        <a:cs typeface="Calibri"/>
                        <a:sym typeface="Calibri"/>
                      </a:endParaRPr>
                    </a:p>
                    <a:p>
                      <a:pPr marL="0" lvl="0" indent="0" algn="ctr" rtl="0">
                        <a:lnSpc>
                          <a:spcPct val="115000"/>
                        </a:lnSpc>
                        <a:spcBef>
                          <a:spcPts val="0"/>
                        </a:spcBef>
                        <a:spcAft>
                          <a:spcPts val="0"/>
                        </a:spcAft>
                        <a:buNone/>
                      </a:pPr>
                      <a:r>
                        <a:rPr lang="en" sz="1200" b="1">
                          <a:latin typeface="Calibri"/>
                          <a:ea typeface="Calibri"/>
                          <a:cs typeface="Calibri"/>
                          <a:sym typeface="Calibri"/>
                        </a:rPr>
                        <a:t>results</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i="1">
                          <a:latin typeface="Calibri"/>
                          <a:ea typeface="Calibri"/>
                          <a:cs typeface="Calibri"/>
                          <a:sym typeface="Calibri"/>
                        </a:rPr>
                        <a:t>Plasmodium falciparum</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Trypanosoma brucei gambiense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Nipah henipavirus</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Klebsiella pneumoniae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Pseudomonas aeruginosa</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8"/>
                  </a:ext>
                </a:extLst>
              </a:tr>
              <a:tr h="228600">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Delftia sp. JD2</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9"/>
                  </a:ext>
                </a:extLst>
              </a:tr>
            </a:tbl>
          </a:graphicData>
        </a:graphic>
      </p:graphicFrame>
      <p:sp>
        <p:nvSpPr>
          <p:cNvPr id="682" name="Google Shape;682;p94"/>
          <p:cNvSpPr/>
          <p:nvPr/>
        </p:nvSpPr>
        <p:spPr>
          <a:xfrm>
            <a:off x="5392375" y="2099925"/>
            <a:ext cx="3086100" cy="190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95"/>
          <p:cNvSpPr txBox="1">
            <a:spLocks noGrp="1"/>
          </p:cNvSpPr>
          <p:nvPr>
            <p:ph type="subTitle" idx="1"/>
          </p:nvPr>
        </p:nvSpPr>
        <p:spPr>
          <a:xfrm>
            <a:off x="362275" y="115475"/>
            <a:ext cx="8227800" cy="489300"/>
          </a:xfrm>
          <a:prstGeom prst="rect">
            <a:avLst/>
          </a:prstGeom>
        </p:spPr>
        <p:txBody>
          <a:bodyPr spcFirstLastPara="1" wrap="square" lIns="91425" tIns="91425" rIns="91425" bIns="91425" anchor="t" anchorCtr="0">
            <a:normAutofit lnSpcReduction="10000"/>
          </a:bodyPr>
          <a:lstStyle/>
          <a:p>
            <a:pPr marL="2514600" lvl="0" indent="-2457450" algn="l" rtl="0">
              <a:lnSpc>
                <a:spcPct val="100000"/>
              </a:lnSpc>
              <a:spcBef>
                <a:spcPts val="0"/>
              </a:spcBef>
              <a:spcAft>
                <a:spcPts val="0"/>
              </a:spcAft>
              <a:buNone/>
            </a:pPr>
            <a:r>
              <a:rPr lang="en" sz="2100"/>
              <a:t>Example dataset - Fever with unknown etiology</a:t>
            </a:r>
            <a:endParaRPr sz="2100"/>
          </a:p>
        </p:txBody>
      </p:sp>
      <p:graphicFrame>
        <p:nvGraphicFramePr>
          <p:cNvPr id="688" name="Google Shape;688;p95"/>
          <p:cNvGraphicFramePr/>
          <p:nvPr/>
        </p:nvGraphicFramePr>
        <p:xfrm>
          <a:off x="420313" y="840775"/>
          <a:ext cx="3000000" cy="3000000"/>
        </p:xfrm>
        <a:graphic>
          <a:graphicData uri="http://schemas.openxmlformats.org/drawingml/2006/table">
            <a:tbl>
              <a:tblPr>
                <a:noFill/>
              </a:tblPr>
              <a:tblGrid>
                <a:gridCol w="876300">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00025">
                  <a:extLst>
                    <a:ext uri="{9D8B030D-6E8A-4147-A177-3AD203B41FA5}">
                      <a16:colId xmlns:a16="http://schemas.microsoft.com/office/drawing/2014/main" val="20002"/>
                    </a:ext>
                  </a:extLst>
                </a:gridCol>
                <a:gridCol w="209550">
                  <a:extLst>
                    <a:ext uri="{9D8B030D-6E8A-4147-A177-3AD203B41FA5}">
                      <a16:colId xmlns:a16="http://schemas.microsoft.com/office/drawing/2014/main" val="20003"/>
                    </a:ext>
                  </a:extLst>
                </a:gridCol>
                <a:gridCol w="209550">
                  <a:extLst>
                    <a:ext uri="{9D8B030D-6E8A-4147-A177-3AD203B41FA5}">
                      <a16:colId xmlns:a16="http://schemas.microsoft.com/office/drawing/2014/main" val="20004"/>
                    </a:ext>
                  </a:extLst>
                </a:gridCol>
                <a:gridCol w="209550">
                  <a:extLst>
                    <a:ext uri="{9D8B030D-6E8A-4147-A177-3AD203B41FA5}">
                      <a16:colId xmlns:a16="http://schemas.microsoft.com/office/drawing/2014/main" val="20005"/>
                    </a:ext>
                  </a:extLst>
                </a:gridCol>
                <a:gridCol w="209550">
                  <a:extLst>
                    <a:ext uri="{9D8B030D-6E8A-4147-A177-3AD203B41FA5}">
                      <a16:colId xmlns:a16="http://schemas.microsoft.com/office/drawing/2014/main" val="20006"/>
                    </a:ext>
                  </a:extLst>
                </a:gridCol>
                <a:gridCol w="209550">
                  <a:extLst>
                    <a:ext uri="{9D8B030D-6E8A-4147-A177-3AD203B41FA5}">
                      <a16:colId xmlns:a16="http://schemas.microsoft.com/office/drawing/2014/main" val="20007"/>
                    </a:ext>
                  </a:extLst>
                </a:gridCol>
                <a:gridCol w="180975">
                  <a:extLst>
                    <a:ext uri="{9D8B030D-6E8A-4147-A177-3AD203B41FA5}">
                      <a16:colId xmlns:a16="http://schemas.microsoft.com/office/drawing/2014/main" val="20008"/>
                    </a:ext>
                  </a:extLst>
                </a:gridCol>
                <a:gridCol w="171450">
                  <a:extLst>
                    <a:ext uri="{9D8B030D-6E8A-4147-A177-3AD203B41FA5}">
                      <a16:colId xmlns:a16="http://schemas.microsoft.com/office/drawing/2014/main" val="20009"/>
                    </a:ext>
                  </a:extLst>
                </a:gridCol>
                <a:gridCol w="180975">
                  <a:extLst>
                    <a:ext uri="{9D8B030D-6E8A-4147-A177-3AD203B41FA5}">
                      <a16:colId xmlns:a16="http://schemas.microsoft.com/office/drawing/2014/main" val="20010"/>
                    </a:ext>
                  </a:extLst>
                </a:gridCol>
                <a:gridCol w="209550">
                  <a:extLst>
                    <a:ext uri="{9D8B030D-6E8A-4147-A177-3AD203B41FA5}">
                      <a16:colId xmlns:a16="http://schemas.microsoft.com/office/drawing/2014/main" val="20011"/>
                    </a:ext>
                  </a:extLst>
                </a:gridCol>
                <a:gridCol w="209550">
                  <a:extLst>
                    <a:ext uri="{9D8B030D-6E8A-4147-A177-3AD203B41FA5}">
                      <a16:colId xmlns:a16="http://schemas.microsoft.com/office/drawing/2014/main" val="20012"/>
                    </a:ext>
                  </a:extLst>
                </a:gridCol>
                <a:gridCol w="209550">
                  <a:extLst>
                    <a:ext uri="{9D8B030D-6E8A-4147-A177-3AD203B41FA5}">
                      <a16:colId xmlns:a16="http://schemas.microsoft.com/office/drawing/2014/main" val="20013"/>
                    </a:ext>
                  </a:extLst>
                </a:gridCol>
                <a:gridCol w="209550">
                  <a:extLst>
                    <a:ext uri="{9D8B030D-6E8A-4147-A177-3AD203B41FA5}">
                      <a16:colId xmlns:a16="http://schemas.microsoft.com/office/drawing/2014/main" val="20014"/>
                    </a:ext>
                  </a:extLst>
                </a:gridCol>
                <a:gridCol w="209550">
                  <a:extLst>
                    <a:ext uri="{9D8B030D-6E8A-4147-A177-3AD203B41FA5}">
                      <a16:colId xmlns:a16="http://schemas.microsoft.com/office/drawing/2014/main" val="20015"/>
                    </a:ext>
                  </a:extLst>
                </a:gridCol>
                <a:gridCol w="209550">
                  <a:extLst>
                    <a:ext uri="{9D8B030D-6E8A-4147-A177-3AD203B41FA5}">
                      <a16:colId xmlns:a16="http://schemas.microsoft.com/office/drawing/2014/main" val="20016"/>
                    </a:ext>
                  </a:extLst>
                </a:gridCol>
                <a:gridCol w="219075">
                  <a:extLst>
                    <a:ext uri="{9D8B030D-6E8A-4147-A177-3AD203B41FA5}">
                      <a16:colId xmlns:a16="http://schemas.microsoft.com/office/drawing/2014/main" val="20017"/>
                    </a:ext>
                  </a:extLst>
                </a:gridCol>
                <a:gridCol w="219075">
                  <a:extLst>
                    <a:ext uri="{9D8B030D-6E8A-4147-A177-3AD203B41FA5}">
                      <a16:colId xmlns:a16="http://schemas.microsoft.com/office/drawing/2014/main" val="20018"/>
                    </a:ext>
                  </a:extLst>
                </a:gridCol>
                <a:gridCol w="219075">
                  <a:extLst>
                    <a:ext uri="{9D8B030D-6E8A-4147-A177-3AD203B41FA5}">
                      <a16:colId xmlns:a16="http://schemas.microsoft.com/office/drawing/2014/main" val="20019"/>
                    </a:ext>
                  </a:extLst>
                </a:gridCol>
                <a:gridCol w="295275">
                  <a:extLst>
                    <a:ext uri="{9D8B030D-6E8A-4147-A177-3AD203B41FA5}">
                      <a16:colId xmlns:a16="http://schemas.microsoft.com/office/drawing/2014/main" val="20020"/>
                    </a:ext>
                  </a:extLst>
                </a:gridCol>
                <a:gridCol w="295275">
                  <a:extLst>
                    <a:ext uri="{9D8B030D-6E8A-4147-A177-3AD203B41FA5}">
                      <a16:colId xmlns:a16="http://schemas.microsoft.com/office/drawing/2014/main" val="20021"/>
                    </a:ext>
                  </a:extLst>
                </a:gridCol>
              </a:tblGrid>
              <a:tr h="200025">
                <a:tc>
                  <a:txBody>
                    <a:bodyPr/>
                    <a:lstStyle/>
                    <a:p>
                      <a:pPr marL="0" lvl="0" indent="0" algn="l" rtl="0">
                        <a:spcBef>
                          <a:spcPts val="0"/>
                        </a:spcBef>
                        <a:spcAft>
                          <a:spcPts val="0"/>
                        </a:spcAft>
                        <a:buNone/>
                      </a:pPr>
                      <a:endParaRPr/>
                    </a:p>
                  </a:txBody>
                  <a:tcPr marL="9525" marR="9525" marT="9525" marB="91425" anchor="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noFill/>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positives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Unknowns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negatives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Water</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extLst>
                  <a:ext uri="{0D108BD9-81ED-4DB2-BD59-A6C34878D82A}">
                    <a16:rowId xmlns:a16="http://schemas.microsoft.com/office/drawing/2014/main" val="10000"/>
                  </a:ext>
                </a:extLst>
              </a:tr>
              <a:tr h="219075">
                <a:tc>
                  <a:txBody>
                    <a:bodyPr/>
                    <a:lstStyle/>
                    <a:p>
                      <a:pPr marL="0" lvl="0" indent="0" algn="l" rtl="0">
                        <a:spcBef>
                          <a:spcPts val="0"/>
                        </a:spcBef>
                        <a:spcAft>
                          <a:spcPts val="0"/>
                        </a:spcAft>
                        <a:buNone/>
                      </a:pPr>
                      <a:endParaRPr/>
                    </a:p>
                  </a:txBody>
                  <a:tcPr marL="9525" marR="9525" marT="9525" marB="91425" anchor="b">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2</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3</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6</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7</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8</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9</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10</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11</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13</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16</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17</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18</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00025">
                <a:tc row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Traditional diagnostics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Malaria blood smear results</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extLst>
                  <a:ext uri="{0D108BD9-81ED-4DB2-BD59-A6C34878D82A}">
                    <a16:rowId xmlns:a16="http://schemas.microsoft.com/office/drawing/2014/main" val="10002"/>
                  </a:ext>
                </a:extLst>
              </a:tr>
              <a:tr h="219075">
                <a:tc vMerge="1">
                  <a:txBody>
                    <a:bodyPr/>
                    <a:lstStyle/>
                    <a:p>
                      <a:endParaRPr lang="en-US"/>
                    </a:p>
                  </a:txBody>
                  <a:tcPr/>
                </a:tc>
                <a:tc>
                  <a:txBody>
                    <a:bodyPr/>
                    <a:lstStyle/>
                    <a:p>
                      <a:pPr marL="0" lvl="0" indent="0" algn="l" rtl="0">
                        <a:spcBef>
                          <a:spcPts val="0"/>
                        </a:spcBef>
                        <a:spcAft>
                          <a:spcPts val="0"/>
                        </a:spcAft>
                        <a:buNone/>
                      </a:pPr>
                      <a:r>
                        <a:rPr lang="en" sz="1200">
                          <a:latin typeface="Calibri"/>
                          <a:ea typeface="Calibri"/>
                          <a:cs typeface="Calibri"/>
                          <a:sym typeface="Calibri"/>
                        </a:rPr>
                        <a:t>Human African Trypanosomiasis serology</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00025">
                <a:tc row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mNGS </a:t>
                      </a:r>
                      <a:endParaRPr sz="1200" b="1">
                        <a:latin typeface="Calibri"/>
                        <a:ea typeface="Calibri"/>
                        <a:cs typeface="Calibri"/>
                        <a:sym typeface="Calibri"/>
                      </a:endParaRPr>
                    </a:p>
                    <a:p>
                      <a:pPr marL="0" lvl="0" indent="0" algn="ctr" rtl="0">
                        <a:lnSpc>
                          <a:spcPct val="115000"/>
                        </a:lnSpc>
                        <a:spcBef>
                          <a:spcPts val="0"/>
                        </a:spcBef>
                        <a:spcAft>
                          <a:spcPts val="0"/>
                        </a:spcAft>
                        <a:buNone/>
                      </a:pPr>
                      <a:r>
                        <a:rPr lang="en" sz="1200" b="1">
                          <a:latin typeface="Calibri"/>
                          <a:ea typeface="Calibri"/>
                          <a:cs typeface="Calibri"/>
                          <a:sym typeface="Calibri"/>
                        </a:rPr>
                        <a:t>results</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i="1">
                          <a:latin typeface="Calibri"/>
                          <a:ea typeface="Calibri"/>
                          <a:cs typeface="Calibri"/>
                          <a:sym typeface="Calibri"/>
                        </a:rPr>
                        <a:t>Plasmodium falciparum</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Trypanosoma brucei gambiense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Nipah henipavirus</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Klebsiella pneumoniae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Pseudomonas aeruginosa</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8"/>
                  </a:ext>
                </a:extLst>
              </a:tr>
              <a:tr h="228600">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Delftia sp. JD2</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9"/>
                  </a:ext>
                </a:extLst>
              </a:tr>
            </a:tbl>
          </a:graphicData>
        </a:graphic>
      </p:graphicFrame>
      <p:sp>
        <p:nvSpPr>
          <p:cNvPr id="689" name="Google Shape;689;p95"/>
          <p:cNvSpPr/>
          <p:nvPr/>
        </p:nvSpPr>
        <p:spPr>
          <a:xfrm>
            <a:off x="6554425" y="2099925"/>
            <a:ext cx="1923900" cy="190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96"/>
          <p:cNvSpPr txBox="1">
            <a:spLocks noGrp="1"/>
          </p:cNvSpPr>
          <p:nvPr>
            <p:ph type="subTitle" idx="1"/>
          </p:nvPr>
        </p:nvSpPr>
        <p:spPr>
          <a:xfrm>
            <a:off x="362275" y="115475"/>
            <a:ext cx="8227800" cy="489300"/>
          </a:xfrm>
          <a:prstGeom prst="rect">
            <a:avLst/>
          </a:prstGeom>
        </p:spPr>
        <p:txBody>
          <a:bodyPr spcFirstLastPara="1" wrap="square" lIns="91425" tIns="91425" rIns="91425" bIns="91425" anchor="t" anchorCtr="0">
            <a:normAutofit lnSpcReduction="10000"/>
          </a:bodyPr>
          <a:lstStyle/>
          <a:p>
            <a:pPr marL="2514600" lvl="0" indent="-2457450" algn="l" rtl="0">
              <a:lnSpc>
                <a:spcPct val="100000"/>
              </a:lnSpc>
              <a:spcBef>
                <a:spcPts val="0"/>
              </a:spcBef>
              <a:spcAft>
                <a:spcPts val="0"/>
              </a:spcAft>
              <a:buNone/>
            </a:pPr>
            <a:r>
              <a:rPr lang="en" sz="2100"/>
              <a:t>Example dataset - Fever with unknown etiology</a:t>
            </a:r>
            <a:endParaRPr sz="2100"/>
          </a:p>
        </p:txBody>
      </p:sp>
      <p:graphicFrame>
        <p:nvGraphicFramePr>
          <p:cNvPr id="695" name="Google Shape;695;p96"/>
          <p:cNvGraphicFramePr/>
          <p:nvPr/>
        </p:nvGraphicFramePr>
        <p:xfrm>
          <a:off x="420313" y="840775"/>
          <a:ext cx="8010525" cy="3020164"/>
        </p:xfrm>
        <a:graphic>
          <a:graphicData uri="http://schemas.openxmlformats.org/drawingml/2006/table">
            <a:tbl>
              <a:tblPr>
                <a:noFill/>
              </a:tblPr>
              <a:tblGrid>
                <a:gridCol w="876300">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00025">
                  <a:extLst>
                    <a:ext uri="{9D8B030D-6E8A-4147-A177-3AD203B41FA5}">
                      <a16:colId xmlns:a16="http://schemas.microsoft.com/office/drawing/2014/main" val="20002"/>
                    </a:ext>
                  </a:extLst>
                </a:gridCol>
                <a:gridCol w="209550">
                  <a:extLst>
                    <a:ext uri="{9D8B030D-6E8A-4147-A177-3AD203B41FA5}">
                      <a16:colId xmlns:a16="http://schemas.microsoft.com/office/drawing/2014/main" val="20003"/>
                    </a:ext>
                  </a:extLst>
                </a:gridCol>
                <a:gridCol w="209550">
                  <a:extLst>
                    <a:ext uri="{9D8B030D-6E8A-4147-A177-3AD203B41FA5}">
                      <a16:colId xmlns:a16="http://schemas.microsoft.com/office/drawing/2014/main" val="20004"/>
                    </a:ext>
                  </a:extLst>
                </a:gridCol>
                <a:gridCol w="209550">
                  <a:extLst>
                    <a:ext uri="{9D8B030D-6E8A-4147-A177-3AD203B41FA5}">
                      <a16:colId xmlns:a16="http://schemas.microsoft.com/office/drawing/2014/main" val="20005"/>
                    </a:ext>
                  </a:extLst>
                </a:gridCol>
                <a:gridCol w="209550">
                  <a:extLst>
                    <a:ext uri="{9D8B030D-6E8A-4147-A177-3AD203B41FA5}">
                      <a16:colId xmlns:a16="http://schemas.microsoft.com/office/drawing/2014/main" val="20006"/>
                    </a:ext>
                  </a:extLst>
                </a:gridCol>
                <a:gridCol w="209550">
                  <a:extLst>
                    <a:ext uri="{9D8B030D-6E8A-4147-A177-3AD203B41FA5}">
                      <a16:colId xmlns:a16="http://schemas.microsoft.com/office/drawing/2014/main" val="20007"/>
                    </a:ext>
                  </a:extLst>
                </a:gridCol>
                <a:gridCol w="180975">
                  <a:extLst>
                    <a:ext uri="{9D8B030D-6E8A-4147-A177-3AD203B41FA5}">
                      <a16:colId xmlns:a16="http://schemas.microsoft.com/office/drawing/2014/main" val="20008"/>
                    </a:ext>
                  </a:extLst>
                </a:gridCol>
                <a:gridCol w="171450">
                  <a:extLst>
                    <a:ext uri="{9D8B030D-6E8A-4147-A177-3AD203B41FA5}">
                      <a16:colId xmlns:a16="http://schemas.microsoft.com/office/drawing/2014/main" val="20009"/>
                    </a:ext>
                  </a:extLst>
                </a:gridCol>
                <a:gridCol w="180975">
                  <a:extLst>
                    <a:ext uri="{9D8B030D-6E8A-4147-A177-3AD203B41FA5}">
                      <a16:colId xmlns:a16="http://schemas.microsoft.com/office/drawing/2014/main" val="20010"/>
                    </a:ext>
                  </a:extLst>
                </a:gridCol>
                <a:gridCol w="209550">
                  <a:extLst>
                    <a:ext uri="{9D8B030D-6E8A-4147-A177-3AD203B41FA5}">
                      <a16:colId xmlns:a16="http://schemas.microsoft.com/office/drawing/2014/main" val="20011"/>
                    </a:ext>
                  </a:extLst>
                </a:gridCol>
                <a:gridCol w="209550">
                  <a:extLst>
                    <a:ext uri="{9D8B030D-6E8A-4147-A177-3AD203B41FA5}">
                      <a16:colId xmlns:a16="http://schemas.microsoft.com/office/drawing/2014/main" val="20012"/>
                    </a:ext>
                  </a:extLst>
                </a:gridCol>
                <a:gridCol w="209550">
                  <a:extLst>
                    <a:ext uri="{9D8B030D-6E8A-4147-A177-3AD203B41FA5}">
                      <a16:colId xmlns:a16="http://schemas.microsoft.com/office/drawing/2014/main" val="20013"/>
                    </a:ext>
                  </a:extLst>
                </a:gridCol>
                <a:gridCol w="209550">
                  <a:extLst>
                    <a:ext uri="{9D8B030D-6E8A-4147-A177-3AD203B41FA5}">
                      <a16:colId xmlns:a16="http://schemas.microsoft.com/office/drawing/2014/main" val="20014"/>
                    </a:ext>
                  </a:extLst>
                </a:gridCol>
                <a:gridCol w="209550">
                  <a:extLst>
                    <a:ext uri="{9D8B030D-6E8A-4147-A177-3AD203B41FA5}">
                      <a16:colId xmlns:a16="http://schemas.microsoft.com/office/drawing/2014/main" val="20015"/>
                    </a:ext>
                  </a:extLst>
                </a:gridCol>
                <a:gridCol w="209550">
                  <a:extLst>
                    <a:ext uri="{9D8B030D-6E8A-4147-A177-3AD203B41FA5}">
                      <a16:colId xmlns:a16="http://schemas.microsoft.com/office/drawing/2014/main" val="20016"/>
                    </a:ext>
                  </a:extLst>
                </a:gridCol>
                <a:gridCol w="219075">
                  <a:extLst>
                    <a:ext uri="{9D8B030D-6E8A-4147-A177-3AD203B41FA5}">
                      <a16:colId xmlns:a16="http://schemas.microsoft.com/office/drawing/2014/main" val="20017"/>
                    </a:ext>
                  </a:extLst>
                </a:gridCol>
                <a:gridCol w="219075">
                  <a:extLst>
                    <a:ext uri="{9D8B030D-6E8A-4147-A177-3AD203B41FA5}">
                      <a16:colId xmlns:a16="http://schemas.microsoft.com/office/drawing/2014/main" val="20018"/>
                    </a:ext>
                  </a:extLst>
                </a:gridCol>
                <a:gridCol w="219075">
                  <a:extLst>
                    <a:ext uri="{9D8B030D-6E8A-4147-A177-3AD203B41FA5}">
                      <a16:colId xmlns:a16="http://schemas.microsoft.com/office/drawing/2014/main" val="20019"/>
                    </a:ext>
                  </a:extLst>
                </a:gridCol>
                <a:gridCol w="295275">
                  <a:extLst>
                    <a:ext uri="{9D8B030D-6E8A-4147-A177-3AD203B41FA5}">
                      <a16:colId xmlns:a16="http://schemas.microsoft.com/office/drawing/2014/main" val="20020"/>
                    </a:ext>
                  </a:extLst>
                </a:gridCol>
                <a:gridCol w="295275">
                  <a:extLst>
                    <a:ext uri="{9D8B030D-6E8A-4147-A177-3AD203B41FA5}">
                      <a16:colId xmlns:a16="http://schemas.microsoft.com/office/drawing/2014/main" val="20021"/>
                    </a:ext>
                  </a:extLst>
                </a:gridCol>
              </a:tblGrid>
              <a:tr h="200025">
                <a:tc>
                  <a:txBody>
                    <a:bodyPr/>
                    <a:lstStyle/>
                    <a:p>
                      <a:pPr marL="0" lvl="0" indent="0" algn="l" rtl="0">
                        <a:spcBef>
                          <a:spcPts val="0"/>
                        </a:spcBef>
                        <a:spcAft>
                          <a:spcPts val="0"/>
                        </a:spcAft>
                        <a:buNone/>
                      </a:pPr>
                      <a:endParaRPr/>
                    </a:p>
                  </a:txBody>
                  <a:tcPr marL="9525" marR="9525" marT="9525" marB="91425" anchor="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noFill/>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positives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Unknowns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negatives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Water</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extLst>
                  <a:ext uri="{0D108BD9-81ED-4DB2-BD59-A6C34878D82A}">
                    <a16:rowId xmlns:a16="http://schemas.microsoft.com/office/drawing/2014/main" val="10000"/>
                  </a:ext>
                </a:extLst>
              </a:tr>
              <a:tr h="219075">
                <a:tc>
                  <a:txBody>
                    <a:bodyPr/>
                    <a:lstStyle/>
                    <a:p>
                      <a:pPr marL="0" lvl="0" indent="0" algn="l" rtl="0">
                        <a:spcBef>
                          <a:spcPts val="0"/>
                        </a:spcBef>
                        <a:spcAft>
                          <a:spcPts val="0"/>
                        </a:spcAft>
                        <a:buNone/>
                      </a:pPr>
                      <a:endParaRPr/>
                    </a:p>
                  </a:txBody>
                  <a:tcPr marL="9525" marR="9525" marT="9525" marB="91425" anchor="b">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2</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3</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6</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7</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8</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9</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10</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11</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13</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16</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17</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18</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00025">
                <a:tc row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Traditional diagnostics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Malaria blood smear results</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extLst>
                  <a:ext uri="{0D108BD9-81ED-4DB2-BD59-A6C34878D82A}">
                    <a16:rowId xmlns:a16="http://schemas.microsoft.com/office/drawing/2014/main" val="10002"/>
                  </a:ext>
                </a:extLst>
              </a:tr>
              <a:tr h="219075">
                <a:tc vMerge="1">
                  <a:txBody>
                    <a:bodyPr/>
                    <a:lstStyle/>
                    <a:p>
                      <a:endParaRPr lang="en-US"/>
                    </a:p>
                  </a:txBody>
                  <a:tcPr/>
                </a:tc>
                <a:tc>
                  <a:txBody>
                    <a:bodyPr/>
                    <a:lstStyle/>
                    <a:p>
                      <a:pPr marL="0" lvl="0" indent="0" algn="l" rtl="0">
                        <a:spcBef>
                          <a:spcPts val="0"/>
                        </a:spcBef>
                        <a:spcAft>
                          <a:spcPts val="0"/>
                        </a:spcAft>
                        <a:buNone/>
                      </a:pPr>
                      <a:r>
                        <a:rPr lang="en" sz="1200">
                          <a:latin typeface="Calibri"/>
                          <a:ea typeface="Calibri"/>
                          <a:cs typeface="Calibri"/>
                          <a:sym typeface="Calibri"/>
                        </a:rPr>
                        <a:t>Human African Trypanosomiasis serology</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00025">
                <a:tc row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mNGS </a:t>
                      </a:r>
                      <a:endParaRPr sz="1200" b="1">
                        <a:latin typeface="Calibri"/>
                        <a:ea typeface="Calibri"/>
                        <a:cs typeface="Calibri"/>
                        <a:sym typeface="Calibri"/>
                      </a:endParaRPr>
                    </a:p>
                    <a:p>
                      <a:pPr marL="0" lvl="0" indent="0" algn="ctr" rtl="0">
                        <a:lnSpc>
                          <a:spcPct val="115000"/>
                        </a:lnSpc>
                        <a:spcBef>
                          <a:spcPts val="0"/>
                        </a:spcBef>
                        <a:spcAft>
                          <a:spcPts val="0"/>
                        </a:spcAft>
                        <a:buNone/>
                      </a:pPr>
                      <a:r>
                        <a:rPr lang="en" sz="1200" b="1">
                          <a:latin typeface="Calibri"/>
                          <a:ea typeface="Calibri"/>
                          <a:cs typeface="Calibri"/>
                          <a:sym typeface="Calibri"/>
                        </a:rPr>
                        <a:t>results</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i="1">
                          <a:latin typeface="Calibri"/>
                          <a:ea typeface="Calibri"/>
                          <a:cs typeface="Calibri"/>
                          <a:sym typeface="Calibri"/>
                        </a:rPr>
                        <a:t>Plasmodium falciparum</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Trypanosoma brucei gambiense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Nipah henipavirus</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Klebsiella pneumoniae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Pseudomonas aeruginosa</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8"/>
                  </a:ext>
                </a:extLst>
              </a:tr>
              <a:tr h="228600">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Delftia sp. JD2</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9"/>
                  </a:ext>
                </a:extLst>
              </a:tr>
            </a:tbl>
          </a:graphicData>
        </a:graphic>
      </p:graphicFrame>
      <p:sp>
        <p:nvSpPr>
          <p:cNvPr id="696" name="Google Shape;696;p96"/>
          <p:cNvSpPr/>
          <p:nvPr/>
        </p:nvSpPr>
        <p:spPr>
          <a:xfrm>
            <a:off x="7840300" y="2099925"/>
            <a:ext cx="638100" cy="190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97"/>
          <p:cNvSpPr txBox="1"/>
          <p:nvPr/>
        </p:nvSpPr>
        <p:spPr>
          <a:xfrm>
            <a:off x="871100" y="4046525"/>
            <a:ext cx="7823100" cy="10473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300"/>
              <a:t>An adequate set of controls will help you discriminate true pathogens from:</a:t>
            </a:r>
            <a:endParaRPr sz="1300"/>
          </a:p>
          <a:p>
            <a:pPr marL="457200" lvl="0" indent="-311150" algn="l" rtl="0">
              <a:lnSpc>
                <a:spcPct val="150000"/>
              </a:lnSpc>
              <a:spcBef>
                <a:spcPts val="0"/>
              </a:spcBef>
              <a:spcAft>
                <a:spcPts val="0"/>
              </a:spcAft>
              <a:buSzPts val="1300"/>
              <a:buChar char="-"/>
            </a:pPr>
            <a:r>
              <a:rPr lang="en" sz="1300"/>
              <a:t>Contaminants during library preparation (extraction to sequencing library)</a:t>
            </a:r>
            <a:endParaRPr sz="1300"/>
          </a:p>
          <a:p>
            <a:pPr marL="457200" lvl="0" indent="-311150" algn="l" rtl="0">
              <a:lnSpc>
                <a:spcPct val="150000"/>
              </a:lnSpc>
              <a:spcBef>
                <a:spcPts val="0"/>
              </a:spcBef>
              <a:spcAft>
                <a:spcPts val="0"/>
              </a:spcAft>
              <a:buSzPts val="1300"/>
              <a:buChar char="-"/>
            </a:pPr>
            <a:r>
              <a:rPr lang="en" sz="1300"/>
              <a:t>Contaminants from sampling procedure</a:t>
            </a:r>
            <a:endParaRPr sz="1300"/>
          </a:p>
        </p:txBody>
      </p:sp>
      <p:graphicFrame>
        <p:nvGraphicFramePr>
          <p:cNvPr id="702" name="Google Shape;702;p97"/>
          <p:cNvGraphicFramePr/>
          <p:nvPr/>
        </p:nvGraphicFramePr>
        <p:xfrm>
          <a:off x="420313" y="840775"/>
          <a:ext cx="3000000" cy="3000000"/>
        </p:xfrm>
        <a:graphic>
          <a:graphicData uri="http://schemas.openxmlformats.org/drawingml/2006/table">
            <a:tbl>
              <a:tblPr>
                <a:noFill/>
              </a:tblPr>
              <a:tblGrid>
                <a:gridCol w="876300">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00025">
                  <a:extLst>
                    <a:ext uri="{9D8B030D-6E8A-4147-A177-3AD203B41FA5}">
                      <a16:colId xmlns:a16="http://schemas.microsoft.com/office/drawing/2014/main" val="20002"/>
                    </a:ext>
                  </a:extLst>
                </a:gridCol>
                <a:gridCol w="209550">
                  <a:extLst>
                    <a:ext uri="{9D8B030D-6E8A-4147-A177-3AD203B41FA5}">
                      <a16:colId xmlns:a16="http://schemas.microsoft.com/office/drawing/2014/main" val="20003"/>
                    </a:ext>
                  </a:extLst>
                </a:gridCol>
                <a:gridCol w="209550">
                  <a:extLst>
                    <a:ext uri="{9D8B030D-6E8A-4147-A177-3AD203B41FA5}">
                      <a16:colId xmlns:a16="http://schemas.microsoft.com/office/drawing/2014/main" val="20004"/>
                    </a:ext>
                  </a:extLst>
                </a:gridCol>
                <a:gridCol w="209550">
                  <a:extLst>
                    <a:ext uri="{9D8B030D-6E8A-4147-A177-3AD203B41FA5}">
                      <a16:colId xmlns:a16="http://schemas.microsoft.com/office/drawing/2014/main" val="20005"/>
                    </a:ext>
                  </a:extLst>
                </a:gridCol>
                <a:gridCol w="209550">
                  <a:extLst>
                    <a:ext uri="{9D8B030D-6E8A-4147-A177-3AD203B41FA5}">
                      <a16:colId xmlns:a16="http://schemas.microsoft.com/office/drawing/2014/main" val="20006"/>
                    </a:ext>
                  </a:extLst>
                </a:gridCol>
                <a:gridCol w="209550">
                  <a:extLst>
                    <a:ext uri="{9D8B030D-6E8A-4147-A177-3AD203B41FA5}">
                      <a16:colId xmlns:a16="http://schemas.microsoft.com/office/drawing/2014/main" val="20007"/>
                    </a:ext>
                  </a:extLst>
                </a:gridCol>
                <a:gridCol w="180975">
                  <a:extLst>
                    <a:ext uri="{9D8B030D-6E8A-4147-A177-3AD203B41FA5}">
                      <a16:colId xmlns:a16="http://schemas.microsoft.com/office/drawing/2014/main" val="20008"/>
                    </a:ext>
                  </a:extLst>
                </a:gridCol>
                <a:gridCol w="171450">
                  <a:extLst>
                    <a:ext uri="{9D8B030D-6E8A-4147-A177-3AD203B41FA5}">
                      <a16:colId xmlns:a16="http://schemas.microsoft.com/office/drawing/2014/main" val="20009"/>
                    </a:ext>
                  </a:extLst>
                </a:gridCol>
                <a:gridCol w="180975">
                  <a:extLst>
                    <a:ext uri="{9D8B030D-6E8A-4147-A177-3AD203B41FA5}">
                      <a16:colId xmlns:a16="http://schemas.microsoft.com/office/drawing/2014/main" val="20010"/>
                    </a:ext>
                  </a:extLst>
                </a:gridCol>
                <a:gridCol w="209550">
                  <a:extLst>
                    <a:ext uri="{9D8B030D-6E8A-4147-A177-3AD203B41FA5}">
                      <a16:colId xmlns:a16="http://schemas.microsoft.com/office/drawing/2014/main" val="20011"/>
                    </a:ext>
                  </a:extLst>
                </a:gridCol>
                <a:gridCol w="209550">
                  <a:extLst>
                    <a:ext uri="{9D8B030D-6E8A-4147-A177-3AD203B41FA5}">
                      <a16:colId xmlns:a16="http://schemas.microsoft.com/office/drawing/2014/main" val="20012"/>
                    </a:ext>
                  </a:extLst>
                </a:gridCol>
                <a:gridCol w="209550">
                  <a:extLst>
                    <a:ext uri="{9D8B030D-6E8A-4147-A177-3AD203B41FA5}">
                      <a16:colId xmlns:a16="http://schemas.microsoft.com/office/drawing/2014/main" val="20013"/>
                    </a:ext>
                  </a:extLst>
                </a:gridCol>
                <a:gridCol w="209550">
                  <a:extLst>
                    <a:ext uri="{9D8B030D-6E8A-4147-A177-3AD203B41FA5}">
                      <a16:colId xmlns:a16="http://schemas.microsoft.com/office/drawing/2014/main" val="20014"/>
                    </a:ext>
                  </a:extLst>
                </a:gridCol>
                <a:gridCol w="209550">
                  <a:extLst>
                    <a:ext uri="{9D8B030D-6E8A-4147-A177-3AD203B41FA5}">
                      <a16:colId xmlns:a16="http://schemas.microsoft.com/office/drawing/2014/main" val="20015"/>
                    </a:ext>
                  </a:extLst>
                </a:gridCol>
                <a:gridCol w="209550">
                  <a:extLst>
                    <a:ext uri="{9D8B030D-6E8A-4147-A177-3AD203B41FA5}">
                      <a16:colId xmlns:a16="http://schemas.microsoft.com/office/drawing/2014/main" val="20016"/>
                    </a:ext>
                  </a:extLst>
                </a:gridCol>
                <a:gridCol w="219075">
                  <a:extLst>
                    <a:ext uri="{9D8B030D-6E8A-4147-A177-3AD203B41FA5}">
                      <a16:colId xmlns:a16="http://schemas.microsoft.com/office/drawing/2014/main" val="20017"/>
                    </a:ext>
                  </a:extLst>
                </a:gridCol>
                <a:gridCol w="219075">
                  <a:extLst>
                    <a:ext uri="{9D8B030D-6E8A-4147-A177-3AD203B41FA5}">
                      <a16:colId xmlns:a16="http://schemas.microsoft.com/office/drawing/2014/main" val="20018"/>
                    </a:ext>
                  </a:extLst>
                </a:gridCol>
                <a:gridCol w="219075">
                  <a:extLst>
                    <a:ext uri="{9D8B030D-6E8A-4147-A177-3AD203B41FA5}">
                      <a16:colId xmlns:a16="http://schemas.microsoft.com/office/drawing/2014/main" val="20019"/>
                    </a:ext>
                  </a:extLst>
                </a:gridCol>
                <a:gridCol w="295275">
                  <a:extLst>
                    <a:ext uri="{9D8B030D-6E8A-4147-A177-3AD203B41FA5}">
                      <a16:colId xmlns:a16="http://schemas.microsoft.com/office/drawing/2014/main" val="20020"/>
                    </a:ext>
                  </a:extLst>
                </a:gridCol>
                <a:gridCol w="295275">
                  <a:extLst>
                    <a:ext uri="{9D8B030D-6E8A-4147-A177-3AD203B41FA5}">
                      <a16:colId xmlns:a16="http://schemas.microsoft.com/office/drawing/2014/main" val="20021"/>
                    </a:ext>
                  </a:extLst>
                </a:gridCol>
              </a:tblGrid>
              <a:tr h="200025">
                <a:tc>
                  <a:txBody>
                    <a:bodyPr/>
                    <a:lstStyle/>
                    <a:p>
                      <a:pPr marL="0" lvl="0" indent="0" algn="l" rtl="0">
                        <a:spcBef>
                          <a:spcPts val="0"/>
                        </a:spcBef>
                        <a:spcAft>
                          <a:spcPts val="0"/>
                        </a:spcAft>
                        <a:buNone/>
                      </a:pPr>
                      <a:endParaRPr/>
                    </a:p>
                  </a:txBody>
                  <a:tcPr marL="9525" marR="9525" marT="9525" marB="91425" anchor="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noFill/>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positives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Unknowns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negatives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Water</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extLst>
                  <a:ext uri="{0D108BD9-81ED-4DB2-BD59-A6C34878D82A}">
                    <a16:rowId xmlns:a16="http://schemas.microsoft.com/office/drawing/2014/main" val="10000"/>
                  </a:ext>
                </a:extLst>
              </a:tr>
              <a:tr h="219075">
                <a:tc>
                  <a:txBody>
                    <a:bodyPr/>
                    <a:lstStyle/>
                    <a:p>
                      <a:pPr marL="0" lvl="0" indent="0" algn="l" rtl="0">
                        <a:spcBef>
                          <a:spcPts val="0"/>
                        </a:spcBef>
                        <a:spcAft>
                          <a:spcPts val="0"/>
                        </a:spcAft>
                        <a:buNone/>
                      </a:pPr>
                      <a:endParaRPr/>
                    </a:p>
                  </a:txBody>
                  <a:tcPr marL="9525" marR="9525" marT="9525" marB="91425" anchor="b">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2</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3</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6</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7</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8</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9</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10</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11</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13</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16</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17</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18</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00025">
                <a:tc row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Traditional diagnostics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Malaria blood smear results</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extLst>
                  <a:ext uri="{0D108BD9-81ED-4DB2-BD59-A6C34878D82A}">
                    <a16:rowId xmlns:a16="http://schemas.microsoft.com/office/drawing/2014/main" val="10002"/>
                  </a:ext>
                </a:extLst>
              </a:tr>
              <a:tr h="219075">
                <a:tc vMerge="1">
                  <a:txBody>
                    <a:bodyPr/>
                    <a:lstStyle/>
                    <a:p>
                      <a:endParaRPr lang="en-US"/>
                    </a:p>
                  </a:txBody>
                  <a:tcPr/>
                </a:tc>
                <a:tc>
                  <a:txBody>
                    <a:bodyPr/>
                    <a:lstStyle/>
                    <a:p>
                      <a:pPr marL="0" lvl="0" indent="0" algn="l" rtl="0">
                        <a:spcBef>
                          <a:spcPts val="0"/>
                        </a:spcBef>
                        <a:spcAft>
                          <a:spcPts val="0"/>
                        </a:spcAft>
                        <a:buNone/>
                      </a:pPr>
                      <a:r>
                        <a:rPr lang="en" sz="1200">
                          <a:latin typeface="Calibri"/>
                          <a:ea typeface="Calibri"/>
                          <a:cs typeface="Calibri"/>
                          <a:sym typeface="Calibri"/>
                        </a:rPr>
                        <a:t>Human African Trypanosomiasis serology</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00025">
                <a:tc row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mNGS </a:t>
                      </a:r>
                      <a:endParaRPr sz="1200" b="1">
                        <a:latin typeface="Calibri"/>
                        <a:ea typeface="Calibri"/>
                        <a:cs typeface="Calibri"/>
                        <a:sym typeface="Calibri"/>
                      </a:endParaRPr>
                    </a:p>
                    <a:p>
                      <a:pPr marL="0" lvl="0" indent="0" algn="ctr" rtl="0">
                        <a:lnSpc>
                          <a:spcPct val="115000"/>
                        </a:lnSpc>
                        <a:spcBef>
                          <a:spcPts val="0"/>
                        </a:spcBef>
                        <a:spcAft>
                          <a:spcPts val="0"/>
                        </a:spcAft>
                        <a:buNone/>
                      </a:pPr>
                      <a:r>
                        <a:rPr lang="en" sz="1200" b="1">
                          <a:latin typeface="Calibri"/>
                          <a:ea typeface="Calibri"/>
                          <a:cs typeface="Calibri"/>
                          <a:sym typeface="Calibri"/>
                        </a:rPr>
                        <a:t>results</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i="1">
                          <a:latin typeface="Calibri"/>
                          <a:ea typeface="Calibri"/>
                          <a:cs typeface="Calibri"/>
                          <a:sym typeface="Calibri"/>
                        </a:rPr>
                        <a:t>Plasmodium falciparum</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Trypanosoma brucei gambiense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Nipah henipavirus</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Klebsiella pneumoniae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Pseudomonas aeruginosa</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8"/>
                  </a:ext>
                </a:extLst>
              </a:tr>
              <a:tr h="228600">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Delftia sp. JD2</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9"/>
                  </a:ext>
                </a:extLst>
              </a:tr>
            </a:tbl>
          </a:graphicData>
        </a:graphic>
      </p:graphicFrame>
      <p:sp>
        <p:nvSpPr>
          <p:cNvPr id="703" name="Google Shape;703;p97"/>
          <p:cNvSpPr txBox="1"/>
          <p:nvPr/>
        </p:nvSpPr>
        <p:spPr>
          <a:xfrm>
            <a:off x="7030675" y="4505450"/>
            <a:ext cx="1559400" cy="55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Background signal</a:t>
            </a:r>
            <a:endParaRPr sz="1300"/>
          </a:p>
        </p:txBody>
      </p:sp>
      <p:cxnSp>
        <p:nvCxnSpPr>
          <p:cNvPr id="704" name="Google Shape;704;p97"/>
          <p:cNvCxnSpPr/>
          <p:nvPr/>
        </p:nvCxnSpPr>
        <p:spPr>
          <a:xfrm>
            <a:off x="7011625" y="4505450"/>
            <a:ext cx="0" cy="390000"/>
          </a:xfrm>
          <a:prstGeom prst="straightConnector1">
            <a:avLst/>
          </a:prstGeom>
          <a:noFill/>
          <a:ln w="9525" cap="flat" cmpd="sng">
            <a:solidFill>
              <a:schemeClr val="dk2"/>
            </a:solidFill>
            <a:prstDash val="solid"/>
            <a:round/>
            <a:headEnd type="none" w="med" len="med"/>
            <a:tailEnd type="none" w="med" len="med"/>
          </a:ln>
        </p:spPr>
      </p:cxnSp>
      <p:sp>
        <p:nvSpPr>
          <p:cNvPr id="705" name="Google Shape;705;p97"/>
          <p:cNvSpPr txBox="1">
            <a:spLocks noGrp="1"/>
          </p:cNvSpPr>
          <p:nvPr>
            <p:ph type="subTitle" idx="1"/>
          </p:nvPr>
        </p:nvSpPr>
        <p:spPr>
          <a:xfrm>
            <a:off x="362275" y="115475"/>
            <a:ext cx="8227800" cy="489300"/>
          </a:xfrm>
          <a:prstGeom prst="rect">
            <a:avLst/>
          </a:prstGeom>
        </p:spPr>
        <p:txBody>
          <a:bodyPr spcFirstLastPara="1" wrap="square" lIns="91425" tIns="91425" rIns="91425" bIns="91425" anchor="t" anchorCtr="0">
            <a:normAutofit lnSpcReduction="10000"/>
          </a:bodyPr>
          <a:lstStyle/>
          <a:p>
            <a:pPr marL="2514600" lvl="0" indent="-2457450" algn="l" rtl="0">
              <a:lnSpc>
                <a:spcPct val="100000"/>
              </a:lnSpc>
              <a:spcBef>
                <a:spcPts val="0"/>
              </a:spcBef>
              <a:spcAft>
                <a:spcPts val="0"/>
              </a:spcAft>
              <a:buNone/>
            </a:pPr>
            <a:r>
              <a:rPr lang="en" sz="2100"/>
              <a:t>Example dataset - Fever with unknown etiology</a:t>
            </a:r>
            <a:endParaRPr sz="2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98"/>
          <p:cNvSpPr txBox="1">
            <a:spLocks noGrp="1"/>
          </p:cNvSpPr>
          <p:nvPr>
            <p:ph type="title"/>
          </p:nvPr>
        </p:nvSpPr>
        <p:spPr>
          <a:xfrm>
            <a:off x="311700" y="445025"/>
            <a:ext cx="8520600" cy="1314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b="1">
                <a:highlight>
                  <a:srgbClr val="FFFFFF"/>
                </a:highlight>
                <a:latin typeface="Roboto"/>
                <a:ea typeface="Roboto"/>
                <a:cs typeface="Roboto"/>
                <a:sym typeface="Roboto"/>
              </a:rPr>
              <a:t>Practice scenario:</a:t>
            </a:r>
            <a:r>
              <a:rPr lang="en" sz="1800">
                <a:highlight>
                  <a:srgbClr val="FFFFFF"/>
                </a:highlight>
                <a:latin typeface="Roboto"/>
                <a:ea typeface="Roboto"/>
                <a:cs typeface="Roboto"/>
                <a:sym typeface="Roboto"/>
              </a:rPr>
              <a:t> You have been tasked to conduct a study to investigate a potential outbreak at a wet market. Various types of birds (chickens, ducks) are handled and sold here. Recently, a number of animals, as well as people handling them, have been getting sick with respiratory symptoms. </a:t>
            </a:r>
            <a:endParaRPr sz="1800">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99"/>
          <p:cNvSpPr txBox="1">
            <a:spLocks noGrp="1"/>
          </p:cNvSpPr>
          <p:nvPr>
            <p:ph type="title"/>
          </p:nvPr>
        </p:nvSpPr>
        <p:spPr>
          <a:xfrm>
            <a:off x="311700" y="445025"/>
            <a:ext cx="8520600" cy="1314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b="1">
                <a:highlight>
                  <a:srgbClr val="FFFFFF"/>
                </a:highlight>
                <a:latin typeface="Roboto"/>
                <a:ea typeface="Roboto"/>
                <a:cs typeface="Roboto"/>
                <a:sym typeface="Roboto"/>
              </a:rPr>
              <a:t>Practice scenario:</a:t>
            </a:r>
            <a:r>
              <a:rPr lang="en" sz="1800">
                <a:highlight>
                  <a:srgbClr val="FFFFFF"/>
                </a:highlight>
                <a:latin typeface="Roboto"/>
                <a:ea typeface="Roboto"/>
                <a:cs typeface="Roboto"/>
                <a:sym typeface="Roboto"/>
              </a:rPr>
              <a:t> You have been tasked to conduct a study to investigate a potential outbreak at a wet market. Various types of birds (chickens, ducks) are handled and sold here. Recently, a number of animals, as well as people handling them, have been getting sick with respiratory symptoms. </a:t>
            </a:r>
            <a:endParaRPr sz="1800">
              <a:latin typeface="Roboto"/>
              <a:ea typeface="Roboto"/>
              <a:cs typeface="Roboto"/>
              <a:sym typeface="Roboto"/>
            </a:endParaRPr>
          </a:p>
        </p:txBody>
      </p:sp>
      <p:sp>
        <p:nvSpPr>
          <p:cNvPr id="716" name="Google Shape;716;p99"/>
          <p:cNvSpPr txBox="1"/>
          <p:nvPr/>
        </p:nvSpPr>
        <p:spPr>
          <a:xfrm>
            <a:off x="433475" y="2025725"/>
            <a:ext cx="7410900" cy="12930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1"/>
              </a:buClr>
              <a:buSzPts val="1800"/>
              <a:buFont typeface="Roboto Light"/>
              <a:buAutoNum type="arabicPeriod"/>
            </a:pPr>
            <a:r>
              <a:rPr lang="en" sz="1800" i="1">
                <a:solidFill>
                  <a:schemeClr val="dk1"/>
                </a:solidFill>
                <a:highlight>
                  <a:srgbClr val="FFFFFF"/>
                </a:highlight>
                <a:latin typeface="Roboto Light"/>
                <a:ea typeface="Roboto Light"/>
                <a:cs typeface="Roboto Light"/>
                <a:sym typeface="Roboto Light"/>
              </a:rPr>
              <a:t>What does your suspected pathogen landscape look like?</a:t>
            </a:r>
            <a:endParaRPr sz="1800" i="1">
              <a:solidFill>
                <a:schemeClr val="dk1"/>
              </a:solidFill>
              <a:highlight>
                <a:srgbClr val="FFFFFF"/>
              </a:highlight>
              <a:latin typeface="Roboto Light"/>
              <a:ea typeface="Roboto Light"/>
              <a:cs typeface="Roboto Light"/>
              <a:sym typeface="Roboto Light"/>
            </a:endParaRPr>
          </a:p>
          <a:p>
            <a:pPr marL="457200" lvl="0" indent="-342900" algn="l" rtl="0">
              <a:spcBef>
                <a:spcPts val="0"/>
              </a:spcBef>
              <a:spcAft>
                <a:spcPts val="0"/>
              </a:spcAft>
              <a:buClr>
                <a:schemeClr val="dk1"/>
              </a:buClr>
              <a:buSzPts val="1800"/>
              <a:buFont typeface="Roboto Light"/>
              <a:buAutoNum type="arabicPeriod"/>
            </a:pPr>
            <a:r>
              <a:rPr lang="en" sz="1800" i="1">
                <a:solidFill>
                  <a:schemeClr val="dk1"/>
                </a:solidFill>
                <a:highlight>
                  <a:srgbClr val="FFFFFF"/>
                </a:highlight>
                <a:latin typeface="Roboto Light"/>
                <a:ea typeface="Roboto Light"/>
                <a:cs typeface="Roboto Light"/>
                <a:sym typeface="Roboto Light"/>
              </a:rPr>
              <a:t>What type(s) of samples would you want to collect?</a:t>
            </a:r>
            <a:endParaRPr sz="1800" i="1">
              <a:solidFill>
                <a:schemeClr val="dk1"/>
              </a:solidFill>
              <a:highlight>
                <a:srgbClr val="FFFFFF"/>
              </a:highlight>
              <a:latin typeface="Roboto Light"/>
              <a:ea typeface="Roboto Light"/>
              <a:cs typeface="Roboto Light"/>
              <a:sym typeface="Roboto Light"/>
            </a:endParaRPr>
          </a:p>
          <a:p>
            <a:pPr marL="457200" lvl="0" indent="-342900" algn="l" rtl="0">
              <a:spcBef>
                <a:spcPts val="0"/>
              </a:spcBef>
              <a:spcAft>
                <a:spcPts val="0"/>
              </a:spcAft>
              <a:buClr>
                <a:schemeClr val="dk1"/>
              </a:buClr>
              <a:buSzPts val="1800"/>
              <a:buFont typeface="Roboto Light"/>
              <a:buAutoNum type="arabicPeriod"/>
            </a:pPr>
            <a:r>
              <a:rPr lang="en" sz="1800" i="1">
                <a:solidFill>
                  <a:schemeClr val="dk1"/>
                </a:solidFill>
                <a:highlight>
                  <a:srgbClr val="FFFFFF"/>
                </a:highlight>
                <a:latin typeface="Roboto Light"/>
                <a:ea typeface="Roboto Light"/>
                <a:cs typeface="Roboto Light"/>
                <a:sym typeface="Roboto Light"/>
              </a:rPr>
              <a:t>What metadata would you want?</a:t>
            </a:r>
            <a:endParaRPr sz="1800" i="1">
              <a:solidFill>
                <a:schemeClr val="dk1"/>
              </a:solidFill>
              <a:highlight>
                <a:srgbClr val="FFFFFF"/>
              </a:highlight>
              <a:latin typeface="Roboto Light"/>
              <a:ea typeface="Roboto Light"/>
              <a:cs typeface="Roboto Light"/>
              <a:sym typeface="Roboto Light"/>
            </a:endParaRPr>
          </a:p>
          <a:p>
            <a:pPr marL="457200" lvl="0" indent="-342900" algn="l" rtl="0">
              <a:spcBef>
                <a:spcPts val="0"/>
              </a:spcBef>
              <a:spcAft>
                <a:spcPts val="0"/>
              </a:spcAft>
              <a:buClr>
                <a:schemeClr val="dk1"/>
              </a:buClr>
              <a:buSzPts val="1800"/>
              <a:buFont typeface="Roboto Light"/>
              <a:buAutoNum type="arabicPeriod"/>
            </a:pPr>
            <a:r>
              <a:rPr lang="en" sz="1800" i="1">
                <a:solidFill>
                  <a:schemeClr val="dk1"/>
                </a:solidFill>
                <a:highlight>
                  <a:srgbClr val="FFFFFF"/>
                </a:highlight>
                <a:latin typeface="Roboto Light"/>
                <a:ea typeface="Roboto Light"/>
                <a:cs typeface="Roboto Light"/>
                <a:sym typeface="Roboto Light"/>
              </a:rPr>
              <a:t>What controls would you want to include?</a:t>
            </a:r>
            <a:endParaRPr sz="1800" i="1">
              <a:solidFill>
                <a:schemeClr val="dk1"/>
              </a:solidFill>
              <a:highlight>
                <a:srgbClr val="FFFFFF"/>
              </a:highlight>
              <a:latin typeface="Roboto Light"/>
              <a:ea typeface="Roboto Light"/>
              <a:cs typeface="Roboto Light"/>
              <a:sym typeface="Roboto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100"/>
          <p:cNvSpPr/>
          <p:nvPr/>
        </p:nvSpPr>
        <p:spPr>
          <a:xfrm>
            <a:off x="5614475" y="1586088"/>
            <a:ext cx="2130900" cy="72900"/>
          </a:xfrm>
          <a:prstGeom prst="rect">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00"/>
          <p:cNvSpPr/>
          <p:nvPr/>
        </p:nvSpPr>
        <p:spPr>
          <a:xfrm>
            <a:off x="7754725" y="1586088"/>
            <a:ext cx="424800" cy="729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00"/>
          <p:cNvSpPr/>
          <p:nvPr/>
        </p:nvSpPr>
        <p:spPr>
          <a:xfrm>
            <a:off x="3820425" y="1586088"/>
            <a:ext cx="1784700" cy="72900"/>
          </a:xfrm>
          <a:prstGeom prst="rect">
            <a:avLst/>
          </a:pr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00"/>
          <p:cNvSpPr/>
          <p:nvPr/>
        </p:nvSpPr>
        <p:spPr>
          <a:xfrm>
            <a:off x="1251525" y="1586088"/>
            <a:ext cx="2540700" cy="729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25" name="Google Shape;725;p100"/>
          <p:cNvPicPr preferRelativeResize="0"/>
          <p:nvPr/>
        </p:nvPicPr>
        <p:blipFill>
          <a:blip r:embed="rId3">
            <a:alphaModFix/>
          </a:blip>
          <a:stretch>
            <a:fillRect/>
          </a:stretch>
        </p:blipFill>
        <p:spPr>
          <a:xfrm>
            <a:off x="1756475" y="1437625"/>
            <a:ext cx="211381" cy="408574"/>
          </a:xfrm>
          <a:prstGeom prst="rect">
            <a:avLst/>
          </a:prstGeom>
          <a:noFill/>
          <a:ln>
            <a:noFill/>
          </a:ln>
        </p:spPr>
      </p:pic>
      <p:pic>
        <p:nvPicPr>
          <p:cNvPr id="726" name="Google Shape;726;p100"/>
          <p:cNvPicPr preferRelativeResize="0"/>
          <p:nvPr/>
        </p:nvPicPr>
        <p:blipFill>
          <a:blip r:embed="rId3">
            <a:alphaModFix/>
          </a:blip>
          <a:stretch>
            <a:fillRect/>
          </a:stretch>
        </p:blipFill>
        <p:spPr>
          <a:xfrm>
            <a:off x="2033812" y="1437625"/>
            <a:ext cx="211381" cy="408574"/>
          </a:xfrm>
          <a:prstGeom prst="rect">
            <a:avLst/>
          </a:prstGeom>
          <a:noFill/>
          <a:ln>
            <a:noFill/>
          </a:ln>
        </p:spPr>
      </p:pic>
      <p:pic>
        <p:nvPicPr>
          <p:cNvPr id="727" name="Google Shape;727;p100"/>
          <p:cNvPicPr preferRelativeResize="0"/>
          <p:nvPr/>
        </p:nvPicPr>
        <p:blipFill>
          <a:blip r:embed="rId3">
            <a:alphaModFix/>
          </a:blip>
          <a:stretch>
            <a:fillRect/>
          </a:stretch>
        </p:blipFill>
        <p:spPr>
          <a:xfrm>
            <a:off x="2311148" y="1437625"/>
            <a:ext cx="211381" cy="408574"/>
          </a:xfrm>
          <a:prstGeom prst="rect">
            <a:avLst/>
          </a:prstGeom>
          <a:noFill/>
          <a:ln>
            <a:noFill/>
          </a:ln>
        </p:spPr>
      </p:pic>
      <p:pic>
        <p:nvPicPr>
          <p:cNvPr id="728" name="Google Shape;728;p100"/>
          <p:cNvPicPr preferRelativeResize="0"/>
          <p:nvPr/>
        </p:nvPicPr>
        <p:blipFill>
          <a:blip r:embed="rId3">
            <a:alphaModFix/>
          </a:blip>
          <a:stretch>
            <a:fillRect/>
          </a:stretch>
        </p:blipFill>
        <p:spPr>
          <a:xfrm>
            <a:off x="2588485" y="1437625"/>
            <a:ext cx="211381" cy="408574"/>
          </a:xfrm>
          <a:prstGeom prst="rect">
            <a:avLst/>
          </a:prstGeom>
          <a:noFill/>
          <a:ln>
            <a:noFill/>
          </a:ln>
        </p:spPr>
      </p:pic>
      <p:pic>
        <p:nvPicPr>
          <p:cNvPr id="729" name="Google Shape;729;p100"/>
          <p:cNvPicPr preferRelativeResize="0"/>
          <p:nvPr/>
        </p:nvPicPr>
        <p:blipFill>
          <a:blip r:embed="rId3">
            <a:alphaModFix/>
          </a:blip>
          <a:stretch>
            <a:fillRect/>
          </a:stretch>
        </p:blipFill>
        <p:spPr>
          <a:xfrm>
            <a:off x="2854398" y="1437625"/>
            <a:ext cx="211381" cy="408574"/>
          </a:xfrm>
          <a:prstGeom prst="rect">
            <a:avLst/>
          </a:prstGeom>
          <a:noFill/>
          <a:ln>
            <a:noFill/>
          </a:ln>
        </p:spPr>
      </p:pic>
      <p:pic>
        <p:nvPicPr>
          <p:cNvPr id="730" name="Google Shape;730;p100"/>
          <p:cNvPicPr preferRelativeResize="0"/>
          <p:nvPr/>
        </p:nvPicPr>
        <p:blipFill>
          <a:blip r:embed="rId3">
            <a:alphaModFix/>
          </a:blip>
          <a:stretch>
            <a:fillRect/>
          </a:stretch>
        </p:blipFill>
        <p:spPr>
          <a:xfrm>
            <a:off x="4153093" y="1437625"/>
            <a:ext cx="211381" cy="408574"/>
          </a:xfrm>
          <a:prstGeom prst="rect">
            <a:avLst/>
          </a:prstGeom>
          <a:noFill/>
          <a:ln>
            <a:noFill/>
          </a:ln>
        </p:spPr>
      </p:pic>
      <p:pic>
        <p:nvPicPr>
          <p:cNvPr id="731" name="Google Shape;731;p100"/>
          <p:cNvPicPr preferRelativeResize="0"/>
          <p:nvPr/>
        </p:nvPicPr>
        <p:blipFill>
          <a:blip r:embed="rId3">
            <a:alphaModFix/>
          </a:blip>
          <a:stretch>
            <a:fillRect/>
          </a:stretch>
        </p:blipFill>
        <p:spPr>
          <a:xfrm>
            <a:off x="6012370" y="1437625"/>
            <a:ext cx="211381" cy="408574"/>
          </a:xfrm>
          <a:prstGeom prst="rect">
            <a:avLst/>
          </a:prstGeom>
          <a:noFill/>
          <a:ln>
            <a:noFill/>
          </a:ln>
        </p:spPr>
      </p:pic>
      <p:pic>
        <p:nvPicPr>
          <p:cNvPr id="732" name="Google Shape;732;p100"/>
          <p:cNvPicPr preferRelativeResize="0"/>
          <p:nvPr/>
        </p:nvPicPr>
        <p:blipFill>
          <a:blip r:embed="rId3">
            <a:alphaModFix/>
          </a:blip>
          <a:stretch>
            <a:fillRect/>
          </a:stretch>
        </p:blipFill>
        <p:spPr>
          <a:xfrm>
            <a:off x="6289707" y="1437625"/>
            <a:ext cx="211381" cy="408574"/>
          </a:xfrm>
          <a:prstGeom prst="rect">
            <a:avLst/>
          </a:prstGeom>
          <a:noFill/>
          <a:ln>
            <a:noFill/>
          </a:ln>
        </p:spPr>
      </p:pic>
      <p:pic>
        <p:nvPicPr>
          <p:cNvPr id="733" name="Google Shape;733;p100"/>
          <p:cNvPicPr preferRelativeResize="0"/>
          <p:nvPr/>
        </p:nvPicPr>
        <p:blipFill>
          <a:blip r:embed="rId3">
            <a:alphaModFix/>
          </a:blip>
          <a:stretch>
            <a:fillRect/>
          </a:stretch>
        </p:blipFill>
        <p:spPr>
          <a:xfrm>
            <a:off x="6567044" y="1437625"/>
            <a:ext cx="211381" cy="408574"/>
          </a:xfrm>
          <a:prstGeom prst="rect">
            <a:avLst/>
          </a:prstGeom>
          <a:noFill/>
          <a:ln>
            <a:noFill/>
          </a:ln>
        </p:spPr>
      </p:pic>
      <p:pic>
        <p:nvPicPr>
          <p:cNvPr id="734" name="Google Shape;734;p100"/>
          <p:cNvPicPr preferRelativeResize="0"/>
          <p:nvPr/>
        </p:nvPicPr>
        <p:blipFill>
          <a:blip r:embed="rId3">
            <a:alphaModFix/>
          </a:blip>
          <a:stretch>
            <a:fillRect/>
          </a:stretch>
        </p:blipFill>
        <p:spPr>
          <a:xfrm>
            <a:off x="6844380" y="1437625"/>
            <a:ext cx="211381" cy="408574"/>
          </a:xfrm>
          <a:prstGeom prst="rect">
            <a:avLst/>
          </a:prstGeom>
          <a:noFill/>
          <a:ln>
            <a:noFill/>
          </a:ln>
        </p:spPr>
      </p:pic>
      <p:pic>
        <p:nvPicPr>
          <p:cNvPr id="735" name="Google Shape;735;p100"/>
          <p:cNvPicPr preferRelativeResize="0"/>
          <p:nvPr/>
        </p:nvPicPr>
        <p:blipFill>
          <a:blip r:embed="rId3">
            <a:alphaModFix/>
          </a:blip>
          <a:stretch>
            <a:fillRect/>
          </a:stretch>
        </p:blipFill>
        <p:spPr>
          <a:xfrm>
            <a:off x="7121717" y="1437625"/>
            <a:ext cx="211381" cy="408574"/>
          </a:xfrm>
          <a:prstGeom prst="rect">
            <a:avLst/>
          </a:prstGeom>
          <a:noFill/>
          <a:ln>
            <a:noFill/>
          </a:ln>
        </p:spPr>
      </p:pic>
      <p:pic>
        <p:nvPicPr>
          <p:cNvPr id="736" name="Google Shape;736;p100"/>
          <p:cNvPicPr preferRelativeResize="0"/>
          <p:nvPr/>
        </p:nvPicPr>
        <p:blipFill>
          <a:blip r:embed="rId3">
            <a:alphaModFix/>
          </a:blip>
          <a:stretch>
            <a:fillRect/>
          </a:stretch>
        </p:blipFill>
        <p:spPr>
          <a:xfrm>
            <a:off x="4707744" y="1437625"/>
            <a:ext cx="211381" cy="408574"/>
          </a:xfrm>
          <a:prstGeom prst="rect">
            <a:avLst/>
          </a:prstGeom>
          <a:noFill/>
          <a:ln>
            <a:noFill/>
          </a:ln>
        </p:spPr>
      </p:pic>
      <p:pic>
        <p:nvPicPr>
          <p:cNvPr id="737" name="Google Shape;737;p100"/>
          <p:cNvPicPr preferRelativeResize="0"/>
          <p:nvPr/>
        </p:nvPicPr>
        <p:blipFill>
          <a:blip r:embed="rId3">
            <a:alphaModFix/>
          </a:blip>
          <a:stretch>
            <a:fillRect/>
          </a:stretch>
        </p:blipFill>
        <p:spPr>
          <a:xfrm>
            <a:off x="4985081" y="1437625"/>
            <a:ext cx="211381" cy="408574"/>
          </a:xfrm>
          <a:prstGeom prst="rect">
            <a:avLst/>
          </a:prstGeom>
          <a:noFill/>
          <a:ln>
            <a:noFill/>
          </a:ln>
        </p:spPr>
      </p:pic>
      <p:pic>
        <p:nvPicPr>
          <p:cNvPr id="738" name="Google Shape;738;p100"/>
          <p:cNvPicPr preferRelativeResize="0"/>
          <p:nvPr/>
        </p:nvPicPr>
        <p:blipFill>
          <a:blip r:embed="rId3">
            <a:alphaModFix/>
          </a:blip>
          <a:stretch>
            <a:fillRect/>
          </a:stretch>
        </p:blipFill>
        <p:spPr>
          <a:xfrm>
            <a:off x="4430419" y="1437625"/>
            <a:ext cx="211381" cy="408574"/>
          </a:xfrm>
          <a:prstGeom prst="rect">
            <a:avLst/>
          </a:prstGeom>
          <a:noFill/>
          <a:ln>
            <a:noFill/>
          </a:ln>
        </p:spPr>
      </p:pic>
      <p:sp>
        <p:nvSpPr>
          <p:cNvPr id="739" name="Google Shape;739;p100"/>
          <p:cNvSpPr txBox="1"/>
          <p:nvPr/>
        </p:nvSpPr>
        <p:spPr>
          <a:xfrm>
            <a:off x="1688700" y="1112125"/>
            <a:ext cx="14124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CC0000"/>
                </a:solidFill>
                <a:latin typeface="Calibri"/>
                <a:ea typeface="Calibri"/>
                <a:cs typeface="Calibri"/>
                <a:sym typeface="Calibri"/>
              </a:rPr>
              <a:t>Known Positives</a:t>
            </a:r>
            <a:endParaRPr sz="1200">
              <a:solidFill>
                <a:srgbClr val="CC0000"/>
              </a:solidFill>
              <a:latin typeface="Calibri"/>
              <a:ea typeface="Calibri"/>
              <a:cs typeface="Calibri"/>
              <a:sym typeface="Calibri"/>
            </a:endParaRPr>
          </a:p>
        </p:txBody>
      </p:sp>
      <p:sp>
        <p:nvSpPr>
          <p:cNvPr id="740" name="Google Shape;740;p100"/>
          <p:cNvSpPr txBox="1"/>
          <p:nvPr/>
        </p:nvSpPr>
        <p:spPr>
          <a:xfrm>
            <a:off x="5939206"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0B5394"/>
                </a:solidFill>
                <a:latin typeface="Calibri"/>
                <a:ea typeface="Calibri"/>
                <a:cs typeface="Calibri"/>
                <a:sym typeface="Calibri"/>
              </a:rPr>
              <a:t>Known Negatives</a:t>
            </a:r>
            <a:endParaRPr sz="1200">
              <a:solidFill>
                <a:srgbClr val="0B5394"/>
              </a:solidFill>
              <a:latin typeface="Calibri"/>
              <a:ea typeface="Calibri"/>
              <a:cs typeface="Calibri"/>
              <a:sym typeface="Calibri"/>
            </a:endParaRPr>
          </a:p>
        </p:txBody>
      </p:sp>
      <p:sp>
        <p:nvSpPr>
          <p:cNvPr id="741" name="Google Shape;741;p100"/>
          <p:cNvSpPr txBox="1"/>
          <p:nvPr/>
        </p:nvSpPr>
        <p:spPr>
          <a:xfrm>
            <a:off x="3923297"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B45F06"/>
                </a:solidFill>
                <a:latin typeface="Calibri"/>
                <a:ea typeface="Calibri"/>
                <a:cs typeface="Calibri"/>
                <a:sym typeface="Calibri"/>
              </a:rPr>
              <a:t>Unknown</a:t>
            </a:r>
            <a:endParaRPr sz="1200">
              <a:solidFill>
                <a:srgbClr val="B45F06"/>
              </a:solidFill>
              <a:latin typeface="Calibri"/>
              <a:ea typeface="Calibri"/>
              <a:cs typeface="Calibri"/>
              <a:sym typeface="Calibri"/>
            </a:endParaRPr>
          </a:p>
        </p:txBody>
      </p:sp>
      <p:pic>
        <p:nvPicPr>
          <p:cNvPr id="742" name="Google Shape;742;p100"/>
          <p:cNvPicPr preferRelativeResize="0"/>
          <p:nvPr/>
        </p:nvPicPr>
        <p:blipFill>
          <a:blip r:embed="rId3">
            <a:alphaModFix/>
          </a:blip>
          <a:stretch>
            <a:fillRect/>
          </a:stretch>
        </p:blipFill>
        <p:spPr>
          <a:xfrm>
            <a:off x="7766924" y="1437625"/>
            <a:ext cx="211381" cy="408574"/>
          </a:xfrm>
          <a:prstGeom prst="rect">
            <a:avLst/>
          </a:prstGeom>
          <a:noFill/>
          <a:ln>
            <a:noFill/>
          </a:ln>
        </p:spPr>
      </p:pic>
      <p:pic>
        <p:nvPicPr>
          <p:cNvPr id="743" name="Google Shape;743;p100"/>
          <p:cNvPicPr preferRelativeResize="0"/>
          <p:nvPr/>
        </p:nvPicPr>
        <p:blipFill>
          <a:blip r:embed="rId3">
            <a:alphaModFix/>
          </a:blip>
          <a:stretch>
            <a:fillRect/>
          </a:stretch>
        </p:blipFill>
        <p:spPr>
          <a:xfrm>
            <a:off x="8044260" y="1437625"/>
            <a:ext cx="211381" cy="408574"/>
          </a:xfrm>
          <a:prstGeom prst="rect">
            <a:avLst/>
          </a:prstGeom>
          <a:noFill/>
          <a:ln>
            <a:noFill/>
          </a:ln>
        </p:spPr>
      </p:pic>
      <p:sp>
        <p:nvSpPr>
          <p:cNvPr id="744" name="Google Shape;744;p100"/>
          <p:cNvSpPr txBox="1"/>
          <p:nvPr/>
        </p:nvSpPr>
        <p:spPr>
          <a:xfrm>
            <a:off x="7292050"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Water Controls</a:t>
            </a:r>
            <a:endParaRPr sz="1200">
              <a:latin typeface="Calibri"/>
              <a:ea typeface="Calibri"/>
              <a:cs typeface="Calibri"/>
              <a:sym typeface="Calibri"/>
            </a:endParaRPr>
          </a:p>
        </p:txBody>
      </p:sp>
      <p:sp>
        <p:nvSpPr>
          <p:cNvPr id="745" name="Google Shape;745;p100"/>
          <p:cNvSpPr txBox="1"/>
          <p:nvPr/>
        </p:nvSpPr>
        <p:spPr>
          <a:xfrm>
            <a:off x="1787974" y="1759300"/>
            <a:ext cx="1238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Microbial Culture, PCR, Serology</a:t>
            </a:r>
            <a:endParaRPr sz="1000">
              <a:solidFill>
                <a:srgbClr val="666666"/>
              </a:solidFill>
              <a:latin typeface="Calibri"/>
              <a:ea typeface="Calibri"/>
              <a:cs typeface="Calibri"/>
              <a:sym typeface="Calibri"/>
            </a:endParaRPr>
          </a:p>
        </p:txBody>
      </p:sp>
      <p:sp>
        <p:nvSpPr>
          <p:cNvPr id="746" name="Google Shape;746;p100"/>
          <p:cNvSpPr txBox="1"/>
          <p:nvPr/>
        </p:nvSpPr>
        <p:spPr>
          <a:xfrm>
            <a:off x="3997150" y="1764650"/>
            <a:ext cx="1412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by standard testing</a:t>
            </a:r>
            <a:endParaRPr sz="1000">
              <a:solidFill>
                <a:srgbClr val="666666"/>
              </a:solidFill>
              <a:latin typeface="Calibri"/>
              <a:ea typeface="Calibri"/>
              <a:cs typeface="Calibri"/>
              <a:sym typeface="Calibri"/>
            </a:endParaRPr>
          </a:p>
        </p:txBody>
      </p:sp>
      <p:sp>
        <p:nvSpPr>
          <p:cNvPr id="747" name="Google Shape;747;p100"/>
          <p:cNvSpPr txBox="1"/>
          <p:nvPr/>
        </p:nvSpPr>
        <p:spPr>
          <a:xfrm>
            <a:off x="5825075" y="1770000"/>
            <a:ext cx="17133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symptoms resolved quickly</a:t>
            </a:r>
            <a:endParaRPr sz="1000">
              <a:solidFill>
                <a:srgbClr val="666666"/>
              </a:solidFill>
              <a:latin typeface="Calibri"/>
              <a:ea typeface="Calibri"/>
              <a:cs typeface="Calibri"/>
              <a:sym typeface="Calibri"/>
            </a:endParaRPr>
          </a:p>
        </p:txBody>
      </p:sp>
      <p:pic>
        <p:nvPicPr>
          <p:cNvPr id="748" name="Google Shape;748;p100"/>
          <p:cNvPicPr preferRelativeResize="0"/>
          <p:nvPr/>
        </p:nvPicPr>
        <p:blipFill>
          <a:blip r:embed="rId4">
            <a:alphaModFix/>
          </a:blip>
          <a:stretch>
            <a:fillRect/>
          </a:stretch>
        </p:blipFill>
        <p:spPr>
          <a:xfrm>
            <a:off x="27375" y="2183100"/>
            <a:ext cx="8227753" cy="2850051"/>
          </a:xfrm>
          <a:prstGeom prst="rect">
            <a:avLst/>
          </a:prstGeom>
          <a:noFill/>
          <a:ln>
            <a:noFill/>
          </a:ln>
        </p:spPr>
      </p:pic>
      <p:sp>
        <p:nvSpPr>
          <p:cNvPr id="749" name="Google Shape;749;p100"/>
          <p:cNvSpPr txBox="1"/>
          <p:nvPr/>
        </p:nvSpPr>
        <p:spPr>
          <a:xfrm>
            <a:off x="59650" y="1344125"/>
            <a:ext cx="11952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Collect Patient CSF Samples</a:t>
            </a:r>
            <a:endParaRPr sz="1200">
              <a:latin typeface="Calibri"/>
              <a:ea typeface="Calibri"/>
              <a:cs typeface="Calibri"/>
              <a:sym typeface="Calibri"/>
            </a:endParaRPr>
          </a:p>
        </p:txBody>
      </p:sp>
      <p:sp>
        <p:nvSpPr>
          <p:cNvPr id="750" name="Google Shape;750;p100"/>
          <p:cNvSpPr txBox="1">
            <a:spLocks noGrp="1"/>
          </p:cNvSpPr>
          <p:nvPr>
            <p:ph type="subTitle" idx="1"/>
          </p:nvPr>
        </p:nvSpPr>
        <p:spPr>
          <a:xfrm>
            <a:off x="412275" y="648875"/>
            <a:ext cx="8340600" cy="489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1800" i="0">
                <a:latin typeface="Roboto"/>
                <a:ea typeface="Roboto"/>
                <a:cs typeface="Roboto"/>
                <a:sym typeface="Roboto"/>
              </a:rPr>
              <a:t>mNGS to identify etiologies of pediatric meningitis in Bangladesh</a:t>
            </a:r>
            <a:endParaRPr sz="1800" i="0">
              <a:latin typeface="Roboto"/>
              <a:ea typeface="Roboto"/>
              <a:cs typeface="Roboto"/>
              <a:sym typeface="Roboto"/>
            </a:endParaRPr>
          </a:p>
        </p:txBody>
      </p:sp>
      <p:sp>
        <p:nvSpPr>
          <p:cNvPr id="751" name="Google Shape;751;p100"/>
          <p:cNvSpPr txBox="1">
            <a:spLocks noGrp="1"/>
          </p:cNvSpPr>
          <p:nvPr>
            <p:ph type="ctrTitle"/>
          </p:nvPr>
        </p:nvSpPr>
        <p:spPr>
          <a:xfrm>
            <a:off x="126850" y="115475"/>
            <a:ext cx="8744400" cy="715200"/>
          </a:xfrm>
          <a:prstGeom prst="rect">
            <a:avLst/>
          </a:prstGeom>
        </p:spPr>
        <p:txBody>
          <a:bodyPr spcFirstLastPara="1" wrap="square" lIns="91425" tIns="91425" rIns="91425" bIns="91425" anchor="b" anchorCtr="0">
            <a:normAutofit/>
          </a:bodyPr>
          <a:lstStyle/>
          <a:p>
            <a:pPr marL="0" lvl="0" indent="0" algn="l" rtl="0">
              <a:lnSpc>
                <a:spcPct val="115000"/>
              </a:lnSpc>
              <a:spcBef>
                <a:spcPts val="0"/>
              </a:spcBef>
              <a:spcAft>
                <a:spcPts val="0"/>
              </a:spcAft>
              <a:buSzPts val="990"/>
              <a:buNone/>
            </a:pPr>
            <a:r>
              <a:rPr lang="en" sz="2650">
                <a:solidFill>
                  <a:srgbClr val="000000"/>
                </a:solidFill>
                <a:latin typeface="Roboto"/>
                <a:ea typeface="Roboto"/>
                <a:cs typeface="Roboto"/>
                <a:sym typeface="Roboto"/>
              </a:rPr>
              <a:t>Use case: Saha et al., mBio, 2019</a:t>
            </a:r>
            <a:endParaRPr sz="2650">
              <a:solidFill>
                <a:srgbClr val="000000"/>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101"/>
          <p:cNvSpPr/>
          <p:nvPr/>
        </p:nvSpPr>
        <p:spPr>
          <a:xfrm>
            <a:off x="5614475" y="1586088"/>
            <a:ext cx="2130900" cy="72900"/>
          </a:xfrm>
          <a:prstGeom prst="rect">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101"/>
          <p:cNvSpPr/>
          <p:nvPr/>
        </p:nvSpPr>
        <p:spPr>
          <a:xfrm>
            <a:off x="7754725" y="1586088"/>
            <a:ext cx="424800" cy="729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101"/>
          <p:cNvSpPr/>
          <p:nvPr/>
        </p:nvSpPr>
        <p:spPr>
          <a:xfrm>
            <a:off x="3820425" y="1586088"/>
            <a:ext cx="1784700" cy="72900"/>
          </a:xfrm>
          <a:prstGeom prst="rect">
            <a:avLst/>
          </a:pr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101"/>
          <p:cNvSpPr/>
          <p:nvPr/>
        </p:nvSpPr>
        <p:spPr>
          <a:xfrm>
            <a:off x="1251525" y="1586088"/>
            <a:ext cx="2540700" cy="729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60" name="Google Shape;760;p101"/>
          <p:cNvPicPr preferRelativeResize="0"/>
          <p:nvPr/>
        </p:nvPicPr>
        <p:blipFill>
          <a:blip r:embed="rId3">
            <a:alphaModFix/>
          </a:blip>
          <a:stretch>
            <a:fillRect/>
          </a:stretch>
        </p:blipFill>
        <p:spPr>
          <a:xfrm>
            <a:off x="1756475" y="1437625"/>
            <a:ext cx="211381" cy="408574"/>
          </a:xfrm>
          <a:prstGeom prst="rect">
            <a:avLst/>
          </a:prstGeom>
          <a:noFill/>
          <a:ln>
            <a:noFill/>
          </a:ln>
        </p:spPr>
      </p:pic>
      <p:pic>
        <p:nvPicPr>
          <p:cNvPr id="761" name="Google Shape;761;p101"/>
          <p:cNvPicPr preferRelativeResize="0"/>
          <p:nvPr/>
        </p:nvPicPr>
        <p:blipFill>
          <a:blip r:embed="rId3">
            <a:alphaModFix/>
          </a:blip>
          <a:stretch>
            <a:fillRect/>
          </a:stretch>
        </p:blipFill>
        <p:spPr>
          <a:xfrm>
            <a:off x="2033812" y="1437625"/>
            <a:ext cx="211381" cy="408574"/>
          </a:xfrm>
          <a:prstGeom prst="rect">
            <a:avLst/>
          </a:prstGeom>
          <a:noFill/>
          <a:ln>
            <a:noFill/>
          </a:ln>
        </p:spPr>
      </p:pic>
      <p:pic>
        <p:nvPicPr>
          <p:cNvPr id="762" name="Google Shape;762;p101"/>
          <p:cNvPicPr preferRelativeResize="0"/>
          <p:nvPr/>
        </p:nvPicPr>
        <p:blipFill>
          <a:blip r:embed="rId3">
            <a:alphaModFix/>
          </a:blip>
          <a:stretch>
            <a:fillRect/>
          </a:stretch>
        </p:blipFill>
        <p:spPr>
          <a:xfrm>
            <a:off x="2311148" y="1437625"/>
            <a:ext cx="211381" cy="408574"/>
          </a:xfrm>
          <a:prstGeom prst="rect">
            <a:avLst/>
          </a:prstGeom>
          <a:noFill/>
          <a:ln>
            <a:noFill/>
          </a:ln>
        </p:spPr>
      </p:pic>
      <p:pic>
        <p:nvPicPr>
          <p:cNvPr id="763" name="Google Shape;763;p101"/>
          <p:cNvPicPr preferRelativeResize="0"/>
          <p:nvPr/>
        </p:nvPicPr>
        <p:blipFill>
          <a:blip r:embed="rId3">
            <a:alphaModFix/>
          </a:blip>
          <a:stretch>
            <a:fillRect/>
          </a:stretch>
        </p:blipFill>
        <p:spPr>
          <a:xfrm>
            <a:off x="2588485" y="1437625"/>
            <a:ext cx="211381" cy="408574"/>
          </a:xfrm>
          <a:prstGeom prst="rect">
            <a:avLst/>
          </a:prstGeom>
          <a:noFill/>
          <a:ln>
            <a:noFill/>
          </a:ln>
        </p:spPr>
      </p:pic>
      <p:pic>
        <p:nvPicPr>
          <p:cNvPr id="764" name="Google Shape;764;p101"/>
          <p:cNvPicPr preferRelativeResize="0"/>
          <p:nvPr/>
        </p:nvPicPr>
        <p:blipFill>
          <a:blip r:embed="rId3">
            <a:alphaModFix/>
          </a:blip>
          <a:stretch>
            <a:fillRect/>
          </a:stretch>
        </p:blipFill>
        <p:spPr>
          <a:xfrm>
            <a:off x="2854398" y="1437625"/>
            <a:ext cx="211381" cy="408574"/>
          </a:xfrm>
          <a:prstGeom prst="rect">
            <a:avLst/>
          </a:prstGeom>
          <a:noFill/>
          <a:ln>
            <a:noFill/>
          </a:ln>
        </p:spPr>
      </p:pic>
      <p:pic>
        <p:nvPicPr>
          <p:cNvPr id="765" name="Google Shape;765;p101"/>
          <p:cNvPicPr preferRelativeResize="0"/>
          <p:nvPr/>
        </p:nvPicPr>
        <p:blipFill>
          <a:blip r:embed="rId3">
            <a:alphaModFix/>
          </a:blip>
          <a:stretch>
            <a:fillRect/>
          </a:stretch>
        </p:blipFill>
        <p:spPr>
          <a:xfrm>
            <a:off x="4153093" y="1437625"/>
            <a:ext cx="211381" cy="408574"/>
          </a:xfrm>
          <a:prstGeom prst="rect">
            <a:avLst/>
          </a:prstGeom>
          <a:noFill/>
          <a:ln>
            <a:noFill/>
          </a:ln>
        </p:spPr>
      </p:pic>
      <p:pic>
        <p:nvPicPr>
          <p:cNvPr id="766" name="Google Shape;766;p101"/>
          <p:cNvPicPr preferRelativeResize="0"/>
          <p:nvPr/>
        </p:nvPicPr>
        <p:blipFill>
          <a:blip r:embed="rId3">
            <a:alphaModFix/>
          </a:blip>
          <a:stretch>
            <a:fillRect/>
          </a:stretch>
        </p:blipFill>
        <p:spPr>
          <a:xfrm>
            <a:off x="6012370" y="1437625"/>
            <a:ext cx="211381" cy="408574"/>
          </a:xfrm>
          <a:prstGeom prst="rect">
            <a:avLst/>
          </a:prstGeom>
          <a:noFill/>
          <a:ln>
            <a:noFill/>
          </a:ln>
        </p:spPr>
      </p:pic>
      <p:pic>
        <p:nvPicPr>
          <p:cNvPr id="767" name="Google Shape;767;p101"/>
          <p:cNvPicPr preferRelativeResize="0"/>
          <p:nvPr/>
        </p:nvPicPr>
        <p:blipFill>
          <a:blip r:embed="rId3">
            <a:alphaModFix/>
          </a:blip>
          <a:stretch>
            <a:fillRect/>
          </a:stretch>
        </p:blipFill>
        <p:spPr>
          <a:xfrm>
            <a:off x="6289707" y="1437625"/>
            <a:ext cx="211381" cy="408574"/>
          </a:xfrm>
          <a:prstGeom prst="rect">
            <a:avLst/>
          </a:prstGeom>
          <a:noFill/>
          <a:ln>
            <a:noFill/>
          </a:ln>
        </p:spPr>
      </p:pic>
      <p:pic>
        <p:nvPicPr>
          <p:cNvPr id="768" name="Google Shape;768;p101"/>
          <p:cNvPicPr preferRelativeResize="0"/>
          <p:nvPr/>
        </p:nvPicPr>
        <p:blipFill>
          <a:blip r:embed="rId3">
            <a:alphaModFix/>
          </a:blip>
          <a:stretch>
            <a:fillRect/>
          </a:stretch>
        </p:blipFill>
        <p:spPr>
          <a:xfrm>
            <a:off x="6567044" y="1437625"/>
            <a:ext cx="211381" cy="408574"/>
          </a:xfrm>
          <a:prstGeom prst="rect">
            <a:avLst/>
          </a:prstGeom>
          <a:noFill/>
          <a:ln>
            <a:noFill/>
          </a:ln>
        </p:spPr>
      </p:pic>
      <p:pic>
        <p:nvPicPr>
          <p:cNvPr id="769" name="Google Shape;769;p101"/>
          <p:cNvPicPr preferRelativeResize="0"/>
          <p:nvPr/>
        </p:nvPicPr>
        <p:blipFill>
          <a:blip r:embed="rId3">
            <a:alphaModFix/>
          </a:blip>
          <a:stretch>
            <a:fillRect/>
          </a:stretch>
        </p:blipFill>
        <p:spPr>
          <a:xfrm>
            <a:off x="6844380" y="1437625"/>
            <a:ext cx="211381" cy="408574"/>
          </a:xfrm>
          <a:prstGeom prst="rect">
            <a:avLst/>
          </a:prstGeom>
          <a:noFill/>
          <a:ln>
            <a:noFill/>
          </a:ln>
        </p:spPr>
      </p:pic>
      <p:pic>
        <p:nvPicPr>
          <p:cNvPr id="770" name="Google Shape;770;p101"/>
          <p:cNvPicPr preferRelativeResize="0"/>
          <p:nvPr/>
        </p:nvPicPr>
        <p:blipFill>
          <a:blip r:embed="rId3">
            <a:alphaModFix/>
          </a:blip>
          <a:stretch>
            <a:fillRect/>
          </a:stretch>
        </p:blipFill>
        <p:spPr>
          <a:xfrm>
            <a:off x="7121717" y="1437625"/>
            <a:ext cx="211381" cy="408574"/>
          </a:xfrm>
          <a:prstGeom prst="rect">
            <a:avLst/>
          </a:prstGeom>
          <a:noFill/>
          <a:ln>
            <a:noFill/>
          </a:ln>
        </p:spPr>
      </p:pic>
      <p:pic>
        <p:nvPicPr>
          <p:cNvPr id="771" name="Google Shape;771;p101"/>
          <p:cNvPicPr preferRelativeResize="0"/>
          <p:nvPr/>
        </p:nvPicPr>
        <p:blipFill>
          <a:blip r:embed="rId3">
            <a:alphaModFix/>
          </a:blip>
          <a:stretch>
            <a:fillRect/>
          </a:stretch>
        </p:blipFill>
        <p:spPr>
          <a:xfrm>
            <a:off x="4707744" y="1437625"/>
            <a:ext cx="211381" cy="408574"/>
          </a:xfrm>
          <a:prstGeom prst="rect">
            <a:avLst/>
          </a:prstGeom>
          <a:noFill/>
          <a:ln>
            <a:noFill/>
          </a:ln>
        </p:spPr>
      </p:pic>
      <p:pic>
        <p:nvPicPr>
          <p:cNvPr id="772" name="Google Shape;772;p101"/>
          <p:cNvPicPr preferRelativeResize="0"/>
          <p:nvPr/>
        </p:nvPicPr>
        <p:blipFill>
          <a:blip r:embed="rId3">
            <a:alphaModFix/>
          </a:blip>
          <a:stretch>
            <a:fillRect/>
          </a:stretch>
        </p:blipFill>
        <p:spPr>
          <a:xfrm>
            <a:off x="4985081" y="1437625"/>
            <a:ext cx="211381" cy="408574"/>
          </a:xfrm>
          <a:prstGeom prst="rect">
            <a:avLst/>
          </a:prstGeom>
          <a:noFill/>
          <a:ln>
            <a:noFill/>
          </a:ln>
        </p:spPr>
      </p:pic>
      <p:pic>
        <p:nvPicPr>
          <p:cNvPr id="773" name="Google Shape;773;p101"/>
          <p:cNvPicPr preferRelativeResize="0"/>
          <p:nvPr/>
        </p:nvPicPr>
        <p:blipFill>
          <a:blip r:embed="rId3">
            <a:alphaModFix/>
          </a:blip>
          <a:stretch>
            <a:fillRect/>
          </a:stretch>
        </p:blipFill>
        <p:spPr>
          <a:xfrm>
            <a:off x="4430419" y="1437625"/>
            <a:ext cx="211381" cy="408574"/>
          </a:xfrm>
          <a:prstGeom prst="rect">
            <a:avLst/>
          </a:prstGeom>
          <a:noFill/>
          <a:ln>
            <a:noFill/>
          </a:ln>
        </p:spPr>
      </p:pic>
      <p:sp>
        <p:nvSpPr>
          <p:cNvPr id="774" name="Google Shape;774;p101"/>
          <p:cNvSpPr txBox="1"/>
          <p:nvPr/>
        </p:nvSpPr>
        <p:spPr>
          <a:xfrm>
            <a:off x="1688700" y="1112125"/>
            <a:ext cx="14124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CC0000"/>
                </a:solidFill>
                <a:latin typeface="Calibri"/>
                <a:ea typeface="Calibri"/>
                <a:cs typeface="Calibri"/>
                <a:sym typeface="Calibri"/>
              </a:rPr>
              <a:t>Known Positives</a:t>
            </a:r>
            <a:endParaRPr sz="1200">
              <a:solidFill>
                <a:srgbClr val="CC0000"/>
              </a:solidFill>
              <a:latin typeface="Calibri"/>
              <a:ea typeface="Calibri"/>
              <a:cs typeface="Calibri"/>
              <a:sym typeface="Calibri"/>
            </a:endParaRPr>
          </a:p>
        </p:txBody>
      </p:sp>
      <p:sp>
        <p:nvSpPr>
          <p:cNvPr id="775" name="Google Shape;775;p101"/>
          <p:cNvSpPr txBox="1"/>
          <p:nvPr/>
        </p:nvSpPr>
        <p:spPr>
          <a:xfrm>
            <a:off x="5939206"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0B5394"/>
                </a:solidFill>
                <a:latin typeface="Calibri"/>
                <a:ea typeface="Calibri"/>
                <a:cs typeface="Calibri"/>
                <a:sym typeface="Calibri"/>
              </a:rPr>
              <a:t>Known Negatives</a:t>
            </a:r>
            <a:endParaRPr sz="1200">
              <a:solidFill>
                <a:srgbClr val="0B5394"/>
              </a:solidFill>
              <a:latin typeface="Calibri"/>
              <a:ea typeface="Calibri"/>
              <a:cs typeface="Calibri"/>
              <a:sym typeface="Calibri"/>
            </a:endParaRPr>
          </a:p>
        </p:txBody>
      </p:sp>
      <p:sp>
        <p:nvSpPr>
          <p:cNvPr id="776" name="Google Shape;776;p101"/>
          <p:cNvSpPr txBox="1"/>
          <p:nvPr/>
        </p:nvSpPr>
        <p:spPr>
          <a:xfrm>
            <a:off x="3923297"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B45F06"/>
                </a:solidFill>
                <a:latin typeface="Calibri"/>
                <a:ea typeface="Calibri"/>
                <a:cs typeface="Calibri"/>
                <a:sym typeface="Calibri"/>
              </a:rPr>
              <a:t>Unknown</a:t>
            </a:r>
            <a:endParaRPr sz="1200">
              <a:solidFill>
                <a:srgbClr val="B45F06"/>
              </a:solidFill>
              <a:latin typeface="Calibri"/>
              <a:ea typeface="Calibri"/>
              <a:cs typeface="Calibri"/>
              <a:sym typeface="Calibri"/>
            </a:endParaRPr>
          </a:p>
        </p:txBody>
      </p:sp>
      <p:pic>
        <p:nvPicPr>
          <p:cNvPr id="777" name="Google Shape;777;p101"/>
          <p:cNvPicPr preferRelativeResize="0"/>
          <p:nvPr/>
        </p:nvPicPr>
        <p:blipFill>
          <a:blip r:embed="rId3">
            <a:alphaModFix/>
          </a:blip>
          <a:stretch>
            <a:fillRect/>
          </a:stretch>
        </p:blipFill>
        <p:spPr>
          <a:xfrm>
            <a:off x="7766924" y="1437625"/>
            <a:ext cx="211381" cy="408574"/>
          </a:xfrm>
          <a:prstGeom prst="rect">
            <a:avLst/>
          </a:prstGeom>
          <a:noFill/>
          <a:ln>
            <a:noFill/>
          </a:ln>
        </p:spPr>
      </p:pic>
      <p:pic>
        <p:nvPicPr>
          <p:cNvPr id="778" name="Google Shape;778;p101"/>
          <p:cNvPicPr preferRelativeResize="0"/>
          <p:nvPr/>
        </p:nvPicPr>
        <p:blipFill>
          <a:blip r:embed="rId3">
            <a:alphaModFix/>
          </a:blip>
          <a:stretch>
            <a:fillRect/>
          </a:stretch>
        </p:blipFill>
        <p:spPr>
          <a:xfrm>
            <a:off x="8044260" y="1437625"/>
            <a:ext cx="211381" cy="408574"/>
          </a:xfrm>
          <a:prstGeom prst="rect">
            <a:avLst/>
          </a:prstGeom>
          <a:noFill/>
          <a:ln>
            <a:noFill/>
          </a:ln>
        </p:spPr>
      </p:pic>
      <p:sp>
        <p:nvSpPr>
          <p:cNvPr id="779" name="Google Shape;779;p101"/>
          <p:cNvSpPr txBox="1"/>
          <p:nvPr/>
        </p:nvSpPr>
        <p:spPr>
          <a:xfrm>
            <a:off x="7292050"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Water Controls</a:t>
            </a:r>
            <a:endParaRPr sz="1200">
              <a:latin typeface="Calibri"/>
              <a:ea typeface="Calibri"/>
              <a:cs typeface="Calibri"/>
              <a:sym typeface="Calibri"/>
            </a:endParaRPr>
          </a:p>
        </p:txBody>
      </p:sp>
      <p:sp>
        <p:nvSpPr>
          <p:cNvPr id="780" name="Google Shape;780;p101"/>
          <p:cNvSpPr txBox="1"/>
          <p:nvPr/>
        </p:nvSpPr>
        <p:spPr>
          <a:xfrm>
            <a:off x="1787974" y="1759300"/>
            <a:ext cx="1238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Microbial Culture, PCR, Serology</a:t>
            </a:r>
            <a:endParaRPr sz="1000">
              <a:solidFill>
                <a:srgbClr val="666666"/>
              </a:solidFill>
              <a:latin typeface="Calibri"/>
              <a:ea typeface="Calibri"/>
              <a:cs typeface="Calibri"/>
              <a:sym typeface="Calibri"/>
            </a:endParaRPr>
          </a:p>
        </p:txBody>
      </p:sp>
      <p:sp>
        <p:nvSpPr>
          <p:cNvPr id="781" name="Google Shape;781;p101"/>
          <p:cNvSpPr txBox="1"/>
          <p:nvPr/>
        </p:nvSpPr>
        <p:spPr>
          <a:xfrm>
            <a:off x="3997150" y="1764650"/>
            <a:ext cx="1412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by standard testing</a:t>
            </a:r>
            <a:endParaRPr sz="1000">
              <a:solidFill>
                <a:srgbClr val="666666"/>
              </a:solidFill>
              <a:latin typeface="Calibri"/>
              <a:ea typeface="Calibri"/>
              <a:cs typeface="Calibri"/>
              <a:sym typeface="Calibri"/>
            </a:endParaRPr>
          </a:p>
        </p:txBody>
      </p:sp>
      <p:sp>
        <p:nvSpPr>
          <p:cNvPr id="782" name="Google Shape;782;p101"/>
          <p:cNvSpPr txBox="1"/>
          <p:nvPr/>
        </p:nvSpPr>
        <p:spPr>
          <a:xfrm>
            <a:off x="5825075" y="1770000"/>
            <a:ext cx="17133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symptoms resolved quickly</a:t>
            </a:r>
            <a:endParaRPr sz="1000">
              <a:solidFill>
                <a:srgbClr val="666666"/>
              </a:solidFill>
              <a:latin typeface="Calibri"/>
              <a:ea typeface="Calibri"/>
              <a:cs typeface="Calibri"/>
              <a:sym typeface="Calibri"/>
            </a:endParaRPr>
          </a:p>
        </p:txBody>
      </p:sp>
      <p:pic>
        <p:nvPicPr>
          <p:cNvPr id="783" name="Google Shape;783;p101"/>
          <p:cNvPicPr preferRelativeResize="0"/>
          <p:nvPr/>
        </p:nvPicPr>
        <p:blipFill>
          <a:blip r:embed="rId4">
            <a:alphaModFix/>
          </a:blip>
          <a:stretch>
            <a:fillRect/>
          </a:stretch>
        </p:blipFill>
        <p:spPr>
          <a:xfrm>
            <a:off x="27375" y="2183100"/>
            <a:ext cx="8227753" cy="2850051"/>
          </a:xfrm>
          <a:prstGeom prst="rect">
            <a:avLst/>
          </a:prstGeom>
          <a:noFill/>
          <a:ln>
            <a:noFill/>
          </a:ln>
        </p:spPr>
      </p:pic>
      <p:sp>
        <p:nvSpPr>
          <p:cNvPr id="784" name="Google Shape;784;p101"/>
          <p:cNvSpPr txBox="1"/>
          <p:nvPr/>
        </p:nvSpPr>
        <p:spPr>
          <a:xfrm>
            <a:off x="59650" y="1344125"/>
            <a:ext cx="11952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Collect Patient CSF Samples</a:t>
            </a:r>
            <a:endParaRPr sz="1200">
              <a:latin typeface="Calibri"/>
              <a:ea typeface="Calibri"/>
              <a:cs typeface="Calibri"/>
              <a:sym typeface="Calibri"/>
            </a:endParaRPr>
          </a:p>
        </p:txBody>
      </p:sp>
      <p:sp>
        <p:nvSpPr>
          <p:cNvPr id="785" name="Google Shape;785;p101"/>
          <p:cNvSpPr txBox="1">
            <a:spLocks noGrp="1"/>
          </p:cNvSpPr>
          <p:nvPr>
            <p:ph type="subTitle" idx="1"/>
          </p:nvPr>
        </p:nvSpPr>
        <p:spPr>
          <a:xfrm>
            <a:off x="412275" y="648875"/>
            <a:ext cx="8340600" cy="489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1800" i="0">
                <a:latin typeface="Roboto"/>
                <a:ea typeface="Roboto"/>
                <a:cs typeface="Roboto"/>
                <a:sym typeface="Roboto"/>
              </a:rPr>
              <a:t>mNGS to identify etiologies of pediatric meningitis in Bangladesh</a:t>
            </a:r>
            <a:endParaRPr sz="1800" i="0">
              <a:latin typeface="Roboto"/>
              <a:ea typeface="Roboto"/>
              <a:cs typeface="Roboto"/>
              <a:sym typeface="Roboto"/>
            </a:endParaRPr>
          </a:p>
        </p:txBody>
      </p:sp>
      <p:sp>
        <p:nvSpPr>
          <p:cNvPr id="786" name="Google Shape;786;p101"/>
          <p:cNvSpPr txBox="1">
            <a:spLocks noGrp="1"/>
          </p:cNvSpPr>
          <p:nvPr>
            <p:ph type="ctrTitle"/>
          </p:nvPr>
        </p:nvSpPr>
        <p:spPr>
          <a:xfrm>
            <a:off x="126850" y="115475"/>
            <a:ext cx="8744400" cy="715200"/>
          </a:xfrm>
          <a:prstGeom prst="rect">
            <a:avLst/>
          </a:prstGeom>
        </p:spPr>
        <p:txBody>
          <a:bodyPr spcFirstLastPara="1" wrap="square" lIns="91425" tIns="91425" rIns="91425" bIns="91425" anchor="b" anchorCtr="0">
            <a:normAutofit/>
          </a:bodyPr>
          <a:lstStyle/>
          <a:p>
            <a:pPr marL="0" lvl="0" indent="0" algn="l" rtl="0">
              <a:lnSpc>
                <a:spcPct val="115000"/>
              </a:lnSpc>
              <a:spcBef>
                <a:spcPts val="0"/>
              </a:spcBef>
              <a:spcAft>
                <a:spcPts val="0"/>
              </a:spcAft>
              <a:buSzPts val="990"/>
              <a:buNone/>
            </a:pPr>
            <a:r>
              <a:rPr lang="en" sz="2650">
                <a:solidFill>
                  <a:srgbClr val="000000"/>
                </a:solidFill>
                <a:latin typeface="Roboto"/>
                <a:ea typeface="Roboto"/>
                <a:cs typeface="Roboto"/>
                <a:sym typeface="Roboto"/>
              </a:rPr>
              <a:t>Use case: Saha et al., mBio, 2019</a:t>
            </a:r>
            <a:endParaRPr sz="2650">
              <a:solidFill>
                <a:srgbClr val="000000"/>
              </a:solidFill>
              <a:latin typeface="Roboto"/>
              <a:ea typeface="Roboto"/>
              <a:cs typeface="Roboto"/>
              <a:sym typeface="Roboto"/>
            </a:endParaRPr>
          </a:p>
        </p:txBody>
      </p:sp>
      <p:sp>
        <p:nvSpPr>
          <p:cNvPr id="787" name="Google Shape;787;p101"/>
          <p:cNvSpPr/>
          <p:nvPr/>
        </p:nvSpPr>
        <p:spPr>
          <a:xfrm>
            <a:off x="140825" y="2229900"/>
            <a:ext cx="8661900" cy="2850000"/>
          </a:xfrm>
          <a:prstGeom prst="rect">
            <a:avLst/>
          </a:prstGeom>
          <a:solidFill>
            <a:srgbClr val="FFFFFF">
              <a:alpha val="8274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8" name="Google Shape;788;p101"/>
          <p:cNvCxnSpPr/>
          <p:nvPr/>
        </p:nvCxnSpPr>
        <p:spPr>
          <a:xfrm flipH="1">
            <a:off x="5972263" y="2254950"/>
            <a:ext cx="291600" cy="633600"/>
          </a:xfrm>
          <a:prstGeom prst="straightConnector1">
            <a:avLst/>
          </a:prstGeom>
          <a:noFill/>
          <a:ln w="9525" cap="flat" cmpd="sng">
            <a:solidFill>
              <a:schemeClr val="dk2"/>
            </a:solidFill>
            <a:prstDash val="solid"/>
            <a:round/>
            <a:headEnd type="none" w="med" len="med"/>
            <a:tailEnd type="triangle" w="med" len="med"/>
          </a:ln>
        </p:spPr>
      </p:cxnSp>
      <p:cxnSp>
        <p:nvCxnSpPr>
          <p:cNvPr id="789" name="Google Shape;789;p101"/>
          <p:cNvCxnSpPr/>
          <p:nvPr/>
        </p:nvCxnSpPr>
        <p:spPr>
          <a:xfrm>
            <a:off x="3390025" y="2273550"/>
            <a:ext cx="240000" cy="596400"/>
          </a:xfrm>
          <a:prstGeom prst="straightConnector1">
            <a:avLst/>
          </a:prstGeom>
          <a:noFill/>
          <a:ln w="9525" cap="flat" cmpd="sng">
            <a:solidFill>
              <a:schemeClr val="dk2"/>
            </a:solidFill>
            <a:prstDash val="solid"/>
            <a:round/>
            <a:headEnd type="none" w="med" len="med"/>
            <a:tailEnd type="triangle" w="med" len="med"/>
          </a:ln>
        </p:spPr>
      </p:cxnSp>
      <p:sp>
        <p:nvSpPr>
          <p:cNvPr id="790" name="Google Shape;790;p101"/>
          <p:cNvSpPr txBox="1"/>
          <p:nvPr/>
        </p:nvSpPr>
        <p:spPr>
          <a:xfrm>
            <a:off x="2993738" y="2820700"/>
            <a:ext cx="3369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latin typeface="Calibri"/>
                <a:ea typeface="Calibri"/>
                <a:cs typeface="Calibri"/>
                <a:sym typeface="Calibri"/>
              </a:rPr>
              <a:t>Appropriate controls included!</a:t>
            </a:r>
            <a:endParaRPr sz="1800" b="1">
              <a:latin typeface="Calibri"/>
              <a:ea typeface="Calibri"/>
              <a:cs typeface="Calibri"/>
              <a:sym typeface="Calibri"/>
            </a:endParaRPr>
          </a:p>
        </p:txBody>
      </p:sp>
      <p:cxnSp>
        <p:nvCxnSpPr>
          <p:cNvPr id="791" name="Google Shape;791;p101"/>
          <p:cNvCxnSpPr/>
          <p:nvPr/>
        </p:nvCxnSpPr>
        <p:spPr>
          <a:xfrm flipH="1">
            <a:off x="6124750" y="2263375"/>
            <a:ext cx="1691400" cy="7776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102"/>
          <p:cNvSpPr/>
          <p:nvPr/>
        </p:nvSpPr>
        <p:spPr>
          <a:xfrm>
            <a:off x="5614475" y="1586088"/>
            <a:ext cx="2130900" cy="72900"/>
          </a:xfrm>
          <a:prstGeom prst="rect">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02"/>
          <p:cNvSpPr/>
          <p:nvPr/>
        </p:nvSpPr>
        <p:spPr>
          <a:xfrm>
            <a:off x="7754725" y="1586088"/>
            <a:ext cx="424800" cy="729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02"/>
          <p:cNvSpPr/>
          <p:nvPr/>
        </p:nvSpPr>
        <p:spPr>
          <a:xfrm>
            <a:off x="3820425" y="1586088"/>
            <a:ext cx="1784700" cy="72900"/>
          </a:xfrm>
          <a:prstGeom prst="rect">
            <a:avLst/>
          </a:pr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02"/>
          <p:cNvSpPr/>
          <p:nvPr/>
        </p:nvSpPr>
        <p:spPr>
          <a:xfrm>
            <a:off x="1251525" y="1586088"/>
            <a:ext cx="2540700" cy="729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00" name="Google Shape;800;p102"/>
          <p:cNvPicPr preferRelativeResize="0"/>
          <p:nvPr/>
        </p:nvPicPr>
        <p:blipFill>
          <a:blip r:embed="rId3">
            <a:alphaModFix/>
          </a:blip>
          <a:stretch>
            <a:fillRect/>
          </a:stretch>
        </p:blipFill>
        <p:spPr>
          <a:xfrm>
            <a:off x="1756475" y="1437625"/>
            <a:ext cx="211381" cy="408574"/>
          </a:xfrm>
          <a:prstGeom prst="rect">
            <a:avLst/>
          </a:prstGeom>
          <a:noFill/>
          <a:ln>
            <a:noFill/>
          </a:ln>
        </p:spPr>
      </p:pic>
      <p:pic>
        <p:nvPicPr>
          <p:cNvPr id="801" name="Google Shape;801;p102"/>
          <p:cNvPicPr preferRelativeResize="0"/>
          <p:nvPr/>
        </p:nvPicPr>
        <p:blipFill>
          <a:blip r:embed="rId3">
            <a:alphaModFix/>
          </a:blip>
          <a:stretch>
            <a:fillRect/>
          </a:stretch>
        </p:blipFill>
        <p:spPr>
          <a:xfrm>
            <a:off x="2033812" y="1437625"/>
            <a:ext cx="211381" cy="408574"/>
          </a:xfrm>
          <a:prstGeom prst="rect">
            <a:avLst/>
          </a:prstGeom>
          <a:noFill/>
          <a:ln>
            <a:noFill/>
          </a:ln>
        </p:spPr>
      </p:pic>
      <p:pic>
        <p:nvPicPr>
          <p:cNvPr id="802" name="Google Shape;802;p102"/>
          <p:cNvPicPr preferRelativeResize="0"/>
          <p:nvPr/>
        </p:nvPicPr>
        <p:blipFill>
          <a:blip r:embed="rId3">
            <a:alphaModFix/>
          </a:blip>
          <a:stretch>
            <a:fillRect/>
          </a:stretch>
        </p:blipFill>
        <p:spPr>
          <a:xfrm>
            <a:off x="2311148" y="1437625"/>
            <a:ext cx="211381" cy="408574"/>
          </a:xfrm>
          <a:prstGeom prst="rect">
            <a:avLst/>
          </a:prstGeom>
          <a:noFill/>
          <a:ln>
            <a:noFill/>
          </a:ln>
        </p:spPr>
      </p:pic>
      <p:pic>
        <p:nvPicPr>
          <p:cNvPr id="803" name="Google Shape;803;p102"/>
          <p:cNvPicPr preferRelativeResize="0"/>
          <p:nvPr/>
        </p:nvPicPr>
        <p:blipFill>
          <a:blip r:embed="rId3">
            <a:alphaModFix/>
          </a:blip>
          <a:stretch>
            <a:fillRect/>
          </a:stretch>
        </p:blipFill>
        <p:spPr>
          <a:xfrm>
            <a:off x="2588485" y="1437625"/>
            <a:ext cx="211381" cy="408574"/>
          </a:xfrm>
          <a:prstGeom prst="rect">
            <a:avLst/>
          </a:prstGeom>
          <a:noFill/>
          <a:ln>
            <a:noFill/>
          </a:ln>
        </p:spPr>
      </p:pic>
      <p:pic>
        <p:nvPicPr>
          <p:cNvPr id="804" name="Google Shape;804;p102"/>
          <p:cNvPicPr preferRelativeResize="0"/>
          <p:nvPr/>
        </p:nvPicPr>
        <p:blipFill>
          <a:blip r:embed="rId3">
            <a:alphaModFix/>
          </a:blip>
          <a:stretch>
            <a:fillRect/>
          </a:stretch>
        </p:blipFill>
        <p:spPr>
          <a:xfrm>
            <a:off x="2854398" y="1437625"/>
            <a:ext cx="211381" cy="408574"/>
          </a:xfrm>
          <a:prstGeom prst="rect">
            <a:avLst/>
          </a:prstGeom>
          <a:noFill/>
          <a:ln>
            <a:noFill/>
          </a:ln>
        </p:spPr>
      </p:pic>
      <p:pic>
        <p:nvPicPr>
          <p:cNvPr id="805" name="Google Shape;805;p102"/>
          <p:cNvPicPr preferRelativeResize="0"/>
          <p:nvPr/>
        </p:nvPicPr>
        <p:blipFill>
          <a:blip r:embed="rId3">
            <a:alphaModFix/>
          </a:blip>
          <a:stretch>
            <a:fillRect/>
          </a:stretch>
        </p:blipFill>
        <p:spPr>
          <a:xfrm>
            <a:off x="4153093" y="1437625"/>
            <a:ext cx="211381" cy="408574"/>
          </a:xfrm>
          <a:prstGeom prst="rect">
            <a:avLst/>
          </a:prstGeom>
          <a:noFill/>
          <a:ln>
            <a:noFill/>
          </a:ln>
        </p:spPr>
      </p:pic>
      <p:pic>
        <p:nvPicPr>
          <p:cNvPr id="806" name="Google Shape;806;p102"/>
          <p:cNvPicPr preferRelativeResize="0"/>
          <p:nvPr/>
        </p:nvPicPr>
        <p:blipFill>
          <a:blip r:embed="rId3">
            <a:alphaModFix/>
          </a:blip>
          <a:stretch>
            <a:fillRect/>
          </a:stretch>
        </p:blipFill>
        <p:spPr>
          <a:xfrm>
            <a:off x="6012370" y="1437625"/>
            <a:ext cx="211381" cy="408574"/>
          </a:xfrm>
          <a:prstGeom prst="rect">
            <a:avLst/>
          </a:prstGeom>
          <a:noFill/>
          <a:ln>
            <a:noFill/>
          </a:ln>
        </p:spPr>
      </p:pic>
      <p:pic>
        <p:nvPicPr>
          <p:cNvPr id="807" name="Google Shape;807;p102"/>
          <p:cNvPicPr preferRelativeResize="0"/>
          <p:nvPr/>
        </p:nvPicPr>
        <p:blipFill>
          <a:blip r:embed="rId3">
            <a:alphaModFix/>
          </a:blip>
          <a:stretch>
            <a:fillRect/>
          </a:stretch>
        </p:blipFill>
        <p:spPr>
          <a:xfrm>
            <a:off x="6289707" y="1437625"/>
            <a:ext cx="211381" cy="408574"/>
          </a:xfrm>
          <a:prstGeom prst="rect">
            <a:avLst/>
          </a:prstGeom>
          <a:noFill/>
          <a:ln>
            <a:noFill/>
          </a:ln>
        </p:spPr>
      </p:pic>
      <p:pic>
        <p:nvPicPr>
          <p:cNvPr id="808" name="Google Shape;808;p102"/>
          <p:cNvPicPr preferRelativeResize="0"/>
          <p:nvPr/>
        </p:nvPicPr>
        <p:blipFill>
          <a:blip r:embed="rId3">
            <a:alphaModFix/>
          </a:blip>
          <a:stretch>
            <a:fillRect/>
          </a:stretch>
        </p:blipFill>
        <p:spPr>
          <a:xfrm>
            <a:off x="6567044" y="1437625"/>
            <a:ext cx="211381" cy="408574"/>
          </a:xfrm>
          <a:prstGeom prst="rect">
            <a:avLst/>
          </a:prstGeom>
          <a:noFill/>
          <a:ln>
            <a:noFill/>
          </a:ln>
        </p:spPr>
      </p:pic>
      <p:pic>
        <p:nvPicPr>
          <p:cNvPr id="809" name="Google Shape;809;p102"/>
          <p:cNvPicPr preferRelativeResize="0"/>
          <p:nvPr/>
        </p:nvPicPr>
        <p:blipFill>
          <a:blip r:embed="rId3">
            <a:alphaModFix/>
          </a:blip>
          <a:stretch>
            <a:fillRect/>
          </a:stretch>
        </p:blipFill>
        <p:spPr>
          <a:xfrm>
            <a:off x="6844380" y="1437625"/>
            <a:ext cx="211381" cy="408574"/>
          </a:xfrm>
          <a:prstGeom prst="rect">
            <a:avLst/>
          </a:prstGeom>
          <a:noFill/>
          <a:ln>
            <a:noFill/>
          </a:ln>
        </p:spPr>
      </p:pic>
      <p:pic>
        <p:nvPicPr>
          <p:cNvPr id="810" name="Google Shape;810;p102"/>
          <p:cNvPicPr preferRelativeResize="0"/>
          <p:nvPr/>
        </p:nvPicPr>
        <p:blipFill>
          <a:blip r:embed="rId3">
            <a:alphaModFix/>
          </a:blip>
          <a:stretch>
            <a:fillRect/>
          </a:stretch>
        </p:blipFill>
        <p:spPr>
          <a:xfrm>
            <a:off x="7121717" y="1437625"/>
            <a:ext cx="211381" cy="408574"/>
          </a:xfrm>
          <a:prstGeom prst="rect">
            <a:avLst/>
          </a:prstGeom>
          <a:noFill/>
          <a:ln>
            <a:noFill/>
          </a:ln>
        </p:spPr>
      </p:pic>
      <p:pic>
        <p:nvPicPr>
          <p:cNvPr id="811" name="Google Shape;811;p102"/>
          <p:cNvPicPr preferRelativeResize="0"/>
          <p:nvPr/>
        </p:nvPicPr>
        <p:blipFill>
          <a:blip r:embed="rId3">
            <a:alphaModFix/>
          </a:blip>
          <a:stretch>
            <a:fillRect/>
          </a:stretch>
        </p:blipFill>
        <p:spPr>
          <a:xfrm>
            <a:off x="4707744" y="1437625"/>
            <a:ext cx="211381" cy="408574"/>
          </a:xfrm>
          <a:prstGeom prst="rect">
            <a:avLst/>
          </a:prstGeom>
          <a:noFill/>
          <a:ln>
            <a:noFill/>
          </a:ln>
        </p:spPr>
      </p:pic>
      <p:pic>
        <p:nvPicPr>
          <p:cNvPr id="812" name="Google Shape;812;p102"/>
          <p:cNvPicPr preferRelativeResize="0"/>
          <p:nvPr/>
        </p:nvPicPr>
        <p:blipFill>
          <a:blip r:embed="rId3">
            <a:alphaModFix/>
          </a:blip>
          <a:stretch>
            <a:fillRect/>
          </a:stretch>
        </p:blipFill>
        <p:spPr>
          <a:xfrm>
            <a:off x="4985081" y="1437625"/>
            <a:ext cx="211381" cy="408574"/>
          </a:xfrm>
          <a:prstGeom prst="rect">
            <a:avLst/>
          </a:prstGeom>
          <a:noFill/>
          <a:ln>
            <a:noFill/>
          </a:ln>
        </p:spPr>
      </p:pic>
      <p:pic>
        <p:nvPicPr>
          <p:cNvPr id="813" name="Google Shape;813;p102"/>
          <p:cNvPicPr preferRelativeResize="0"/>
          <p:nvPr/>
        </p:nvPicPr>
        <p:blipFill>
          <a:blip r:embed="rId3">
            <a:alphaModFix/>
          </a:blip>
          <a:stretch>
            <a:fillRect/>
          </a:stretch>
        </p:blipFill>
        <p:spPr>
          <a:xfrm>
            <a:off x="4430419" y="1437625"/>
            <a:ext cx="211381" cy="408574"/>
          </a:xfrm>
          <a:prstGeom prst="rect">
            <a:avLst/>
          </a:prstGeom>
          <a:noFill/>
          <a:ln>
            <a:noFill/>
          </a:ln>
        </p:spPr>
      </p:pic>
      <p:sp>
        <p:nvSpPr>
          <p:cNvPr id="814" name="Google Shape;814;p102"/>
          <p:cNvSpPr txBox="1"/>
          <p:nvPr/>
        </p:nvSpPr>
        <p:spPr>
          <a:xfrm>
            <a:off x="1688700" y="1112125"/>
            <a:ext cx="14124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CC0000"/>
                </a:solidFill>
                <a:latin typeface="Calibri"/>
                <a:ea typeface="Calibri"/>
                <a:cs typeface="Calibri"/>
                <a:sym typeface="Calibri"/>
              </a:rPr>
              <a:t>Known Positives</a:t>
            </a:r>
            <a:endParaRPr sz="1200">
              <a:solidFill>
                <a:srgbClr val="CC0000"/>
              </a:solidFill>
              <a:latin typeface="Calibri"/>
              <a:ea typeface="Calibri"/>
              <a:cs typeface="Calibri"/>
              <a:sym typeface="Calibri"/>
            </a:endParaRPr>
          </a:p>
        </p:txBody>
      </p:sp>
      <p:sp>
        <p:nvSpPr>
          <p:cNvPr id="815" name="Google Shape;815;p102"/>
          <p:cNvSpPr txBox="1"/>
          <p:nvPr/>
        </p:nvSpPr>
        <p:spPr>
          <a:xfrm>
            <a:off x="5939206"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0B5394"/>
                </a:solidFill>
                <a:latin typeface="Calibri"/>
                <a:ea typeface="Calibri"/>
                <a:cs typeface="Calibri"/>
                <a:sym typeface="Calibri"/>
              </a:rPr>
              <a:t>Known Negatives</a:t>
            </a:r>
            <a:endParaRPr sz="1200">
              <a:solidFill>
                <a:srgbClr val="0B5394"/>
              </a:solidFill>
              <a:latin typeface="Calibri"/>
              <a:ea typeface="Calibri"/>
              <a:cs typeface="Calibri"/>
              <a:sym typeface="Calibri"/>
            </a:endParaRPr>
          </a:p>
        </p:txBody>
      </p:sp>
      <p:sp>
        <p:nvSpPr>
          <p:cNvPr id="816" name="Google Shape;816;p102"/>
          <p:cNvSpPr txBox="1"/>
          <p:nvPr/>
        </p:nvSpPr>
        <p:spPr>
          <a:xfrm>
            <a:off x="3923297"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B45F06"/>
                </a:solidFill>
                <a:latin typeface="Calibri"/>
                <a:ea typeface="Calibri"/>
                <a:cs typeface="Calibri"/>
                <a:sym typeface="Calibri"/>
              </a:rPr>
              <a:t>Unknown</a:t>
            </a:r>
            <a:endParaRPr sz="1200">
              <a:solidFill>
                <a:srgbClr val="B45F06"/>
              </a:solidFill>
              <a:latin typeface="Calibri"/>
              <a:ea typeface="Calibri"/>
              <a:cs typeface="Calibri"/>
              <a:sym typeface="Calibri"/>
            </a:endParaRPr>
          </a:p>
        </p:txBody>
      </p:sp>
      <p:pic>
        <p:nvPicPr>
          <p:cNvPr id="817" name="Google Shape;817;p102"/>
          <p:cNvPicPr preferRelativeResize="0"/>
          <p:nvPr/>
        </p:nvPicPr>
        <p:blipFill>
          <a:blip r:embed="rId3">
            <a:alphaModFix/>
          </a:blip>
          <a:stretch>
            <a:fillRect/>
          </a:stretch>
        </p:blipFill>
        <p:spPr>
          <a:xfrm>
            <a:off x="7766924" y="1437625"/>
            <a:ext cx="211381" cy="408574"/>
          </a:xfrm>
          <a:prstGeom prst="rect">
            <a:avLst/>
          </a:prstGeom>
          <a:noFill/>
          <a:ln>
            <a:noFill/>
          </a:ln>
        </p:spPr>
      </p:pic>
      <p:pic>
        <p:nvPicPr>
          <p:cNvPr id="818" name="Google Shape;818;p102"/>
          <p:cNvPicPr preferRelativeResize="0"/>
          <p:nvPr/>
        </p:nvPicPr>
        <p:blipFill>
          <a:blip r:embed="rId3">
            <a:alphaModFix/>
          </a:blip>
          <a:stretch>
            <a:fillRect/>
          </a:stretch>
        </p:blipFill>
        <p:spPr>
          <a:xfrm>
            <a:off x="8044260" y="1437625"/>
            <a:ext cx="211381" cy="408574"/>
          </a:xfrm>
          <a:prstGeom prst="rect">
            <a:avLst/>
          </a:prstGeom>
          <a:noFill/>
          <a:ln>
            <a:noFill/>
          </a:ln>
        </p:spPr>
      </p:pic>
      <p:sp>
        <p:nvSpPr>
          <p:cNvPr id="819" name="Google Shape;819;p102"/>
          <p:cNvSpPr txBox="1"/>
          <p:nvPr/>
        </p:nvSpPr>
        <p:spPr>
          <a:xfrm>
            <a:off x="7292050"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Water Controls</a:t>
            </a:r>
            <a:endParaRPr sz="1200">
              <a:latin typeface="Calibri"/>
              <a:ea typeface="Calibri"/>
              <a:cs typeface="Calibri"/>
              <a:sym typeface="Calibri"/>
            </a:endParaRPr>
          </a:p>
        </p:txBody>
      </p:sp>
      <p:sp>
        <p:nvSpPr>
          <p:cNvPr id="820" name="Google Shape;820;p102"/>
          <p:cNvSpPr txBox="1"/>
          <p:nvPr/>
        </p:nvSpPr>
        <p:spPr>
          <a:xfrm>
            <a:off x="1787974" y="1759300"/>
            <a:ext cx="1238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Microbial Culture, PCR, Serology</a:t>
            </a:r>
            <a:endParaRPr sz="1000">
              <a:solidFill>
                <a:srgbClr val="666666"/>
              </a:solidFill>
              <a:latin typeface="Calibri"/>
              <a:ea typeface="Calibri"/>
              <a:cs typeface="Calibri"/>
              <a:sym typeface="Calibri"/>
            </a:endParaRPr>
          </a:p>
        </p:txBody>
      </p:sp>
      <p:sp>
        <p:nvSpPr>
          <p:cNvPr id="821" name="Google Shape;821;p102"/>
          <p:cNvSpPr txBox="1"/>
          <p:nvPr/>
        </p:nvSpPr>
        <p:spPr>
          <a:xfrm>
            <a:off x="3997150" y="1764650"/>
            <a:ext cx="1412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by standard testing</a:t>
            </a:r>
            <a:endParaRPr sz="1000">
              <a:solidFill>
                <a:srgbClr val="666666"/>
              </a:solidFill>
              <a:latin typeface="Calibri"/>
              <a:ea typeface="Calibri"/>
              <a:cs typeface="Calibri"/>
              <a:sym typeface="Calibri"/>
            </a:endParaRPr>
          </a:p>
        </p:txBody>
      </p:sp>
      <p:sp>
        <p:nvSpPr>
          <p:cNvPr id="822" name="Google Shape;822;p102"/>
          <p:cNvSpPr txBox="1"/>
          <p:nvPr/>
        </p:nvSpPr>
        <p:spPr>
          <a:xfrm>
            <a:off x="5825075" y="1770000"/>
            <a:ext cx="17133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symptoms resolved quickly</a:t>
            </a:r>
            <a:endParaRPr sz="1000">
              <a:solidFill>
                <a:srgbClr val="666666"/>
              </a:solidFill>
              <a:latin typeface="Calibri"/>
              <a:ea typeface="Calibri"/>
              <a:cs typeface="Calibri"/>
              <a:sym typeface="Calibri"/>
            </a:endParaRPr>
          </a:p>
        </p:txBody>
      </p:sp>
      <p:pic>
        <p:nvPicPr>
          <p:cNvPr id="823" name="Google Shape;823;p102"/>
          <p:cNvPicPr preferRelativeResize="0"/>
          <p:nvPr/>
        </p:nvPicPr>
        <p:blipFill>
          <a:blip r:embed="rId4">
            <a:alphaModFix/>
          </a:blip>
          <a:stretch>
            <a:fillRect/>
          </a:stretch>
        </p:blipFill>
        <p:spPr>
          <a:xfrm>
            <a:off x="27375" y="2183100"/>
            <a:ext cx="8227753" cy="2850051"/>
          </a:xfrm>
          <a:prstGeom prst="rect">
            <a:avLst/>
          </a:prstGeom>
          <a:noFill/>
          <a:ln>
            <a:noFill/>
          </a:ln>
        </p:spPr>
      </p:pic>
      <p:sp>
        <p:nvSpPr>
          <p:cNvPr id="824" name="Google Shape;824;p102"/>
          <p:cNvSpPr txBox="1"/>
          <p:nvPr/>
        </p:nvSpPr>
        <p:spPr>
          <a:xfrm>
            <a:off x="59650" y="1344125"/>
            <a:ext cx="11952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Collect Patient CSF Samples</a:t>
            </a:r>
            <a:endParaRPr sz="1200">
              <a:latin typeface="Calibri"/>
              <a:ea typeface="Calibri"/>
              <a:cs typeface="Calibri"/>
              <a:sym typeface="Calibri"/>
            </a:endParaRPr>
          </a:p>
        </p:txBody>
      </p:sp>
      <p:sp>
        <p:nvSpPr>
          <p:cNvPr id="825" name="Google Shape;825;p102"/>
          <p:cNvSpPr txBox="1">
            <a:spLocks noGrp="1"/>
          </p:cNvSpPr>
          <p:nvPr>
            <p:ph type="subTitle" idx="1"/>
          </p:nvPr>
        </p:nvSpPr>
        <p:spPr>
          <a:xfrm>
            <a:off x="412275" y="648875"/>
            <a:ext cx="8340600" cy="489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1800" i="0">
                <a:latin typeface="Roboto"/>
                <a:ea typeface="Roboto"/>
                <a:cs typeface="Roboto"/>
                <a:sym typeface="Roboto"/>
              </a:rPr>
              <a:t>mNGS to identify etiologies of pediatric meningitis in Bangladesh</a:t>
            </a:r>
            <a:endParaRPr sz="1800" i="0">
              <a:latin typeface="Roboto"/>
              <a:ea typeface="Roboto"/>
              <a:cs typeface="Roboto"/>
              <a:sym typeface="Roboto"/>
            </a:endParaRPr>
          </a:p>
        </p:txBody>
      </p:sp>
      <p:sp>
        <p:nvSpPr>
          <p:cNvPr id="826" name="Google Shape;826;p102"/>
          <p:cNvSpPr txBox="1">
            <a:spLocks noGrp="1"/>
          </p:cNvSpPr>
          <p:nvPr>
            <p:ph type="ctrTitle"/>
          </p:nvPr>
        </p:nvSpPr>
        <p:spPr>
          <a:xfrm>
            <a:off x="126850" y="115475"/>
            <a:ext cx="8744400" cy="715200"/>
          </a:xfrm>
          <a:prstGeom prst="rect">
            <a:avLst/>
          </a:prstGeom>
        </p:spPr>
        <p:txBody>
          <a:bodyPr spcFirstLastPara="1" wrap="square" lIns="91425" tIns="91425" rIns="91425" bIns="91425" anchor="b" anchorCtr="0">
            <a:normAutofit/>
          </a:bodyPr>
          <a:lstStyle/>
          <a:p>
            <a:pPr marL="0" lvl="0" indent="0" algn="l" rtl="0">
              <a:lnSpc>
                <a:spcPct val="115000"/>
              </a:lnSpc>
              <a:spcBef>
                <a:spcPts val="0"/>
              </a:spcBef>
              <a:spcAft>
                <a:spcPts val="0"/>
              </a:spcAft>
              <a:buSzPts val="990"/>
              <a:buNone/>
            </a:pPr>
            <a:r>
              <a:rPr lang="en" sz="2650">
                <a:solidFill>
                  <a:srgbClr val="000000"/>
                </a:solidFill>
                <a:latin typeface="Roboto"/>
                <a:ea typeface="Roboto"/>
                <a:cs typeface="Roboto"/>
                <a:sym typeface="Roboto"/>
              </a:rPr>
              <a:t>Use case: Saha et al., mBio, 2019</a:t>
            </a:r>
            <a:endParaRPr sz="2650">
              <a:solidFill>
                <a:srgbClr val="000000"/>
              </a:solidFill>
              <a:latin typeface="Roboto"/>
              <a:ea typeface="Roboto"/>
              <a:cs typeface="Roboto"/>
              <a:sym typeface="Roboto"/>
            </a:endParaRPr>
          </a:p>
        </p:txBody>
      </p:sp>
      <p:sp>
        <p:nvSpPr>
          <p:cNvPr id="827" name="Google Shape;827;p102"/>
          <p:cNvSpPr/>
          <p:nvPr/>
        </p:nvSpPr>
        <p:spPr>
          <a:xfrm>
            <a:off x="140825" y="3198625"/>
            <a:ext cx="8661900" cy="1881300"/>
          </a:xfrm>
          <a:prstGeom prst="rect">
            <a:avLst/>
          </a:prstGeom>
          <a:solidFill>
            <a:srgbClr val="FFFFFF">
              <a:alpha val="8274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02"/>
          <p:cNvSpPr/>
          <p:nvPr/>
        </p:nvSpPr>
        <p:spPr>
          <a:xfrm>
            <a:off x="59650" y="1138175"/>
            <a:ext cx="8661900" cy="1044900"/>
          </a:xfrm>
          <a:prstGeom prst="rect">
            <a:avLst/>
          </a:prstGeom>
          <a:solidFill>
            <a:srgbClr val="FFFFFF">
              <a:alpha val="8274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02"/>
          <p:cNvSpPr/>
          <p:nvPr/>
        </p:nvSpPr>
        <p:spPr>
          <a:xfrm>
            <a:off x="1056250" y="1722725"/>
            <a:ext cx="7198800" cy="1044900"/>
          </a:xfrm>
          <a:prstGeom prst="rect">
            <a:avLst/>
          </a:prstGeom>
          <a:solidFill>
            <a:srgbClr val="FFFFFF">
              <a:alpha val="8274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02"/>
          <p:cNvSpPr/>
          <p:nvPr/>
        </p:nvSpPr>
        <p:spPr>
          <a:xfrm>
            <a:off x="1056250" y="2767675"/>
            <a:ext cx="90600" cy="72900"/>
          </a:xfrm>
          <a:prstGeom prst="rect">
            <a:avLst/>
          </a:prstGeom>
          <a:solidFill>
            <a:srgbClr val="FFFFFF">
              <a:alpha val="8274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02"/>
          <p:cNvSpPr txBox="1"/>
          <p:nvPr/>
        </p:nvSpPr>
        <p:spPr>
          <a:xfrm>
            <a:off x="2998500" y="1735425"/>
            <a:ext cx="3369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latin typeface="Roboto"/>
                <a:ea typeface="Roboto"/>
                <a:cs typeface="Roboto"/>
                <a:sym typeface="Roboto"/>
              </a:rPr>
              <a:t>Relevant metadata included!</a:t>
            </a:r>
            <a:endParaRPr sz="1800" b="1">
              <a:latin typeface="Roboto"/>
              <a:ea typeface="Roboto"/>
              <a:cs typeface="Roboto"/>
              <a:sym typeface="Roboto"/>
            </a:endParaRPr>
          </a:p>
        </p:txBody>
      </p:sp>
      <p:cxnSp>
        <p:nvCxnSpPr>
          <p:cNvPr id="832" name="Google Shape;832;p102"/>
          <p:cNvCxnSpPr>
            <a:endCxn id="831" idx="1"/>
          </p:cNvCxnSpPr>
          <p:nvPr/>
        </p:nvCxnSpPr>
        <p:spPr>
          <a:xfrm rot="10800000" flipH="1">
            <a:off x="816300" y="1966275"/>
            <a:ext cx="2182200" cy="6996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103"/>
          <p:cNvSpPr/>
          <p:nvPr/>
        </p:nvSpPr>
        <p:spPr>
          <a:xfrm>
            <a:off x="5614475" y="1586088"/>
            <a:ext cx="2130900" cy="72900"/>
          </a:xfrm>
          <a:prstGeom prst="rect">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03"/>
          <p:cNvSpPr/>
          <p:nvPr/>
        </p:nvSpPr>
        <p:spPr>
          <a:xfrm>
            <a:off x="7754725" y="1586088"/>
            <a:ext cx="424800" cy="729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03"/>
          <p:cNvSpPr/>
          <p:nvPr/>
        </p:nvSpPr>
        <p:spPr>
          <a:xfrm>
            <a:off x="3820425" y="1586088"/>
            <a:ext cx="1784700" cy="72900"/>
          </a:xfrm>
          <a:prstGeom prst="rect">
            <a:avLst/>
          </a:pr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103"/>
          <p:cNvSpPr/>
          <p:nvPr/>
        </p:nvSpPr>
        <p:spPr>
          <a:xfrm>
            <a:off x="1251525" y="1586088"/>
            <a:ext cx="2540700" cy="729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41" name="Google Shape;841;p103"/>
          <p:cNvPicPr preferRelativeResize="0"/>
          <p:nvPr/>
        </p:nvPicPr>
        <p:blipFill>
          <a:blip r:embed="rId3">
            <a:alphaModFix/>
          </a:blip>
          <a:stretch>
            <a:fillRect/>
          </a:stretch>
        </p:blipFill>
        <p:spPr>
          <a:xfrm>
            <a:off x="1756475" y="1437625"/>
            <a:ext cx="211381" cy="408574"/>
          </a:xfrm>
          <a:prstGeom prst="rect">
            <a:avLst/>
          </a:prstGeom>
          <a:noFill/>
          <a:ln>
            <a:noFill/>
          </a:ln>
        </p:spPr>
      </p:pic>
      <p:pic>
        <p:nvPicPr>
          <p:cNvPr id="842" name="Google Shape;842;p103"/>
          <p:cNvPicPr preferRelativeResize="0"/>
          <p:nvPr/>
        </p:nvPicPr>
        <p:blipFill>
          <a:blip r:embed="rId3">
            <a:alphaModFix/>
          </a:blip>
          <a:stretch>
            <a:fillRect/>
          </a:stretch>
        </p:blipFill>
        <p:spPr>
          <a:xfrm>
            <a:off x="2033812" y="1437625"/>
            <a:ext cx="211381" cy="408574"/>
          </a:xfrm>
          <a:prstGeom prst="rect">
            <a:avLst/>
          </a:prstGeom>
          <a:noFill/>
          <a:ln>
            <a:noFill/>
          </a:ln>
        </p:spPr>
      </p:pic>
      <p:pic>
        <p:nvPicPr>
          <p:cNvPr id="843" name="Google Shape;843;p103"/>
          <p:cNvPicPr preferRelativeResize="0"/>
          <p:nvPr/>
        </p:nvPicPr>
        <p:blipFill>
          <a:blip r:embed="rId3">
            <a:alphaModFix/>
          </a:blip>
          <a:stretch>
            <a:fillRect/>
          </a:stretch>
        </p:blipFill>
        <p:spPr>
          <a:xfrm>
            <a:off x="2311148" y="1437625"/>
            <a:ext cx="211381" cy="408574"/>
          </a:xfrm>
          <a:prstGeom prst="rect">
            <a:avLst/>
          </a:prstGeom>
          <a:noFill/>
          <a:ln>
            <a:noFill/>
          </a:ln>
        </p:spPr>
      </p:pic>
      <p:pic>
        <p:nvPicPr>
          <p:cNvPr id="844" name="Google Shape;844;p103"/>
          <p:cNvPicPr preferRelativeResize="0"/>
          <p:nvPr/>
        </p:nvPicPr>
        <p:blipFill>
          <a:blip r:embed="rId3">
            <a:alphaModFix/>
          </a:blip>
          <a:stretch>
            <a:fillRect/>
          </a:stretch>
        </p:blipFill>
        <p:spPr>
          <a:xfrm>
            <a:off x="2588485" y="1437625"/>
            <a:ext cx="211381" cy="408574"/>
          </a:xfrm>
          <a:prstGeom prst="rect">
            <a:avLst/>
          </a:prstGeom>
          <a:noFill/>
          <a:ln>
            <a:noFill/>
          </a:ln>
        </p:spPr>
      </p:pic>
      <p:pic>
        <p:nvPicPr>
          <p:cNvPr id="845" name="Google Shape;845;p103"/>
          <p:cNvPicPr preferRelativeResize="0"/>
          <p:nvPr/>
        </p:nvPicPr>
        <p:blipFill>
          <a:blip r:embed="rId3">
            <a:alphaModFix/>
          </a:blip>
          <a:stretch>
            <a:fillRect/>
          </a:stretch>
        </p:blipFill>
        <p:spPr>
          <a:xfrm>
            <a:off x="2854398" y="1437625"/>
            <a:ext cx="211381" cy="408574"/>
          </a:xfrm>
          <a:prstGeom prst="rect">
            <a:avLst/>
          </a:prstGeom>
          <a:noFill/>
          <a:ln>
            <a:noFill/>
          </a:ln>
        </p:spPr>
      </p:pic>
      <p:pic>
        <p:nvPicPr>
          <p:cNvPr id="846" name="Google Shape;846;p103"/>
          <p:cNvPicPr preferRelativeResize="0"/>
          <p:nvPr/>
        </p:nvPicPr>
        <p:blipFill>
          <a:blip r:embed="rId3">
            <a:alphaModFix/>
          </a:blip>
          <a:stretch>
            <a:fillRect/>
          </a:stretch>
        </p:blipFill>
        <p:spPr>
          <a:xfrm>
            <a:off x="4153093" y="1437625"/>
            <a:ext cx="211381" cy="408574"/>
          </a:xfrm>
          <a:prstGeom prst="rect">
            <a:avLst/>
          </a:prstGeom>
          <a:noFill/>
          <a:ln>
            <a:noFill/>
          </a:ln>
        </p:spPr>
      </p:pic>
      <p:pic>
        <p:nvPicPr>
          <p:cNvPr id="847" name="Google Shape;847;p103"/>
          <p:cNvPicPr preferRelativeResize="0"/>
          <p:nvPr/>
        </p:nvPicPr>
        <p:blipFill>
          <a:blip r:embed="rId3">
            <a:alphaModFix/>
          </a:blip>
          <a:stretch>
            <a:fillRect/>
          </a:stretch>
        </p:blipFill>
        <p:spPr>
          <a:xfrm>
            <a:off x="6012370" y="1437625"/>
            <a:ext cx="211381" cy="408574"/>
          </a:xfrm>
          <a:prstGeom prst="rect">
            <a:avLst/>
          </a:prstGeom>
          <a:noFill/>
          <a:ln>
            <a:noFill/>
          </a:ln>
        </p:spPr>
      </p:pic>
      <p:pic>
        <p:nvPicPr>
          <p:cNvPr id="848" name="Google Shape;848;p103"/>
          <p:cNvPicPr preferRelativeResize="0"/>
          <p:nvPr/>
        </p:nvPicPr>
        <p:blipFill>
          <a:blip r:embed="rId3">
            <a:alphaModFix/>
          </a:blip>
          <a:stretch>
            <a:fillRect/>
          </a:stretch>
        </p:blipFill>
        <p:spPr>
          <a:xfrm>
            <a:off x="6289707" y="1437625"/>
            <a:ext cx="211381" cy="408574"/>
          </a:xfrm>
          <a:prstGeom prst="rect">
            <a:avLst/>
          </a:prstGeom>
          <a:noFill/>
          <a:ln>
            <a:noFill/>
          </a:ln>
        </p:spPr>
      </p:pic>
      <p:pic>
        <p:nvPicPr>
          <p:cNvPr id="849" name="Google Shape;849;p103"/>
          <p:cNvPicPr preferRelativeResize="0"/>
          <p:nvPr/>
        </p:nvPicPr>
        <p:blipFill>
          <a:blip r:embed="rId3">
            <a:alphaModFix/>
          </a:blip>
          <a:stretch>
            <a:fillRect/>
          </a:stretch>
        </p:blipFill>
        <p:spPr>
          <a:xfrm>
            <a:off x="6567044" y="1437625"/>
            <a:ext cx="211381" cy="408574"/>
          </a:xfrm>
          <a:prstGeom prst="rect">
            <a:avLst/>
          </a:prstGeom>
          <a:noFill/>
          <a:ln>
            <a:noFill/>
          </a:ln>
        </p:spPr>
      </p:pic>
      <p:pic>
        <p:nvPicPr>
          <p:cNvPr id="850" name="Google Shape;850;p103"/>
          <p:cNvPicPr preferRelativeResize="0"/>
          <p:nvPr/>
        </p:nvPicPr>
        <p:blipFill>
          <a:blip r:embed="rId3">
            <a:alphaModFix/>
          </a:blip>
          <a:stretch>
            <a:fillRect/>
          </a:stretch>
        </p:blipFill>
        <p:spPr>
          <a:xfrm>
            <a:off x="6844380" y="1437625"/>
            <a:ext cx="211381" cy="408574"/>
          </a:xfrm>
          <a:prstGeom prst="rect">
            <a:avLst/>
          </a:prstGeom>
          <a:noFill/>
          <a:ln>
            <a:noFill/>
          </a:ln>
        </p:spPr>
      </p:pic>
      <p:pic>
        <p:nvPicPr>
          <p:cNvPr id="851" name="Google Shape;851;p103"/>
          <p:cNvPicPr preferRelativeResize="0"/>
          <p:nvPr/>
        </p:nvPicPr>
        <p:blipFill>
          <a:blip r:embed="rId3">
            <a:alphaModFix/>
          </a:blip>
          <a:stretch>
            <a:fillRect/>
          </a:stretch>
        </p:blipFill>
        <p:spPr>
          <a:xfrm>
            <a:off x="7121717" y="1437625"/>
            <a:ext cx="211381" cy="408574"/>
          </a:xfrm>
          <a:prstGeom prst="rect">
            <a:avLst/>
          </a:prstGeom>
          <a:noFill/>
          <a:ln>
            <a:noFill/>
          </a:ln>
        </p:spPr>
      </p:pic>
      <p:pic>
        <p:nvPicPr>
          <p:cNvPr id="852" name="Google Shape;852;p103"/>
          <p:cNvPicPr preferRelativeResize="0"/>
          <p:nvPr/>
        </p:nvPicPr>
        <p:blipFill>
          <a:blip r:embed="rId3">
            <a:alphaModFix/>
          </a:blip>
          <a:stretch>
            <a:fillRect/>
          </a:stretch>
        </p:blipFill>
        <p:spPr>
          <a:xfrm>
            <a:off x="4707744" y="1437625"/>
            <a:ext cx="211381" cy="408574"/>
          </a:xfrm>
          <a:prstGeom prst="rect">
            <a:avLst/>
          </a:prstGeom>
          <a:noFill/>
          <a:ln>
            <a:noFill/>
          </a:ln>
        </p:spPr>
      </p:pic>
      <p:pic>
        <p:nvPicPr>
          <p:cNvPr id="853" name="Google Shape;853;p103"/>
          <p:cNvPicPr preferRelativeResize="0"/>
          <p:nvPr/>
        </p:nvPicPr>
        <p:blipFill>
          <a:blip r:embed="rId3">
            <a:alphaModFix/>
          </a:blip>
          <a:stretch>
            <a:fillRect/>
          </a:stretch>
        </p:blipFill>
        <p:spPr>
          <a:xfrm>
            <a:off x="4985081" y="1437625"/>
            <a:ext cx="211381" cy="408574"/>
          </a:xfrm>
          <a:prstGeom prst="rect">
            <a:avLst/>
          </a:prstGeom>
          <a:noFill/>
          <a:ln>
            <a:noFill/>
          </a:ln>
        </p:spPr>
      </p:pic>
      <p:pic>
        <p:nvPicPr>
          <p:cNvPr id="854" name="Google Shape;854;p103"/>
          <p:cNvPicPr preferRelativeResize="0"/>
          <p:nvPr/>
        </p:nvPicPr>
        <p:blipFill>
          <a:blip r:embed="rId3">
            <a:alphaModFix/>
          </a:blip>
          <a:stretch>
            <a:fillRect/>
          </a:stretch>
        </p:blipFill>
        <p:spPr>
          <a:xfrm>
            <a:off x="4430419" y="1437625"/>
            <a:ext cx="211381" cy="408574"/>
          </a:xfrm>
          <a:prstGeom prst="rect">
            <a:avLst/>
          </a:prstGeom>
          <a:noFill/>
          <a:ln>
            <a:noFill/>
          </a:ln>
        </p:spPr>
      </p:pic>
      <p:sp>
        <p:nvSpPr>
          <p:cNvPr id="855" name="Google Shape;855;p103"/>
          <p:cNvSpPr txBox="1"/>
          <p:nvPr/>
        </p:nvSpPr>
        <p:spPr>
          <a:xfrm>
            <a:off x="1688700" y="1112125"/>
            <a:ext cx="14124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CC0000"/>
                </a:solidFill>
                <a:latin typeface="Calibri"/>
                <a:ea typeface="Calibri"/>
                <a:cs typeface="Calibri"/>
                <a:sym typeface="Calibri"/>
              </a:rPr>
              <a:t>Known Positives</a:t>
            </a:r>
            <a:endParaRPr sz="1200">
              <a:solidFill>
                <a:srgbClr val="CC0000"/>
              </a:solidFill>
              <a:latin typeface="Calibri"/>
              <a:ea typeface="Calibri"/>
              <a:cs typeface="Calibri"/>
              <a:sym typeface="Calibri"/>
            </a:endParaRPr>
          </a:p>
        </p:txBody>
      </p:sp>
      <p:sp>
        <p:nvSpPr>
          <p:cNvPr id="856" name="Google Shape;856;p103"/>
          <p:cNvSpPr txBox="1"/>
          <p:nvPr/>
        </p:nvSpPr>
        <p:spPr>
          <a:xfrm>
            <a:off x="5939206"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0B5394"/>
                </a:solidFill>
                <a:latin typeface="Calibri"/>
                <a:ea typeface="Calibri"/>
                <a:cs typeface="Calibri"/>
                <a:sym typeface="Calibri"/>
              </a:rPr>
              <a:t>Known Negatives</a:t>
            </a:r>
            <a:endParaRPr sz="1200">
              <a:solidFill>
                <a:srgbClr val="0B5394"/>
              </a:solidFill>
              <a:latin typeface="Calibri"/>
              <a:ea typeface="Calibri"/>
              <a:cs typeface="Calibri"/>
              <a:sym typeface="Calibri"/>
            </a:endParaRPr>
          </a:p>
        </p:txBody>
      </p:sp>
      <p:sp>
        <p:nvSpPr>
          <p:cNvPr id="857" name="Google Shape;857;p103"/>
          <p:cNvSpPr txBox="1"/>
          <p:nvPr/>
        </p:nvSpPr>
        <p:spPr>
          <a:xfrm>
            <a:off x="3923297"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B45F06"/>
                </a:solidFill>
                <a:latin typeface="Calibri"/>
                <a:ea typeface="Calibri"/>
                <a:cs typeface="Calibri"/>
                <a:sym typeface="Calibri"/>
              </a:rPr>
              <a:t>Unknown</a:t>
            </a:r>
            <a:endParaRPr sz="1200">
              <a:solidFill>
                <a:srgbClr val="B45F06"/>
              </a:solidFill>
              <a:latin typeface="Calibri"/>
              <a:ea typeface="Calibri"/>
              <a:cs typeface="Calibri"/>
              <a:sym typeface="Calibri"/>
            </a:endParaRPr>
          </a:p>
        </p:txBody>
      </p:sp>
      <p:pic>
        <p:nvPicPr>
          <p:cNvPr id="858" name="Google Shape;858;p103"/>
          <p:cNvPicPr preferRelativeResize="0"/>
          <p:nvPr/>
        </p:nvPicPr>
        <p:blipFill>
          <a:blip r:embed="rId3">
            <a:alphaModFix/>
          </a:blip>
          <a:stretch>
            <a:fillRect/>
          </a:stretch>
        </p:blipFill>
        <p:spPr>
          <a:xfrm>
            <a:off x="7766924" y="1437625"/>
            <a:ext cx="211381" cy="408574"/>
          </a:xfrm>
          <a:prstGeom prst="rect">
            <a:avLst/>
          </a:prstGeom>
          <a:noFill/>
          <a:ln>
            <a:noFill/>
          </a:ln>
        </p:spPr>
      </p:pic>
      <p:pic>
        <p:nvPicPr>
          <p:cNvPr id="859" name="Google Shape;859;p103"/>
          <p:cNvPicPr preferRelativeResize="0"/>
          <p:nvPr/>
        </p:nvPicPr>
        <p:blipFill>
          <a:blip r:embed="rId3">
            <a:alphaModFix/>
          </a:blip>
          <a:stretch>
            <a:fillRect/>
          </a:stretch>
        </p:blipFill>
        <p:spPr>
          <a:xfrm>
            <a:off x="8044260" y="1437625"/>
            <a:ext cx="211381" cy="408574"/>
          </a:xfrm>
          <a:prstGeom prst="rect">
            <a:avLst/>
          </a:prstGeom>
          <a:noFill/>
          <a:ln>
            <a:noFill/>
          </a:ln>
        </p:spPr>
      </p:pic>
      <p:sp>
        <p:nvSpPr>
          <p:cNvPr id="860" name="Google Shape;860;p103"/>
          <p:cNvSpPr txBox="1"/>
          <p:nvPr/>
        </p:nvSpPr>
        <p:spPr>
          <a:xfrm>
            <a:off x="7292050"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Water Controls</a:t>
            </a:r>
            <a:endParaRPr sz="1200">
              <a:latin typeface="Calibri"/>
              <a:ea typeface="Calibri"/>
              <a:cs typeface="Calibri"/>
              <a:sym typeface="Calibri"/>
            </a:endParaRPr>
          </a:p>
        </p:txBody>
      </p:sp>
      <p:sp>
        <p:nvSpPr>
          <p:cNvPr id="861" name="Google Shape;861;p103"/>
          <p:cNvSpPr txBox="1"/>
          <p:nvPr/>
        </p:nvSpPr>
        <p:spPr>
          <a:xfrm>
            <a:off x="1787974" y="1759300"/>
            <a:ext cx="1238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Microbial Culture, PCR, Serology</a:t>
            </a:r>
            <a:endParaRPr sz="1000">
              <a:solidFill>
                <a:srgbClr val="666666"/>
              </a:solidFill>
              <a:latin typeface="Calibri"/>
              <a:ea typeface="Calibri"/>
              <a:cs typeface="Calibri"/>
              <a:sym typeface="Calibri"/>
            </a:endParaRPr>
          </a:p>
        </p:txBody>
      </p:sp>
      <p:sp>
        <p:nvSpPr>
          <p:cNvPr id="862" name="Google Shape;862;p103"/>
          <p:cNvSpPr txBox="1"/>
          <p:nvPr/>
        </p:nvSpPr>
        <p:spPr>
          <a:xfrm>
            <a:off x="3997150" y="1764650"/>
            <a:ext cx="1412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by standard testing</a:t>
            </a:r>
            <a:endParaRPr sz="1000">
              <a:solidFill>
                <a:srgbClr val="666666"/>
              </a:solidFill>
              <a:latin typeface="Calibri"/>
              <a:ea typeface="Calibri"/>
              <a:cs typeface="Calibri"/>
              <a:sym typeface="Calibri"/>
            </a:endParaRPr>
          </a:p>
        </p:txBody>
      </p:sp>
      <p:sp>
        <p:nvSpPr>
          <p:cNvPr id="863" name="Google Shape;863;p103"/>
          <p:cNvSpPr txBox="1"/>
          <p:nvPr/>
        </p:nvSpPr>
        <p:spPr>
          <a:xfrm>
            <a:off x="5825075" y="1770000"/>
            <a:ext cx="17133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symptoms resolved quickly</a:t>
            </a:r>
            <a:endParaRPr sz="1000">
              <a:solidFill>
                <a:srgbClr val="666666"/>
              </a:solidFill>
              <a:latin typeface="Calibri"/>
              <a:ea typeface="Calibri"/>
              <a:cs typeface="Calibri"/>
              <a:sym typeface="Calibri"/>
            </a:endParaRPr>
          </a:p>
        </p:txBody>
      </p:sp>
      <p:pic>
        <p:nvPicPr>
          <p:cNvPr id="864" name="Google Shape;864;p103"/>
          <p:cNvPicPr preferRelativeResize="0"/>
          <p:nvPr/>
        </p:nvPicPr>
        <p:blipFill>
          <a:blip r:embed="rId4">
            <a:alphaModFix/>
          </a:blip>
          <a:stretch>
            <a:fillRect/>
          </a:stretch>
        </p:blipFill>
        <p:spPr>
          <a:xfrm>
            <a:off x="27375" y="2183100"/>
            <a:ext cx="8227753" cy="2850051"/>
          </a:xfrm>
          <a:prstGeom prst="rect">
            <a:avLst/>
          </a:prstGeom>
          <a:noFill/>
          <a:ln>
            <a:noFill/>
          </a:ln>
        </p:spPr>
      </p:pic>
      <p:sp>
        <p:nvSpPr>
          <p:cNvPr id="865" name="Google Shape;865;p103"/>
          <p:cNvSpPr txBox="1"/>
          <p:nvPr/>
        </p:nvSpPr>
        <p:spPr>
          <a:xfrm>
            <a:off x="59650" y="1344125"/>
            <a:ext cx="11952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Collect Patient CSF Samples</a:t>
            </a:r>
            <a:endParaRPr sz="1200">
              <a:latin typeface="Calibri"/>
              <a:ea typeface="Calibri"/>
              <a:cs typeface="Calibri"/>
              <a:sym typeface="Calibri"/>
            </a:endParaRPr>
          </a:p>
        </p:txBody>
      </p:sp>
      <p:sp>
        <p:nvSpPr>
          <p:cNvPr id="866" name="Google Shape;866;p103"/>
          <p:cNvSpPr txBox="1">
            <a:spLocks noGrp="1"/>
          </p:cNvSpPr>
          <p:nvPr>
            <p:ph type="subTitle" idx="1"/>
          </p:nvPr>
        </p:nvSpPr>
        <p:spPr>
          <a:xfrm>
            <a:off x="412275" y="648875"/>
            <a:ext cx="8340600" cy="489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1800" i="0">
                <a:latin typeface="Roboto"/>
                <a:ea typeface="Roboto"/>
                <a:cs typeface="Roboto"/>
                <a:sym typeface="Roboto"/>
              </a:rPr>
              <a:t>mNGS to identify etiologies of pediatric meningitis in Bangladesh</a:t>
            </a:r>
            <a:endParaRPr sz="1800" i="0">
              <a:latin typeface="Roboto"/>
              <a:ea typeface="Roboto"/>
              <a:cs typeface="Roboto"/>
              <a:sym typeface="Roboto"/>
            </a:endParaRPr>
          </a:p>
        </p:txBody>
      </p:sp>
      <p:sp>
        <p:nvSpPr>
          <p:cNvPr id="867" name="Google Shape;867;p103"/>
          <p:cNvSpPr txBox="1">
            <a:spLocks noGrp="1"/>
          </p:cNvSpPr>
          <p:nvPr>
            <p:ph type="ctrTitle"/>
          </p:nvPr>
        </p:nvSpPr>
        <p:spPr>
          <a:xfrm>
            <a:off x="126850" y="115475"/>
            <a:ext cx="8744400" cy="715200"/>
          </a:xfrm>
          <a:prstGeom prst="rect">
            <a:avLst/>
          </a:prstGeom>
        </p:spPr>
        <p:txBody>
          <a:bodyPr spcFirstLastPara="1" wrap="square" lIns="91425" tIns="91425" rIns="91425" bIns="91425" anchor="b" anchorCtr="0">
            <a:normAutofit/>
          </a:bodyPr>
          <a:lstStyle/>
          <a:p>
            <a:pPr marL="0" lvl="0" indent="0" algn="l" rtl="0">
              <a:lnSpc>
                <a:spcPct val="115000"/>
              </a:lnSpc>
              <a:spcBef>
                <a:spcPts val="0"/>
              </a:spcBef>
              <a:spcAft>
                <a:spcPts val="0"/>
              </a:spcAft>
              <a:buSzPts val="990"/>
              <a:buNone/>
            </a:pPr>
            <a:r>
              <a:rPr lang="en" sz="2650">
                <a:solidFill>
                  <a:srgbClr val="000000"/>
                </a:solidFill>
                <a:latin typeface="Roboto"/>
                <a:ea typeface="Roboto"/>
                <a:cs typeface="Roboto"/>
                <a:sym typeface="Roboto"/>
              </a:rPr>
              <a:t>Use case: Saha et al., mBio, 2019</a:t>
            </a:r>
            <a:endParaRPr sz="2650">
              <a:solidFill>
                <a:srgbClr val="000000"/>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104"/>
          <p:cNvSpPr txBox="1">
            <a:spLocks noGrp="1"/>
          </p:cNvSpPr>
          <p:nvPr>
            <p:ph type="ctrTitle"/>
          </p:nvPr>
        </p:nvSpPr>
        <p:spPr>
          <a:xfrm>
            <a:off x="126850" y="115475"/>
            <a:ext cx="8744400" cy="715200"/>
          </a:xfrm>
          <a:prstGeom prst="rect">
            <a:avLst/>
          </a:prstGeom>
        </p:spPr>
        <p:txBody>
          <a:bodyPr spcFirstLastPara="1" wrap="square" lIns="91425" tIns="91425" rIns="91425" bIns="91425" anchor="b" anchorCtr="0">
            <a:normAutofit/>
          </a:bodyPr>
          <a:lstStyle/>
          <a:p>
            <a:pPr marL="0" lvl="0" indent="0" algn="l" rtl="0">
              <a:lnSpc>
                <a:spcPct val="115000"/>
              </a:lnSpc>
              <a:spcBef>
                <a:spcPts val="0"/>
              </a:spcBef>
              <a:spcAft>
                <a:spcPts val="0"/>
              </a:spcAft>
              <a:buSzPts val="990"/>
              <a:buNone/>
            </a:pPr>
            <a:r>
              <a:rPr lang="en" sz="2650">
                <a:solidFill>
                  <a:srgbClr val="000000"/>
                </a:solidFill>
                <a:latin typeface="Roboto"/>
                <a:ea typeface="Roboto"/>
                <a:cs typeface="Roboto"/>
                <a:sym typeface="Roboto"/>
              </a:rPr>
              <a:t>Use case: Batson </a:t>
            </a:r>
            <a:r>
              <a:rPr lang="en" sz="2650" i="1">
                <a:solidFill>
                  <a:srgbClr val="000000"/>
                </a:solidFill>
                <a:latin typeface="Roboto"/>
                <a:ea typeface="Roboto"/>
                <a:cs typeface="Roboto"/>
                <a:sym typeface="Roboto"/>
              </a:rPr>
              <a:t>et al., </a:t>
            </a:r>
            <a:r>
              <a:rPr lang="en" sz="2650">
                <a:solidFill>
                  <a:srgbClr val="000000"/>
                </a:solidFill>
                <a:latin typeface="Roboto"/>
                <a:ea typeface="Roboto"/>
                <a:cs typeface="Roboto"/>
                <a:sym typeface="Roboto"/>
              </a:rPr>
              <a:t>eLife 2021</a:t>
            </a:r>
            <a:endParaRPr sz="2650">
              <a:solidFill>
                <a:srgbClr val="000000"/>
              </a:solidFill>
              <a:latin typeface="Roboto"/>
              <a:ea typeface="Roboto"/>
              <a:cs typeface="Roboto"/>
              <a:sym typeface="Roboto"/>
            </a:endParaRPr>
          </a:p>
        </p:txBody>
      </p:sp>
      <p:sp>
        <p:nvSpPr>
          <p:cNvPr id="873" name="Google Shape;873;p104"/>
          <p:cNvSpPr txBox="1"/>
          <p:nvPr/>
        </p:nvSpPr>
        <p:spPr>
          <a:xfrm>
            <a:off x="-29750" y="634600"/>
            <a:ext cx="90576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2"/>
                </a:solidFill>
                <a:latin typeface="Roboto"/>
                <a:ea typeface="Roboto"/>
                <a:cs typeface="Roboto"/>
                <a:sym typeface="Roboto"/>
              </a:rPr>
              <a:t>mNGS to identify vectors, emerging pathogens, and reservoirs</a:t>
            </a:r>
            <a:endParaRPr sz="1800">
              <a:solidFill>
                <a:schemeClr val="dk2"/>
              </a:solidFill>
              <a:latin typeface="Roboto"/>
              <a:ea typeface="Roboto"/>
              <a:cs typeface="Roboto"/>
              <a:sym typeface="Roboto"/>
            </a:endParaRPr>
          </a:p>
        </p:txBody>
      </p:sp>
      <p:pic>
        <p:nvPicPr>
          <p:cNvPr id="874" name="Google Shape;874;p104"/>
          <p:cNvPicPr preferRelativeResize="0"/>
          <p:nvPr/>
        </p:nvPicPr>
        <p:blipFill>
          <a:blip r:embed="rId3">
            <a:alphaModFix/>
          </a:blip>
          <a:stretch>
            <a:fillRect/>
          </a:stretch>
        </p:blipFill>
        <p:spPr>
          <a:xfrm>
            <a:off x="147875" y="3711900"/>
            <a:ext cx="5504025" cy="1331975"/>
          </a:xfrm>
          <a:prstGeom prst="rect">
            <a:avLst/>
          </a:prstGeom>
          <a:noFill/>
          <a:ln>
            <a:noFill/>
          </a:ln>
        </p:spPr>
      </p:pic>
      <p:pic>
        <p:nvPicPr>
          <p:cNvPr id="875" name="Google Shape;875;p104"/>
          <p:cNvPicPr preferRelativeResize="0"/>
          <p:nvPr/>
        </p:nvPicPr>
        <p:blipFill>
          <a:blip r:embed="rId4">
            <a:alphaModFix/>
          </a:blip>
          <a:stretch>
            <a:fillRect/>
          </a:stretch>
        </p:blipFill>
        <p:spPr>
          <a:xfrm>
            <a:off x="6029550" y="2343150"/>
            <a:ext cx="2765500" cy="2330719"/>
          </a:xfrm>
          <a:prstGeom prst="rect">
            <a:avLst/>
          </a:prstGeom>
          <a:noFill/>
          <a:ln>
            <a:noFill/>
          </a:ln>
        </p:spPr>
      </p:pic>
      <p:pic>
        <p:nvPicPr>
          <p:cNvPr id="876" name="Google Shape;876;p104"/>
          <p:cNvPicPr preferRelativeResize="0"/>
          <p:nvPr/>
        </p:nvPicPr>
        <p:blipFill>
          <a:blip r:embed="rId5">
            <a:alphaModFix/>
          </a:blip>
          <a:stretch>
            <a:fillRect/>
          </a:stretch>
        </p:blipFill>
        <p:spPr>
          <a:xfrm>
            <a:off x="292998" y="2239998"/>
            <a:ext cx="4722749" cy="1094600"/>
          </a:xfrm>
          <a:prstGeom prst="rect">
            <a:avLst/>
          </a:prstGeom>
          <a:noFill/>
          <a:ln>
            <a:noFill/>
          </a:ln>
        </p:spPr>
      </p:pic>
      <p:sp>
        <p:nvSpPr>
          <p:cNvPr id="877" name="Google Shape;877;p104"/>
          <p:cNvSpPr txBox="1"/>
          <p:nvPr/>
        </p:nvSpPr>
        <p:spPr>
          <a:xfrm>
            <a:off x="126850" y="1237200"/>
            <a:ext cx="9057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2"/>
                </a:solidFill>
                <a:latin typeface="Roboto"/>
                <a:ea typeface="Roboto"/>
                <a:cs typeface="Roboto"/>
                <a:sym typeface="Roboto"/>
              </a:rPr>
              <a:t>mNGS on 148 wild mosquitoes reveals:</a:t>
            </a:r>
            <a:endParaRPr sz="1800" b="1">
              <a:solidFill>
                <a:schemeClr val="dk2"/>
              </a:solidFill>
              <a:latin typeface="Roboto"/>
              <a:ea typeface="Roboto"/>
              <a:cs typeface="Roboto"/>
              <a:sym typeface="Roboto"/>
            </a:endParaRPr>
          </a:p>
        </p:txBody>
      </p:sp>
      <p:sp>
        <p:nvSpPr>
          <p:cNvPr id="878" name="Google Shape;878;p104"/>
          <p:cNvSpPr txBox="1"/>
          <p:nvPr/>
        </p:nvSpPr>
        <p:spPr>
          <a:xfrm>
            <a:off x="1161300" y="1808900"/>
            <a:ext cx="39753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i="1">
                <a:solidFill>
                  <a:schemeClr val="dk2"/>
                </a:solidFill>
                <a:latin typeface="Calibri"/>
                <a:ea typeface="Calibri"/>
                <a:cs typeface="Calibri"/>
                <a:sym typeface="Calibri"/>
              </a:rPr>
              <a:t>Mosquito speciation by geography</a:t>
            </a:r>
            <a:endParaRPr sz="1600" b="1" i="1">
              <a:solidFill>
                <a:schemeClr val="dk2"/>
              </a:solidFill>
              <a:latin typeface="Calibri"/>
              <a:ea typeface="Calibri"/>
              <a:cs typeface="Calibri"/>
              <a:sym typeface="Calibri"/>
            </a:endParaRPr>
          </a:p>
        </p:txBody>
      </p:sp>
      <p:sp>
        <p:nvSpPr>
          <p:cNvPr id="879" name="Google Shape;879;p104"/>
          <p:cNvSpPr txBox="1"/>
          <p:nvPr/>
        </p:nvSpPr>
        <p:spPr>
          <a:xfrm>
            <a:off x="5653750" y="1912050"/>
            <a:ext cx="329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i="1">
                <a:solidFill>
                  <a:schemeClr val="dk2"/>
                </a:solidFill>
                <a:latin typeface="Calibri"/>
                <a:ea typeface="Calibri"/>
                <a:cs typeface="Calibri"/>
                <a:sym typeface="Calibri"/>
              </a:rPr>
              <a:t>Microbial composition of mosquitoes</a:t>
            </a:r>
            <a:endParaRPr sz="1600" b="1" i="1">
              <a:solidFill>
                <a:schemeClr val="dk2"/>
              </a:solidFill>
              <a:latin typeface="Calibri"/>
              <a:ea typeface="Calibri"/>
              <a:cs typeface="Calibri"/>
              <a:sym typeface="Calibri"/>
            </a:endParaRPr>
          </a:p>
        </p:txBody>
      </p:sp>
      <p:sp>
        <p:nvSpPr>
          <p:cNvPr id="880" name="Google Shape;880;p104"/>
          <p:cNvSpPr txBox="1"/>
          <p:nvPr/>
        </p:nvSpPr>
        <p:spPr>
          <a:xfrm>
            <a:off x="608950" y="3470323"/>
            <a:ext cx="4364100" cy="4311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i="1">
                <a:solidFill>
                  <a:schemeClr val="dk2"/>
                </a:solidFill>
                <a:latin typeface="Calibri"/>
                <a:ea typeface="Calibri"/>
                <a:cs typeface="Calibri"/>
                <a:sym typeface="Calibri"/>
              </a:rPr>
              <a:t>Sources of blood meals in individual mosquitoes</a:t>
            </a:r>
            <a:endParaRPr sz="1600" b="1" i="1">
              <a:solidFill>
                <a:schemeClr val="dk2"/>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105"/>
          <p:cNvSpPr txBox="1">
            <a:spLocks noGrp="1"/>
          </p:cNvSpPr>
          <p:nvPr>
            <p:ph type="ctrTitle"/>
          </p:nvPr>
        </p:nvSpPr>
        <p:spPr>
          <a:xfrm>
            <a:off x="126850" y="115475"/>
            <a:ext cx="8744400" cy="715200"/>
          </a:xfrm>
          <a:prstGeom prst="rect">
            <a:avLst/>
          </a:prstGeom>
        </p:spPr>
        <p:txBody>
          <a:bodyPr spcFirstLastPara="1" wrap="square" lIns="91425" tIns="91425" rIns="91425" bIns="91425" anchor="b" anchorCtr="0">
            <a:normAutofit/>
          </a:bodyPr>
          <a:lstStyle/>
          <a:p>
            <a:pPr marL="0" lvl="0" indent="0" algn="l" rtl="0">
              <a:lnSpc>
                <a:spcPct val="115000"/>
              </a:lnSpc>
              <a:spcBef>
                <a:spcPts val="0"/>
              </a:spcBef>
              <a:spcAft>
                <a:spcPts val="0"/>
              </a:spcAft>
              <a:buSzPts val="990"/>
              <a:buNone/>
            </a:pPr>
            <a:r>
              <a:rPr lang="en" sz="2650">
                <a:solidFill>
                  <a:srgbClr val="000000"/>
                </a:solidFill>
                <a:latin typeface="Roboto"/>
                <a:ea typeface="Roboto"/>
                <a:cs typeface="Roboto"/>
                <a:sym typeface="Roboto"/>
              </a:rPr>
              <a:t>Use case: Batson </a:t>
            </a:r>
            <a:r>
              <a:rPr lang="en" sz="2650" i="1">
                <a:solidFill>
                  <a:srgbClr val="000000"/>
                </a:solidFill>
                <a:latin typeface="Roboto"/>
                <a:ea typeface="Roboto"/>
                <a:cs typeface="Roboto"/>
                <a:sym typeface="Roboto"/>
              </a:rPr>
              <a:t>et al., </a:t>
            </a:r>
            <a:r>
              <a:rPr lang="en" sz="2650">
                <a:solidFill>
                  <a:srgbClr val="000000"/>
                </a:solidFill>
                <a:latin typeface="Roboto"/>
                <a:ea typeface="Roboto"/>
                <a:cs typeface="Roboto"/>
                <a:sym typeface="Roboto"/>
              </a:rPr>
              <a:t>eLife 2021</a:t>
            </a:r>
            <a:endParaRPr sz="2650">
              <a:solidFill>
                <a:srgbClr val="000000"/>
              </a:solidFill>
              <a:latin typeface="Roboto"/>
              <a:ea typeface="Roboto"/>
              <a:cs typeface="Roboto"/>
              <a:sym typeface="Roboto"/>
            </a:endParaRPr>
          </a:p>
        </p:txBody>
      </p:sp>
      <p:sp>
        <p:nvSpPr>
          <p:cNvPr id="886" name="Google Shape;886;p105"/>
          <p:cNvSpPr txBox="1"/>
          <p:nvPr/>
        </p:nvSpPr>
        <p:spPr>
          <a:xfrm>
            <a:off x="-29750" y="634600"/>
            <a:ext cx="90576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2"/>
                </a:solidFill>
                <a:latin typeface="Roboto"/>
                <a:ea typeface="Roboto"/>
                <a:cs typeface="Roboto"/>
                <a:sym typeface="Roboto"/>
              </a:rPr>
              <a:t>mNGS to identify vectors, emerging pathogens, and reservoirs</a:t>
            </a:r>
            <a:endParaRPr sz="1800">
              <a:solidFill>
                <a:schemeClr val="dk2"/>
              </a:solidFill>
              <a:latin typeface="Roboto"/>
              <a:ea typeface="Roboto"/>
              <a:cs typeface="Roboto"/>
              <a:sym typeface="Roboto"/>
            </a:endParaRPr>
          </a:p>
        </p:txBody>
      </p:sp>
      <p:pic>
        <p:nvPicPr>
          <p:cNvPr id="887" name="Google Shape;887;p105"/>
          <p:cNvPicPr preferRelativeResize="0"/>
          <p:nvPr/>
        </p:nvPicPr>
        <p:blipFill>
          <a:blip r:embed="rId3">
            <a:alphaModFix/>
          </a:blip>
          <a:stretch>
            <a:fillRect/>
          </a:stretch>
        </p:blipFill>
        <p:spPr>
          <a:xfrm>
            <a:off x="147875" y="3711900"/>
            <a:ext cx="5504025" cy="1331975"/>
          </a:xfrm>
          <a:prstGeom prst="rect">
            <a:avLst/>
          </a:prstGeom>
          <a:noFill/>
          <a:ln>
            <a:noFill/>
          </a:ln>
        </p:spPr>
      </p:pic>
      <p:pic>
        <p:nvPicPr>
          <p:cNvPr id="888" name="Google Shape;888;p105"/>
          <p:cNvPicPr preferRelativeResize="0"/>
          <p:nvPr/>
        </p:nvPicPr>
        <p:blipFill>
          <a:blip r:embed="rId4">
            <a:alphaModFix/>
          </a:blip>
          <a:stretch>
            <a:fillRect/>
          </a:stretch>
        </p:blipFill>
        <p:spPr>
          <a:xfrm>
            <a:off x="6029550" y="2343150"/>
            <a:ext cx="2765500" cy="2330719"/>
          </a:xfrm>
          <a:prstGeom prst="rect">
            <a:avLst/>
          </a:prstGeom>
          <a:noFill/>
          <a:ln>
            <a:noFill/>
          </a:ln>
        </p:spPr>
      </p:pic>
      <p:pic>
        <p:nvPicPr>
          <p:cNvPr id="889" name="Google Shape;889;p105"/>
          <p:cNvPicPr preferRelativeResize="0"/>
          <p:nvPr/>
        </p:nvPicPr>
        <p:blipFill>
          <a:blip r:embed="rId5">
            <a:alphaModFix/>
          </a:blip>
          <a:stretch>
            <a:fillRect/>
          </a:stretch>
        </p:blipFill>
        <p:spPr>
          <a:xfrm>
            <a:off x="292998" y="2239998"/>
            <a:ext cx="4722749" cy="1094600"/>
          </a:xfrm>
          <a:prstGeom prst="rect">
            <a:avLst/>
          </a:prstGeom>
          <a:noFill/>
          <a:ln>
            <a:noFill/>
          </a:ln>
        </p:spPr>
      </p:pic>
      <p:sp>
        <p:nvSpPr>
          <p:cNvPr id="890" name="Google Shape;890;p105"/>
          <p:cNvSpPr txBox="1"/>
          <p:nvPr/>
        </p:nvSpPr>
        <p:spPr>
          <a:xfrm>
            <a:off x="1161300" y="1808900"/>
            <a:ext cx="39753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i="1">
                <a:solidFill>
                  <a:schemeClr val="dk2"/>
                </a:solidFill>
                <a:latin typeface="Calibri"/>
                <a:ea typeface="Calibri"/>
                <a:cs typeface="Calibri"/>
                <a:sym typeface="Calibri"/>
              </a:rPr>
              <a:t>Mosquito speciation by geography</a:t>
            </a:r>
            <a:endParaRPr sz="1600" b="1" i="1">
              <a:solidFill>
                <a:schemeClr val="dk2"/>
              </a:solidFill>
              <a:latin typeface="Calibri"/>
              <a:ea typeface="Calibri"/>
              <a:cs typeface="Calibri"/>
              <a:sym typeface="Calibri"/>
            </a:endParaRPr>
          </a:p>
        </p:txBody>
      </p:sp>
      <p:sp>
        <p:nvSpPr>
          <p:cNvPr id="891" name="Google Shape;891;p105"/>
          <p:cNvSpPr txBox="1"/>
          <p:nvPr/>
        </p:nvSpPr>
        <p:spPr>
          <a:xfrm>
            <a:off x="5653750" y="1912050"/>
            <a:ext cx="329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i="1">
                <a:solidFill>
                  <a:schemeClr val="dk2"/>
                </a:solidFill>
                <a:latin typeface="Calibri"/>
                <a:ea typeface="Calibri"/>
                <a:cs typeface="Calibri"/>
                <a:sym typeface="Calibri"/>
              </a:rPr>
              <a:t>Microbial composition of mosquitoes</a:t>
            </a:r>
            <a:endParaRPr sz="1600" b="1" i="1">
              <a:solidFill>
                <a:schemeClr val="dk2"/>
              </a:solidFill>
              <a:latin typeface="Calibri"/>
              <a:ea typeface="Calibri"/>
              <a:cs typeface="Calibri"/>
              <a:sym typeface="Calibri"/>
            </a:endParaRPr>
          </a:p>
        </p:txBody>
      </p:sp>
      <p:sp>
        <p:nvSpPr>
          <p:cNvPr id="892" name="Google Shape;892;p105"/>
          <p:cNvSpPr txBox="1"/>
          <p:nvPr/>
        </p:nvSpPr>
        <p:spPr>
          <a:xfrm>
            <a:off x="608950" y="3470323"/>
            <a:ext cx="4364100" cy="4311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i="1">
                <a:solidFill>
                  <a:schemeClr val="dk2"/>
                </a:solidFill>
                <a:latin typeface="Calibri"/>
                <a:ea typeface="Calibri"/>
                <a:cs typeface="Calibri"/>
                <a:sym typeface="Calibri"/>
              </a:rPr>
              <a:t>Sources of blood meals in individual mosquitoes</a:t>
            </a:r>
            <a:endParaRPr sz="1600" b="1" i="1">
              <a:solidFill>
                <a:schemeClr val="dk2"/>
              </a:solidFill>
              <a:latin typeface="Calibri"/>
              <a:ea typeface="Calibri"/>
              <a:cs typeface="Calibri"/>
              <a:sym typeface="Calibri"/>
            </a:endParaRPr>
          </a:p>
        </p:txBody>
      </p:sp>
      <p:sp>
        <p:nvSpPr>
          <p:cNvPr id="893" name="Google Shape;893;p105"/>
          <p:cNvSpPr/>
          <p:nvPr/>
        </p:nvSpPr>
        <p:spPr>
          <a:xfrm>
            <a:off x="126850" y="1808900"/>
            <a:ext cx="8901000" cy="3286800"/>
          </a:xfrm>
          <a:prstGeom prst="rect">
            <a:avLst/>
          </a:prstGeom>
          <a:solidFill>
            <a:srgbClr val="FFFFFF">
              <a:alpha val="8274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05"/>
          <p:cNvSpPr txBox="1"/>
          <p:nvPr/>
        </p:nvSpPr>
        <p:spPr>
          <a:xfrm>
            <a:off x="283350" y="1237200"/>
            <a:ext cx="89010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i="1">
                <a:solidFill>
                  <a:schemeClr val="dk2"/>
                </a:solidFill>
                <a:latin typeface="Roboto"/>
                <a:ea typeface="Roboto"/>
                <a:cs typeface="Roboto"/>
                <a:sym typeface="Roboto"/>
              </a:rPr>
              <a:t>mNGS on a single sample type gives such rich biological information!</a:t>
            </a:r>
            <a:endParaRPr sz="1800" b="1" i="1">
              <a:solidFill>
                <a:schemeClr val="dk2"/>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106"/>
          <p:cNvSpPr txBox="1">
            <a:spLocks noGrp="1"/>
          </p:cNvSpPr>
          <p:nvPr>
            <p:ph type="ctrTitle"/>
          </p:nvPr>
        </p:nvSpPr>
        <p:spPr>
          <a:xfrm>
            <a:off x="126850" y="115475"/>
            <a:ext cx="8744400" cy="715200"/>
          </a:xfrm>
          <a:prstGeom prst="rect">
            <a:avLst/>
          </a:prstGeom>
        </p:spPr>
        <p:txBody>
          <a:bodyPr spcFirstLastPara="1" wrap="square" lIns="91425" tIns="91425" rIns="91425" bIns="91425" anchor="b" anchorCtr="0">
            <a:normAutofit/>
          </a:bodyPr>
          <a:lstStyle/>
          <a:p>
            <a:pPr marL="0" lvl="0" indent="0" algn="l" rtl="0">
              <a:lnSpc>
                <a:spcPct val="115000"/>
              </a:lnSpc>
              <a:spcBef>
                <a:spcPts val="0"/>
              </a:spcBef>
              <a:spcAft>
                <a:spcPts val="0"/>
              </a:spcAft>
              <a:buSzPts val="990"/>
              <a:buNone/>
            </a:pPr>
            <a:r>
              <a:rPr lang="en" sz="2650">
                <a:solidFill>
                  <a:srgbClr val="000000"/>
                </a:solidFill>
                <a:latin typeface="Roboto"/>
                <a:ea typeface="Roboto"/>
                <a:cs typeface="Roboto"/>
                <a:sym typeface="Roboto"/>
              </a:rPr>
              <a:t>Use case: Ramesh </a:t>
            </a:r>
            <a:r>
              <a:rPr lang="en" sz="2650" i="1">
                <a:solidFill>
                  <a:srgbClr val="000000"/>
                </a:solidFill>
                <a:latin typeface="Roboto"/>
                <a:ea typeface="Roboto"/>
                <a:cs typeface="Roboto"/>
                <a:sym typeface="Roboto"/>
              </a:rPr>
              <a:t>et al., </a:t>
            </a:r>
            <a:r>
              <a:rPr lang="en" sz="2650">
                <a:solidFill>
                  <a:srgbClr val="000000"/>
                </a:solidFill>
                <a:latin typeface="Roboto"/>
                <a:ea typeface="Roboto"/>
                <a:cs typeface="Roboto"/>
                <a:sym typeface="Roboto"/>
              </a:rPr>
              <a:t>Scientific Reports 2021</a:t>
            </a:r>
            <a:endParaRPr sz="2650">
              <a:solidFill>
                <a:srgbClr val="000000"/>
              </a:solidFill>
              <a:latin typeface="Roboto"/>
              <a:ea typeface="Roboto"/>
              <a:cs typeface="Roboto"/>
              <a:sym typeface="Roboto"/>
            </a:endParaRPr>
          </a:p>
        </p:txBody>
      </p:sp>
      <p:sp>
        <p:nvSpPr>
          <p:cNvPr id="900" name="Google Shape;900;p106"/>
          <p:cNvSpPr txBox="1"/>
          <p:nvPr/>
        </p:nvSpPr>
        <p:spPr>
          <a:xfrm>
            <a:off x="335450" y="705750"/>
            <a:ext cx="86925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latin typeface="Roboto"/>
                <a:ea typeface="Roboto"/>
                <a:cs typeface="Roboto"/>
                <a:sym typeface="Roboto"/>
              </a:rPr>
              <a:t>Metagenomic characterization of swine slurry in a </a:t>
            </a: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North American swine farm operation</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p:txBody>
      </p:sp>
      <p:sp>
        <p:nvSpPr>
          <p:cNvPr id="901" name="Google Shape;901;p106"/>
          <p:cNvSpPr txBox="1"/>
          <p:nvPr/>
        </p:nvSpPr>
        <p:spPr>
          <a:xfrm>
            <a:off x="193150" y="4121425"/>
            <a:ext cx="7146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1792 viral genomes, of which 554 were novel or divergent!!!</a:t>
            </a:r>
            <a:endParaRPr/>
          </a:p>
        </p:txBody>
      </p:sp>
      <p:pic>
        <p:nvPicPr>
          <p:cNvPr id="902" name="Google Shape;902;p106"/>
          <p:cNvPicPr preferRelativeResize="0"/>
          <p:nvPr/>
        </p:nvPicPr>
        <p:blipFill rotWithShape="1">
          <a:blip r:embed="rId3">
            <a:alphaModFix/>
          </a:blip>
          <a:srcRect b="64732"/>
          <a:stretch/>
        </p:blipFill>
        <p:spPr>
          <a:xfrm>
            <a:off x="973346" y="1610650"/>
            <a:ext cx="3968075" cy="2510776"/>
          </a:xfrm>
          <a:prstGeom prst="rect">
            <a:avLst/>
          </a:prstGeom>
          <a:noFill/>
          <a:ln>
            <a:noFill/>
          </a:ln>
        </p:spPr>
      </p:pic>
      <p:pic>
        <p:nvPicPr>
          <p:cNvPr id="903" name="Google Shape;903;p106"/>
          <p:cNvPicPr preferRelativeResize="0"/>
          <p:nvPr/>
        </p:nvPicPr>
        <p:blipFill>
          <a:blip r:embed="rId4">
            <a:alphaModFix/>
          </a:blip>
          <a:stretch>
            <a:fillRect/>
          </a:stretch>
        </p:blipFill>
        <p:spPr>
          <a:xfrm>
            <a:off x="5806350" y="1156850"/>
            <a:ext cx="2912800" cy="38653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pic>
        <p:nvPicPr>
          <p:cNvPr id="350" name="Google Shape;350;p43"/>
          <p:cNvPicPr preferRelativeResize="0"/>
          <p:nvPr/>
        </p:nvPicPr>
        <p:blipFill>
          <a:blip r:embed="rId3">
            <a:alphaModFix/>
          </a:blip>
          <a:stretch>
            <a:fillRect/>
          </a:stretch>
        </p:blipFill>
        <p:spPr>
          <a:xfrm rot="1149694">
            <a:off x="3773999" y="2192784"/>
            <a:ext cx="1596001" cy="1912307"/>
          </a:xfrm>
          <a:prstGeom prst="rect">
            <a:avLst/>
          </a:prstGeom>
          <a:noFill/>
          <a:ln>
            <a:noFill/>
          </a:ln>
        </p:spPr>
      </p:pic>
      <p:sp>
        <p:nvSpPr>
          <p:cNvPr id="351" name="Google Shape;351;p43"/>
          <p:cNvSpPr txBox="1"/>
          <p:nvPr/>
        </p:nvSpPr>
        <p:spPr>
          <a:xfrm>
            <a:off x="948900" y="661200"/>
            <a:ext cx="7246200" cy="36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6100" b="1">
                <a:solidFill>
                  <a:srgbClr val="D9D9D9"/>
                </a:solidFill>
              </a:rPr>
              <a:t>xNA extraction</a:t>
            </a:r>
            <a:endParaRPr sz="6100" b="1">
              <a:solidFill>
                <a:srgbClr val="D9D9D9"/>
              </a:solidFill>
            </a:endParaRPr>
          </a:p>
          <a:p>
            <a:pPr marL="0" lvl="0" indent="0" algn="ctr" rtl="0">
              <a:spcBef>
                <a:spcPts val="0"/>
              </a:spcBef>
              <a:spcAft>
                <a:spcPts val="0"/>
              </a:spcAft>
              <a:buNone/>
            </a:pPr>
            <a:endParaRPr sz="25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4"/>
          <p:cNvSpPr txBox="1">
            <a:spLocks noGrp="1"/>
          </p:cNvSpPr>
          <p:nvPr>
            <p:ph type="body" idx="1"/>
          </p:nvPr>
        </p:nvSpPr>
        <p:spPr>
          <a:xfrm>
            <a:off x="83100" y="1000075"/>
            <a:ext cx="8520600" cy="3416400"/>
          </a:xfrm>
          <a:prstGeom prst="rect">
            <a:avLst/>
          </a:prstGeom>
        </p:spPr>
        <p:txBody>
          <a:bodyPr spcFirstLastPara="1" wrap="square" lIns="91425" tIns="91425" rIns="91425" bIns="91425" anchor="t" anchorCtr="0">
            <a:noAutofit/>
          </a:bodyPr>
          <a:lstStyle/>
          <a:p>
            <a:pPr marL="457200" lvl="0" indent="-336550" algn="l" rtl="0">
              <a:spcBef>
                <a:spcPts val="0"/>
              </a:spcBef>
              <a:spcAft>
                <a:spcPts val="0"/>
              </a:spcAft>
              <a:buClr>
                <a:srgbClr val="000000"/>
              </a:buClr>
              <a:buSzPts val="1700"/>
              <a:buChar char="●"/>
            </a:pPr>
            <a:r>
              <a:rPr lang="en" sz="1700">
                <a:solidFill>
                  <a:srgbClr val="000000"/>
                </a:solidFill>
              </a:rPr>
              <a:t>Before extraction: </a:t>
            </a:r>
            <a:endParaRPr sz="1700">
              <a:solidFill>
                <a:srgbClr val="000000"/>
              </a:solidFill>
            </a:endParaRPr>
          </a:p>
          <a:p>
            <a:pPr marL="914400" lvl="1" indent="-311150" algn="l" rtl="0">
              <a:lnSpc>
                <a:spcPct val="200000"/>
              </a:lnSpc>
              <a:spcBef>
                <a:spcPts val="0"/>
              </a:spcBef>
              <a:spcAft>
                <a:spcPts val="0"/>
              </a:spcAft>
              <a:buClr>
                <a:srgbClr val="000000"/>
              </a:buClr>
              <a:buSzPts val="1300"/>
              <a:buChar char="○"/>
            </a:pPr>
            <a:r>
              <a:rPr lang="en" sz="1300">
                <a:solidFill>
                  <a:srgbClr val="000000"/>
                </a:solidFill>
              </a:rPr>
              <a:t>Spin down to remove host cells (extract supernatant)</a:t>
            </a:r>
            <a:endParaRPr sz="1300">
              <a:solidFill>
                <a:srgbClr val="000000"/>
              </a:solidFill>
            </a:endParaRPr>
          </a:p>
          <a:p>
            <a:pPr marL="457200" lvl="0" indent="-336550" algn="l" rtl="0">
              <a:spcBef>
                <a:spcPts val="0"/>
              </a:spcBef>
              <a:spcAft>
                <a:spcPts val="0"/>
              </a:spcAft>
              <a:buClr>
                <a:srgbClr val="000000"/>
              </a:buClr>
              <a:buSzPts val="1700"/>
              <a:buChar char="●"/>
            </a:pPr>
            <a:r>
              <a:rPr lang="en" sz="1700">
                <a:solidFill>
                  <a:srgbClr val="000000"/>
                </a:solidFill>
              </a:rPr>
              <a:t>Choose type:</a:t>
            </a:r>
            <a:endParaRPr sz="1700">
              <a:solidFill>
                <a:srgbClr val="000000"/>
              </a:solidFill>
            </a:endParaRPr>
          </a:p>
          <a:p>
            <a:pPr marL="914400" lvl="1" indent="-311150" algn="l" rtl="0">
              <a:spcBef>
                <a:spcPts val="0"/>
              </a:spcBef>
              <a:spcAft>
                <a:spcPts val="0"/>
              </a:spcAft>
              <a:buClr>
                <a:srgbClr val="000000"/>
              </a:buClr>
              <a:buSzPts val="1300"/>
              <a:buChar char="○"/>
            </a:pPr>
            <a:r>
              <a:rPr lang="en" sz="1300">
                <a:solidFill>
                  <a:srgbClr val="000000"/>
                </a:solidFill>
              </a:rPr>
              <a:t>DNA:</a:t>
            </a:r>
            <a:endParaRPr sz="1300">
              <a:solidFill>
                <a:srgbClr val="000000"/>
              </a:solidFill>
            </a:endParaRPr>
          </a:p>
          <a:p>
            <a:pPr marL="1371600" lvl="2" indent="-311150" algn="l" rtl="0">
              <a:lnSpc>
                <a:spcPct val="150000"/>
              </a:lnSpc>
              <a:spcBef>
                <a:spcPts val="0"/>
              </a:spcBef>
              <a:spcAft>
                <a:spcPts val="0"/>
              </a:spcAft>
              <a:buClr>
                <a:srgbClr val="000000"/>
              </a:buClr>
              <a:buSzPts val="1300"/>
              <a:buChar char="■"/>
            </a:pPr>
            <a:r>
              <a:rPr lang="en" sz="1300">
                <a:solidFill>
                  <a:srgbClr val="000000"/>
                </a:solidFill>
              </a:rPr>
              <a:t>Detect bacteria, parasites, fungi, DNA viruses</a:t>
            </a:r>
            <a:endParaRPr sz="1300">
              <a:solidFill>
                <a:srgbClr val="000000"/>
              </a:solidFill>
            </a:endParaRPr>
          </a:p>
          <a:p>
            <a:pPr marL="914400" lvl="1" indent="-311150" algn="l" rtl="0">
              <a:spcBef>
                <a:spcPts val="0"/>
              </a:spcBef>
              <a:spcAft>
                <a:spcPts val="0"/>
              </a:spcAft>
              <a:buClr>
                <a:srgbClr val="000000"/>
              </a:buClr>
              <a:buSzPts val="1300"/>
              <a:buChar char="○"/>
            </a:pPr>
            <a:r>
              <a:rPr lang="en" sz="1300">
                <a:solidFill>
                  <a:srgbClr val="000000"/>
                </a:solidFill>
              </a:rPr>
              <a:t>RNA:</a:t>
            </a:r>
            <a:endParaRPr sz="1300">
              <a:solidFill>
                <a:srgbClr val="000000"/>
              </a:solidFill>
            </a:endParaRPr>
          </a:p>
          <a:p>
            <a:pPr marL="1371600" lvl="2" indent="-311150" algn="l" rtl="0">
              <a:lnSpc>
                <a:spcPct val="115000"/>
              </a:lnSpc>
              <a:spcBef>
                <a:spcPts val="0"/>
              </a:spcBef>
              <a:spcAft>
                <a:spcPts val="0"/>
              </a:spcAft>
              <a:buClr>
                <a:srgbClr val="000000"/>
              </a:buClr>
              <a:buSzPts val="1300"/>
              <a:buChar char="■"/>
            </a:pPr>
            <a:r>
              <a:rPr lang="en" sz="1300">
                <a:solidFill>
                  <a:srgbClr val="000000"/>
                </a:solidFill>
              </a:rPr>
              <a:t>All the above + RNA viruses (!)</a:t>
            </a:r>
            <a:endParaRPr sz="1300">
              <a:solidFill>
                <a:srgbClr val="000000"/>
              </a:solidFill>
            </a:endParaRPr>
          </a:p>
          <a:p>
            <a:pPr marL="1371600" lvl="2" indent="-311150" algn="l" rtl="0">
              <a:lnSpc>
                <a:spcPct val="115000"/>
              </a:lnSpc>
              <a:spcBef>
                <a:spcPts val="0"/>
              </a:spcBef>
              <a:spcAft>
                <a:spcPts val="0"/>
              </a:spcAft>
              <a:buClr>
                <a:srgbClr val="000000"/>
              </a:buClr>
              <a:buSzPts val="1300"/>
              <a:buChar char="■"/>
            </a:pPr>
            <a:r>
              <a:rPr lang="en" sz="1300">
                <a:solidFill>
                  <a:srgbClr val="000000"/>
                </a:solidFill>
              </a:rPr>
              <a:t>Requires optimal sample quality, degrades very fast</a:t>
            </a:r>
            <a:endParaRPr sz="1300">
              <a:solidFill>
                <a:srgbClr val="000000"/>
              </a:solidFill>
            </a:endParaRPr>
          </a:p>
          <a:p>
            <a:pPr marL="1371600" lvl="2" indent="-311150" algn="l" rtl="0">
              <a:lnSpc>
                <a:spcPct val="150000"/>
              </a:lnSpc>
              <a:spcBef>
                <a:spcPts val="0"/>
              </a:spcBef>
              <a:spcAft>
                <a:spcPts val="0"/>
              </a:spcAft>
              <a:buClr>
                <a:srgbClr val="000000"/>
              </a:buClr>
              <a:buSzPts val="1300"/>
              <a:buChar char="■"/>
            </a:pPr>
            <a:r>
              <a:rPr lang="en" sz="1300">
                <a:solidFill>
                  <a:srgbClr val="000000"/>
                </a:solidFill>
              </a:rPr>
              <a:t>Keep cold at all times!</a:t>
            </a:r>
            <a:endParaRPr sz="1300">
              <a:solidFill>
                <a:srgbClr val="000000"/>
              </a:solidFill>
            </a:endParaRPr>
          </a:p>
          <a:p>
            <a:pPr marL="914400" lvl="1" indent="-311150" algn="l" rtl="0">
              <a:spcBef>
                <a:spcPts val="0"/>
              </a:spcBef>
              <a:spcAft>
                <a:spcPts val="0"/>
              </a:spcAft>
              <a:buClr>
                <a:srgbClr val="000000"/>
              </a:buClr>
              <a:buSzPts val="1300"/>
              <a:buChar char="○"/>
            </a:pPr>
            <a:r>
              <a:rPr lang="en" sz="1300">
                <a:solidFill>
                  <a:srgbClr val="000000"/>
                </a:solidFill>
              </a:rPr>
              <a:t>TNA (total nucleic acid):</a:t>
            </a:r>
            <a:endParaRPr sz="1300">
              <a:solidFill>
                <a:srgbClr val="000000"/>
              </a:solidFill>
            </a:endParaRPr>
          </a:p>
          <a:p>
            <a:pPr marL="1371600" lvl="2" indent="-311150" algn="l" rtl="0">
              <a:spcBef>
                <a:spcPts val="0"/>
              </a:spcBef>
              <a:spcAft>
                <a:spcPts val="0"/>
              </a:spcAft>
              <a:buClr>
                <a:srgbClr val="000000"/>
              </a:buClr>
              <a:buSzPts val="1300"/>
              <a:buChar char="■"/>
            </a:pPr>
            <a:r>
              <a:rPr lang="en" sz="1300">
                <a:solidFill>
                  <a:srgbClr val="000000"/>
                </a:solidFill>
              </a:rPr>
              <a:t>DNA + RNA</a:t>
            </a:r>
            <a:endParaRPr sz="1300">
              <a:solidFill>
                <a:srgbClr val="000000"/>
              </a:solidFill>
            </a:endParaRPr>
          </a:p>
          <a:p>
            <a:pPr marL="1371600" lvl="2" indent="-311150" algn="l" rtl="0">
              <a:lnSpc>
                <a:spcPct val="200000"/>
              </a:lnSpc>
              <a:spcBef>
                <a:spcPts val="0"/>
              </a:spcBef>
              <a:spcAft>
                <a:spcPts val="0"/>
              </a:spcAft>
              <a:buClr>
                <a:srgbClr val="000000"/>
              </a:buClr>
              <a:buSzPts val="1300"/>
              <a:buChar char="■"/>
            </a:pPr>
            <a:r>
              <a:rPr lang="en" sz="1300">
                <a:solidFill>
                  <a:srgbClr val="000000"/>
                </a:solidFill>
              </a:rPr>
              <a:t>Requires DNAse I step for RNA-mNGS</a:t>
            </a:r>
            <a:endParaRPr sz="1300">
              <a:solidFill>
                <a:srgbClr val="000000"/>
              </a:solidFill>
            </a:endParaRPr>
          </a:p>
          <a:p>
            <a:pPr marL="457200" lvl="0" indent="-336550" algn="l" rtl="0">
              <a:lnSpc>
                <a:spcPct val="200000"/>
              </a:lnSpc>
              <a:spcBef>
                <a:spcPts val="0"/>
              </a:spcBef>
              <a:spcAft>
                <a:spcPts val="0"/>
              </a:spcAft>
              <a:buClr>
                <a:srgbClr val="000000"/>
              </a:buClr>
              <a:buSzPts val="1700"/>
              <a:buChar char="●"/>
            </a:pPr>
            <a:r>
              <a:rPr lang="en" sz="1700">
                <a:solidFill>
                  <a:srgbClr val="000000"/>
                </a:solidFill>
              </a:rPr>
              <a:t>Column vs bead-based extraction</a:t>
            </a:r>
            <a:endParaRPr sz="1700">
              <a:solidFill>
                <a:srgbClr val="000000"/>
              </a:solidFill>
            </a:endParaRPr>
          </a:p>
          <a:p>
            <a:pPr marL="457200" lvl="0" indent="0" algn="l" rtl="0">
              <a:spcBef>
                <a:spcPts val="1600"/>
              </a:spcBef>
              <a:spcAft>
                <a:spcPts val="1600"/>
              </a:spcAft>
              <a:buNone/>
            </a:pPr>
            <a:endParaRPr sz="1700">
              <a:solidFill>
                <a:srgbClr val="000000"/>
              </a:solidFill>
            </a:endParaRPr>
          </a:p>
        </p:txBody>
      </p:sp>
      <p:pic>
        <p:nvPicPr>
          <p:cNvPr id="357" name="Google Shape;357;p44"/>
          <p:cNvPicPr preferRelativeResize="0"/>
          <p:nvPr/>
        </p:nvPicPr>
        <p:blipFill>
          <a:blip r:embed="rId3">
            <a:alphaModFix/>
          </a:blip>
          <a:stretch>
            <a:fillRect/>
          </a:stretch>
        </p:blipFill>
        <p:spPr>
          <a:xfrm rot="1149625">
            <a:off x="303810" y="289397"/>
            <a:ext cx="477581" cy="572204"/>
          </a:xfrm>
          <a:prstGeom prst="rect">
            <a:avLst/>
          </a:prstGeom>
          <a:noFill/>
          <a:ln>
            <a:noFill/>
          </a:ln>
        </p:spPr>
      </p:pic>
      <p:sp>
        <p:nvSpPr>
          <p:cNvPr id="358" name="Google Shape;358;p44"/>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xNA extraction</a:t>
            </a:r>
            <a:endParaRPr/>
          </a:p>
        </p:txBody>
      </p:sp>
      <p:sp>
        <p:nvSpPr>
          <p:cNvPr id="359" name="Google Shape;359;p44"/>
          <p:cNvSpPr txBox="1"/>
          <p:nvPr/>
        </p:nvSpPr>
        <p:spPr>
          <a:xfrm>
            <a:off x="5936650" y="74050"/>
            <a:ext cx="3136500" cy="1547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a:solidFill>
                  <a:srgbClr val="FF0000"/>
                </a:solidFill>
              </a:rPr>
              <a:t>Key points:</a:t>
            </a:r>
            <a:endParaRPr sz="1600">
              <a:solidFill>
                <a:srgbClr val="FF0000"/>
              </a:solidFill>
            </a:endParaRPr>
          </a:p>
          <a:p>
            <a:pPr marL="0" lvl="0" indent="0" algn="l" rtl="0">
              <a:lnSpc>
                <a:spcPct val="150000"/>
              </a:lnSpc>
              <a:spcBef>
                <a:spcPts val="0"/>
              </a:spcBef>
              <a:spcAft>
                <a:spcPts val="0"/>
              </a:spcAft>
              <a:buNone/>
            </a:pPr>
            <a:r>
              <a:rPr lang="en" sz="1600">
                <a:solidFill>
                  <a:srgbClr val="FF0000"/>
                </a:solidFill>
              </a:rPr>
              <a:t>✓ Minimize cross-contamination</a:t>
            </a:r>
            <a:endParaRPr sz="1600">
              <a:solidFill>
                <a:srgbClr val="FF0000"/>
              </a:solidFill>
            </a:endParaRPr>
          </a:p>
          <a:p>
            <a:pPr marL="0" lvl="0" indent="0" algn="l" rtl="0">
              <a:lnSpc>
                <a:spcPct val="150000"/>
              </a:lnSpc>
              <a:spcBef>
                <a:spcPts val="0"/>
              </a:spcBef>
              <a:spcAft>
                <a:spcPts val="0"/>
              </a:spcAft>
              <a:buNone/>
            </a:pPr>
            <a:r>
              <a:rPr lang="en" sz="1600">
                <a:solidFill>
                  <a:srgbClr val="FF0000"/>
                </a:solidFill>
              </a:rPr>
              <a:t>✓ Preserve sample quality</a:t>
            </a:r>
            <a:endParaRPr sz="1600">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pic>
        <p:nvPicPr>
          <p:cNvPr id="365" name="Google Shape;365;p45"/>
          <p:cNvPicPr preferRelativeResize="0"/>
          <p:nvPr/>
        </p:nvPicPr>
        <p:blipFill rotWithShape="1">
          <a:blip r:embed="rId3">
            <a:alphaModFix/>
          </a:blip>
          <a:srcRect/>
          <a:stretch/>
        </p:blipFill>
        <p:spPr>
          <a:xfrm>
            <a:off x="6627693" y="697356"/>
            <a:ext cx="2000250" cy="1750219"/>
          </a:xfrm>
          <a:prstGeom prst="rect">
            <a:avLst/>
          </a:prstGeom>
          <a:noFill/>
          <a:ln>
            <a:noFill/>
          </a:ln>
        </p:spPr>
      </p:pic>
      <p:sp>
        <p:nvSpPr>
          <p:cNvPr id="366" name="Google Shape;366;p45"/>
          <p:cNvSpPr/>
          <p:nvPr/>
        </p:nvSpPr>
        <p:spPr>
          <a:xfrm>
            <a:off x="6042826" y="971300"/>
            <a:ext cx="2988000" cy="3085200"/>
          </a:xfrm>
          <a:prstGeom prst="roundRect">
            <a:avLst>
              <a:gd name="adj" fmla="val 8590"/>
            </a:avLst>
          </a:prstGeom>
          <a:noFill/>
          <a:ln w="2540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367" name="Google Shape;367;p45"/>
          <p:cNvPicPr preferRelativeResize="0"/>
          <p:nvPr/>
        </p:nvPicPr>
        <p:blipFill rotWithShape="1">
          <a:blip r:embed="rId4">
            <a:alphaModFix/>
          </a:blip>
          <a:srcRect/>
          <a:stretch/>
        </p:blipFill>
        <p:spPr>
          <a:xfrm>
            <a:off x="439857" y="697356"/>
            <a:ext cx="2000250" cy="1750219"/>
          </a:xfrm>
          <a:prstGeom prst="rect">
            <a:avLst/>
          </a:prstGeom>
          <a:noFill/>
          <a:ln>
            <a:noFill/>
          </a:ln>
        </p:spPr>
      </p:pic>
      <p:pic>
        <p:nvPicPr>
          <p:cNvPr id="368" name="Google Shape;368;p45"/>
          <p:cNvPicPr preferRelativeResize="0"/>
          <p:nvPr/>
        </p:nvPicPr>
        <p:blipFill rotWithShape="1">
          <a:blip r:embed="rId5">
            <a:alphaModFix/>
          </a:blip>
          <a:srcRect/>
          <a:stretch/>
        </p:blipFill>
        <p:spPr>
          <a:xfrm>
            <a:off x="3440818" y="697356"/>
            <a:ext cx="2000250" cy="1750219"/>
          </a:xfrm>
          <a:prstGeom prst="rect">
            <a:avLst/>
          </a:prstGeom>
          <a:noFill/>
          <a:ln>
            <a:noFill/>
          </a:ln>
        </p:spPr>
      </p:pic>
      <p:sp>
        <p:nvSpPr>
          <p:cNvPr id="369" name="Google Shape;369;p45"/>
          <p:cNvSpPr txBox="1"/>
          <p:nvPr/>
        </p:nvSpPr>
        <p:spPr>
          <a:xfrm>
            <a:off x="205099" y="2147200"/>
            <a:ext cx="26415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i="1">
                <a:solidFill>
                  <a:schemeClr val="dk1"/>
                </a:solidFill>
                <a:latin typeface="Calibri"/>
                <a:ea typeface="Calibri"/>
                <a:cs typeface="Calibri"/>
                <a:sym typeface="Calibri"/>
              </a:rPr>
              <a:t>Quick</a:t>
            </a:r>
            <a:r>
              <a:rPr lang="en" sz="1400">
                <a:solidFill>
                  <a:schemeClr val="dk1"/>
                </a:solidFill>
                <a:latin typeface="Calibri"/>
                <a:ea typeface="Calibri"/>
                <a:cs typeface="Calibri"/>
                <a:sym typeface="Calibri"/>
              </a:rPr>
              <a:t>-DNA/RNA Microprep Plus</a:t>
            </a:r>
            <a:endParaRPr sz="1100"/>
          </a:p>
        </p:txBody>
      </p:sp>
      <p:sp>
        <p:nvSpPr>
          <p:cNvPr id="370" name="Google Shape;370;p45"/>
          <p:cNvSpPr txBox="1"/>
          <p:nvPr/>
        </p:nvSpPr>
        <p:spPr>
          <a:xfrm>
            <a:off x="3225962" y="2149775"/>
            <a:ext cx="24459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i="1">
                <a:solidFill>
                  <a:schemeClr val="dk1"/>
                </a:solidFill>
                <a:latin typeface="Calibri"/>
                <a:ea typeface="Calibri"/>
                <a:cs typeface="Calibri"/>
                <a:sym typeface="Calibri"/>
              </a:rPr>
              <a:t>Quick</a:t>
            </a:r>
            <a:r>
              <a:rPr lang="en" sz="1400">
                <a:solidFill>
                  <a:schemeClr val="dk1"/>
                </a:solidFill>
                <a:latin typeface="Calibri"/>
                <a:ea typeface="Calibri"/>
                <a:cs typeface="Calibri"/>
                <a:sym typeface="Calibri"/>
              </a:rPr>
              <a:t>-DNA/RNA Miniprep Plus</a:t>
            </a:r>
            <a:endParaRPr sz="1100"/>
          </a:p>
        </p:txBody>
      </p:sp>
      <p:sp>
        <p:nvSpPr>
          <p:cNvPr id="371" name="Google Shape;371;p45"/>
          <p:cNvSpPr txBox="1"/>
          <p:nvPr/>
        </p:nvSpPr>
        <p:spPr>
          <a:xfrm>
            <a:off x="6207850" y="2147200"/>
            <a:ext cx="27633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400" i="1">
                <a:solidFill>
                  <a:schemeClr val="dk1"/>
                </a:solidFill>
                <a:latin typeface="Calibri"/>
                <a:ea typeface="Calibri"/>
                <a:cs typeface="Calibri"/>
                <a:sym typeface="Calibri"/>
              </a:rPr>
              <a:t>Quick</a:t>
            </a:r>
            <a:r>
              <a:rPr lang="en" sz="1400">
                <a:solidFill>
                  <a:schemeClr val="dk1"/>
                </a:solidFill>
                <a:latin typeface="Calibri"/>
                <a:ea typeface="Calibri"/>
                <a:cs typeface="Calibri"/>
                <a:sym typeface="Calibri"/>
              </a:rPr>
              <a:t>-DNA/RNA Pathogen Magbead</a:t>
            </a:r>
            <a:endParaRPr sz="1400">
              <a:solidFill>
                <a:schemeClr val="dk1"/>
              </a:solidFill>
              <a:latin typeface="Calibri"/>
              <a:ea typeface="Calibri"/>
              <a:cs typeface="Calibri"/>
              <a:sym typeface="Calibri"/>
            </a:endParaRPr>
          </a:p>
        </p:txBody>
      </p:sp>
      <p:sp>
        <p:nvSpPr>
          <p:cNvPr id="372" name="Google Shape;372;p45"/>
          <p:cNvSpPr txBox="1"/>
          <p:nvPr/>
        </p:nvSpPr>
        <p:spPr>
          <a:xfrm>
            <a:off x="657326" y="2482400"/>
            <a:ext cx="16893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50 preps for $399</a:t>
            </a:r>
            <a:endParaRPr sz="1100"/>
          </a:p>
        </p:txBody>
      </p:sp>
      <p:sp>
        <p:nvSpPr>
          <p:cNvPr id="373" name="Google Shape;373;p45"/>
          <p:cNvSpPr txBox="1"/>
          <p:nvPr/>
        </p:nvSpPr>
        <p:spPr>
          <a:xfrm>
            <a:off x="3636751" y="2482400"/>
            <a:ext cx="15798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50 preps for $399</a:t>
            </a:r>
            <a:endParaRPr sz="1100"/>
          </a:p>
        </p:txBody>
      </p:sp>
      <p:sp>
        <p:nvSpPr>
          <p:cNvPr id="374" name="Google Shape;374;p45"/>
          <p:cNvSpPr txBox="1"/>
          <p:nvPr/>
        </p:nvSpPr>
        <p:spPr>
          <a:xfrm>
            <a:off x="6744850" y="2482400"/>
            <a:ext cx="16893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400">
                <a:solidFill>
                  <a:schemeClr val="dk1"/>
                </a:solidFill>
                <a:latin typeface="Calibri"/>
                <a:ea typeface="Calibri"/>
                <a:cs typeface="Calibri"/>
                <a:sym typeface="Calibri"/>
              </a:rPr>
              <a:t>96 preps for $293</a:t>
            </a:r>
            <a:endParaRPr sz="1100"/>
          </a:p>
        </p:txBody>
      </p:sp>
      <p:sp>
        <p:nvSpPr>
          <p:cNvPr id="375" name="Google Shape;375;p45"/>
          <p:cNvSpPr txBox="1"/>
          <p:nvPr/>
        </p:nvSpPr>
        <p:spPr>
          <a:xfrm>
            <a:off x="7011700" y="2794225"/>
            <a:ext cx="11556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400">
                <a:solidFill>
                  <a:schemeClr val="dk1"/>
                </a:solidFill>
                <a:latin typeface="Calibri"/>
                <a:ea typeface="Calibri"/>
                <a:cs typeface="Calibri"/>
                <a:sym typeface="Calibri"/>
              </a:rPr>
              <a:t>Bead-based</a:t>
            </a:r>
            <a:endParaRPr sz="1100"/>
          </a:p>
        </p:txBody>
      </p:sp>
      <p:sp>
        <p:nvSpPr>
          <p:cNvPr id="376" name="Google Shape;376;p45"/>
          <p:cNvSpPr txBox="1"/>
          <p:nvPr/>
        </p:nvSpPr>
        <p:spPr>
          <a:xfrm>
            <a:off x="3716452" y="2794225"/>
            <a:ext cx="13785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Column-based</a:t>
            </a:r>
            <a:endParaRPr sz="1100"/>
          </a:p>
        </p:txBody>
      </p:sp>
      <p:sp>
        <p:nvSpPr>
          <p:cNvPr id="377" name="Google Shape;377;p45"/>
          <p:cNvSpPr txBox="1"/>
          <p:nvPr/>
        </p:nvSpPr>
        <p:spPr>
          <a:xfrm>
            <a:off x="765226" y="2794225"/>
            <a:ext cx="14700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Column-based</a:t>
            </a:r>
            <a:endParaRPr sz="1100"/>
          </a:p>
        </p:txBody>
      </p:sp>
      <p:sp>
        <p:nvSpPr>
          <p:cNvPr id="378" name="Google Shape;378;p45"/>
          <p:cNvSpPr txBox="1"/>
          <p:nvPr/>
        </p:nvSpPr>
        <p:spPr>
          <a:xfrm>
            <a:off x="6271600" y="3106050"/>
            <a:ext cx="2699700" cy="829200"/>
          </a:xfrm>
          <a:prstGeom prst="rect">
            <a:avLst/>
          </a:prstGeom>
          <a:noFill/>
          <a:ln>
            <a:noFill/>
          </a:ln>
        </p:spPr>
        <p:txBody>
          <a:bodyPr spcFirstLastPara="1" wrap="square" lIns="68575" tIns="34275" rIns="68575" bIns="34275" anchor="t" anchorCtr="0">
            <a:noAutofit/>
          </a:bodyPr>
          <a:lstStyle/>
          <a:p>
            <a:pPr marL="0" marR="0" lvl="0" indent="0" algn="l" rtl="0">
              <a:lnSpc>
                <a:spcPct val="125000"/>
              </a:lnSpc>
              <a:spcBef>
                <a:spcPts val="0"/>
              </a:spcBef>
              <a:spcAft>
                <a:spcPts val="0"/>
              </a:spcAft>
              <a:buNone/>
            </a:pPr>
            <a:r>
              <a:rPr lang="en" sz="1400">
                <a:solidFill>
                  <a:schemeClr val="dk1"/>
                </a:solidFill>
                <a:latin typeface="Calibri"/>
                <a:ea typeface="Calibri"/>
                <a:cs typeface="Calibri"/>
                <a:sym typeface="Calibri"/>
              </a:rPr>
              <a:t>Requires extra:</a:t>
            </a:r>
            <a:endParaRPr sz="1100"/>
          </a:p>
          <a:p>
            <a:pPr marL="215900" marR="0" lvl="0" indent="-215900" algn="l" rtl="0">
              <a:lnSpc>
                <a:spcPct val="125000"/>
              </a:lnSpc>
              <a:spcBef>
                <a:spcPts val="0"/>
              </a:spcBef>
              <a:spcAft>
                <a:spcPts val="0"/>
              </a:spcAft>
              <a:buClr>
                <a:schemeClr val="dk1"/>
              </a:buClr>
              <a:buSzPts val="1400"/>
              <a:buFont typeface="Noto Sans Symbols"/>
              <a:buChar char="✔"/>
            </a:pPr>
            <a:r>
              <a:rPr lang="en" sz="1400">
                <a:solidFill>
                  <a:schemeClr val="dk1"/>
                </a:solidFill>
                <a:latin typeface="Calibri"/>
                <a:ea typeface="Calibri"/>
                <a:cs typeface="Calibri"/>
                <a:sym typeface="Calibri"/>
              </a:rPr>
              <a:t>Magnet stand (CZB Engineers)</a:t>
            </a:r>
            <a:endParaRPr sz="1100"/>
          </a:p>
          <a:p>
            <a:pPr marL="215900" marR="0" lvl="0" indent="-215900" algn="l" rtl="0">
              <a:lnSpc>
                <a:spcPct val="125000"/>
              </a:lnSpc>
              <a:spcBef>
                <a:spcPts val="0"/>
              </a:spcBef>
              <a:spcAft>
                <a:spcPts val="0"/>
              </a:spcAft>
              <a:buClr>
                <a:schemeClr val="dk1"/>
              </a:buClr>
              <a:buSzPts val="1400"/>
              <a:buFont typeface="Noto Sans Symbols"/>
              <a:buChar char="✔"/>
            </a:pPr>
            <a:r>
              <a:rPr lang="en" sz="1400">
                <a:solidFill>
                  <a:schemeClr val="dk1"/>
                </a:solidFill>
                <a:latin typeface="Calibri"/>
                <a:ea typeface="Calibri"/>
                <a:cs typeface="Calibri"/>
                <a:sym typeface="Calibri"/>
              </a:rPr>
              <a:t>β-mercaptoethanol</a:t>
            </a:r>
            <a:endParaRPr sz="1400">
              <a:solidFill>
                <a:schemeClr val="dk1"/>
              </a:solidFill>
              <a:latin typeface="Calibri"/>
              <a:ea typeface="Calibri"/>
              <a:cs typeface="Calibri"/>
              <a:sym typeface="Calibri"/>
            </a:endParaRPr>
          </a:p>
        </p:txBody>
      </p:sp>
      <p:sp>
        <p:nvSpPr>
          <p:cNvPr id="379" name="Google Shape;379;p45"/>
          <p:cNvSpPr txBox="1"/>
          <p:nvPr/>
        </p:nvSpPr>
        <p:spPr>
          <a:xfrm>
            <a:off x="211250" y="3623650"/>
            <a:ext cx="6780900" cy="1327200"/>
          </a:xfrm>
          <a:prstGeom prst="rect">
            <a:avLst/>
          </a:prstGeom>
          <a:noFill/>
          <a:ln>
            <a:noFill/>
          </a:ln>
        </p:spPr>
        <p:txBody>
          <a:bodyPr spcFirstLastPara="1" wrap="square" lIns="68575" tIns="34275" rIns="68575" bIns="34275" anchor="t" anchorCtr="0">
            <a:noAutofit/>
          </a:bodyPr>
          <a:lstStyle/>
          <a:p>
            <a:pPr marL="0" marR="0" lvl="0" indent="0" algn="l" rtl="0">
              <a:lnSpc>
                <a:spcPct val="125000"/>
              </a:lnSpc>
              <a:spcBef>
                <a:spcPts val="0"/>
              </a:spcBef>
              <a:spcAft>
                <a:spcPts val="0"/>
              </a:spcAft>
              <a:buNone/>
            </a:pPr>
            <a:r>
              <a:rPr lang="en" sz="1400">
                <a:solidFill>
                  <a:schemeClr val="dk1"/>
                </a:solidFill>
                <a:latin typeface="Calibri"/>
                <a:ea typeface="Calibri"/>
                <a:cs typeface="Calibri"/>
                <a:sym typeface="Calibri"/>
              </a:rPr>
              <a:t>Extra reagents to buy:</a:t>
            </a:r>
            <a:endParaRPr sz="1400">
              <a:solidFill>
                <a:schemeClr val="dk1"/>
              </a:solidFill>
              <a:latin typeface="Calibri"/>
              <a:ea typeface="Calibri"/>
              <a:cs typeface="Calibri"/>
              <a:sym typeface="Calibri"/>
            </a:endParaRPr>
          </a:p>
          <a:p>
            <a:pPr marL="215900" marR="0" lvl="0" indent="-215900" algn="l" rtl="0">
              <a:lnSpc>
                <a:spcPct val="125000"/>
              </a:lnSpc>
              <a:spcBef>
                <a:spcPts val="0"/>
              </a:spcBef>
              <a:spcAft>
                <a:spcPts val="0"/>
              </a:spcAft>
              <a:buClr>
                <a:schemeClr val="dk1"/>
              </a:buClr>
              <a:buSzPts val="1400"/>
              <a:buFont typeface="Noto Sans Symbols"/>
              <a:buChar char="✔"/>
            </a:pPr>
            <a:r>
              <a:rPr lang="en" sz="1400">
                <a:solidFill>
                  <a:schemeClr val="dk1"/>
                </a:solidFill>
                <a:latin typeface="Calibri"/>
                <a:ea typeface="Calibri"/>
                <a:cs typeface="Calibri"/>
                <a:sym typeface="Calibri"/>
              </a:rPr>
              <a:t>Molecular grade ethanol (200 proof) for washes</a:t>
            </a:r>
            <a:endParaRPr sz="1400">
              <a:solidFill>
                <a:schemeClr val="dk1"/>
              </a:solidFill>
              <a:latin typeface="Calibri"/>
              <a:ea typeface="Calibri"/>
              <a:cs typeface="Calibri"/>
              <a:sym typeface="Calibri"/>
            </a:endParaRPr>
          </a:p>
          <a:p>
            <a:pPr marL="215900" marR="0" lvl="0" indent="-196850" algn="l" rtl="0">
              <a:lnSpc>
                <a:spcPct val="125000"/>
              </a:lnSpc>
              <a:spcBef>
                <a:spcPts val="0"/>
              </a:spcBef>
              <a:spcAft>
                <a:spcPts val="0"/>
              </a:spcAft>
              <a:buClr>
                <a:schemeClr val="dk1"/>
              </a:buClr>
              <a:buSzPts val="1100"/>
              <a:buFont typeface="Calibri"/>
              <a:buChar char="✔"/>
            </a:pPr>
            <a:r>
              <a:rPr lang="en">
                <a:solidFill>
                  <a:schemeClr val="dk1"/>
                </a:solidFill>
                <a:latin typeface="Calibri"/>
                <a:ea typeface="Calibri"/>
                <a:cs typeface="Calibri"/>
                <a:sym typeface="Calibri"/>
              </a:rPr>
              <a:t>Isopropanol to add to concentrated wash buffers</a:t>
            </a:r>
            <a:endParaRPr>
              <a:solidFill>
                <a:schemeClr val="dk1"/>
              </a:solidFill>
              <a:latin typeface="Calibri"/>
              <a:ea typeface="Calibri"/>
              <a:cs typeface="Calibri"/>
              <a:sym typeface="Calibri"/>
            </a:endParaRPr>
          </a:p>
          <a:p>
            <a:pPr marL="215900" marR="0" lvl="0" indent="-215900" algn="l" rtl="0">
              <a:lnSpc>
                <a:spcPct val="125000"/>
              </a:lnSpc>
              <a:spcBef>
                <a:spcPts val="0"/>
              </a:spcBef>
              <a:spcAft>
                <a:spcPts val="0"/>
              </a:spcAft>
              <a:buClr>
                <a:schemeClr val="dk1"/>
              </a:buClr>
              <a:buSzPts val="1400"/>
              <a:buFont typeface="Noto Sans Symbols"/>
              <a:buChar char="✔"/>
            </a:pPr>
            <a:r>
              <a:rPr lang="en" sz="1400">
                <a:solidFill>
                  <a:schemeClr val="dk1"/>
                </a:solidFill>
                <a:latin typeface="Calibri"/>
                <a:ea typeface="Calibri"/>
                <a:cs typeface="Calibri"/>
                <a:sym typeface="Calibri"/>
              </a:rPr>
              <a:t>DNase I included in regular quick-DNA/RNA kits, but not in Pathogen kits</a:t>
            </a:r>
            <a:endParaRPr sz="1100"/>
          </a:p>
          <a:p>
            <a:pPr marL="558800" marR="0" lvl="1" indent="-215900" algn="l" rtl="0">
              <a:lnSpc>
                <a:spcPct val="125000"/>
              </a:lnSpc>
              <a:spcBef>
                <a:spcPts val="0"/>
              </a:spcBef>
              <a:spcAft>
                <a:spcPts val="0"/>
              </a:spcAft>
              <a:buClr>
                <a:schemeClr val="dk1"/>
              </a:buClr>
              <a:buSzPts val="1400"/>
              <a:buFont typeface="Courier New"/>
              <a:buChar char="o"/>
            </a:pPr>
            <a:r>
              <a:rPr lang="en" sz="1400" b="0" i="0" u="none" strike="noStrike" cap="none">
                <a:solidFill>
                  <a:schemeClr val="dk1"/>
                </a:solidFill>
                <a:latin typeface="Calibri"/>
                <a:ea typeface="Calibri"/>
                <a:cs typeface="Calibri"/>
                <a:sym typeface="Calibri"/>
              </a:rPr>
              <a:t>Available separately from Qiagen: RNase-Free DNase Set, $512 for 250 samples</a:t>
            </a:r>
            <a:endParaRPr sz="1100"/>
          </a:p>
        </p:txBody>
      </p:sp>
      <p:sp>
        <p:nvSpPr>
          <p:cNvPr id="380" name="Google Shape;380;p45"/>
          <p:cNvSpPr txBox="1"/>
          <p:nvPr/>
        </p:nvSpPr>
        <p:spPr>
          <a:xfrm>
            <a:off x="3636750" y="310050"/>
            <a:ext cx="5205600" cy="3873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2500" b="1">
                <a:solidFill>
                  <a:srgbClr val="999999"/>
                </a:solidFill>
              </a:rPr>
              <a:t>Zymo DNA+RNA extraction kits</a:t>
            </a:r>
            <a:endParaRPr sz="2200">
              <a:solidFill>
                <a:srgbClr val="999999"/>
              </a:solidFill>
            </a:endParaRPr>
          </a:p>
        </p:txBody>
      </p:sp>
      <p:pic>
        <p:nvPicPr>
          <p:cNvPr id="381" name="Google Shape;381;p45"/>
          <p:cNvPicPr preferRelativeResize="0"/>
          <p:nvPr/>
        </p:nvPicPr>
        <p:blipFill>
          <a:blip r:embed="rId6">
            <a:alphaModFix/>
          </a:blip>
          <a:stretch>
            <a:fillRect/>
          </a:stretch>
        </p:blipFill>
        <p:spPr>
          <a:xfrm rot="1149625">
            <a:off x="303810" y="289397"/>
            <a:ext cx="477581" cy="572204"/>
          </a:xfrm>
          <a:prstGeom prst="rect">
            <a:avLst/>
          </a:prstGeom>
          <a:noFill/>
          <a:ln>
            <a:noFill/>
          </a:ln>
        </p:spPr>
      </p:pic>
      <p:sp>
        <p:nvSpPr>
          <p:cNvPr id="382" name="Google Shape;382;p45"/>
          <p:cNvSpPr txBox="1">
            <a:spLocks noGrp="1"/>
          </p:cNvSpPr>
          <p:nvPr>
            <p:ph type="title" idx="4294967295"/>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xNA extraction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pic>
        <p:nvPicPr>
          <p:cNvPr id="416" name="Google Shape;416;p48"/>
          <p:cNvPicPr preferRelativeResize="0"/>
          <p:nvPr/>
        </p:nvPicPr>
        <p:blipFill rotWithShape="1">
          <a:blip r:embed="rId3">
            <a:alphaModFix/>
          </a:blip>
          <a:srcRect/>
          <a:stretch/>
        </p:blipFill>
        <p:spPr>
          <a:xfrm>
            <a:off x="6856321" y="1296478"/>
            <a:ext cx="2262253" cy="1375875"/>
          </a:xfrm>
          <a:prstGeom prst="rect">
            <a:avLst/>
          </a:prstGeom>
          <a:noFill/>
          <a:ln>
            <a:noFill/>
          </a:ln>
        </p:spPr>
      </p:pic>
      <p:sp>
        <p:nvSpPr>
          <p:cNvPr id="417" name="Google Shape;417;p48"/>
          <p:cNvSpPr txBox="1">
            <a:spLocks noGrp="1"/>
          </p:cNvSpPr>
          <p:nvPr>
            <p:ph type="body" idx="1"/>
          </p:nvPr>
        </p:nvSpPr>
        <p:spPr>
          <a:xfrm>
            <a:off x="83100" y="1152475"/>
            <a:ext cx="8520600" cy="3416400"/>
          </a:xfrm>
          <a:prstGeom prst="rect">
            <a:avLst/>
          </a:prstGeom>
        </p:spPr>
        <p:txBody>
          <a:bodyPr spcFirstLastPara="1" wrap="square" lIns="91425" tIns="91425" rIns="91425" bIns="91425" anchor="t" anchorCtr="0">
            <a:noAutofit/>
          </a:bodyPr>
          <a:lstStyle/>
          <a:p>
            <a:pPr marL="457200" lvl="0" indent="-336550" algn="l" rtl="0">
              <a:lnSpc>
                <a:spcPct val="150000"/>
              </a:lnSpc>
              <a:spcBef>
                <a:spcPts val="0"/>
              </a:spcBef>
              <a:spcAft>
                <a:spcPts val="0"/>
              </a:spcAft>
              <a:buClr>
                <a:srgbClr val="000000"/>
              </a:buClr>
              <a:buSzPts val="1700"/>
              <a:buChar char="●"/>
            </a:pPr>
            <a:r>
              <a:rPr lang="en" sz="1700">
                <a:solidFill>
                  <a:srgbClr val="000000"/>
                </a:solidFill>
              </a:rPr>
              <a:t>Quality control:</a:t>
            </a:r>
            <a:endParaRPr sz="1700">
              <a:solidFill>
                <a:srgbClr val="000000"/>
              </a:solidFill>
            </a:endParaRPr>
          </a:p>
          <a:p>
            <a:pPr marL="914400" lvl="1" indent="-311150" algn="l" rtl="0">
              <a:spcBef>
                <a:spcPts val="0"/>
              </a:spcBef>
              <a:spcAft>
                <a:spcPts val="0"/>
              </a:spcAft>
              <a:buClr>
                <a:srgbClr val="000000"/>
              </a:buClr>
              <a:buSzPts val="1300"/>
              <a:buChar char="○"/>
            </a:pPr>
            <a:r>
              <a:rPr lang="en" sz="1300">
                <a:solidFill>
                  <a:srgbClr val="000000"/>
                </a:solidFill>
              </a:rPr>
              <a:t>Quantity (ng/μl):</a:t>
            </a:r>
            <a:endParaRPr sz="1300">
              <a:solidFill>
                <a:srgbClr val="000000"/>
              </a:solidFill>
            </a:endParaRPr>
          </a:p>
          <a:p>
            <a:pPr marL="1371600" lvl="2" indent="-311150" algn="l" rtl="0">
              <a:lnSpc>
                <a:spcPct val="200000"/>
              </a:lnSpc>
              <a:spcBef>
                <a:spcPts val="0"/>
              </a:spcBef>
              <a:spcAft>
                <a:spcPts val="0"/>
              </a:spcAft>
              <a:buClr>
                <a:srgbClr val="000000"/>
              </a:buClr>
              <a:buSzPts val="1300"/>
              <a:buChar char="■"/>
            </a:pPr>
            <a:r>
              <a:rPr lang="en" sz="1300">
                <a:solidFill>
                  <a:srgbClr val="000000"/>
                </a:solidFill>
              </a:rPr>
              <a:t>Qubit: RNA or DNA High Sensitivity (HS) Assay Kit (ThermoFisher)</a:t>
            </a:r>
            <a:endParaRPr sz="1300">
              <a:solidFill>
                <a:srgbClr val="000000"/>
              </a:solidFill>
            </a:endParaRPr>
          </a:p>
          <a:p>
            <a:pPr marL="914400" lvl="1" indent="-311150" algn="l" rtl="0">
              <a:lnSpc>
                <a:spcPct val="150000"/>
              </a:lnSpc>
              <a:spcBef>
                <a:spcPts val="0"/>
              </a:spcBef>
              <a:spcAft>
                <a:spcPts val="0"/>
              </a:spcAft>
              <a:buClr>
                <a:srgbClr val="000000"/>
              </a:buClr>
              <a:buSzPts val="1300"/>
              <a:buChar char="○"/>
            </a:pPr>
            <a:r>
              <a:rPr lang="en" sz="1300">
                <a:solidFill>
                  <a:srgbClr val="000000"/>
                </a:solidFill>
              </a:rPr>
              <a:t>Quality (length):</a:t>
            </a:r>
            <a:endParaRPr sz="1300">
              <a:solidFill>
                <a:srgbClr val="000000"/>
              </a:solidFill>
            </a:endParaRPr>
          </a:p>
          <a:p>
            <a:pPr marL="1371600" lvl="2" indent="-311150" algn="l" rtl="0">
              <a:lnSpc>
                <a:spcPct val="115000"/>
              </a:lnSpc>
              <a:spcBef>
                <a:spcPts val="0"/>
              </a:spcBef>
              <a:spcAft>
                <a:spcPts val="0"/>
              </a:spcAft>
              <a:buClr>
                <a:srgbClr val="000000"/>
              </a:buClr>
              <a:buSzPts val="1300"/>
              <a:buChar char="■"/>
            </a:pPr>
            <a:r>
              <a:rPr lang="en" sz="1300">
                <a:solidFill>
                  <a:srgbClr val="000000"/>
                </a:solidFill>
              </a:rPr>
              <a:t>Capillary electrophoresis</a:t>
            </a:r>
            <a:endParaRPr sz="1300">
              <a:solidFill>
                <a:srgbClr val="000000"/>
              </a:solidFill>
            </a:endParaRPr>
          </a:p>
          <a:p>
            <a:pPr marL="1828800" lvl="3" indent="-311150" algn="l" rtl="0">
              <a:lnSpc>
                <a:spcPct val="115000"/>
              </a:lnSpc>
              <a:spcBef>
                <a:spcPts val="0"/>
              </a:spcBef>
              <a:spcAft>
                <a:spcPts val="0"/>
              </a:spcAft>
              <a:buClr>
                <a:srgbClr val="000000"/>
              </a:buClr>
              <a:buSzPts val="1300"/>
              <a:buChar char="●"/>
            </a:pPr>
            <a:r>
              <a:rPr lang="en" sz="1300">
                <a:solidFill>
                  <a:srgbClr val="000000"/>
                </a:solidFill>
              </a:rPr>
              <a:t>Tapestation (Agilent)</a:t>
            </a:r>
            <a:endParaRPr sz="1300">
              <a:solidFill>
                <a:srgbClr val="000000"/>
              </a:solidFill>
            </a:endParaRPr>
          </a:p>
          <a:p>
            <a:pPr marL="1828800" lvl="3" indent="-311150" algn="l" rtl="0">
              <a:lnSpc>
                <a:spcPct val="150000"/>
              </a:lnSpc>
              <a:spcBef>
                <a:spcPts val="0"/>
              </a:spcBef>
              <a:spcAft>
                <a:spcPts val="0"/>
              </a:spcAft>
              <a:buClr>
                <a:srgbClr val="000000"/>
              </a:buClr>
              <a:buSzPts val="1300"/>
              <a:buChar char="●"/>
            </a:pPr>
            <a:r>
              <a:rPr lang="en" sz="1300">
                <a:solidFill>
                  <a:srgbClr val="000000"/>
                </a:solidFill>
              </a:rPr>
              <a:t>High Sensitivity DNA or RNA ScreenTape</a:t>
            </a:r>
            <a:endParaRPr sz="1300">
              <a:solidFill>
                <a:srgbClr val="000000"/>
              </a:solidFill>
            </a:endParaRPr>
          </a:p>
          <a:p>
            <a:pPr marL="1371600" lvl="2" indent="-311150" algn="l" rtl="0">
              <a:lnSpc>
                <a:spcPct val="115000"/>
              </a:lnSpc>
              <a:spcBef>
                <a:spcPts val="0"/>
              </a:spcBef>
              <a:spcAft>
                <a:spcPts val="0"/>
              </a:spcAft>
              <a:buClr>
                <a:srgbClr val="000000"/>
              </a:buClr>
              <a:buSzPts val="1300"/>
              <a:buChar char="■"/>
            </a:pPr>
            <a:r>
              <a:rPr lang="en" sz="1300">
                <a:solidFill>
                  <a:srgbClr val="000000"/>
                </a:solidFill>
              </a:rPr>
              <a:t>Gel electrophoresis</a:t>
            </a:r>
            <a:endParaRPr sz="1300">
              <a:solidFill>
                <a:srgbClr val="000000"/>
              </a:solidFill>
            </a:endParaRPr>
          </a:p>
          <a:p>
            <a:pPr marL="1828800" lvl="3" indent="-311150" algn="l" rtl="0">
              <a:lnSpc>
                <a:spcPct val="115000"/>
              </a:lnSpc>
              <a:spcBef>
                <a:spcPts val="0"/>
              </a:spcBef>
              <a:spcAft>
                <a:spcPts val="0"/>
              </a:spcAft>
              <a:buClr>
                <a:srgbClr val="000000"/>
              </a:buClr>
              <a:buSzPts val="1300"/>
              <a:buChar char="●"/>
            </a:pPr>
            <a:r>
              <a:rPr lang="en" sz="1300">
                <a:solidFill>
                  <a:srgbClr val="000000"/>
                </a:solidFill>
              </a:rPr>
              <a:t>Regular agarose gel for DNA</a:t>
            </a:r>
            <a:endParaRPr sz="1300">
              <a:solidFill>
                <a:srgbClr val="000000"/>
              </a:solidFill>
            </a:endParaRPr>
          </a:p>
          <a:p>
            <a:pPr marL="1828800" lvl="3" indent="-311150" algn="l" rtl="0">
              <a:lnSpc>
                <a:spcPct val="150000"/>
              </a:lnSpc>
              <a:spcBef>
                <a:spcPts val="0"/>
              </a:spcBef>
              <a:spcAft>
                <a:spcPts val="0"/>
              </a:spcAft>
              <a:buClr>
                <a:srgbClr val="000000"/>
              </a:buClr>
              <a:buSzPts val="1300"/>
              <a:buChar char="●"/>
            </a:pPr>
            <a:r>
              <a:rPr lang="en" sz="1300">
                <a:solidFill>
                  <a:srgbClr val="000000"/>
                </a:solidFill>
              </a:rPr>
              <a:t>TBE-urea gel for RNA</a:t>
            </a:r>
            <a:endParaRPr sz="1300">
              <a:solidFill>
                <a:srgbClr val="000000"/>
              </a:solidFill>
            </a:endParaRPr>
          </a:p>
        </p:txBody>
      </p:sp>
      <p:pic>
        <p:nvPicPr>
          <p:cNvPr id="418" name="Google Shape;418;p48"/>
          <p:cNvPicPr preferRelativeResize="0"/>
          <p:nvPr/>
        </p:nvPicPr>
        <p:blipFill>
          <a:blip r:embed="rId4">
            <a:alphaModFix/>
          </a:blip>
          <a:stretch>
            <a:fillRect/>
          </a:stretch>
        </p:blipFill>
        <p:spPr>
          <a:xfrm rot="1149625">
            <a:off x="303810" y="289397"/>
            <a:ext cx="477581" cy="572204"/>
          </a:xfrm>
          <a:prstGeom prst="rect">
            <a:avLst/>
          </a:prstGeom>
          <a:noFill/>
          <a:ln>
            <a:noFill/>
          </a:ln>
        </p:spPr>
      </p:pic>
      <p:sp>
        <p:nvSpPr>
          <p:cNvPr id="419" name="Google Shape;419;p48"/>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xNA extraction</a:t>
            </a:r>
            <a:endParaRPr/>
          </a:p>
        </p:txBody>
      </p:sp>
      <p:pic>
        <p:nvPicPr>
          <p:cNvPr id="420" name="Google Shape;420;p48"/>
          <p:cNvPicPr preferRelativeResize="0"/>
          <p:nvPr/>
        </p:nvPicPr>
        <p:blipFill rotWithShape="1">
          <a:blip r:embed="rId5">
            <a:alphaModFix/>
          </a:blip>
          <a:srcRect/>
          <a:stretch/>
        </p:blipFill>
        <p:spPr>
          <a:xfrm>
            <a:off x="5992250" y="3066525"/>
            <a:ext cx="3056173" cy="2025124"/>
          </a:xfrm>
          <a:prstGeom prst="rect">
            <a:avLst/>
          </a:prstGeom>
          <a:noFill/>
          <a:ln>
            <a:noFill/>
          </a:ln>
        </p:spPr>
      </p:pic>
      <p:pic>
        <p:nvPicPr>
          <p:cNvPr id="421" name="Google Shape;421;p48"/>
          <p:cNvPicPr preferRelativeResize="0"/>
          <p:nvPr/>
        </p:nvPicPr>
        <p:blipFill rotWithShape="1">
          <a:blip r:embed="rId6">
            <a:alphaModFix/>
          </a:blip>
          <a:srcRect/>
          <a:stretch/>
        </p:blipFill>
        <p:spPr>
          <a:xfrm>
            <a:off x="5559475" y="2571750"/>
            <a:ext cx="768075" cy="940724"/>
          </a:xfrm>
          <a:prstGeom prst="rect">
            <a:avLst/>
          </a:prstGeom>
          <a:noFill/>
          <a:ln>
            <a:noFill/>
          </a:ln>
        </p:spPr>
      </p:pic>
      <p:sp>
        <p:nvSpPr>
          <p:cNvPr id="422" name="Google Shape;422;p48"/>
          <p:cNvSpPr txBox="1"/>
          <p:nvPr/>
        </p:nvSpPr>
        <p:spPr>
          <a:xfrm>
            <a:off x="5936650" y="74050"/>
            <a:ext cx="3136500" cy="1547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a:solidFill>
                  <a:srgbClr val="FF0000"/>
                </a:solidFill>
              </a:rPr>
              <a:t>Key point:</a:t>
            </a:r>
            <a:endParaRPr sz="1600">
              <a:solidFill>
                <a:srgbClr val="FF0000"/>
              </a:solidFill>
            </a:endParaRPr>
          </a:p>
          <a:p>
            <a:pPr marL="0" lvl="0" indent="0" algn="l" rtl="0">
              <a:lnSpc>
                <a:spcPct val="150000"/>
              </a:lnSpc>
              <a:spcBef>
                <a:spcPts val="0"/>
              </a:spcBef>
              <a:spcAft>
                <a:spcPts val="0"/>
              </a:spcAft>
              <a:buNone/>
            </a:pPr>
            <a:r>
              <a:rPr lang="en" sz="1600">
                <a:solidFill>
                  <a:srgbClr val="FF0000"/>
                </a:solidFill>
              </a:rPr>
              <a:t>✓ xNA quality is crucial</a:t>
            </a:r>
            <a:endParaRPr sz="1600">
              <a:solidFill>
                <a:srgbClr val="FF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49"/>
          <p:cNvSpPr txBox="1">
            <a:spLocks noGrp="1"/>
          </p:cNvSpPr>
          <p:nvPr>
            <p:ph type="body" idx="1"/>
          </p:nvPr>
        </p:nvSpPr>
        <p:spPr>
          <a:xfrm>
            <a:off x="172900" y="1019325"/>
            <a:ext cx="8520600" cy="5727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a:solidFill>
                  <a:schemeClr val="dk1"/>
                </a:solidFill>
              </a:rPr>
              <a:t>Keep in mind:</a:t>
            </a:r>
            <a:endParaRPr sz="1400">
              <a:solidFill>
                <a:schemeClr val="dk1"/>
              </a:solidFill>
            </a:endParaRPr>
          </a:p>
          <a:p>
            <a:pPr marL="0" lvl="0" indent="0" algn="l" rtl="0">
              <a:lnSpc>
                <a:spcPct val="150000"/>
              </a:lnSpc>
              <a:spcBef>
                <a:spcPts val="0"/>
              </a:spcBef>
              <a:spcAft>
                <a:spcPts val="0"/>
              </a:spcAft>
              <a:buNone/>
            </a:pPr>
            <a:endParaRPr sz="7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Magnetic stands for 1.5 ml tubes usually accommodate only 8 tubes at a time</a:t>
            </a:r>
            <a:endParaRPr sz="1400">
              <a:solidFill>
                <a:schemeClr val="dk1"/>
              </a:solidFill>
            </a:endParaRPr>
          </a:p>
          <a:p>
            <a:pPr marL="0" lvl="0" indent="0" algn="l" rtl="0">
              <a:lnSpc>
                <a:spcPct val="150000"/>
              </a:lnSpc>
              <a:spcBef>
                <a:spcPts val="0"/>
              </a:spcBef>
              <a:spcAft>
                <a:spcPts val="0"/>
              </a:spcAft>
              <a:buNone/>
            </a:pPr>
            <a:endParaRPr sz="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Cross-contamination should be avoided as much as possible!!</a:t>
            </a:r>
            <a:endParaRPr sz="1400">
              <a:solidFill>
                <a:schemeClr val="dk1"/>
              </a:solidFill>
            </a:endParaRPr>
          </a:p>
          <a:p>
            <a:pPr marL="914400" lvl="1" indent="-317500" algn="l" rtl="0">
              <a:lnSpc>
                <a:spcPct val="150000"/>
              </a:lnSpc>
              <a:spcBef>
                <a:spcPts val="0"/>
              </a:spcBef>
              <a:spcAft>
                <a:spcPts val="0"/>
              </a:spcAft>
              <a:buClr>
                <a:schemeClr val="dk1"/>
              </a:buClr>
              <a:buSzPts val="1400"/>
              <a:buChar char="○"/>
            </a:pPr>
            <a:r>
              <a:rPr lang="en" sz="1400">
                <a:solidFill>
                  <a:schemeClr val="dk1"/>
                </a:solidFill>
              </a:rPr>
              <a:t>Process samples with high pathogen content separately from samples with low pathogen content (if you can)</a:t>
            </a:r>
            <a:endParaRPr sz="1400">
              <a:solidFill>
                <a:schemeClr val="dk1"/>
              </a:solidFill>
            </a:endParaRPr>
          </a:p>
          <a:p>
            <a:pPr marL="457200" lvl="0" indent="0" algn="l" rtl="0">
              <a:lnSpc>
                <a:spcPct val="150000"/>
              </a:lnSpc>
              <a:spcBef>
                <a:spcPts val="0"/>
              </a:spcBef>
              <a:spcAft>
                <a:spcPts val="0"/>
              </a:spcAft>
              <a:buNone/>
            </a:pPr>
            <a:endParaRPr sz="400">
              <a:solidFill>
                <a:schemeClr val="dk1"/>
              </a:solidFill>
            </a:endParaRPr>
          </a:p>
          <a:p>
            <a:pPr marL="914400" lvl="1" indent="-317500" algn="l" rtl="0">
              <a:lnSpc>
                <a:spcPct val="150000"/>
              </a:lnSpc>
              <a:spcBef>
                <a:spcPts val="0"/>
              </a:spcBef>
              <a:spcAft>
                <a:spcPts val="0"/>
              </a:spcAft>
              <a:buClr>
                <a:schemeClr val="dk1"/>
              </a:buClr>
              <a:buSzPts val="1400"/>
              <a:buChar char="○"/>
            </a:pPr>
            <a:r>
              <a:rPr lang="en" sz="1400">
                <a:solidFill>
                  <a:schemeClr val="dk1"/>
                </a:solidFill>
              </a:rPr>
              <a:t>Use water controls to estimate the level of cross-contamination</a:t>
            </a:r>
            <a:endParaRPr sz="1400">
              <a:solidFill>
                <a:schemeClr val="dk1"/>
              </a:solidFill>
            </a:endParaRPr>
          </a:p>
          <a:p>
            <a:pPr marL="1371600" marR="0" lvl="2" indent="-317500" algn="l" rtl="0">
              <a:lnSpc>
                <a:spcPct val="150000"/>
              </a:lnSpc>
              <a:spcBef>
                <a:spcPts val="0"/>
              </a:spcBef>
              <a:spcAft>
                <a:spcPts val="0"/>
              </a:spcAft>
              <a:buClr>
                <a:schemeClr val="dk1"/>
              </a:buClr>
              <a:buSzPts val="1400"/>
              <a:buChar char="■"/>
            </a:pPr>
            <a:r>
              <a:rPr lang="en">
                <a:solidFill>
                  <a:schemeClr val="dk1"/>
                </a:solidFill>
              </a:rPr>
              <a:t>Space out samples with water controls, and/or empty spots in the magnetic rack</a:t>
            </a:r>
            <a:endParaRPr>
              <a:solidFill>
                <a:schemeClr val="dk1"/>
              </a:solidFill>
            </a:endParaRPr>
          </a:p>
          <a:p>
            <a:pPr marL="1371600" lvl="2" indent="-317500" algn="l" rtl="0">
              <a:lnSpc>
                <a:spcPct val="150000"/>
              </a:lnSpc>
              <a:spcBef>
                <a:spcPts val="0"/>
              </a:spcBef>
              <a:spcAft>
                <a:spcPts val="0"/>
              </a:spcAft>
              <a:buClr>
                <a:schemeClr val="dk1"/>
              </a:buClr>
              <a:buSzPts val="1400"/>
              <a:buChar char="■"/>
            </a:pPr>
            <a:r>
              <a:rPr lang="en">
                <a:solidFill>
                  <a:schemeClr val="dk1"/>
                </a:solidFill>
              </a:rPr>
              <a:t>E.g. for 4 samples:</a:t>
            </a:r>
            <a:endParaRPr>
              <a:solidFill>
                <a:schemeClr val="dk1"/>
              </a:solidFill>
            </a:endParaRPr>
          </a:p>
          <a:p>
            <a:pPr marL="1371600" lvl="0" indent="0" algn="l" rtl="0">
              <a:lnSpc>
                <a:spcPct val="150000"/>
              </a:lnSpc>
              <a:spcBef>
                <a:spcPts val="0"/>
              </a:spcBef>
              <a:spcAft>
                <a:spcPts val="0"/>
              </a:spcAft>
              <a:buNone/>
            </a:pPr>
            <a:endParaRPr>
              <a:solidFill>
                <a:schemeClr val="dk1"/>
              </a:solidFill>
            </a:endParaRPr>
          </a:p>
          <a:p>
            <a:pPr marL="0" lvl="0" indent="0" algn="l" rtl="0">
              <a:lnSpc>
                <a:spcPct val="150000"/>
              </a:lnSpc>
              <a:spcBef>
                <a:spcPts val="0"/>
              </a:spcBef>
              <a:spcAft>
                <a:spcPts val="0"/>
              </a:spcAft>
              <a:buNone/>
            </a:pPr>
            <a:endParaRPr sz="1400">
              <a:solidFill>
                <a:schemeClr val="dk1"/>
              </a:solidFill>
            </a:endParaRPr>
          </a:p>
          <a:p>
            <a:pPr marL="1371600" lvl="0" indent="0" algn="l" rtl="0">
              <a:lnSpc>
                <a:spcPct val="150000"/>
              </a:lnSpc>
              <a:spcBef>
                <a:spcPts val="0"/>
              </a:spcBef>
              <a:spcAft>
                <a:spcPts val="0"/>
              </a:spcAft>
              <a:buNone/>
            </a:pPr>
            <a:endParaRPr>
              <a:solidFill>
                <a:schemeClr val="dk1"/>
              </a:solidFill>
            </a:endParaRPr>
          </a:p>
        </p:txBody>
      </p:sp>
      <p:pic>
        <p:nvPicPr>
          <p:cNvPr id="428" name="Google Shape;428;p49"/>
          <p:cNvPicPr preferRelativeResize="0"/>
          <p:nvPr/>
        </p:nvPicPr>
        <p:blipFill>
          <a:blip r:embed="rId3">
            <a:alphaModFix/>
          </a:blip>
          <a:stretch>
            <a:fillRect/>
          </a:stretch>
        </p:blipFill>
        <p:spPr>
          <a:xfrm>
            <a:off x="3492436" y="3964147"/>
            <a:ext cx="473250" cy="792774"/>
          </a:xfrm>
          <a:prstGeom prst="rect">
            <a:avLst/>
          </a:prstGeom>
          <a:noFill/>
          <a:ln>
            <a:noFill/>
          </a:ln>
        </p:spPr>
      </p:pic>
      <p:pic>
        <p:nvPicPr>
          <p:cNvPr id="429" name="Google Shape;429;p49"/>
          <p:cNvPicPr preferRelativeResize="0"/>
          <p:nvPr/>
        </p:nvPicPr>
        <p:blipFill>
          <a:blip r:embed="rId3">
            <a:alphaModFix/>
          </a:blip>
          <a:stretch>
            <a:fillRect/>
          </a:stretch>
        </p:blipFill>
        <p:spPr>
          <a:xfrm>
            <a:off x="4073672" y="3964147"/>
            <a:ext cx="473250" cy="792774"/>
          </a:xfrm>
          <a:prstGeom prst="rect">
            <a:avLst/>
          </a:prstGeom>
          <a:noFill/>
          <a:ln>
            <a:noFill/>
          </a:ln>
        </p:spPr>
      </p:pic>
      <p:pic>
        <p:nvPicPr>
          <p:cNvPr id="430" name="Google Shape;430;p49"/>
          <p:cNvPicPr preferRelativeResize="0"/>
          <p:nvPr/>
        </p:nvPicPr>
        <p:blipFill>
          <a:blip r:embed="rId3">
            <a:alphaModFix/>
          </a:blip>
          <a:stretch>
            <a:fillRect/>
          </a:stretch>
        </p:blipFill>
        <p:spPr>
          <a:xfrm>
            <a:off x="4654909" y="3964147"/>
            <a:ext cx="473250" cy="792774"/>
          </a:xfrm>
          <a:prstGeom prst="rect">
            <a:avLst/>
          </a:prstGeom>
          <a:noFill/>
          <a:ln>
            <a:noFill/>
          </a:ln>
        </p:spPr>
      </p:pic>
      <p:pic>
        <p:nvPicPr>
          <p:cNvPr id="431" name="Google Shape;431;p49"/>
          <p:cNvPicPr preferRelativeResize="0"/>
          <p:nvPr/>
        </p:nvPicPr>
        <p:blipFill>
          <a:blip r:embed="rId3">
            <a:alphaModFix/>
          </a:blip>
          <a:stretch>
            <a:fillRect/>
          </a:stretch>
        </p:blipFill>
        <p:spPr>
          <a:xfrm>
            <a:off x="5236145" y="3964147"/>
            <a:ext cx="473250" cy="792774"/>
          </a:xfrm>
          <a:prstGeom prst="rect">
            <a:avLst/>
          </a:prstGeom>
          <a:noFill/>
          <a:ln>
            <a:noFill/>
          </a:ln>
        </p:spPr>
      </p:pic>
      <p:pic>
        <p:nvPicPr>
          <p:cNvPr id="432" name="Google Shape;432;p49"/>
          <p:cNvPicPr preferRelativeResize="0"/>
          <p:nvPr/>
        </p:nvPicPr>
        <p:blipFill>
          <a:blip r:embed="rId3">
            <a:alphaModFix/>
          </a:blip>
          <a:stretch>
            <a:fillRect/>
          </a:stretch>
        </p:blipFill>
        <p:spPr>
          <a:xfrm>
            <a:off x="5817382" y="3964147"/>
            <a:ext cx="473250" cy="792774"/>
          </a:xfrm>
          <a:prstGeom prst="rect">
            <a:avLst/>
          </a:prstGeom>
          <a:noFill/>
          <a:ln>
            <a:noFill/>
          </a:ln>
        </p:spPr>
      </p:pic>
      <p:sp>
        <p:nvSpPr>
          <p:cNvPr id="433" name="Google Shape;433;p49"/>
          <p:cNvSpPr txBox="1"/>
          <p:nvPr/>
        </p:nvSpPr>
        <p:spPr>
          <a:xfrm>
            <a:off x="3568625"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sample</a:t>
            </a:r>
            <a:endParaRPr sz="1200"/>
          </a:p>
        </p:txBody>
      </p:sp>
      <p:sp>
        <p:nvSpPr>
          <p:cNvPr id="434" name="Google Shape;434;p49"/>
          <p:cNvSpPr txBox="1"/>
          <p:nvPr/>
        </p:nvSpPr>
        <p:spPr>
          <a:xfrm>
            <a:off x="4718975"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sample</a:t>
            </a:r>
            <a:endParaRPr sz="1200"/>
          </a:p>
        </p:txBody>
      </p:sp>
      <p:sp>
        <p:nvSpPr>
          <p:cNvPr id="435" name="Google Shape;435;p49"/>
          <p:cNvSpPr txBox="1"/>
          <p:nvPr/>
        </p:nvSpPr>
        <p:spPr>
          <a:xfrm>
            <a:off x="5869325"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sample</a:t>
            </a:r>
            <a:endParaRPr sz="1200"/>
          </a:p>
        </p:txBody>
      </p:sp>
      <p:sp>
        <p:nvSpPr>
          <p:cNvPr id="436" name="Google Shape;436;p49"/>
          <p:cNvSpPr txBox="1"/>
          <p:nvPr/>
        </p:nvSpPr>
        <p:spPr>
          <a:xfrm>
            <a:off x="4105700"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H</a:t>
            </a:r>
            <a:r>
              <a:rPr lang="en" sz="1200" baseline="-25000"/>
              <a:t>2</a:t>
            </a:r>
            <a:r>
              <a:rPr lang="en" sz="1200"/>
              <a:t>O</a:t>
            </a:r>
            <a:endParaRPr sz="1200"/>
          </a:p>
        </p:txBody>
      </p:sp>
      <p:sp>
        <p:nvSpPr>
          <p:cNvPr id="437" name="Google Shape;437;p49"/>
          <p:cNvSpPr txBox="1"/>
          <p:nvPr/>
        </p:nvSpPr>
        <p:spPr>
          <a:xfrm>
            <a:off x="5256050"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H</a:t>
            </a:r>
            <a:r>
              <a:rPr lang="en" sz="1200" baseline="-25000"/>
              <a:t>2</a:t>
            </a:r>
            <a:r>
              <a:rPr lang="en" sz="1200"/>
              <a:t>O</a:t>
            </a:r>
            <a:endParaRPr sz="1200"/>
          </a:p>
        </p:txBody>
      </p:sp>
      <p:pic>
        <p:nvPicPr>
          <p:cNvPr id="438" name="Google Shape;438;p49"/>
          <p:cNvPicPr preferRelativeResize="0"/>
          <p:nvPr/>
        </p:nvPicPr>
        <p:blipFill>
          <a:blip r:embed="rId3">
            <a:alphaModFix/>
          </a:blip>
          <a:stretch>
            <a:fillRect/>
          </a:stretch>
        </p:blipFill>
        <p:spPr>
          <a:xfrm>
            <a:off x="6398618" y="3964147"/>
            <a:ext cx="473250" cy="792774"/>
          </a:xfrm>
          <a:prstGeom prst="rect">
            <a:avLst/>
          </a:prstGeom>
          <a:noFill/>
          <a:ln>
            <a:noFill/>
          </a:ln>
        </p:spPr>
      </p:pic>
      <p:pic>
        <p:nvPicPr>
          <p:cNvPr id="439" name="Google Shape;439;p49"/>
          <p:cNvPicPr preferRelativeResize="0"/>
          <p:nvPr/>
        </p:nvPicPr>
        <p:blipFill>
          <a:blip r:embed="rId3">
            <a:alphaModFix/>
          </a:blip>
          <a:stretch>
            <a:fillRect/>
          </a:stretch>
        </p:blipFill>
        <p:spPr>
          <a:xfrm>
            <a:off x="6979855" y="3964147"/>
            <a:ext cx="473250" cy="792774"/>
          </a:xfrm>
          <a:prstGeom prst="rect">
            <a:avLst/>
          </a:prstGeom>
          <a:noFill/>
          <a:ln>
            <a:noFill/>
          </a:ln>
        </p:spPr>
      </p:pic>
      <p:pic>
        <p:nvPicPr>
          <p:cNvPr id="440" name="Google Shape;440;p49"/>
          <p:cNvPicPr preferRelativeResize="0"/>
          <p:nvPr/>
        </p:nvPicPr>
        <p:blipFill>
          <a:blip r:embed="rId3">
            <a:alphaModFix/>
          </a:blip>
          <a:stretch>
            <a:fillRect/>
          </a:stretch>
        </p:blipFill>
        <p:spPr>
          <a:xfrm>
            <a:off x="7561091" y="3964147"/>
            <a:ext cx="473250" cy="792774"/>
          </a:xfrm>
          <a:prstGeom prst="rect">
            <a:avLst/>
          </a:prstGeom>
          <a:noFill/>
          <a:ln>
            <a:noFill/>
          </a:ln>
        </p:spPr>
      </p:pic>
      <p:sp>
        <p:nvSpPr>
          <p:cNvPr id="441" name="Google Shape;441;p49"/>
          <p:cNvSpPr txBox="1"/>
          <p:nvPr/>
        </p:nvSpPr>
        <p:spPr>
          <a:xfrm>
            <a:off x="6406400"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H</a:t>
            </a:r>
            <a:r>
              <a:rPr lang="en" sz="1200" baseline="-25000"/>
              <a:t>2</a:t>
            </a:r>
            <a:r>
              <a:rPr lang="en" sz="1200"/>
              <a:t>O</a:t>
            </a:r>
            <a:endParaRPr sz="1200"/>
          </a:p>
        </p:txBody>
      </p:sp>
      <p:sp>
        <p:nvSpPr>
          <p:cNvPr id="442" name="Google Shape;442;p49"/>
          <p:cNvSpPr txBox="1"/>
          <p:nvPr/>
        </p:nvSpPr>
        <p:spPr>
          <a:xfrm>
            <a:off x="7556750"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empty</a:t>
            </a:r>
            <a:endParaRPr sz="1200"/>
          </a:p>
        </p:txBody>
      </p:sp>
      <p:sp>
        <p:nvSpPr>
          <p:cNvPr id="443" name="Google Shape;443;p49"/>
          <p:cNvSpPr txBox="1"/>
          <p:nvPr/>
        </p:nvSpPr>
        <p:spPr>
          <a:xfrm>
            <a:off x="6969400"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sample</a:t>
            </a:r>
            <a:endParaRPr sz="1200"/>
          </a:p>
        </p:txBody>
      </p:sp>
      <p:pic>
        <p:nvPicPr>
          <p:cNvPr id="444" name="Google Shape;444;p49"/>
          <p:cNvPicPr preferRelativeResize="0"/>
          <p:nvPr/>
        </p:nvPicPr>
        <p:blipFill>
          <a:blip r:embed="rId4">
            <a:alphaModFix/>
          </a:blip>
          <a:stretch>
            <a:fillRect/>
          </a:stretch>
        </p:blipFill>
        <p:spPr>
          <a:xfrm rot="1149625">
            <a:off x="303810" y="289397"/>
            <a:ext cx="477581" cy="572204"/>
          </a:xfrm>
          <a:prstGeom prst="rect">
            <a:avLst/>
          </a:prstGeom>
          <a:noFill/>
          <a:ln>
            <a:noFill/>
          </a:ln>
        </p:spPr>
      </p:pic>
      <p:sp>
        <p:nvSpPr>
          <p:cNvPr id="445" name="Google Shape;445;p49"/>
          <p:cNvSpPr txBox="1">
            <a:spLocks noGrp="1"/>
          </p:cNvSpPr>
          <p:nvPr>
            <p:ph type="title"/>
          </p:nvPr>
        </p:nvSpPr>
        <p:spPr>
          <a:xfrm>
            <a:off x="939400" y="252725"/>
            <a:ext cx="262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xNA extraction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50"/>
          <p:cNvSpPr txBox="1"/>
          <p:nvPr/>
        </p:nvSpPr>
        <p:spPr>
          <a:xfrm>
            <a:off x="252225" y="1888400"/>
            <a:ext cx="8747700" cy="129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3200" b="1" dirty="0">
                <a:solidFill>
                  <a:srgbClr val="D9D9D9"/>
                </a:solidFill>
              </a:rPr>
              <a:t>Next : 03_Lab setup and sample prep</a:t>
            </a:r>
            <a:endParaRPr sz="3200" b="1" dirty="0">
              <a:solidFill>
                <a:srgbClr val="D9D9D9"/>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TotalTime>
  <Words>3826</Words>
  <Application>Microsoft Macintosh PowerPoint</Application>
  <PresentationFormat>On-screen Show (16:9)</PresentationFormat>
  <Paragraphs>1341</Paragraphs>
  <Slides>39</Slides>
  <Notes>35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39</vt:i4>
      </vt:variant>
    </vt:vector>
  </HeadingPairs>
  <TitlesOfParts>
    <vt:vector size="50" baseType="lpstr">
      <vt:lpstr>Helvetica Neue</vt:lpstr>
      <vt:lpstr>Arial</vt:lpstr>
      <vt:lpstr>Courier New</vt:lpstr>
      <vt:lpstr>Roboto</vt:lpstr>
      <vt:lpstr>Roboto Light</vt:lpstr>
      <vt:lpstr>Noto Sans Symbols</vt:lpstr>
      <vt:lpstr>Inter Var</vt:lpstr>
      <vt:lpstr>inherit</vt:lpstr>
      <vt:lpstr>Calibri</vt:lpstr>
      <vt:lpstr>Simple Light</vt:lpstr>
      <vt:lpstr>Simple Light</vt:lpstr>
      <vt:lpstr>mNGS  Study design and sample prepration</vt:lpstr>
      <vt:lpstr>Key points to learn in this session</vt:lpstr>
      <vt:lpstr>PowerPoint Presentation</vt:lpstr>
      <vt:lpstr>mNGS pipeline</vt:lpstr>
      <vt:lpstr>Good study design is essential for mNGS!</vt:lpstr>
      <vt:lpstr>Some use cases for mNGS</vt:lpstr>
      <vt:lpstr>Pathogen landscape</vt:lpstr>
      <vt:lpstr>Sample type</vt:lpstr>
      <vt:lpstr>PowerPoint Presentation</vt:lpstr>
      <vt:lpstr>PowerPoint Presentation</vt:lpstr>
      <vt:lpstr>Study controls are CRUCIAL to make sense of sequencing data</vt:lpstr>
      <vt:lpstr>Study subject include known positive and negative samples</vt:lpstr>
      <vt:lpstr>Value of positive samples to assess detection and sensibility</vt:lpstr>
      <vt:lpstr>PowerPoint Presentation</vt:lpstr>
      <vt:lpstr>Sample selection for sequencing</vt:lpstr>
      <vt:lpstr>Understanding the sensitivity/specificity of mNGS </vt:lpstr>
      <vt:lpstr>Sample preservation</vt:lpstr>
      <vt:lpstr>Sample storahe</vt:lpstr>
      <vt:lpstr>Study design</vt:lpstr>
      <vt:lpstr>PowerPoint Presentation</vt:lpstr>
      <vt:lpstr>PowerPoint Presentation</vt:lpstr>
      <vt:lpstr>PowerPoint Presentation</vt:lpstr>
      <vt:lpstr>PowerPoint Presentation</vt:lpstr>
      <vt:lpstr>PowerPoint Presentation</vt:lpstr>
      <vt:lpstr>Practice scenario: You have been tasked to conduct a study to investigate a potential outbreak at a wet market. Various types of birds (chickens, ducks) are handled and sold here. Recently, a number of animals, as well as people handling them, have been getting sick with respiratory symptoms. </vt:lpstr>
      <vt:lpstr>Practice scenario: You have been tasked to conduct a study to investigate a potential outbreak at a wet market. Various types of birds (chickens, ducks) are handled and sold here. Recently, a number of animals, as well as people handling them, have been getting sick with respiratory symptoms. </vt:lpstr>
      <vt:lpstr>Use case: Saha et al., mBio, 2019</vt:lpstr>
      <vt:lpstr>Use case: Saha et al., mBio, 2019</vt:lpstr>
      <vt:lpstr>Use case: Saha et al., mBio, 2019</vt:lpstr>
      <vt:lpstr>Use case: Saha et al., mBio, 2019</vt:lpstr>
      <vt:lpstr>Use case: Batson et al., eLife 2021</vt:lpstr>
      <vt:lpstr>Use case: Batson et al., eLife 2021</vt:lpstr>
      <vt:lpstr>Use case: Ramesh et al., Scientific Reports 2021</vt:lpstr>
      <vt:lpstr>PowerPoint Presentation</vt:lpstr>
      <vt:lpstr>xNA extraction</vt:lpstr>
      <vt:lpstr>xNA extraction</vt:lpstr>
      <vt:lpstr>xNA extraction</vt:lpstr>
      <vt:lpstr>xNA extraction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Juliana Gil</cp:lastModifiedBy>
  <cp:revision>5</cp:revision>
  <dcterms:modified xsi:type="dcterms:W3CDTF">2026-10-08T23:34:15Z</dcterms:modified>
</cp:coreProperties>
</file>