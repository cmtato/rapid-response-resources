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12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9"/>
    <p:restoredTop sz="94658"/>
  </p:normalViewPr>
  <p:slideViewPr>
    <p:cSldViewPr snapToGrid="0">
      <p:cViewPr varScale="1">
        <p:scale>
          <a:sx n="154" d="100"/>
          <a:sy n="154" d="100"/>
        </p:scale>
        <p:origin x="64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de9a8a081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de9a8a081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de9a8a0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de9a8a0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on Sequence icon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de9a8a08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6de9a8a08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door will open so have the cartridge loaded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de9a8a08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de9a8a08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de9a8a08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de9a8a08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de9a8a08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de9a8a08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Maximum number of cycles allowed is 322.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de9a8a08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de9a8a08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6de9a8a08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6de9a8a08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Ours doesn't look like this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de9a8a08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6de9a8a08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6de9a8a081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6de9a8a081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de9a8a08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de9a8a081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e3ffa0ae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6e3ffa0ae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de9a8a081_3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de9a8a081_3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de9a8a08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de9a8a08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de9a8a08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6de9a8a08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support by phone or email has quick turnaround time. Don’t hesitate to reach out if you run into any issues when loading, or if you need to troubleshoot a run.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de9a8a08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de9a8a08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6de9a8a08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6de9a8a08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d3bc517b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d3bc517b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de9a8a08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6de9a8a08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6de9a8a08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6de9a8a081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6de9a8a08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6de9a8a08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7aab200c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7aab200c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de9a8a08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6de9a8a08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adding the systems control software _ ask vida I’m forgetting the name of what vida downloaded for us to view the runs viewer?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2e78a24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2" name="Google Shape;412;g822e78a24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141825"/>
            <a:ext cx="8520600" cy="10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iSeq</a:t>
            </a:r>
            <a:r>
              <a:rPr lang="en" dirty="0"/>
              <a:t> 100 Loading</a:t>
            </a:r>
            <a:endParaRPr dirty="0"/>
          </a:p>
        </p:txBody>
      </p:sp>
      <p:sp>
        <p:nvSpPr>
          <p:cNvPr id="58" name="Google Shape;58;p13"/>
          <p:cNvSpPr txBox="1"/>
          <p:nvPr/>
        </p:nvSpPr>
        <p:spPr>
          <a:xfrm>
            <a:off x="387900" y="19959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595959"/>
                </a:solidFill>
              </a:rPr>
              <a:t>A step-by-step guide</a:t>
            </a:r>
            <a:br>
              <a:rPr lang="en" sz="2800" dirty="0">
                <a:solidFill>
                  <a:srgbClr val="595959"/>
                </a:solidFill>
              </a:rPr>
            </a:b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00" y="2555040"/>
            <a:ext cx="2463350" cy="25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825292-D22D-C158-136D-38A0C37DDDFF}"/>
              </a:ext>
            </a:extLst>
          </p:cNvPr>
          <p:cNvSpPr txBox="1"/>
          <p:nvPr/>
        </p:nvSpPr>
        <p:spPr>
          <a:xfrm>
            <a:off x="6752338" y="4835744"/>
            <a:ext cx="2530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Jan 2026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Loading...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4524" y="3649700"/>
            <a:ext cx="1393500" cy="14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7683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Thaw Reagent Cartridge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Overnight in 4</a:t>
            </a:r>
            <a:r>
              <a:rPr lang="en" baseline="30000"/>
              <a:t>o</a:t>
            </a:r>
            <a:r>
              <a:rPr lang="en"/>
              <a:t>C or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 hours in room temperature water bath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Take out flow cell from 4</a:t>
            </a:r>
            <a:r>
              <a:rPr lang="en" sz="1400" baseline="30000"/>
              <a:t>o</a:t>
            </a:r>
            <a:r>
              <a:rPr lang="en"/>
              <a:t>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least 30 minutes before loading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Dilute library to loading concentration (75pM or optimized concentrations)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Spike in 1% PhiX (default)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Invert the cartridge 5 times then tap gently on 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 flow cell into slot (B) in cartridge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Carefully pierce foil with a pipette tip. Do not touch bottom of loading well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 20µL of library into cartridge (C)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7375" y="257275"/>
            <a:ext cx="2538075" cy="21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7995000" y="3220100"/>
            <a:ext cx="1099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cell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946975" y="586600"/>
            <a:ext cx="1050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6615025" y="85925"/>
            <a:ext cx="1099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Cartridge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00" y="128513"/>
            <a:ext cx="7293174" cy="455822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5267575" y="2407150"/>
            <a:ext cx="258000" cy="2343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00" y="181025"/>
            <a:ext cx="7250074" cy="45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25" y="8205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7682525" y="4308225"/>
            <a:ext cx="390900" cy="2109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4">
            <a:alphaModFix/>
          </a:blip>
          <a:srcRect l="18163" r="27715"/>
          <a:stretch/>
        </p:blipFill>
        <p:spPr>
          <a:xfrm>
            <a:off x="5595800" y="82050"/>
            <a:ext cx="3516929" cy="306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50" y="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4472350" y="3432900"/>
            <a:ext cx="2633700" cy="609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4146050" y="2760775"/>
            <a:ext cx="320400" cy="1797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>
            <a:off x="3165225" y="3845175"/>
            <a:ext cx="1219200" cy="4611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/>
          <p:nvPr/>
        </p:nvSpPr>
        <p:spPr>
          <a:xfrm>
            <a:off x="6949825" y="3698625"/>
            <a:ext cx="404400" cy="234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5703150" y="265750"/>
            <a:ext cx="3272400" cy="871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Refer to training presentation for samplesheet instructions. 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/>
          <p:nvPr/>
        </p:nvSpPr>
        <p:spPr>
          <a:xfrm>
            <a:off x="7635650" y="4360975"/>
            <a:ext cx="507900" cy="289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25" y="97675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5686750" y="621850"/>
            <a:ext cx="3298200" cy="12744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Pre-run checks will take ~15 minutes. Run starts automatically after the checks are completed.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iSeq Settings</a:t>
            </a:r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00" y="128513"/>
            <a:ext cx="7293174" cy="4558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/>
          <p:nvPr/>
        </p:nvSpPr>
        <p:spPr>
          <a:xfrm>
            <a:off x="359500" y="195375"/>
            <a:ext cx="1242600" cy="3831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628175" y="925925"/>
            <a:ext cx="24462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iSeq settings and options</a:t>
            </a:r>
            <a:endParaRPr/>
          </a:p>
        </p:txBody>
      </p:sp>
      <p:cxnSp>
        <p:nvCxnSpPr>
          <p:cNvPr id="144" name="Google Shape;144;p26"/>
          <p:cNvCxnSpPr/>
          <p:nvPr/>
        </p:nvCxnSpPr>
        <p:spPr>
          <a:xfrm rot="10800000">
            <a:off x="1246900" y="650525"/>
            <a:ext cx="149100" cy="332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/>
        </p:nvSpPr>
        <p:spPr>
          <a:xfrm>
            <a:off x="7636475" y="240150"/>
            <a:ext cx="891600" cy="4971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About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/>
          <p:nvPr/>
        </p:nvSpPr>
        <p:spPr>
          <a:xfrm>
            <a:off x="6493775" y="82075"/>
            <a:ext cx="2572200" cy="1375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System Check: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Remember to put in system test cartridge + flow cell.  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/>
          <p:nvPr/>
        </p:nvSpPr>
        <p:spPr>
          <a:xfrm>
            <a:off x="7346575" y="232350"/>
            <a:ext cx="1208100" cy="8298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System Settings</a:t>
            </a:r>
            <a:endParaRPr sz="1800"/>
          </a:p>
        </p:txBody>
      </p:sp>
      <p:sp>
        <p:nvSpPr>
          <p:cNvPr id="168" name="Google Shape;168;p30"/>
          <p:cNvSpPr txBox="1"/>
          <p:nvPr/>
        </p:nvSpPr>
        <p:spPr>
          <a:xfrm>
            <a:off x="7057525" y="1677225"/>
            <a:ext cx="2019300" cy="232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Using Express Settings will use </a:t>
            </a:r>
            <a:r>
              <a:rPr lang="en" sz="1200" b="1"/>
              <a:t>Local Run Manager</a:t>
            </a:r>
            <a:r>
              <a:rPr lang="en" sz="1200"/>
              <a:t> to create runs. (Different from training) 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 set up runs like we do in training, please select </a:t>
            </a:r>
            <a:r>
              <a:rPr lang="en" sz="1200" b="1"/>
              <a:t>Set up Manually</a:t>
            </a:r>
            <a:r>
              <a:rPr lang="en" sz="1200"/>
              <a:t> and in the Local Run Manager setting choose </a:t>
            </a:r>
            <a:r>
              <a:rPr lang="en" sz="1200" b="1"/>
              <a:t>Use Manual Mode. (Next Slide)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9" name="Google Shape;169;p30"/>
          <p:cNvSpPr/>
          <p:nvPr/>
        </p:nvSpPr>
        <p:spPr>
          <a:xfrm>
            <a:off x="2841425" y="4321325"/>
            <a:ext cx="1696800" cy="513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 rotWithShape="1">
          <a:blip r:embed="rId3">
            <a:alphaModFix/>
          </a:blip>
          <a:srcRect l="7819" t="24587" r="11736" b="36346"/>
          <a:stretch/>
        </p:blipFill>
        <p:spPr>
          <a:xfrm>
            <a:off x="591950" y="1172400"/>
            <a:ext cx="3748422" cy="2427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1"/>
          <p:cNvPicPr preferRelativeResize="0"/>
          <p:nvPr/>
        </p:nvPicPr>
        <p:blipFill rotWithShape="1">
          <a:blip r:embed="rId4">
            <a:alphaModFix/>
          </a:blip>
          <a:srcRect l="10222" t="22013" r="12688" b="39714"/>
          <a:stretch/>
        </p:blipFill>
        <p:spPr>
          <a:xfrm>
            <a:off x="4505450" y="1172397"/>
            <a:ext cx="3748422" cy="2481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2"/>
          <p:cNvSpPr txBox="1"/>
          <p:nvPr/>
        </p:nvSpPr>
        <p:spPr>
          <a:xfrm>
            <a:off x="6968825" y="78300"/>
            <a:ext cx="2079000" cy="26361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Set output folder to write to remote server or locally. Data is saved in two places, one copy in the output folder (defined here) and another in the local drive. </a:t>
            </a:r>
            <a:endParaRPr sz="1800"/>
          </a:p>
        </p:txBody>
      </p:sp>
      <p:sp>
        <p:nvSpPr>
          <p:cNvPr id="182" name="Google Shape;182;p32"/>
          <p:cNvSpPr/>
          <p:nvPr/>
        </p:nvSpPr>
        <p:spPr>
          <a:xfrm>
            <a:off x="1750650" y="1152025"/>
            <a:ext cx="4806300" cy="1364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/>
          <p:nvPr/>
        </p:nvSpPr>
        <p:spPr>
          <a:xfrm>
            <a:off x="730175" y="988550"/>
            <a:ext cx="2224200" cy="2583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3"/>
          <p:cNvSpPr txBox="1"/>
          <p:nvPr/>
        </p:nvSpPr>
        <p:spPr>
          <a:xfrm>
            <a:off x="6747625" y="1510175"/>
            <a:ext cx="2224200" cy="16347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Local copy on computer. Our sequencer also writes to our remote server.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5"/>
          <p:cNvSpPr/>
          <p:nvPr/>
        </p:nvSpPr>
        <p:spPr>
          <a:xfrm>
            <a:off x="66183" y="2002525"/>
            <a:ext cx="2083500" cy="4536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4192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6"/>
          <p:cNvSpPr txBox="1"/>
          <p:nvPr/>
        </p:nvSpPr>
        <p:spPr>
          <a:xfrm>
            <a:off x="7408800" y="204325"/>
            <a:ext cx="1617900" cy="27183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Process Management: 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Can delete runs here if your computer is running out of disk space 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0"/>
          <p:cNvSpPr txBox="1"/>
          <p:nvPr/>
        </p:nvSpPr>
        <p:spPr>
          <a:xfrm>
            <a:off x="252225" y="1888400"/>
            <a:ext cx="87477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Next: 08-I_Sequencing Run QC for Illumina – Slides &amp; Activity</a:t>
            </a:r>
            <a:endParaRPr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368</Words>
  <Application>Microsoft Macintosh PowerPoint</Application>
  <PresentationFormat>On-screen Show (16:9)</PresentationFormat>
  <Paragraphs>40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Simple Light</vt:lpstr>
      <vt:lpstr>iSeq 100 Loading</vt:lpstr>
      <vt:lpstr>Before Loading...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iSeq Settings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6</cp:revision>
  <dcterms:modified xsi:type="dcterms:W3CDTF">2026-10-08T23:25:40Z</dcterms:modified>
</cp:coreProperties>
</file>