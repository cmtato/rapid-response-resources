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3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7" r:id="rId21"/>
    <p:sldId id="278" r:id="rId22"/>
    <p:sldId id="279" r:id="rId23"/>
    <p:sldId id="280" r:id="rId24"/>
    <p:sldId id="295" r:id="rId25"/>
    <p:sldId id="303" r:id="rId26"/>
    <p:sldId id="290" r:id="rId27"/>
    <p:sldId id="291" r:id="rId28"/>
    <p:sldId id="296" r:id="rId29"/>
    <p:sldId id="297" r:id="rId30"/>
    <p:sldId id="298" r:id="rId31"/>
    <p:sldId id="299" r:id="rId32"/>
    <p:sldId id="300" r:id="rId33"/>
    <p:sldId id="301" r:id="rId34"/>
    <p:sldId id="302" r:id="rId35"/>
    <p:sldId id="304" r:id="rId36"/>
    <p:sldId id="305"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A4BB30-FB03-468B-BF0A-4766B58D19E2}">
  <a:tblStyle styleId="{7BA4BB30-FB03-468B-BF0A-4766B58D19E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78"/>
    <p:restoredTop sz="83836"/>
  </p:normalViewPr>
  <p:slideViewPr>
    <p:cSldViewPr snapToGrid="0">
      <p:cViewPr varScale="1">
        <p:scale>
          <a:sx n="135" d="100"/>
          <a:sy n="135" d="100"/>
        </p:scale>
        <p:origin x="157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83e0794f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83e0794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e1f6c4c711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e1f6c4c711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e1f6c4c711_0_6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e1f6c4c711_0_6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Two moments during lib prep to do QC: individual library and pooled library</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e1f6c4c71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e1f6c4c7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Ct &lt;15: dilute 1/10, rest use undiluted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e1f6c4c711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e1f6c4c711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e1f6c4c711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e1f6c4c711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RNA, guanidine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e1f6c4c711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e1f6c4c711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e1f6c4c711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e1f6c4c711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e22e6c0c8b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e22e6c0c8b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e1f6c4c711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e1f6c4c711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e1f6c4c711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e1f6c4c711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e1f6c4c711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e1f6c4c711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e15aa03c05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e15aa03c05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e1f6c4c711_0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e1f6c4c711_0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e1f6c4c711_0_6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e1f6c4c711_0_6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e1f6c4c711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e1f6c4c711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e2027d6293_0_2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ge2027d6293_0_2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Adapter dimers should be less than 1% of your total library</a:t>
            </a:r>
            <a:endParaRPr/>
          </a:p>
          <a:p>
            <a:pPr marL="0" lvl="0" indent="0" algn="l" rtl="0">
              <a:spcBef>
                <a:spcPts val="0"/>
              </a:spcBef>
              <a:spcAft>
                <a:spcPts val="0"/>
              </a:spcAft>
              <a:buNone/>
            </a:pPr>
            <a:r>
              <a:rPr lang="en"/>
              <a:t>P7: 24 nt p7 + 12 nt barcode + 2 nt + 32 nt adapter compl.</a:t>
            </a:r>
            <a:endParaRPr/>
          </a:p>
          <a:p>
            <a:pPr marL="0" lvl="0" indent="0" algn="l" rtl="0">
              <a:spcBef>
                <a:spcPts val="0"/>
              </a:spcBef>
              <a:spcAft>
                <a:spcPts val="0"/>
              </a:spcAft>
              <a:buNone/>
            </a:pPr>
            <a:r>
              <a:rPr lang="en"/>
              <a:t>P5: 20 nt p5 + 9 nt +12 nt barcode + 33 nt adapter compl.</a:t>
            </a:r>
            <a:endParaRPr/>
          </a:p>
        </p:txBody>
      </p:sp>
      <p:sp>
        <p:nvSpPr>
          <p:cNvPr id="629" name="Google Shape;629;ge2027d6293_0_2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e22e6c0c8b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ge22e6c0c8b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Adapter dimers should be less than 1% of your total library</a:t>
            </a:r>
            <a:endParaRPr/>
          </a:p>
          <a:p>
            <a:pPr marL="0" lvl="0" indent="0" algn="l" rtl="0">
              <a:spcBef>
                <a:spcPts val="0"/>
              </a:spcBef>
              <a:spcAft>
                <a:spcPts val="0"/>
              </a:spcAft>
              <a:buNone/>
            </a:pPr>
            <a:r>
              <a:rPr lang="en"/>
              <a:t>P7: 24 nt p7 + 12 nt barcode + 2 nt + 32 nt adapter compl.</a:t>
            </a:r>
            <a:endParaRPr/>
          </a:p>
          <a:p>
            <a:pPr marL="0" lvl="0" indent="0" algn="l" rtl="0">
              <a:spcBef>
                <a:spcPts val="0"/>
              </a:spcBef>
              <a:spcAft>
                <a:spcPts val="0"/>
              </a:spcAft>
              <a:buNone/>
            </a:pPr>
            <a:r>
              <a:rPr lang="en"/>
              <a:t>P5: 20 nt p5 + 9 nt +12 nt barcode + 33 nt adapter compl.</a:t>
            </a:r>
            <a:endParaRPr/>
          </a:p>
        </p:txBody>
      </p:sp>
      <p:sp>
        <p:nvSpPr>
          <p:cNvPr id="680" name="Google Shape;680;ge22e6c0c8b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e22e6c0c8b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e22e6c0c8b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moments during lib prep to do QC: individual library and pooled library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1c7af20c7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1c7af20c7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 sample has its own set of barcodes, so everything can be pooled.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1c7af20c7b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31c7af20c7b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b="0" i="0">
                <a:solidFill>
                  <a:schemeClr val="dk1"/>
                </a:solidFill>
                <a:latin typeface="Calibri"/>
                <a:ea typeface="Calibri"/>
                <a:cs typeface="Calibri"/>
                <a:sym typeface="Calibri"/>
              </a:rPr>
              <a:t>10 ng/ul would be a lot for a library -&gt; tone down PCR cycles next time</a:t>
            </a:r>
            <a:endParaRPr/>
          </a:p>
        </p:txBody>
      </p:sp>
      <p:sp>
        <p:nvSpPr>
          <p:cNvPr id="762" name="Google Shape;762;g31c7af20c7b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31c7af20c7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31c7af20c7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1c7af20c7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31c7af20c7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9f47f74587_1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9f47f74587_1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75e941176f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75e941176f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75e941176f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75e941176f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75e941176f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75e941176f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9f47f74587_1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9f47f74587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9f47f74587_1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9f47f74587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9f47f74587_1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9f47f74587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9f47f74587_1_1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9f47f74587_1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set multiple peak ranges as well</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9f47f74587_1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9f47f74587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9f47f74587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9f47f74587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9f47f74587_1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9f47f74587_1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57c4aa7f4f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57c4aa7f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57c4aa7f4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57c4aa7f4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6E344-5CD1-52B1-9AF1-86D9FC96F0B4}"/>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7507B1A-61F7-BF2A-9A13-222FFF99D64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C18518A-7E47-1CDB-52C4-87059A76D827}"/>
              </a:ext>
            </a:extLst>
          </p:cNvPr>
          <p:cNvSpPr>
            <a:spLocks noGrp="1"/>
          </p:cNvSpPr>
          <p:nvPr>
            <p:ph type="dt" sz="half" idx="10"/>
          </p:nvPr>
        </p:nvSpPr>
        <p:spPr/>
        <p:txBody>
          <a:bodyPr/>
          <a:lstStyle/>
          <a:p>
            <a:fld id="{69A87726-4FA3-874D-BB18-A7571339C091}" type="datetime1">
              <a:rPr lang="en-US" smtClean="0"/>
              <a:t>10/2/26</a:t>
            </a:fld>
            <a:endParaRPr lang="en-US"/>
          </a:p>
        </p:txBody>
      </p:sp>
      <p:sp>
        <p:nvSpPr>
          <p:cNvPr id="5" name="Footer Placeholder 4">
            <a:extLst>
              <a:ext uri="{FF2B5EF4-FFF2-40B4-BE49-F238E27FC236}">
                <a16:creationId xmlns:a16="http://schemas.microsoft.com/office/drawing/2014/main" id="{2C47FAF3-EB76-21F9-DC9E-B0D007685B5D}"/>
              </a:ext>
            </a:extLst>
          </p:cNvPr>
          <p:cNvSpPr>
            <a:spLocks noGrp="1"/>
          </p:cNvSpPr>
          <p:nvPr>
            <p:ph type="ftr" sz="quarter" idx="11"/>
          </p:nvPr>
        </p:nvSpPr>
        <p:spPr/>
        <p:txBody>
          <a:bodyPr/>
          <a:lstStyle/>
          <a:p>
            <a:r>
              <a:rPr lang="en-US"/>
              <a:t>Revised 01/12/2026</a:t>
            </a:r>
          </a:p>
        </p:txBody>
      </p:sp>
    </p:spTree>
    <p:extLst>
      <p:ext uri="{BB962C8B-B14F-4D97-AF65-F5344CB8AC3E}">
        <p14:creationId xmlns:p14="http://schemas.microsoft.com/office/powerpoint/2010/main" val="39963711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2F3F-915B-47EC-F2C8-39CEBD518F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27F3B-7404-E442-4CFF-563AD80B98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29F79-3992-8BF2-6579-A0B7C066F7EC}"/>
              </a:ext>
            </a:extLst>
          </p:cNvPr>
          <p:cNvSpPr>
            <a:spLocks noGrp="1"/>
          </p:cNvSpPr>
          <p:nvPr>
            <p:ph type="dt" sz="half" idx="10"/>
          </p:nvPr>
        </p:nvSpPr>
        <p:spPr/>
        <p:txBody>
          <a:bodyPr/>
          <a:lstStyle/>
          <a:p>
            <a:fld id="{5EB3E04E-4CFC-9A4F-AD2F-1A9D6850CE18}" type="datetime1">
              <a:rPr lang="en-US" smtClean="0"/>
              <a:t>10/2/26</a:t>
            </a:fld>
            <a:endParaRPr lang="en-US"/>
          </a:p>
        </p:txBody>
      </p:sp>
      <p:sp>
        <p:nvSpPr>
          <p:cNvPr id="5" name="Footer Placeholder 4">
            <a:extLst>
              <a:ext uri="{FF2B5EF4-FFF2-40B4-BE49-F238E27FC236}">
                <a16:creationId xmlns:a16="http://schemas.microsoft.com/office/drawing/2014/main" id="{70D2300B-B95B-E3F8-3259-3F0604CFD7ED}"/>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B076E737-C558-62E3-BFFD-1D0275E31F17}"/>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9752289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EE0A-DFC9-CD3E-85F2-90E23A8B3D9A}"/>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18E46C0-C910-7F35-4342-0FBE5C02208B}"/>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35FB62-98E2-94E3-DD43-8AEB3AAD7381}"/>
              </a:ext>
            </a:extLst>
          </p:cNvPr>
          <p:cNvSpPr>
            <a:spLocks noGrp="1"/>
          </p:cNvSpPr>
          <p:nvPr>
            <p:ph type="dt" sz="half" idx="10"/>
          </p:nvPr>
        </p:nvSpPr>
        <p:spPr/>
        <p:txBody>
          <a:bodyPr/>
          <a:lstStyle/>
          <a:p>
            <a:fld id="{C3EB35C1-7CFB-F44C-91B0-42D5D7ED7698}" type="datetime1">
              <a:rPr lang="en-US" smtClean="0"/>
              <a:t>10/2/26</a:t>
            </a:fld>
            <a:endParaRPr lang="en-US"/>
          </a:p>
        </p:txBody>
      </p:sp>
      <p:sp>
        <p:nvSpPr>
          <p:cNvPr id="5" name="Footer Placeholder 4">
            <a:extLst>
              <a:ext uri="{FF2B5EF4-FFF2-40B4-BE49-F238E27FC236}">
                <a16:creationId xmlns:a16="http://schemas.microsoft.com/office/drawing/2014/main" id="{D7A9DBC7-5B17-5B2E-18DC-5E4850841634}"/>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F436B35B-049B-C1E7-21C2-1ED5E494684C}"/>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83579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3EF6-782C-CD76-79AB-CC149F734F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FBE93-D1D6-42ED-6C6C-9FB96DF1C796}"/>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730353-A8EC-FAE3-E8DA-E79065BBF98B}"/>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5D51ED-2212-A11F-D4C2-CC4A73CD367F}"/>
              </a:ext>
            </a:extLst>
          </p:cNvPr>
          <p:cNvSpPr>
            <a:spLocks noGrp="1"/>
          </p:cNvSpPr>
          <p:nvPr>
            <p:ph type="dt" sz="half" idx="10"/>
          </p:nvPr>
        </p:nvSpPr>
        <p:spPr/>
        <p:txBody>
          <a:bodyPr/>
          <a:lstStyle/>
          <a:p>
            <a:fld id="{9D6624C9-0F3C-304F-8140-5EAEA870CDA2}" type="datetime1">
              <a:rPr lang="en-US" smtClean="0"/>
              <a:t>10/2/26</a:t>
            </a:fld>
            <a:endParaRPr lang="en-US"/>
          </a:p>
        </p:txBody>
      </p:sp>
      <p:sp>
        <p:nvSpPr>
          <p:cNvPr id="6" name="Footer Placeholder 5">
            <a:extLst>
              <a:ext uri="{FF2B5EF4-FFF2-40B4-BE49-F238E27FC236}">
                <a16:creationId xmlns:a16="http://schemas.microsoft.com/office/drawing/2014/main" id="{2D188AF9-16B7-F9AC-94E4-67618B025618}"/>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3546C1CE-6DFE-F894-7087-0D65C516F1DC}"/>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112197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48AD-9F9D-E491-275D-8928F334A8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D87CC1-75E5-A155-9109-06A84CD6232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A803473-8097-9CDA-EBB3-DA00A770C776}"/>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475FDC-3998-9801-1BFD-ACE6CE273F5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300A8-6438-2F26-D8F8-15CCC4466D8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DC652-3801-F4E8-07A1-7EE07A0060ED}"/>
              </a:ext>
            </a:extLst>
          </p:cNvPr>
          <p:cNvSpPr>
            <a:spLocks noGrp="1"/>
          </p:cNvSpPr>
          <p:nvPr>
            <p:ph type="dt" sz="half" idx="10"/>
          </p:nvPr>
        </p:nvSpPr>
        <p:spPr/>
        <p:txBody>
          <a:bodyPr/>
          <a:lstStyle/>
          <a:p>
            <a:fld id="{D0D59E4F-6627-5348-9577-C11DAD5FFD9A}" type="datetime1">
              <a:rPr lang="en-US" smtClean="0"/>
              <a:t>10/2/26</a:t>
            </a:fld>
            <a:endParaRPr lang="en-US"/>
          </a:p>
        </p:txBody>
      </p:sp>
      <p:sp>
        <p:nvSpPr>
          <p:cNvPr id="8" name="Footer Placeholder 7">
            <a:extLst>
              <a:ext uri="{FF2B5EF4-FFF2-40B4-BE49-F238E27FC236}">
                <a16:creationId xmlns:a16="http://schemas.microsoft.com/office/drawing/2014/main" id="{17E868BB-1354-66B0-27F3-E0DB4F34212D}"/>
              </a:ext>
            </a:extLst>
          </p:cNvPr>
          <p:cNvSpPr>
            <a:spLocks noGrp="1"/>
          </p:cNvSpPr>
          <p:nvPr>
            <p:ph type="ftr" sz="quarter" idx="11"/>
          </p:nvPr>
        </p:nvSpPr>
        <p:spPr/>
        <p:txBody>
          <a:bodyPr/>
          <a:lstStyle/>
          <a:p>
            <a:r>
              <a:rPr lang="en-US"/>
              <a:t>Revised 01/12/2026</a:t>
            </a:r>
          </a:p>
        </p:txBody>
      </p:sp>
      <p:sp>
        <p:nvSpPr>
          <p:cNvPr id="9" name="Slide Number Placeholder 8">
            <a:extLst>
              <a:ext uri="{FF2B5EF4-FFF2-40B4-BE49-F238E27FC236}">
                <a16:creationId xmlns:a16="http://schemas.microsoft.com/office/drawing/2014/main" id="{2033EC7B-E7AB-9386-4E1B-27C114E1ADCE}"/>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692021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01D5-EE3C-96B9-321B-815693E360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8C3E4A-A43D-E961-DB43-13ABB0315061}"/>
              </a:ext>
            </a:extLst>
          </p:cNvPr>
          <p:cNvSpPr>
            <a:spLocks noGrp="1"/>
          </p:cNvSpPr>
          <p:nvPr>
            <p:ph type="dt" sz="half" idx="10"/>
          </p:nvPr>
        </p:nvSpPr>
        <p:spPr/>
        <p:txBody>
          <a:bodyPr/>
          <a:lstStyle/>
          <a:p>
            <a:fld id="{1EF4B5CC-9DEA-9240-81BC-7AF2EE86BFC6}" type="datetime1">
              <a:rPr lang="en-US" smtClean="0"/>
              <a:t>10/2/26</a:t>
            </a:fld>
            <a:endParaRPr lang="en-US"/>
          </a:p>
        </p:txBody>
      </p:sp>
      <p:sp>
        <p:nvSpPr>
          <p:cNvPr id="4" name="Footer Placeholder 3">
            <a:extLst>
              <a:ext uri="{FF2B5EF4-FFF2-40B4-BE49-F238E27FC236}">
                <a16:creationId xmlns:a16="http://schemas.microsoft.com/office/drawing/2014/main" id="{6AC3C401-9340-0985-AB9B-7D658D92E0B6}"/>
              </a:ext>
            </a:extLst>
          </p:cNvPr>
          <p:cNvSpPr>
            <a:spLocks noGrp="1"/>
          </p:cNvSpPr>
          <p:nvPr>
            <p:ph type="ftr" sz="quarter" idx="11"/>
          </p:nvPr>
        </p:nvSpPr>
        <p:spPr/>
        <p:txBody>
          <a:bodyPr/>
          <a:lstStyle/>
          <a:p>
            <a:r>
              <a:rPr lang="en-US"/>
              <a:t>Revised 01/12/2026</a:t>
            </a:r>
          </a:p>
        </p:txBody>
      </p:sp>
      <p:sp>
        <p:nvSpPr>
          <p:cNvPr id="5" name="Slide Number Placeholder 4">
            <a:extLst>
              <a:ext uri="{FF2B5EF4-FFF2-40B4-BE49-F238E27FC236}">
                <a16:creationId xmlns:a16="http://schemas.microsoft.com/office/drawing/2014/main" id="{5DA2D15A-65CE-D895-1665-1D679B1ACC66}"/>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645510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D7BEC0-8C51-BDD5-A9E2-9E71B7F8C99B}"/>
              </a:ext>
            </a:extLst>
          </p:cNvPr>
          <p:cNvSpPr>
            <a:spLocks noGrp="1"/>
          </p:cNvSpPr>
          <p:nvPr>
            <p:ph type="dt" sz="half" idx="10"/>
          </p:nvPr>
        </p:nvSpPr>
        <p:spPr/>
        <p:txBody>
          <a:bodyPr/>
          <a:lstStyle/>
          <a:p>
            <a:fld id="{CF006042-E5D2-FB47-B745-8601A569802D}" type="datetime1">
              <a:rPr lang="en-US" smtClean="0"/>
              <a:t>10/2/26</a:t>
            </a:fld>
            <a:endParaRPr lang="en-US"/>
          </a:p>
        </p:txBody>
      </p:sp>
      <p:sp>
        <p:nvSpPr>
          <p:cNvPr id="3" name="Footer Placeholder 2">
            <a:extLst>
              <a:ext uri="{FF2B5EF4-FFF2-40B4-BE49-F238E27FC236}">
                <a16:creationId xmlns:a16="http://schemas.microsoft.com/office/drawing/2014/main" id="{8EDB83CC-97C7-7E29-DEC4-16DB3464B924}"/>
              </a:ext>
            </a:extLst>
          </p:cNvPr>
          <p:cNvSpPr>
            <a:spLocks noGrp="1"/>
          </p:cNvSpPr>
          <p:nvPr>
            <p:ph type="ftr" sz="quarter" idx="11"/>
          </p:nvPr>
        </p:nvSpPr>
        <p:spPr/>
        <p:txBody>
          <a:bodyPr/>
          <a:lstStyle/>
          <a:p>
            <a:r>
              <a:rPr lang="en-US"/>
              <a:t>Revised 01/12/2026</a:t>
            </a:r>
          </a:p>
        </p:txBody>
      </p:sp>
      <p:sp>
        <p:nvSpPr>
          <p:cNvPr id="4" name="Slide Number Placeholder 3">
            <a:extLst>
              <a:ext uri="{FF2B5EF4-FFF2-40B4-BE49-F238E27FC236}">
                <a16:creationId xmlns:a16="http://schemas.microsoft.com/office/drawing/2014/main" id="{3B79A276-D22B-85D1-768A-6448B46E7352}"/>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4240457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23CF-2B47-9299-B095-BC6A1C8315B9}"/>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55C39F5-2FB5-CA4F-98A0-5F0A4D93B36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7A983D-3ADA-891A-A9D2-7228EB36BB3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E5EEA9-5D3C-1515-69BE-B43ADA8EA8C4}"/>
              </a:ext>
            </a:extLst>
          </p:cNvPr>
          <p:cNvSpPr>
            <a:spLocks noGrp="1"/>
          </p:cNvSpPr>
          <p:nvPr>
            <p:ph type="dt" sz="half" idx="10"/>
          </p:nvPr>
        </p:nvSpPr>
        <p:spPr/>
        <p:txBody>
          <a:bodyPr/>
          <a:lstStyle/>
          <a:p>
            <a:fld id="{2341A8FE-1D67-6A40-9036-66958D4E30D0}" type="datetime1">
              <a:rPr lang="en-US" smtClean="0"/>
              <a:t>10/2/26</a:t>
            </a:fld>
            <a:endParaRPr lang="en-US"/>
          </a:p>
        </p:txBody>
      </p:sp>
      <p:sp>
        <p:nvSpPr>
          <p:cNvPr id="6" name="Footer Placeholder 5">
            <a:extLst>
              <a:ext uri="{FF2B5EF4-FFF2-40B4-BE49-F238E27FC236}">
                <a16:creationId xmlns:a16="http://schemas.microsoft.com/office/drawing/2014/main" id="{FB0D0C23-2506-D330-B35B-E99BF8411205}"/>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FA193FD5-11EC-8C8F-6CC3-49F9CED23DB0}"/>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2920488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B516-9674-08A7-46C8-C219A1A8F35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F8D2D-61CF-D69B-C1DB-9CF701A708A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CBE4159-B4E6-56B2-AEEE-931D2ACC72C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358CE5-0D70-FC57-4E6B-315302FBFE3D}"/>
              </a:ext>
            </a:extLst>
          </p:cNvPr>
          <p:cNvSpPr>
            <a:spLocks noGrp="1"/>
          </p:cNvSpPr>
          <p:nvPr>
            <p:ph type="dt" sz="half" idx="10"/>
          </p:nvPr>
        </p:nvSpPr>
        <p:spPr/>
        <p:txBody>
          <a:bodyPr/>
          <a:lstStyle/>
          <a:p>
            <a:fld id="{129B483C-948A-D448-92C1-802351E09A20}" type="datetime1">
              <a:rPr lang="en-US" smtClean="0"/>
              <a:t>10/2/26</a:t>
            </a:fld>
            <a:endParaRPr lang="en-US"/>
          </a:p>
        </p:txBody>
      </p:sp>
      <p:sp>
        <p:nvSpPr>
          <p:cNvPr id="6" name="Footer Placeholder 5">
            <a:extLst>
              <a:ext uri="{FF2B5EF4-FFF2-40B4-BE49-F238E27FC236}">
                <a16:creationId xmlns:a16="http://schemas.microsoft.com/office/drawing/2014/main" id="{E0AA3B5D-3814-A833-D8B8-D76A2CBB7793}"/>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6E1D15AE-59A8-53E4-124C-174234FC666F}"/>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785256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8D83-2562-03E8-95AD-D265FD5539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F6F67B-F89D-86AB-0010-F1D36E30C5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5F117-A36C-B9C1-3021-192276F05E10}"/>
              </a:ext>
            </a:extLst>
          </p:cNvPr>
          <p:cNvSpPr>
            <a:spLocks noGrp="1"/>
          </p:cNvSpPr>
          <p:nvPr>
            <p:ph type="dt" sz="half" idx="10"/>
          </p:nvPr>
        </p:nvSpPr>
        <p:spPr/>
        <p:txBody>
          <a:bodyPr/>
          <a:lstStyle/>
          <a:p>
            <a:fld id="{934B83CB-C8D1-094D-9FCC-20E4CC80E2A6}" type="datetime1">
              <a:rPr lang="en-US" smtClean="0"/>
              <a:t>10/2/26</a:t>
            </a:fld>
            <a:endParaRPr lang="en-US"/>
          </a:p>
        </p:txBody>
      </p:sp>
      <p:sp>
        <p:nvSpPr>
          <p:cNvPr id="5" name="Footer Placeholder 4">
            <a:extLst>
              <a:ext uri="{FF2B5EF4-FFF2-40B4-BE49-F238E27FC236}">
                <a16:creationId xmlns:a16="http://schemas.microsoft.com/office/drawing/2014/main" id="{EC265BB3-575B-05CB-8CCC-BF3573831E9E}"/>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B79C3427-2B99-F5B8-BEDB-6C35A75A9C7F}"/>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928337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47353-E0B6-9CC5-47F8-F69782D630E4}"/>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69AF06-27A6-1C37-337F-1779250B3081}"/>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E42D9E-6809-1A0C-3B83-5D8C8ABC019F}"/>
              </a:ext>
            </a:extLst>
          </p:cNvPr>
          <p:cNvSpPr>
            <a:spLocks noGrp="1"/>
          </p:cNvSpPr>
          <p:nvPr>
            <p:ph type="dt" sz="half" idx="10"/>
          </p:nvPr>
        </p:nvSpPr>
        <p:spPr/>
        <p:txBody>
          <a:bodyPr/>
          <a:lstStyle/>
          <a:p>
            <a:fld id="{0E878C9A-CB85-D64B-B4F3-FF9185177770}" type="datetime1">
              <a:rPr lang="en-US" smtClean="0"/>
              <a:t>10/2/26</a:t>
            </a:fld>
            <a:endParaRPr lang="en-US"/>
          </a:p>
        </p:txBody>
      </p:sp>
      <p:sp>
        <p:nvSpPr>
          <p:cNvPr id="5" name="Footer Placeholder 4">
            <a:extLst>
              <a:ext uri="{FF2B5EF4-FFF2-40B4-BE49-F238E27FC236}">
                <a16:creationId xmlns:a16="http://schemas.microsoft.com/office/drawing/2014/main" id="{6B56A586-784F-0EF1-6992-5C70855CBEB3}"/>
              </a:ext>
            </a:extLst>
          </p:cNvPr>
          <p:cNvSpPr>
            <a:spLocks noGrp="1"/>
          </p:cNvSpPr>
          <p:nvPr>
            <p:ph type="ftr" sz="quarter" idx="11"/>
          </p:nvPr>
        </p:nvSpPr>
        <p:spPr/>
        <p:txBody>
          <a:bodyPr/>
          <a:lstStyle/>
          <a:p>
            <a:r>
              <a:rPr lang="en-US"/>
              <a:t>Revised 01/12/2026</a:t>
            </a:r>
          </a:p>
        </p:txBody>
      </p:sp>
    </p:spTree>
    <p:extLst>
      <p:ext uri="{BB962C8B-B14F-4D97-AF65-F5344CB8AC3E}">
        <p14:creationId xmlns:p14="http://schemas.microsoft.com/office/powerpoint/2010/main" val="1921936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 name="Footer Placeholder 4">
            <a:extLst>
              <a:ext uri="{FF2B5EF4-FFF2-40B4-BE49-F238E27FC236}">
                <a16:creationId xmlns:a16="http://schemas.microsoft.com/office/drawing/2014/main" id="{6511E09B-95EE-3A48-F51B-2A132ABD4C9F}"/>
              </a:ext>
            </a:extLst>
          </p:cNvPr>
          <p:cNvSpPr>
            <a:spLocks noGrp="1"/>
          </p:cNvSpPr>
          <p:nvPr>
            <p:ph type="ftr" sz="quarter" idx="11"/>
          </p:nvPr>
        </p:nvSpPr>
        <p:spPr>
          <a:xfrm>
            <a:off x="8028123" y="4869657"/>
            <a:ext cx="1115878" cy="273844"/>
          </a:xfrm>
        </p:spPr>
        <p:txBody>
          <a:bodyPr/>
          <a:lstStyle/>
          <a:p>
            <a:r>
              <a:rPr lang="en-US"/>
              <a:t>Revised 01/12/2026</a:t>
            </a:r>
          </a:p>
        </p:txBody>
      </p:sp>
    </p:spTree>
    <p:extLst>
      <p:ext uri="{BB962C8B-B14F-4D97-AF65-F5344CB8AC3E}">
        <p14:creationId xmlns:p14="http://schemas.microsoft.com/office/powerpoint/2010/main" val="602194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367E6-A6C6-0913-2721-7C3F35DCDF5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8BCB8E-4BF9-9058-F0A0-7FEE86BB0D59}"/>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78CC2F-31DF-E13D-CF26-825DE07E362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8596B23-4687-8245-80E8-9F9FE38CAC9F}" type="datetime1">
              <a:rPr lang="en-US" smtClean="0"/>
              <a:t>10/2/26</a:t>
            </a:fld>
            <a:endParaRPr lang="en-US" dirty="0"/>
          </a:p>
        </p:txBody>
      </p:sp>
      <p:sp>
        <p:nvSpPr>
          <p:cNvPr id="5" name="Footer Placeholder 4">
            <a:extLst>
              <a:ext uri="{FF2B5EF4-FFF2-40B4-BE49-F238E27FC236}">
                <a16:creationId xmlns:a16="http://schemas.microsoft.com/office/drawing/2014/main" id="{42284613-9838-C24F-79DF-8CD89F75281A}"/>
              </a:ext>
            </a:extLst>
          </p:cNvPr>
          <p:cNvSpPr>
            <a:spLocks noGrp="1"/>
          </p:cNvSpPr>
          <p:nvPr>
            <p:ph type="ftr" sz="quarter" idx="3"/>
          </p:nvPr>
        </p:nvSpPr>
        <p:spPr>
          <a:xfrm>
            <a:off x="8028123" y="4869657"/>
            <a:ext cx="1115878" cy="273844"/>
          </a:xfrm>
          <a:prstGeom prst="rect">
            <a:avLst/>
          </a:prstGeom>
        </p:spPr>
        <p:txBody>
          <a:bodyPr vert="horz" lIns="91440" tIns="45720" rIns="91440" bIns="45720" rtlCol="0" anchor="ctr"/>
          <a:lstStyle>
            <a:lvl1pPr algn="ctr">
              <a:defRPr sz="800">
                <a:solidFill>
                  <a:schemeClr val="tx1">
                    <a:tint val="82000"/>
                  </a:schemeClr>
                </a:solidFill>
                <a:latin typeface="Arial" panose="020B0604020202020204" pitchFamily="34" charset="0"/>
                <a:cs typeface="Arial" panose="020B0604020202020204" pitchFamily="34" charset="0"/>
              </a:defRPr>
            </a:lvl1pPr>
          </a:lstStyle>
          <a:p>
            <a:r>
              <a:rPr lang="en-US" dirty="0"/>
              <a:t>Revised 01/12/2026</a:t>
            </a:r>
            <a:endParaRPr lang="en-US" sz="800" dirty="0"/>
          </a:p>
        </p:txBody>
      </p:sp>
    </p:spTree>
    <p:extLst>
      <p:ext uri="{BB962C8B-B14F-4D97-AF65-F5344CB8AC3E}">
        <p14:creationId xmlns:p14="http://schemas.microsoft.com/office/powerpoint/2010/main" val="1530434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jpg"/><Relationship Id="rId5" Type="http://schemas.openxmlformats.org/officeDocument/2006/relationships/image" Target="../media/image31.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820775"/>
            <a:ext cx="8520600" cy="2052600"/>
          </a:xfrm>
          <a:prstGeom prst="rect">
            <a:avLst/>
          </a:prstGeom>
        </p:spPr>
        <p:txBody>
          <a:bodyPr spcFirstLastPara="1" wrap="square" lIns="91425" tIns="91425" rIns="91425" bIns="91425" anchor="b" anchorCtr="0">
            <a:normAutofit/>
          </a:bodyPr>
          <a:lstStyle/>
          <a:p>
            <a:pPr marL="0" lvl="0" indent="0" algn="ctr" rtl="0">
              <a:lnSpc>
                <a:spcPct val="115000"/>
              </a:lnSpc>
              <a:spcBef>
                <a:spcPts val="0"/>
              </a:spcBef>
              <a:spcAft>
                <a:spcPts val="0"/>
              </a:spcAft>
              <a:buNone/>
            </a:pPr>
            <a:r>
              <a:rPr lang="en" sz="4400" b="1" dirty="0">
                <a:solidFill>
                  <a:schemeClr val="dk2"/>
                </a:solidFill>
              </a:rPr>
              <a:t>Library prep QC</a:t>
            </a:r>
            <a:endParaRPr sz="4400" b="1" dirty="0">
              <a:solidFill>
                <a:schemeClr val="dk2"/>
              </a:solidFill>
            </a:endParaRPr>
          </a:p>
        </p:txBody>
      </p:sp>
      <p:sp>
        <p:nvSpPr>
          <p:cNvPr id="2" name="TextBox 1">
            <a:extLst>
              <a:ext uri="{FF2B5EF4-FFF2-40B4-BE49-F238E27FC236}">
                <a16:creationId xmlns:a16="http://schemas.microsoft.com/office/drawing/2014/main" id="{6DD22AA0-8093-00CE-B061-2954515632D3}"/>
              </a:ext>
            </a:extLst>
          </p:cNvPr>
          <p:cNvSpPr txBox="1"/>
          <p:nvPr/>
        </p:nvSpPr>
        <p:spPr>
          <a:xfrm>
            <a:off x="6711203" y="4812554"/>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Updated 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a:stretch/>
        </p:blipFill>
        <p:spPr>
          <a:xfrm>
            <a:off x="5433709" y="1745231"/>
            <a:ext cx="3343674" cy="2207764"/>
          </a:xfrm>
          <a:prstGeom prst="rect">
            <a:avLst/>
          </a:prstGeom>
          <a:noFill/>
          <a:ln>
            <a:noFill/>
          </a:ln>
        </p:spPr>
      </p:pic>
      <p:sp>
        <p:nvSpPr>
          <p:cNvPr id="68" name="Google Shape;68;p15"/>
          <p:cNvSpPr txBox="1">
            <a:spLocks noGrp="1"/>
          </p:cNvSpPr>
          <p:nvPr>
            <p:ph type="title"/>
          </p:nvPr>
        </p:nvSpPr>
        <p:spPr>
          <a:xfrm>
            <a:off x="115150" y="93725"/>
            <a:ext cx="9500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Cluster amplification is essential for Illumina sequencing</a:t>
            </a:r>
            <a:endParaRPr sz="2400" b="1">
              <a:latin typeface="Helvetica Neue"/>
              <a:ea typeface="Helvetica Neue"/>
              <a:cs typeface="Helvetica Neue"/>
              <a:sym typeface="Helvetica Neue"/>
            </a:endParaRPr>
          </a:p>
        </p:txBody>
      </p:sp>
      <p:sp>
        <p:nvSpPr>
          <p:cNvPr id="69" name="Google Shape;69;p15"/>
          <p:cNvSpPr txBox="1"/>
          <p:nvPr/>
        </p:nvSpPr>
        <p:spPr>
          <a:xfrm>
            <a:off x="5143500" y="857250"/>
            <a:ext cx="7340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 loading concentration</a:t>
            </a:r>
            <a:endParaRPr/>
          </a:p>
          <a:p>
            <a:pPr marL="0" lvl="0" indent="0" algn="l" rtl="0">
              <a:spcBef>
                <a:spcPts val="0"/>
              </a:spcBef>
              <a:spcAft>
                <a:spcPts val="0"/>
              </a:spcAft>
              <a:buNone/>
            </a:pPr>
            <a:r>
              <a:rPr lang="en"/>
              <a:t>~ fragment length</a:t>
            </a:r>
            <a:endParaRPr/>
          </a:p>
        </p:txBody>
      </p:sp>
      <p:grpSp>
        <p:nvGrpSpPr>
          <p:cNvPr id="70" name="Google Shape;70;p15"/>
          <p:cNvGrpSpPr/>
          <p:nvPr/>
        </p:nvGrpSpPr>
        <p:grpSpPr>
          <a:xfrm>
            <a:off x="136599" y="578325"/>
            <a:ext cx="4435399" cy="4362650"/>
            <a:chOff x="136599" y="578325"/>
            <a:chExt cx="4435399" cy="4362650"/>
          </a:xfrm>
        </p:grpSpPr>
        <p:pic>
          <p:nvPicPr>
            <p:cNvPr id="71" name="Google Shape;71;p15"/>
            <p:cNvPicPr preferRelativeResize="0"/>
            <p:nvPr/>
          </p:nvPicPr>
          <p:blipFill rotWithShape="1">
            <a:blip r:embed="rId4">
              <a:alphaModFix/>
            </a:blip>
            <a:srcRect l="49821"/>
            <a:stretch/>
          </p:blipFill>
          <p:spPr>
            <a:xfrm>
              <a:off x="136599" y="578325"/>
              <a:ext cx="4435399" cy="4362650"/>
            </a:xfrm>
            <a:prstGeom prst="rect">
              <a:avLst/>
            </a:prstGeom>
            <a:noFill/>
            <a:ln>
              <a:noFill/>
            </a:ln>
          </p:spPr>
        </p:pic>
        <p:sp>
          <p:nvSpPr>
            <p:cNvPr id="72" name="Google Shape;72;p15"/>
            <p:cNvSpPr/>
            <p:nvPr/>
          </p:nvSpPr>
          <p:spPr>
            <a:xfrm>
              <a:off x="326375" y="718000"/>
              <a:ext cx="208800" cy="261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78" name="Google Shape;78;p16"/>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79" name="Google Shape;79;p16"/>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80" name="Google Shape;80;p16"/>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81" name="Google Shape;81;p16"/>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82" name="Google Shape;82;p16"/>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83" name="Google Shape;83;p16"/>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84" name="Google Shape;84;p16"/>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85" name="Google Shape;85;p16"/>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86" name="Google Shape;86;p16"/>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87" name="Google Shape;87;p16"/>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88" name="Google Shape;88;p16"/>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pic>
        <p:nvPicPr>
          <p:cNvPr id="89" name="Google Shape;89;p16"/>
          <p:cNvPicPr preferRelativeResize="0"/>
          <p:nvPr/>
        </p:nvPicPr>
        <p:blipFill rotWithShape="1">
          <a:blip r:embed="rId4">
            <a:alphaModFix/>
          </a:blip>
          <a:srcRect l="14551" r="17610" b="13941"/>
          <a:stretch/>
        </p:blipFill>
        <p:spPr>
          <a:xfrm>
            <a:off x="7930625" y="2813850"/>
            <a:ext cx="1126125" cy="959049"/>
          </a:xfrm>
          <a:prstGeom prst="rect">
            <a:avLst/>
          </a:prstGeom>
          <a:noFill/>
          <a:ln>
            <a:noFill/>
          </a:ln>
        </p:spPr>
      </p:pic>
      <p:cxnSp>
        <p:nvCxnSpPr>
          <p:cNvPr id="90" name="Google Shape;90;p16"/>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91" name="Google Shape;91;p16"/>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92" name="Google Shape;92;p16"/>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93" name="Google Shape;93;p16"/>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94" name="Google Shape;94;p16"/>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95" name="Google Shape;95;p16"/>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6" name="Google Shape;96;p16"/>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7" name="Google Shape;97;p16"/>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8" name="Google Shape;98;p16"/>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9" name="Google Shape;99;p16"/>
          <p:cNvSpPr txBox="1"/>
          <p:nvPr/>
        </p:nvSpPr>
        <p:spPr>
          <a:xfrm>
            <a:off x="2637025" y="106051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1</a:t>
            </a:r>
            <a:endParaRPr b="1">
              <a:solidFill>
                <a:srgbClr val="FF0000"/>
              </a:solidFill>
            </a:endParaRPr>
          </a:p>
        </p:txBody>
      </p:sp>
      <p:sp>
        <p:nvSpPr>
          <p:cNvPr id="100" name="Google Shape;100;p16"/>
          <p:cNvSpPr/>
          <p:nvPr/>
        </p:nvSpPr>
        <p:spPr>
          <a:xfrm>
            <a:off x="2584800" y="104437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sp>
        <p:nvSpPr>
          <p:cNvPr id="101" name="Google Shape;101;p16"/>
          <p:cNvSpPr txBox="1"/>
          <p:nvPr/>
        </p:nvSpPr>
        <p:spPr>
          <a:xfrm>
            <a:off x="6145000" y="246806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2</a:t>
            </a:r>
            <a:endParaRPr b="1">
              <a:solidFill>
                <a:srgbClr val="FF0000"/>
              </a:solidFill>
            </a:endParaRPr>
          </a:p>
        </p:txBody>
      </p:sp>
      <p:sp>
        <p:nvSpPr>
          <p:cNvPr id="102" name="Google Shape;102;p16"/>
          <p:cNvSpPr/>
          <p:nvPr/>
        </p:nvSpPr>
        <p:spPr>
          <a:xfrm>
            <a:off x="6092775" y="245192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7"/>
          <p:cNvSpPr txBox="1">
            <a:spLocks noGrp="1"/>
          </p:cNvSpPr>
          <p:nvPr>
            <p:ph type="title"/>
          </p:nvPr>
        </p:nvSpPr>
        <p:spPr>
          <a:xfrm>
            <a:off x="115150" y="93725"/>
            <a:ext cx="3853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109" name="Google Shape;109;p17"/>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110" name="Google Shape;110;p17"/>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111" name="Google Shape;111;p17"/>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112" name="Google Shape;112;p17"/>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113" name="Google Shape;113;p17"/>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114" name="Google Shape;114;p17"/>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115" name="Google Shape;115;p17"/>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116" name="Google Shape;116;p17"/>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117" name="Google Shape;117;p17"/>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118" name="Google Shape;118;p17"/>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119" name="Google Shape;119;p17"/>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120" name="Google Shape;120;p17"/>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121" name="Google Shape;121;p17"/>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122" name="Google Shape;122;p17"/>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123" name="Google Shape;123;p17"/>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124" name="Google Shape;124;p17"/>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125" name="Google Shape;125;p17"/>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126" name="Google Shape;126;p17"/>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127" name="Google Shape;127;p17"/>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128" name="Google Shape;128;p17"/>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129" name="Google Shape;129;p17"/>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130" name="Google Shape;130;p17"/>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131" name="Google Shape;131;p17"/>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132" name="Google Shape;132;p17"/>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133" name="Google Shape;133;p17"/>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134" name="Google Shape;134;p17"/>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135" name="Google Shape;135;p17"/>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136" name="Google Shape;136;p17"/>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137" name="Google Shape;137;p17"/>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138" name="Google Shape;138;p17"/>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139" name="Google Shape;139;p17"/>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140" name="Google Shape;140;p17"/>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141" name="Google Shape;141;p17"/>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142" name="Google Shape;142;p17"/>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143" name="Google Shape;143;p17"/>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144" name="Google Shape;144;p17"/>
          <p:cNvGrpSpPr/>
          <p:nvPr/>
        </p:nvGrpSpPr>
        <p:grpSpPr>
          <a:xfrm>
            <a:off x="281913" y="1634388"/>
            <a:ext cx="2366199" cy="308375"/>
            <a:chOff x="281913" y="1862988"/>
            <a:chExt cx="2366199" cy="308375"/>
          </a:xfrm>
        </p:grpSpPr>
        <p:pic>
          <p:nvPicPr>
            <p:cNvPr id="145" name="Google Shape;145;p17"/>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146" name="Google Shape;146;p17"/>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147" name="Google Shape;147;p17"/>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148" name="Google Shape;148;p17"/>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149" name="Google Shape;149;p17"/>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150" name="Google Shape;150;p17"/>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151" name="Google Shape;151;p17"/>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152" name="Google Shape;152;p17"/>
          <p:cNvGrpSpPr/>
          <p:nvPr/>
        </p:nvGrpSpPr>
        <p:grpSpPr>
          <a:xfrm>
            <a:off x="3193413" y="1634388"/>
            <a:ext cx="2366199" cy="308375"/>
            <a:chOff x="3159638" y="1911975"/>
            <a:chExt cx="2366199" cy="308375"/>
          </a:xfrm>
        </p:grpSpPr>
        <p:pic>
          <p:nvPicPr>
            <p:cNvPr id="153" name="Google Shape;153;p1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154" name="Google Shape;154;p1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155" name="Google Shape;155;p1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156" name="Google Shape;156;p1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157" name="Google Shape;157;p1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158" name="Google Shape;158;p1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159" name="Google Shape;159;p17"/>
          <p:cNvGrpSpPr/>
          <p:nvPr/>
        </p:nvGrpSpPr>
        <p:grpSpPr>
          <a:xfrm>
            <a:off x="4037313" y="2450650"/>
            <a:ext cx="1583916" cy="69900"/>
            <a:chOff x="4037313" y="3136450"/>
            <a:chExt cx="1583916" cy="69900"/>
          </a:xfrm>
        </p:grpSpPr>
        <p:pic>
          <p:nvPicPr>
            <p:cNvPr id="160" name="Google Shape;160;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61" name="Google Shape;161;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62" name="Google Shape;162;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63" name="Google Shape;163;p17"/>
          <p:cNvGrpSpPr/>
          <p:nvPr/>
        </p:nvGrpSpPr>
        <p:grpSpPr>
          <a:xfrm>
            <a:off x="3244063" y="2587938"/>
            <a:ext cx="1583916" cy="69900"/>
            <a:chOff x="4037313" y="3136450"/>
            <a:chExt cx="1583916" cy="69900"/>
          </a:xfrm>
        </p:grpSpPr>
        <p:pic>
          <p:nvPicPr>
            <p:cNvPr id="164" name="Google Shape;164;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65" name="Google Shape;165;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66" name="Google Shape;166;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67" name="Google Shape;167;p17"/>
          <p:cNvGrpSpPr/>
          <p:nvPr/>
        </p:nvGrpSpPr>
        <p:grpSpPr>
          <a:xfrm>
            <a:off x="3968338" y="2725225"/>
            <a:ext cx="1583916" cy="69900"/>
            <a:chOff x="4037313" y="3136450"/>
            <a:chExt cx="1583916" cy="69900"/>
          </a:xfrm>
        </p:grpSpPr>
        <p:pic>
          <p:nvPicPr>
            <p:cNvPr id="168" name="Google Shape;168;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69" name="Google Shape;169;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70" name="Google Shape;170;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71" name="Google Shape;171;p17"/>
          <p:cNvGrpSpPr/>
          <p:nvPr/>
        </p:nvGrpSpPr>
        <p:grpSpPr>
          <a:xfrm>
            <a:off x="3618363" y="2862513"/>
            <a:ext cx="1583916" cy="69900"/>
            <a:chOff x="4037313" y="3136450"/>
            <a:chExt cx="1583916" cy="69900"/>
          </a:xfrm>
        </p:grpSpPr>
        <p:pic>
          <p:nvPicPr>
            <p:cNvPr id="172" name="Google Shape;172;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73" name="Google Shape;173;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74" name="Google Shape;174;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75" name="Google Shape;175;p17"/>
          <p:cNvGrpSpPr/>
          <p:nvPr/>
        </p:nvGrpSpPr>
        <p:grpSpPr>
          <a:xfrm>
            <a:off x="3319063" y="2999800"/>
            <a:ext cx="1583916" cy="69900"/>
            <a:chOff x="4037313" y="3136450"/>
            <a:chExt cx="1583916" cy="69900"/>
          </a:xfrm>
        </p:grpSpPr>
        <p:pic>
          <p:nvPicPr>
            <p:cNvPr id="176" name="Google Shape;176;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77" name="Google Shape;177;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78" name="Google Shape;178;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179" name="Google Shape;179;p17"/>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180" name="Google Shape;180;p17"/>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181" name="Google Shape;181;p17"/>
          <p:cNvGrpSpPr/>
          <p:nvPr/>
        </p:nvGrpSpPr>
        <p:grpSpPr>
          <a:xfrm>
            <a:off x="3709954" y="3422048"/>
            <a:ext cx="486765" cy="69900"/>
            <a:chOff x="3581517" y="4234748"/>
            <a:chExt cx="486765" cy="69900"/>
          </a:xfrm>
        </p:grpSpPr>
        <p:pic>
          <p:nvPicPr>
            <p:cNvPr id="182" name="Google Shape;182;p17"/>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183" name="Google Shape;183;p17"/>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184" name="Google Shape;184;p17"/>
          <p:cNvGrpSpPr/>
          <p:nvPr/>
        </p:nvGrpSpPr>
        <p:grpSpPr>
          <a:xfrm>
            <a:off x="3996079" y="3599948"/>
            <a:ext cx="486765" cy="69900"/>
            <a:chOff x="3867642" y="4412648"/>
            <a:chExt cx="486765" cy="69900"/>
          </a:xfrm>
        </p:grpSpPr>
        <p:pic>
          <p:nvPicPr>
            <p:cNvPr id="185" name="Google Shape;185;p17"/>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186" name="Google Shape;186;p17"/>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187" name="Google Shape;187;p17"/>
          <p:cNvGrpSpPr/>
          <p:nvPr/>
        </p:nvGrpSpPr>
        <p:grpSpPr>
          <a:xfrm>
            <a:off x="4363804" y="3477123"/>
            <a:ext cx="486765" cy="69900"/>
            <a:chOff x="4235367" y="4289823"/>
            <a:chExt cx="486765" cy="69900"/>
          </a:xfrm>
        </p:grpSpPr>
        <p:pic>
          <p:nvPicPr>
            <p:cNvPr id="188" name="Google Shape;188;p1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189" name="Google Shape;189;p1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190" name="Google Shape;190;p17"/>
          <p:cNvGrpSpPr/>
          <p:nvPr/>
        </p:nvGrpSpPr>
        <p:grpSpPr>
          <a:xfrm>
            <a:off x="6789551" y="2380750"/>
            <a:ext cx="417498" cy="69900"/>
            <a:chOff x="4495488" y="4546300"/>
            <a:chExt cx="417498" cy="69900"/>
          </a:xfrm>
        </p:grpSpPr>
        <p:pic>
          <p:nvPicPr>
            <p:cNvPr id="191" name="Google Shape;191;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192" name="Google Shape;192;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193" name="Google Shape;193;p17"/>
          <p:cNvGrpSpPr/>
          <p:nvPr/>
        </p:nvGrpSpPr>
        <p:grpSpPr>
          <a:xfrm>
            <a:off x="4079779" y="3807123"/>
            <a:ext cx="486765" cy="69900"/>
            <a:chOff x="3951342" y="4619823"/>
            <a:chExt cx="486765" cy="69900"/>
          </a:xfrm>
        </p:grpSpPr>
        <p:pic>
          <p:nvPicPr>
            <p:cNvPr id="194" name="Google Shape;194;p17"/>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195" name="Google Shape;195;p17"/>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196" name="Google Shape;196;p17"/>
          <p:cNvGrpSpPr/>
          <p:nvPr/>
        </p:nvGrpSpPr>
        <p:grpSpPr>
          <a:xfrm>
            <a:off x="6487113" y="1634388"/>
            <a:ext cx="2366199" cy="308375"/>
            <a:chOff x="3159638" y="1911975"/>
            <a:chExt cx="2366199" cy="308375"/>
          </a:xfrm>
        </p:grpSpPr>
        <p:pic>
          <p:nvPicPr>
            <p:cNvPr id="197" name="Google Shape;197;p1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198" name="Google Shape;198;p1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199" name="Google Shape;199;p1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200" name="Google Shape;200;p1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201" name="Google Shape;201;p1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202" name="Google Shape;202;p1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203" name="Google Shape;203;p17"/>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204" name="Google Shape;204;p17"/>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205" name="Google Shape;205;p17"/>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206" name="Google Shape;206;p17"/>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207" name="Google Shape;207;p17"/>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208" name="Google Shape;208;p17"/>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209" name="Google Shape;209;p17"/>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210" name="Google Shape;210;p17"/>
          <p:cNvGrpSpPr/>
          <p:nvPr/>
        </p:nvGrpSpPr>
        <p:grpSpPr>
          <a:xfrm>
            <a:off x="4585892" y="3696623"/>
            <a:ext cx="486765" cy="69900"/>
            <a:chOff x="4235367" y="4289823"/>
            <a:chExt cx="486765" cy="69900"/>
          </a:xfrm>
        </p:grpSpPr>
        <p:pic>
          <p:nvPicPr>
            <p:cNvPr id="211" name="Google Shape;211;p1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212" name="Google Shape;212;p1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213" name="Google Shape;213;p17"/>
          <p:cNvGrpSpPr/>
          <p:nvPr/>
        </p:nvGrpSpPr>
        <p:grpSpPr>
          <a:xfrm>
            <a:off x="8073451" y="2422475"/>
            <a:ext cx="417498" cy="69900"/>
            <a:chOff x="4495488" y="4546300"/>
            <a:chExt cx="417498" cy="69900"/>
          </a:xfrm>
        </p:grpSpPr>
        <p:pic>
          <p:nvPicPr>
            <p:cNvPr id="214" name="Google Shape;214;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15" name="Google Shape;215;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16" name="Google Shape;216;p17"/>
          <p:cNvGrpSpPr/>
          <p:nvPr/>
        </p:nvGrpSpPr>
        <p:grpSpPr>
          <a:xfrm>
            <a:off x="6819226" y="2865025"/>
            <a:ext cx="417498" cy="69900"/>
            <a:chOff x="4495488" y="4546300"/>
            <a:chExt cx="417498" cy="69900"/>
          </a:xfrm>
        </p:grpSpPr>
        <p:pic>
          <p:nvPicPr>
            <p:cNvPr id="217" name="Google Shape;217;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18" name="Google Shape;218;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19" name="Google Shape;219;p17"/>
          <p:cNvGrpSpPr/>
          <p:nvPr/>
        </p:nvGrpSpPr>
        <p:grpSpPr>
          <a:xfrm>
            <a:off x="7538426" y="3008925"/>
            <a:ext cx="417498" cy="69900"/>
            <a:chOff x="4495488" y="4546300"/>
            <a:chExt cx="417498" cy="69900"/>
          </a:xfrm>
        </p:grpSpPr>
        <p:pic>
          <p:nvPicPr>
            <p:cNvPr id="220" name="Google Shape;220;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21" name="Google Shape;221;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22" name="Google Shape;222;p17"/>
          <p:cNvGrpSpPr/>
          <p:nvPr/>
        </p:nvGrpSpPr>
        <p:grpSpPr>
          <a:xfrm>
            <a:off x="8183576" y="2950650"/>
            <a:ext cx="417498" cy="69900"/>
            <a:chOff x="4495488" y="4546300"/>
            <a:chExt cx="417498" cy="69900"/>
          </a:xfrm>
        </p:grpSpPr>
        <p:pic>
          <p:nvPicPr>
            <p:cNvPr id="223" name="Google Shape;223;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24" name="Google Shape;224;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25" name="Google Shape;225;p17"/>
          <p:cNvGrpSpPr/>
          <p:nvPr/>
        </p:nvGrpSpPr>
        <p:grpSpPr>
          <a:xfrm>
            <a:off x="7345076" y="2649137"/>
            <a:ext cx="417498" cy="69900"/>
            <a:chOff x="4495488" y="4546300"/>
            <a:chExt cx="417498" cy="69900"/>
          </a:xfrm>
        </p:grpSpPr>
        <p:pic>
          <p:nvPicPr>
            <p:cNvPr id="226" name="Google Shape;226;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27" name="Google Shape;227;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28" name="Google Shape;228;p17"/>
          <p:cNvGrpSpPr/>
          <p:nvPr/>
        </p:nvGrpSpPr>
        <p:grpSpPr>
          <a:xfrm>
            <a:off x="7396476" y="3259575"/>
            <a:ext cx="417498" cy="69900"/>
            <a:chOff x="4495488" y="4546300"/>
            <a:chExt cx="417498" cy="69900"/>
          </a:xfrm>
        </p:grpSpPr>
        <p:pic>
          <p:nvPicPr>
            <p:cNvPr id="229" name="Google Shape;229;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30" name="Google Shape;230;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231" name="Google Shape;231;p17"/>
          <p:cNvSpPr/>
          <p:nvPr/>
        </p:nvSpPr>
        <p:spPr>
          <a:xfrm>
            <a:off x="115150" y="83550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10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8"/>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37" name="Google Shape;237;p18"/>
          <p:cNvSpPr txBox="1"/>
          <p:nvPr/>
        </p:nvSpPr>
        <p:spPr>
          <a:xfrm>
            <a:off x="165200" y="749850"/>
            <a:ext cx="7654800" cy="4233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t>Why is an accurate concentration important?</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a:t>Individual samples: to pool equal amounts of different samples together</a:t>
            </a:r>
            <a:endParaRPr/>
          </a:p>
          <a:p>
            <a:pPr marL="914400" lvl="1" indent="-317500" algn="l" rtl="0">
              <a:lnSpc>
                <a:spcPct val="150000"/>
              </a:lnSpc>
              <a:spcBef>
                <a:spcPts val="0"/>
              </a:spcBef>
              <a:spcAft>
                <a:spcPts val="0"/>
              </a:spcAft>
              <a:buSzPts val="1400"/>
              <a:buChar char="○"/>
            </a:pPr>
            <a:r>
              <a:rPr lang="en"/>
              <a:t>Aim for an even amount of sequencing data per sample</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a:t>Final library: sequencer requires loading with a very precise concentration</a:t>
            </a:r>
            <a:endParaRPr/>
          </a:p>
          <a:p>
            <a:pPr marL="914400" lvl="1" indent="-317500" algn="l" rtl="0">
              <a:lnSpc>
                <a:spcPct val="150000"/>
              </a:lnSpc>
              <a:spcBef>
                <a:spcPts val="0"/>
              </a:spcBef>
              <a:spcAft>
                <a:spcPts val="0"/>
              </a:spcAft>
              <a:buSzPts val="1400"/>
              <a:buChar char="○"/>
            </a:pPr>
            <a:r>
              <a:rPr lang="en"/>
              <a:t>If concentration is overestimated (actual conc. is lower than what you think)</a:t>
            </a:r>
            <a:endParaRPr/>
          </a:p>
          <a:p>
            <a:pPr marL="1371600" lvl="2" indent="-317500" algn="l" rtl="0">
              <a:lnSpc>
                <a:spcPct val="150000"/>
              </a:lnSpc>
              <a:spcBef>
                <a:spcPts val="0"/>
              </a:spcBef>
              <a:spcAft>
                <a:spcPts val="0"/>
              </a:spcAft>
              <a:buSzPts val="1400"/>
              <a:buChar char="■"/>
            </a:pPr>
            <a:r>
              <a:rPr lang="en"/>
              <a:t>Underloading and underclustering of sequencing run</a:t>
            </a:r>
            <a:endParaRPr/>
          </a:p>
          <a:p>
            <a:pPr marL="1371600" lvl="2" indent="-317500" algn="l" rtl="0">
              <a:lnSpc>
                <a:spcPct val="150000"/>
              </a:lnSpc>
              <a:spcBef>
                <a:spcPts val="0"/>
              </a:spcBef>
              <a:spcAft>
                <a:spcPts val="0"/>
              </a:spcAft>
              <a:buSzPts val="1400"/>
              <a:buChar char="■"/>
            </a:pPr>
            <a:r>
              <a:rPr lang="en"/>
              <a:t>Sequencing run will yield less sequencing data than usual</a:t>
            </a:r>
            <a:endParaRPr/>
          </a:p>
          <a:p>
            <a:pPr marL="1371600" lvl="0" indent="0" algn="l" rtl="0">
              <a:lnSpc>
                <a:spcPct val="150000"/>
              </a:lnSpc>
              <a:spcBef>
                <a:spcPts val="0"/>
              </a:spcBef>
              <a:spcAft>
                <a:spcPts val="0"/>
              </a:spcAft>
              <a:buNone/>
            </a:pPr>
            <a:endParaRPr sz="600"/>
          </a:p>
          <a:p>
            <a:pPr marL="914400" lvl="1" indent="-317500" algn="l" rtl="0">
              <a:lnSpc>
                <a:spcPct val="150000"/>
              </a:lnSpc>
              <a:spcBef>
                <a:spcPts val="0"/>
              </a:spcBef>
              <a:spcAft>
                <a:spcPts val="0"/>
              </a:spcAft>
              <a:buSzPts val="1400"/>
              <a:buChar char="○"/>
            </a:pPr>
            <a:r>
              <a:rPr lang="en"/>
              <a:t>If concentration is underestimated (actual conc. is higher than what you think)</a:t>
            </a:r>
            <a:endParaRPr/>
          </a:p>
          <a:p>
            <a:pPr marL="1371600" lvl="2" indent="-317500" algn="l" rtl="0">
              <a:lnSpc>
                <a:spcPct val="150000"/>
              </a:lnSpc>
              <a:spcBef>
                <a:spcPts val="0"/>
              </a:spcBef>
              <a:spcAft>
                <a:spcPts val="0"/>
              </a:spcAft>
              <a:buSzPts val="1400"/>
              <a:buChar char="■"/>
            </a:pPr>
            <a:r>
              <a:rPr lang="en"/>
              <a:t>Overloading and overclustering of sequencing run</a:t>
            </a:r>
            <a:endParaRPr/>
          </a:p>
          <a:p>
            <a:pPr marL="1371600" lvl="2" indent="-317500" algn="l" rtl="0">
              <a:lnSpc>
                <a:spcPct val="150000"/>
              </a:lnSpc>
              <a:spcBef>
                <a:spcPts val="0"/>
              </a:spcBef>
              <a:spcAft>
                <a:spcPts val="0"/>
              </a:spcAft>
              <a:buSzPts val="1400"/>
              <a:buChar char="■"/>
            </a:pPr>
            <a:r>
              <a:rPr lang="en"/>
              <a:t>Sequencing run will suffer from higher error rates and reduced data output</a:t>
            </a:r>
            <a:endParaRPr/>
          </a:p>
          <a:p>
            <a:pPr marL="0" lvl="0" indent="0" algn="l" rtl="0">
              <a:lnSpc>
                <a:spcPct val="150000"/>
              </a:lnSpc>
              <a:spcBef>
                <a:spcPts val="0"/>
              </a:spcBef>
              <a:spcAft>
                <a:spcPts val="0"/>
              </a:spcAft>
              <a:buNone/>
            </a:pPr>
            <a:endParaRPr/>
          </a:p>
        </p:txBody>
      </p:sp>
      <p:pic>
        <p:nvPicPr>
          <p:cNvPr id="238" name="Google Shape;238;p18"/>
          <p:cNvPicPr preferRelativeResize="0"/>
          <p:nvPr/>
        </p:nvPicPr>
        <p:blipFill rotWithShape="1">
          <a:blip r:embed="rId3">
            <a:alphaModFix/>
          </a:blip>
          <a:srcRect l="3493" t="6393"/>
          <a:stretch/>
        </p:blipFill>
        <p:spPr>
          <a:xfrm>
            <a:off x="7481596" y="1244564"/>
            <a:ext cx="1409750" cy="1327186"/>
          </a:xfrm>
          <a:prstGeom prst="rect">
            <a:avLst/>
          </a:prstGeom>
          <a:noFill/>
          <a:ln>
            <a:noFill/>
          </a:ln>
        </p:spPr>
      </p:pic>
      <p:pic>
        <p:nvPicPr>
          <p:cNvPr id="239" name="Google Shape;239;p18"/>
          <p:cNvPicPr preferRelativeResize="0"/>
          <p:nvPr/>
        </p:nvPicPr>
        <p:blipFill>
          <a:blip r:embed="rId4">
            <a:alphaModFix/>
          </a:blip>
          <a:stretch>
            <a:fillRect/>
          </a:stretch>
        </p:blipFill>
        <p:spPr>
          <a:xfrm>
            <a:off x="7481596" y="3063578"/>
            <a:ext cx="1409750" cy="1314251"/>
          </a:xfrm>
          <a:prstGeom prst="rect">
            <a:avLst/>
          </a:prstGeom>
          <a:noFill/>
          <a:ln>
            <a:noFill/>
          </a:ln>
        </p:spPr>
      </p:pic>
      <p:sp>
        <p:nvSpPr>
          <p:cNvPr id="3" name="TextBox 2">
            <a:extLst>
              <a:ext uri="{FF2B5EF4-FFF2-40B4-BE49-F238E27FC236}">
                <a16:creationId xmlns:a16="http://schemas.microsoft.com/office/drawing/2014/main" id="{7BE8FDCF-F745-7540-99B3-46948B2CE4B6}"/>
              </a:ext>
            </a:extLst>
          </p:cNvPr>
          <p:cNvSpPr txBox="1"/>
          <p:nvPr/>
        </p:nvSpPr>
        <p:spPr>
          <a:xfrm>
            <a:off x="7661640" y="858708"/>
            <a:ext cx="1049662" cy="276999"/>
          </a:xfrm>
          <a:prstGeom prst="rect">
            <a:avLst/>
          </a:prstGeom>
          <a:noFill/>
        </p:spPr>
        <p:txBody>
          <a:bodyPr wrap="square" rtlCol="0">
            <a:spAutoFit/>
          </a:bodyPr>
          <a:lstStyle/>
          <a:p>
            <a:r>
              <a:rPr lang="en-US" sz="1200" dirty="0">
                <a:solidFill>
                  <a:srgbClr val="C00000"/>
                </a:solidFill>
              </a:rPr>
              <a:t>Underloaded</a:t>
            </a:r>
          </a:p>
        </p:txBody>
      </p:sp>
      <p:sp>
        <p:nvSpPr>
          <p:cNvPr id="4" name="TextBox 3">
            <a:extLst>
              <a:ext uri="{FF2B5EF4-FFF2-40B4-BE49-F238E27FC236}">
                <a16:creationId xmlns:a16="http://schemas.microsoft.com/office/drawing/2014/main" id="{B87DDF2A-894C-5FF2-CFEA-F1379355901D}"/>
              </a:ext>
            </a:extLst>
          </p:cNvPr>
          <p:cNvSpPr txBox="1"/>
          <p:nvPr/>
        </p:nvSpPr>
        <p:spPr>
          <a:xfrm>
            <a:off x="7689042" y="2679164"/>
            <a:ext cx="994858" cy="276999"/>
          </a:xfrm>
          <a:prstGeom prst="rect">
            <a:avLst/>
          </a:prstGeom>
          <a:noFill/>
        </p:spPr>
        <p:txBody>
          <a:bodyPr wrap="square" rtlCol="0">
            <a:spAutoFit/>
          </a:bodyPr>
          <a:lstStyle/>
          <a:p>
            <a:r>
              <a:rPr lang="en-US" sz="1200" dirty="0">
                <a:solidFill>
                  <a:srgbClr val="C00000"/>
                </a:solidFill>
              </a:rPr>
              <a:t>Overloaded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9"/>
          <p:cNvSpPr/>
          <p:nvPr/>
        </p:nvSpPr>
        <p:spPr>
          <a:xfrm>
            <a:off x="4989950" y="287075"/>
            <a:ext cx="4002000" cy="24126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txBox="1">
            <a:spLocks noGrp="1"/>
          </p:cNvSpPr>
          <p:nvPr>
            <p:ph type="title"/>
          </p:nvPr>
        </p:nvSpPr>
        <p:spPr>
          <a:xfrm>
            <a:off x="115150" y="93725"/>
            <a:ext cx="5668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46" name="Google Shape;246;p19"/>
          <p:cNvSpPr txBox="1"/>
          <p:nvPr/>
        </p:nvSpPr>
        <p:spPr>
          <a:xfrm>
            <a:off x="1277025" y="98785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Spectrophotometry</a:t>
            </a:r>
            <a:endParaRPr b="1"/>
          </a:p>
          <a:p>
            <a:pPr marL="0" lvl="0" indent="0" algn="ctr" rtl="0">
              <a:spcBef>
                <a:spcPts val="0"/>
              </a:spcBef>
              <a:spcAft>
                <a:spcPts val="0"/>
              </a:spcAft>
              <a:buNone/>
            </a:pPr>
            <a:r>
              <a:rPr lang="en"/>
              <a:t>(e.g. Nanodrop)</a:t>
            </a:r>
            <a:endParaRPr/>
          </a:p>
        </p:txBody>
      </p:sp>
      <p:sp>
        <p:nvSpPr>
          <p:cNvPr id="247" name="Google Shape;247;p19"/>
          <p:cNvSpPr txBox="1"/>
          <p:nvPr/>
        </p:nvSpPr>
        <p:spPr>
          <a:xfrm>
            <a:off x="6020400" y="22585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 qPCR)</a:t>
            </a:r>
            <a:endParaRPr/>
          </a:p>
        </p:txBody>
      </p:sp>
      <p:sp>
        <p:nvSpPr>
          <p:cNvPr id="248" name="Google Shape;248;p19"/>
          <p:cNvSpPr txBox="1"/>
          <p:nvPr/>
        </p:nvSpPr>
        <p:spPr>
          <a:xfrm>
            <a:off x="168850" y="2890750"/>
            <a:ext cx="4179300" cy="7233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DNA absorbs light most strongly at 260 nm</a:t>
            </a:r>
            <a:endParaRPr/>
          </a:p>
          <a:p>
            <a:pPr marL="457200" lvl="0" indent="-317500" algn="l" rtl="0">
              <a:lnSpc>
                <a:spcPct val="150000"/>
              </a:lnSpc>
              <a:spcBef>
                <a:spcPts val="0"/>
              </a:spcBef>
              <a:spcAft>
                <a:spcPts val="0"/>
              </a:spcAft>
              <a:buSzPts val="1400"/>
              <a:buChar char="●"/>
            </a:pPr>
            <a:r>
              <a:rPr lang="en"/>
              <a:t>Level of absorbance ~ concentration of DNA</a:t>
            </a:r>
            <a:endParaRPr/>
          </a:p>
        </p:txBody>
      </p:sp>
      <p:pic>
        <p:nvPicPr>
          <p:cNvPr id="249" name="Google Shape;249;p19"/>
          <p:cNvPicPr preferRelativeResize="0"/>
          <p:nvPr/>
        </p:nvPicPr>
        <p:blipFill rotWithShape="1">
          <a:blip r:embed="rId3">
            <a:alphaModFix/>
          </a:blip>
          <a:srcRect l="21083" t="10014" r="16703" b="6881"/>
          <a:stretch/>
        </p:blipFill>
        <p:spPr>
          <a:xfrm>
            <a:off x="1699352" y="1603450"/>
            <a:ext cx="936080" cy="1134900"/>
          </a:xfrm>
          <a:prstGeom prst="rect">
            <a:avLst/>
          </a:prstGeom>
          <a:noFill/>
          <a:ln>
            <a:noFill/>
          </a:ln>
        </p:spPr>
      </p:pic>
      <p:sp>
        <p:nvSpPr>
          <p:cNvPr id="250" name="Google Shape;250;p19"/>
          <p:cNvSpPr txBox="1"/>
          <p:nvPr/>
        </p:nvSpPr>
        <p:spPr>
          <a:xfrm>
            <a:off x="-37250" y="3747950"/>
            <a:ext cx="4722900" cy="895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solidFill>
                  <a:srgbClr val="FF0000"/>
                </a:solidFill>
              </a:rPr>
              <a:t>BUT</a:t>
            </a:r>
            <a:r>
              <a:rPr lang="en"/>
              <a:t> other molecules (RNA, proteins) &amp; contaminants also absorb light at 260 nm, causing up to 10-fold </a:t>
            </a:r>
            <a:r>
              <a:rPr lang="en" b="1">
                <a:solidFill>
                  <a:srgbClr val="FF0000"/>
                </a:solidFill>
              </a:rPr>
              <a:t>overestimation</a:t>
            </a:r>
            <a:r>
              <a:rPr lang="en"/>
              <a:t> of the DNA concentration!</a:t>
            </a:r>
            <a:endParaRPr/>
          </a:p>
        </p:txBody>
      </p:sp>
      <p:pic>
        <p:nvPicPr>
          <p:cNvPr id="251" name="Google Shape;251;p19"/>
          <p:cNvPicPr preferRelativeResize="0"/>
          <p:nvPr/>
        </p:nvPicPr>
        <p:blipFill rotWithShape="1">
          <a:blip r:embed="rId4">
            <a:alphaModFix/>
          </a:blip>
          <a:srcRect b="10362"/>
          <a:stretch/>
        </p:blipFill>
        <p:spPr>
          <a:xfrm>
            <a:off x="5209574" y="910200"/>
            <a:ext cx="1832100" cy="998841"/>
          </a:xfrm>
          <a:prstGeom prst="rect">
            <a:avLst/>
          </a:prstGeom>
          <a:noFill/>
          <a:ln>
            <a:noFill/>
          </a:ln>
        </p:spPr>
      </p:pic>
      <p:sp>
        <p:nvSpPr>
          <p:cNvPr id="252" name="Google Shape;252;p19"/>
          <p:cNvSpPr txBox="1"/>
          <p:nvPr/>
        </p:nvSpPr>
        <p:spPr>
          <a:xfrm>
            <a:off x="4854600" y="1976350"/>
            <a:ext cx="4213200" cy="7233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a:p>
            <a:pPr marL="457200" lvl="0" indent="-317500" algn="l" rtl="0">
              <a:lnSpc>
                <a:spcPct val="150000"/>
              </a:lnSpc>
              <a:spcBef>
                <a:spcPts val="0"/>
              </a:spcBef>
              <a:spcAft>
                <a:spcPts val="0"/>
              </a:spcAft>
              <a:buSzPts val="1400"/>
              <a:buChar char="●"/>
            </a:pPr>
            <a:r>
              <a:rPr lang="en"/>
              <a:t>Most reliable method for NGS</a:t>
            </a:r>
            <a:endParaRPr/>
          </a:p>
        </p:txBody>
      </p:sp>
      <p:sp>
        <p:nvSpPr>
          <p:cNvPr id="253" name="Google Shape;253;p19"/>
          <p:cNvSpPr txBox="1"/>
          <p:nvPr/>
        </p:nvSpPr>
        <p:spPr>
          <a:xfrm>
            <a:off x="5732575" y="2827000"/>
            <a:ext cx="2733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Electrophoresis</a:t>
            </a:r>
            <a:endParaRPr b="1"/>
          </a:p>
          <a:p>
            <a:pPr marL="0" lvl="0" indent="0" algn="ctr" rtl="0">
              <a:spcBef>
                <a:spcPts val="0"/>
              </a:spcBef>
              <a:spcAft>
                <a:spcPts val="0"/>
              </a:spcAft>
              <a:buNone/>
            </a:pPr>
            <a:r>
              <a:rPr lang="en"/>
              <a:t>(e.g. Tapestation, Bioanalyzer)</a:t>
            </a:r>
            <a:endParaRPr/>
          </a:p>
        </p:txBody>
      </p:sp>
      <p:pic>
        <p:nvPicPr>
          <p:cNvPr id="254" name="Google Shape;254;p19"/>
          <p:cNvPicPr preferRelativeResize="0"/>
          <p:nvPr/>
        </p:nvPicPr>
        <p:blipFill>
          <a:blip r:embed="rId5">
            <a:alphaModFix/>
          </a:blip>
          <a:stretch>
            <a:fillRect/>
          </a:stretch>
        </p:blipFill>
        <p:spPr>
          <a:xfrm>
            <a:off x="6582514" y="3406375"/>
            <a:ext cx="1099285" cy="615600"/>
          </a:xfrm>
          <a:prstGeom prst="rect">
            <a:avLst/>
          </a:prstGeom>
          <a:noFill/>
          <a:ln>
            <a:noFill/>
          </a:ln>
        </p:spPr>
      </p:pic>
      <p:sp>
        <p:nvSpPr>
          <p:cNvPr id="255" name="Google Shape;255;p19"/>
          <p:cNvSpPr txBox="1"/>
          <p:nvPr/>
        </p:nvSpPr>
        <p:spPr>
          <a:xfrm>
            <a:off x="4854600" y="4021975"/>
            <a:ext cx="4322400" cy="10467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dirty="0"/>
              <a:t>Compare intensity of DNA bands to standards</a:t>
            </a:r>
            <a:endParaRPr dirty="0"/>
          </a:p>
          <a:p>
            <a:pPr marL="457200" lvl="0" indent="-317500" algn="l" rtl="0">
              <a:lnSpc>
                <a:spcPct val="150000"/>
              </a:lnSpc>
              <a:spcBef>
                <a:spcPts val="0"/>
              </a:spcBef>
              <a:spcAft>
                <a:spcPts val="0"/>
              </a:spcAft>
              <a:buSzPts val="1400"/>
              <a:buChar char="●"/>
            </a:pPr>
            <a:r>
              <a:rPr lang="en" dirty="0"/>
              <a:t>Especially useful to determine concentration in certain fragment length range</a:t>
            </a:r>
            <a:endParaRPr dirty="0"/>
          </a:p>
        </p:txBody>
      </p:sp>
      <p:cxnSp>
        <p:nvCxnSpPr>
          <p:cNvPr id="256" name="Google Shape;256;p19"/>
          <p:cNvCxnSpPr/>
          <p:nvPr/>
        </p:nvCxnSpPr>
        <p:spPr>
          <a:xfrm>
            <a:off x="168875" y="1021625"/>
            <a:ext cx="4128600" cy="2516100"/>
          </a:xfrm>
          <a:prstGeom prst="straightConnector1">
            <a:avLst/>
          </a:prstGeom>
          <a:noFill/>
          <a:ln w="38100" cap="flat" cmpd="sng">
            <a:solidFill>
              <a:srgbClr val="FF0000"/>
            </a:solidFill>
            <a:prstDash val="solid"/>
            <a:round/>
            <a:headEnd type="none" w="med" len="med"/>
            <a:tailEnd type="none" w="med" len="med"/>
          </a:ln>
        </p:spPr>
      </p:cxnSp>
      <p:cxnSp>
        <p:nvCxnSpPr>
          <p:cNvPr id="257" name="Google Shape;257;p19"/>
          <p:cNvCxnSpPr/>
          <p:nvPr/>
        </p:nvCxnSpPr>
        <p:spPr>
          <a:xfrm rot="10800000" flipH="1">
            <a:off x="202625" y="1013175"/>
            <a:ext cx="4103400" cy="2516100"/>
          </a:xfrm>
          <a:prstGeom prst="straightConnector1">
            <a:avLst/>
          </a:prstGeom>
          <a:noFill/>
          <a:ln w="38100" cap="flat" cmpd="sng">
            <a:solidFill>
              <a:srgbClr val="FF0000"/>
            </a:solidFill>
            <a:prstDash val="solid"/>
            <a:round/>
            <a:headEnd type="none" w="med" len="med"/>
            <a:tailEnd type="none" w="med" len="med"/>
          </a:ln>
        </p:spPr>
      </p:cxnSp>
      <p:sp>
        <p:nvSpPr>
          <p:cNvPr id="258" name="Google Shape;258;p19"/>
          <p:cNvSpPr txBox="1"/>
          <p:nvPr/>
        </p:nvSpPr>
        <p:spPr>
          <a:xfrm>
            <a:off x="288975" y="666425"/>
            <a:ext cx="3808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FF0000"/>
                </a:solidFill>
              </a:rPr>
              <a:t>DO NOT USE to quantify libraries</a:t>
            </a:r>
            <a:endParaRPr b="1">
              <a:solidFill>
                <a:srgbClr val="FF0000"/>
              </a:solidFill>
            </a:endParaRPr>
          </a:p>
        </p:txBody>
      </p:sp>
      <p:pic>
        <p:nvPicPr>
          <p:cNvPr id="259" name="Google Shape;259;p19"/>
          <p:cNvPicPr preferRelativeResize="0"/>
          <p:nvPr/>
        </p:nvPicPr>
        <p:blipFill rotWithShape="1">
          <a:blip r:embed="rId6">
            <a:alphaModFix/>
          </a:blip>
          <a:srcRect l="22505" t="5316" r="20792" b="6523"/>
          <a:stretch/>
        </p:blipFill>
        <p:spPr>
          <a:xfrm>
            <a:off x="7426675" y="809008"/>
            <a:ext cx="1099275" cy="10981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
                                        </p:tgtEl>
                                        <p:attrNameLst>
                                          <p:attrName>style.visibility</p:attrName>
                                        </p:attrNameLst>
                                      </p:cBhvr>
                                      <p:to>
                                        <p:strVal val="visible"/>
                                      </p:to>
                                    </p:set>
                                    <p:animEffect transition="in" filter="fade">
                                      <p:cBhvr>
                                        <p:cTn id="7" dur="1000"/>
                                        <p:tgtEl>
                                          <p:spTgt spid="256"/>
                                        </p:tgtEl>
                                      </p:cBhvr>
                                    </p:animEffect>
                                  </p:childTnLst>
                                </p:cTn>
                              </p:par>
                              <p:par>
                                <p:cTn id="8" presetID="10" presetClass="entr" presetSubtype="0" fill="hold" nodeType="withEffect">
                                  <p:stCondLst>
                                    <p:cond delay="0"/>
                                  </p:stCondLst>
                                  <p:childTnLst>
                                    <p:set>
                                      <p:cBhvr>
                                        <p:cTn id="9" dur="1" fill="hold">
                                          <p:stCondLst>
                                            <p:cond delay="0"/>
                                          </p:stCondLst>
                                        </p:cTn>
                                        <p:tgtEl>
                                          <p:spTgt spid="257"/>
                                        </p:tgtEl>
                                        <p:attrNameLst>
                                          <p:attrName>style.visibility</p:attrName>
                                        </p:attrNameLst>
                                      </p:cBhvr>
                                      <p:to>
                                        <p:strVal val="visible"/>
                                      </p:to>
                                    </p:set>
                                    <p:animEffect transition="in" filter="fade">
                                      <p:cBhvr>
                                        <p:cTn id="10" dur="1000"/>
                                        <p:tgtEl>
                                          <p:spTgt spid="257"/>
                                        </p:tgtEl>
                                      </p:cBhvr>
                                    </p:animEffect>
                                  </p:childTnLst>
                                </p:cTn>
                              </p:par>
                              <p:par>
                                <p:cTn id="11" presetID="10" presetClass="entr" presetSubtype="0" fill="hold" nodeType="withEffect">
                                  <p:stCondLst>
                                    <p:cond delay="0"/>
                                  </p:stCondLst>
                                  <p:childTnLst>
                                    <p:set>
                                      <p:cBhvr>
                                        <p:cTn id="12" dur="1" fill="hold">
                                          <p:stCondLst>
                                            <p:cond delay="0"/>
                                          </p:stCondLst>
                                        </p:cTn>
                                        <p:tgtEl>
                                          <p:spTgt spid="258"/>
                                        </p:tgtEl>
                                        <p:attrNameLst>
                                          <p:attrName>style.visibility</p:attrName>
                                        </p:attrNameLst>
                                      </p:cBhvr>
                                      <p:to>
                                        <p:strVal val="visible"/>
                                      </p:to>
                                    </p:set>
                                    <p:animEffect transition="in" filter="fade">
                                      <p:cBhvr>
                                        <p:cTn id="13" dur="1000"/>
                                        <p:tgtEl>
                                          <p:spTgt spid="25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7"/>
                                        </p:tgtEl>
                                        <p:attrNameLst>
                                          <p:attrName>style.visibility</p:attrName>
                                        </p:attrNameLst>
                                      </p:cBhvr>
                                      <p:to>
                                        <p:strVal val="visible"/>
                                      </p:to>
                                    </p:set>
                                    <p:animEffect transition="in" filter="fade">
                                      <p:cBhvr>
                                        <p:cTn id="18" dur="1000"/>
                                        <p:tgtEl>
                                          <p:spTgt spid="247"/>
                                        </p:tgtEl>
                                      </p:cBhvr>
                                    </p:animEffect>
                                  </p:childTnLst>
                                </p:cTn>
                              </p:par>
                              <p:par>
                                <p:cTn id="19" presetID="10" presetClass="entr" presetSubtype="0" fill="hold" nodeType="withEffect">
                                  <p:stCondLst>
                                    <p:cond delay="0"/>
                                  </p:stCondLst>
                                  <p:childTnLst>
                                    <p:set>
                                      <p:cBhvr>
                                        <p:cTn id="20" dur="1" fill="hold">
                                          <p:stCondLst>
                                            <p:cond delay="0"/>
                                          </p:stCondLst>
                                        </p:cTn>
                                        <p:tgtEl>
                                          <p:spTgt spid="251"/>
                                        </p:tgtEl>
                                        <p:attrNameLst>
                                          <p:attrName>style.visibility</p:attrName>
                                        </p:attrNameLst>
                                      </p:cBhvr>
                                      <p:to>
                                        <p:strVal val="visible"/>
                                      </p:to>
                                    </p:set>
                                    <p:animEffect transition="in" filter="fade">
                                      <p:cBhvr>
                                        <p:cTn id="21" dur="1000"/>
                                        <p:tgtEl>
                                          <p:spTgt spid="251"/>
                                        </p:tgtEl>
                                      </p:cBhvr>
                                    </p:animEffect>
                                  </p:childTnLst>
                                </p:cTn>
                              </p:par>
                              <p:par>
                                <p:cTn id="22" presetID="10" presetClass="entr" presetSubtype="0" fill="hold" nodeType="withEffect">
                                  <p:stCondLst>
                                    <p:cond delay="0"/>
                                  </p:stCondLst>
                                  <p:childTnLst>
                                    <p:set>
                                      <p:cBhvr>
                                        <p:cTn id="23" dur="1" fill="hold">
                                          <p:stCondLst>
                                            <p:cond delay="0"/>
                                          </p:stCondLst>
                                        </p:cTn>
                                        <p:tgtEl>
                                          <p:spTgt spid="259"/>
                                        </p:tgtEl>
                                        <p:attrNameLst>
                                          <p:attrName>style.visibility</p:attrName>
                                        </p:attrNameLst>
                                      </p:cBhvr>
                                      <p:to>
                                        <p:strVal val="visible"/>
                                      </p:to>
                                    </p:set>
                                    <p:animEffect transition="in" filter="fade">
                                      <p:cBhvr>
                                        <p:cTn id="24" dur="1000"/>
                                        <p:tgtEl>
                                          <p:spTgt spid="259"/>
                                        </p:tgtEl>
                                      </p:cBhvr>
                                    </p:animEffect>
                                  </p:childTnLst>
                                </p:cTn>
                              </p:par>
                              <p:par>
                                <p:cTn id="25" presetID="10" presetClass="entr" presetSubtype="0" fill="hold" nodeType="withEffect">
                                  <p:stCondLst>
                                    <p:cond delay="0"/>
                                  </p:stCondLst>
                                  <p:childTnLst>
                                    <p:set>
                                      <p:cBhvr>
                                        <p:cTn id="26" dur="1" fill="hold">
                                          <p:stCondLst>
                                            <p:cond delay="0"/>
                                          </p:stCondLst>
                                        </p:cTn>
                                        <p:tgtEl>
                                          <p:spTgt spid="252"/>
                                        </p:tgtEl>
                                        <p:attrNameLst>
                                          <p:attrName>style.visibility</p:attrName>
                                        </p:attrNameLst>
                                      </p:cBhvr>
                                      <p:to>
                                        <p:strVal val="visible"/>
                                      </p:to>
                                    </p:set>
                                    <p:animEffect transition="in" filter="fade">
                                      <p:cBhvr>
                                        <p:cTn id="27" dur="1000"/>
                                        <p:tgtEl>
                                          <p:spTgt spid="25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3"/>
                                        </p:tgtEl>
                                        <p:attrNameLst>
                                          <p:attrName>style.visibility</p:attrName>
                                        </p:attrNameLst>
                                      </p:cBhvr>
                                      <p:to>
                                        <p:strVal val="visible"/>
                                      </p:to>
                                    </p:set>
                                    <p:animEffect transition="in" filter="fade">
                                      <p:cBhvr>
                                        <p:cTn id="32" dur="1000"/>
                                        <p:tgtEl>
                                          <p:spTgt spid="253"/>
                                        </p:tgtEl>
                                      </p:cBhvr>
                                    </p:animEffect>
                                  </p:childTnLst>
                                </p:cTn>
                              </p:par>
                              <p:par>
                                <p:cTn id="33" presetID="10" presetClass="entr" presetSubtype="0" fill="hold" nodeType="withEffect">
                                  <p:stCondLst>
                                    <p:cond delay="0"/>
                                  </p:stCondLst>
                                  <p:childTnLst>
                                    <p:set>
                                      <p:cBhvr>
                                        <p:cTn id="34" dur="1" fill="hold">
                                          <p:stCondLst>
                                            <p:cond delay="0"/>
                                          </p:stCondLst>
                                        </p:cTn>
                                        <p:tgtEl>
                                          <p:spTgt spid="254"/>
                                        </p:tgtEl>
                                        <p:attrNameLst>
                                          <p:attrName>style.visibility</p:attrName>
                                        </p:attrNameLst>
                                      </p:cBhvr>
                                      <p:to>
                                        <p:strVal val="visible"/>
                                      </p:to>
                                    </p:set>
                                    <p:animEffect transition="in" filter="fade">
                                      <p:cBhvr>
                                        <p:cTn id="35" dur="1000"/>
                                        <p:tgtEl>
                                          <p:spTgt spid="254"/>
                                        </p:tgtEl>
                                      </p:cBhvr>
                                    </p:animEffect>
                                  </p:childTnLst>
                                </p:cTn>
                              </p:par>
                              <p:par>
                                <p:cTn id="36" presetID="10" presetClass="entr" presetSubtype="0" fill="hold" nodeType="withEffect">
                                  <p:stCondLst>
                                    <p:cond delay="0"/>
                                  </p:stCondLst>
                                  <p:childTnLst>
                                    <p:set>
                                      <p:cBhvr>
                                        <p:cTn id="37" dur="1" fill="hold">
                                          <p:stCondLst>
                                            <p:cond delay="0"/>
                                          </p:stCondLst>
                                        </p:cTn>
                                        <p:tgtEl>
                                          <p:spTgt spid="255"/>
                                        </p:tgtEl>
                                        <p:attrNameLst>
                                          <p:attrName>style.visibility</p:attrName>
                                        </p:attrNameLst>
                                      </p:cBhvr>
                                      <p:to>
                                        <p:strVal val="visible"/>
                                      </p:to>
                                    </p:set>
                                    <p:animEffect transition="in" filter="fade">
                                      <p:cBhvr>
                                        <p:cTn id="38" dur="1000"/>
                                        <p:tgtEl>
                                          <p:spTgt spid="25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44"/>
                                        </p:tgtEl>
                                        <p:attrNameLst>
                                          <p:attrName>style.visibility</p:attrName>
                                        </p:attrNameLst>
                                      </p:cBhvr>
                                      <p:to>
                                        <p:strVal val="visible"/>
                                      </p:to>
                                    </p:set>
                                    <p:animEffect transition="in" filter="fade">
                                      <p:cBhvr>
                                        <p:cTn id="43"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20"/>
          <p:cNvPicPr preferRelativeResize="0"/>
          <p:nvPr/>
        </p:nvPicPr>
        <p:blipFill rotWithShape="1">
          <a:blip r:embed="rId3">
            <a:alphaModFix/>
          </a:blip>
          <a:srcRect l="24590"/>
          <a:stretch/>
        </p:blipFill>
        <p:spPr>
          <a:xfrm>
            <a:off x="1117400" y="1239288"/>
            <a:ext cx="1795625" cy="2200275"/>
          </a:xfrm>
          <a:prstGeom prst="rect">
            <a:avLst/>
          </a:prstGeom>
          <a:noFill/>
          <a:ln>
            <a:noFill/>
          </a:ln>
        </p:spPr>
      </p:pic>
      <p:sp>
        <p:nvSpPr>
          <p:cNvPr id="266" name="Google Shape;266;p20"/>
          <p:cNvSpPr txBox="1">
            <a:spLocks noGrp="1"/>
          </p:cNvSpPr>
          <p:nvPr>
            <p:ph type="title"/>
          </p:nvPr>
        </p:nvSpPr>
        <p:spPr>
          <a:xfrm>
            <a:off x="115150" y="93725"/>
            <a:ext cx="5668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65" name="Google Shape;265;p20"/>
          <p:cNvSpPr txBox="1">
            <a:spLocks noGrp="1"/>
          </p:cNvSpPr>
          <p:nvPr>
            <p:ph type="body" idx="1"/>
          </p:nvPr>
        </p:nvSpPr>
        <p:spPr>
          <a:xfrm>
            <a:off x="132525" y="743000"/>
            <a:ext cx="5864100" cy="304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268" name="Google Shape;268;p20"/>
          <p:cNvSpPr txBox="1">
            <a:spLocks noGrp="1"/>
          </p:cNvSpPr>
          <p:nvPr>
            <p:ph type="body" idx="4294967295"/>
          </p:nvPr>
        </p:nvSpPr>
        <p:spPr>
          <a:xfrm>
            <a:off x="3281363" y="1522413"/>
            <a:ext cx="5862637" cy="2098675"/>
          </a:xfrm>
          <a:prstGeom prst="rect">
            <a:avLst/>
          </a:prstGeom>
        </p:spPr>
        <p:txBody>
          <a:bodyPr spcFirstLastPara="1" wrap="square" lIns="91425" tIns="91425" rIns="91425" bIns="91425" anchor="t" anchorCtr="0">
            <a:noAutofit/>
          </a:bodyPr>
          <a:lstStyle/>
          <a:p>
            <a:pPr marL="171450" lvl="0" indent="-146050" algn="l" rtl="0">
              <a:lnSpc>
                <a:spcPct val="150000"/>
              </a:lnSpc>
              <a:spcBef>
                <a:spcPts val="0"/>
              </a:spcBef>
              <a:spcAft>
                <a:spcPts val="0"/>
              </a:spcAft>
              <a:buClr>
                <a:srgbClr val="000000"/>
              </a:buClr>
              <a:buSzPts val="1400"/>
              <a:buAutoNum type="arabicPeriod"/>
            </a:pPr>
            <a:r>
              <a:rPr lang="en" sz="1400" dirty="0">
                <a:solidFill>
                  <a:srgbClr val="000000"/>
                </a:solidFill>
              </a:rPr>
              <a:t>Prepare Working Solution:</a:t>
            </a:r>
            <a:endParaRPr sz="1400" dirty="0">
              <a:solidFill>
                <a:srgbClr val="000000"/>
              </a:solidFill>
            </a:endParaRPr>
          </a:p>
          <a:p>
            <a:pPr marL="342900" lvl="1" indent="-146050" algn="l" rtl="0">
              <a:lnSpc>
                <a:spcPct val="150000"/>
              </a:lnSpc>
              <a:spcBef>
                <a:spcPts val="0"/>
              </a:spcBef>
              <a:spcAft>
                <a:spcPts val="0"/>
              </a:spcAft>
              <a:buClr>
                <a:srgbClr val="000000"/>
              </a:buClr>
              <a:buSzPts val="1400"/>
              <a:buChar char="○"/>
            </a:pPr>
            <a:r>
              <a:rPr lang="en" dirty="0">
                <a:solidFill>
                  <a:srgbClr val="000000"/>
                </a:solidFill>
              </a:rPr>
              <a:t>D</a:t>
            </a:r>
            <a:r>
              <a:rPr lang="en" sz="1400" dirty="0">
                <a:solidFill>
                  <a:srgbClr val="000000"/>
                </a:solidFill>
              </a:rPr>
              <a:t>iluting HS reagent 1:200 in HS buffer</a:t>
            </a:r>
            <a:endParaRPr sz="1400" dirty="0">
              <a:solidFill>
                <a:srgbClr val="000000"/>
              </a:solidFill>
            </a:endParaRPr>
          </a:p>
          <a:p>
            <a:pPr marL="914400" lvl="0" indent="0" algn="l" rtl="0">
              <a:lnSpc>
                <a:spcPct val="150000"/>
              </a:lnSpc>
              <a:spcBef>
                <a:spcPts val="0"/>
              </a:spcBef>
              <a:spcAft>
                <a:spcPts val="0"/>
              </a:spcAft>
              <a:buNone/>
            </a:pPr>
            <a:endParaRPr dirty="0">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dirty="0">
                <a:solidFill>
                  <a:srgbClr val="000000"/>
                </a:solidFill>
              </a:rPr>
              <a:t>Dilute in Working Solution:</a:t>
            </a:r>
            <a:endParaRPr sz="1400" dirty="0">
              <a:solidFill>
                <a:srgbClr val="000000"/>
              </a:solidFill>
            </a:endParaRPr>
          </a:p>
          <a:p>
            <a:pPr marL="342900" lvl="1" indent="-146050" algn="l" rtl="0">
              <a:lnSpc>
                <a:spcPct val="150000"/>
              </a:lnSpc>
              <a:spcBef>
                <a:spcPts val="0"/>
              </a:spcBef>
              <a:spcAft>
                <a:spcPts val="0"/>
              </a:spcAft>
              <a:buClr>
                <a:srgbClr val="000000"/>
              </a:buClr>
              <a:buSzPts val="1400"/>
              <a:buChar char="○"/>
            </a:pPr>
            <a:r>
              <a:rPr lang="en" dirty="0">
                <a:solidFill>
                  <a:srgbClr val="000000"/>
                </a:solidFill>
              </a:rPr>
              <a:t>Standards: 10 </a:t>
            </a:r>
            <a:r>
              <a:rPr lang="en" dirty="0" err="1">
                <a:solidFill>
                  <a:srgbClr val="000000"/>
                </a:solidFill>
              </a:rPr>
              <a:t>μl</a:t>
            </a:r>
            <a:r>
              <a:rPr lang="en" dirty="0">
                <a:solidFill>
                  <a:srgbClr val="000000"/>
                </a:solidFill>
              </a:rPr>
              <a:t> standard + 190 </a:t>
            </a:r>
            <a:r>
              <a:rPr lang="en" dirty="0" err="1">
                <a:solidFill>
                  <a:srgbClr val="000000"/>
                </a:solidFill>
              </a:rPr>
              <a:t>μl</a:t>
            </a:r>
            <a:r>
              <a:rPr lang="en" dirty="0">
                <a:solidFill>
                  <a:srgbClr val="000000"/>
                </a:solidFill>
              </a:rPr>
              <a:t> Working Solution</a:t>
            </a:r>
            <a:endParaRPr dirty="0">
              <a:solidFill>
                <a:srgbClr val="000000"/>
              </a:solidFill>
            </a:endParaRPr>
          </a:p>
          <a:p>
            <a:pPr marL="342900" lvl="1" indent="-146050" algn="l" rtl="0">
              <a:lnSpc>
                <a:spcPct val="150000"/>
              </a:lnSpc>
              <a:spcBef>
                <a:spcPts val="0"/>
              </a:spcBef>
              <a:spcAft>
                <a:spcPts val="0"/>
              </a:spcAft>
              <a:buClr>
                <a:srgbClr val="000000"/>
              </a:buClr>
              <a:buSzPts val="1400"/>
              <a:buChar char="○"/>
            </a:pPr>
            <a:r>
              <a:rPr lang="en" dirty="0">
                <a:solidFill>
                  <a:srgbClr val="000000"/>
                </a:solidFill>
              </a:rPr>
              <a:t>Samples: 1 </a:t>
            </a:r>
            <a:r>
              <a:rPr lang="en" dirty="0" err="1">
                <a:solidFill>
                  <a:srgbClr val="000000"/>
                </a:solidFill>
              </a:rPr>
              <a:t>μl</a:t>
            </a:r>
            <a:r>
              <a:rPr lang="en" dirty="0">
                <a:solidFill>
                  <a:srgbClr val="000000"/>
                </a:solidFill>
              </a:rPr>
              <a:t> sample + 199 </a:t>
            </a:r>
            <a:r>
              <a:rPr lang="en" dirty="0" err="1">
                <a:solidFill>
                  <a:srgbClr val="000000"/>
                </a:solidFill>
              </a:rPr>
              <a:t>μl</a:t>
            </a:r>
            <a:r>
              <a:rPr lang="en" dirty="0">
                <a:solidFill>
                  <a:srgbClr val="000000"/>
                </a:solidFill>
              </a:rPr>
              <a:t> Working Solution</a:t>
            </a:r>
            <a:endParaRPr dirty="0">
              <a:solidFill>
                <a:srgbClr val="000000"/>
              </a:solidFill>
            </a:endParaRPr>
          </a:p>
          <a:p>
            <a:pPr marL="914400" lvl="0" indent="0" algn="l" rtl="0">
              <a:lnSpc>
                <a:spcPct val="150000"/>
              </a:lnSpc>
              <a:spcBef>
                <a:spcPts val="0"/>
              </a:spcBef>
              <a:spcAft>
                <a:spcPts val="0"/>
              </a:spcAft>
              <a:buNone/>
            </a:pPr>
            <a:endParaRPr dirty="0">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dirty="0">
                <a:solidFill>
                  <a:srgbClr val="000000"/>
                </a:solidFill>
              </a:rPr>
              <a:t>Vortex 2-3 seconds before running standards/samples</a:t>
            </a:r>
            <a:endParaRPr sz="1400" dirty="0">
              <a:solidFill>
                <a:srgbClr val="000000"/>
              </a:solidFill>
            </a:endParaRPr>
          </a:p>
          <a:p>
            <a:pPr marL="0" lvl="0" indent="0" algn="l" rtl="0">
              <a:lnSpc>
                <a:spcPct val="150000"/>
              </a:lnSpc>
              <a:spcBef>
                <a:spcPts val="0"/>
              </a:spcBef>
              <a:spcAft>
                <a:spcPts val="0"/>
              </a:spcAft>
              <a:buNone/>
            </a:pPr>
            <a:endParaRPr sz="1400" dirty="0">
              <a:solidFill>
                <a:srgbClr val="000000"/>
              </a:solidFill>
            </a:endParaRPr>
          </a:p>
        </p:txBody>
      </p:sp>
      <p:sp>
        <p:nvSpPr>
          <p:cNvPr id="267" name="Google Shape;267;p20"/>
          <p:cNvSpPr txBox="1"/>
          <p:nvPr/>
        </p:nvSpPr>
        <p:spPr>
          <a:xfrm>
            <a:off x="204300" y="3439575"/>
            <a:ext cx="4200900" cy="1369800"/>
          </a:xfrm>
          <a:prstGeom prst="rect">
            <a:avLst/>
          </a:prstGeom>
          <a:noFill/>
          <a:ln>
            <a:noFill/>
          </a:ln>
        </p:spPr>
        <p:txBody>
          <a:bodyPr spcFirstLastPara="1" wrap="square" lIns="91425" tIns="91425" rIns="91425" bIns="91425" anchor="t" anchorCtr="0">
            <a:spAutoFit/>
          </a:bodyPr>
          <a:lstStyle/>
          <a:p>
            <a:pPr marL="171450" lvl="0" indent="-146050" algn="l" rtl="0">
              <a:lnSpc>
                <a:spcPct val="150000"/>
              </a:lnSpc>
              <a:spcBef>
                <a:spcPts val="0"/>
              </a:spcBef>
              <a:spcAft>
                <a:spcPts val="0"/>
              </a:spcAft>
              <a:buClr>
                <a:schemeClr val="dk1"/>
              </a:buClr>
              <a:buSzPts val="1400"/>
              <a:buChar char="●"/>
            </a:pPr>
            <a:r>
              <a:rPr lang="en">
                <a:solidFill>
                  <a:schemeClr val="dk1"/>
                </a:solidFill>
              </a:rPr>
              <a:t>dsDNA HS Reagent (200x concentrate)</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Buffer</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#1</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txBox="1"/>
          <p:nvPr/>
        </p:nvSpPr>
        <p:spPr>
          <a:xfrm>
            <a:off x="0" y="3911050"/>
            <a:ext cx="2346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Select dsDNA HS workflow</a:t>
            </a:r>
            <a:endParaRPr/>
          </a:p>
        </p:txBody>
      </p:sp>
      <p:pic>
        <p:nvPicPr>
          <p:cNvPr id="274" name="Google Shape;274;p21"/>
          <p:cNvPicPr preferRelativeResize="0"/>
          <p:nvPr/>
        </p:nvPicPr>
        <p:blipFill>
          <a:blip r:embed="rId3">
            <a:alphaModFix/>
          </a:blip>
          <a:stretch>
            <a:fillRect/>
          </a:stretch>
        </p:blipFill>
        <p:spPr>
          <a:xfrm>
            <a:off x="230400" y="1211425"/>
            <a:ext cx="1959197" cy="2602782"/>
          </a:xfrm>
          <a:prstGeom prst="rect">
            <a:avLst/>
          </a:prstGeom>
          <a:noFill/>
          <a:ln>
            <a:noFill/>
          </a:ln>
        </p:spPr>
      </p:pic>
      <p:pic>
        <p:nvPicPr>
          <p:cNvPr id="275" name="Google Shape;275;p21"/>
          <p:cNvPicPr preferRelativeResize="0"/>
          <p:nvPr/>
        </p:nvPicPr>
        <p:blipFill rotWithShape="1">
          <a:blip r:embed="rId4">
            <a:alphaModFix/>
          </a:blip>
          <a:srcRect t="2064" b="998"/>
          <a:stretch/>
        </p:blipFill>
        <p:spPr>
          <a:xfrm>
            <a:off x="2328448" y="1211425"/>
            <a:ext cx="2023625" cy="2602775"/>
          </a:xfrm>
          <a:prstGeom prst="rect">
            <a:avLst/>
          </a:prstGeom>
          <a:noFill/>
          <a:ln>
            <a:noFill/>
          </a:ln>
        </p:spPr>
      </p:pic>
      <p:pic>
        <p:nvPicPr>
          <p:cNvPr id="276" name="Google Shape;276;p21"/>
          <p:cNvPicPr preferRelativeResize="0"/>
          <p:nvPr/>
        </p:nvPicPr>
        <p:blipFill rotWithShape="1">
          <a:blip r:embed="rId5">
            <a:alphaModFix/>
          </a:blip>
          <a:srcRect l="2653" t="921" r="2235" b="2085"/>
          <a:stretch/>
        </p:blipFill>
        <p:spPr>
          <a:xfrm>
            <a:off x="4490924" y="1211425"/>
            <a:ext cx="1959201" cy="2608922"/>
          </a:xfrm>
          <a:prstGeom prst="rect">
            <a:avLst/>
          </a:prstGeom>
          <a:noFill/>
          <a:ln>
            <a:noFill/>
          </a:ln>
        </p:spPr>
      </p:pic>
      <p:pic>
        <p:nvPicPr>
          <p:cNvPr id="277" name="Google Shape;277;p21"/>
          <p:cNvPicPr preferRelativeResize="0"/>
          <p:nvPr/>
        </p:nvPicPr>
        <p:blipFill rotWithShape="1">
          <a:blip r:embed="rId6">
            <a:alphaModFix/>
          </a:blip>
          <a:srcRect t="1220" b="1936"/>
          <a:stretch/>
        </p:blipFill>
        <p:spPr>
          <a:xfrm>
            <a:off x="6588975" y="1211425"/>
            <a:ext cx="2100384" cy="2608924"/>
          </a:xfrm>
          <a:prstGeom prst="rect">
            <a:avLst/>
          </a:prstGeom>
          <a:noFill/>
          <a:ln>
            <a:noFill/>
          </a:ln>
        </p:spPr>
      </p:pic>
      <p:sp>
        <p:nvSpPr>
          <p:cNvPr id="278" name="Google Shape;278;p21"/>
          <p:cNvSpPr txBox="1"/>
          <p:nvPr/>
        </p:nvSpPr>
        <p:spPr>
          <a:xfrm>
            <a:off x="2073600" y="3911050"/>
            <a:ext cx="234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the 2 standards</a:t>
            </a:r>
            <a:endParaRPr/>
          </a:p>
        </p:txBody>
      </p:sp>
      <p:sp>
        <p:nvSpPr>
          <p:cNvPr id="279" name="Google Shape;279;p21"/>
          <p:cNvSpPr txBox="1"/>
          <p:nvPr/>
        </p:nvSpPr>
        <p:spPr>
          <a:xfrm>
            <a:off x="4297525" y="3911050"/>
            <a:ext cx="2346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Enter sample volume added to tube</a:t>
            </a:r>
            <a:endParaRPr/>
          </a:p>
        </p:txBody>
      </p:sp>
      <p:sp>
        <p:nvSpPr>
          <p:cNvPr id="280" name="Google Shape;280;p21"/>
          <p:cNvSpPr txBox="1"/>
          <p:nvPr/>
        </p:nvSpPr>
        <p:spPr>
          <a:xfrm>
            <a:off x="6466176" y="3911050"/>
            <a:ext cx="2587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sample</a:t>
            </a:r>
            <a:endParaRPr/>
          </a:p>
          <a:p>
            <a:pPr marL="0" lvl="0" indent="0" algn="ctr" rtl="0">
              <a:spcBef>
                <a:spcPts val="0"/>
              </a:spcBef>
              <a:spcAft>
                <a:spcPts val="0"/>
              </a:spcAft>
              <a:buNone/>
            </a:pPr>
            <a:r>
              <a:rPr lang="en"/>
              <a:t>Top value = original conc.</a:t>
            </a:r>
            <a:endParaRPr/>
          </a:p>
          <a:p>
            <a:pPr marL="0" lvl="0" indent="0" algn="ctr" rtl="0">
              <a:spcBef>
                <a:spcPts val="0"/>
              </a:spcBef>
              <a:spcAft>
                <a:spcPts val="0"/>
              </a:spcAft>
              <a:buNone/>
            </a:pPr>
            <a:r>
              <a:rPr lang="en"/>
              <a:t>Bottom value = diluted conc.</a:t>
            </a:r>
            <a:endParaRPr/>
          </a:p>
        </p:txBody>
      </p:sp>
      <p:sp>
        <p:nvSpPr>
          <p:cNvPr id="281" name="Google Shape;281;p21"/>
          <p:cNvSpPr/>
          <p:nvPr/>
        </p:nvSpPr>
        <p:spPr>
          <a:xfrm>
            <a:off x="6652400" y="4207325"/>
            <a:ext cx="2158800" cy="242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1"/>
          <p:cNvSpPr txBox="1">
            <a:spLocks noGrp="1"/>
          </p:cNvSpPr>
          <p:nvPr>
            <p:ph type="body" idx="4294967295"/>
          </p:nvPr>
        </p:nvSpPr>
        <p:spPr>
          <a:xfrm>
            <a:off x="0" y="742950"/>
            <a:ext cx="5864225" cy="30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283" name="Google Shape;283;p21"/>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3" name="7-Point Star 2">
            <a:extLst>
              <a:ext uri="{FF2B5EF4-FFF2-40B4-BE49-F238E27FC236}">
                <a16:creationId xmlns:a16="http://schemas.microsoft.com/office/drawing/2014/main" id="{35A744D1-29E0-F22C-5AFF-726D255C735E}"/>
              </a:ext>
            </a:extLst>
          </p:cNvPr>
          <p:cNvSpPr/>
          <p:nvPr/>
        </p:nvSpPr>
        <p:spPr>
          <a:xfrm>
            <a:off x="3435230" y="1774238"/>
            <a:ext cx="152400" cy="180958"/>
          </a:xfrm>
          <a:prstGeom prst="star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7-Point Star 4">
            <a:extLst>
              <a:ext uri="{FF2B5EF4-FFF2-40B4-BE49-F238E27FC236}">
                <a16:creationId xmlns:a16="http://schemas.microsoft.com/office/drawing/2014/main" id="{98F37DE1-C138-F4F8-177B-F65F2CAF9B61}"/>
              </a:ext>
            </a:extLst>
          </p:cNvPr>
          <p:cNvSpPr/>
          <p:nvPr/>
        </p:nvSpPr>
        <p:spPr>
          <a:xfrm>
            <a:off x="2518388" y="1789035"/>
            <a:ext cx="152400" cy="180958"/>
          </a:xfrm>
          <a:prstGeom prst="star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2C80DE7-FDE2-EBAF-238E-E84D6C314D87}"/>
              </a:ext>
            </a:extLst>
          </p:cNvPr>
          <p:cNvSpPr txBox="1"/>
          <p:nvPr/>
        </p:nvSpPr>
        <p:spPr>
          <a:xfrm>
            <a:off x="181513" y="4505471"/>
            <a:ext cx="5304348" cy="461665"/>
          </a:xfrm>
          <a:prstGeom prst="rect">
            <a:avLst/>
          </a:prstGeom>
          <a:solidFill>
            <a:srgbClr val="002060"/>
          </a:solidFill>
          <a:ln>
            <a:noFill/>
          </a:ln>
        </p:spPr>
        <p:txBody>
          <a:bodyPr wrap="square" rtlCol="0">
            <a:spAutoFit/>
          </a:bodyPr>
          <a:lstStyle/>
          <a:p>
            <a:r>
              <a:rPr lang="en-US" sz="1000" dirty="0">
                <a:solidFill>
                  <a:schemeClr val="bg1"/>
                </a:solidFill>
              </a:rPr>
              <a:t>We recommend keeping a log of the RFU values every time the standards are measured. Over time the fluorescence decays and can inadvertently give erroneous quantifications</a:t>
            </a:r>
            <a:r>
              <a:rPr lang="en-US" dirty="0">
                <a:solidFill>
                  <a:schemeClr val="bg1"/>
                </a:solidFill>
              </a:rPr>
              <a:t> </a:t>
            </a:r>
          </a:p>
        </p:txBody>
      </p:sp>
      <p:sp>
        <p:nvSpPr>
          <p:cNvPr id="7" name="7-Point Star 6">
            <a:extLst>
              <a:ext uri="{FF2B5EF4-FFF2-40B4-BE49-F238E27FC236}">
                <a16:creationId xmlns:a16="http://schemas.microsoft.com/office/drawing/2014/main" id="{2C3F5698-F826-AFFF-788F-4D79785A2FDA}"/>
              </a:ext>
            </a:extLst>
          </p:cNvPr>
          <p:cNvSpPr/>
          <p:nvPr/>
        </p:nvSpPr>
        <p:spPr>
          <a:xfrm>
            <a:off x="14424" y="4645824"/>
            <a:ext cx="152400" cy="180958"/>
          </a:xfrm>
          <a:prstGeom prst="star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89" name="Google Shape;289;p22"/>
          <p:cNvSpPr txBox="1"/>
          <p:nvPr/>
        </p:nvSpPr>
        <p:spPr>
          <a:xfrm>
            <a:off x="169725" y="633000"/>
            <a:ext cx="9229500" cy="1477297"/>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b="1" dirty="0"/>
              <a:t>What if the concentration is too low?</a:t>
            </a:r>
            <a:endParaRPr b="1" dirty="0"/>
          </a:p>
          <a:p>
            <a:pPr marL="914400" lvl="1" indent="-317500" algn="l" rtl="0">
              <a:lnSpc>
                <a:spcPct val="150000"/>
              </a:lnSpc>
              <a:spcBef>
                <a:spcPts val="0"/>
              </a:spcBef>
              <a:spcAft>
                <a:spcPts val="0"/>
              </a:spcAft>
              <a:buSzPts val="1400"/>
              <a:buChar char="○"/>
            </a:pPr>
            <a:r>
              <a:rPr lang="en" dirty="0">
                <a:solidFill>
                  <a:schemeClr val="dk1"/>
                </a:solidFill>
              </a:rPr>
              <a:t>In future runs, consider adding more cycles to the indexing PCR step</a:t>
            </a:r>
            <a:endParaRPr dirty="0"/>
          </a:p>
          <a:p>
            <a:pPr marL="914400" lvl="1" indent="-317500" algn="l" rtl="0">
              <a:lnSpc>
                <a:spcPct val="150000"/>
              </a:lnSpc>
              <a:spcBef>
                <a:spcPts val="0"/>
              </a:spcBef>
              <a:spcAft>
                <a:spcPts val="0"/>
              </a:spcAft>
              <a:buSzPts val="1400"/>
              <a:buChar char="○"/>
            </a:pPr>
            <a:r>
              <a:rPr lang="en" dirty="0"/>
              <a:t>Amplify library using P5/P7 primers and qPCR-based library amplification kit </a:t>
            </a:r>
            <a:endParaRPr dirty="0"/>
          </a:p>
          <a:p>
            <a:pPr marL="457200" lvl="0" indent="0" algn="l" rtl="0">
              <a:lnSpc>
                <a:spcPct val="150000"/>
              </a:lnSpc>
              <a:spcBef>
                <a:spcPts val="0"/>
              </a:spcBef>
              <a:spcAft>
                <a:spcPts val="0"/>
              </a:spcAft>
              <a:buNone/>
            </a:pPr>
            <a:endParaRPr dirty="0"/>
          </a:p>
        </p:txBody>
      </p:sp>
      <p:pic>
        <p:nvPicPr>
          <p:cNvPr id="290" name="Google Shape;290;p22"/>
          <p:cNvPicPr preferRelativeResize="0"/>
          <p:nvPr/>
        </p:nvPicPr>
        <p:blipFill>
          <a:blip r:embed="rId3">
            <a:alphaModFix/>
          </a:blip>
          <a:stretch>
            <a:fillRect/>
          </a:stretch>
        </p:blipFill>
        <p:spPr>
          <a:xfrm>
            <a:off x="5658153" y="1960600"/>
            <a:ext cx="3409651" cy="2902374"/>
          </a:xfrm>
          <a:prstGeom prst="rect">
            <a:avLst/>
          </a:prstGeom>
          <a:noFill/>
          <a:ln>
            <a:noFill/>
          </a:ln>
        </p:spPr>
      </p:pic>
      <p:sp>
        <p:nvSpPr>
          <p:cNvPr id="291" name="Google Shape;291;p22"/>
          <p:cNvSpPr txBox="1"/>
          <p:nvPr/>
        </p:nvSpPr>
        <p:spPr>
          <a:xfrm>
            <a:off x="4678575" y="2343450"/>
            <a:ext cx="6957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92" name="Google Shape;292;p22"/>
          <p:cNvSpPr txBox="1"/>
          <p:nvPr/>
        </p:nvSpPr>
        <p:spPr>
          <a:xfrm>
            <a:off x="6538975" y="3603213"/>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1</a:t>
            </a:r>
            <a:endParaRPr/>
          </a:p>
        </p:txBody>
      </p:sp>
      <p:sp>
        <p:nvSpPr>
          <p:cNvPr id="293" name="Google Shape;293;p22"/>
          <p:cNvSpPr txBox="1"/>
          <p:nvPr/>
        </p:nvSpPr>
        <p:spPr>
          <a:xfrm>
            <a:off x="6538975" y="3125738"/>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2</a:t>
            </a:r>
            <a:endParaRPr/>
          </a:p>
        </p:txBody>
      </p:sp>
      <p:sp>
        <p:nvSpPr>
          <p:cNvPr id="294" name="Google Shape;294;p22"/>
          <p:cNvSpPr txBox="1"/>
          <p:nvPr/>
        </p:nvSpPr>
        <p:spPr>
          <a:xfrm>
            <a:off x="6538975" y="2572063"/>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3</a:t>
            </a:r>
            <a:endParaRPr/>
          </a:p>
        </p:txBody>
      </p:sp>
      <p:sp>
        <p:nvSpPr>
          <p:cNvPr id="295" name="Google Shape;295;p22"/>
          <p:cNvSpPr txBox="1"/>
          <p:nvPr/>
        </p:nvSpPr>
        <p:spPr>
          <a:xfrm>
            <a:off x="6538975" y="2277625"/>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4</a:t>
            </a:r>
            <a:endParaRPr/>
          </a:p>
        </p:txBody>
      </p:sp>
      <p:sp>
        <p:nvSpPr>
          <p:cNvPr id="296" name="Google Shape;296;p22"/>
          <p:cNvSpPr txBox="1"/>
          <p:nvPr/>
        </p:nvSpPr>
        <p:spPr>
          <a:xfrm>
            <a:off x="115150" y="1981625"/>
            <a:ext cx="5982000" cy="3024600"/>
          </a:xfrm>
          <a:prstGeom prst="rect">
            <a:avLst/>
          </a:prstGeom>
          <a:noFill/>
          <a:ln>
            <a:noFill/>
          </a:ln>
        </p:spPr>
        <p:txBody>
          <a:bodyPr spcFirstLastPara="1" wrap="square" lIns="114300" tIns="91425" rIns="91425" bIns="91425" anchor="t" anchorCtr="0">
            <a:spAutoFit/>
          </a:bodyPr>
          <a:lstStyle/>
          <a:p>
            <a:pPr marL="228600" lvl="0" indent="-190500" algn="l" rtl="0">
              <a:lnSpc>
                <a:spcPct val="150000"/>
              </a:lnSpc>
              <a:spcBef>
                <a:spcPts val="0"/>
              </a:spcBef>
              <a:spcAft>
                <a:spcPts val="0"/>
              </a:spcAft>
              <a:buSzPts val="1200"/>
              <a:buAutoNum type="arabicPeriod"/>
            </a:pPr>
            <a:r>
              <a:rPr lang="en" sz="1200"/>
              <a:t>Set up qPCR reaction: library + mastermix + P5/P7 primers</a:t>
            </a:r>
            <a:endParaRPr sz="1200"/>
          </a:p>
          <a:p>
            <a:pPr marL="228600" lvl="0" indent="-190500" algn="l" rtl="0">
              <a:lnSpc>
                <a:spcPct val="150000"/>
              </a:lnSpc>
              <a:spcBef>
                <a:spcPts val="0"/>
              </a:spcBef>
              <a:spcAft>
                <a:spcPts val="0"/>
              </a:spcAft>
              <a:buSzPts val="1200"/>
              <a:buAutoNum type="arabicPeriod"/>
            </a:pPr>
            <a:r>
              <a:rPr lang="en" sz="1200"/>
              <a:t>Treat standards as separate samples (do not add mastermix)</a:t>
            </a:r>
            <a:endParaRPr sz="1200"/>
          </a:p>
          <a:p>
            <a:pPr marL="228600" lvl="0" indent="-190500" algn="l" rtl="0">
              <a:lnSpc>
                <a:spcPct val="150000"/>
              </a:lnSpc>
              <a:spcBef>
                <a:spcPts val="0"/>
              </a:spcBef>
              <a:spcAft>
                <a:spcPts val="0"/>
              </a:spcAft>
              <a:buSzPts val="1200"/>
              <a:buAutoNum type="arabicPeriod"/>
            </a:pPr>
            <a:r>
              <a:rPr lang="en" sz="1200"/>
              <a:t>Start run</a:t>
            </a: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600"/>
          </a:p>
          <a:p>
            <a:pPr marL="0" lvl="0" indent="0" algn="l" rtl="0">
              <a:lnSpc>
                <a:spcPct val="150000"/>
              </a:lnSpc>
              <a:spcBef>
                <a:spcPts val="0"/>
              </a:spcBef>
              <a:spcAft>
                <a:spcPts val="0"/>
              </a:spcAft>
              <a:buNone/>
            </a:pPr>
            <a:endParaRPr sz="2500"/>
          </a:p>
          <a:p>
            <a:pPr marL="228600" lvl="0" indent="-190500" algn="l" rtl="0">
              <a:lnSpc>
                <a:spcPct val="150000"/>
              </a:lnSpc>
              <a:spcBef>
                <a:spcPts val="0"/>
              </a:spcBef>
              <a:spcAft>
                <a:spcPts val="0"/>
              </a:spcAft>
              <a:buSzPts val="1200"/>
              <a:buAutoNum type="arabicPeriod"/>
            </a:pPr>
            <a:r>
              <a:rPr lang="en" sz="1200"/>
              <a:t>Pause cycler </a:t>
            </a:r>
            <a:r>
              <a:rPr lang="en" sz="1200" u="sng"/>
              <a:t>during the 20s at 72°C step</a:t>
            </a:r>
            <a:r>
              <a:rPr lang="en" sz="1200"/>
              <a:t> when a sample crossed the Standard 2 line, remove the sample and continue amplification for other samples</a:t>
            </a:r>
            <a:endParaRPr sz="1200"/>
          </a:p>
          <a:p>
            <a:pPr marL="228600" lvl="0" indent="-190500" algn="l" rtl="0">
              <a:lnSpc>
                <a:spcPct val="150000"/>
              </a:lnSpc>
              <a:spcBef>
                <a:spcPts val="0"/>
              </a:spcBef>
              <a:spcAft>
                <a:spcPts val="0"/>
              </a:spcAft>
              <a:buSzPts val="1200"/>
              <a:buAutoNum type="arabicPeriod"/>
            </a:pPr>
            <a:r>
              <a:rPr lang="en" sz="1200"/>
              <a:t>After amplification, perform bead cleanup on amplified libraries and QC again</a:t>
            </a:r>
            <a:endParaRPr sz="1200"/>
          </a:p>
        </p:txBody>
      </p:sp>
      <p:pic>
        <p:nvPicPr>
          <p:cNvPr id="297" name="Google Shape;297;p22"/>
          <p:cNvPicPr preferRelativeResize="0"/>
          <p:nvPr/>
        </p:nvPicPr>
        <p:blipFill>
          <a:blip r:embed="rId4">
            <a:alphaModFix/>
          </a:blip>
          <a:stretch>
            <a:fillRect/>
          </a:stretch>
        </p:blipFill>
        <p:spPr>
          <a:xfrm>
            <a:off x="1227100" y="2744373"/>
            <a:ext cx="2850050" cy="1334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1000"/>
                                        <p:tgtEl>
                                          <p:spTgt spid="290"/>
                                        </p:tgtEl>
                                      </p:cBhvr>
                                    </p:animEffect>
                                  </p:childTnLst>
                                </p:cTn>
                              </p:par>
                              <p:par>
                                <p:cTn id="8" presetID="10" presetClass="entr" presetSubtype="0" fill="hold" nodeType="withEffect">
                                  <p:stCondLst>
                                    <p:cond delay="0"/>
                                  </p:stCondLst>
                                  <p:childTnLst>
                                    <p:set>
                                      <p:cBhvr>
                                        <p:cTn id="9" dur="1" fill="hold">
                                          <p:stCondLst>
                                            <p:cond delay="0"/>
                                          </p:stCondLst>
                                        </p:cTn>
                                        <p:tgtEl>
                                          <p:spTgt spid="291"/>
                                        </p:tgtEl>
                                        <p:attrNameLst>
                                          <p:attrName>style.visibility</p:attrName>
                                        </p:attrNameLst>
                                      </p:cBhvr>
                                      <p:to>
                                        <p:strVal val="visible"/>
                                      </p:to>
                                    </p:set>
                                    <p:animEffect transition="in" filter="fade">
                                      <p:cBhvr>
                                        <p:cTn id="10" dur="1000"/>
                                        <p:tgtEl>
                                          <p:spTgt spid="291"/>
                                        </p:tgtEl>
                                      </p:cBhvr>
                                    </p:animEffect>
                                  </p:childTnLst>
                                </p:cTn>
                              </p:par>
                              <p:par>
                                <p:cTn id="11" presetID="10" presetClass="entr" presetSubtype="0" fill="hold" nodeType="withEffect">
                                  <p:stCondLst>
                                    <p:cond delay="0"/>
                                  </p:stCondLst>
                                  <p:childTnLst>
                                    <p:set>
                                      <p:cBhvr>
                                        <p:cTn id="12" dur="1" fill="hold">
                                          <p:stCondLst>
                                            <p:cond delay="0"/>
                                          </p:stCondLst>
                                        </p:cTn>
                                        <p:tgtEl>
                                          <p:spTgt spid="292"/>
                                        </p:tgtEl>
                                        <p:attrNameLst>
                                          <p:attrName>style.visibility</p:attrName>
                                        </p:attrNameLst>
                                      </p:cBhvr>
                                      <p:to>
                                        <p:strVal val="visible"/>
                                      </p:to>
                                    </p:set>
                                    <p:animEffect transition="in" filter="fade">
                                      <p:cBhvr>
                                        <p:cTn id="13" dur="1000"/>
                                        <p:tgtEl>
                                          <p:spTgt spid="292"/>
                                        </p:tgtEl>
                                      </p:cBhvr>
                                    </p:animEffect>
                                  </p:childTnLst>
                                </p:cTn>
                              </p:par>
                              <p:par>
                                <p:cTn id="14" presetID="10" presetClass="entr" presetSubtype="0" fill="hold" nodeType="withEffect">
                                  <p:stCondLst>
                                    <p:cond delay="0"/>
                                  </p:stCondLst>
                                  <p:childTnLst>
                                    <p:set>
                                      <p:cBhvr>
                                        <p:cTn id="15" dur="1" fill="hold">
                                          <p:stCondLst>
                                            <p:cond delay="0"/>
                                          </p:stCondLst>
                                        </p:cTn>
                                        <p:tgtEl>
                                          <p:spTgt spid="293"/>
                                        </p:tgtEl>
                                        <p:attrNameLst>
                                          <p:attrName>style.visibility</p:attrName>
                                        </p:attrNameLst>
                                      </p:cBhvr>
                                      <p:to>
                                        <p:strVal val="visible"/>
                                      </p:to>
                                    </p:set>
                                    <p:animEffect transition="in" filter="fade">
                                      <p:cBhvr>
                                        <p:cTn id="16" dur="1000"/>
                                        <p:tgtEl>
                                          <p:spTgt spid="293"/>
                                        </p:tgtEl>
                                      </p:cBhvr>
                                    </p:animEffect>
                                  </p:childTnLst>
                                </p:cTn>
                              </p:par>
                              <p:par>
                                <p:cTn id="17" presetID="10" presetClass="entr" presetSubtype="0" fill="hold" nodeType="withEffect">
                                  <p:stCondLst>
                                    <p:cond delay="0"/>
                                  </p:stCondLst>
                                  <p:childTnLst>
                                    <p:set>
                                      <p:cBhvr>
                                        <p:cTn id="18" dur="1" fill="hold">
                                          <p:stCondLst>
                                            <p:cond delay="0"/>
                                          </p:stCondLst>
                                        </p:cTn>
                                        <p:tgtEl>
                                          <p:spTgt spid="294"/>
                                        </p:tgtEl>
                                        <p:attrNameLst>
                                          <p:attrName>style.visibility</p:attrName>
                                        </p:attrNameLst>
                                      </p:cBhvr>
                                      <p:to>
                                        <p:strVal val="visible"/>
                                      </p:to>
                                    </p:set>
                                    <p:animEffect transition="in" filter="fade">
                                      <p:cBhvr>
                                        <p:cTn id="19" dur="1000"/>
                                        <p:tgtEl>
                                          <p:spTgt spid="294"/>
                                        </p:tgtEl>
                                      </p:cBhvr>
                                    </p:animEffect>
                                  </p:childTnLst>
                                </p:cTn>
                              </p:par>
                              <p:par>
                                <p:cTn id="20" presetID="10" presetClass="entr" presetSubtype="0" fill="hold" nodeType="withEffect">
                                  <p:stCondLst>
                                    <p:cond delay="0"/>
                                  </p:stCondLst>
                                  <p:childTnLst>
                                    <p:set>
                                      <p:cBhvr>
                                        <p:cTn id="21" dur="1" fill="hold">
                                          <p:stCondLst>
                                            <p:cond delay="0"/>
                                          </p:stCondLst>
                                        </p:cTn>
                                        <p:tgtEl>
                                          <p:spTgt spid="295"/>
                                        </p:tgtEl>
                                        <p:attrNameLst>
                                          <p:attrName>style.visibility</p:attrName>
                                        </p:attrNameLst>
                                      </p:cBhvr>
                                      <p:to>
                                        <p:strVal val="visible"/>
                                      </p:to>
                                    </p:set>
                                    <p:animEffect transition="in" filter="fade">
                                      <p:cBhvr>
                                        <p:cTn id="22" dur="1000"/>
                                        <p:tgtEl>
                                          <p:spTgt spid="295"/>
                                        </p:tgtEl>
                                      </p:cBhvr>
                                    </p:animEffect>
                                  </p:childTnLst>
                                </p:cTn>
                              </p:par>
                              <p:par>
                                <p:cTn id="23" presetID="10" presetClass="entr" presetSubtype="0" fill="hold" nodeType="withEffect">
                                  <p:stCondLst>
                                    <p:cond delay="0"/>
                                  </p:stCondLst>
                                  <p:childTnLst>
                                    <p:set>
                                      <p:cBhvr>
                                        <p:cTn id="24" dur="1" fill="hold">
                                          <p:stCondLst>
                                            <p:cond delay="0"/>
                                          </p:stCondLst>
                                        </p:cTn>
                                        <p:tgtEl>
                                          <p:spTgt spid="296"/>
                                        </p:tgtEl>
                                        <p:attrNameLst>
                                          <p:attrName>style.visibility</p:attrName>
                                        </p:attrNameLst>
                                      </p:cBhvr>
                                      <p:to>
                                        <p:strVal val="visible"/>
                                      </p:to>
                                    </p:set>
                                    <p:animEffect transition="in" filter="fade">
                                      <p:cBhvr>
                                        <p:cTn id="25" dur="1000"/>
                                        <p:tgtEl>
                                          <p:spTgt spid="296"/>
                                        </p:tgtEl>
                                      </p:cBhvr>
                                    </p:animEffect>
                                  </p:childTnLst>
                                </p:cTn>
                              </p:par>
                              <p:par>
                                <p:cTn id="26" presetID="10" presetClass="entr" presetSubtype="0" fill="hold" nodeType="withEffect">
                                  <p:stCondLst>
                                    <p:cond delay="0"/>
                                  </p:stCondLst>
                                  <p:childTnLst>
                                    <p:set>
                                      <p:cBhvr>
                                        <p:cTn id="27" dur="1" fill="hold">
                                          <p:stCondLst>
                                            <p:cond delay="0"/>
                                          </p:stCondLst>
                                        </p:cTn>
                                        <p:tgtEl>
                                          <p:spTgt spid="297"/>
                                        </p:tgtEl>
                                        <p:attrNameLst>
                                          <p:attrName>style.visibility</p:attrName>
                                        </p:attrNameLst>
                                      </p:cBhvr>
                                      <p:to>
                                        <p:strVal val="visible"/>
                                      </p:to>
                                    </p:set>
                                    <p:animEffect transition="in" filter="fade">
                                      <p:cBhvr>
                                        <p:cTn id="28" dur="10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3"/>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3"/>
          <p:cNvSpPr txBox="1">
            <a:spLocks noGrp="1"/>
          </p:cNvSpPr>
          <p:nvPr>
            <p:ph type="title"/>
          </p:nvPr>
        </p:nvSpPr>
        <p:spPr>
          <a:xfrm>
            <a:off x="115150" y="93725"/>
            <a:ext cx="3853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304" name="Google Shape;304;p23"/>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305" name="Google Shape;305;p23"/>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306" name="Google Shape;306;p23"/>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307" name="Google Shape;307;p23"/>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308" name="Google Shape;308;p23"/>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309" name="Google Shape;309;p23"/>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310" name="Google Shape;310;p23"/>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311" name="Google Shape;311;p23"/>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312" name="Google Shape;312;p23"/>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313" name="Google Shape;313;p23"/>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314" name="Google Shape;314;p23"/>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315" name="Google Shape;315;p23"/>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316" name="Google Shape;316;p23"/>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317" name="Google Shape;317;p23"/>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318" name="Google Shape;318;p23"/>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319" name="Google Shape;319;p23"/>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320" name="Google Shape;320;p23"/>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321" name="Google Shape;321;p23"/>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322" name="Google Shape;322;p23"/>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323" name="Google Shape;323;p23"/>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324" name="Google Shape;324;p23"/>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325" name="Google Shape;325;p23"/>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326" name="Google Shape;326;p23"/>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327" name="Google Shape;327;p23"/>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328" name="Google Shape;328;p23"/>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329" name="Google Shape;329;p23"/>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330" name="Google Shape;330;p23"/>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331" name="Google Shape;331;p23"/>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332" name="Google Shape;332;p23"/>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333" name="Google Shape;333;p23"/>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334" name="Google Shape;334;p23"/>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335" name="Google Shape;335;p23"/>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336" name="Google Shape;336;p23"/>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337" name="Google Shape;337;p23"/>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338" name="Google Shape;338;p23"/>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339" name="Google Shape;339;p23"/>
          <p:cNvGrpSpPr/>
          <p:nvPr/>
        </p:nvGrpSpPr>
        <p:grpSpPr>
          <a:xfrm>
            <a:off x="281913" y="1634388"/>
            <a:ext cx="2366199" cy="308375"/>
            <a:chOff x="281913" y="1862988"/>
            <a:chExt cx="2366199" cy="308375"/>
          </a:xfrm>
        </p:grpSpPr>
        <p:pic>
          <p:nvPicPr>
            <p:cNvPr id="340" name="Google Shape;340;p23"/>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341" name="Google Shape;341;p23"/>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342" name="Google Shape;342;p23"/>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343" name="Google Shape;343;p23"/>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344" name="Google Shape;344;p23"/>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345" name="Google Shape;345;p23"/>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346" name="Google Shape;346;p23"/>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347" name="Google Shape;347;p23"/>
          <p:cNvGrpSpPr/>
          <p:nvPr/>
        </p:nvGrpSpPr>
        <p:grpSpPr>
          <a:xfrm>
            <a:off x="3193413" y="1634388"/>
            <a:ext cx="2366199" cy="308375"/>
            <a:chOff x="3159638" y="1911975"/>
            <a:chExt cx="2366199" cy="308375"/>
          </a:xfrm>
        </p:grpSpPr>
        <p:pic>
          <p:nvPicPr>
            <p:cNvPr id="348" name="Google Shape;348;p2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349" name="Google Shape;349;p2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350" name="Google Shape;350;p2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351" name="Google Shape;351;p2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352" name="Google Shape;352;p2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353" name="Google Shape;353;p2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354" name="Google Shape;354;p23"/>
          <p:cNvGrpSpPr/>
          <p:nvPr/>
        </p:nvGrpSpPr>
        <p:grpSpPr>
          <a:xfrm>
            <a:off x="4037313" y="2450650"/>
            <a:ext cx="1583916" cy="69900"/>
            <a:chOff x="4037313" y="3136450"/>
            <a:chExt cx="1583916" cy="69900"/>
          </a:xfrm>
        </p:grpSpPr>
        <p:pic>
          <p:nvPicPr>
            <p:cNvPr id="355" name="Google Shape;355;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56" name="Google Shape;356;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57" name="Google Shape;357;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58" name="Google Shape;358;p23"/>
          <p:cNvGrpSpPr/>
          <p:nvPr/>
        </p:nvGrpSpPr>
        <p:grpSpPr>
          <a:xfrm>
            <a:off x="3244063" y="2587938"/>
            <a:ext cx="1583916" cy="69900"/>
            <a:chOff x="4037313" y="3136450"/>
            <a:chExt cx="1583916" cy="69900"/>
          </a:xfrm>
        </p:grpSpPr>
        <p:pic>
          <p:nvPicPr>
            <p:cNvPr id="359" name="Google Shape;359;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60" name="Google Shape;360;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61" name="Google Shape;361;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62" name="Google Shape;362;p23"/>
          <p:cNvGrpSpPr/>
          <p:nvPr/>
        </p:nvGrpSpPr>
        <p:grpSpPr>
          <a:xfrm>
            <a:off x="3968338" y="2725225"/>
            <a:ext cx="1583916" cy="69900"/>
            <a:chOff x="4037313" y="3136450"/>
            <a:chExt cx="1583916" cy="69900"/>
          </a:xfrm>
        </p:grpSpPr>
        <p:pic>
          <p:nvPicPr>
            <p:cNvPr id="363" name="Google Shape;363;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64" name="Google Shape;364;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65" name="Google Shape;365;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66" name="Google Shape;366;p23"/>
          <p:cNvGrpSpPr/>
          <p:nvPr/>
        </p:nvGrpSpPr>
        <p:grpSpPr>
          <a:xfrm>
            <a:off x="3618363" y="2862513"/>
            <a:ext cx="1583916" cy="69900"/>
            <a:chOff x="4037313" y="3136450"/>
            <a:chExt cx="1583916" cy="69900"/>
          </a:xfrm>
        </p:grpSpPr>
        <p:pic>
          <p:nvPicPr>
            <p:cNvPr id="367" name="Google Shape;367;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68" name="Google Shape;368;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69" name="Google Shape;369;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70" name="Google Shape;370;p23"/>
          <p:cNvGrpSpPr/>
          <p:nvPr/>
        </p:nvGrpSpPr>
        <p:grpSpPr>
          <a:xfrm>
            <a:off x="3319063" y="2999800"/>
            <a:ext cx="1583916" cy="69900"/>
            <a:chOff x="4037313" y="3136450"/>
            <a:chExt cx="1583916" cy="69900"/>
          </a:xfrm>
        </p:grpSpPr>
        <p:pic>
          <p:nvPicPr>
            <p:cNvPr id="371" name="Google Shape;371;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72" name="Google Shape;372;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73" name="Google Shape;373;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374" name="Google Shape;374;p23"/>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375" name="Google Shape;375;p23"/>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376" name="Google Shape;376;p23"/>
          <p:cNvGrpSpPr/>
          <p:nvPr/>
        </p:nvGrpSpPr>
        <p:grpSpPr>
          <a:xfrm>
            <a:off x="3709954" y="3422048"/>
            <a:ext cx="486765" cy="69900"/>
            <a:chOff x="3581517" y="4234748"/>
            <a:chExt cx="486765" cy="69900"/>
          </a:xfrm>
        </p:grpSpPr>
        <p:pic>
          <p:nvPicPr>
            <p:cNvPr id="377" name="Google Shape;377;p23"/>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378" name="Google Shape;378;p23"/>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379" name="Google Shape;379;p23"/>
          <p:cNvGrpSpPr/>
          <p:nvPr/>
        </p:nvGrpSpPr>
        <p:grpSpPr>
          <a:xfrm>
            <a:off x="3996079" y="3599948"/>
            <a:ext cx="486765" cy="69900"/>
            <a:chOff x="3867642" y="4412648"/>
            <a:chExt cx="486765" cy="69900"/>
          </a:xfrm>
        </p:grpSpPr>
        <p:pic>
          <p:nvPicPr>
            <p:cNvPr id="380" name="Google Shape;380;p23"/>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381" name="Google Shape;381;p23"/>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382" name="Google Shape;382;p23"/>
          <p:cNvGrpSpPr/>
          <p:nvPr/>
        </p:nvGrpSpPr>
        <p:grpSpPr>
          <a:xfrm>
            <a:off x="4363804" y="3477123"/>
            <a:ext cx="486765" cy="69900"/>
            <a:chOff x="4235367" y="4289823"/>
            <a:chExt cx="486765" cy="69900"/>
          </a:xfrm>
        </p:grpSpPr>
        <p:pic>
          <p:nvPicPr>
            <p:cNvPr id="383" name="Google Shape;383;p2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384" name="Google Shape;384;p2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385" name="Google Shape;385;p23"/>
          <p:cNvGrpSpPr/>
          <p:nvPr/>
        </p:nvGrpSpPr>
        <p:grpSpPr>
          <a:xfrm>
            <a:off x="6789551" y="2380750"/>
            <a:ext cx="417498" cy="69900"/>
            <a:chOff x="4495488" y="4546300"/>
            <a:chExt cx="417498" cy="69900"/>
          </a:xfrm>
        </p:grpSpPr>
        <p:pic>
          <p:nvPicPr>
            <p:cNvPr id="386" name="Google Shape;386;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387" name="Google Shape;387;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388" name="Google Shape;388;p23"/>
          <p:cNvGrpSpPr/>
          <p:nvPr/>
        </p:nvGrpSpPr>
        <p:grpSpPr>
          <a:xfrm>
            <a:off x="4079779" y="3807123"/>
            <a:ext cx="486765" cy="69900"/>
            <a:chOff x="3951342" y="4619823"/>
            <a:chExt cx="486765" cy="69900"/>
          </a:xfrm>
        </p:grpSpPr>
        <p:pic>
          <p:nvPicPr>
            <p:cNvPr id="389" name="Google Shape;389;p23"/>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390" name="Google Shape;390;p23"/>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391" name="Google Shape;391;p23"/>
          <p:cNvGrpSpPr/>
          <p:nvPr/>
        </p:nvGrpSpPr>
        <p:grpSpPr>
          <a:xfrm>
            <a:off x="6487113" y="1634388"/>
            <a:ext cx="2366199" cy="308375"/>
            <a:chOff x="3159638" y="1911975"/>
            <a:chExt cx="2366199" cy="308375"/>
          </a:xfrm>
        </p:grpSpPr>
        <p:pic>
          <p:nvPicPr>
            <p:cNvPr id="392" name="Google Shape;392;p2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393" name="Google Shape;393;p2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394" name="Google Shape;394;p2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395" name="Google Shape;395;p2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396" name="Google Shape;396;p2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397" name="Google Shape;397;p2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398" name="Google Shape;398;p23"/>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399" name="Google Shape;399;p23"/>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400" name="Google Shape;400;p23"/>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401" name="Google Shape;401;p23"/>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402" name="Google Shape;402;p23"/>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403" name="Google Shape;403;p23"/>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404" name="Google Shape;404;p23"/>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405" name="Google Shape;405;p23"/>
          <p:cNvGrpSpPr/>
          <p:nvPr/>
        </p:nvGrpSpPr>
        <p:grpSpPr>
          <a:xfrm>
            <a:off x="4585892" y="3696623"/>
            <a:ext cx="486765" cy="69900"/>
            <a:chOff x="4235367" y="4289823"/>
            <a:chExt cx="486765" cy="69900"/>
          </a:xfrm>
        </p:grpSpPr>
        <p:pic>
          <p:nvPicPr>
            <p:cNvPr id="406" name="Google Shape;406;p2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407" name="Google Shape;407;p2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408" name="Google Shape;408;p23"/>
          <p:cNvGrpSpPr/>
          <p:nvPr/>
        </p:nvGrpSpPr>
        <p:grpSpPr>
          <a:xfrm>
            <a:off x="8073451" y="2422475"/>
            <a:ext cx="417498" cy="69900"/>
            <a:chOff x="4495488" y="4546300"/>
            <a:chExt cx="417498" cy="69900"/>
          </a:xfrm>
        </p:grpSpPr>
        <p:pic>
          <p:nvPicPr>
            <p:cNvPr id="409" name="Google Shape;409;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0" name="Google Shape;410;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11" name="Google Shape;411;p23"/>
          <p:cNvGrpSpPr/>
          <p:nvPr/>
        </p:nvGrpSpPr>
        <p:grpSpPr>
          <a:xfrm>
            <a:off x="6819226" y="2865025"/>
            <a:ext cx="417498" cy="69900"/>
            <a:chOff x="4495488" y="4546300"/>
            <a:chExt cx="417498" cy="69900"/>
          </a:xfrm>
        </p:grpSpPr>
        <p:pic>
          <p:nvPicPr>
            <p:cNvPr id="412" name="Google Shape;412;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3" name="Google Shape;413;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14" name="Google Shape;414;p23"/>
          <p:cNvGrpSpPr/>
          <p:nvPr/>
        </p:nvGrpSpPr>
        <p:grpSpPr>
          <a:xfrm>
            <a:off x="7538426" y="3008925"/>
            <a:ext cx="417498" cy="69900"/>
            <a:chOff x="4495488" y="4546300"/>
            <a:chExt cx="417498" cy="69900"/>
          </a:xfrm>
        </p:grpSpPr>
        <p:pic>
          <p:nvPicPr>
            <p:cNvPr id="415" name="Google Shape;415;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6" name="Google Shape;416;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17" name="Google Shape;417;p23"/>
          <p:cNvGrpSpPr/>
          <p:nvPr/>
        </p:nvGrpSpPr>
        <p:grpSpPr>
          <a:xfrm>
            <a:off x="8183576" y="2950650"/>
            <a:ext cx="417498" cy="69900"/>
            <a:chOff x="4495488" y="4546300"/>
            <a:chExt cx="417498" cy="69900"/>
          </a:xfrm>
        </p:grpSpPr>
        <p:pic>
          <p:nvPicPr>
            <p:cNvPr id="418" name="Google Shape;418;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9" name="Google Shape;419;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20" name="Google Shape;420;p23"/>
          <p:cNvGrpSpPr/>
          <p:nvPr/>
        </p:nvGrpSpPr>
        <p:grpSpPr>
          <a:xfrm>
            <a:off x="7345076" y="2649137"/>
            <a:ext cx="417498" cy="69900"/>
            <a:chOff x="4495488" y="4546300"/>
            <a:chExt cx="417498" cy="69900"/>
          </a:xfrm>
        </p:grpSpPr>
        <p:pic>
          <p:nvPicPr>
            <p:cNvPr id="421" name="Google Shape;421;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22" name="Google Shape;422;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23" name="Google Shape;423;p23"/>
          <p:cNvGrpSpPr/>
          <p:nvPr/>
        </p:nvGrpSpPr>
        <p:grpSpPr>
          <a:xfrm>
            <a:off x="7396476" y="3259575"/>
            <a:ext cx="417498" cy="69900"/>
            <a:chOff x="4495488" y="4546300"/>
            <a:chExt cx="417498" cy="69900"/>
          </a:xfrm>
        </p:grpSpPr>
        <p:pic>
          <p:nvPicPr>
            <p:cNvPr id="424" name="Google Shape;424;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25" name="Google Shape;425;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426" name="Google Shape;426;p23"/>
          <p:cNvSpPr/>
          <p:nvPr/>
        </p:nvSpPr>
        <p:spPr>
          <a:xfrm>
            <a:off x="30473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24"/>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Length</a:t>
            </a:r>
            <a:endParaRPr sz="2400" b="1">
              <a:latin typeface="Helvetica Neue"/>
              <a:ea typeface="Helvetica Neue"/>
              <a:cs typeface="Helvetica Neue"/>
              <a:sym typeface="Helvetica Neue"/>
            </a:endParaRPr>
          </a:p>
        </p:txBody>
      </p:sp>
      <p:sp>
        <p:nvSpPr>
          <p:cNvPr id="432" name="Google Shape;432;p24"/>
          <p:cNvSpPr txBox="1"/>
          <p:nvPr/>
        </p:nvSpPr>
        <p:spPr>
          <a:xfrm>
            <a:off x="165200" y="749850"/>
            <a:ext cx="8978700" cy="25704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t>Why is it important to assess fragment length in a library?</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a:t>Long fragments (&gt;1.2 kb) do not cluster on Illumina flow cells and are therefore not sequenced</a:t>
            </a:r>
            <a:endParaRPr/>
          </a:p>
          <a:p>
            <a:pPr marL="457200" lvl="0" indent="0" algn="l" rtl="0">
              <a:lnSpc>
                <a:spcPct val="150000"/>
              </a:lnSpc>
              <a:spcBef>
                <a:spcPts val="0"/>
              </a:spcBef>
              <a:spcAft>
                <a:spcPts val="0"/>
              </a:spcAft>
              <a:buNone/>
            </a:pPr>
            <a:endParaRPr/>
          </a:p>
          <a:p>
            <a:pPr marL="457200" lvl="0" indent="-317500" algn="l" rtl="0">
              <a:lnSpc>
                <a:spcPct val="150000"/>
              </a:lnSpc>
              <a:spcBef>
                <a:spcPts val="0"/>
              </a:spcBef>
              <a:spcAft>
                <a:spcPts val="0"/>
              </a:spcAft>
              <a:buSzPts val="1400"/>
              <a:buChar char="●"/>
            </a:pPr>
            <a:r>
              <a:rPr lang="en"/>
              <a:t>Short fragments are preferentially amplified (better clustering) and will thus be preferentially sequenced</a:t>
            </a:r>
            <a:endParaRPr/>
          </a:p>
          <a:p>
            <a:pPr marL="0" lvl="0" indent="0" algn="l" rtl="0">
              <a:lnSpc>
                <a:spcPct val="150000"/>
              </a:lnSpc>
              <a:spcBef>
                <a:spcPts val="0"/>
              </a:spcBef>
              <a:spcAft>
                <a:spcPts val="0"/>
              </a:spcAft>
              <a:buNone/>
            </a:pPr>
            <a:endParaRPr/>
          </a:p>
          <a:p>
            <a:pPr marL="457200" lvl="0" indent="-317500" algn="l" rtl="0">
              <a:lnSpc>
                <a:spcPct val="150000"/>
              </a:lnSpc>
              <a:spcBef>
                <a:spcPts val="0"/>
              </a:spcBef>
              <a:spcAft>
                <a:spcPts val="0"/>
              </a:spcAft>
              <a:buSzPts val="1400"/>
              <a:buChar char="●"/>
            </a:pPr>
            <a:r>
              <a:rPr lang="en"/>
              <a:t>Fragment length distribution impacts calculations to go from ng/μl (Qubit) to nM for loading concentrations </a:t>
            </a:r>
            <a:endParaRPr/>
          </a:p>
          <a:p>
            <a:pPr marL="0" lvl="0" indent="0" algn="l" rtl="0">
              <a:lnSpc>
                <a:spcPct val="150000"/>
              </a:lnSpc>
              <a:spcBef>
                <a:spcPts val="0"/>
              </a:spcBef>
              <a:spcAft>
                <a:spcPts val="0"/>
              </a:spcAft>
              <a:buNone/>
            </a:pPr>
            <a:endParaRPr/>
          </a:p>
        </p:txBody>
      </p:sp>
      <p:grpSp>
        <p:nvGrpSpPr>
          <p:cNvPr id="433" name="Google Shape;433;p24"/>
          <p:cNvGrpSpPr/>
          <p:nvPr/>
        </p:nvGrpSpPr>
        <p:grpSpPr>
          <a:xfrm>
            <a:off x="2971450" y="3669100"/>
            <a:ext cx="3799600" cy="810000"/>
            <a:chOff x="5139650" y="427675"/>
            <a:chExt cx="3799600" cy="810000"/>
          </a:xfrm>
        </p:grpSpPr>
        <p:sp>
          <p:nvSpPr>
            <p:cNvPr id="434" name="Google Shape;434;p24"/>
            <p:cNvSpPr txBox="1"/>
            <p:nvPr/>
          </p:nvSpPr>
          <p:spPr>
            <a:xfrm>
              <a:off x="5738550" y="427675"/>
              <a:ext cx="19302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concentration in ng/μl</a:t>
              </a:r>
              <a:endParaRPr sz="1300"/>
            </a:p>
          </p:txBody>
        </p:sp>
        <p:sp>
          <p:nvSpPr>
            <p:cNvPr id="435" name="Google Shape;435;p24"/>
            <p:cNvSpPr txBox="1"/>
            <p:nvPr/>
          </p:nvSpPr>
          <p:spPr>
            <a:xfrm>
              <a:off x="5139650" y="832675"/>
              <a:ext cx="33729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660g/mol x average library size in bp</a:t>
              </a:r>
              <a:endParaRPr sz="1300"/>
            </a:p>
          </p:txBody>
        </p:sp>
        <p:sp>
          <p:nvSpPr>
            <p:cNvPr id="436" name="Google Shape;436;p24"/>
            <p:cNvSpPr txBox="1"/>
            <p:nvPr/>
          </p:nvSpPr>
          <p:spPr>
            <a:xfrm>
              <a:off x="8332350" y="635550"/>
              <a:ext cx="606900" cy="4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x 10</a:t>
              </a:r>
              <a:r>
                <a:rPr lang="en" sz="1300" baseline="30000"/>
                <a:t>6</a:t>
              </a:r>
              <a:endParaRPr sz="1300"/>
            </a:p>
          </p:txBody>
        </p:sp>
        <p:cxnSp>
          <p:nvCxnSpPr>
            <p:cNvPr id="437" name="Google Shape;437;p24"/>
            <p:cNvCxnSpPr/>
            <p:nvPr/>
          </p:nvCxnSpPr>
          <p:spPr>
            <a:xfrm>
              <a:off x="5391800" y="832200"/>
              <a:ext cx="2878200" cy="11700"/>
            </a:xfrm>
            <a:prstGeom prst="straightConnector1">
              <a:avLst/>
            </a:prstGeom>
            <a:noFill/>
            <a:ln w="9525" cap="flat" cmpd="sng">
              <a:solidFill>
                <a:srgbClr val="595959"/>
              </a:solidFill>
              <a:prstDash val="solid"/>
              <a:round/>
              <a:headEnd type="none" w="med" len="med"/>
              <a:tailEnd type="none" w="med" len="med"/>
            </a:ln>
          </p:spPr>
        </p:cxnSp>
      </p:grpSp>
      <p:sp>
        <p:nvSpPr>
          <p:cNvPr id="438" name="Google Shape;438;p24"/>
          <p:cNvSpPr txBox="1"/>
          <p:nvPr/>
        </p:nvSpPr>
        <p:spPr>
          <a:xfrm>
            <a:off x="4129775" y="3055225"/>
            <a:ext cx="816300" cy="4050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300">
                <a:solidFill>
                  <a:srgbClr val="C00000"/>
                </a:solidFill>
              </a:rPr>
              <a:t>Qubit</a:t>
            </a:r>
            <a:endParaRPr sz="1300">
              <a:solidFill>
                <a:srgbClr val="C00000"/>
              </a:solidFill>
            </a:endParaRPr>
          </a:p>
          <a:p>
            <a:pPr marL="0" lvl="0" indent="0" algn="ctr" rtl="0">
              <a:lnSpc>
                <a:spcPct val="150000"/>
              </a:lnSpc>
              <a:spcBef>
                <a:spcPts val="0"/>
              </a:spcBef>
              <a:spcAft>
                <a:spcPts val="0"/>
              </a:spcAft>
              <a:buNone/>
            </a:pPr>
            <a:endParaRPr sz="1300"/>
          </a:p>
        </p:txBody>
      </p:sp>
      <p:sp>
        <p:nvSpPr>
          <p:cNvPr id="439" name="Google Shape;439;p24"/>
          <p:cNvSpPr txBox="1"/>
          <p:nvPr/>
        </p:nvSpPr>
        <p:spPr>
          <a:xfrm>
            <a:off x="1112575" y="3842950"/>
            <a:ext cx="19881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Concentration in nM = </a:t>
            </a:r>
            <a:endParaRPr/>
          </a:p>
        </p:txBody>
      </p:sp>
      <p:sp>
        <p:nvSpPr>
          <p:cNvPr id="440" name="Google Shape;440;p24"/>
          <p:cNvSpPr txBox="1"/>
          <p:nvPr/>
        </p:nvSpPr>
        <p:spPr>
          <a:xfrm>
            <a:off x="3667625" y="4649725"/>
            <a:ext cx="2698500" cy="40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300">
                <a:solidFill>
                  <a:srgbClr val="C00000"/>
                </a:solidFill>
              </a:rPr>
              <a:t>Capillary or gel electrophoresis</a:t>
            </a:r>
            <a:endParaRPr sz="1300">
              <a:solidFill>
                <a:srgbClr val="C00000"/>
              </a:solidFill>
            </a:endParaRPr>
          </a:p>
          <a:p>
            <a:pPr marL="0" lvl="0" indent="0" algn="ctr" rtl="0">
              <a:lnSpc>
                <a:spcPct val="115000"/>
              </a:lnSpc>
              <a:spcBef>
                <a:spcPts val="0"/>
              </a:spcBef>
              <a:spcAft>
                <a:spcPts val="0"/>
              </a:spcAft>
              <a:buNone/>
            </a:pPr>
            <a:endParaRPr sz="1300"/>
          </a:p>
        </p:txBody>
      </p:sp>
      <p:cxnSp>
        <p:nvCxnSpPr>
          <p:cNvPr id="441" name="Google Shape;441;p24"/>
          <p:cNvCxnSpPr/>
          <p:nvPr/>
        </p:nvCxnSpPr>
        <p:spPr>
          <a:xfrm>
            <a:off x="4537925" y="3384025"/>
            <a:ext cx="0" cy="231300"/>
          </a:xfrm>
          <a:prstGeom prst="straightConnector1">
            <a:avLst/>
          </a:prstGeom>
          <a:noFill/>
          <a:ln w="9525" cap="flat" cmpd="sng">
            <a:solidFill>
              <a:srgbClr val="C00000"/>
            </a:solidFill>
            <a:prstDash val="solid"/>
            <a:round/>
            <a:headEnd type="none" w="med" len="med"/>
            <a:tailEnd type="triangle" w="med" len="med"/>
          </a:ln>
        </p:spPr>
      </p:cxnSp>
      <p:cxnSp>
        <p:nvCxnSpPr>
          <p:cNvPr id="442" name="Google Shape;442;p24"/>
          <p:cNvCxnSpPr/>
          <p:nvPr/>
        </p:nvCxnSpPr>
        <p:spPr>
          <a:xfrm rot="10800000">
            <a:off x="5022275" y="4494625"/>
            <a:ext cx="0" cy="231300"/>
          </a:xfrm>
          <a:prstGeom prst="straightConnector1">
            <a:avLst/>
          </a:prstGeom>
          <a:noFill/>
          <a:ln w="9525" cap="flat" cmpd="sng">
            <a:solidFill>
              <a:srgbClr val="C00000"/>
            </a:solidFill>
            <a:prstDash val="solid"/>
            <a:round/>
            <a:headEnd type="none" w="med" len="med"/>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5"/>
          <p:cNvSpPr txBox="1"/>
          <p:nvPr/>
        </p:nvSpPr>
        <p:spPr>
          <a:xfrm>
            <a:off x="1257163" y="893000"/>
            <a:ext cx="1905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Gel electrophoresis</a:t>
            </a:r>
            <a:endParaRPr b="1"/>
          </a:p>
        </p:txBody>
      </p:sp>
      <p:sp>
        <p:nvSpPr>
          <p:cNvPr id="448" name="Google Shape;448;p25"/>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Length</a:t>
            </a:r>
            <a:endParaRPr sz="2400" b="1">
              <a:latin typeface="Helvetica Neue"/>
              <a:ea typeface="Helvetica Neue"/>
              <a:cs typeface="Helvetica Neue"/>
              <a:sym typeface="Helvetica Neue"/>
            </a:endParaRPr>
          </a:p>
        </p:txBody>
      </p:sp>
      <p:sp>
        <p:nvSpPr>
          <p:cNvPr id="449" name="Google Shape;449;p25"/>
          <p:cNvSpPr txBox="1"/>
          <p:nvPr/>
        </p:nvSpPr>
        <p:spPr>
          <a:xfrm>
            <a:off x="5638500" y="893000"/>
            <a:ext cx="3205800" cy="648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t>Capillary electrophoresis</a:t>
            </a:r>
            <a:endParaRPr b="1"/>
          </a:p>
          <a:p>
            <a:pPr marL="0" lvl="0" indent="0" algn="ctr" rtl="0">
              <a:lnSpc>
                <a:spcPct val="115000"/>
              </a:lnSpc>
              <a:spcBef>
                <a:spcPts val="0"/>
              </a:spcBef>
              <a:spcAft>
                <a:spcPts val="0"/>
              </a:spcAft>
              <a:buNone/>
            </a:pPr>
            <a:r>
              <a:rPr lang="en"/>
              <a:t>E.g. Tapestation, Bioanalyzer</a:t>
            </a:r>
            <a:endParaRPr/>
          </a:p>
        </p:txBody>
      </p:sp>
      <p:sp>
        <p:nvSpPr>
          <p:cNvPr id="450" name="Google Shape;450;p25"/>
          <p:cNvSpPr txBox="1"/>
          <p:nvPr/>
        </p:nvSpPr>
        <p:spPr>
          <a:xfrm>
            <a:off x="100925" y="3028825"/>
            <a:ext cx="4756200" cy="10467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PCR amplify an aliquot of the library using universal P5/P7 Illumina primers</a:t>
            </a:r>
            <a:endParaRPr/>
          </a:p>
          <a:p>
            <a:pPr marL="285750" lvl="0" indent="-203200" algn="l" rtl="0">
              <a:lnSpc>
                <a:spcPct val="150000"/>
              </a:lnSpc>
              <a:spcBef>
                <a:spcPts val="0"/>
              </a:spcBef>
              <a:spcAft>
                <a:spcPts val="0"/>
              </a:spcAft>
              <a:buSzPts val="1400"/>
              <a:buAutoNum type="arabicPeriod"/>
            </a:pPr>
            <a:r>
              <a:rPr lang="en"/>
              <a:t>Gel electrophoresis of ladder and samples</a:t>
            </a:r>
            <a:endParaRPr/>
          </a:p>
        </p:txBody>
      </p:sp>
      <p:sp>
        <p:nvSpPr>
          <p:cNvPr id="451" name="Google Shape;451;p25"/>
          <p:cNvSpPr txBox="1"/>
          <p:nvPr/>
        </p:nvSpPr>
        <p:spPr>
          <a:xfrm>
            <a:off x="5638500" y="3028825"/>
            <a:ext cx="3834900" cy="7233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Add buffer to aliquot of library</a:t>
            </a:r>
            <a:endParaRPr/>
          </a:p>
          <a:p>
            <a:pPr marL="285750" lvl="0" indent="-203200" algn="l" rtl="0">
              <a:lnSpc>
                <a:spcPct val="150000"/>
              </a:lnSpc>
              <a:spcBef>
                <a:spcPts val="0"/>
              </a:spcBef>
              <a:spcAft>
                <a:spcPts val="0"/>
              </a:spcAft>
              <a:buSzPts val="1400"/>
              <a:buAutoNum type="arabicPeriod"/>
            </a:pPr>
            <a:r>
              <a:rPr lang="en"/>
              <a:t>Run machine</a:t>
            </a:r>
            <a:endParaRPr/>
          </a:p>
        </p:txBody>
      </p:sp>
      <p:sp>
        <p:nvSpPr>
          <p:cNvPr id="452" name="Google Shape;452;p25"/>
          <p:cNvSpPr txBox="1"/>
          <p:nvPr/>
        </p:nvSpPr>
        <p:spPr>
          <a:xfrm>
            <a:off x="1148713" y="4188625"/>
            <a:ext cx="1817400" cy="615600"/>
          </a:xfrm>
          <a:prstGeom prst="rect">
            <a:avLst/>
          </a:prstGeom>
          <a:noFill/>
          <a:ln>
            <a:noFill/>
          </a:ln>
        </p:spPr>
        <p:txBody>
          <a:bodyPr spcFirstLastPara="1" wrap="square" lIns="91425" tIns="91425" rIns="91425" bIns="91425" anchor="t" anchorCtr="0">
            <a:spAutoFit/>
          </a:bodyPr>
          <a:lstStyle/>
          <a:p>
            <a:pPr marL="342900" lvl="0" indent="-203200" algn="ctr" rtl="0">
              <a:spcBef>
                <a:spcPts val="0"/>
              </a:spcBef>
              <a:spcAft>
                <a:spcPts val="0"/>
              </a:spcAft>
              <a:buSzPts val="1400"/>
              <a:buChar char="●"/>
            </a:pPr>
            <a:r>
              <a:rPr lang="en"/>
              <a:t>Takes ~ 4 hrs</a:t>
            </a:r>
            <a:endParaRPr/>
          </a:p>
          <a:p>
            <a:pPr marL="0" lvl="0" indent="0" algn="ctr" rtl="0">
              <a:spcBef>
                <a:spcPts val="0"/>
              </a:spcBef>
              <a:spcAft>
                <a:spcPts val="0"/>
              </a:spcAft>
              <a:buNone/>
            </a:pPr>
            <a:endParaRPr/>
          </a:p>
        </p:txBody>
      </p:sp>
      <p:sp>
        <p:nvSpPr>
          <p:cNvPr id="453" name="Google Shape;453;p25"/>
          <p:cNvSpPr txBox="1"/>
          <p:nvPr/>
        </p:nvSpPr>
        <p:spPr>
          <a:xfrm>
            <a:off x="4616550" y="4036225"/>
            <a:ext cx="4990200" cy="1143600"/>
          </a:xfrm>
          <a:prstGeom prst="rect">
            <a:avLst/>
          </a:prstGeom>
          <a:noFill/>
          <a:ln>
            <a:noFill/>
          </a:ln>
        </p:spPr>
        <p:txBody>
          <a:bodyPr spcFirstLastPara="1" wrap="square" lIns="91425" tIns="91425" rIns="91425" bIns="91425" anchor="t" anchorCtr="0">
            <a:spAutoFit/>
          </a:bodyPr>
          <a:lstStyle/>
          <a:p>
            <a:pPr marL="228600" lvl="0" indent="-203200" algn="l" rtl="0">
              <a:lnSpc>
                <a:spcPct val="115000"/>
              </a:lnSpc>
              <a:spcBef>
                <a:spcPts val="0"/>
              </a:spcBef>
              <a:spcAft>
                <a:spcPts val="0"/>
              </a:spcAft>
              <a:buSzPts val="1400"/>
              <a:buChar char="●"/>
            </a:pPr>
            <a:r>
              <a:rPr lang="en"/>
              <a:t>Tapestation ~ 10 minutes  (depending on # samples)</a:t>
            </a:r>
            <a:endParaRPr/>
          </a:p>
          <a:p>
            <a:pPr marL="228600" lvl="0" indent="-203200" algn="l" rtl="0">
              <a:lnSpc>
                <a:spcPct val="115000"/>
              </a:lnSpc>
              <a:spcBef>
                <a:spcPts val="0"/>
              </a:spcBef>
              <a:spcAft>
                <a:spcPts val="0"/>
              </a:spcAft>
              <a:buSzPts val="1400"/>
              <a:buChar char="●"/>
            </a:pPr>
            <a:r>
              <a:rPr lang="en"/>
              <a:t>Bioanalyzer ~ 45 minutes</a:t>
            </a:r>
            <a:endParaRPr/>
          </a:p>
          <a:p>
            <a:pPr marL="228600" lvl="0" indent="-203200" algn="l" rtl="0">
              <a:lnSpc>
                <a:spcPct val="115000"/>
              </a:lnSpc>
              <a:spcBef>
                <a:spcPts val="0"/>
              </a:spcBef>
              <a:spcAft>
                <a:spcPts val="0"/>
              </a:spcAft>
              <a:buSzPts val="1400"/>
              <a:buChar char="●"/>
            </a:pPr>
            <a:r>
              <a:rPr lang="en"/>
              <a:t>No PCR bias</a:t>
            </a:r>
            <a:endParaRPr/>
          </a:p>
          <a:p>
            <a:pPr marL="228600" lvl="0" indent="-203200" algn="l" rtl="0">
              <a:lnSpc>
                <a:spcPct val="115000"/>
              </a:lnSpc>
              <a:spcBef>
                <a:spcPts val="0"/>
              </a:spcBef>
              <a:spcAft>
                <a:spcPts val="0"/>
              </a:spcAft>
              <a:buSzPts val="1400"/>
              <a:buChar char="●"/>
            </a:pPr>
            <a:r>
              <a:rPr lang="en"/>
              <a:t>Can calculate concentration in nM</a:t>
            </a:r>
            <a:endParaRPr/>
          </a:p>
        </p:txBody>
      </p:sp>
      <p:pic>
        <p:nvPicPr>
          <p:cNvPr id="454" name="Google Shape;454;p25"/>
          <p:cNvPicPr preferRelativeResize="0"/>
          <p:nvPr/>
        </p:nvPicPr>
        <p:blipFill rotWithShape="1">
          <a:blip r:embed="rId3">
            <a:alphaModFix/>
          </a:blip>
          <a:srcRect l="23046" r="20946"/>
          <a:stretch/>
        </p:blipFill>
        <p:spPr>
          <a:xfrm>
            <a:off x="7315925" y="1540988"/>
            <a:ext cx="1530950" cy="1537524"/>
          </a:xfrm>
          <a:prstGeom prst="rect">
            <a:avLst/>
          </a:prstGeom>
          <a:noFill/>
          <a:ln>
            <a:noFill/>
          </a:ln>
        </p:spPr>
      </p:pic>
      <p:pic>
        <p:nvPicPr>
          <p:cNvPr id="455" name="Google Shape;455;p25"/>
          <p:cNvPicPr preferRelativeResize="0"/>
          <p:nvPr/>
        </p:nvPicPr>
        <p:blipFill>
          <a:blip r:embed="rId4">
            <a:alphaModFix/>
          </a:blip>
          <a:stretch>
            <a:fillRect/>
          </a:stretch>
        </p:blipFill>
        <p:spPr>
          <a:xfrm>
            <a:off x="5177999" y="1751424"/>
            <a:ext cx="1905300" cy="1066990"/>
          </a:xfrm>
          <a:prstGeom prst="rect">
            <a:avLst/>
          </a:prstGeom>
          <a:noFill/>
          <a:ln>
            <a:noFill/>
          </a:ln>
        </p:spPr>
      </p:pic>
      <p:grpSp>
        <p:nvGrpSpPr>
          <p:cNvPr id="456" name="Google Shape;456;p25"/>
          <p:cNvGrpSpPr/>
          <p:nvPr/>
        </p:nvGrpSpPr>
        <p:grpSpPr>
          <a:xfrm>
            <a:off x="64275" y="1528150"/>
            <a:ext cx="4442327" cy="1332725"/>
            <a:chOff x="216675" y="1528150"/>
            <a:chExt cx="4442327" cy="1332725"/>
          </a:xfrm>
        </p:grpSpPr>
        <p:pic>
          <p:nvPicPr>
            <p:cNvPr id="457" name="Google Shape;457;p25"/>
            <p:cNvPicPr preferRelativeResize="0"/>
            <p:nvPr/>
          </p:nvPicPr>
          <p:blipFill>
            <a:blip r:embed="rId5">
              <a:alphaModFix/>
            </a:blip>
            <a:stretch>
              <a:fillRect/>
            </a:stretch>
          </p:blipFill>
          <p:spPr>
            <a:xfrm>
              <a:off x="216675" y="1556550"/>
              <a:ext cx="3691750" cy="1254625"/>
            </a:xfrm>
            <a:prstGeom prst="rect">
              <a:avLst/>
            </a:prstGeom>
            <a:noFill/>
            <a:ln>
              <a:noFill/>
            </a:ln>
          </p:spPr>
        </p:pic>
        <p:pic>
          <p:nvPicPr>
            <p:cNvPr id="458" name="Google Shape;458;p25"/>
            <p:cNvPicPr preferRelativeResize="0"/>
            <p:nvPr/>
          </p:nvPicPr>
          <p:blipFill rotWithShape="1">
            <a:blip r:embed="rId6">
              <a:alphaModFix/>
            </a:blip>
            <a:srcRect r="47237" b="45352"/>
            <a:stretch/>
          </p:blipFill>
          <p:spPr>
            <a:xfrm>
              <a:off x="2658225" y="1528150"/>
              <a:ext cx="2000777" cy="1332725"/>
            </a:xfrm>
            <a:prstGeom prst="rect">
              <a:avLst/>
            </a:prstGeom>
            <a:noFill/>
            <a:ln>
              <a:noFill/>
            </a:ln>
          </p:spPr>
        </p:pic>
      </p:grpSp>
      <p:sp>
        <p:nvSpPr>
          <p:cNvPr id="459" name="Google Shape;459;p25"/>
          <p:cNvSpPr/>
          <p:nvPr/>
        </p:nvSpPr>
        <p:spPr>
          <a:xfrm>
            <a:off x="4989950" y="826050"/>
            <a:ext cx="4002000" cy="30948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9"/>
                                        </p:tgtEl>
                                        <p:attrNameLst>
                                          <p:attrName>style.visibility</p:attrName>
                                        </p:attrNameLst>
                                      </p:cBhvr>
                                      <p:to>
                                        <p:strVal val="visible"/>
                                      </p:to>
                                    </p:set>
                                    <p:animEffect transition="in" filter="fade">
                                      <p:cBhvr>
                                        <p:cTn id="7" dur="1000"/>
                                        <p:tgtEl>
                                          <p:spTgt spid="449"/>
                                        </p:tgtEl>
                                      </p:cBhvr>
                                    </p:animEffect>
                                  </p:childTnLst>
                                </p:cTn>
                              </p:par>
                              <p:par>
                                <p:cTn id="8" presetID="10" presetClass="entr" presetSubtype="0" fill="hold" nodeType="withEffect">
                                  <p:stCondLst>
                                    <p:cond delay="0"/>
                                  </p:stCondLst>
                                  <p:childTnLst>
                                    <p:set>
                                      <p:cBhvr>
                                        <p:cTn id="9" dur="1" fill="hold">
                                          <p:stCondLst>
                                            <p:cond delay="0"/>
                                          </p:stCondLst>
                                        </p:cTn>
                                        <p:tgtEl>
                                          <p:spTgt spid="451"/>
                                        </p:tgtEl>
                                        <p:attrNameLst>
                                          <p:attrName>style.visibility</p:attrName>
                                        </p:attrNameLst>
                                      </p:cBhvr>
                                      <p:to>
                                        <p:strVal val="visible"/>
                                      </p:to>
                                    </p:set>
                                    <p:animEffect transition="in" filter="fade">
                                      <p:cBhvr>
                                        <p:cTn id="10" dur="1000"/>
                                        <p:tgtEl>
                                          <p:spTgt spid="451"/>
                                        </p:tgtEl>
                                      </p:cBhvr>
                                    </p:animEffect>
                                  </p:childTnLst>
                                </p:cTn>
                              </p:par>
                              <p:par>
                                <p:cTn id="11" presetID="10" presetClass="entr" presetSubtype="0" fill="hold" nodeType="withEffect">
                                  <p:stCondLst>
                                    <p:cond delay="0"/>
                                  </p:stCondLst>
                                  <p:childTnLst>
                                    <p:set>
                                      <p:cBhvr>
                                        <p:cTn id="12" dur="1" fill="hold">
                                          <p:stCondLst>
                                            <p:cond delay="0"/>
                                          </p:stCondLst>
                                        </p:cTn>
                                        <p:tgtEl>
                                          <p:spTgt spid="453"/>
                                        </p:tgtEl>
                                        <p:attrNameLst>
                                          <p:attrName>style.visibility</p:attrName>
                                        </p:attrNameLst>
                                      </p:cBhvr>
                                      <p:to>
                                        <p:strVal val="visible"/>
                                      </p:to>
                                    </p:set>
                                    <p:animEffect transition="in" filter="fade">
                                      <p:cBhvr>
                                        <p:cTn id="13" dur="1000"/>
                                        <p:tgtEl>
                                          <p:spTgt spid="453"/>
                                        </p:tgtEl>
                                      </p:cBhvr>
                                    </p:animEffect>
                                  </p:childTnLst>
                                </p:cTn>
                              </p:par>
                              <p:par>
                                <p:cTn id="14" presetID="10" presetClass="entr" presetSubtype="0" fill="hold" nodeType="withEffect">
                                  <p:stCondLst>
                                    <p:cond delay="0"/>
                                  </p:stCondLst>
                                  <p:childTnLst>
                                    <p:set>
                                      <p:cBhvr>
                                        <p:cTn id="15" dur="1" fill="hold">
                                          <p:stCondLst>
                                            <p:cond delay="0"/>
                                          </p:stCondLst>
                                        </p:cTn>
                                        <p:tgtEl>
                                          <p:spTgt spid="454"/>
                                        </p:tgtEl>
                                        <p:attrNameLst>
                                          <p:attrName>style.visibility</p:attrName>
                                        </p:attrNameLst>
                                      </p:cBhvr>
                                      <p:to>
                                        <p:strVal val="visible"/>
                                      </p:to>
                                    </p:set>
                                    <p:animEffect transition="in" filter="fade">
                                      <p:cBhvr>
                                        <p:cTn id="16" dur="1000"/>
                                        <p:tgtEl>
                                          <p:spTgt spid="454"/>
                                        </p:tgtEl>
                                      </p:cBhvr>
                                    </p:animEffect>
                                  </p:childTnLst>
                                </p:cTn>
                              </p:par>
                              <p:par>
                                <p:cTn id="17" presetID="10" presetClass="entr" presetSubtype="0" fill="hold" nodeType="withEffect">
                                  <p:stCondLst>
                                    <p:cond delay="0"/>
                                  </p:stCondLst>
                                  <p:childTnLst>
                                    <p:set>
                                      <p:cBhvr>
                                        <p:cTn id="18" dur="1" fill="hold">
                                          <p:stCondLst>
                                            <p:cond delay="0"/>
                                          </p:stCondLst>
                                        </p:cTn>
                                        <p:tgtEl>
                                          <p:spTgt spid="455"/>
                                        </p:tgtEl>
                                        <p:attrNameLst>
                                          <p:attrName>style.visibility</p:attrName>
                                        </p:attrNameLst>
                                      </p:cBhvr>
                                      <p:to>
                                        <p:strVal val="visible"/>
                                      </p:to>
                                    </p:set>
                                    <p:animEffect transition="in" filter="fade">
                                      <p:cBhvr>
                                        <p:cTn id="19" dur="1000"/>
                                        <p:tgtEl>
                                          <p:spTgt spid="45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59"/>
                                        </p:tgtEl>
                                        <p:attrNameLst>
                                          <p:attrName>style.visibility</p:attrName>
                                        </p:attrNameLst>
                                      </p:cBhvr>
                                      <p:to>
                                        <p:strVal val="visible"/>
                                      </p:to>
                                    </p:set>
                                    <p:animEffect transition="in" filter="fade">
                                      <p:cBhvr>
                                        <p:cTn id="24" dur="1000"/>
                                        <p:tgtEl>
                                          <p:spTgt spid="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6"/>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Length</a:t>
            </a:r>
            <a:endParaRPr sz="2400" b="1">
              <a:latin typeface="Helvetica Neue"/>
              <a:ea typeface="Helvetica Neue"/>
              <a:cs typeface="Helvetica Neue"/>
              <a:sym typeface="Helvetica Neue"/>
            </a:endParaRPr>
          </a:p>
        </p:txBody>
      </p:sp>
      <p:sp>
        <p:nvSpPr>
          <p:cNvPr id="465" name="Google Shape;465;p26"/>
          <p:cNvSpPr txBox="1"/>
          <p:nvPr/>
        </p:nvSpPr>
        <p:spPr>
          <a:xfrm>
            <a:off x="115150" y="779800"/>
            <a:ext cx="66435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t>Tapestation</a:t>
            </a:r>
            <a:endParaRPr b="1"/>
          </a:p>
          <a:p>
            <a:pPr marL="457200" lvl="0" indent="-317500" algn="l" rtl="0">
              <a:lnSpc>
                <a:spcPct val="150000"/>
              </a:lnSpc>
              <a:spcBef>
                <a:spcPts val="0"/>
              </a:spcBef>
              <a:spcAft>
                <a:spcPts val="0"/>
              </a:spcAft>
              <a:buSzPts val="1400"/>
              <a:buChar char="●"/>
            </a:pPr>
            <a:r>
              <a:rPr lang="en" u="sng"/>
              <a:t>High Sensitivity</a:t>
            </a:r>
            <a:r>
              <a:rPr lang="en"/>
              <a:t> D1000 or D5000 kits (1kb or 5kb detection limit)</a:t>
            </a:r>
            <a:endParaRPr/>
          </a:p>
        </p:txBody>
      </p:sp>
      <p:pic>
        <p:nvPicPr>
          <p:cNvPr id="466" name="Google Shape;466;p26"/>
          <p:cNvPicPr preferRelativeResize="0"/>
          <p:nvPr/>
        </p:nvPicPr>
        <p:blipFill>
          <a:blip r:embed="rId3">
            <a:alphaModFix/>
          </a:blip>
          <a:stretch>
            <a:fillRect/>
          </a:stretch>
        </p:blipFill>
        <p:spPr>
          <a:xfrm>
            <a:off x="1428325" y="1616477"/>
            <a:ext cx="4643574" cy="1250650"/>
          </a:xfrm>
          <a:prstGeom prst="rect">
            <a:avLst/>
          </a:prstGeom>
          <a:noFill/>
          <a:ln>
            <a:noFill/>
          </a:ln>
        </p:spPr>
      </p:pic>
      <p:pic>
        <p:nvPicPr>
          <p:cNvPr id="467" name="Google Shape;467;p26"/>
          <p:cNvPicPr preferRelativeResize="0"/>
          <p:nvPr/>
        </p:nvPicPr>
        <p:blipFill>
          <a:blip r:embed="rId4">
            <a:alphaModFix/>
          </a:blip>
          <a:stretch>
            <a:fillRect/>
          </a:stretch>
        </p:blipFill>
        <p:spPr>
          <a:xfrm>
            <a:off x="609600" y="3019527"/>
            <a:ext cx="2861185" cy="1971573"/>
          </a:xfrm>
          <a:prstGeom prst="rect">
            <a:avLst/>
          </a:prstGeom>
          <a:noFill/>
          <a:ln>
            <a:noFill/>
          </a:ln>
        </p:spPr>
      </p:pic>
      <p:pic>
        <p:nvPicPr>
          <p:cNvPr id="468" name="Google Shape;468;p26"/>
          <p:cNvPicPr preferRelativeResize="0"/>
          <p:nvPr/>
        </p:nvPicPr>
        <p:blipFill>
          <a:blip r:embed="rId5">
            <a:alphaModFix/>
          </a:blip>
          <a:stretch>
            <a:fillRect/>
          </a:stretch>
        </p:blipFill>
        <p:spPr>
          <a:xfrm>
            <a:off x="3921237" y="2867127"/>
            <a:ext cx="4951645" cy="19715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7"/>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7"/>
          <p:cNvSpPr txBox="1">
            <a:spLocks noGrp="1"/>
          </p:cNvSpPr>
          <p:nvPr>
            <p:ph type="title"/>
          </p:nvPr>
        </p:nvSpPr>
        <p:spPr>
          <a:xfrm>
            <a:off x="115150" y="93725"/>
            <a:ext cx="3853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475" name="Google Shape;475;p27"/>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476" name="Google Shape;476;p27"/>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477" name="Google Shape;477;p27"/>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478" name="Google Shape;478;p27"/>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479" name="Google Shape;479;p27"/>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480" name="Google Shape;480;p27"/>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481" name="Google Shape;481;p27"/>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482" name="Google Shape;482;p27"/>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483" name="Google Shape;483;p27"/>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484" name="Google Shape;484;p27"/>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485" name="Google Shape;485;p27"/>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486" name="Google Shape;486;p27"/>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487" name="Google Shape;487;p27"/>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488" name="Google Shape;488;p27"/>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489" name="Google Shape;489;p27"/>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490" name="Google Shape;490;p27"/>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491" name="Google Shape;491;p27"/>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492" name="Google Shape;492;p27"/>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493" name="Google Shape;493;p27"/>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494" name="Google Shape;494;p27"/>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495" name="Google Shape;495;p27"/>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496" name="Google Shape;496;p27"/>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497" name="Google Shape;497;p27"/>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498" name="Google Shape;498;p27"/>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499" name="Google Shape;499;p27"/>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500" name="Google Shape;500;p27"/>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501" name="Google Shape;501;p27"/>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502" name="Google Shape;502;p27"/>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503" name="Google Shape;503;p27"/>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504" name="Google Shape;504;p27"/>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505" name="Google Shape;505;p27"/>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506" name="Google Shape;506;p27"/>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507" name="Google Shape;507;p27"/>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508" name="Google Shape;508;p27"/>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509" name="Google Shape;509;p27"/>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510" name="Google Shape;510;p27"/>
          <p:cNvGrpSpPr/>
          <p:nvPr/>
        </p:nvGrpSpPr>
        <p:grpSpPr>
          <a:xfrm>
            <a:off x="281913" y="1634388"/>
            <a:ext cx="2366199" cy="308375"/>
            <a:chOff x="281913" y="1862988"/>
            <a:chExt cx="2366199" cy="308375"/>
          </a:xfrm>
        </p:grpSpPr>
        <p:pic>
          <p:nvPicPr>
            <p:cNvPr id="511" name="Google Shape;511;p27"/>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512" name="Google Shape;512;p27"/>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513" name="Google Shape;513;p27"/>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514" name="Google Shape;514;p27"/>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515" name="Google Shape;515;p27"/>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516" name="Google Shape;516;p27"/>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517" name="Google Shape;517;p27"/>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518" name="Google Shape;518;p27"/>
          <p:cNvGrpSpPr/>
          <p:nvPr/>
        </p:nvGrpSpPr>
        <p:grpSpPr>
          <a:xfrm>
            <a:off x="3193413" y="1634388"/>
            <a:ext cx="2366199" cy="308375"/>
            <a:chOff x="3159638" y="1911975"/>
            <a:chExt cx="2366199" cy="308375"/>
          </a:xfrm>
        </p:grpSpPr>
        <p:pic>
          <p:nvPicPr>
            <p:cNvPr id="519" name="Google Shape;519;p2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520" name="Google Shape;520;p2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521" name="Google Shape;521;p2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522" name="Google Shape;522;p2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523" name="Google Shape;523;p2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524" name="Google Shape;524;p2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525" name="Google Shape;525;p27"/>
          <p:cNvGrpSpPr/>
          <p:nvPr/>
        </p:nvGrpSpPr>
        <p:grpSpPr>
          <a:xfrm>
            <a:off x="4037313" y="2450650"/>
            <a:ext cx="1583916" cy="69900"/>
            <a:chOff x="4037313" y="3136450"/>
            <a:chExt cx="1583916" cy="69900"/>
          </a:xfrm>
        </p:grpSpPr>
        <p:pic>
          <p:nvPicPr>
            <p:cNvPr id="526" name="Google Shape;526;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27" name="Google Shape;527;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28" name="Google Shape;528;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29" name="Google Shape;529;p27"/>
          <p:cNvGrpSpPr/>
          <p:nvPr/>
        </p:nvGrpSpPr>
        <p:grpSpPr>
          <a:xfrm>
            <a:off x="3244063" y="2587938"/>
            <a:ext cx="1583916" cy="69900"/>
            <a:chOff x="4037313" y="3136450"/>
            <a:chExt cx="1583916" cy="69900"/>
          </a:xfrm>
        </p:grpSpPr>
        <p:pic>
          <p:nvPicPr>
            <p:cNvPr id="530" name="Google Shape;530;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31" name="Google Shape;531;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32" name="Google Shape;532;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33" name="Google Shape;533;p27"/>
          <p:cNvGrpSpPr/>
          <p:nvPr/>
        </p:nvGrpSpPr>
        <p:grpSpPr>
          <a:xfrm>
            <a:off x="3968338" y="2725225"/>
            <a:ext cx="1583916" cy="69900"/>
            <a:chOff x="4037313" y="3136450"/>
            <a:chExt cx="1583916" cy="69900"/>
          </a:xfrm>
        </p:grpSpPr>
        <p:pic>
          <p:nvPicPr>
            <p:cNvPr id="534" name="Google Shape;534;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35" name="Google Shape;535;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36" name="Google Shape;536;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37" name="Google Shape;537;p27"/>
          <p:cNvGrpSpPr/>
          <p:nvPr/>
        </p:nvGrpSpPr>
        <p:grpSpPr>
          <a:xfrm>
            <a:off x="3618363" y="2862513"/>
            <a:ext cx="1583916" cy="69900"/>
            <a:chOff x="4037313" y="3136450"/>
            <a:chExt cx="1583916" cy="69900"/>
          </a:xfrm>
        </p:grpSpPr>
        <p:pic>
          <p:nvPicPr>
            <p:cNvPr id="538" name="Google Shape;538;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39" name="Google Shape;539;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40" name="Google Shape;540;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41" name="Google Shape;541;p27"/>
          <p:cNvGrpSpPr/>
          <p:nvPr/>
        </p:nvGrpSpPr>
        <p:grpSpPr>
          <a:xfrm>
            <a:off x="3319063" y="2999800"/>
            <a:ext cx="1583916" cy="69900"/>
            <a:chOff x="4037313" y="3136450"/>
            <a:chExt cx="1583916" cy="69900"/>
          </a:xfrm>
        </p:grpSpPr>
        <p:pic>
          <p:nvPicPr>
            <p:cNvPr id="542" name="Google Shape;542;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43" name="Google Shape;543;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44" name="Google Shape;544;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545" name="Google Shape;545;p27"/>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546" name="Google Shape;546;p27"/>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547" name="Google Shape;547;p27"/>
          <p:cNvGrpSpPr/>
          <p:nvPr/>
        </p:nvGrpSpPr>
        <p:grpSpPr>
          <a:xfrm>
            <a:off x="3709954" y="3422048"/>
            <a:ext cx="486765" cy="69900"/>
            <a:chOff x="3581517" y="4234748"/>
            <a:chExt cx="486765" cy="69900"/>
          </a:xfrm>
        </p:grpSpPr>
        <p:pic>
          <p:nvPicPr>
            <p:cNvPr id="548" name="Google Shape;548;p27"/>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549" name="Google Shape;549;p27"/>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550" name="Google Shape;550;p27"/>
          <p:cNvGrpSpPr/>
          <p:nvPr/>
        </p:nvGrpSpPr>
        <p:grpSpPr>
          <a:xfrm>
            <a:off x="3996079" y="3599948"/>
            <a:ext cx="486765" cy="69900"/>
            <a:chOff x="3867642" y="4412648"/>
            <a:chExt cx="486765" cy="69900"/>
          </a:xfrm>
        </p:grpSpPr>
        <p:pic>
          <p:nvPicPr>
            <p:cNvPr id="551" name="Google Shape;551;p27"/>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552" name="Google Shape;552;p27"/>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553" name="Google Shape;553;p27"/>
          <p:cNvGrpSpPr/>
          <p:nvPr/>
        </p:nvGrpSpPr>
        <p:grpSpPr>
          <a:xfrm>
            <a:off x="4363804" y="3477123"/>
            <a:ext cx="486765" cy="69900"/>
            <a:chOff x="4235367" y="4289823"/>
            <a:chExt cx="486765" cy="69900"/>
          </a:xfrm>
        </p:grpSpPr>
        <p:pic>
          <p:nvPicPr>
            <p:cNvPr id="554" name="Google Shape;554;p2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555" name="Google Shape;555;p2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556" name="Google Shape;556;p27"/>
          <p:cNvGrpSpPr/>
          <p:nvPr/>
        </p:nvGrpSpPr>
        <p:grpSpPr>
          <a:xfrm>
            <a:off x="6789551" y="2380750"/>
            <a:ext cx="417498" cy="69900"/>
            <a:chOff x="4495488" y="4546300"/>
            <a:chExt cx="417498" cy="69900"/>
          </a:xfrm>
        </p:grpSpPr>
        <p:pic>
          <p:nvPicPr>
            <p:cNvPr id="557" name="Google Shape;557;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58" name="Google Shape;558;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59" name="Google Shape;559;p27"/>
          <p:cNvGrpSpPr/>
          <p:nvPr/>
        </p:nvGrpSpPr>
        <p:grpSpPr>
          <a:xfrm>
            <a:off x="4079779" y="3807123"/>
            <a:ext cx="486765" cy="69900"/>
            <a:chOff x="3951342" y="4619823"/>
            <a:chExt cx="486765" cy="69900"/>
          </a:xfrm>
        </p:grpSpPr>
        <p:pic>
          <p:nvPicPr>
            <p:cNvPr id="560" name="Google Shape;560;p27"/>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561" name="Google Shape;561;p27"/>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562" name="Google Shape;562;p27"/>
          <p:cNvGrpSpPr/>
          <p:nvPr/>
        </p:nvGrpSpPr>
        <p:grpSpPr>
          <a:xfrm>
            <a:off x="6487113" y="1634388"/>
            <a:ext cx="2366199" cy="308375"/>
            <a:chOff x="3159638" y="1911975"/>
            <a:chExt cx="2366199" cy="308375"/>
          </a:xfrm>
        </p:grpSpPr>
        <p:pic>
          <p:nvPicPr>
            <p:cNvPr id="563" name="Google Shape;563;p2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564" name="Google Shape;564;p2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565" name="Google Shape;565;p2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566" name="Google Shape;566;p2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567" name="Google Shape;567;p2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568" name="Google Shape;568;p2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569" name="Google Shape;569;p27"/>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570" name="Google Shape;570;p27"/>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571" name="Google Shape;571;p27"/>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572" name="Google Shape;572;p27"/>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573" name="Google Shape;573;p27"/>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574" name="Google Shape;574;p27"/>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575" name="Google Shape;575;p27"/>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576" name="Google Shape;576;p27"/>
          <p:cNvGrpSpPr/>
          <p:nvPr/>
        </p:nvGrpSpPr>
        <p:grpSpPr>
          <a:xfrm>
            <a:off x="4585892" y="3696623"/>
            <a:ext cx="486765" cy="69900"/>
            <a:chOff x="4235367" y="4289823"/>
            <a:chExt cx="486765" cy="69900"/>
          </a:xfrm>
        </p:grpSpPr>
        <p:pic>
          <p:nvPicPr>
            <p:cNvPr id="577" name="Google Shape;577;p2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578" name="Google Shape;578;p2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579" name="Google Shape;579;p27"/>
          <p:cNvGrpSpPr/>
          <p:nvPr/>
        </p:nvGrpSpPr>
        <p:grpSpPr>
          <a:xfrm>
            <a:off x="8073451" y="2422475"/>
            <a:ext cx="417498" cy="69900"/>
            <a:chOff x="4495488" y="4546300"/>
            <a:chExt cx="417498" cy="69900"/>
          </a:xfrm>
        </p:grpSpPr>
        <p:pic>
          <p:nvPicPr>
            <p:cNvPr id="580" name="Google Shape;580;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81" name="Google Shape;581;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82" name="Google Shape;582;p27"/>
          <p:cNvGrpSpPr/>
          <p:nvPr/>
        </p:nvGrpSpPr>
        <p:grpSpPr>
          <a:xfrm>
            <a:off x="6819226" y="2865025"/>
            <a:ext cx="417498" cy="69900"/>
            <a:chOff x="4495488" y="4546300"/>
            <a:chExt cx="417498" cy="69900"/>
          </a:xfrm>
        </p:grpSpPr>
        <p:pic>
          <p:nvPicPr>
            <p:cNvPr id="583" name="Google Shape;583;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84" name="Google Shape;584;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85" name="Google Shape;585;p27"/>
          <p:cNvGrpSpPr/>
          <p:nvPr/>
        </p:nvGrpSpPr>
        <p:grpSpPr>
          <a:xfrm>
            <a:off x="7538426" y="3008925"/>
            <a:ext cx="417498" cy="69900"/>
            <a:chOff x="4495488" y="4546300"/>
            <a:chExt cx="417498" cy="69900"/>
          </a:xfrm>
        </p:grpSpPr>
        <p:pic>
          <p:nvPicPr>
            <p:cNvPr id="586" name="Google Shape;586;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87" name="Google Shape;587;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88" name="Google Shape;588;p27"/>
          <p:cNvGrpSpPr/>
          <p:nvPr/>
        </p:nvGrpSpPr>
        <p:grpSpPr>
          <a:xfrm>
            <a:off x="8183576" y="2950650"/>
            <a:ext cx="417498" cy="69900"/>
            <a:chOff x="4495488" y="4546300"/>
            <a:chExt cx="417498" cy="69900"/>
          </a:xfrm>
        </p:grpSpPr>
        <p:pic>
          <p:nvPicPr>
            <p:cNvPr id="589" name="Google Shape;589;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90" name="Google Shape;590;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91" name="Google Shape;591;p27"/>
          <p:cNvGrpSpPr/>
          <p:nvPr/>
        </p:nvGrpSpPr>
        <p:grpSpPr>
          <a:xfrm>
            <a:off x="7345076" y="2649137"/>
            <a:ext cx="417498" cy="69900"/>
            <a:chOff x="4495488" y="4546300"/>
            <a:chExt cx="417498" cy="69900"/>
          </a:xfrm>
        </p:grpSpPr>
        <p:pic>
          <p:nvPicPr>
            <p:cNvPr id="592" name="Google Shape;592;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93" name="Google Shape;593;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94" name="Google Shape;594;p27"/>
          <p:cNvGrpSpPr/>
          <p:nvPr/>
        </p:nvGrpSpPr>
        <p:grpSpPr>
          <a:xfrm>
            <a:off x="7396476" y="3259575"/>
            <a:ext cx="417498" cy="69900"/>
            <a:chOff x="4495488" y="4546300"/>
            <a:chExt cx="417498" cy="69900"/>
          </a:xfrm>
        </p:grpSpPr>
        <p:pic>
          <p:nvPicPr>
            <p:cNvPr id="595" name="Google Shape;595;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96" name="Google Shape;596;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597" name="Google Shape;597;p27"/>
          <p:cNvSpPr/>
          <p:nvPr/>
        </p:nvSpPr>
        <p:spPr>
          <a:xfrm>
            <a:off x="62477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4" name="Google Shape;604;p28"/>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sp>
        <p:nvSpPr>
          <p:cNvPr id="603" name="Google Shape;603;p28"/>
          <p:cNvSpPr txBox="1">
            <a:spLocks noGrp="1"/>
          </p:cNvSpPr>
          <p:nvPr>
            <p:ph type="body" idx="1"/>
          </p:nvPr>
        </p:nvSpPr>
        <p:spPr>
          <a:xfrm>
            <a:off x="74288" y="630485"/>
            <a:ext cx="5647800" cy="26358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Clr>
                <a:schemeClr val="dk1"/>
              </a:buClr>
              <a:buSzPts val="1400"/>
              <a:buChar char="●"/>
            </a:pPr>
            <a:r>
              <a:rPr lang="en" sz="1400" dirty="0">
                <a:solidFill>
                  <a:schemeClr val="dk1"/>
                </a:solidFill>
              </a:rPr>
              <a:t>Adapter dimers are:</a:t>
            </a:r>
            <a:endParaRPr sz="1400" dirty="0">
              <a:solidFill>
                <a:schemeClr val="dk1"/>
              </a:solidFill>
            </a:endParaRPr>
          </a:p>
          <a:p>
            <a:pPr marL="457200" lvl="0" indent="0" algn="l" rtl="0">
              <a:lnSpc>
                <a:spcPct val="150000"/>
              </a:lnSpc>
              <a:spcBef>
                <a:spcPts val="0"/>
              </a:spcBef>
              <a:spcAft>
                <a:spcPts val="0"/>
              </a:spcAft>
              <a:buNone/>
            </a:pPr>
            <a:endParaRPr sz="600" dirty="0">
              <a:solidFill>
                <a:schemeClr val="dk1"/>
              </a:solidFill>
            </a:endParaRPr>
          </a:p>
          <a:p>
            <a:pPr marL="742950" lvl="1" indent="-203200" algn="l" rtl="0">
              <a:lnSpc>
                <a:spcPct val="150000"/>
              </a:lnSpc>
              <a:spcBef>
                <a:spcPts val="0"/>
              </a:spcBef>
              <a:spcAft>
                <a:spcPts val="0"/>
              </a:spcAft>
              <a:buClr>
                <a:schemeClr val="dk1"/>
              </a:buClr>
              <a:buSzPts val="1400"/>
              <a:buChar char="○"/>
            </a:pPr>
            <a:r>
              <a:rPr lang="en" dirty="0">
                <a:solidFill>
                  <a:schemeClr val="dk1"/>
                </a:solidFill>
              </a:rPr>
              <a:t>A byproduct of the adapter ligation step during library prep (</a:t>
            </a:r>
            <a:r>
              <a:rPr lang="en" dirty="0" err="1">
                <a:solidFill>
                  <a:schemeClr val="dk1"/>
                </a:solidFill>
              </a:rPr>
              <a:t>TruSeq</a:t>
            </a:r>
            <a:r>
              <a:rPr lang="en" dirty="0">
                <a:solidFill>
                  <a:schemeClr val="dk1"/>
                </a:solidFill>
              </a:rPr>
              <a:t>/</a:t>
            </a:r>
            <a:r>
              <a:rPr lang="en" dirty="0" err="1">
                <a:solidFill>
                  <a:schemeClr val="dk1"/>
                </a:solidFill>
              </a:rPr>
              <a:t>NEBNext</a:t>
            </a:r>
            <a:r>
              <a:rPr lang="en" dirty="0">
                <a:solidFill>
                  <a:schemeClr val="dk1"/>
                </a:solidFill>
              </a:rPr>
              <a:t> Ultra II DNA kits) </a:t>
            </a:r>
            <a:endParaRPr dirty="0">
              <a:solidFill>
                <a:schemeClr val="dk1"/>
              </a:solidFill>
            </a:endParaRPr>
          </a:p>
          <a:p>
            <a:pPr marL="0" lvl="0" indent="0" algn="l" rtl="0">
              <a:lnSpc>
                <a:spcPct val="150000"/>
              </a:lnSpc>
              <a:spcBef>
                <a:spcPts val="0"/>
              </a:spcBef>
              <a:spcAft>
                <a:spcPts val="0"/>
              </a:spcAft>
              <a:buNone/>
            </a:pPr>
            <a:endParaRPr sz="600" dirty="0">
              <a:solidFill>
                <a:schemeClr val="dk1"/>
              </a:solidFill>
            </a:endParaRPr>
          </a:p>
          <a:p>
            <a:pPr marL="742950" lvl="1" indent="-203200" algn="l" rtl="0">
              <a:lnSpc>
                <a:spcPct val="150000"/>
              </a:lnSpc>
              <a:spcBef>
                <a:spcPts val="0"/>
              </a:spcBef>
              <a:spcAft>
                <a:spcPts val="0"/>
              </a:spcAft>
              <a:buClr>
                <a:schemeClr val="dk1"/>
              </a:buClr>
              <a:buSzPts val="1400"/>
              <a:buChar char="○"/>
            </a:pPr>
            <a:r>
              <a:rPr lang="en" sz="1400" dirty="0">
                <a:solidFill>
                  <a:schemeClr val="dk1"/>
                </a:solidFill>
              </a:rPr>
              <a:t>± 140 bp long at the final QC step (after barcoding PCR)</a:t>
            </a:r>
            <a:endParaRPr sz="1400" dirty="0">
              <a:solidFill>
                <a:schemeClr val="dk1"/>
              </a:solidFill>
            </a:endParaRPr>
          </a:p>
          <a:p>
            <a:pPr marL="914400" lvl="0" indent="0" algn="l" rtl="0">
              <a:lnSpc>
                <a:spcPct val="150000"/>
              </a:lnSpc>
              <a:spcBef>
                <a:spcPts val="0"/>
              </a:spcBef>
              <a:spcAft>
                <a:spcPts val="0"/>
              </a:spcAft>
              <a:buNone/>
            </a:pPr>
            <a:endParaRPr sz="600" dirty="0">
              <a:solidFill>
                <a:schemeClr val="dk1"/>
              </a:solidFill>
            </a:endParaRPr>
          </a:p>
          <a:p>
            <a:pPr marL="742950" lvl="1" indent="-203200" algn="l" rtl="0">
              <a:lnSpc>
                <a:spcPct val="150000"/>
              </a:lnSpc>
              <a:spcBef>
                <a:spcPts val="0"/>
              </a:spcBef>
              <a:spcAft>
                <a:spcPts val="0"/>
              </a:spcAft>
              <a:buClr>
                <a:schemeClr val="dk1"/>
              </a:buClr>
              <a:buSzPts val="1400"/>
              <a:buChar char="○"/>
            </a:pPr>
            <a:r>
              <a:rPr lang="en" dirty="0">
                <a:solidFill>
                  <a:schemeClr val="dk1"/>
                </a:solidFill>
              </a:rPr>
              <a:t>Use capillary electrophoresis (preferred) or PCR + gel electrophoresis to detect adapter dimers</a:t>
            </a:r>
            <a:endParaRPr sz="1400" dirty="0">
              <a:solidFill>
                <a:schemeClr val="dk1"/>
              </a:solidFill>
            </a:endParaRPr>
          </a:p>
        </p:txBody>
      </p:sp>
      <p:pic>
        <p:nvPicPr>
          <p:cNvPr id="610" name="Google Shape;610;p28"/>
          <p:cNvPicPr preferRelativeResize="0"/>
          <p:nvPr/>
        </p:nvPicPr>
        <p:blipFill rotWithShape="1">
          <a:blip r:embed="rId3">
            <a:alphaModFix/>
          </a:blip>
          <a:srcRect/>
          <a:stretch/>
        </p:blipFill>
        <p:spPr>
          <a:xfrm>
            <a:off x="938838" y="3475805"/>
            <a:ext cx="3314966" cy="1428448"/>
          </a:xfrm>
          <a:prstGeom prst="rect">
            <a:avLst/>
          </a:prstGeom>
          <a:noFill/>
          <a:ln>
            <a:noFill/>
          </a:ln>
        </p:spPr>
      </p:pic>
      <p:sp>
        <p:nvSpPr>
          <p:cNvPr id="611" name="Google Shape;611;p28"/>
          <p:cNvSpPr/>
          <p:nvPr/>
        </p:nvSpPr>
        <p:spPr>
          <a:xfrm>
            <a:off x="1956074" y="3642442"/>
            <a:ext cx="186600" cy="12018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2" name="Google Shape;612;p28"/>
          <p:cNvSpPr txBox="1"/>
          <p:nvPr/>
        </p:nvSpPr>
        <p:spPr>
          <a:xfrm>
            <a:off x="2206300" y="4733275"/>
            <a:ext cx="1421700" cy="31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C00000"/>
                </a:solidFill>
              </a:rPr>
              <a:t>Adapter dimers</a:t>
            </a:r>
            <a:endParaRPr sz="1300" b="1" dirty="0">
              <a:solidFill>
                <a:srgbClr val="C00000"/>
              </a:solidFill>
            </a:endParaRPr>
          </a:p>
        </p:txBody>
      </p:sp>
      <p:grpSp>
        <p:nvGrpSpPr>
          <p:cNvPr id="11" name="Group 10">
            <a:extLst>
              <a:ext uri="{FF2B5EF4-FFF2-40B4-BE49-F238E27FC236}">
                <a16:creationId xmlns:a16="http://schemas.microsoft.com/office/drawing/2014/main" id="{58C39C33-FA3D-7AA2-E72F-78F3D761D73E}"/>
              </a:ext>
            </a:extLst>
          </p:cNvPr>
          <p:cNvGrpSpPr/>
          <p:nvPr/>
        </p:nvGrpSpPr>
        <p:grpSpPr>
          <a:xfrm>
            <a:off x="5871217" y="1896884"/>
            <a:ext cx="2760554" cy="2015769"/>
            <a:chOff x="5818800" y="1442597"/>
            <a:chExt cx="2760554" cy="2015769"/>
          </a:xfrm>
        </p:grpSpPr>
        <p:pic>
          <p:nvPicPr>
            <p:cNvPr id="2" name="Google Shape;239;p35">
              <a:extLst>
                <a:ext uri="{FF2B5EF4-FFF2-40B4-BE49-F238E27FC236}">
                  <a16:creationId xmlns:a16="http://schemas.microsoft.com/office/drawing/2014/main" id="{D68D6993-7348-01D8-479B-1F19FDBB5BF2}"/>
                </a:ext>
              </a:extLst>
            </p:cNvPr>
            <p:cNvPicPr preferRelativeResize="0"/>
            <p:nvPr/>
          </p:nvPicPr>
          <p:blipFill>
            <a:blip r:embed="rId4">
              <a:alphaModFix/>
            </a:blip>
            <a:srcRect l="26970" t="64528" r="24115"/>
            <a:stretch>
              <a:fillRect/>
            </a:stretch>
          </p:blipFill>
          <p:spPr>
            <a:xfrm>
              <a:off x="5818800" y="1517359"/>
              <a:ext cx="1895990" cy="1267052"/>
            </a:xfrm>
            <a:prstGeom prst="rect">
              <a:avLst/>
            </a:prstGeom>
            <a:noFill/>
            <a:ln>
              <a:noFill/>
            </a:ln>
          </p:spPr>
        </p:pic>
        <p:pic>
          <p:nvPicPr>
            <p:cNvPr id="3" name="Google Shape;293;p40">
              <a:extLst>
                <a:ext uri="{FF2B5EF4-FFF2-40B4-BE49-F238E27FC236}">
                  <a16:creationId xmlns:a16="http://schemas.microsoft.com/office/drawing/2014/main" id="{EF9D5D81-FFF1-F97E-542F-67F4E12204B9}"/>
                </a:ext>
              </a:extLst>
            </p:cNvPr>
            <p:cNvPicPr preferRelativeResize="0"/>
            <p:nvPr/>
          </p:nvPicPr>
          <p:blipFill>
            <a:blip r:embed="rId5">
              <a:alphaModFix/>
            </a:blip>
            <a:stretch>
              <a:fillRect/>
            </a:stretch>
          </p:blipFill>
          <p:spPr>
            <a:xfrm>
              <a:off x="7811502" y="2006502"/>
              <a:ext cx="767852" cy="288765"/>
            </a:xfrm>
            <a:prstGeom prst="rect">
              <a:avLst/>
            </a:prstGeom>
            <a:noFill/>
            <a:ln>
              <a:noFill/>
            </a:ln>
          </p:spPr>
        </p:pic>
        <p:pic>
          <p:nvPicPr>
            <p:cNvPr id="4" name="Google Shape;293;p40">
              <a:extLst>
                <a:ext uri="{FF2B5EF4-FFF2-40B4-BE49-F238E27FC236}">
                  <a16:creationId xmlns:a16="http://schemas.microsoft.com/office/drawing/2014/main" id="{B2B9AC9E-C6D1-E0B1-1FE8-D62E3144EFA5}"/>
                </a:ext>
              </a:extLst>
            </p:cNvPr>
            <p:cNvPicPr preferRelativeResize="0"/>
            <p:nvPr/>
          </p:nvPicPr>
          <p:blipFill>
            <a:blip r:embed="rId5">
              <a:alphaModFix/>
            </a:blip>
            <a:srcRect l="42983"/>
            <a:stretch>
              <a:fillRect/>
            </a:stretch>
          </p:blipFill>
          <p:spPr>
            <a:xfrm>
              <a:off x="7811502" y="1442597"/>
              <a:ext cx="392142" cy="288764"/>
            </a:xfrm>
            <a:prstGeom prst="rect">
              <a:avLst/>
            </a:prstGeom>
            <a:noFill/>
            <a:ln>
              <a:noFill/>
            </a:ln>
          </p:spPr>
        </p:pic>
        <p:sp>
          <p:nvSpPr>
            <p:cNvPr id="5" name="Plus 4">
              <a:extLst>
                <a:ext uri="{FF2B5EF4-FFF2-40B4-BE49-F238E27FC236}">
                  <a16:creationId xmlns:a16="http://schemas.microsoft.com/office/drawing/2014/main" id="{1EE74A02-0466-4940-BEDD-91708814CA64}"/>
                </a:ext>
              </a:extLst>
            </p:cNvPr>
            <p:cNvSpPr/>
            <p:nvPr/>
          </p:nvSpPr>
          <p:spPr>
            <a:xfrm>
              <a:off x="7564112" y="1517359"/>
              <a:ext cx="120770" cy="172528"/>
            </a:xfrm>
            <a:prstGeom prst="math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440F9D04-DCF3-58EA-0EA9-6919D5F233C8}"/>
                </a:ext>
              </a:extLst>
            </p:cNvPr>
            <p:cNvGrpSpPr/>
            <p:nvPr/>
          </p:nvGrpSpPr>
          <p:grpSpPr>
            <a:xfrm>
              <a:off x="6132476" y="3179552"/>
              <a:ext cx="1147868" cy="278814"/>
              <a:chOff x="5989705" y="4500220"/>
              <a:chExt cx="1147868" cy="278814"/>
            </a:xfrm>
          </p:grpSpPr>
          <p:pic>
            <p:nvPicPr>
              <p:cNvPr id="7" name="Google Shape;239;p35">
                <a:extLst>
                  <a:ext uri="{FF2B5EF4-FFF2-40B4-BE49-F238E27FC236}">
                    <a16:creationId xmlns:a16="http://schemas.microsoft.com/office/drawing/2014/main" id="{D8B6BF9C-B5B0-8136-56EA-9667BC4FEF0E}"/>
                  </a:ext>
                </a:extLst>
              </p:cNvPr>
              <p:cNvPicPr preferRelativeResize="0"/>
              <p:nvPr/>
            </p:nvPicPr>
            <p:blipFill>
              <a:blip r:embed="rId4">
                <a:alphaModFix/>
              </a:blip>
              <a:srcRect l="59399" t="95246" r="24116"/>
              <a:stretch>
                <a:fillRect/>
              </a:stretch>
            </p:blipFill>
            <p:spPr>
              <a:xfrm>
                <a:off x="6498566" y="4563482"/>
                <a:ext cx="639007" cy="169793"/>
              </a:xfrm>
              <a:prstGeom prst="rect">
                <a:avLst/>
              </a:prstGeom>
              <a:noFill/>
              <a:ln>
                <a:noFill/>
              </a:ln>
            </p:spPr>
          </p:pic>
          <p:pic>
            <p:nvPicPr>
              <p:cNvPr id="8" name="Google Shape;239;p35">
                <a:extLst>
                  <a:ext uri="{FF2B5EF4-FFF2-40B4-BE49-F238E27FC236}">
                    <a16:creationId xmlns:a16="http://schemas.microsoft.com/office/drawing/2014/main" id="{CBD134D6-8D1E-56B5-EF18-3D88F7A29795}"/>
                  </a:ext>
                </a:extLst>
              </p:cNvPr>
              <p:cNvPicPr preferRelativeResize="0"/>
              <p:nvPr/>
            </p:nvPicPr>
            <p:blipFill>
              <a:blip r:embed="rId4">
                <a:alphaModFix/>
              </a:blip>
              <a:srcRect l="26970" t="93475" r="59902" b="-1281"/>
              <a:stretch>
                <a:fillRect/>
              </a:stretch>
            </p:blipFill>
            <p:spPr>
              <a:xfrm>
                <a:off x="5989705" y="4500220"/>
                <a:ext cx="508861" cy="278814"/>
              </a:xfrm>
              <a:prstGeom prst="rect">
                <a:avLst/>
              </a:prstGeom>
              <a:noFill/>
              <a:ln>
                <a:noFill/>
              </a:ln>
            </p:spPr>
          </p:pic>
        </p:grpSp>
        <p:sp>
          <p:nvSpPr>
            <p:cNvPr id="10" name="Plus 9">
              <a:extLst>
                <a:ext uri="{FF2B5EF4-FFF2-40B4-BE49-F238E27FC236}">
                  <a16:creationId xmlns:a16="http://schemas.microsoft.com/office/drawing/2014/main" id="{FD3F1927-4AF2-FC22-A120-AFC253A8A24A}"/>
                </a:ext>
              </a:extLst>
            </p:cNvPr>
            <p:cNvSpPr/>
            <p:nvPr/>
          </p:nvSpPr>
          <p:spPr>
            <a:xfrm>
              <a:off x="6646025" y="2869380"/>
              <a:ext cx="120770" cy="172528"/>
            </a:xfrm>
            <a:prstGeom prst="math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fade">
                                      <p:cBhvr>
                                        <p:cTn id="7" dur="1000"/>
                                        <p:tgtEl>
                                          <p:spTgt spid="610"/>
                                        </p:tgtEl>
                                      </p:cBhvr>
                                    </p:animEffect>
                                  </p:childTnLst>
                                </p:cTn>
                              </p:par>
                              <p:par>
                                <p:cTn id="8" presetID="10" presetClass="entr" presetSubtype="0" fill="hold" nodeType="withEffect">
                                  <p:stCondLst>
                                    <p:cond delay="0"/>
                                  </p:stCondLst>
                                  <p:childTnLst>
                                    <p:set>
                                      <p:cBhvr>
                                        <p:cTn id="9" dur="1" fill="hold">
                                          <p:stCondLst>
                                            <p:cond delay="0"/>
                                          </p:stCondLst>
                                        </p:cTn>
                                        <p:tgtEl>
                                          <p:spTgt spid="611"/>
                                        </p:tgtEl>
                                        <p:attrNameLst>
                                          <p:attrName>style.visibility</p:attrName>
                                        </p:attrNameLst>
                                      </p:cBhvr>
                                      <p:to>
                                        <p:strVal val="visible"/>
                                      </p:to>
                                    </p:set>
                                    <p:animEffect transition="in" filter="fade">
                                      <p:cBhvr>
                                        <p:cTn id="10" dur="1000"/>
                                        <p:tgtEl>
                                          <p:spTgt spid="611"/>
                                        </p:tgtEl>
                                      </p:cBhvr>
                                    </p:animEffect>
                                  </p:childTnLst>
                                </p:cTn>
                              </p:par>
                              <p:par>
                                <p:cTn id="11" presetID="10" presetClass="entr" presetSubtype="0" fill="hold" nodeType="withEffect">
                                  <p:stCondLst>
                                    <p:cond delay="0"/>
                                  </p:stCondLst>
                                  <p:childTnLst>
                                    <p:set>
                                      <p:cBhvr>
                                        <p:cTn id="12" dur="1" fill="hold">
                                          <p:stCondLst>
                                            <p:cond delay="0"/>
                                          </p:stCondLst>
                                        </p:cTn>
                                        <p:tgtEl>
                                          <p:spTgt spid="612"/>
                                        </p:tgtEl>
                                        <p:attrNameLst>
                                          <p:attrName>style.visibility</p:attrName>
                                        </p:attrNameLst>
                                      </p:cBhvr>
                                      <p:to>
                                        <p:strVal val="visible"/>
                                      </p:to>
                                    </p:set>
                                    <p:animEffect transition="in" filter="fade">
                                      <p:cBhvr>
                                        <p:cTn id="13" dur="10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pic>
        <p:nvPicPr>
          <p:cNvPr id="618" name="Google Shape;618;p29"/>
          <p:cNvPicPr preferRelativeResize="0"/>
          <p:nvPr/>
        </p:nvPicPr>
        <p:blipFill rotWithShape="1">
          <a:blip r:embed="rId3">
            <a:alphaModFix/>
          </a:blip>
          <a:srcRect/>
          <a:stretch/>
        </p:blipFill>
        <p:spPr>
          <a:xfrm>
            <a:off x="6130302" y="149825"/>
            <a:ext cx="2834174" cy="2421925"/>
          </a:xfrm>
          <a:prstGeom prst="rect">
            <a:avLst/>
          </a:prstGeom>
          <a:noFill/>
          <a:ln>
            <a:noFill/>
          </a:ln>
        </p:spPr>
      </p:pic>
      <p:pic>
        <p:nvPicPr>
          <p:cNvPr id="619" name="Google Shape;619;p29"/>
          <p:cNvPicPr preferRelativeResize="0"/>
          <p:nvPr/>
        </p:nvPicPr>
        <p:blipFill rotWithShape="1">
          <a:blip r:embed="rId4">
            <a:alphaModFix/>
          </a:blip>
          <a:srcRect/>
          <a:stretch/>
        </p:blipFill>
        <p:spPr>
          <a:xfrm>
            <a:off x="343500" y="2850150"/>
            <a:ext cx="6258776" cy="2193100"/>
          </a:xfrm>
          <a:prstGeom prst="rect">
            <a:avLst/>
          </a:prstGeom>
          <a:noFill/>
          <a:ln>
            <a:noFill/>
          </a:ln>
        </p:spPr>
      </p:pic>
      <p:sp>
        <p:nvSpPr>
          <p:cNvPr id="620" name="Google Shape;620;p29"/>
          <p:cNvSpPr txBox="1"/>
          <p:nvPr/>
        </p:nvSpPr>
        <p:spPr>
          <a:xfrm>
            <a:off x="225075" y="829900"/>
            <a:ext cx="6432900" cy="1382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 b="1"/>
              <a:t>AMPure XP SPRI select beads (paramagnetic) </a:t>
            </a:r>
            <a:endParaRPr b="1"/>
          </a:p>
          <a:p>
            <a:pPr marL="0" marR="0" lvl="0" indent="0" algn="l" rtl="0">
              <a:lnSpc>
                <a:spcPct val="200000"/>
              </a:lnSpc>
              <a:spcBef>
                <a:spcPts val="0"/>
              </a:spcBef>
              <a:spcAft>
                <a:spcPts val="0"/>
              </a:spcAft>
              <a:buNone/>
            </a:pPr>
            <a:r>
              <a:rPr lang="en"/>
              <a:t>or homemade SPRI beads (&gt;10x cheaper)</a:t>
            </a:r>
            <a:endParaRPr/>
          </a:p>
          <a:p>
            <a:pPr marL="171450" marR="0" lvl="0" indent="-203200" algn="l" rtl="0">
              <a:lnSpc>
                <a:spcPct val="175000"/>
              </a:lnSpc>
              <a:spcBef>
                <a:spcPts val="0"/>
              </a:spcBef>
              <a:spcAft>
                <a:spcPts val="0"/>
              </a:spcAft>
              <a:buSzPts val="1400"/>
              <a:buChar char="●"/>
            </a:pPr>
            <a:r>
              <a:rPr lang="en"/>
              <a:t>The longer a fragment, the better it will bind to the beads</a:t>
            </a:r>
            <a:endParaRPr/>
          </a:p>
          <a:p>
            <a:pPr marL="171450" marR="0" lvl="0" indent="-203200" algn="l" rtl="0">
              <a:lnSpc>
                <a:spcPct val="175000"/>
              </a:lnSpc>
              <a:spcBef>
                <a:spcPts val="0"/>
              </a:spcBef>
              <a:spcAft>
                <a:spcPts val="0"/>
              </a:spcAft>
              <a:buSzPts val="1400"/>
              <a:buChar char="●"/>
            </a:pPr>
            <a:r>
              <a:rPr lang="en"/>
              <a:t>The fewer beads you add, the more short fragments you’ll lose</a:t>
            </a:r>
            <a:endParaRPr/>
          </a:p>
          <a:p>
            <a:pPr marL="171450" marR="0" lvl="0" indent="-203200" algn="l" rtl="0">
              <a:lnSpc>
                <a:spcPct val="175000"/>
              </a:lnSpc>
              <a:spcBef>
                <a:spcPts val="0"/>
              </a:spcBef>
              <a:spcAft>
                <a:spcPts val="0"/>
              </a:spcAft>
              <a:buClr>
                <a:srgbClr val="FF0000"/>
              </a:buClr>
              <a:buSzPts val="1400"/>
              <a:buChar char="●"/>
            </a:pPr>
            <a:r>
              <a:rPr lang="en" b="1">
                <a:solidFill>
                  <a:srgbClr val="FF0000"/>
                </a:solidFill>
              </a:rPr>
              <a:t>Perform size selection using these beads to remove adapter dimers</a:t>
            </a:r>
            <a:endParaRPr b="1">
              <a:solidFill>
                <a:srgbClr val="FF0000"/>
              </a:solidFill>
            </a:endParaRPr>
          </a:p>
        </p:txBody>
      </p:sp>
      <p:sp>
        <p:nvSpPr>
          <p:cNvPr id="621" name="Google Shape;621;p29"/>
          <p:cNvSpPr txBox="1"/>
          <p:nvPr/>
        </p:nvSpPr>
        <p:spPr>
          <a:xfrm>
            <a:off x="6963475" y="3253675"/>
            <a:ext cx="2001000" cy="603300"/>
          </a:xfrm>
          <a:prstGeom prst="rect">
            <a:avLst/>
          </a:prstGeom>
          <a:noFill/>
          <a:ln>
            <a:noFill/>
          </a:ln>
        </p:spPr>
        <p:txBody>
          <a:bodyPr spcFirstLastPara="1" wrap="square" lIns="91425" tIns="91425" rIns="91425" bIns="91425" anchor="t" anchorCtr="0">
            <a:noAutofit/>
          </a:bodyPr>
          <a:lstStyle/>
          <a:p>
            <a:pPr marL="0" lvl="0" indent="457200" algn="ctr" rtl="0">
              <a:lnSpc>
                <a:spcPct val="150000"/>
              </a:lnSpc>
              <a:spcBef>
                <a:spcPts val="0"/>
              </a:spcBef>
              <a:spcAft>
                <a:spcPts val="0"/>
              </a:spcAft>
              <a:buNone/>
            </a:pPr>
            <a:r>
              <a:rPr lang="en"/>
              <a:t>Volume beads</a:t>
            </a:r>
            <a:endParaRPr/>
          </a:p>
          <a:p>
            <a:pPr marL="0" lvl="0" indent="457200" algn="ctr" rtl="0">
              <a:lnSpc>
                <a:spcPct val="150000"/>
              </a:lnSpc>
              <a:spcBef>
                <a:spcPts val="0"/>
              </a:spcBef>
              <a:spcAft>
                <a:spcPts val="0"/>
              </a:spcAft>
              <a:buNone/>
            </a:pPr>
            <a:r>
              <a:rPr lang="en"/>
              <a:t>Volume reaction</a:t>
            </a:r>
            <a:endParaRPr/>
          </a:p>
        </p:txBody>
      </p:sp>
      <p:cxnSp>
        <p:nvCxnSpPr>
          <p:cNvPr id="622" name="Google Shape;622;p29"/>
          <p:cNvCxnSpPr/>
          <p:nvPr/>
        </p:nvCxnSpPr>
        <p:spPr>
          <a:xfrm rot="10800000" flipH="1">
            <a:off x="7529700" y="3625900"/>
            <a:ext cx="1304700" cy="300"/>
          </a:xfrm>
          <a:prstGeom prst="straightConnector1">
            <a:avLst/>
          </a:prstGeom>
          <a:noFill/>
          <a:ln w="9525" cap="flat" cmpd="sng">
            <a:solidFill>
              <a:schemeClr val="dk2"/>
            </a:solidFill>
            <a:prstDash val="solid"/>
            <a:round/>
            <a:headEnd type="none" w="med" len="med"/>
            <a:tailEnd type="none" w="med" len="med"/>
          </a:ln>
        </p:spPr>
      </p:cxnSp>
      <p:sp>
        <p:nvSpPr>
          <p:cNvPr id="623" name="Google Shape;623;p29"/>
          <p:cNvSpPr txBox="1"/>
          <p:nvPr/>
        </p:nvSpPr>
        <p:spPr>
          <a:xfrm>
            <a:off x="6377400" y="3377200"/>
            <a:ext cx="1304700" cy="345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SPRI ratio =</a:t>
            </a:r>
            <a:endParaRPr/>
          </a:p>
        </p:txBody>
      </p:sp>
      <p:sp>
        <p:nvSpPr>
          <p:cNvPr id="624" name="Google Shape;624;p29"/>
          <p:cNvSpPr txBox="1"/>
          <p:nvPr/>
        </p:nvSpPr>
        <p:spPr>
          <a:xfrm>
            <a:off x="6338200" y="4005500"/>
            <a:ext cx="2773200" cy="85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t>Example: for a 1.8x SPRI clean-up:</a:t>
            </a:r>
            <a:endParaRPr sz="1300"/>
          </a:p>
          <a:p>
            <a:pPr marL="457200" lvl="0" indent="-311150" algn="l" rtl="0">
              <a:lnSpc>
                <a:spcPct val="115000"/>
              </a:lnSpc>
              <a:spcBef>
                <a:spcPts val="0"/>
              </a:spcBef>
              <a:spcAft>
                <a:spcPts val="0"/>
              </a:spcAft>
              <a:buSzPts val="1300"/>
              <a:buChar char="-"/>
            </a:pPr>
            <a:r>
              <a:rPr lang="en" sz="1300"/>
              <a:t>Add 18 μl of SPRI beads to 10 μl of sample</a:t>
            </a:r>
            <a:endParaRPr sz="1300"/>
          </a:p>
        </p:txBody>
      </p:sp>
      <p:sp>
        <p:nvSpPr>
          <p:cNvPr id="625" name="Google Shape;625;p29"/>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8"/>
                                        </p:tgtEl>
                                        <p:attrNameLst>
                                          <p:attrName>style.visibility</p:attrName>
                                        </p:attrNameLst>
                                      </p:cBhvr>
                                      <p:to>
                                        <p:strVal val="visible"/>
                                      </p:to>
                                    </p:set>
                                    <p:animEffect transition="in" filter="fade">
                                      <p:cBhvr>
                                        <p:cTn id="7" dur="1000"/>
                                        <p:tgtEl>
                                          <p:spTgt spid="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pic>
        <p:nvPicPr>
          <p:cNvPr id="631" name="Google Shape;631;p30"/>
          <p:cNvPicPr preferRelativeResize="0"/>
          <p:nvPr/>
        </p:nvPicPr>
        <p:blipFill rotWithShape="1">
          <a:blip r:embed="rId3">
            <a:alphaModFix/>
          </a:blip>
          <a:srcRect/>
          <a:stretch/>
        </p:blipFill>
        <p:spPr>
          <a:xfrm>
            <a:off x="6130302" y="149825"/>
            <a:ext cx="2834174" cy="2421925"/>
          </a:xfrm>
          <a:prstGeom prst="rect">
            <a:avLst/>
          </a:prstGeom>
          <a:noFill/>
          <a:ln>
            <a:noFill/>
          </a:ln>
        </p:spPr>
      </p:pic>
      <p:graphicFrame>
        <p:nvGraphicFramePr>
          <p:cNvPr id="632" name="Google Shape;632;p30"/>
          <p:cNvGraphicFramePr/>
          <p:nvPr/>
        </p:nvGraphicFramePr>
        <p:xfrm>
          <a:off x="837313" y="3049983"/>
          <a:ext cx="6202150" cy="1409765"/>
        </p:xfrm>
        <a:graphic>
          <a:graphicData uri="http://schemas.openxmlformats.org/drawingml/2006/table">
            <a:tbl>
              <a:tblPr firstRow="1" bandRow="1">
                <a:noFill/>
              </a:tblPr>
              <a:tblGrid>
                <a:gridCol w="2060225">
                  <a:extLst>
                    <a:ext uri="{9D8B030D-6E8A-4147-A177-3AD203B41FA5}">
                      <a16:colId xmlns:a16="http://schemas.microsoft.com/office/drawing/2014/main" val="20000"/>
                    </a:ext>
                  </a:extLst>
                </a:gridCol>
                <a:gridCol w="3192750">
                  <a:extLst>
                    <a:ext uri="{9D8B030D-6E8A-4147-A177-3AD203B41FA5}">
                      <a16:colId xmlns:a16="http://schemas.microsoft.com/office/drawing/2014/main" val="20001"/>
                    </a:ext>
                  </a:extLst>
                </a:gridCol>
                <a:gridCol w="949175">
                  <a:extLst>
                    <a:ext uri="{9D8B030D-6E8A-4147-A177-3AD203B41FA5}">
                      <a16:colId xmlns:a16="http://schemas.microsoft.com/office/drawing/2014/main" val="20002"/>
                    </a:ext>
                  </a:extLst>
                </a:gridCol>
              </a:tblGrid>
              <a:tr h="388625">
                <a:tc>
                  <a:txBody>
                    <a:bodyPr/>
                    <a:lstStyle/>
                    <a:p>
                      <a:pPr marL="0" marR="0" lvl="0" indent="0" algn="ctr" rtl="0">
                        <a:spcBef>
                          <a:spcPts val="0"/>
                        </a:spcBef>
                        <a:spcAft>
                          <a:spcPts val="0"/>
                        </a:spcAft>
                        <a:buNone/>
                      </a:pPr>
                      <a:r>
                        <a:rPr lang="en" sz="1300">
                          <a:latin typeface="Arial"/>
                          <a:ea typeface="Arial"/>
                          <a:cs typeface="Arial"/>
                          <a:sym typeface="Arial"/>
                        </a:rPr>
                        <a:t>Step</a:t>
                      </a:r>
                      <a:endParaRPr sz="1300">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spcBef>
                          <a:spcPts val="0"/>
                        </a:spcBef>
                        <a:spcAft>
                          <a:spcPts val="0"/>
                        </a:spcAft>
                        <a:buNone/>
                      </a:pPr>
                      <a:r>
                        <a:rPr lang="en" sz="1300">
                          <a:latin typeface="Arial"/>
                          <a:ea typeface="Arial"/>
                          <a:cs typeface="Arial"/>
                          <a:sym typeface="Arial"/>
                        </a:rPr>
                        <a:t>To remove</a:t>
                      </a:r>
                      <a:endParaRPr sz="1300">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spcBef>
                          <a:spcPts val="0"/>
                        </a:spcBef>
                        <a:spcAft>
                          <a:spcPts val="0"/>
                        </a:spcAft>
                        <a:buNone/>
                      </a:pPr>
                      <a:r>
                        <a:rPr lang="en" sz="1300">
                          <a:latin typeface="Arial"/>
                          <a:ea typeface="Arial"/>
                          <a:cs typeface="Arial"/>
                          <a:sym typeface="Arial"/>
                        </a:rPr>
                        <a:t>SPRI</a:t>
                      </a:r>
                      <a:endParaRPr sz="1300">
                        <a:latin typeface="Arial"/>
                        <a:ea typeface="Arial"/>
                        <a:cs typeface="Arial"/>
                        <a:sym typeface="Arial"/>
                      </a:endParaRPr>
                    </a:p>
                    <a:p>
                      <a:pPr marL="0" marR="0" lvl="0" indent="0" algn="ctr" rtl="0">
                        <a:spcBef>
                          <a:spcPts val="0"/>
                        </a:spcBef>
                        <a:spcAft>
                          <a:spcPts val="0"/>
                        </a:spcAft>
                        <a:buNone/>
                      </a:pPr>
                      <a:r>
                        <a:rPr lang="en" sz="1300">
                          <a:latin typeface="Arial"/>
                          <a:ea typeface="Arial"/>
                          <a:cs typeface="Arial"/>
                          <a:sym typeface="Arial"/>
                        </a:rPr>
                        <a:t>ratio</a:t>
                      </a:r>
                      <a:endParaRPr sz="1300">
                        <a:latin typeface="Arial"/>
                        <a:ea typeface="Arial"/>
                        <a:cs typeface="Arial"/>
                        <a:sym typeface="Arial"/>
                      </a:endParaRPr>
                    </a:p>
                  </a:txBody>
                  <a:tcPr marL="68600" marR="68600" marT="34300" marB="34300" anchor="ctr">
                    <a:solidFill>
                      <a:srgbClr val="4A86E8"/>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adapter ligation</a:t>
                      </a:r>
                      <a:endParaRPr sz="1300">
                        <a:latin typeface="Arial"/>
                        <a:ea typeface="Arial"/>
                        <a:cs typeface="Arial"/>
                        <a:sym typeface="Arial"/>
                      </a:endParaRPr>
                    </a:p>
                  </a:txBody>
                  <a:tcPr marL="68600" marR="68600" marT="34300" marB="34300"/>
                </a:tc>
                <a:tc>
                  <a:txBody>
                    <a:bodyPr/>
                    <a:lstStyle/>
                    <a:p>
                      <a:pPr marL="0" marR="0" lvl="0" indent="0" algn="l" rtl="0">
                        <a:spcBef>
                          <a:spcPts val="0"/>
                        </a:spcBef>
                        <a:spcAft>
                          <a:spcPts val="0"/>
                        </a:spcAft>
                        <a:buNone/>
                      </a:pPr>
                      <a:r>
                        <a:rPr lang="en" sz="1300">
                          <a:latin typeface="Arial"/>
                          <a:ea typeface="Arial"/>
                          <a:cs typeface="Arial"/>
                          <a:sym typeface="Arial"/>
                        </a:rPr>
                        <a:t>Adapter dimers (64 bp) &amp; reagents</a:t>
                      </a:r>
                      <a:endParaRPr sz="1300">
                        <a:latin typeface="Arial"/>
                        <a:ea typeface="Arial"/>
                        <a:cs typeface="Arial"/>
                        <a:sym typeface="Arial"/>
                      </a:endParaRPr>
                    </a:p>
                  </a:txBody>
                  <a:tcPr marL="68600" marR="68600" marT="34300" marB="34300"/>
                </a:tc>
                <a:tc>
                  <a:txBody>
                    <a:bodyPr/>
                    <a:lstStyle/>
                    <a:p>
                      <a:pPr marL="0" marR="0" lvl="0" indent="0" algn="ctr" rtl="0">
                        <a:spcBef>
                          <a:spcPts val="0"/>
                        </a:spcBef>
                        <a:spcAft>
                          <a:spcPts val="0"/>
                        </a:spcAft>
                        <a:buNone/>
                      </a:pPr>
                      <a:r>
                        <a:rPr lang="en" sz="1300">
                          <a:latin typeface="Arial"/>
                          <a:ea typeface="Arial"/>
                          <a:cs typeface="Arial"/>
                          <a:sym typeface="Arial"/>
                        </a:rPr>
                        <a:t>0.9x</a:t>
                      </a:r>
                      <a:endParaRPr sz="1300">
                        <a:latin typeface="Arial"/>
                        <a:ea typeface="Arial"/>
                        <a:cs typeface="Arial"/>
                        <a:sym typeface="Arial"/>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P7/P5 PCR</a:t>
                      </a:r>
                      <a:endParaRPr sz="1300">
                        <a:latin typeface="Arial"/>
                        <a:ea typeface="Arial"/>
                        <a:cs typeface="Arial"/>
                        <a:sym typeface="Arial"/>
                      </a:endParaRPr>
                    </a:p>
                  </a:txBody>
                  <a:tcPr marL="68600" marR="68600" marT="34300" marB="34300"/>
                </a:tc>
                <a:tc>
                  <a:txBody>
                    <a:bodyPr/>
                    <a:lstStyle/>
                    <a:p>
                      <a:pPr marL="0" marR="0" lvl="0" indent="0" algn="l" rtl="0">
                        <a:spcBef>
                          <a:spcPts val="0"/>
                        </a:spcBef>
                        <a:spcAft>
                          <a:spcPts val="0"/>
                        </a:spcAft>
                        <a:buNone/>
                      </a:pPr>
                      <a:r>
                        <a:rPr lang="en" sz="1300">
                          <a:latin typeface="Arial"/>
                          <a:ea typeface="Arial"/>
                          <a:cs typeface="Arial"/>
                          <a:sym typeface="Arial"/>
                        </a:rPr>
                        <a:t>P5-adapter dimer-P7 (143 bp) &amp; reagents</a:t>
                      </a:r>
                      <a:endParaRPr sz="1300">
                        <a:latin typeface="Arial"/>
                        <a:ea typeface="Arial"/>
                        <a:cs typeface="Arial"/>
                        <a:sym typeface="Arial"/>
                      </a:endParaRPr>
                    </a:p>
                  </a:txBody>
                  <a:tcPr marL="68600" marR="68600" marT="34300" marB="34300"/>
                </a:tc>
                <a:tc>
                  <a:txBody>
                    <a:bodyPr/>
                    <a:lstStyle/>
                    <a:p>
                      <a:pPr marL="0" lvl="0" indent="0" algn="ctr" rtl="0">
                        <a:spcBef>
                          <a:spcPts val="0"/>
                        </a:spcBef>
                        <a:spcAft>
                          <a:spcPts val="0"/>
                        </a:spcAft>
                        <a:buClr>
                          <a:schemeClr val="dk1"/>
                        </a:buClr>
                        <a:buFont typeface="Arial"/>
                        <a:buNone/>
                      </a:pPr>
                      <a:r>
                        <a:rPr lang="en" sz="1300">
                          <a:latin typeface="Arial"/>
                          <a:ea typeface="Arial"/>
                          <a:cs typeface="Arial"/>
                          <a:sym typeface="Arial"/>
                        </a:rPr>
                        <a:t>0.8x</a:t>
                      </a:r>
                      <a:endParaRPr sz="1300">
                        <a:latin typeface="Arial"/>
                        <a:ea typeface="Arial"/>
                        <a:cs typeface="Arial"/>
                        <a:sym typeface="Arial"/>
                      </a:endParaRPr>
                    </a:p>
                  </a:txBody>
                  <a:tcPr marL="68600" marR="68600" marT="34300" marB="34300"/>
                </a:tc>
                <a:extLst>
                  <a:ext uri="{0D108BD9-81ED-4DB2-BD59-A6C34878D82A}">
                    <a16:rowId xmlns:a16="http://schemas.microsoft.com/office/drawing/2014/main" val="10002"/>
                  </a:ext>
                </a:extLst>
              </a:tr>
              <a:tr h="388625">
                <a:tc>
                  <a:txBody>
                    <a:bodyPr/>
                    <a:lstStyle/>
                    <a:p>
                      <a:pPr marL="0" marR="0" lvl="0" indent="0" algn="l" rtl="0">
                        <a:spcBef>
                          <a:spcPts val="0"/>
                        </a:spcBef>
                        <a:spcAft>
                          <a:spcPts val="0"/>
                        </a:spcAft>
                        <a:buNone/>
                      </a:pPr>
                      <a:r>
                        <a:rPr lang="en" sz="1300">
                          <a:latin typeface="Arial"/>
                          <a:ea typeface="Arial"/>
                          <a:cs typeface="Arial"/>
                          <a:sym typeface="Arial"/>
                        </a:rPr>
                        <a:t>QC of library</a:t>
                      </a:r>
                      <a:endParaRPr sz="1300">
                        <a:latin typeface="Arial"/>
                        <a:ea typeface="Arial"/>
                        <a:cs typeface="Arial"/>
                        <a:sym typeface="Arial"/>
                      </a:endParaRPr>
                    </a:p>
                  </a:txBody>
                  <a:tcPr marL="68600" marR="68600" marT="34300" marB="34300" anchor="ctr"/>
                </a:tc>
                <a:tc>
                  <a:txBody>
                    <a:bodyPr/>
                    <a:lstStyle/>
                    <a:p>
                      <a:pPr marL="0" marR="0" lvl="0" indent="0" algn="l" rtl="0">
                        <a:spcBef>
                          <a:spcPts val="0"/>
                        </a:spcBef>
                        <a:spcAft>
                          <a:spcPts val="0"/>
                        </a:spcAft>
                        <a:buNone/>
                      </a:pPr>
                      <a:r>
                        <a:rPr lang="en" sz="1300">
                          <a:latin typeface="Arial"/>
                          <a:ea typeface="Arial"/>
                          <a:cs typeface="Arial"/>
                          <a:sym typeface="Arial"/>
                        </a:rPr>
                        <a:t>P5-Adapter dimer-P7 (143 bp)</a:t>
                      </a:r>
                      <a:endParaRPr sz="1300">
                        <a:latin typeface="Arial"/>
                        <a:ea typeface="Arial"/>
                        <a:cs typeface="Arial"/>
                        <a:sym typeface="Arial"/>
                      </a:endParaRPr>
                    </a:p>
                  </a:txBody>
                  <a:tcPr marL="68600" marR="68600" marT="34300" marB="34300" anchor="ctr"/>
                </a:tc>
                <a:tc>
                  <a:txBody>
                    <a:bodyPr/>
                    <a:lstStyle/>
                    <a:p>
                      <a:pPr marL="0" marR="0" lvl="0" indent="0" algn="ctr" rtl="0">
                        <a:spcBef>
                          <a:spcPts val="0"/>
                        </a:spcBef>
                        <a:spcAft>
                          <a:spcPts val="0"/>
                        </a:spcAft>
                        <a:buNone/>
                      </a:pPr>
                      <a:r>
                        <a:rPr lang="en" sz="1300">
                          <a:latin typeface="Arial"/>
                          <a:ea typeface="Arial"/>
                          <a:cs typeface="Arial"/>
                          <a:sym typeface="Arial"/>
                        </a:rPr>
                        <a:t>0.8x</a:t>
                      </a:r>
                      <a:endParaRPr sz="1300">
                        <a:latin typeface="Arial"/>
                        <a:ea typeface="Arial"/>
                        <a:cs typeface="Arial"/>
                        <a:sym typeface="Arial"/>
                      </a:endParaRPr>
                    </a:p>
                  </a:txBody>
                  <a:tcPr marL="68600" marR="68600" marT="34300" marB="34300" anchor="ctr"/>
                </a:tc>
                <a:extLst>
                  <a:ext uri="{0D108BD9-81ED-4DB2-BD59-A6C34878D82A}">
                    <a16:rowId xmlns:a16="http://schemas.microsoft.com/office/drawing/2014/main" val="10003"/>
                  </a:ext>
                </a:extLst>
              </a:tr>
            </a:tbl>
          </a:graphicData>
        </a:graphic>
      </p:graphicFrame>
      <p:sp>
        <p:nvSpPr>
          <p:cNvPr id="633" name="Google Shape;633;p30"/>
          <p:cNvSpPr txBox="1"/>
          <p:nvPr/>
        </p:nvSpPr>
        <p:spPr>
          <a:xfrm>
            <a:off x="191725" y="906100"/>
            <a:ext cx="4745100" cy="5727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Font typeface="Arial"/>
              <a:buNone/>
            </a:pPr>
            <a:r>
              <a:rPr lang="en" b="1">
                <a:solidFill>
                  <a:schemeClr val="dk1"/>
                </a:solidFill>
              </a:rPr>
              <a:t>AMPure XP SPRI select beads (paramagnetic) </a:t>
            </a:r>
            <a:endParaRPr b="1">
              <a:solidFill>
                <a:schemeClr val="dk1"/>
              </a:solidFill>
            </a:endParaRPr>
          </a:p>
          <a:p>
            <a:pPr marL="0" marR="0" lvl="0" indent="0" algn="l" rtl="0">
              <a:lnSpc>
                <a:spcPct val="150000"/>
              </a:lnSpc>
              <a:spcBef>
                <a:spcPts val="0"/>
              </a:spcBef>
              <a:spcAft>
                <a:spcPts val="0"/>
              </a:spcAft>
              <a:buNone/>
            </a:pPr>
            <a:endParaRPr sz="1700" b="1"/>
          </a:p>
          <a:p>
            <a:pPr marL="457200" marR="0" lvl="0" indent="0" algn="l" rtl="0">
              <a:lnSpc>
                <a:spcPct val="200000"/>
              </a:lnSpc>
              <a:spcBef>
                <a:spcPts val="0"/>
              </a:spcBef>
              <a:spcAft>
                <a:spcPts val="0"/>
              </a:spcAft>
              <a:buNone/>
            </a:pPr>
            <a:endParaRPr sz="1500"/>
          </a:p>
        </p:txBody>
      </p:sp>
      <p:sp>
        <p:nvSpPr>
          <p:cNvPr id="634" name="Google Shape;634;p30"/>
          <p:cNvSpPr txBox="1"/>
          <p:nvPr/>
        </p:nvSpPr>
        <p:spPr>
          <a:xfrm>
            <a:off x="66075" y="1317175"/>
            <a:ext cx="6064200" cy="609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Size selection using beads to remove adapter dimers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Rule of thumb: if you see a clear trace of adapter dimers, performs another round of cleanup</a:t>
            </a:r>
            <a:endParaRPr/>
          </a:p>
        </p:txBody>
      </p:sp>
      <p:sp>
        <p:nvSpPr>
          <p:cNvPr id="635" name="Google Shape;635;p30"/>
          <p:cNvSpPr txBox="1">
            <a:spLocks noGrp="1"/>
          </p:cNvSpPr>
          <p:nvPr>
            <p:ph type="title" idx="4294967295"/>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32"/>
          <p:cNvPicPr preferRelativeResize="0"/>
          <p:nvPr/>
        </p:nvPicPr>
        <p:blipFill rotWithShape="1">
          <a:blip r:embed="rId3">
            <a:alphaModFix/>
          </a:blip>
          <a:srcRect/>
          <a:stretch/>
        </p:blipFill>
        <p:spPr>
          <a:xfrm>
            <a:off x="6130302" y="149825"/>
            <a:ext cx="2834174" cy="2421925"/>
          </a:xfrm>
          <a:prstGeom prst="rect">
            <a:avLst/>
          </a:prstGeom>
          <a:noFill/>
          <a:ln>
            <a:noFill/>
          </a:ln>
        </p:spPr>
      </p:pic>
      <p:sp>
        <p:nvSpPr>
          <p:cNvPr id="683" name="Google Shape;683;p32"/>
          <p:cNvSpPr txBox="1"/>
          <p:nvPr/>
        </p:nvSpPr>
        <p:spPr>
          <a:xfrm>
            <a:off x="158325" y="906100"/>
            <a:ext cx="4778400" cy="5727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n" b="1">
                <a:solidFill>
                  <a:schemeClr val="dk1"/>
                </a:solidFill>
              </a:rPr>
              <a:t>AMPure XP SPRI select beads (paramagnetic) </a:t>
            </a:r>
            <a:endParaRPr b="1">
              <a:solidFill>
                <a:schemeClr val="dk1"/>
              </a:solidFill>
            </a:endParaRPr>
          </a:p>
          <a:p>
            <a:pPr marL="0" lvl="0" indent="0" algn="l" rtl="0">
              <a:lnSpc>
                <a:spcPct val="150000"/>
              </a:lnSpc>
              <a:spcBef>
                <a:spcPts val="0"/>
              </a:spcBef>
              <a:spcAft>
                <a:spcPts val="0"/>
              </a:spcAft>
              <a:buNone/>
            </a:pPr>
            <a:endParaRPr sz="1700" b="1"/>
          </a:p>
          <a:p>
            <a:pPr marL="457200" lvl="0" indent="0" algn="l" rtl="0">
              <a:lnSpc>
                <a:spcPct val="200000"/>
              </a:lnSpc>
              <a:spcBef>
                <a:spcPts val="0"/>
              </a:spcBef>
              <a:spcAft>
                <a:spcPts val="0"/>
              </a:spcAft>
              <a:buNone/>
            </a:pPr>
            <a:endParaRPr sz="1500"/>
          </a:p>
          <a:p>
            <a:pPr marL="0" marR="0" lvl="0" indent="0" algn="l" rtl="0">
              <a:lnSpc>
                <a:spcPct val="150000"/>
              </a:lnSpc>
              <a:spcBef>
                <a:spcPts val="0"/>
              </a:spcBef>
              <a:spcAft>
                <a:spcPts val="0"/>
              </a:spcAft>
              <a:buNone/>
            </a:pPr>
            <a:endParaRPr sz="1700" b="1"/>
          </a:p>
          <a:p>
            <a:pPr marL="457200" marR="0" lvl="0" indent="0" algn="l" rtl="0">
              <a:lnSpc>
                <a:spcPct val="200000"/>
              </a:lnSpc>
              <a:spcBef>
                <a:spcPts val="0"/>
              </a:spcBef>
              <a:spcAft>
                <a:spcPts val="0"/>
              </a:spcAft>
              <a:buNone/>
            </a:pPr>
            <a:endParaRPr sz="1500"/>
          </a:p>
        </p:txBody>
      </p:sp>
      <p:sp>
        <p:nvSpPr>
          <p:cNvPr id="684" name="Google Shape;684;p32"/>
          <p:cNvSpPr txBox="1"/>
          <p:nvPr/>
        </p:nvSpPr>
        <p:spPr>
          <a:xfrm>
            <a:off x="66075" y="1317175"/>
            <a:ext cx="6064200" cy="609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Size selection using SPRI beads to remove adapter dimers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Rule of thumb: if you see a clear trace of adapter dimers, performs another round of cleanup</a:t>
            </a:r>
            <a:endParaRPr/>
          </a:p>
        </p:txBody>
      </p:sp>
      <p:sp>
        <p:nvSpPr>
          <p:cNvPr id="685" name="Google Shape;685;p32"/>
          <p:cNvSpPr txBox="1">
            <a:spLocks noGrp="1"/>
          </p:cNvSpPr>
          <p:nvPr>
            <p:ph type="title" idx="4294967295"/>
          </p:nvPr>
        </p:nvSpPr>
        <p:spPr>
          <a:xfrm>
            <a:off x="0" y="93663"/>
            <a:ext cx="7024688"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pic>
        <p:nvPicPr>
          <p:cNvPr id="686" name="Google Shape;686;p32"/>
          <p:cNvPicPr preferRelativeResize="0"/>
          <p:nvPr/>
        </p:nvPicPr>
        <p:blipFill rotWithShape="1">
          <a:blip r:embed="rId4">
            <a:alphaModFix/>
          </a:blip>
          <a:srcRect/>
          <a:stretch/>
        </p:blipFill>
        <p:spPr>
          <a:xfrm>
            <a:off x="5068320" y="3015237"/>
            <a:ext cx="3984172" cy="1723881"/>
          </a:xfrm>
          <a:prstGeom prst="rect">
            <a:avLst/>
          </a:prstGeom>
          <a:noFill/>
          <a:ln>
            <a:noFill/>
          </a:ln>
        </p:spPr>
      </p:pic>
      <p:pic>
        <p:nvPicPr>
          <p:cNvPr id="687" name="Google Shape;687;p32"/>
          <p:cNvPicPr preferRelativeResize="0"/>
          <p:nvPr/>
        </p:nvPicPr>
        <p:blipFill rotWithShape="1">
          <a:blip r:embed="rId5">
            <a:alphaModFix/>
          </a:blip>
          <a:srcRect/>
          <a:stretch/>
        </p:blipFill>
        <p:spPr>
          <a:xfrm>
            <a:off x="158332" y="2987240"/>
            <a:ext cx="4121921" cy="1776181"/>
          </a:xfrm>
          <a:prstGeom prst="rect">
            <a:avLst/>
          </a:prstGeom>
          <a:noFill/>
          <a:ln>
            <a:noFill/>
          </a:ln>
        </p:spPr>
      </p:pic>
      <p:cxnSp>
        <p:nvCxnSpPr>
          <p:cNvPr id="688" name="Google Shape;688;p32"/>
          <p:cNvCxnSpPr>
            <a:stCxn id="687" idx="3"/>
            <a:endCxn id="686" idx="1"/>
          </p:cNvCxnSpPr>
          <p:nvPr/>
        </p:nvCxnSpPr>
        <p:spPr>
          <a:xfrm>
            <a:off x="4280253" y="3875331"/>
            <a:ext cx="788100" cy="1800"/>
          </a:xfrm>
          <a:prstGeom prst="straightConnector1">
            <a:avLst/>
          </a:prstGeom>
          <a:noFill/>
          <a:ln w="41275" cap="flat" cmpd="sng">
            <a:solidFill>
              <a:schemeClr val="dk1"/>
            </a:solidFill>
            <a:prstDash val="solid"/>
            <a:miter lim="800000"/>
            <a:headEnd type="none" w="sm" len="sm"/>
            <a:tailEnd type="triangle" w="med" len="med"/>
          </a:ln>
        </p:spPr>
      </p:cxnSp>
      <p:sp>
        <p:nvSpPr>
          <p:cNvPr id="689" name="Google Shape;689;p32"/>
          <p:cNvSpPr txBox="1"/>
          <p:nvPr/>
        </p:nvSpPr>
        <p:spPr>
          <a:xfrm>
            <a:off x="4189057" y="3133838"/>
            <a:ext cx="970500" cy="4845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3 rounds </a:t>
            </a:r>
            <a:endParaRPr sz="1300"/>
          </a:p>
          <a:p>
            <a:pPr marL="0" marR="0" lvl="0" indent="0" algn="ctr" rtl="0">
              <a:spcBef>
                <a:spcPts val="0"/>
              </a:spcBef>
              <a:spcAft>
                <a:spcPts val="0"/>
              </a:spcAft>
              <a:buNone/>
            </a:pPr>
            <a:r>
              <a:rPr lang="en" sz="1300">
                <a:solidFill>
                  <a:schemeClr val="dk1"/>
                </a:solidFill>
              </a:rPr>
              <a:t>SPRI (0.85x)</a:t>
            </a:r>
            <a:endParaRPr sz="1300"/>
          </a:p>
        </p:txBody>
      </p:sp>
      <p:sp>
        <p:nvSpPr>
          <p:cNvPr id="690" name="Google Shape;690;p32"/>
          <p:cNvSpPr txBox="1"/>
          <p:nvPr/>
        </p:nvSpPr>
        <p:spPr>
          <a:xfrm>
            <a:off x="1244197" y="2677375"/>
            <a:ext cx="1926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After PCR amplification</a:t>
            </a:r>
            <a:endParaRPr sz="1300"/>
          </a:p>
        </p:txBody>
      </p:sp>
      <p:sp>
        <p:nvSpPr>
          <p:cNvPr id="691" name="Google Shape;691;p32"/>
          <p:cNvSpPr txBox="1"/>
          <p:nvPr/>
        </p:nvSpPr>
        <p:spPr>
          <a:xfrm>
            <a:off x="5880350" y="2677375"/>
            <a:ext cx="22974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After SPRI bead clean-up</a:t>
            </a:r>
            <a:endParaRPr sz="1300"/>
          </a:p>
        </p:txBody>
      </p:sp>
      <p:sp>
        <p:nvSpPr>
          <p:cNvPr id="692" name="Google Shape;692;p32"/>
          <p:cNvSpPr/>
          <p:nvPr/>
        </p:nvSpPr>
        <p:spPr>
          <a:xfrm>
            <a:off x="6326542" y="3015237"/>
            <a:ext cx="231900" cy="14943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93" name="Google Shape;693;p32"/>
          <p:cNvSpPr/>
          <p:nvPr/>
        </p:nvSpPr>
        <p:spPr>
          <a:xfrm>
            <a:off x="1468264" y="3015237"/>
            <a:ext cx="231900" cy="14943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94" name="Google Shape;694;p32"/>
          <p:cNvSpPr txBox="1"/>
          <p:nvPr/>
        </p:nvSpPr>
        <p:spPr>
          <a:xfrm>
            <a:off x="4832721" y="4660919"/>
            <a:ext cx="39303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C00000"/>
                </a:solidFill>
              </a:rPr>
              <a:t>ALL DIMERS SHOULD BE REMOVED!</a:t>
            </a:r>
            <a:endParaRPr sz="1300" b="1" dirty="0">
              <a:solidFill>
                <a:srgbClr val="C00000"/>
              </a:solidFill>
            </a:endParaRPr>
          </a:p>
        </p:txBody>
      </p:sp>
      <p:sp>
        <p:nvSpPr>
          <p:cNvPr id="695" name="Google Shape;695;p32"/>
          <p:cNvSpPr txBox="1"/>
          <p:nvPr/>
        </p:nvSpPr>
        <p:spPr>
          <a:xfrm>
            <a:off x="710800" y="4739125"/>
            <a:ext cx="17676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00000"/>
                </a:solidFill>
              </a:rPr>
              <a:t>Adapter dimers</a:t>
            </a:r>
            <a:endParaRPr sz="1300" b="1">
              <a:solidFill>
                <a:srgbClr val="C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33"/>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701" name="Google Shape;701;p33"/>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702" name="Google Shape;702;p33"/>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703" name="Google Shape;703;p33"/>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704" name="Google Shape;704;p33"/>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705" name="Google Shape;705;p33"/>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706" name="Google Shape;706;p33"/>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707" name="Google Shape;707;p33"/>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708" name="Google Shape;708;p33"/>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709" name="Google Shape;709;p33"/>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710" name="Google Shape;710;p33"/>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711" name="Google Shape;711;p33"/>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pic>
        <p:nvPicPr>
          <p:cNvPr id="712" name="Google Shape;712;p33"/>
          <p:cNvPicPr preferRelativeResize="0"/>
          <p:nvPr/>
        </p:nvPicPr>
        <p:blipFill rotWithShape="1">
          <a:blip r:embed="rId4">
            <a:alphaModFix/>
          </a:blip>
          <a:srcRect l="14551" r="17610" b="13941"/>
          <a:stretch/>
        </p:blipFill>
        <p:spPr>
          <a:xfrm>
            <a:off x="7930625" y="2813850"/>
            <a:ext cx="1126125" cy="959049"/>
          </a:xfrm>
          <a:prstGeom prst="rect">
            <a:avLst/>
          </a:prstGeom>
          <a:noFill/>
          <a:ln>
            <a:noFill/>
          </a:ln>
        </p:spPr>
      </p:pic>
      <p:cxnSp>
        <p:nvCxnSpPr>
          <p:cNvPr id="713" name="Google Shape;713;p33"/>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714" name="Google Shape;714;p33"/>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715" name="Google Shape;715;p33"/>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16" name="Google Shape;716;p33"/>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17" name="Google Shape;717;p33"/>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18" name="Google Shape;718;p33"/>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19" name="Google Shape;719;p33"/>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20" name="Google Shape;720;p33"/>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21" name="Google Shape;721;p33"/>
          <p:cNvSpPr txBox="1"/>
          <p:nvPr/>
        </p:nvSpPr>
        <p:spPr>
          <a:xfrm>
            <a:off x="4767575" y="252150"/>
            <a:ext cx="4661700" cy="1046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solidFill>
                  <a:schemeClr val="dk2"/>
                </a:solidFill>
              </a:rPr>
              <a:t>How to fix samples with QC issues? </a:t>
            </a:r>
            <a:endParaRPr b="1">
              <a:solidFill>
                <a:schemeClr val="dk2"/>
              </a:solidFill>
            </a:endParaRPr>
          </a:p>
          <a:p>
            <a:pPr marL="457200" lvl="0" indent="-317500" algn="l" rtl="0">
              <a:lnSpc>
                <a:spcPct val="150000"/>
              </a:lnSpc>
              <a:spcBef>
                <a:spcPts val="0"/>
              </a:spcBef>
              <a:spcAft>
                <a:spcPts val="0"/>
              </a:spcAft>
              <a:buSzPts val="1400"/>
              <a:buChar char="●"/>
            </a:pPr>
            <a:r>
              <a:rPr lang="en"/>
              <a:t>Concentration too low -&gt; amplify or restart</a:t>
            </a:r>
            <a:endParaRPr/>
          </a:p>
          <a:p>
            <a:pPr marL="457200" lvl="0" indent="-317500" algn="l" rtl="0">
              <a:lnSpc>
                <a:spcPct val="150000"/>
              </a:lnSpc>
              <a:spcBef>
                <a:spcPts val="0"/>
              </a:spcBef>
              <a:spcAft>
                <a:spcPts val="0"/>
              </a:spcAft>
              <a:buSzPts val="1400"/>
              <a:buChar char="●"/>
            </a:pPr>
            <a:r>
              <a:rPr lang="en"/>
              <a:t>Adapter dimers -&gt; perform additional cleanups</a:t>
            </a:r>
            <a:endParaRPr/>
          </a:p>
        </p:txBody>
      </p:sp>
      <p:sp>
        <p:nvSpPr>
          <p:cNvPr id="722" name="Google Shape;722;p33"/>
          <p:cNvSpPr/>
          <p:nvPr/>
        </p:nvSpPr>
        <p:spPr>
          <a:xfrm flipH="1">
            <a:off x="2562875" y="833288"/>
            <a:ext cx="1236000" cy="9591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txBox="1"/>
          <p:nvPr/>
        </p:nvSpPr>
        <p:spPr>
          <a:xfrm>
            <a:off x="3867925" y="13921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24" name="Google Shape;724;p33"/>
          <p:cNvSpPr/>
          <p:nvPr/>
        </p:nvSpPr>
        <p:spPr>
          <a:xfrm flipH="1">
            <a:off x="6083775" y="2241400"/>
            <a:ext cx="661200" cy="6156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3"/>
          <p:cNvSpPr txBox="1"/>
          <p:nvPr/>
        </p:nvSpPr>
        <p:spPr>
          <a:xfrm>
            <a:off x="6814025" y="24567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26" name="Google Shape;726;p33"/>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27" name="Google Shape;727;p33"/>
          <p:cNvSpPr txBox="1"/>
          <p:nvPr/>
        </p:nvSpPr>
        <p:spPr>
          <a:xfrm>
            <a:off x="2939400" y="474225"/>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sp>
        <p:nvSpPr>
          <p:cNvPr id="728" name="Google Shape;728;p33"/>
          <p:cNvSpPr txBox="1"/>
          <p:nvPr/>
        </p:nvSpPr>
        <p:spPr>
          <a:xfrm>
            <a:off x="6159975" y="1920338"/>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34"/>
          <p:cNvSpPr txBox="1"/>
          <p:nvPr/>
        </p:nvSpPr>
        <p:spPr>
          <a:xfrm>
            <a:off x="6529125" y="3085475"/>
            <a:ext cx="13836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Final QC &amp; seq prep</a:t>
            </a:r>
            <a:endParaRPr sz="1600"/>
          </a:p>
        </p:txBody>
      </p:sp>
      <p:pic>
        <p:nvPicPr>
          <p:cNvPr id="734" name="Google Shape;734;p34"/>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735" name="Google Shape;735;p34"/>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Library prep QC</a:t>
            </a:r>
            <a:endParaRPr/>
          </a:p>
        </p:txBody>
      </p:sp>
      <p:sp>
        <p:nvSpPr>
          <p:cNvPr id="736" name="Google Shape;736;p34"/>
          <p:cNvSpPr txBox="1"/>
          <p:nvPr/>
        </p:nvSpPr>
        <p:spPr>
          <a:xfrm>
            <a:off x="113075" y="891900"/>
            <a:ext cx="8568000" cy="4050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for sequencing</a:t>
            </a:r>
            <a:endParaRPr sz="1700" b="1">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 sz="1300">
                <a:solidFill>
                  <a:schemeClr val="dk1"/>
                </a:solidFill>
              </a:rPr>
              <a:t>Each sample has a unique set of barcodes -&gt; multiple samples can be pooled in one sequencing reaction</a:t>
            </a:r>
            <a:endParaRPr sz="1300">
              <a:solidFill>
                <a:schemeClr val="dk1"/>
              </a:solidFill>
            </a:endParaRPr>
          </a:p>
        </p:txBody>
      </p:sp>
      <p:pic>
        <p:nvPicPr>
          <p:cNvPr id="737" name="Google Shape;737;p34"/>
          <p:cNvPicPr preferRelativeResize="0"/>
          <p:nvPr/>
        </p:nvPicPr>
        <p:blipFill>
          <a:blip r:embed="rId4">
            <a:alphaModFix/>
          </a:blip>
          <a:stretch>
            <a:fillRect/>
          </a:stretch>
        </p:blipFill>
        <p:spPr>
          <a:xfrm>
            <a:off x="1527120" y="1577300"/>
            <a:ext cx="661200" cy="1107599"/>
          </a:xfrm>
          <a:prstGeom prst="rect">
            <a:avLst/>
          </a:prstGeom>
          <a:noFill/>
          <a:ln>
            <a:noFill/>
          </a:ln>
        </p:spPr>
      </p:pic>
      <p:sp>
        <p:nvSpPr>
          <p:cNvPr id="738" name="Google Shape;738;p34"/>
          <p:cNvSpPr txBox="1"/>
          <p:nvPr/>
        </p:nvSpPr>
        <p:spPr>
          <a:xfrm>
            <a:off x="577625" y="18189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 Sample A</a:t>
            </a:r>
            <a:endParaRPr sz="1600"/>
          </a:p>
        </p:txBody>
      </p:sp>
      <p:sp>
        <p:nvSpPr>
          <p:cNvPr id="739" name="Google Shape;739;p34"/>
          <p:cNvSpPr txBox="1"/>
          <p:nvPr/>
        </p:nvSpPr>
        <p:spPr>
          <a:xfrm>
            <a:off x="577625" y="30092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a:t>
            </a:r>
            <a:endParaRPr sz="1500"/>
          </a:p>
          <a:p>
            <a:pPr marL="0" lvl="0" indent="0" algn="ctr" rtl="0">
              <a:spcBef>
                <a:spcPts val="0"/>
              </a:spcBef>
              <a:spcAft>
                <a:spcPts val="0"/>
              </a:spcAft>
              <a:buNone/>
            </a:pPr>
            <a:r>
              <a:rPr lang="en" sz="1500"/>
              <a:t>Sample B</a:t>
            </a:r>
            <a:endParaRPr sz="1600"/>
          </a:p>
        </p:txBody>
      </p:sp>
      <p:sp>
        <p:nvSpPr>
          <p:cNvPr id="740" name="Google Shape;740;p34"/>
          <p:cNvSpPr txBox="1"/>
          <p:nvPr/>
        </p:nvSpPr>
        <p:spPr>
          <a:xfrm>
            <a:off x="341675" y="41870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a:t>
            </a:r>
            <a:endParaRPr sz="1500"/>
          </a:p>
          <a:p>
            <a:pPr marL="0" lvl="0" indent="0" algn="ctr" rtl="0">
              <a:spcBef>
                <a:spcPts val="0"/>
              </a:spcBef>
              <a:spcAft>
                <a:spcPts val="0"/>
              </a:spcAft>
              <a:buNone/>
            </a:pPr>
            <a:r>
              <a:rPr lang="en" sz="1500"/>
              <a:t>Water control A </a:t>
            </a:r>
            <a:endParaRPr sz="1600"/>
          </a:p>
        </p:txBody>
      </p:sp>
      <p:pic>
        <p:nvPicPr>
          <p:cNvPr id="741" name="Google Shape;741;p34"/>
          <p:cNvPicPr preferRelativeResize="0"/>
          <p:nvPr/>
        </p:nvPicPr>
        <p:blipFill>
          <a:blip r:embed="rId4">
            <a:alphaModFix/>
          </a:blip>
          <a:stretch>
            <a:fillRect/>
          </a:stretch>
        </p:blipFill>
        <p:spPr>
          <a:xfrm>
            <a:off x="1527120" y="2767625"/>
            <a:ext cx="661200" cy="1107599"/>
          </a:xfrm>
          <a:prstGeom prst="rect">
            <a:avLst/>
          </a:prstGeom>
          <a:noFill/>
          <a:ln>
            <a:noFill/>
          </a:ln>
        </p:spPr>
      </p:pic>
      <p:pic>
        <p:nvPicPr>
          <p:cNvPr id="742" name="Google Shape;742;p34"/>
          <p:cNvPicPr preferRelativeResize="0"/>
          <p:nvPr/>
        </p:nvPicPr>
        <p:blipFill>
          <a:blip r:embed="rId4">
            <a:alphaModFix/>
          </a:blip>
          <a:stretch>
            <a:fillRect/>
          </a:stretch>
        </p:blipFill>
        <p:spPr>
          <a:xfrm>
            <a:off x="1527120" y="3957950"/>
            <a:ext cx="661200" cy="1107599"/>
          </a:xfrm>
          <a:prstGeom prst="rect">
            <a:avLst/>
          </a:prstGeom>
          <a:noFill/>
          <a:ln>
            <a:noFill/>
          </a:ln>
        </p:spPr>
      </p:pic>
      <p:pic>
        <p:nvPicPr>
          <p:cNvPr id="743" name="Google Shape;743;p34"/>
          <p:cNvPicPr preferRelativeResize="0"/>
          <p:nvPr/>
        </p:nvPicPr>
        <p:blipFill>
          <a:blip r:embed="rId4">
            <a:alphaModFix/>
          </a:blip>
          <a:stretch>
            <a:fillRect/>
          </a:stretch>
        </p:blipFill>
        <p:spPr>
          <a:xfrm>
            <a:off x="5885245" y="2815762"/>
            <a:ext cx="661200" cy="1107599"/>
          </a:xfrm>
          <a:prstGeom prst="rect">
            <a:avLst/>
          </a:prstGeom>
          <a:noFill/>
          <a:ln>
            <a:noFill/>
          </a:ln>
        </p:spPr>
      </p:pic>
      <p:sp>
        <p:nvSpPr>
          <p:cNvPr id="744" name="Google Shape;744;p34"/>
          <p:cNvSpPr txBox="1"/>
          <p:nvPr/>
        </p:nvSpPr>
        <p:spPr>
          <a:xfrm>
            <a:off x="5695675" y="32098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sp>
        <p:nvSpPr>
          <p:cNvPr id="745" name="Google Shape;745;p34"/>
          <p:cNvSpPr txBox="1"/>
          <p:nvPr/>
        </p:nvSpPr>
        <p:spPr>
          <a:xfrm>
            <a:off x="2577975" y="1744375"/>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BC2</a:t>
            </a:r>
            <a:endParaRPr sz="1300" b="1">
              <a:solidFill>
                <a:srgbClr val="C1E0AF"/>
              </a:solidFill>
            </a:endParaRPr>
          </a:p>
        </p:txBody>
      </p:sp>
      <p:sp>
        <p:nvSpPr>
          <p:cNvPr id="746" name="Google Shape;746;p34"/>
          <p:cNvSpPr txBox="1"/>
          <p:nvPr/>
        </p:nvSpPr>
        <p:spPr>
          <a:xfrm>
            <a:off x="4438250" y="1744375"/>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BC1</a:t>
            </a:r>
            <a:endParaRPr sz="1300" b="1">
              <a:solidFill>
                <a:srgbClr val="A3D28D"/>
              </a:solidFill>
            </a:endParaRPr>
          </a:p>
        </p:txBody>
      </p:sp>
      <p:sp>
        <p:nvSpPr>
          <p:cNvPr id="747" name="Google Shape;747;p34"/>
          <p:cNvSpPr txBox="1"/>
          <p:nvPr/>
        </p:nvSpPr>
        <p:spPr>
          <a:xfrm>
            <a:off x="4438250" y="2995644"/>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BC3</a:t>
            </a:r>
            <a:endParaRPr sz="1300" b="1">
              <a:solidFill>
                <a:srgbClr val="A3D28D"/>
              </a:solidFill>
            </a:endParaRPr>
          </a:p>
        </p:txBody>
      </p:sp>
      <p:sp>
        <p:nvSpPr>
          <p:cNvPr id="748" name="Google Shape;748;p34"/>
          <p:cNvSpPr txBox="1"/>
          <p:nvPr/>
        </p:nvSpPr>
        <p:spPr>
          <a:xfrm>
            <a:off x="2577975" y="2995644"/>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BC4</a:t>
            </a:r>
            <a:endParaRPr sz="1300" b="1">
              <a:solidFill>
                <a:srgbClr val="C1E0AF"/>
              </a:solidFill>
            </a:endParaRPr>
          </a:p>
        </p:txBody>
      </p:sp>
      <p:sp>
        <p:nvSpPr>
          <p:cNvPr id="749" name="Google Shape;749;p34"/>
          <p:cNvSpPr txBox="1"/>
          <p:nvPr/>
        </p:nvSpPr>
        <p:spPr>
          <a:xfrm>
            <a:off x="4438250" y="4151638"/>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BC5</a:t>
            </a:r>
            <a:endParaRPr sz="1300" b="1">
              <a:solidFill>
                <a:srgbClr val="A3D28D"/>
              </a:solidFill>
            </a:endParaRPr>
          </a:p>
        </p:txBody>
      </p:sp>
      <p:sp>
        <p:nvSpPr>
          <p:cNvPr id="750" name="Google Shape;750;p34"/>
          <p:cNvSpPr txBox="1"/>
          <p:nvPr/>
        </p:nvSpPr>
        <p:spPr>
          <a:xfrm>
            <a:off x="2577975" y="4151638"/>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BC6</a:t>
            </a:r>
            <a:endParaRPr sz="1300" b="1">
              <a:solidFill>
                <a:srgbClr val="C1E0AF"/>
              </a:solidFill>
            </a:endParaRPr>
          </a:p>
        </p:txBody>
      </p:sp>
      <p:pic>
        <p:nvPicPr>
          <p:cNvPr id="751" name="Google Shape;751;p34"/>
          <p:cNvPicPr preferRelativeResize="0"/>
          <p:nvPr/>
        </p:nvPicPr>
        <p:blipFill rotWithShape="1">
          <a:blip r:embed="rId5">
            <a:alphaModFix/>
          </a:blip>
          <a:srcRect t="25700" b="62539"/>
          <a:stretch/>
        </p:blipFill>
        <p:spPr>
          <a:xfrm>
            <a:off x="2087219" y="2101463"/>
            <a:ext cx="3192750" cy="210250"/>
          </a:xfrm>
          <a:prstGeom prst="rect">
            <a:avLst/>
          </a:prstGeom>
          <a:noFill/>
          <a:ln>
            <a:noFill/>
          </a:ln>
        </p:spPr>
      </p:pic>
      <p:pic>
        <p:nvPicPr>
          <p:cNvPr id="752" name="Google Shape;752;p34"/>
          <p:cNvPicPr preferRelativeResize="0"/>
          <p:nvPr/>
        </p:nvPicPr>
        <p:blipFill rotWithShape="1">
          <a:blip r:embed="rId5">
            <a:alphaModFix/>
          </a:blip>
          <a:srcRect t="25700" b="62539"/>
          <a:stretch/>
        </p:blipFill>
        <p:spPr>
          <a:xfrm>
            <a:off x="2087219" y="3289000"/>
            <a:ext cx="3192750" cy="210250"/>
          </a:xfrm>
          <a:prstGeom prst="rect">
            <a:avLst/>
          </a:prstGeom>
          <a:noFill/>
          <a:ln>
            <a:noFill/>
          </a:ln>
        </p:spPr>
      </p:pic>
      <p:pic>
        <p:nvPicPr>
          <p:cNvPr id="753" name="Google Shape;753;p34"/>
          <p:cNvPicPr preferRelativeResize="0"/>
          <p:nvPr/>
        </p:nvPicPr>
        <p:blipFill rotWithShape="1">
          <a:blip r:embed="rId5">
            <a:alphaModFix/>
          </a:blip>
          <a:srcRect t="25700" b="62539"/>
          <a:stretch/>
        </p:blipFill>
        <p:spPr>
          <a:xfrm>
            <a:off x="2087219" y="4448700"/>
            <a:ext cx="3192750" cy="210250"/>
          </a:xfrm>
          <a:prstGeom prst="rect">
            <a:avLst/>
          </a:prstGeom>
          <a:noFill/>
          <a:ln>
            <a:noFill/>
          </a:ln>
        </p:spPr>
      </p:pic>
      <p:cxnSp>
        <p:nvCxnSpPr>
          <p:cNvPr id="754" name="Google Shape;754;p34"/>
          <p:cNvCxnSpPr/>
          <p:nvPr/>
        </p:nvCxnSpPr>
        <p:spPr>
          <a:xfrm>
            <a:off x="5124638" y="3413175"/>
            <a:ext cx="516600" cy="0"/>
          </a:xfrm>
          <a:prstGeom prst="straightConnector1">
            <a:avLst/>
          </a:prstGeom>
          <a:noFill/>
          <a:ln w="9525" cap="flat" cmpd="sng">
            <a:solidFill>
              <a:schemeClr val="dk2"/>
            </a:solidFill>
            <a:prstDash val="solid"/>
            <a:round/>
            <a:headEnd type="none" w="med" len="med"/>
            <a:tailEnd type="triangle" w="med" len="med"/>
          </a:ln>
        </p:spPr>
      </p:cxnSp>
      <p:cxnSp>
        <p:nvCxnSpPr>
          <p:cNvPr id="755" name="Google Shape;755;p34"/>
          <p:cNvCxnSpPr/>
          <p:nvPr/>
        </p:nvCxnSpPr>
        <p:spPr>
          <a:xfrm rot="10800000" flipH="1">
            <a:off x="5124638" y="3920825"/>
            <a:ext cx="507000" cy="633000"/>
          </a:xfrm>
          <a:prstGeom prst="straightConnector1">
            <a:avLst/>
          </a:prstGeom>
          <a:noFill/>
          <a:ln w="9525" cap="flat" cmpd="sng">
            <a:solidFill>
              <a:schemeClr val="dk2"/>
            </a:solidFill>
            <a:prstDash val="solid"/>
            <a:round/>
            <a:headEnd type="none" w="med" len="med"/>
            <a:tailEnd type="triangle" w="med" len="med"/>
          </a:ln>
        </p:spPr>
      </p:cxnSp>
      <p:cxnSp>
        <p:nvCxnSpPr>
          <p:cNvPr id="756" name="Google Shape;756;p34"/>
          <p:cNvCxnSpPr/>
          <p:nvPr/>
        </p:nvCxnSpPr>
        <p:spPr>
          <a:xfrm>
            <a:off x="5124638" y="2206588"/>
            <a:ext cx="536100" cy="646500"/>
          </a:xfrm>
          <a:prstGeom prst="straightConnector1">
            <a:avLst/>
          </a:prstGeom>
          <a:noFill/>
          <a:ln w="9525" cap="flat" cmpd="sng">
            <a:solidFill>
              <a:schemeClr val="dk2"/>
            </a:solidFill>
            <a:prstDash val="solid"/>
            <a:round/>
            <a:headEnd type="none" w="med" len="med"/>
            <a:tailEnd type="triangle" w="med" len="med"/>
          </a:ln>
        </p:spPr>
      </p:cxnSp>
      <p:pic>
        <p:nvPicPr>
          <p:cNvPr id="757" name="Google Shape;757;p34"/>
          <p:cNvPicPr preferRelativeResize="0"/>
          <p:nvPr/>
        </p:nvPicPr>
        <p:blipFill rotWithShape="1">
          <a:blip r:embed="rId6">
            <a:alphaModFix/>
          </a:blip>
          <a:srcRect l="14551" r="17610" b="13941"/>
          <a:stretch/>
        </p:blipFill>
        <p:spPr>
          <a:xfrm>
            <a:off x="7930625" y="2966250"/>
            <a:ext cx="1126125" cy="959049"/>
          </a:xfrm>
          <a:prstGeom prst="rect">
            <a:avLst/>
          </a:prstGeom>
          <a:noFill/>
          <a:ln>
            <a:noFill/>
          </a:ln>
        </p:spPr>
      </p:pic>
      <p:cxnSp>
        <p:nvCxnSpPr>
          <p:cNvPr id="758" name="Google Shape;758;p34"/>
          <p:cNvCxnSpPr/>
          <p:nvPr/>
        </p:nvCxnSpPr>
        <p:spPr>
          <a:xfrm>
            <a:off x="6618425" y="3445774"/>
            <a:ext cx="12360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35"/>
          <p:cNvSpPr txBox="1"/>
          <p:nvPr/>
        </p:nvSpPr>
        <p:spPr>
          <a:xfrm>
            <a:off x="113075" y="968100"/>
            <a:ext cx="8568000" cy="1182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together for sequencing</a:t>
            </a:r>
            <a:endParaRPr sz="1700"/>
          </a:p>
          <a:p>
            <a:pPr marL="266700" marR="0" lvl="1" indent="-260350" algn="l" rtl="0">
              <a:lnSpc>
                <a:spcPct val="150000"/>
              </a:lnSpc>
              <a:spcBef>
                <a:spcPts val="0"/>
              </a:spcBef>
              <a:spcAft>
                <a:spcPts val="0"/>
              </a:spcAft>
              <a:buClr>
                <a:schemeClr val="dk1"/>
              </a:buClr>
              <a:buSzPts val="1500"/>
              <a:buAutoNum type="arabicPeriod"/>
            </a:pPr>
            <a:r>
              <a:rPr lang="en" sz="1500" i="0" u="none" strike="noStrike" cap="none">
                <a:solidFill>
                  <a:schemeClr val="dk1"/>
                </a:solidFill>
              </a:rPr>
              <a:t>Qubit to determine concentration of individual libraries (expect library to be 0.5 to 10 ng/ul)</a:t>
            </a:r>
            <a:endParaRPr sz="1500"/>
          </a:p>
          <a:p>
            <a:pPr marL="266700" marR="0" lvl="1" indent="-260350" algn="l" rtl="0">
              <a:lnSpc>
                <a:spcPct val="125000"/>
              </a:lnSpc>
              <a:spcBef>
                <a:spcPts val="0"/>
              </a:spcBef>
              <a:spcAft>
                <a:spcPts val="0"/>
              </a:spcAft>
              <a:buClr>
                <a:schemeClr val="dk1"/>
              </a:buClr>
              <a:buSzPts val="1500"/>
              <a:buAutoNum type="arabicPeriod"/>
            </a:pPr>
            <a:r>
              <a:rPr lang="en" sz="1500" i="0" u="none" strike="noStrike" cap="none">
                <a:solidFill>
                  <a:schemeClr val="dk1"/>
                </a:solidFill>
              </a:rPr>
              <a:t>Pool barcoded libraries so that all are equally represented (except H</a:t>
            </a:r>
            <a:r>
              <a:rPr lang="en" sz="1500" i="0" u="none" strike="noStrike" cap="none" baseline="-25000">
                <a:solidFill>
                  <a:schemeClr val="dk1"/>
                </a:solidFill>
              </a:rPr>
              <a:t>2</a:t>
            </a:r>
            <a:r>
              <a:rPr lang="en" sz="1500" i="0" u="none" strike="noStrike" cap="none">
                <a:solidFill>
                  <a:schemeClr val="dk1"/>
                </a:solidFill>
              </a:rPr>
              <a:t>O controls, only 1:5)</a:t>
            </a:r>
            <a:endParaRPr sz="1500">
              <a:solidFill>
                <a:schemeClr val="dk1"/>
              </a:solidFill>
            </a:endParaRPr>
          </a:p>
        </p:txBody>
      </p:sp>
      <p:pic>
        <p:nvPicPr>
          <p:cNvPr id="765" name="Google Shape;765;p35"/>
          <p:cNvPicPr preferRelativeResize="0"/>
          <p:nvPr/>
        </p:nvPicPr>
        <p:blipFill rotWithShape="1">
          <a:blip r:embed="rId3">
            <a:alphaModFix/>
          </a:blip>
          <a:srcRect/>
          <a:stretch/>
        </p:blipFill>
        <p:spPr>
          <a:xfrm>
            <a:off x="438534" y="2142547"/>
            <a:ext cx="1860947" cy="1717797"/>
          </a:xfrm>
          <a:prstGeom prst="rect">
            <a:avLst/>
          </a:prstGeom>
          <a:noFill/>
          <a:ln>
            <a:noFill/>
          </a:ln>
        </p:spPr>
      </p:pic>
      <p:sp>
        <p:nvSpPr>
          <p:cNvPr id="767" name="Google Shape;767;p35"/>
          <p:cNvSpPr txBox="1"/>
          <p:nvPr/>
        </p:nvSpPr>
        <p:spPr>
          <a:xfrm>
            <a:off x="1296150" y="3860344"/>
            <a:ext cx="6551700" cy="12696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b="1" dirty="0">
                <a:solidFill>
                  <a:srgbClr val="C00000"/>
                </a:solidFill>
              </a:rPr>
              <a:t>End goal is &gt;10 </a:t>
            </a:r>
            <a:r>
              <a:rPr lang="en" sz="1300" b="1" dirty="0" err="1">
                <a:solidFill>
                  <a:srgbClr val="C00000"/>
                </a:solidFill>
              </a:rPr>
              <a:t>μl</a:t>
            </a:r>
            <a:r>
              <a:rPr lang="en" sz="1300" b="1" dirty="0">
                <a:solidFill>
                  <a:srgbClr val="C00000"/>
                </a:solidFill>
              </a:rPr>
              <a:t> of 2 </a:t>
            </a:r>
            <a:r>
              <a:rPr lang="en" sz="1300" b="1" dirty="0" err="1">
                <a:solidFill>
                  <a:srgbClr val="C00000"/>
                </a:solidFill>
              </a:rPr>
              <a:t>nM</a:t>
            </a:r>
            <a:r>
              <a:rPr lang="en" sz="1300" b="1" dirty="0">
                <a:solidFill>
                  <a:srgbClr val="C00000"/>
                </a:solidFill>
              </a:rPr>
              <a:t> pooled library (or 4 </a:t>
            </a:r>
            <a:r>
              <a:rPr lang="en" sz="1300" b="1" dirty="0" err="1">
                <a:solidFill>
                  <a:srgbClr val="C00000"/>
                </a:solidFill>
              </a:rPr>
              <a:t>nM</a:t>
            </a:r>
            <a:r>
              <a:rPr lang="en" sz="1300" b="1" dirty="0">
                <a:solidFill>
                  <a:srgbClr val="C00000"/>
                </a:solidFill>
              </a:rPr>
              <a:t> for </a:t>
            </a:r>
            <a:r>
              <a:rPr lang="en" sz="1300" b="1" dirty="0" err="1">
                <a:solidFill>
                  <a:srgbClr val="C00000"/>
                </a:solidFill>
              </a:rPr>
              <a:t>MiSeq</a:t>
            </a:r>
            <a:r>
              <a:rPr lang="en" sz="1300" b="1" dirty="0">
                <a:solidFill>
                  <a:srgbClr val="C00000"/>
                </a:solidFill>
              </a:rPr>
              <a:t>)</a:t>
            </a:r>
            <a:endParaRPr sz="1300" b="1" dirty="0">
              <a:solidFill>
                <a:srgbClr val="C00000"/>
              </a:solidFill>
            </a:endParaRPr>
          </a:p>
          <a:p>
            <a:pPr marL="0" marR="0" lvl="0" indent="0" algn="ctr" rtl="0">
              <a:spcBef>
                <a:spcPts val="0"/>
              </a:spcBef>
              <a:spcAft>
                <a:spcPts val="0"/>
              </a:spcAft>
              <a:buNone/>
            </a:pPr>
            <a:endParaRPr sz="1300" b="1" dirty="0">
              <a:solidFill>
                <a:srgbClr val="C00000"/>
              </a:solidFill>
            </a:endParaRPr>
          </a:p>
          <a:p>
            <a:pPr marL="0" marR="0" lvl="0" indent="0" algn="l" rtl="0">
              <a:spcBef>
                <a:spcPts val="0"/>
              </a:spcBef>
              <a:spcAft>
                <a:spcPts val="0"/>
              </a:spcAft>
              <a:buNone/>
            </a:pPr>
            <a:r>
              <a:rPr lang="en" sz="1300" dirty="0">
                <a:solidFill>
                  <a:schemeClr val="dk1"/>
                </a:solidFill>
              </a:rPr>
              <a:t>Pooling guidelines</a:t>
            </a:r>
            <a:endParaRPr sz="1300" dirty="0">
              <a:solidFill>
                <a:schemeClr val="dk1"/>
              </a:solidFill>
            </a:endParaRPr>
          </a:p>
          <a:p>
            <a:pPr marL="457200" marR="0" lvl="0" indent="-311150" algn="l" rtl="0">
              <a:spcBef>
                <a:spcPts val="0"/>
              </a:spcBef>
              <a:spcAft>
                <a:spcPts val="0"/>
              </a:spcAft>
              <a:buClr>
                <a:schemeClr val="dk1"/>
              </a:buClr>
              <a:buSzPts val="1300"/>
              <a:buChar char="●"/>
            </a:pPr>
            <a:r>
              <a:rPr lang="en" sz="1300" dirty="0">
                <a:solidFill>
                  <a:schemeClr val="dk1"/>
                </a:solidFill>
              </a:rPr>
              <a:t>Do not pool more than half of your library volume (in case you need to go back)</a:t>
            </a:r>
            <a:endParaRPr sz="1300" dirty="0">
              <a:solidFill>
                <a:schemeClr val="dk1"/>
              </a:solidFill>
            </a:endParaRPr>
          </a:p>
          <a:p>
            <a:pPr marL="457200" marR="0" lvl="0" indent="-311150" algn="l" rtl="0">
              <a:spcBef>
                <a:spcPts val="0"/>
              </a:spcBef>
              <a:spcAft>
                <a:spcPts val="0"/>
              </a:spcAft>
              <a:buClr>
                <a:schemeClr val="dk1"/>
              </a:buClr>
              <a:buSzPts val="1300"/>
              <a:buChar char="●"/>
            </a:pPr>
            <a:r>
              <a:rPr lang="en" sz="1300" dirty="0">
                <a:solidFill>
                  <a:schemeClr val="dk1"/>
                </a:solidFill>
              </a:rPr>
              <a:t>Pool waters/negative controls less mass than samples (1/5th or 1/10th)</a:t>
            </a:r>
            <a:endParaRPr sz="1300" dirty="0">
              <a:solidFill>
                <a:schemeClr val="dk1"/>
              </a:solidFill>
            </a:endParaRPr>
          </a:p>
        </p:txBody>
      </p:sp>
      <p:pic>
        <p:nvPicPr>
          <p:cNvPr id="770" name="Google Shape;770;p35"/>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771" name="Google Shape;771;p35"/>
          <p:cNvSpPr txBox="1">
            <a:spLocks noGrp="1"/>
          </p:cNvSpPr>
          <p:nvPr>
            <p:ph type="title" idx="4294967295"/>
          </p:nvPr>
        </p:nvSpPr>
        <p:spPr>
          <a:xfrm>
            <a:off x="943521" y="216807"/>
            <a:ext cx="3279775" cy="573087"/>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Library prep QC</a:t>
            </a:r>
            <a:endParaRPr dirty="0"/>
          </a:p>
        </p:txBody>
      </p:sp>
      <p:grpSp>
        <p:nvGrpSpPr>
          <p:cNvPr id="2" name="Group 1">
            <a:extLst>
              <a:ext uri="{FF2B5EF4-FFF2-40B4-BE49-F238E27FC236}">
                <a16:creationId xmlns:a16="http://schemas.microsoft.com/office/drawing/2014/main" id="{5A85355B-B4EF-5F33-D5FA-AA8747D169A8}"/>
              </a:ext>
            </a:extLst>
          </p:cNvPr>
          <p:cNvGrpSpPr/>
          <p:nvPr/>
        </p:nvGrpSpPr>
        <p:grpSpPr>
          <a:xfrm>
            <a:off x="2132850" y="2079148"/>
            <a:ext cx="5715000" cy="1844594"/>
            <a:chOff x="2160175" y="2257124"/>
            <a:chExt cx="5715000" cy="1844594"/>
          </a:xfrm>
        </p:grpSpPr>
        <p:sp>
          <p:nvSpPr>
            <p:cNvPr id="766" name="Google Shape;766;p35"/>
            <p:cNvSpPr txBox="1"/>
            <p:nvPr/>
          </p:nvSpPr>
          <p:spPr>
            <a:xfrm>
              <a:off x="2160175" y="2574009"/>
              <a:ext cx="5715000" cy="1107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dirty="0">
                  <a:solidFill>
                    <a:schemeClr val="dk1"/>
                  </a:solidFill>
                </a:rPr>
                <a:t>Sample 1: 	10 ng/ul 	-&gt;	4.0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Sample 2: 	  5 ng/ul	-&gt;	8.0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Sample 3: 	8 ng/ul	-&gt;	5.0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Sample 4: 	15 ng/ul	-&gt;	2.6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H</a:t>
              </a:r>
              <a:r>
                <a:rPr lang="en" sz="1300" baseline="-25000" dirty="0">
                  <a:solidFill>
                    <a:schemeClr val="dk1"/>
                  </a:solidFill>
                </a:rPr>
                <a:t>2</a:t>
              </a:r>
              <a:r>
                <a:rPr lang="en" sz="1300" dirty="0">
                  <a:solidFill>
                    <a:schemeClr val="dk1"/>
                  </a:solidFill>
                </a:rPr>
                <a:t>O control:	  1 ng/ul	-&gt;	8.0 </a:t>
              </a:r>
              <a:r>
                <a:rPr lang="en" sz="1300" dirty="0" err="1">
                  <a:solidFill>
                    <a:schemeClr val="dk1"/>
                  </a:solidFill>
                </a:rPr>
                <a:t>μl</a:t>
              </a:r>
              <a:r>
                <a:rPr lang="en" sz="1300" dirty="0">
                  <a:solidFill>
                    <a:schemeClr val="dk1"/>
                  </a:solidFill>
                </a:rPr>
                <a:t>	-&gt;	8 ng</a:t>
              </a:r>
              <a:endParaRPr sz="1300" dirty="0"/>
            </a:p>
          </p:txBody>
        </p:sp>
        <p:sp>
          <p:nvSpPr>
            <p:cNvPr id="768" name="Google Shape;768;p35"/>
            <p:cNvSpPr txBox="1"/>
            <p:nvPr/>
          </p:nvSpPr>
          <p:spPr>
            <a:xfrm>
              <a:off x="2160175" y="2297000"/>
              <a:ext cx="20307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u="sng" dirty="0">
                  <a:solidFill>
                    <a:schemeClr val="dk1"/>
                  </a:solidFill>
                </a:rPr>
                <a:t>Qubit concentration</a:t>
              </a:r>
              <a:endParaRPr sz="1300" dirty="0"/>
            </a:p>
          </p:txBody>
        </p:sp>
        <p:sp>
          <p:nvSpPr>
            <p:cNvPr id="769" name="Google Shape;769;p35"/>
            <p:cNvSpPr txBox="1"/>
            <p:nvPr/>
          </p:nvSpPr>
          <p:spPr>
            <a:xfrm>
              <a:off x="4933625" y="2257124"/>
              <a:ext cx="8319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u="sng" dirty="0">
                  <a:solidFill>
                    <a:schemeClr val="dk1"/>
                  </a:solidFill>
                </a:rPr>
                <a:t>Pool</a:t>
              </a:r>
              <a:endParaRPr sz="1300" dirty="0"/>
            </a:p>
          </p:txBody>
        </p:sp>
        <p:sp>
          <p:nvSpPr>
            <p:cNvPr id="772" name="Google Shape;772;p35"/>
            <p:cNvSpPr txBox="1"/>
            <p:nvPr/>
          </p:nvSpPr>
          <p:spPr>
            <a:xfrm>
              <a:off x="6632791" y="3628318"/>
              <a:ext cx="795531"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t>168 ng  </a:t>
              </a:r>
              <a:endParaRPr sz="1300" dirty="0"/>
            </a:p>
          </p:txBody>
        </p:sp>
        <p:sp>
          <p:nvSpPr>
            <p:cNvPr id="773" name="Google Shape;773;p35"/>
            <p:cNvSpPr txBox="1"/>
            <p:nvPr/>
          </p:nvSpPr>
          <p:spPr>
            <a:xfrm>
              <a:off x="4294775" y="3608463"/>
              <a:ext cx="2109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t>Total:    27.6 </a:t>
              </a:r>
              <a:r>
                <a:rPr lang="en" sz="1300" dirty="0" err="1"/>
                <a:t>μl</a:t>
              </a:r>
              <a:endParaRPr sz="1300"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36"/>
          <p:cNvSpPr txBox="1"/>
          <p:nvPr/>
        </p:nvSpPr>
        <p:spPr>
          <a:xfrm>
            <a:off x="113075" y="968100"/>
            <a:ext cx="4944600" cy="1182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together for sequencing</a:t>
            </a:r>
            <a:endParaRPr sz="1700"/>
          </a:p>
          <a:p>
            <a:pPr marL="0" marR="0" lvl="0" indent="0" algn="l" rtl="0">
              <a:lnSpc>
                <a:spcPct val="150000"/>
              </a:lnSpc>
              <a:spcBef>
                <a:spcPts val="0"/>
              </a:spcBef>
              <a:spcAft>
                <a:spcPts val="0"/>
              </a:spcAft>
              <a:buNone/>
            </a:pPr>
            <a:r>
              <a:rPr lang="en" sz="1500">
                <a:solidFill>
                  <a:schemeClr val="dk1"/>
                </a:solidFill>
              </a:rPr>
              <a:t>3. After pooling, determine quantity and quality of pool</a:t>
            </a:r>
            <a:endParaRPr sz="1500">
              <a:solidFill>
                <a:schemeClr val="dk1"/>
              </a:solidFill>
            </a:endParaRPr>
          </a:p>
        </p:txBody>
      </p:sp>
      <p:pic>
        <p:nvPicPr>
          <p:cNvPr id="779" name="Google Shape;779;p36"/>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780" name="Google Shape;780;p36"/>
          <p:cNvSpPr txBox="1">
            <a:spLocks noGrp="1"/>
          </p:cNvSpPr>
          <p:nvPr>
            <p:ph type="title" idx="4294967295"/>
          </p:nvPr>
        </p:nvSpPr>
        <p:spPr>
          <a:xfrm>
            <a:off x="945487" y="252531"/>
            <a:ext cx="3279775" cy="573087"/>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Library prep QC</a:t>
            </a:r>
            <a:endParaRPr dirty="0"/>
          </a:p>
        </p:txBody>
      </p:sp>
      <p:grpSp>
        <p:nvGrpSpPr>
          <p:cNvPr id="781" name="Google Shape;781;p36"/>
          <p:cNvGrpSpPr/>
          <p:nvPr/>
        </p:nvGrpSpPr>
        <p:grpSpPr>
          <a:xfrm>
            <a:off x="2209450" y="2526100"/>
            <a:ext cx="3799600" cy="810000"/>
            <a:chOff x="5139650" y="427675"/>
            <a:chExt cx="3799600" cy="810000"/>
          </a:xfrm>
        </p:grpSpPr>
        <p:sp>
          <p:nvSpPr>
            <p:cNvPr id="782" name="Google Shape;782;p36"/>
            <p:cNvSpPr txBox="1"/>
            <p:nvPr/>
          </p:nvSpPr>
          <p:spPr>
            <a:xfrm>
              <a:off x="5738550" y="427675"/>
              <a:ext cx="19302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concentration in ng/μl</a:t>
              </a:r>
              <a:endParaRPr sz="1300"/>
            </a:p>
          </p:txBody>
        </p:sp>
        <p:sp>
          <p:nvSpPr>
            <p:cNvPr id="783" name="Google Shape;783;p36"/>
            <p:cNvSpPr txBox="1"/>
            <p:nvPr/>
          </p:nvSpPr>
          <p:spPr>
            <a:xfrm>
              <a:off x="5139650" y="832675"/>
              <a:ext cx="33729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660g/mol x average library size in bp</a:t>
              </a:r>
              <a:endParaRPr sz="1300"/>
            </a:p>
          </p:txBody>
        </p:sp>
        <p:sp>
          <p:nvSpPr>
            <p:cNvPr id="784" name="Google Shape;784;p36"/>
            <p:cNvSpPr txBox="1"/>
            <p:nvPr/>
          </p:nvSpPr>
          <p:spPr>
            <a:xfrm>
              <a:off x="8332350" y="635550"/>
              <a:ext cx="606900" cy="4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x 10</a:t>
              </a:r>
              <a:r>
                <a:rPr lang="en" sz="1300" baseline="30000"/>
                <a:t>6</a:t>
              </a:r>
              <a:endParaRPr sz="1300"/>
            </a:p>
          </p:txBody>
        </p:sp>
        <p:cxnSp>
          <p:nvCxnSpPr>
            <p:cNvPr id="785" name="Google Shape;785;p36"/>
            <p:cNvCxnSpPr/>
            <p:nvPr/>
          </p:nvCxnSpPr>
          <p:spPr>
            <a:xfrm>
              <a:off x="5391800" y="832200"/>
              <a:ext cx="2878200" cy="11700"/>
            </a:xfrm>
            <a:prstGeom prst="straightConnector1">
              <a:avLst/>
            </a:prstGeom>
            <a:noFill/>
            <a:ln w="9525" cap="flat" cmpd="sng">
              <a:solidFill>
                <a:schemeClr val="dk2"/>
              </a:solidFill>
              <a:prstDash val="solid"/>
              <a:round/>
              <a:headEnd type="none" w="med" len="med"/>
              <a:tailEnd type="none" w="med" len="med"/>
            </a:ln>
          </p:spPr>
        </p:cxnSp>
      </p:grpSp>
      <p:sp>
        <p:nvSpPr>
          <p:cNvPr id="786" name="Google Shape;786;p36"/>
          <p:cNvSpPr txBox="1"/>
          <p:nvPr/>
        </p:nvSpPr>
        <p:spPr>
          <a:xfrm>
            <a:off x="3367775" y="1912225"/>
            <a:ext cx="816300" cy="4050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300">
                <a:solidFill>
                  <a:srgbClr val="C00000"/>
                </a:solidFill>
              </a:rPr>
              <a:t>Qubit</a:t>
            </a:r>
            <a:endParaRPr sz="1300">
              <a:solidFill>
                <a:srgbClr val="C00000"/>
              </a:solidFill>
            </a:endParaRPr>
          </a:p>
          <a:p>
            <a:pPr marL="0" lvl="0" indent="0" algn="ctr" rtl="0">
              <a:lnSpc>
                <a:spcPct val="150000"/>
              </a:lnSpc>
              <a:spcBef>
                <a:spcPts val="0"/>
              </a:spcBef>
              <a:spcAft>
                <a:spcPts val="0"/>
              </a:spcAft>
              <a:buNone/>
            </a:pPr>
            <a:endParaRPr sz="1300"/>
          </a:p>
        </p:txBody>
      </p:sp>
      <p:sp>
        <p:nvSpPr>
          <p:cNvPr id="787" name="Google Shape;787;p36"/>
          <p:cNvSpPr txBox="1"/>
          <p:nvPr/>
        </p:nvSpPr>
        <p:spPr>
          <a:xfrm>
            <a:off x="350575" y="2699950"/>
            <a:ext cx="19881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Concentration in nM = </a:t>
            </a:r>
            <a:endParaRPr/>
          </a:p>
        </p:txBody>
      </p:sp>
      <p:sp>
        <p:nvSpPr>
          <p:cNvPr id="788" name="Google Shape;788;p36"/>
          <p:cNvSpPr txBox="1"/>
          <p:nvPr/>
        </p:nvSpPr>
        <p:spPr>
          <a:xfrm>
            <a:off x="3607925" y="3506725"/>
            <a:ext cx="1426800" cy="40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300">
                <a:solidFill>
                  <a:srgbClr val="C00000"/>
                </a:solidFill>
              </a:rPr>
              <a:t>Capillary or gel electrophoresis</a:t>
            </a:r>
            <a:endParaRPr sz="1300">
              <a:solidFill>
                <a:srgbClr val="C00000"/>
              </a:solidFill>
            </a:endParaRPr>
          </a:p>
          <a:p>
            <a:pPr marL="0" lvl="0" indent="0" algn="ctr" rtl="0">
              <a:lnSpc>
                <a:spcPct val="115000"/>
              </a:lnSpc>
              <a:spcBef>
                <a:spcPts val="0"/>
              </a:spcBef>
              <a:spcAft>
                <a:spcPts val="0"/>
              </a:spcAft>
              <a:buNone/>
            </a:pPr>
            <a:endParaRPr sz="1300"/>
          </a:p>
        </p:txBody>
      </p:sp>
      <p:cxnSp>
        <p:nvCxnSpPr>
          <p:cNvPr id="789" name="Google Shape;789;p36"/>
          <p:cNvCxnSpPr/>
          <p:nvPr/>
        </p:nvCxnSpPr>
        <p:spPr>
          <a:xfrm>
            <a:off x="3775925" y="2241025"/>
            <a:ext cx="0" cy="231300"/>
          </a:xfrm>
          <a:prstGeom prst="straightConnector1">
            <a:avLst/>
          </a:prstGeom>
          <a:noFill/>
          <a:ln w="9525" cap="flat" cmpd="sng">
            <a:solidFill>
              <a:srgbClr val="C00000"/>
            </a:solidFill>
            <a:prstDash val="solid"/>
            <a:round/>
            <a:headEnd type="none" w="med" len="med"/>
            <a:tailEnd type="triangle" w="med" len="med"/>
          </a:ln>
        </p:spPr>
      </p:cxnSp>
      <p:cxnSp>
        <p:nvCxnSpPr>
          <p:cNvPr id="790" name="Google Shape;790;p36"/>
          <p:cNvCxnSpPr/>
          <p:nvPr/>
        </p:nvCxnSpPr>
        <p:spPr>
          <a:xfrm rot="10800000">
            <a:off x="4260275" y="3351625"/>
            <a:ext cx="0" cy="231300"/>
          </a:xfrm>
          <a:prstGeom prst="straightConnector1">
            <a:avLst/>
          </a:prstGeom>
          <a:noFill/>
          <a:ln w="9525" cap="flat" cmpd="sng">
            <a:solidFill>
              <a:srgbClr val="C00000"/>
            </a:solidFill>
            <a:prstDash val="solid"/>
            <a:round/>
            <a:headEnd type="none" w="med" len="med"/>
            <a:tailEnd type="triangle" w="med" len="med"/>
          </a:ln>
        </p:spPr>
      </p:cxnSp>
      <p:sp>
        <p:nvSpPr>
          <p:cNvPr id="791" name="Google Shape;791;p36"/>
          <p:cNvSpPr txBox="1"/>
          <p:nvPr/>
        </p:nvSpPr>
        <p:spPr>
          <a:xfrm>
            <a:off x="344600" y="4230375"/>
            <a:ext cx="84609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Example: if concentration is 6.1 ng/μl, and average library size is 550 bp -&gt; concentration is 16.8 nM</a:t>
            </a:r>
            <a:endParaRPr/>
          </a:p>
        </p:txBody>
      </p:sp>
      <p:sp>
        <p:nvSpPr>
          <p:cNvPr id="792" name="Google Shape;792;p36"/>
          <p:cNvSpPr txBox="1"/>
          <p:nvPr/>
        </p:nvSpPr>
        <p:spPr>
          <a:xfrm>
            <a:off x="5057675" y="336575"/>
            <a:ext cx="3941700" cy="77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b="1">
                <a:solidFill>
                  <a:srgbClr val="C00000"/>
                </a:solidFill>
              </a:rPr>
              <a:t>Pick one way to calculate nM and stick with it!</a:t>
            </a:r>
            <a:endParaRPr sz="1300" b="1">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a:solidFill>
                  <a:srgbClr val="C00000"/>
                </a:solidFill>
              </a:rPr>
              <a:t>Qubit concentration and library size</a:t>
            </a:r>
            <a:endParaRPr sz="1300">
              <a:solidFill>
                <a:srgbClr val="C00000"/>
              </a:solidFill>
            </a:endParaRPr>
          </a:p>
          <a:p>
            <a:pPr marL="914400" lvl="0" indent="0" algn="l" rtl="0">
              <a:lnSpc>
                <a:spcPct val="115000"/>
              </a:lnSpc>
              <a:spcBef>
                <a:spcPts val="0"/>
              </a:spcBef>
              <a:spcAft>
                <a:spcPts val="0"/>
              </a:spcAft>
              <a:buNone/>
            </a:pPr>
            <a:r>
              <a:rPr lang="en" sz="1300">
                <a:solidFill>
                  <a:srgbClr val="C00000"/>
                </a:solidFill>
              </a:rPr>
              <a:t>or</a:t>
            </a:r>
            <a:endParaRPr sz="1300">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a:solidFill>
                  <a:srgbClr val="C00000"/>
                </a:solidFill>
              </a:rPr>
              <a:t>Automatic calculation by Tapestation </a:t>
            </a:r>
            <a:endParaRPr sz="1300">
              <a:solidFill>
                <a:srgbClr val="C00000"/>
              </a:solidFill>
            </a:endParaRPr>
          </a:p>
        </p:txBody>
      </p:sp>
      <p:sp>
        <p:nvSpPr>
          <p:cNvPr id="793" name="Google Shape;793;p36"/>
          <p:cNvSpPr txBox="1"/>
          <p:nvPr/>
        </p:nvSpPr>
        <p:spPr>
          <a:xfrm>
            <a:off x="2837748" y="4748925"/>
            <a:ext cx="38931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b="1">
                <a:solidFill>
                  <a:srgbClr val="C00000"/>
                </a:solidFill>
              </a:rPr>
              <a:t>End goal is &gt;10 μl of 2 nM pooled library</a:t>
            </a:r>
            <a:endParaRPr sz="1300" b="1">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37"/>
          <p:cNvSpPr txBox="1"/>
          <p:nvPr/>
        </p:nvSpPr>
        <p:spPr>
          <a:xfrm>
            <a:off x="113075" y="1092500"/>
            <a:ext cx="8388000" cy="361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Dilute library to the correct loading concentration:</a:t>
            </a:r>
            <a:endParaRPr/>
          </a:p>
          <a:p>
            <a:pPr marL="0" lvl="0" indent="0" algn="l" rtl="0">
              <a:lnSpc>
                <a:spcPct val="150000"/>
              </a:lnSpc>
              <a:spcBef>
                <a:spcPts val="0"/>
              </a:spcBef>
              <a:spcAft>
                <a:spcPts val="0"/>
              </a:spcAft>
              <a:buNone/>
            </a:pPr>
            <a:endParaRPr sz="900"/>
          </a:p>
          <a:p>
            <a:pPr marL="914400" lvl="1" indent="-317500" algn="l" rtl="0">
              <a:lnSpc>
                <a:spcPct val="150000"/>
              </a:lnSpc>
              <a:spcBef>
                <a:spcPts val="0"/>
              </a:spcBef>
              <a:spcAft>
                <a:spcPts val="0"/>
              </a:spcAft>
              <a:buSzPts val="1400"/>
              <a:buAutoNum type="alphaLcPeriod"/>
            </a:pPr>
            <a:r>
              <a:rPr lang="en"/>
              <a:t>iSeq: </a:t>
            </a:r>
            <a:endParaRPr/>
          </a:p>
          <a:p>
            <a:pPr marL="1371600" lvl="2" indent="-317500" algn="l" rtl="0">
              <a:lnSpc>
                <a:spcPct val="150000"/>
              </a:lnSpc>
              <a:spcBef>
                <a:spcPts val="0"/>
              </a:spcBef>
              <a:spcAft>
                <a:spcPts val="0"/>
              </a:spcAft>
              <a:buSzPts val="1400"/>
              <a:buAutoNum type="romanLcPeriod"/>
            </a:pPr>
            <a:r>
              <a:rPr lang="en"/>
              <a:t>dilute to 75 pM (or another optimized concentration) </a:t>
            </a:r>
            <a:endParaRPr/>
          </a:p>
          <a:p>
            <a:pPr marL="1371600" lvl="2" indent="-317500" algn="l" rtl="0">
              <a:lnSpc>
                <a:spcPct val="150000"/>
              </a:lnSpc>
              <a:spcBef>
                <a:spcPts val="0"/>
              </a:spcBef>
              <a:spcAft>
                <a:spcPts val="0"/>
              </a:spcAft>
              <a:buSzPts val="1400"/>
              <a:buAutoNum type="romanLcPeriod"/>
            </a:pPr>
            <a:r>
              <a:rPr lang="en"/>
              <a:t>Spike in 1-5% of PhiX at the same concentration </a:t>
            </a:r>
            <a:endParaRPr/>
          </a:p>
          <a:p>
            <a:pPr marL="1371600" lvl="0" indent="0" algn="l" rtl="0">
              <a:lnSpc>
                <a:spcPct val="150000"/>
              </a:lnSpc>
              <a:spcBef>
                <a:spcPts val="0"/>
              </a:spcBef>
              <a:spcAft>
                <a:spcPts val="0"/>
              </a:spcAft>
              <a:buNone/>
            </a:pPr>
            <a:endParaRPr sz="900"/>
          </a:p>
          <a:p>
            <a:pPr marL="914400" lvl="1" indent="-317500" algn="l" rtl="0">
              <a:lnSpc>
                <a:spcPct val="150000"/>
              </a:lnSpc>
              <a:spcBef>
                <a:spcPts val="0"/>
              </a:spcBef>
              <a:spcAft>
                <a:spcPts val="0"/>
              </a:spcAft>
              <a:buSzPts val="1400"/>
              <a:buAutoNum type="alphaLcPeriod"/>
            </a:pPr>
            <a:r>
              <a:rPr lang="en"/>
              <a:t>MiSeq: </a:t>
            </a:r>
            <a:endParaRPr/>
          </a:p>
          <a:p>
            <a:pPr marL="1371600" lvl="2" indent="-317500" algn="l" rtl="0">
              <a:lnSpc>
                <a:spcPct val="150000"/>
              </a:lnSpc>
              <a:spcBef>
                <a:spcPts val="0"/>
              </a:spcBef>
              <a:spcAft>
                <a:spcPts val="0"/>
              </a:spcAft>
              <a:buSzPts val="1400"/>
              <a:buAutoNum type="romanLcPeriod"/>
            </a:pPr>
            <a:r>
              <a:rPr lang="en"/>
              <a:t>First denature library with sodium hydroxide (NaOH)</a:t>
            </a:r>
            <a:endParaRPr/>
          </a:p>
          <a:p>
            <a:pPr marL="1371600" lvl="2" indent="-317500" algn="l" rtl="0">
              <a:lnSpc>
                <a:spcPct val="150000"/>
              </a:lnSpc>
              <a:spcBef>
                <a:spcPts val="0"/>
              </a:spcBef>
              <a:spcAft>
                <a:spcPts val="0"/>
              </a:spcAft>
              <a:buSzPts val="1400"/>
              <a:buAutoNum type="romanLcPeriod"/>
            </a:pPr>
            <a:r>
              <a:rPr lang="en"/>
              <a:t>Then dilute to 10-12 pM (or another optimized concentration)</a:t>
            </a:r>
            <a:endParaRPr/>
          </a:p>
          <a:p>
            <a:pPr marL="1371600" lvl="2" indent="-317500" algn="l" rtl="0">
              <a:lnSpc>
                <a:spcPct val="150000"/>
              </a:lnSpc>
              <a:spcBef>
                <a:spcPts val="0"/>
              </a:spcBef>
              <a:spcAft>
                <a:spcPts val="0"/>
              </a:spcAft>
              <a:buSzPts val="1400"/>
              <a:buAutoNum type="romanLcPeriod"/>
            </a:pPr>
            <a:r>
              <a:rPr lang="en"/>
              <a:t>Spike in 1-5% of denatured PhiX to denatured and diluted library </a:t>
            </a:r>
            <a:endParaRPr/>
          </a:p>
        </p:txBody>
      </p:sp>
      <p:pic>
        <p:nvPicPr>
          <p:cNvPr id="799" name="Google Shape;799;p37"/>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800" name="Google Shape;800;p37"/>
          <p:cNvSpPr txBox="1">
            <a:spLocks noGrp="1"/>
          </p:cNvSpPr>
          <p:nvPr>
            <p:ph type="title" idx="4294967295"/>
          </p:nvPr>
        </p:nvSpPr>
        <p:spPr>
          <a:xfrm>
            <a:off x="1582738" y="252413"/>
            <a:ext cx="7561262" cy="573087"/>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Library prep - preparing to load the sequencer</a:t>
            </a:r>
            <a:endParaRPr/>
          </a:p>
        </p:txBody>
      </p:sp>
      <p:sp>
        <p:nvSpPr>
          <p:cNvPr id="801" name="Google Shape;801;p37"/>
          <p:cNvSpPr txBox="1"/>
          <p:nvPr/>
        </p:nvSpPr>
        <p:spPr>
          <a:xfrm>
            <a:off x="863000" y="4737250"/>
            <a:ext cx="5288100" cy="61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2" name="Google Shape;802;p37"/>
          <p:cNvSpPr txBox="1"/>
          <p:nvPr/>
        </p:nvSpPr>
        <p:spPr>
          <a:xfrm>
            <a:off x="1927950" y="4526700"/>
            <a:ext cx="5288100" cy="61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See slide decks for iSeq or MiSeq loading for more details!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a:spLocks noGrp="1"/>
          </p:cNvSpPr>
          <p:nvPr>
            <p:ph type="ctrTitle"/>
          </p:nvPr>
        </p:nvSpPr>
        <p:spPr>
          <a:xfrm>
            <a:off x="198578" y="410524"/>
            <a:ext cx="8520600" cy="2092800"/>
          </a:xfrm>
          <a:prstGeom prst="rect">
            <a:avLst/>
          </a:prstGeom>
        </p:spPr>
        <p:txBody>
          <a:bodyPr spcFirstLastPara="1" vert="horz" wrap="square" lIns="91425" tIns="91425" rIns="91425" bIns="91425" rtlCol="0" anchor="b" anchorCtr="0">
            <a:noAutofit/>
          </a:bodyPr>
          <a:lstStyle/>
          <a:p>
            <a:pPr>
              <a:spcBef>
                <a:spcPts val="0"/>
              </a:spcBef>
            </a:pPr>
            <a:r>
              <a:rPr lang="en" sz="4000" b="1" dirty="0">
                <a:solidFill>
                  <a:schemeClr val="dk2"/>
                </a:solidFill>
              </a:rPr>
              <a:t>Using the </a:t>
            </a:r>
            <a:r>
              <a:rPr lang="en" sz="4000" b="1" dirty="0" err="1">
                <a:solidFill>
                  <a:schemeClr val="dk2"/>
                </a:solidFill>
              </a:rPr>
              <a:t>Tapestation</a:t>
            </a:r>
            <a:r>
              <a:rPr lang="en" sz="4000" b="1" dirty="0">
                <a:solidFill>
                  <a:schemeClr val="dk2"/>
                </a:solidFill>
              </a:rPr>
              <a:t> </a:t>
            </a:r>
            <a:endParaRPr sz="4000" b="1" dirty="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15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Choosing the right assay according to your starting material</a:t>
            </a:r>
            <a:endParaRPr/>
          </a:p>
        </p:txBody>
      </p:sp>
      <p:pic>
        <p:nvPicPr>
          <p:cNvPr id="175" name="Google Shape;175;p27"/>
          <p:cNvPicPr preferRelativeResize="0"/>
          <p:nvPr/>
        </p:nvPicPr>
        <p:blipFill>
          <a:blip r:embed="rId3">
            <a:alphaModFix/>
          </a:blip>
          <a:stretch>
            <a:fillRect/>
          </a:stretch>
        </p:blipFill>
        <p:spPr>
          <a:xfrm>
            <a:off x="152400" y="725113"/>
            <a:ext cx="8839201" cy="3948375"/>
          </a:xfrm>
          <a:prstGeom prst="rect">
            <a:avLst/>
          </a:prstGeom>
          <a:noFill/>
          <a:ln>
            <a:noFill/>
          </a:ln>
        </p:spPr>
      </p:pic>
      <p:sp>
        <p:nvSpPr>
          <p:cNvPr id="176" name="Google Shape;176;p27"/>
          <p:cNvSpPr txBox="1"/>
          <p:nvPr/>
        </p:nvSpPr>
        <p:spPr>
          <a:xfrm>
            <a:off x="6293725" y="2939875"/>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DNA</a:t>
            </a:r>
            <a:endParaRPr sz="1200">
              <a:solidFill>
                <a:srgbClr val="FF0000"/>
              </a:solidFill>
            </a:endParaRPr>
          </a:p>
          <a:p>
            <a:pPr marL="0" lvl="0" indent="0" algn="ctr" rtl="0">
              <a:spcBef>
                <a:spcPts val="0"/>
              </a:spcBef>
              <a:spcAft>
                <a:spcPts val="0"/>
              </a:spcAft>
              <a:buNone/>
            </a:pPr>
            <a:r>
              <a:rPr lang="en" sz="1200">
                <a:solidFill>
                  <a:srgbClr val="FF0000"/>
                </a:solidFill>
              </a:rPr>
              <a:t>200 to &gt;60000 bp, 10 – 100 ng/µL</a:t>
            </a:r>
            <a:endParaRPr sz="1200">
              <a:solidFill>
                <a:srgbClr val="FF0000"/>
              </a:solidFill>
            </a:endParaRPr>
          </a:p>
        </p:txBody>
      </p:sp>
      <p:sp>
        <p:nvSpPr>
          <p:cNvPr id="177" name="Google Shape;177;p27"/>
          <p:cNvSpPr txBox="1"/>
          <p:nvPr/>
        </p:nvSpPr>
        <p:spPr>
          <a:xfrm>
            <a:off x="6293725" y="2519451"/>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RNA</a:t>
            </a:r>
            <a:endParaRPr sz="1200">
              <a:solidFill>
                <a:srgbClr val="FF0000"/>
              </a:solidFill>
            </a:endParaRPr>
          </a:p>
          <a:p>
            <a:pPr marL="0" lvl="0" indent="0" algn="ctr" rtl="0">
              <a:spcBef>
                <a:spcPts val="0"/>
              </a:spcBef>
              <a:spcAft>
                <a:spcPts val="0"/>
              </a:spcAft>
              <a:buNone/>
            </a:pPr>
            <a:r>
              <a:rPr lang="en" sz="1200">
                <a:solidFill>
                  <a:srgbClr val="FF0000"/>
                </a:solidFill>
              </a:rPr>
              <a:t>500 – 10000 pg/µL</a:t>
            </a:r>
            <a:endParaRPr sz="1200">
              <a:solidFill>
                <a:srgbClr val="FF0000"/>
              </a:solidFill>
            </a:endParaRPr>
          </a:p>
        </p:txBody>
      </p:sp>
      <p:sp>
        <p:nvSpPr>
          <p:cNvPr id="178" name="Google Shape;178;p27"/>
          <p:cNvSpPr txBox="1"/>
          <p:nvPr/>
        </p:nvSpPr>
        <p:spPr>
          <a:xfrm>
            <a:off x="6293725" y="3771663"/>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Sequencing libraries</a:t>
            </a:r>
            <a:endParaRPr sz="1200">
              <a:solidFill>
                <a:srgbClr val="FF0000"/>
              </a:solidFill>
            </a:endParaRPr>
          </a:p>
          <a:p>
            <a:pPr marL="0" lvl="0" indent="0" algn="ctr" rtl="0">
              <a:spcBef>
                <a:spcPts val="0"/>
              </a:spcBef>
              <a:spcAft>
                <a:spcPts val="0"/>
              </a:spcAft>
              <a:buNone/>
            </a:pPr>
            <a:r>
              <a:rPr lang="en" sz="1200">
                <a:solidFill>
                  <a:srgbClr val="FF0000"/>
                </a:solidFill>
              </a:rPr>
              <a:t>100 - 5,000 bp, 10 - 1,000 pg/µL</a:t>
            </a:r>
            <a:endParaRPr sz="1200">
              <a:solidFill>
                <a:srgbClr val="FF0000"/>
              </a:solidFill>
            </a:endParaRPr>
          </a:p>
        </p:txBody>
      </p:sp>
      <p:sp>
        <p:nvSpPr>
          <p:cNvPr id="179" name="Google Shape;179;p27"/>
          <p:cNvSpPr txBox="1"/>
          <p:nvPr/>
        </p:nvSpPr>
        <p:spPr>
          <a:xfrm>
            <a:off x="4945175" y="4673475"/>
            <a:ext cx="4046400" cy="470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rPr>
              <a:t>Note, sensitivity is guided by input concentration.</a:t>
            </a:r>
            <a:endParaRPr>
              <a:solidFill>
                <a:srgbClr val="FF0000"/>
              </a:solidFill>
            </a:endParaRPr>
          </a:p>
        </p:txBody>
      </p:sp>
      <p:sp>
        <p:nvSpPr>
          <p:cNvPr id="180" name="Google Shape;180;p27"/>
          <p:cNvSpPr/>
          <p:nvPr/>
        </p:nvSpPr>
        <p:spPr>
          <a:xfrm>
            <a:off x="248325" y="2507850"/>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27"/>
          <p:cNvSpPr/>
          <p:nvPr/>
        </p:nvSpPr>
        <p:spPr>
          <a:xfrm>
            <a:off x="248325" y="3756363"/>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27"/>
          <p:cNvSpPr/>
          <p:nvPr/>
        </p:nvSpPr>
        <p:spPr>
          <a:xfrm>
            <a:off x="248325" y="2924575"/>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7"/>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23" name="Google Shape;323;p47"/>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AutoNum type="arabicPeriod"/>
            </a:pPr>
            <a:r>
              <a:rPr lang="en" sz="1600">
                <a:solidFill>
                  <a:schemeClr val="dk1"/>
                </a:solidFill>
              </a:rPr>
              <a:t>Ensure that all marker peaks (</a:t>
            </a:r>
            <a:r>
              <a:rPr lang="en" sz="1600">
                <a:solidFill>
                  <a:srgbClr val="FD7C4B"/>
                </a:solidFill>
              </a:rPr>
              <a:t>‘Lower’</a:t>
            </a:r>
            <a:r>
              <a:rPr lang="en" sz="1600">
                <a:solidFill>
                  <a:schemeClr val="dk1"/>
                </a:solidFill>
              </a:rPr>
              <a:t> and </a:t>
            </a:r>
            <a:r>
              <a:rPr lang="en" sz="1600">
                <a:solidFill>
                  <a:srgbClr val="9ACDFC"/>
                </a:solidFill>
              </a:rPr>
              <a:t>‘Upper’</a:t>
            </a:r>
            <a:r>
              <a:rPr lang="en" sz="1600">
                <a:solidFill>
                  <a:schemeClr val="dk1"/>
                </a:solidFill>
              </a:rPr>
              <a:t>) are properly assigned. </a:t>
            </a:r>
            <a:r>
              <a:rPr lang="en" sz="1600" b="1">
                <a:solidFill>
                  <a:schemeClr val="dk1"/>
                </a:solidFill>
              </a:rPr>
              <a:t>Concentration values are calculated using the area of the sample peak compared to the known concentration of the upper marker.</a:t>
            </a:r>
            <a:endParaRPr sz="1600" b="1">
              <a:solidFill>
                <a:schemeClr val="dk1"/>
              </a:solidFill>
            </a:endParaRPr>
          </a:p>
        </p:txBody>
      </p:sp>
      <p:pic>
        <p:nvPicPr>
          <p:cNvPr id="324" name="Google Shape;324;p47"/>
          <p:cNvPicPr preferRelativeResize="0"/>
          <p:nvPr/>
        </p:nvPicPr>
        <p:blipFill>
          <a:blip r:embed="rId3">
            <a:alphaModFix/>
          </a:blip>
          <a:stretch>
            <a:fillRect/>
          </a:stretch>
        </p:blipFill>
        <p:spPr>
          <a:xfrm>
            <a:off x="164300" y="1113175"/>
            <a:ext cx="5537976" cy="2917161"/>
          </a:xfrm>
          <a:prstGeom prst="rect">
            <a:avLst/>
          </a:prstGeom>
          <a:noFill/>
          <a:ln>
            <a:noFill/>
          </a:ln>
        </p:spPr>
      </p:pic>
      <p:pic>
        <p:nvPicPr>
          <p:cNvPr id="325" name="Google Shape;325;p47"/>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26" name="Google Shape;326;p47"/>
          <p:cNvSpPr/>
          <p:nvPr/>
        </p:nvSpPr>
        <p:spPr>
          <a:xfrm>
            <a:off x="291925" y="784500"/>
            <a:ext cx="353100" cy="282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32" name="Google Shape;332;p48"/>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rgbClr val="999999"/>
              </a:buClr>
              <a:buSzPts val="1600"/>
              <a:buAutoNum type="arabicPeriod"/>
            </a:pPr>
            <a:r>
              <a:rPr lang="en" sz="1600">
                <a:solidFill>
                  <a:srgbClr val="999999"/>
                </a:solidFill>
              </a:rPr>
              <a:t>Ensure that all marker peaks (‘Lower’ and ‘Upper’) are properly assigned. </a:t>
            </a:r>
            <a:r>
              <a:rPr lang="en" sz="1600" b="1">
                <a:solidFill>
                  <a:srgbClr val="999999"/>
                </a:solidFill>
              </a:rPr>
              <a:t>Concentration values are calculated using the area of the sample peak compared to the known concentration of the upper marker.</a:t>
            </a:r>
            <a:endParaRPr sz="1600">
              <a:solidFill>
                <a:srgbClr val="999999"/>
              </a:solidFill>
            </a:endParaRPr>
          </a:p>
          <a:p>
            <a:pPr marL="457200" lvl="0" indent="-330200" algn="l" rtl="0">
              <a:spcBef>
                <a:spcPts val="0"/>
              </a:spcBef>
              <a:spcAft>
                <a:spcPts val="0"/>
              </a:spcAft>
              <a:buClr>
                <a:schemeClr val="dk1"/>
              </a:buClr>
              <a:buSzPts val="1600"/>
              <a:buAutoNum type="arabicPeriod"/>
            </a:pPr>
            <a:r>
              <a:rPr lang="en" sz="1600">
                <a:solidFill>
                  <a:schemeClr val="dk1"/>
                </a:solidFill>
              </a:rPr>
              <a:t>Ensure that </a:t>
            </a:r>
            <a:r>
              <a:rPr lang="en" sz="1600">
                <a:solidFill>
                  <a:srgbClr val="A8D3FD"/>
                </a:solidFill>
              </a:rPr>
              <a:t>sample peaks</a:t>
            </a:r>
            <a:r>
              <a:rPr lang="en" sz="1600">
                <a:solidFill>
                  <a:schemeClr val="dk1"/>
                </a:solidFill>
              </a:rPr>
              <a:t> are properly integrated by manually adjusting the peak when necessary.</a:t>
            </a:r>
            <a:endParaRPr sz="1600">
              <a:solidFill>
                <a:schemeClr val="dk1"/>
              </a:solidFill>
            </a:endParaRPr>
          </a:p>
        </p:txBody>
      </p:sp>
      <p:pic>
        <p:nvPicPr>
          <p:cNvPr id="333" name="Google Shape;333;p48"/>
          <p:cNvPicPr preferRelativeResize="0"/>
          <p:nvPr/>
        </p:nvPicPr>
        <p:blipFill>
          <a:blip r:embed="rId3">
            <a:alphaModFix/>
          </a:blip>
          <a:stretch>
            <a:fillRect/>
          </a:stretch>
        </p:blipFill>
        <p:spPr>
          <a:xfrm>
            <a:off x="164775" y="1292350"/>
            <a:ext cx="5537976" cy="2558801"/>
          </a:xfrm>
          <a:prstGeom prst="rect">
            <a:avLst/>
          </a:prstGeom>
          <a:noFill/>
          <a:ln>
            <a:noFill/>
          </a:ln>
        </p:spPr>
      </p:pic>
      <p:pic>
        <p:nvPicPr>
          <p:cNvPr id="334" name="Google Shape;334;p48"/>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35" name="Google Shape;335;p48"/>
          <p:cNvSpPr/>
          <p:nvPr/>
        </p:nvSpPr>
        <p:spPr>
          <a:xfrm>
            <a:off x="3358050" y="773975"/>
            <a:ext cx="256500" cy="293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5"/>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30" name="Google Shape;630;p55"/>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31" name="Google Shape;631;p5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32" name="Google Shape;632;p55"/>
          <p:cNvSpPr txBox="1"/>
          <p:nvPr/>
        </p:nvSpPr>
        <p:spPr>
          <a:xfrm>
            <a:off x="2963150" y="1567975"/>
            <a:ext cx="1806300" cy="1303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This is the “</a:t>
            </a:r>
            <a:r>
              <a:rPr lang="en" sz="1200" u="sng">
                <a:solidFill>
                  <a:srgbClr val="FF0000"/>
                </a:solidFill>
              </a:rPr>
              <a:t>Electropherogram</a:t>
            </a:r>
            <a:r>
              <a:rPr lang="en" sz="1200">
                <a:solidFill>
                  <a:schemeClr val="dk1"/>
                </a:solidFill>
              </a:rPr>
              <a:t>”</a:t>
            </a:r>
            <a:r>
              <a:rPr lang="en" sz="1200"/>
              <a:t> view setting. If you see this after the TS analysis ends, click on “</a:t>
            </a:r>
            <a:r>
              <a:rPr lang="en" sz="1200" u="sng">
                <a:solidFill>
                  <a:srgbClr val="0000FF"/>
                </a:solidFill>
              </a:rPr>
              <a:t>Region</a:t>
            </a:r>
            <a:r>
              <a:rPr lang="en" sz="1200"/>
              <a:t>”</a:t>
            </a:r>
            <a:endParaRPr sz="1200"/>
          </a:p>
        </p:txBody>
      </p:sp>
      <p:cxnSp>
        <p:nvCxnSpPr>
          <p:cNvPr id="633" name="Google Shape;633;p55"/>
          <p:cNvCxnSpPr/>
          <p:nvPr/>
        </p:nvCxnSpPr>
        <p:spPr>
          <a:xfrm rot="10800000">
            <a:off x="733675" y="924200"/>
            <a:ext cx="2297400" cy="1030200"/>
          </a:xfrm>
          <a:prstGeom prst="straightConnector1">
            <a:avLst/>
          </a:prstGeom>
          <a:noFill/>
          <a:ln w="19050" cap="flat" cmpd="sng">
            <a:solidFill>
              <a:srgbClr val="FF0000"/>
            </a:solidFill>
            <a:prstDash val="solid"/>
            <a:round/>
            <a:headEnd type="none" w="med" len="med"/>
            <a:tailEnd type="triangle" w="med" len="med"/>
          </a:ln>
        </p:spPr>
      </p:cxnSp>
      <p:cxnSp>
        <p:nvCxnSpPr>
          <p:cNvPr id="634" name="Google Shape;634;p55"/>
          <p:cNvCxnSpPr/>
          <p:nvPr/>
        </p:nvCxnSpPr>
        <p:spPr>
          <a:xfrm rot="10800000">
            <a:off x="1312375" y="931375"/>
            <a:ext cx="1718700" cy="1758600"/>
          </a:xfrm>
          <a:prstGeom prst="straightConnector1">
            <a:avLst/>
          </a:prstGeom>
          <a:noFill/>
          <a:ln w="19050" cap="flat" cmpd="sng">
            <a:solidFill>
              <a:srgbClr val="0000FF"/>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6"/>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40" name="Google Shape;640;p56"/>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41" name="Google Shape;641;p56"/>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2" name="Google Shape;642;p56"/>
          <p:cNvSpPr/>
          <p:nvPr/>
        </p:nvSpPr>
        <p:spPr>
          <a:xfrm>
            <a:off x="6302001" y="403800"/>
            <a:ext cx="435900" cy="7116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43" name="Google Shape;643;p56"/>
          <p:cNvCxnSpPr/>
          <p:nvPr/>
        </p:nvCxnSpPr>
        <p:spPr>
          <a:xfrm flipH="1">
            <a:off x="6843600" y="613825"/>
            <a:ext cx="381300" cy="114900"/>
          </a:xfrm>
          <a:prstGeom prst="straightConnector1">
            <a:avLst/>
          </a:prstGeom>
          <a:noFill/>
          <a:ln w="19050" cap="flat" cmpd="sng">
            <a:solidFill>
              <a:srgbClr val="FF0000"/>
            </a:solidFill>
            <a:prstDash val="solid"/>
            <a:round/>
            <a:headEnd type="none" w="med" len="med"/>
            <a:tailEnd type="triangle" w="med" len="med"/>
          </a:ln>
        </p:spPr>
      </p:cxnSp>
      <p:sp>
        <p:nvSpPr>
          <p:cNvPr id="644" name="Google Shape;644;p56"/>
          <p:cNvSpPr txBox="1"/>
          <p:nvPr/>
        </p:nvSpPr>
        <p:spPr>
          <a:xfrm>
            <a:off x="7300900" y="403800"/>
            <a:ext cx="1349100" cy="534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“Region Settings”</a:t>
            </a:r>
            <a:endParaRPr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7"/>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0" name="Google Shape;650;p57"/>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51" name="Google Shape;651;p57"/>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52" name="Google Shape;652;p57"/>
          <p:cNvCxnSpPr/>
          <p:nvPr/>
        </p:nvCxnSpPr>
        <p:spPr>
          <a:xfrm rot="10800000">
            <a:off x="3055125" y="2243675"/>
            <a:ext cx="1622700" cy="762000"/>
          </a:xfrm>
          <a:prstGeom prst="straightConnector1">
            <a:avLst/>
          </a:prstGeom>
          <a:noFill/>
          <a:ln w="19050" cap="flat" cmpd="sng">
            <a:solidFill>
              <a:srgbClr val="FF0000"/>
            </a:solidFill>
            <a:prstDash val="solid"/>
            <a:round/>
            <a:headEnd type="none" w="med" len="med"/>
            <a:tailEnd type="triangle" w="med" len="med"/>
          </a:ln>
        </p:spPr>
      </p:cxnSp>
      <p:sp>
        <p:nvSpPr>
          <p:cNvPr id="653" name="Google Shape;653;p57"/>
          <p:cNvSpPr txBox="1"/>
          <p:nvPr/>
        </p:nvSpPr>
        <p:spPr>
          <a:xfrm>
            <a:off x="4713125" y="2857500"/>
            <a:ext cx="1587600" cy="684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this line to add the peak range of interest</a:t>
            </a:r>
            <a:endParaRPr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8"/>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9" name="Google Shape;659;p58"/>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60" name="Google Shape;660;p58"/>
          <p:cNvPicPr preferRelativeResize="0"/>
          <p:nvPr/>
        </p:nvPicPr>
        <p:blipFill>
          <a:blip r:embed="rId3">
            <a:alphaModFix/>
          </a:blip>
          <a:stretch>
            <a:fillRect/>
          </a:stretch>
        </p:blipFill>
        <p:spPr>
          <a:xfrm>
            <a:off x="0" y="0"/>
            <a:ext cx="9144000" cy="5143500"/>
          </a:xfrm>
          <a:prstGeom prst="rect">
            <a:avLst/>
          </a:prstGeom>
          <a:noFill/>
          <a:ln>
            <a:noFill/>
          </a:ln>
        </p:spPr>
      </p:pic>
      <p:sp>
        <p:nvSpPr>
          <p:cNvPr id="661" name="Google Shape;661;p58"/>
          <p:cNvSpPr/>
          <p:nvPr/>
        </p:nvSpPr>
        <p:spPr>
          <a:xfrm>
            <a:off x="2470858" y="2132400"/>
            <a:ext cx="944100" cy="1959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62" name="Google Shape;662;p58"/>
          <p:cNvCxnSpPr/>
          <p:nvPr/>
        </p:nvCxnSpPr>
        <p:spPr>
          <a:xfrm rot="10800000" flipH="1">
            <a:off x="2977450" y="2472100"/>
            <a:ext cx="1800" cy="526500"/>
          </a:xfrm>
          <a:prstGeom prst="straightConnector1">
            <a:avLst/>
          </a:prstGeom>
          <a:noFill/>
          <a:ln w="19050" cap="flat" cmpd="sng">
            <a:solidFill>
              <a:srgbClr val="FF0000"/>
            </a:solidFill>
            <a:prstDash val="solid"/>
            <a:round/>
            <a:headEnd type="none" w="med" len="med"/>
            <a:tailEnd type="triangle" w="med" len="med"/>
          </a:ln>
        </p:spPr>
      </p:cxnSp>
      <p:sp>
        <p:nvSpPr>
          <p:cNvPr id="663" name="Google Shape;663;p58"/>
          <p:cNvSpPr txBox="1"/>
          <p:nvPr/>
        </p:nvSpPr>
        <p:spPr>
          <a:xfrm>
            <a:off x="2136425" y="3040925"/>
            <a:ext cx="2088600" cy="712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Enter the “from” and “to” range here. We commonly use the 200-1000 bp range</a:t>
            </a:r>
            <a:endParaRPr sz="1200"/>
          </a:p>
        </p:txBody>
      </p:sp>
      <p:cxnSp>
        <p:nvCxnSpPr>
          <p:cNvPr id="664" name="Google Shape;664;p58"/>
          <p:cNvCxnSpPr/>
          <p:nvPr/>
        </p:nvCxnSpPr>
        <p:spPr>
          <a:xfrm rot="10800000" flipH="1">
            <a:off x="6378225" y="2370525"/>
            <a:ext cx="134100" cy="388200"/>
          </a:xfrm>
          <a:prstGeom prst="straightConnector1">
            <a:avLst/>
          </a:prstGeom>
          <a:noFill/>
          <a:ln w="19050" cap="flat" cmpd="sng">
            <a:solidFill>
              <a:srgbClr val="FF0000"/>
            </a:solidFill>
            <a:prstDash val="solid"/>
            <a:round/>
            <a:headEnd type="none" w="med" len="med"/>
            <a:tailEnd type="triangle" w="med" len="med"/>
          </a:ln>
        </p:spPr>
      </p:cxnSp>
      <p:sp>
        <p:nvSpPr>
          <p:cNvPr id="665" name="Google Shape;665;p58"/>
          <p:cNvSpPr txBox="1"/>
          <p:nvPr/>
        </p:nvSpPr>
        <p:spPr>
          <a:xfrm>
            <a:off x="4960050" y="2812300"/>
            <a:ext cx="1823400" cy="1230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By selecting “assay file” this range will apply to all future assays. But you can also specify the range for a sample or file.</a:t>
            </a:r>
            <a:endParaRPr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9"/>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71" name="Google Shape;671;p59"/>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72" name="Google Shape;672;p59"/>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73" name="Google Shape;673;p59"/>
          <p:cNvCxnSpPr/>
          <p:nvPr/>
        </p:nvCxnSpPr>
        <p:spPr>
          <a:xfrm>
            <a:off x="6589900" y="3654775"/>
            <a:ext cx="225900" cy="613800"/>
          </a:xfrm>
          <a:prstGeom prst="straightConnector1">
            <a:avLst/>
          </a:prstGeom>
          <a:noFill/>
          <a:ln w="19050" cap="flat" cmpd="sng">
            <a:solidFill>
              <a:srgbClr val="FF0000"/>
            </a:solidFill>
            <a:prstDash val="solid"/>
            <a:round/>
            <a:headEnd type="none" w="med" len="med"/>
            <a:tailEnd type="triangle" w="med" len="med"/>
          </a:ln>
        </p:spPr>
      </p:cxnSp>
      <p:sp>
        <p:nvSpPr>
          <p:cNvPr id="674" name="Google Shape;674;p59"/>
          <p:cNvSpPr txBox="1"/>
          <p:nvPr/>
        </p:nvSpPr>
        <p:spPr>
          <a:xfrm>
            <a:off x="5826475" y="3224375"/>
            <a:ext cx="1088100" cy="381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“Apply”</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80" name="Google Shape;680;p60"/>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81" name="Google Shape;681;p60"/>
          <p:cNvPicPr preferRelativeResize="0"/>
          <p:nvPr/>
        </p:nvPicPr>
        <p:blipFill>
          <a:blip r:embed="rId3">
            <a:alphaModFix/>
          </a:blip>
          <a:stretch>
            <a:fillRect/>
          </a:stretch>
        </p:blipFill>
        <p:spPr>
          <a:xfrm>
            <a:off x="0" y="0"/>
            <a:ext cx="9144000" cy="5143500"/>
          </a:xfrm>
          <a:prstGeom prst="rect">
            <a:avLst/>
          </a:prstGeom>
          <a:noFill/>
          <a:ln>
            <a:noFill/>
          </a:ln>
        </p:spPr>
      </p:pic>
      <p:sp>
        <p:nvSpPr>
          <p:cNvPr id="682" name="Google Shape;682;p60"/>
          <p:cNvSpPr txBox="1"/>
          <p:nvPr/>
        </p:nvSpPr>
        <p:spPr>
          <a:xfrm>
            <a:off x="2686750" y="2292750"/>
            <a:ext cx="2174400" cy="12774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The “Region Molarity” concentration is now based on the 200-1000 bp range selected. This is the TS value that we use for our sample quantification</a:t>
            </a:r>
            <a:endParaRPr sz="1200"/>
          </a:p>
        </p:txBody>
      </p:sp>
      <p:cxnSp>
        <p:nvCxnSpPr>
          <p:cNvPr id="683" name="Google Shape;683;p60"/>
          <p:cNvCxnSpPr/>
          <p:nvPr/>
        </p:nvCxnSpPr>
        <p:spPr>
          <a:xfrm>
            <a:off x="4423825" y="3626550"/>
            <a:ext cx="1136400" cy="635100"/>
          </a:xfrm>
          <a:prstGeom prst="straightConnector1">
            <a:avLst/>
          </a:prstGeom>
          <a:noFill/>
          <a:ln w="19050" cap="flat" cmpd="sng">
            <a:solidFill>
              <a:srgbClr val="FF0000"/>
            </a:solidFill>
            <a:prstDash val="solid"/>
            <a:round/>
            <a:headEnd type="none" w="med" len="med"/>
            <a:tailEnd type="triangle" w="med" len="med"/>
          </a:ln>
        </p:spPr>
      </p:cxnSp>
      <p:sp>
        <p:nvSpPr>
          <p:cNvPr id="684" name="Google Shape;684;p60"/>
          <p:cNvSpPr/>
          <p:nvPr/>
        </p:nvSpPr>
        <p:spPr>
          <a:xfrm>
            <a:off x="5580950" y="4261600"/>
            <a:ext cx="1227600" cy="39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61"/>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90" name="Google Shape;690;p61"/>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91" name="Google Shape;691;p61"/>
          <p:cNvPicPr preferRelativeResize="0"/>
          <p:nvPr/>
        </p:nvPicPr>
        <p:blipFill>
          <a:blip r:embed="rId3">
            <a:alphaModFix/>
          </a:blip>
          <a:stretch>
            <a:fillRect/>
          </a:stretch>
        </p:blipFill>
        <p:spPr>
          <a:xfrm>
            <a:off x="0" y="0"/>
            <a:ext cx="9144000" cy="5143500"/>
          </a:xfrm>
          <a:prstGeom prst="rect">
            <a:avLst/>
          </a:prstGeom>
          <a:noFill/>
          <a:ln>
            <a:noFill/>
          </a:ln>
        </p:spPr>
      </p:pic>
      <p:sp>
        <p:nvSpPr>
          <p:cNvPr id="692" name="Google Shape;692;p61"/>
          <p:cNvSpPr txBox="1"/>
          <p:nvPr/>
        </p:nvSpPr>
        <p:spPr>
          <a:xfrm>
            <a:off x="2686750" y="2032000"/>
            <a:ext cx="2174400" cy="16440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You can click and drag the peak range vertical line to make adjustments. In this case, we shifted the line from 200 bp to 132 bp to take into account shorter fragments. Region molarity is automatically recalculated.</a:t>
            </a:r>
            <a:endParaRPr sz="1200"/>
          </a:p>
        </p:txBody>
      </p:sp>
      <p:cxnSp>
        <p:nvCxnSpPr>
          <p:cNvPr id="693" name="Google Shape;693;p61"/>
          <p:cNvCxnSpPr/>
          <p:nvPr/>
        </p:nvCxnSpPr>
        <p:spPr>
          <a:xfrm>
            <a:off x="4861150" y="3252600"/>
            <a:ext cx="1594800" cy="141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a:blip r:embed="rId3">
            <a:alphaModFix/>
          </a:blip>
          <a:stretch>
            <a:fillRect/>
          </a:stretch>
        </p:blipFill>
        <p:spPr>
          <a:xfrm>
            <a:off x="367069" y="53575"/>
            <a:ext cx="8602710" cy="5143499"/>
          </a:xfrm>
          <a:prstGeom prst="rect">
            <a:avLst/>
          </a:prstGeom>
          <a:noFill/>
          <a:ln>
            <a:noFill/>
          </a:ln>
        </p:spPr>
      </p:pic>
      <p:sp>
        <p:nvSpPr>
          <p:cNvPr id="69" name="Google Shape;69;p15"/>
          <p:cNvSpPr txBox="1"/>
          <p:nvPr/>
        </p:nvSpPr>
        <p:spPr>
          <a:xfrm>
            <a:off x="4789875" y="1971675"/>
            <a:ext cx="27540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When you click on file this window will open. Click on “Create report” on the left panel in the purple box. That will create the report in pdf which is now you can save by clicking on “Save As…” in brown box. This will create the pdf report wich is amenable to view in other computers</a:t>
            </a:r>
            <a:endParaRPr/>
          </a:p>
        </p:txBody>
      </p:sp>
      <p:sp>
        <p:nvSpPr>
          <p:cNvPr id="70" name="Google Shape;70;p15"/>
          <p:cNvSpPr/>
          <p:nvPr/>
        </p:nvSpPr>
        <p:spPr>
          <a:xfrm>
            <a:off x="235750" y="1939525"/>
            <a:ext cx="1350300" cy="428700"/>
          </a:xfrm>
          <a:prstGeom prst="rect">
            <a:avLst/>
          </a:prstGeom>
          <a:noFill/>
          <a:ln w="2857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1553775" y="4597000"/>
            <a:ext cx="675000" cy="546600"/>
          </a:xfrm>
          <a:prstGeom prst="rect">
            <a:avLst/>
          </a:prstGeom>
          <a:noFill/>
          <a:ln w="28575" cap="flat" cmpd="sng">
            <a:solidFill>
              <a:srgbClr val="7F6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p:cNvPicPr preferRelativeResize="0"/>
          <p:nvPr/>
        </p:nvPicPr>
        <p:blipFill>
          <a:blip r:embed="rId3">
            <a:alphaModFix/>
          </a:blip>
          <a:srcRect r="2990" b="3726"/>
          <a:stretch>
            <a:fillRect/>
          </a:stretch>
        </p:blipFill>
        <p:spPr>
          <a:xfrm>
            <a:off x="136688" y="124875"/>
            <a:ext cx="8870623" cy="4366081"/>
          </a:xfrm>
          <a:prstGeom prst="rect">
            <a:avLst/>
          </a:prstGeom>
          <a:noFill/>
          <a:ln>
            <a:noFill/>
          </a:ln>
        </p:spPr>
      </p:pic>
      <p:sp>
        <p:nvSpPr>
          <p:cNvPr id="77" name="Google Shape;77;p16"/>
          <p:cNvSpPr txBox="1"/>
          <p:nvPr/>
        </p:nvSpPr>
        <p:spPr>
          <a:xfrm>
            <a:off x="846525" y="4618425"/>
            <a:ext cx="488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Save and now your report is ready to share as a pdf!</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F79471E9-4F1B-344D-9856-F809C63B85B4}" vid="{2FD73ADB-B93C-3142-8107-D94AE41C2BA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4712</TotalTime>
  <Words>2117</Words>
  <Application>Microsoft Macintosh PowerPoint</Application>
  <PresentationFormat>On-screen Show (16:9)</PresentationFormat>
  <Paragraphs>319</Paragraphs>
  <Slides>36</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Aptos</vt:lpstr>
      <vt:lpstr>Helvetica Neue</vt:lpstr>
      <vt:lpstr>Aptos Display</vt:lpstr>
      <vt:lpstr>Calibri</vt:lpstr>
      <vt:lpstr>Office Theme</vt:lpstr>
      <vt:lpstr>Library prep QC</vt:lpstr>
      <vt:lpstr>Cluster amplification is essential for Illumina sequencing</vt:lpstr>
      <vt:lpstr>Library prep QC</vt:lpstr>
      <vt:lpstr>Library prep QC</vt:lpstr>
      <vt:lpstr>Library prep QC - Concentration</vt:lpstr>
      <vt:lpstr>Library prep QC - Concentration</vt:lpstr>
      <vt:lpstr>Library prep QC - Concentration</vt:lpstr>
      <vt:lpstr>Library prep QC - Concentration</vt:lpstr>
      <vt:lpstr>Library prep QC - Concentration</vt:lpstr>
      <vt:lpstr>Library prep QC</vt:lpstr>
      <vt:lpstr>Library prep QC - Length</vt:lpstr>
      <vt:lpstr>Library prep QC - Length</vt:lpstr>
      <vt:lpstr>Library prep QC - Length</vt:lpstr>
      <vt:lpstr>Library prep QC</vt:lpstr>
      <vt:lpstr>Library prep QC - Clean up adapter dimers</vt:lpstr>
      <vt:lpstr>Library prep QC - Clean up adapter dimers</vt:lpstr>
      <vt:lpstr>Library prep QC - Clean up adapter dimers</vt:lpstr>
      <vt:lpstr>Library prep QC - Clean up adapter dimers</vt:lpstr>
      <vt:lpstr>Library prep QC</vt:lpstr>
      <vt:lpstr>Library prep QC</vt:lpstr>
      <vt:lpstr>Library prep QC</vt:lpstr>
      <vt:lpstr>Library prep QC</vt:lpstr>
      <vt:lpstr>Library prep - preparing to load the sequencer</vt:lpstr>
      <vt:lpstr>Using the Tapestation </vt:lpstr>
      <vt:lpstr>Choosing the right assay according to your starting material</vt:lpstr>
      <vt:lpstr>How to analyse a TapeStation run?</vt:lpstr>
      <vt:lpstr>How to analyse a TapeStation run?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7</cp:revision>
  <dcterms:modified xsi:type="dcterms:W3CDTF">2026-10-02T08:14:55Z</dcterms:modified>
</cp:coreProperties>
</file>