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4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95" r:id="rId29"/>
    <p:sldId id="303" r:id="rId30"/>
    <p:sldId id="290" r:id="rId31"/>
    <p:sldId id="291" r:id="rId32"/>
    <p:sldId id="296" r:id="rId33"/>
    <p:sldId id="297" r:id="rId34"/>
    <p:sldId id="298" r:id="rId35"/>
    <p:sldId id="299" r:id="rId36"/>
    <p:sldId id="300" r:id="rId37"/>
    <p:sldId id="301" r:id="rId38"/>
    <p:sldId id="302" r:id="rId39"/>
    <p:sldId id="304" r:id="rId40"/>
    <p:sldId id="305" r:id="rId41"/>
  </p:sldIdLst>
  <p:sldSz cx="9144000" cy="5143500" type="screen16x9"/>
  <p:notesSz cx="6858000" cy="9144000"/>
  <p:embeddedFontLst>
    <p:embeddedFont>
      <p:font typeface="Lato" panose="020F0502020204030203" pitchFamily="34" charset="0"/>
      <p:regular r:id="rId43"/>
      <p:bold r:id="rId44"/>
      <p:italic r:id="rId45"/>
      <p:boldItalic r:id="rId46"/>
    </p:embeddedFont>
    <p:embeddedFont>
      <p:font typeface="Roboto" panose="020000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K13rRApJMdHzAyJQhDirF8B6A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662A1D-99CD-4F52-A12D-C67976704F78}">
  <a:tblStyle styleId="{2E662A1D-99CD-4F52-A12D-C67976704F78}" styleName="Table_0">
    <a:wholeTbl>
      <a:tcTxStyle>
        <a:font>
          <a:latin typeface="Arial"/>
          <a:ea typeface="Arial"/>
          <a:cs typeface="Arial"/>
        </a:font>
        <a:srgbClr val="000000"/>
      </a:tcTxStyle>
      <a:tcStyle>
        <a:tcBdr>
          <a:left>
            <a:ln cap="flat" cmpd="sng">
              <a:solidFill>
                <a:srgbClr val="808080"/>
              </a:solidFill>
              <a:prstDash val="solid"/>
              <a:round/>
              <a:headEnd type="none" w="sm" len="sm"/>
              <a:tailEnd type="none" w="sm" len="sm"/>
            </a:ln>
          </a:left>
          <a:right>
            <a:ln cap="flat" cmpd="sng">
              <a:solidFill>
                <a:srgbClr val="808080"/>
              </a:solidFill>
              <a:prstDash val="solid"/>
              <a:round/>
              <a:headEnd type="none" w="sm" len="sm"/>
              <a:tailEnd type="none" w="sm" len="sm"/>
            </a:ln>
          </a:right>
          <a:top>
            <a:ln cap="flat" cmpd="sng">
              <a:solidFill>
                <a:srgbClr val="808080"/>
              </a:solidFill>
              <a:prstDash val="solid"/>
              <a:round/>
              <a:headEnd type="none" w="sm" len="sm"/>
              <a:tailEnd type="none" w="sm" len="sm"/>
            </a:ln>
          </a:top>
          <a:bottom>
            <a:ln cap="flat" cmpd="sng">
              <a:solidFill>
                <a:srgbClr val="808080"/>
              </a:solidFill>
              <a:prstDash val="solid"/>
              <a:round/>
              <a:headEnd type="none" w="sm" len="sm"/>
              <a:tailEnd type="none" w="sm" len="sm"/>
            </a:ln>
          </a:bottom>
          <a:insideH>
            <a:ln cap="flat" cmpd="sng">
              <a:solidFill>
                <a:srgbClr val="808080"/>
              </a:solidFill>
              <a:prstDash val="solid"/>
              <a:round/>
              <a:headEnd type="none" w="sm" len="sm"/>
              <a:tailEnd type="none" w="sm" len="sm"/>
            </a:ln>
          </a:insideH>
          <a:insideV>
            <a:ln cap="flat" cmpd="sng">
              <a:solidFill>
                <a:srgbClr val="80808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2853E17-F762-43AA-9A03-3D2A84B8C53F}"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54" d="100"/>
          <a:sy n="154" d="100"/>
        </p:scale>
        <p:origin x="888"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6.xml"/><Relationship Id="rId51" Type="http://customschemas.google.com/relationships/presentationmetadata" Target="meta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6deade42ff_0_70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36deade42ff_0_7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6deade42ff_0_7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6deade42ff_0_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moments during lib prep to do QC: individual library and pooled library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6deade42ff_0_7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6deade42ff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deade42ff_0_8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deade42ff_0_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6deade42ff_0_8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6deade42ff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6deade42ff_0_8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6deade42ff_0_8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6deade42ff_0_8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6deade42ff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6deade42ff_0_9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6deade42ff_0_9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RNA, guanidine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6deade42ff_0_9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6deade42ff_0_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36deade42ff_0_9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36deade42ff_0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6deade42ff_0_9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6deade42ff_0_9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Update to protocol: Ct &lt;15: dilute 1/10, rest use undiluted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6deade42ff_0_10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6deade42ff_0_10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6deade42ff_0_10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6deade42ff_0_1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6deade42ff_0_1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6deade42ff_0_1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deade42ff_0_1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deade42ff_0_1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g36deade42ff_0_1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8" name="Google Shape;548;g36deade42ff_0_1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6deade42ff_0_1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36deade42ff_0_1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6deade42ff_0_1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6deade42ff_0_1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36deade42ff_0_1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36deade42ff_0_1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6deade42ff_0_1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36deade42ff_0_1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Update to protocol: Ct &lt;15: dilute 1/10, rest use undiluted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6deade42ff_0_12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36deade42ff_0_1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36deade42ff_0_13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36deade42ff_0_1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36deade42ff_0_13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36deade42ff_0_13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7" name="Google Shape;747;g36deade42ff_0_13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36deade42ff_0_1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36deade42ff_0_1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Two moments during lib prep to do QC: individual library and pooled library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6deade42ff_0_1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6deade42ff_0_1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9f47f74587_1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9f47f74587_1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75e941176f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75e941176f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75e941176f_0_3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75e941176f_0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75e941176f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75e941176f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9f47f74587_1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9f47f74587_1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9f47f74587_1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9f47f74587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9f47f74587_1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9f47f74587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9f47f74587_1_1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9f47f74587_1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set multiple peak ranges as well</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9f47f74587_1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9f47f74587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9f47f74587_1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9f47f74587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9f47f74587_1_2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9f47f74587_1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57c4aa7f4f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57c4aa7f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57c4aa7f4f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57c4aa7f4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TITLE_AND_BODY_1">
    <p:spTree>
      <p:nvGrpSpPr>
        <p:cNvPr id="1" name="Shape 9"/>
        <p:cNvGrpSpPr/>
        <p:nvPr/>
      </p:nvGrpSpPr>
      <p:grpSpPr>
        <a:xfrm>
          <a:off x="0" y="0"/>
          <a:ext cx="0" cy="0"/>
          <a:chOff x="0" y="0"/>
          <a:chExt cx="0" cy="0"/>
        </a:xfrm>
      </p:grpSpPr>
      <p:sp>
        <p:nvSpPr>
          <p:cNvPr id="10" name="Google Shape;10;p19"/>
          <p:cNvSpPr txBox="1">
            <a:spLocks noGrp="1"/>
          </p:cNvSpPr>
          <p:nvPr>
            <p:ph type="body" idx="1"/>
          </p:nvPr>
        </p:nvSpPr>
        <p:spPr>
          <a:xfrm>
            <a:off x="1812726" y="3355330"/>
            <a:ext cx="5518500" cy="243000"/>
          </a:xfrm>
          <a:prstGeom prst="rect">
            <a:avLst/>
          </a:prstGeom>
          <a:noFill/>
          <a:ln>
            <a:noFill/>
          </a:ln>
        </p:spPr>
        <p:txBody>
          <a:bodyPr spcFirstLastPara="1" wrap="square" lIns="26775" tIns="26775" rIns="26775" bIns="26775" anchor="t" anchorCtr="0">
            <a:sp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1" name="Google Shape;11;p19"/>
          <p:cNvSpPr txBox="1">
            <a:spLocks noGrp="1"/>
          </p:cNvSpPr>
          <p:nvPr>
            <p:ph type="body" idx="2"/>
          </p:nvPr>
        </p:nvSpPr>
        <p:spPr>
          <a:xfrm>
            <a:off x="1812726" y="2249091"/>
            <a:ext cx="5518500" cy="324000"/>
          </a:xfrm>
          <a:prstGeom prst="rect">
            <a:avLst/>
          </a:prstGeom>
          <a:noFill/>
          <a:ln>
            <a:noFill/>
          </a:ln>
        </p:spPr>
        <p:txBody>
          <a:bodyPr spcFirstLastPara="1" wrap="square" lIns="26775" tIns="26775" rIns="26775" bIns="26775" anchor="ctr" anchorCtr="0">
            <a:spAutoFit/>
          </a:bodyPr>
          <a:lstStyle>
            <a:lvl1pPr marL="457200" lvl="0" indent="-228600" algn="ctr">
              <a:lnSpc>
                <a:spcPct val="100000"/>
              </a:lnSpc>
              <a:spcBef>
                <a:spcPts val="0"/>
              </a:spcBef>
              <a:spcAft>
                <a:spcPts val="0"/>
              </a:spcAft>
              <a:buClr>
                <a:srgbClr val="000000"/>
              </a:buClr>
              <a:buSzPts val="1700"/>
              <a:buFont typeface="Helvetica Neue"/>
              <a:buNone/>
              <a:defRPr sz="1700">
                <a:latin typeface="Helvetica Neue"/>
                <a:ea typeface="Helvetica Neue"/>
                <a:cs typeface="Helvetica Neue"/>
                <a:sym typeface="Helvetica Neue"/>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2" name="Google Shape;12;p19"/>
          <p:cNvSpPr txBox="1">
            <a:spLocks noGrp="1"/>
          </p:cNvSpPr>
          <p:nvPr>
            <p:ph type="sldNum" idx="12"/>
          </p:nvPr>
        </p:nvSpPr>
        <p:spPr>
          <a:xfrm>
            <a:off x="4482789" y="4902398"/>
            <a:ext cx="174900" cy="177300"/>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800"/>
              <a:buFont typeface="Helvetica Neue Light"/>
              <a:buNone/>
              <a:defRPr sz="800" b="0" i="0" u="none" strike="noStrike" cap="none">
                <a:solidFill>
                  <a:schemeClr val="dk2"/>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3"/>
        <p:cNvGrpSpPr/>
        <p:nvPr/>
      </p:nvGrpSpPr>
      <p:grpSpPr>
        <a:xfrm>
          <a:off x="0" y="0"/>
          <a:ext cx="0" cy="0"/>
          <a:chOff x="0" y="0"/>
          <a:chExt cx="0" cy="0"/>
        </a:xfrm>
      </p:grpSpPr>
      <p:sp>
        <p:nvSpPr>
          <p:cNvPr id="14" name="Google Shape;14;p20"/>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marR="0" lvl="0"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700"/>
              <a:buFont typeface="Helvetica Neue"/>
              <a:buNone/>
              <a:defRPr sz="7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
        <p:cNvGrpSpPr/>
        <p:nvPr/>
      </p:nvGrpSpPr>
      <p:grpSpPr>
        <a:xfrm>
          <a:off x="0" y="0"/>
          <a:ext cx="0" cy="0"/>
          <a:chOff x="0" y="0"/>
          <a:chExt cx="0" cy="0"/>
        </a:xfrm>
      </p:grpSpPr>
      <p:sp>
        <p:nvSpPr>
          <p:cNvPr id="20" name="Google Shape;2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3" name="Google Shape;23;p2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4" name="Google Shape;2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2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7" name="Google Shape;27;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2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 name="Google Shape;3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5" name="Google Shape;35;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2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2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2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2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2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3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3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3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g36deade42ff_0_136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2" name="Google Shape;62;g36deade42ff_0_136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3" name="Google Shape;63;g36deade42ff_0_13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g36deade42ff_0_136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6" name="Google Shape;66;g36deade42ff_0_13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g36deade42ff_0_13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9" name="Google Shape;69;g36deade42ff_0_136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0" name="Google Shape;70;g36deade42ff_0_13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g36deade42ff_0_13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3" name="Google Shape;73;g36deade42ff_0_137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4" name="Google Shape;74;g36deade42ff_0_137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 name="Google Shape;75;g36deade42ff_0_13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g36deade42ff_0_13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8" name="Google Shape;78;g36deade42ff_0_13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g36deade42ff_0_138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1" name="Google Shape;81;g36deade42ff_0_138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2" name="Google Shape;82;g36deade42ff_0_13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g36deade42ff_0_138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5" name="Google Shape;85;g36deade42ff_0_13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g36deade42ff_0_138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g36deade42ff_0_1387"/>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 name="Google Shape;89;g36deade42ff_0_1387"/>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g36deade42ff_0_1387"/>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1" name="Google Shape;91;g36deade42ff_0_13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g36deade42ff_0_139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94" name="Google Shape;94;g36deade42ff_0_13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g36deade42ff_0_139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7" name="Google Shape;97;g36deade42ff_0_139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8" name="Google Shape;98;g36deade42ff_0_13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36deade42ff_0_14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p:cSld name="TITLE_AND_BODY_1">
    <p:spTree>
      <p:nvGrpSpPr>
        <p:cNvPr id="1" name="Shape 101"/>
        <p:cNvGrpSpPr/>
        <p:nvPr/>
      </p:nvGrpSpPr>
      <p:grpSpPr>
        <a:xfrm>
          <a:off x="0" y="0"/>
          <a:ext cx="0" cy="0"/>
          <a:chOff x="0" y="0"/>
          <a:chExt cx="0" cy="0"/>
        </a:xfrm>
      </p:grpSpPr>
      <p:sp>
        <p:nvSpPr>
          <p:cNvPr id="102" name="Google Shape;102;g36deade42ff_0_1402"/>
          <p:cNvSpPr txBox="1">
            <a:spLocks noGrp="1"/>
          </p:cNvSpPr>
          <p:nvPr>
            <p:ph type="body" idx="1"/>
          </p:nvPr>
        </p:nvSpPr>
        <p:spPr>
          <a:xfrm>
            <a:off x="1812726" y="3355330"/>
            <a:ext cx="5518500" cy="243000"/>
          </a:xfrm>
          <a:prstGeom prst="rect">
            <a:avLst/>
          </a:prstGeom>
          <a:noFill/>
          <a:ln>
            <a:noFill/>
          </a:ln>
        </p:spPr>
        <p:txBody>
          <a:bodyPr spcFirstLastPara="1" wrap="square" lIns="26775" tIns="26775" rIns="26775" bIns="26775" anchor="t" anchorCtr="0">
            <a:sp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03" name="Google Shape;103;g36deade42ff_0_1402"/>
          <p:cNvSpPr txBox="1">
            <a:spLocks noGrp="1"/>
          </p:cNvSpPr>
          <p:nvPr>
            <p:ph type="body" idx="2"/>
          </p:nvPr>
        </p:nvSpPr>
        <p:spPr>
          <a:xfrm>
            <a:off x="1812726" y="2249091"/>
            <a:ext cx="5518500" cy="324000"/>
          </a:xfrm>
          <a:prstGeom prst="rect">
            <a:avLst/>
          </a:prstGeom>
          <a:noFill/>
          <a:ln>
            <a:noFill/>
          </a:ln>
        </p:spPr>
        <p:txBody>
          <a:bodyPr spcFirstLastPara="1" wrap="square" lIns="26775" tIns="26775" rIns="26775" bIns="26775" anchor="ctr" anchorCtr="0">
            <a:spAutoFit/>
          </a:bodyPr>
          <a:lstStyle>
            <a:lvl1pPr marL="457200" lvl="0" indent="-228600" algn="ctr">
              <a:lnSpc>
                <a:spcPct val="100000"/>
              </a:lnSpc>
              <a:spcBef>
                <a:spcPts val="0"/>
              </a:spcBef>
              <a:spcAft>
                <a:spcPts val="0"/>
              </a:spcAft>
              <a:buClr>
                <a:srgbClr val="000000"/>
              </a:buClr>
              <a:buSzPts val="1700"/>
              <a:buFont typeface="Helvetica Neue"/>
              <a:buNone/>
              <a:defRPr sz="1700">
                <a:latin typeface="Helvetica Neue"/>
                <a:ea typeface="Helvetica Neue"/>
                <a:cs typeface="Helvetica Neue"/>
                <a:sym typeface="Helvetica Neue"/>
              </a:defRPr>
            </a:lvl1pPr>
            <a:lvl2pPr marL="914400" lvl="1" indent="-279400" algn="l">
              <a:lnSpc>
                <a:spcPct val="90000"/>
              </a:lnSpc>
              <a:spcBef>
                <a:spcPts val="1700"/>
              </a:spcBef>
              <a:spcAft>
                <a:spcPts val="0"/>
              </a:spcAft>
              <a:buClr>
                <a:srgbClr val="000000"/>
              </a:buClr>
              <a:buSzPts val="800"/>
              <a:buChar char="○"/>
              <a:defRPr/>
            </a:lvl2pPr>
            <a:lvl3pPr marL="1371600" lvl="2" indent="-279400" algn="l">
              <a:lnSpc>
                <a:spcPct val="90000"/>
              </a:lnSpc>
              <a:spcBef>
                <a:spcPts val="1700"/>
              </a:spcBef>
              <a:spcAft>
                <a:spcPts val="0"/>
              </a:spcAft>
              <a:buClr>
                <a:srgbClr val="000000"/>
              </a:buClr>
              <a:buSzPts val="800"/>
              <a:buChar char="■"/>
              <a:defRPr/>
            </a:lvl3pPr>
            <a:lvl4pPr marL="1828800" lvl="3" indent="-279400" algn="l">
              <a:lnSpc>
                <a:spcPct val="90000"/>
              </a:lnSpc>
              <a:spcBef>
                <a:spcPts val="1700"/>
              </a:spcBef>
              <a:spcAft>
                <a:spcPts val="0"/>
              </a:spcAft>
              <a:buClr>
                <a:srgbClr val="000000"/>
              </a:buClr>
              <a:buSzPts val="800"/>
              <a:buChar char="●"/>
              <a:defRPr/>
            </a:lvl4pPr>
            <a:lvl5pPr marL="2286000" lvl="4" indent="-279400" algn="l">
              <a:lnSpc>
                <a:spcPct val="90000"/>
              </a:lnSpc>
              <a:spcBef>
                <a:spcPts val="1700"/>
              </a:spcBef>
              <a:spcAft>
                <a:spcPts val="0"/>
              </a:spcAft>
              <a:buClr>
                <a:srgbClr val="000000"/>
              </a:buClr>
              <a:buSzPts val="800"/>
              <a:buChar char="○"/>
              <a:defRPr/>
            </a:lvl5pPr>
            <a:lvl6pPr marL="2743200" lvl="5" indent="-279400" algn="l">
              <a:lnSpc>
                <a:spcPct val="90000"/>
              </a:lnSpc>
              <a:spcBef>
                <a:spcPts val="1700"/>
              </a:spcBef>
              <a:spcAft>
                <a:spcPts val="0"/>
              </a:spcAft>
              <a:buClr>
                <a:srgbClr val="000000"/>
              </a:buClr>
              <a:buSzPts val="800"/>
              <a:buChar char="■"/>
              <a:defRPr/>
            </a:lvl6pPr>
            <a:lvl7pPr marL="3200400" lvl="6" indent="-279400" algn="l">
              <a:lnSpc>
                <a:spcPct val="90000"/>
              </a:lnSpc>
              <a:spcBef>
                <a:spcPts val="1700"/>
              </a:spcBef>
              <a:spcAft>
                <a:spcPts val="0"/>
              </a:spcAft>
              <a:buClr>
                <a:srgbClr val="000000"/>
              </a:buClr>
              <a:buSzPts val="800"/>
              <a:buChar char="●"/>
              <a:defRPr/>
            </a:lvl7pPr>
            <a:lvl8pPr marL="3657600" lvl="7" indent="-279400" algn="l">
              <a:lnSpc>
                <a:spcPct val="90000"/>
              </a:lnSpc>
              <a:spcBef>
                <a:spcPts val="1700"/>
              </a:spcBef>
              <a:spcAft>
                <a:spcPts val="0"/>
              </a:spcAft>
              <a:buClr>
                <a:srgbClr val="000000"/>
              </a:buClr>
              <a:buSzPts val="800"/>
              <a:buChar char="○"/>
              <a:defRPr/>
            </a:lvl8pPr>
            <a:lvl9pPr marL="4114800" lvl="8" indent="-279400" algn="l">
              <a:lnSpc>
                <a:spcPct val="90000"/>
              </a:lnSpc>
              <a:spcBef>
                <a:spcPts val="1700"/>
              </a:spcBef>
              <a:spcAft>
                <a:spcPts val="0"/>
              </a:spcAft>
              <a:buClr>
                <a:srgbClr val="000000"/>
              </a:buClr>
              <a:buSzPts val="800"/>
              <a:buChar char="■"/>
              <a:defRPr/>
            </a:lvl9pPr>
          </a:lstStyle>
          <a:p>
            <a:endParaRPr/>
          </a:p>
        </p:txBody>
      </p:sp>
      <p:sp>
        <p:nvSpPr>
          <p:cNvPr id="104" name="Google Shape;104;g36deade42ff_0_1402"/>
          <p:cNvSpPr txBox="1">
            <a:spLocks noGrp="1"/>
          </p:cNvSpPr>
          <p:nvPr>
            <p:ph type="sldNum" idx="12"/>
          </p:nvPr>
        </p:nvSpPr>
        <p:spPr>
          <a:xfrm>
            <a:off x="4482789" y="4902398"/>
            <a:ext cx="174900" cy="177300"/>
          </a:xfrm>
          <a:prstGeom prst="rect">
            <a:avLst/>
          </a:prstGeom>
          <a:noFill/>
          <a:ln>
            <a:noFill/>
          </a:ln>
        </p:spPr>
        <p:txBody>
          <a:bodyPr spcFirstLastPara="1" wrap="square" lIns="26775" tIns="26775" rIns="26775" bIns="26775" anchor="t" anchorCtr="0">
            <a:spAutoFit/>
          </a:bodyPr>
          <a:lstStyle>
            <a:lvl1pPr marL="0" marR="0" lvl="0"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800"/>
              <a:buFont typeface="Helvetica Neue Light"/>
              <a:buNone/>
              <a:defRPr sz="80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1000">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105"/>
        <p:cNvGrpSpPr/>
        <p:nvPr/>
      </p:nvGrpSpPr>
      <p:grpSpPr>
        <a:xfrm>
          <a:off x="0" y="0"/>
          <a:ext cx="0" cy="0"/>
          <a:chOff x="0" y="0"/>
          <a:chExt cx="0" cy="0"/>
        </a:xfrm>
      </p:grpSpPr>
      <p:sp>
        <p:nvSpPr>
          <p:cNvPr id="106" name="Google Shape;106;g36deade42ff_0_1406"/>
          <p:cNvSpPr txBox="1">
            <a:spLocks noGrp="1"/>
          </p:cNvSpPr>
          <p:nvPr>
            <p:ph type="sldNum" idx="12"/>
          </p:nvPr>
        </p:nvSpPr>
        <p:spPr>
          <a:xfrm>
            <a:off x="4500562" y="4905375"/>
            <a:ext cx="138300" cy="146100"/>
          </a:xfrm>
          <a:prstGeom prst="rect">
            <a:avLst/>
          </a:prstGeom>
          <a:noFill/>
          <a:ln>
            <a:noFill/>
          </a:ln>
        </p:spPr>
        <p:txBody>
          <a:bodyPr spcFirstLastPara="1" wrap="square" lIns="19050" tIns="19050" rIns="19050" bIns="19050" anchor="b" anchorCtr="0">
            <a:spAutoFit/>
          </a:bodyPr>
          <a:lstStyle>
            <a:lvl1pPr marL="0" lvl="0" indent="0" algn="ctr">
              <a:lnSpc>
                <a:spcPct val="100000"/>
              </a:lnSpc>
              <a:spcBef>
                <a:spcPts val="0"/>
              </a:spcBef>
              <a:spcAft>
                <a:spcPts val="0"/>
              </a:spcAft>
              <a:buClr>
                <a:srgbClr val="000000"/>
              </a:buClr>
              <a:buSzPts val="700"/>
              <a:buFont typeface="Helvetica Neue"/>
              <a:buNone/>
              <a:defRPr sz="700">
                <a:solidFill>
                  <a:srgbClr val="000000"/>
                </a:solidFill>
              </a:defRPr>
            </a:lvl1pPr>
            <a:lvl2pPr marL="0" lvl="1" indent="0" algn="ctr">
              <a:lnSpc>
                <a:spcPct val="100000"/>
              </a:lnSpc>
              <a:spcBef>
                <a:spcPts val="0"/>
              </a:spcBef>
              <a:spcAft>
                <a:spcPts val="0"/>
              </a:spcAft>
              <a:buClr>
                <a:srgbClr val="000000"/>
              </a:buClr>
              <a:buSzPts val="700"/>
              <a:buFont typeface="Helvetica Neue"/>
              <a:buNone/>
              <a:defRPr sz="700">
                <a:solidFill>
                  <a:srgbClr val="000000"/>
                </a:solidFill>
              </a:defRPr>
            </a:lvl2pPr>
            <a:lvl3pPr marL="0" lvl="2" indent="0" algn="ctr">
              <a:lnSpc>
                <a:spcPct val="100000"/>
              </a:lnSpc>
              <a:spcBef>
                <a:spcPts val="0"/>
              </a:spcBef>
              <a:spcAft>
                <a:spcPts val="0"/>
              </a:spcAft>
              <a:buClr>
                <a:srgbClr val="000000"/>
              </a:buClr>
              <a:buSzPts val="700"/>
              <a:buFont typeface="Helvetica Neue"/>
              <a:buNone/>
              <a:defRPr sz="700">
                <a:solidFill>
                  <a:srgbClr val="000000"/>
                </a:solidFill>
              </a:defRPr>
            </a:lvl3pPr>
            <a:lvl4pPr marL="0" lvl="3" indent="0" algn="ctr">
              <a:lnSpc>
                <a:spcPct val="100000"/>
              </a:lnSpc>
              <a:spcBef>
                <a:spcPts val="0"/>
              </a:spcBef>
              <a:spcAft>
                <a:spcPts val="0"/>
              </a:spcAft>
              <a:buClr>
                <a:srgbClr val="000000"/>
              </a:buClr>
              <a:buSzPts val="700"/>
              <a:buFont typeface="Helvetica Neue"/>
              <a:buNone/>
              <a:defRPr sz="700">
                <a:solidFill>
                  <a:srgbClr val="000000"/>
                </a:solidFill>
              </a:defRPr>
            </a:lvl4pPr>
            <a:lvl5pPr marL="0" lvl="4" indent="0" algn="ctr">
              <a:lnSpc>
                <a:spcPct val="100000"/>
              </a:lnSpc>
              <a:spcBef>
                <a:spcPts val="0"/>
              </a:spcBef>
              <a:spcAft>
                <a:spcPts val="0"/>
              </a:spcAft>
              <a:buClr>
                <a:srgbClr val="000000"/>
              </a:buClr>
              <a:buSzPts val="700"/>
              <a:buFont typeface="Helvetica Neue"/>
              <a:buNone/>
              <a:defRPr sz="700">
                <a:solidFill>
                  <a:srgbClr val="000000"/>
                </a:solidFill>
              </a:defRPr>
            </a:lvl5pPr>
            <a:lvl6pPr marL="0" lvl="5" indent="0" algn="ctr">
              <a:lnSpc>
                <a:spcPct val="100000"/>
              </a:lnSpc>
              <a:spcBef>
                <a:spcPts val="0"/>
              </a:spcBef>
              <a:spcAft>
                <a:spcPts val="0"/>
              </a:spcAft>
              <a:buClr>
                <a:srgbClr val="000000"/>
              </a:buClr>
              <a:buSzPts val="700"/>
              <a:buFont typeface="Helvetica Neue"/>
              <a:buNone/>
              <a:defRPr sz="700">
                <a:solidFill>
                  <a:srgbClr val="000000"/>
                </a:solidFill>
              </a:defRPr>
            </a:lvl6pPr>
            <a:lvl7pPr marL="0" lvl="6" indent="0" algn="ctr">
              <a:lnSpc>
                <a:spcPct val="100000"/>
              </a:lnSpc>
              <a:spcBef>
                <a:spcPts val="0"/>
              </a:spcBef>
              <a:spcAft>
                <a:spcPts val="0"/>
              </a:spcAft>
              <a:buClr>
                <a:srgbClr val="000000"/>
              </a:buClr>
              <a:buSzPts val="700"/>
              <a:buFont typeface="Helvetica Neue"/>
              <a:buNone/>
              <a:defRPr sz="700">
                <a:solidFill>
                  <a:srgbClr val="000000"/>
                </a:solidFill>
              </a:defRPr>
            </a:lvl7pPr>
            <a:lvl8pPr marL="0" lvl="7" indent="0" algn="ctr">
              <a:lnSpc>
                <a:spcPct val="100000"/>
              </a:lnSpc>
              <a:spcBef>
                <a:spcPts val="0"/>
              </a:spcBef>
              <a:spcAft>
                <a:spcPts val="0"/>
              </a:spcAft>
              <a:buClr>
                <a:srgbClr val="000000"/>
              </a:buClr>
              <a:buSzPts val="700"/>
              <a:buFont typeface="Helvetica Neue"/>
              <a:buNone/>
              <a:defRPr sz="700">
                <a:solidFill>
                  <a:srgbClr val="000000"/>
                </a:solidFill>
              </a:defRPr>
            </a:lvl8pPr>
            <a:lvl9pPr marL="0" lvl="8" indent="0" algn="ctr">
              <a:lnSpc>
                <a:spcPct val="100000"/>
              </a:lnSpc>
              <a:spcBef>
                <a:spcPts val="0"/>
              </a:spcBef>
              <a:spcAft>
                <a:spcPts val="0"/>
              </a:spcAft>
              <a:buClr>
                <a:srgbClr val="000000"/>
              </a:buClr>
              <a:buSzPts val="700"/>
              <a:buFont typeface="Helvetica Neue"/>
              <a:buNone/>
              <a:defRPr sz="700">
                <a:solidFill>
                  <a:srgbClr val="000000"/>
                </a:solidFill>
              </a:defRPr>
            </a:lvl9pPr>
          </a:lstStyle>
          <a:p>
            <a:pPr marL="0" lvl="0" indent="0" algn="ctr" rtl="0">
              <a:spcBef>
                <a:spcPts val="0"/>
              </a:spcBef>
              <a:spcAft>
                <a:spcPts val="0"/>
              </a:spcAft>
              <a:buNone/>
            </a:pPr>
            <a:fld id="{00000000-1234-1234-1234-123412341234}" type="slidenum">
              <a:rPr lang="en"/>
              <a:t>‹#›</a:t>
            </a:fld>
            <a:endParaRPr sz="1000">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g36deade42ff_0_135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8" name="Google Shape;58;g36deade42ff_0_135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9" name="Google Shape;59;g36deade42ff_0_13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hyperlink" Target="https://docs.google.com/document/d/1m1GAYVJLR2WueXbKJRGtXC2HRtq9rfFpHO802sllTvg/edit?tab=t.0" TargetMode="External"/><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6.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a:spLocks noGrp="1"/>
          </p:cNvSpPr>
          <p:nvPr>
            <p:ph type="body" idx="2"/>
          </p:nvPr>
        </p:nvSpPr>
        <p:spPr>
          <a:xfrm>
            <a:off x="1418073" y="1422943"/>
            <a:ext cx="6668100" cy="1162200"/>
          </a:xfrm>
          <a:prstGeom prst="rect">
            <a:avLst/>
          </a:prstGeom>
          <a:noFill/>
          <a:ln>
            <a:noFill/>
          </a:ln>
        </p:spPr>
        <p:txBody>
          <a:bodyPr spcFirstLastPara="1" wrap="square" lIns="26775" tIns="26775" rIns="26775" bIns="26775" anchor="ctr" anchorCtr="0">
            <a:spAutoFit/>
          </a:bodyPr>
          <a:lstStyle/>
          <a:p>
            <a:pPr marL="0" marR="0" lvl="0" indent="0" algn="ctr" rtl="0">
              <a:lnSpc>
                <a:spcPct val="90000"/>
              </a:lnSpc>
              <a:spcBef>
                <a:spcPts val="0"/>
              </a:spcBef>
              <a:spcAft>
                <a:spcPts val="0"/>
              </a:spcAft>
              <a:buClr>
                <a:srgbClr val="000000"/>
              </a:buClr>
              <a:buSzPts val="3200"/>
              <a:buFont typeface="Lato"/>
              <a:buNone/>
            </a:pPr>
            <a:r>
              <a:rPr lang="en" sz="4000" b="1" dirty="0">
                <a:latin typeface="Lato"/>
                <a:ea typeface="Lato"/>
                <a:cs typeface="Lato"/>
                <a:sym typeface="Lato"/>
              </a:rPr>
              <a:t>Library QC for ONT metagenomics</a:t>
            </a:r>
            <a:endParaRPr sz="4000" dirty="0"/>
          </a:p>
        </p:txBody>
      </p:sp>
      <p:sp>
        <p:nvSpPr>
          <p:cNvPr id="2" name="TextBox 1">
            <a:extLst>
              <a:ext uri="{FF2B5EF4-FFF2-40B4-BE49-F238E27FC236}">
                <a16:creationId xmlns:a16="http://schemas.microsoft.com/office/drawing/2014/main" id="{C3119736-9FB1-4067-756F-727EA8942015}"/>
              </a:ext>
            </a:extLst>
          </p:cNvPr>
          <p:cNvSpPr txBox="1"/>
          <p:nvPr/>
        </p:nvSpPr>
        <p:spPr>
          <a:xfrm>
            <a:off x="6567055" y="4745967"/>
            <a:ext cx="2657302"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Updated January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g36deade42ff_0_704"/>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Library Quality Control (QC)</a:t>
            </a:r>
            <a:endParaRPr/>
          </a:p>
        </p:txBody>
      </p:sp>
      <p:sp>
        <p:nvSpPr>
          <p:cNvPr id="117" name="Google Shape;117;g36deade42ff_0_704"/>
          <p:cNvSpPr txBox="1"/>
          <p:nvPr/>
        </p:nvSpPr>
        <p:spPr>
          <a:xfrm>
            <a:off x="642950" y="1156475"/>
            <a:ext cx="8088000" cy="3181800"/>
          </a:xfrm>
          <a:prstGeom prst="rect">
            <a:avLst/>
          </a:prstGeom>
          <a:noFill/>
          <a:ln>
            <a:noFill/>
          </a:ln>
        </p:spPr>
        <p:txBody>
          <a:bodyPr spcFirstLastPara="1" wrap="square" lIns="26775" tIns="26775" rIns="26775" bIns="26775" anchor="t" anchorCtr="0">
            <a:normAutofit/>
          </a:bodyPr>
          <a:lstStyle/>
          <a:p>
            <a:pPr marL="457200" lvl="0" indent="-323850" algn="l" rtl="0">
              <a:spcBef>
                <a:spcPts val="1000"/>
              </a:spcBef>
              <a:spcAft>
                <a:spcPts val="0"/>
              </a:spcAft>
              <a:buClr>
                <a:schemeClr val="dk1"/>
              </a:buClr>
              <a:buSzPts val="1500"/>
              <a:buChar char="●"/>
            </a:pPr>
            <a:r>
              <a:rPr lang="en" sz="1500">
                <a:solidFill>
                  <a:schemeClr val="dk1"/>
                </a:solidFill>
              </a:rPr>
              <a:t>The purpose of QC is to ensure that there is sufficient and good quality library for sequencing. </a:t>
            </a:r>
            <a:endParaRPr sz="1500">
              <a:solidFill>
                <a:schemeClr val="dk1"/>
              </a:solidFill>
            </a:endParaRPr>
          </a:p>
          <a:p>
            <a:pPr marL="457200" lvl="0" indent="-323850" algn="l" rtl="0">
              <a:spcBef>
                <a:spcPts val="1000"/>
              </a:spcBef>
              <a:spcAft>
                <a:spcPts val="0"/>
              </a:spcAft>
              <a:buClr>
                <a:schemeClr val="dk1"/>
              </a:buClr>
              <a:buSzPts val="1500"/>
              <a:buChar char="●"/>
            </a:pPr>
            <a:r>
              <a:rPr lang="en" sz="1500">
                <a:solidFill>
                  <a:schemeClr val="dk1"/>
                </a:solidFill>
              </a:rPr>
              <a:t>Quantity (concentration)</a:t>
            </a:r>
            <a:endParaRPr sz="1500">
              <a:solidFill>
                <a:schemeClr val="dk1"/>
              </a:solidFill>
            </a:endParaRPr>
          </a:p>
          <a:p>
            <a:pPr marL="914400" lvl="1" indent="-311150" algn="l" rtl="0">
              <a:spcBef>
                <a:spcPts val="1000"/>
              </a:spcBef>
              <a:spcAft>
                <a:spcPts val="0"/>
              </a:spcAft>
              <a:buClr>
                <a:schemeClr val="dk1"/>
              </a:buClr>
              <a:buSzPts val="1300"/>
              <a:buChar char="○"/>
            </a:pPr>
            <a:r>
              <a:rPr lang="en" sz="1300">
                <a:solidFill>
                  <a:schemeClr val="dk1"/>
                </a:solidFill>
              </a:rPr>
              <a:t>Amount of library is measured using Qubit (or other fluorescence based method)</a:t>
            </a:r>
            <a:endParaRPr sz="1300">
              <a:solidFill>
                <a:schemeClr val="dk1"/>
              </a:solidFill>
            </a:endParaRPr>
          </a:p>
          <a:p>
            <a:pPr marL="457200" lvl="0" indent="-323850" algn="l" rtl="0">
              <a:spcBef>
                <a:spcPts val="1000"/>
              </a:spcBef>
              <a:spcAft>
                <a:spcPts val="0"/>
              </a:spcAft>
              <a:buClr>
                <a:schemeClr val="dk1"/>
              </a:buClr>
              <a:buSzPts val="1500"/>
              <a:buChar char="●"/>
            </a:pPr>
            <a:r>
              <a:rPr lang="en" sz="1500">
                <a:solidFill>
                  <a:schemeClr val="dk1"/>
                </a:solidFill>
              </a:rPr>
              <a:t>Quality (length)</a:t>
            </a:r>
            <a:endParaRPr sz="1500">
              <a:solidFill>
                <a:schemeClr val="dk1"/>
              </a:solidFill>
            </a:endParaRPr>
          </a:p>
          <a:p>
            <a:pPr marL="914400" lvl="1" indent="-311150" algn="l" rtl="0">
              <a:spcBef>
                <a:spcPts val="1000"/>
              </a:spcBef>
              <a:spcAft>
                <a:spcPts val="0"/>
              </a:spcAft>
              <a:buClr>
                <a:schemeClr val="dk1"/>
              </a:buClr>
              <a:buSzPts val="1300"/>
              <a:buChar char="○"/>
            </a:pPr>
            <a:r>
              <a:rPr lang="en" sz="1300">
                <a:solidFill>
                  <a:schemeClr val="dk1"/>
                </a:solidFill>
              </a:rPr>
              <a:t>Measured using capillary electrophoresis (Tapestation, Bioanalyzer, Fragment Analyzer)</a:t>
            </a:r>
            <a:endParaRPr sz="1300">
              <a:solidFill>
                <a:schemeClr val="dk1"/>
              </a:solidFill>
            </a:endParaRPr>
          </a:p>
          <a:p>
            <a:pPr marL="914400" lvl="1" indent="-311150" algn="l" rtl="0">
              <a:spcBef>
                <a:spcPts val="600"/>
              </a:spcBef>
              <a:spcAft>
                <a:spcPts val="0"/>
              </a:spcAft>
              <a:buClr>
                <a:schemeClr val="dk1"/>
              </a:buClr>
              <a:buSzPts val="1300"/>
              <a:buChar char="○"/>
            </a:pPr>
            <a:r>
              <a:rPr lang="en" sz="1300">
                <a:solidFill>
                  <a:schemeClr val="dk1"/>
                </a:solidFill>
              </a:rPr>
              <a:t>If capillary electrophoresis is unavailable, regular gel electrophoresis may be used with a diagnostic PCR</a:t>
            </a:r>
            <a:endParaRPr sz="1300">
              <a:solidFill>
                <a:schemeClr val="dk1"/>
              </a:solidFill>
            </a:endParaRPr>
          </a:p>
          <a:p>
            <a:pPr marL="0" marR="0" lvl="1" indent="177800" algn="l" rtl="0">
              <a:lnSpc>
                <a:spcPct val="100000"/>
              </a:lnSpc>
              <a:spcBef>
                <a:spcPts val="600"/>
              </a:spcBef>
              <a:spcAft>
                <a:spcPts val="0"/>
              </a:spcAft>
              <a:buClr>
                <a:srgbClr val="000000"/>
              </a:buClr>
              <a:buSzPts val="1200"/>
              <a:buFont typeface="Lato"/>
              <a:buNone/>
            </a:pPr>
            <a:endParaRPr sz="1200">
              <a:latin typeface="Lato"/>
              <a:ea typeface="Lato"/>
              <a:cs typeface="Lato"/>
              <a:sym typeface="Lato"/>
            </a:endParaRPr>
          </a:p>
          <a:p>
            <a:pPr marL="0" marR="0" lvl="1" indent="177800" algn="l" rtl="0">
              <a:lnSpc>
                <a:spcPct val="100000"/>
              </a:lnSpc>
              <a:spcBef>
                <a:spcPts val="0"/>
              </a:spcBef>
              <a:spcAft>
                <a:spcPts val="0"/>
              </a:spcAft>
              <a:buClr>
                <a:srgbClr val="000000"/>
              </a:buClr>
              <a:buSzPts val="1200"/>
              <a:buFont typeface="Lato"/>
              <a:buNone/>
            </a:pPr>
            <a:endParaRPr sz="1200">
              <a:latin typeface="Lato"/>
              <a:ea typeface="Lato"/>
              <a:cs typeface="Lato"/>
              <a:sym typeface="Lato"/>
            </a:endParaRPr>
          </a:p>
          <a:p>
            <a:pPr marL="0" marR="0" lvl="0" indent="0" algn="l" rtl="0">
              <a:lnSpc>
                <a:spcPct val="100000"/>
              </a:lnSpc>
              <a:spcBef>
                <a:spcPts val="900"/>
              </a:spcBef>
              <a:spcAft>
                <a:spcPts val="0"/>
              </a:spcAft>
              <a:buClr>
                <a:srgbClr val="000000"/>
              </a:buClr>
              <a:buSzPts val="1200"/>
              <a:buFont typeface="Lato"/>
              <a:buNone/>
            </a:pPr>
            <a:endParaRPr sz="1200" b="0" i="0" u="none" strike="noStrike" cap="none">
              <a:solidFill>
                <a:srgbClr val="000000"/>
              </a:solidFill>
              <a:latin typeface="Lato"/>
              <a:ea typeface="Lato"/>
              <a:cs typeface="Lato"/>
              <a:sym typeface="Lato"/>
            </a:endParaRPr>
          </a:p>
        </p:txBody>
      </p:sp>
      <p:pic>
        <p:nvPicPr>
          <p:cNvPr id="118" name="Google Shape;118;g36deade42ff_0_704"/>
          <p:cNvPicPr preferRelativeResize="0"/>
          <p:nvPr/>
        </p:nvPicPr>
        <p:blipFill>
          <a:blip r:embed="rId3">
            <a:alphaModFix/>
          </a:blip>
          <a:stretch>
            <a:fillRect/>
          </a:stretch>
        </p:blipFill>
        <p:spPr>
          <a:xfrm>
            <a:off x="1590600" y="3827079"/>
            <a:ext cx="6109676" cy="1139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g36deade42ff_0_710"/>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124" name="Google Shape;124;g36deade42ff_0_710"/>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125" name="Google Shape;125;g36deade42ff_0_710"/>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126" name="Google Shape;126;g36deade42ff_0_710"/>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127" name="Google Shape;127;g36deade42ff_0_710"/>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128" name="Google Shape;128;g36deade42ff_0_710"/>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129" name="Google Shape;129;g36deade42ff_0_710"/>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130" name="Google Shape;130;g36deade42ff_0_710"/>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131" name="Google Shape;131;g36deade42ff_0_710"/>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132" name="Google Shape;132;g36deade42ff_0_710"/>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133" name="Google Shape;133;g36deade42ff_0_710"/>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134" name="Google Shape;134;g36deade42ff_0_710"/>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cxnSp>
        <p:nvCxnSpPr>
          <p:cNvPr id="135" name="Google Shape;135;g36deade42ff_0_710"/>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136" name="Google Shape;136;g36deade42ff_0_710"/>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137" name="Google Shape;137;g36deade42ff_0_710"/>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138" name="Google Shape;138;g36deade42ff_0_710"/>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139" name="Google Shape;139;g36deade42ff_0_710"/>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0" name="Google Shape;140;g36deade42ff_0_710"/>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1" name="Google Shape;141;g36deade42ff_0_710"/>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2" name="Google Shape;142;g36deade42ff_0_710"/>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143" name="Google Shape;143;g36deade42ff_0_710"/>
          <p:cNvSpPr txBox="1"/>
          <p:nvPr/>
        </p:nvSpPr>
        <p:spPr>
          <a:xfrm>
            <a:off x="2637025" y="106051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1</a:t>
            </a:r>
            <a:endParaRPr b="1">
              <a:solidFill>
                <a:srgbClr val="FF0000"/>
              </a:solidFill>
            </a:endParaRPr>
          </a:p>
        </p:txBody>
      </p:sp>
      <p:sp>
        <p:nvSpPr>
          <p:cNvPr id="144" name="Google Shape;144;g36deade42ff_0_710"/>
          <p:cNvSpPr/>
          <p:nvPr/>
        </p:nvSpPr>
        <p:spPr>
          <a:xfrm>
            <a:off x="2584800" y="104437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sp>
        <p:nvSpPr>
          <p:cNvPr id="145" name="Google Shape;145;g36deade42ff_0_710"/>
          <p:cNvSpPr txBox="1"/>
          <p:nvPr/>
        </p:nvSpPr>
        <p:spPr>
          <a:xfrm>
            <a:off x="6145000" y="2468063"/>
            <a:ext cx="74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QC 2</a:t>
            </a:r>
            <a:endParaRPr b="1">
              <a:solidFill>
                <a:srgbClr val="FF0000"/>
              </a:solidFill>
            </a:endParaRPr>
          </a:p>
        </p:txBody>
      </p:sp>
      <p:sp>
        <p:nvSpPr>
          <p:cNvPr id="146" name="Google Shape;146;g36deade42ff_0_710"/>
          <p:cNvSpPr/>
          <p:nvPr/>
        </p:nvSpPr>
        <p:spPr>
          <a:xfrm>
            <a:off x="6092775" y="2451925"/>
            <a:ext cx="744000" cy="400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rgbClr val="FF0000"/>
              </a:solidFill>
            </a:endParaRPr>
          </a:p>
        </p:txBody>
      </p:sp>
      <p:pic>
        <p:nvPicPr>
          <p:cNvPr id="147" name="Google Shape;147;g36deade42ff_0_710"/>
          <p:cNvPicPr preferRelativeResize="0"/>
          <p:nvPr/>
        </p:nvPicPr>
        <p:blipFill>
          <a:blip r:embed="rId4">
            <a:alphaModFix/>
          </a:blip>
          <a:stretch>
            <a:fillRect/>
          </a:stretch>
        </p:blipFill>
        <p:spPr>
          <a:xfrm>
            <a:off x="7966125" y="2941570"/>
            <a:ext cx="1030500" cy="759716"/>
          </a:xfrm>
          <a:prstGeom prst="rect">
            <a:avLst/>
          </a:prstGeom>
          <a:noFill/>
          <a:ln>
            <a:noFill/>
          </a:ln>
        </p:spPr>
      </p:pic>
      <p:sp>
        <p:nvSpPr>
          <p:cNvPr id="148" name="Google Shape;148;g36deade42ff_0_710"/>
          <p:cNvSpPr txBox="1">
            <a:spLocks noGrp="1"/>
          </p:cNvSpPr>
          <p:nvPr>
            <p:ph type="title" idx="4294967295"/>
          </p:nvPr>
        </p:nvSpPr>
        <p:spPr>
          <a:xfrm>
            <a:off x="212079" y="328166"/>
            <a:ext cx="8763900" cy="414000"/>
          </a:xfrm>
          <a:prstGeom prst="rect">
            <a:avLst/>
          </a:prstGeom>
          <a:noFill/>
          <a:ln>
            <a:noFill/>
          </a:ln>
        </p:spPr>
        <p:txBody>
          <a:bodyPr spcFirstLastPara="1" wrap="square" lIns="26775" tIns="26775" rIns="26775" bIns="26775" anchor="t" anchorCtr="0">
            <a:normAutofit/>
          </a:bodyPr>
          <a:lstStyle/>
          <a:p>
            <a:pPr marL="0" marR="0" lvl="0" indent="0" algn="ctr" rtl="0">
              <a:lnSpc>
                <a:spcPct val="100000"/>
              </a:lnSpc>
              <a:spcBef>
                <a:spcPts val="0"/>
              </a:spcBef>
              <a:spcAft>
                <a:spcPts val="0"/>
              </a:spcAft>
              <a:buClr>
                <a:srgbClr val="000000"/>
              </a:buClr>
              <a:buSzPts val="2100"/>
              <a:buFont typeface="Lato"/>
              <a:buNone/>
            </a:pPr>
            <a:r>
              <a:rPr lang="en" sz="2100" b="1">
                <a:latin typeface="Lato"/>
                <a:ea typeface="Lato"/>
                <a:cs typeface="Lato"/>
                <a:sym typeface="Lato"/>
              </a:rPr>
              <a:t>Overview of Library QC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6deade42ff_0_739"/>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g36deade42ff_0_739"/>
          <p:cNvSpPr txBox="1">
            <a:spLocks noGrp="1"/>
          </p:cNvSpPr>
          <p:nvPr>
            <p:ph type="title"/>
          </p:nvPr>
        </p:nvSpPr>
        <p:spPr>
          <a:xfrm>
            <a:off x="115150" y="93725"/>
            <a:ext cx="8800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prep QC</a:t>
            </a:r>
            <a:endParaRPr sz="2100" b="1">
              <a:latin typeface="Lato"/>
              <a:ea typeface="Lato"/>
              <a:cs typeface="Lato"/>
              <a:sym typeface="Lato"/>
            </a:endParaRPr>
          </a:p>
        </p:txBody>
      </p:sp>
      <p:sp>
        <p:nvSpPr>
          <p:cNvPr id="155" name="Google Shape;155;g36deade42ff_0_739"/>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156" name="Google Shape;156;g36deade42ff_0_739"/>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157" name="Google Shape;157;g36deade42ff_0_739"/>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158" name="Google Shape;158;g36deade42ff_0_739"/>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159" name="Google Shape;159;g36deade42ff_0_739"/>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160" name="Google Shape;160;g36deade42ff_0_739"/>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161" name="Google Shape;161;g36deade42ff_0_739"/>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162" name="Google Shape;162;g36deade42ff_0_739"/>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163" name="Google Shape;163;g36deade42ff_0_739"/>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164" name="Google Shape;164;g36deade42ff_0_739"/>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165" name="Google Shape;165;g36deade42ff_0_739"/>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166" name="Google Shape;166;g36deade42ff_0_739"/>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167" name="Google Shape;167;g36deade42ff_0_739"/>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168" name="Google Shape;168;g36deade42ff_0_739"/>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169" name="Google Shape;169;g36deade42ff_0_739"/>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170" name="Google Shape;170;g36deade42ff_0_739"/>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171" name="Google Shape;171;g36deade42ff_0_739"/>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172" name="Google Shape;172;g36deade42ff_0_739"/>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173" name="Google Shape;173;g36deade42ff_0_739"/>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174" name="Google Shape;174;g36deade42ff_0_739"/>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175" name="Google Shape;175;g36deade42ff_0_739"/>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176" name="Google Shape;176;g36deade42ff_0_739"/>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177" name="Google Shape;177;g36deade42ff_0_739"/>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178" name="Google Shape;178;g36deade42ff_0_739"/>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179" name="Google Shape;179;g36deade42ff_0_739"/>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180" name="Google Shape;180;g36deade42ff_0_739"/>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181" name="Google Shape;181;g36deade42ff_0_739"/>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182" name="Google Shape;182;g36deade42ff_0_739"/>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183" name="Google Shape;183;g36deade42ff_0_739"/>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184" name="Google Shape;184;g36deade42ff_0_739"/>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185" name="Google Shape;185;g36deade42ff_0_739"/>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186" name="Google Shape;186;g36deade42ff_0_739"/>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187" name="Google Shape;187;g36deade42ff_0_739"/>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188" name="Google Shape;188;g36deade42ff_0_739"/>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189" name="Google Shape;189;g36deade42ff_0_739"/>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190" name="Google Shape;190;g36deade42ff_0_739"/>
          <p:cNvGrpSpPr/>
          <p:nvPr/>
        </p:nvGrpSpPr>
        <p:grpSpPr>
          <a:xfrm>
            <a:off x="281913" y="1634388"/>
            <a:ext cx="2366199" cy="308375"/>
            <a:chOff x="281913" y="1862988"/>
            <a:chExt cx="2366199" cy="308375"/>
          </a:xfrm>
        </p:grpSpPr>
        <p:pic>
          <p:nvPicPr>
            <p:cNvPr id="191" name="Google Shape;191;g36deade42ff_0_739"/>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192" name="Google Shape;192;g36deade42ff_0_739"/>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193" name="Google Shape;193;g36deade42ff_0_739"/>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194" name="Google Shape;194;g36deade42ff_0_739"/>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195" name="Google Shape;195;g36deade42ff_0_739"/>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196" name="Google Shape;196;g36deade42ff_0_739"/>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197" name="Google Shape;197;g36deade42ff_0_739"/>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198" name="Google Shape;198;g36deade42ff_0_739"/>
          <p:cNvGrpSpPr/>
          <p:nvPr/>
        </p:nvGrpSpPr>
        <p:grpSpPr>
          <a:xfrm>
            <a:off x="3193413" y="1634388"/>
            <a:ext cx="2366199" cy="308375"/>
            <a:chOff x="3159638" y="1911975"/>
            <a:chExt cx="2366199" cy="308375"/>
          </a:xfrm>
        </p:grpSpPr>
        <p:pic>
          <p:nvPicPr>
            <p:cNvPr id="199" name="Google Shape;199;g36deade42ff_0_739"/>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200" name="Google Shape;200;g36deade42ff_0_739"/>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201" name="Google Shape;201;g36deade42ff_0_739"/>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202" name="Google Shape;202;g36deade42ff_0_739"/>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203" name="Google Shape;203;g36deade42ff_0_739"/>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204" name="Google Shape;204;g36deade42ff_0_739"/>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205" name="Google Shape;205;g36deade42ff_0_739"/>
          <p:cNvGrpSpPr/>
          <p:nvPr/>
        </p:nvGrpSpPr>
        <p:grpSpPr>
          <a:xfrm>
            <a:off x="4037313" y="2450650"/>
            <a:ext cx="1583916" cy="69900"/>
            <a:chOff x="4037313" y="3136450"/>
            <a:chExt cx="1583916" cy="69900"/>
          </a:xfrm>
        </p:grpSpPr>
        <p:pic>
          <p:nvPicPr>
            <p:cNvPr id="206" name="Google Shape;206;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07" name="Google Shape;207;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08" name="Google Shape;208;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09" name="Google Shape;209;g36deade42ff_0_739"/>
          <p:cNvGrpSpPr/>
          <p:nvPr/>
        </p:nvGrpSpPr>
        <p:grpSpPr>
          <a:xfrm>
            <a:off x="3244063" y="2587938"/>
            <a:ext cx="1583916" cy="69900"/>
            <a:chOff x="4037313" y="3136450"/>
            <a:chExt cx="1583916" cy="69900"/>
          </a:xfrm>
        </p:grpSpPr>
        <p:pic>
          <p:nvPicPr>
            <p:cNvPr id="210" name="Google Shape;210;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11" name="Google Shape;211;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12" name="Google Shape;212;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13" name="Google Shape;213;g36deade42ff_0_739"/>
          <p:cNvGrpSpPr/>
          <p:nvPr/>
        </p:nvGrpSpPr>
        <p:grpSpPr>
          <a:xfrm>
            <a:off x="3968338" y="2725225"/>
            <a:ext cx="1583916" cy="69900"/>
            <a:chOff x="4037313" y="3136450"/>
            <a:chExt cx="1583916" cy="69900"/>
          </a:xfrm>
        </p:grpSpPr>
        <p:pic>
          <p:nvPicPr>
            <p:cNvPr id="214" name="Google Shape;214;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15" name="Google Shape;215;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16" name="Google Shape;216;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17" name="Google Shape;217;g36deade42ff_0_739"/>
          <p:cNvGrpSpPr/>
          <p:nvPr/>
        </p:nvGrpSpPr>
        <p:grpSpPr>
          <a:xfrm>
            <a:off x="3618363" y="2862513"/>
            <a:ext cx="1583916" cy="69900"/>
            <a:chOff x="4037313" y="3136450"/>
            <a:chExt cx="1583916" cy="69900"/>
          </a:xfrm>
        </p:grpSpPr>
        <p:pic>
          <p:nvPicPr>
            <p:cNvPr id="218" name="Google Shape;218;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19" name="Google Shape;219;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20" name="Google Shape;220;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221" name="Google Shape;221;g36deade42ff_0_739"/>
          <p:cNvGrpSpPr/>
          <p:nvPr/>
        </p:nvGrpSpPr>
        <p:grpSpPr>
          <a:xfrm>
            <a:off x="3319063" y="2999800"/>
            <a:ext cx="1583916" cy="69900"/>
            <a:chOff x="4037313" y="3136450"/>
            <a:chExt cx="1583916" cy="69900"/>
          </a:xfrm>
        </p:grpSpPr>
        <p:pic>
          <p:nvPicPr>
            <p:cNvPr id="222" name="Google Shape;222;g36deade42ff_0_739"/>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223" name="Google Shape;223;g36deade42ff_0_739"/>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224" name="Google Shape;224;g36deade42ff_0_739"/>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225" name="Google Shape;225;g36deade42ff_0_739"/>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226" name="Google Shape;226;g36deade42ff_0_739"/>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227" name="Google Shape;227;g36deade42ff_0_739"/>
          <p:cNvGrpSpPr/>
          <p:nvPr/>
        </p:nvGrpSpPr>
        <p:grpSpPr>
          <a:xfrm>
            <a:off x="3709954" y="3422048"/>
            <a:ext cx="486765" cy="69900"/>
            <a:chOff x="3581517" y="4234748"/>
            <a:chExt cx="486765" cy="69900"/>
          </a:xfrm>
        </p:grpSpPr>
        <p:pic>
          <p:nvPicPr>
            <p:cNvPr id="228" name="Google Shape;228;g36deade42ff_0_739"/>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229" name="Google Shape;229;g36deade42ff_0_739"/>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230" name="Google Shape;230;g36deade42ff_0_739"/>
          <p:cNvGrpSpPr/>
          <p:nvPr/>
        </p:nvGrpSpPr>
        <p:grpSpPr>
          <a:xfrm>
            <a:off x="3996079" y="3599948"/>
            <a:ext cx="486765" cy="69900"/>
            <a:chOff x="3867642" y="4412648"/>
            <a:chExt cx="486765" cy="69900"/>
          </a:xfrm>
        </p:grpSpPr>
        <p:pic>
          <p:nvPicPr>
            <p:cNvPr id="231" name="Google Shape;231;g36deade42ff_0_739"/>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232" name="Google Shape;232;g36deade42ff_0_739"/>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233" name="Google Shape;233;g36deade42ff_0_739"/>
          <p:cNvGrpSpPr/>
          <p:nvPr/>
        </p:nvGrpSpPr>
        <p:grpSpPr>
          <a:xfrm>
            <a:off x="4363804" y="3477123"/>
            <a:ext cx="486765" cy="69900"/>
            <a:chOff x="4235367" y="4289823"/>
            <a:chExt cx="486765" cy="69900"/>
          </a:xfrm>
        </p:grpSpPr>
        <p:pic>
          <p:nvPicPr>
            <p:cNvPr id="234" name="Google Shape;234;g36deade42ff_0_739"/>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235" name="Google Shape;235;g36deade42ff_0_739"/>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236" name="Google Shape;236;g36deade42ff_0_739"/>
          <p:cNvGrpSpPr/>
          <p:nvPr/>
        </p:nvGrpSpPr>
        <p:grpSpPr>
          <a:xfrm>
            <a:off x="6789551" y="2380750"/>
            <a:ext cx="417498" cy="69900"/>
            <a:chOff x="4495488" y="4546300"/>
            <a:chExt cx="417498" cy="69900"/>
          </a:xfrm>
        </p:grpSpPr>
        <p:pic>
          <p:nvPicPr>
            <p:cNvPr id="237" name="Google Shape;237;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38" name="Google Shape;238;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39" name="Google Shape;239;g36deade42ff_0_739"/>
          <p:cNvGrpSpPr/>
          <p:nvPr/>
        </p:nvGrpSpPr>
        <p:grpSpPr>
          <a:xfrm>
            <a:off x="4079779" y="3807123"/>
            <a:ext cx="486765" cy="69900"/>
            <a:chOff x="3951342" y="4619823"/>
            <a:chExt cx="486765" cy="69900"/>
          </a:xfrm>
        </p:grpSpPr>
        <p:pic>
          <p:nvPicPr>
            <p:cNvPr id="240" name="Google Shape;240;g36deade42ff_0_739"/>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241" name="Google Shape;241;g36deade42ff_0_739"/>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242" name="Google Shape;242;g36deade42ff_0_739"/>
          <p:cNvGrpSpPr/>
          <p:nvPr/>
        </p:nvGrpSpPr>
        <p:grpSpPr>
          <a:xfrm>
            <a:off x="6487113" y="1634388"/>
            <a:ext cx="2366199" cy="308375"/>
            <a:chOff x="3159638" y="1911975"/>
            <a:chExt cx="2366199" cy="308375"/>
          </a:xfrm>
        </p:grpSpPr>
        <p:pic>
          <p:nvPicPr>
            <p:cNvPr id="243" name="Google Shape;243;g36deade42ff_0_739"/>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244" name="Google Shape;244;g36deade42ff_0_739"/>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245" name="Google Shape;245;g36deade42ff_0_739"/>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246" name="Google Shape;246;g36deade42ff_0_739"/>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247" name="Google Shape;247;g36deade42ff_0_739"/>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248" name="Google Shape;248;g36deade42ff_0_739"/>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249" name="Google Shape;249;g36deade42ff_0_739"/>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250" name="Google Shape;250;g36deade42ff_0_739"/>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251" name="Google Shape;251;g36deade42ff_0_739"/>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252" name="Google Shape;252;g36deade42ff_0_739"/>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253" name="Google Shape;253;g36deade42ff_0_739"/>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254" name="Google Shape;254;g36deade42ff_0_739"/>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255" name="Google Shape;255;g36deade42ff_0_739"/>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256" name="Google Shape;256;g36deade42ff_0_739"/>
          <p:cNvGrpSpPr/>
          <p:nvPr/>
        </p:nvGrpSpPr>
        <p:grpSpPr>
          <a:xfrm>
            <a:off x="4585892" y="3696623"/>
            <a:ext cx="486765" cy="69900"/>
            <a:chOff x="4235367" y="4289823"/>
            <a:chExt cx="486765" cy="69900"/>
          </a:xfrm>
        </p:grpSpPr>
        <p:pic>
          <p:nvPicPr>
            <p:cNvPr id="257" name="Google Shape;257;g36deade42ff_0_739"/>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258" name="Google Shape;258;g36deade42ff_0_739"/>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259" name="Google Shape;259;g36deade42ff_0_739"/>
          <p:cNvGrpSpPr/>
          <p:nvPr/>
        </p:nvGrpSpPr>
        <p:grpSpPr>
          <a:xfrm>
            <a:off x="8073451" y="2422475"/>
            <a:ext cx="417498" cy="69900"/>
            <a:chOff x="4495488" y="4546300"/>
            <a:chExt cx="417498" cy="69900"/>
          </a:xfrm>
        </p:grpSpPr>
        <p:pic>
          <p:nvPicPr>
            <p:cNvPr id="260" name="Google Shape;260;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61" name="Google Shape;261;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62" name="Google Shape;262;g36deade42ff_0_739"/>
          <p:cNvGrpSpPr/>
          <p:nvPr/>
        </p:nvGrpSpPr>
        <p:grpSpPr>
          <a:xfrm>
            <a:off x="6819226" y="2865025"/>
            <a:ext cx="417498" cy="69900"/>
            <a:chOff x="4495488" y="4546300"/>
            <a:chExt cx="417498" cy="69900"/>
          </a:xfrm>
        </p:grpSpPr>
        <p:pic>
          <p:nvPicPr>
            <p:cNvPr id="263" name="Google Shape;263;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64" name="Google Shape;264;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65" name="Google Shape;265;g36deade42ff_0_739"/>
          <p:cNvGrpSpPr/>
          <p:nvPr/>
        </p:nvGrpSpPr>
        <p:grpSpPr>
          <a:xfrm>
            <a:off x="7538426" y="3008925"/>
            <a:ext cx="417498" cy="69900"/>
            <a:chOff x="4495488" y="4546300"/>
            <a:chExt cx="417498" cy="69900"/>
          </a:xfrm>
        </p:grpSpPr>
        <p:pic>
          <p:nvPicPr>
            <p:cNvPr id="266" name="Google Shape;266;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67" name="Google Shape;267;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68" name="Google Shape;268;g36deade42ff_0_739"/>
          <p:cNvGrpSpPr/>
          <p:nvPr/>
        </p:nvGrpSpPr>
        <p:grpSpPr>
          <a:xfrm>
            <a:off x="8183576" y="2950650"/>
            <a:ext cx="417498" cy="69900"/>
            <a:chOff x="4495488" y="4546300"/>
            <a:chExt cx="417498" cy="69900"/>
          </a:xfrm>
        </p:grpSpPr>
        <p:pic>
          <p:nvPicPr>
            <p:cNvPr id="269" name="Google Shape;269;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70" name="Google Shape;270;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71" name="Google Shape;271;g36deade42ff_0_739"/>
          <p:cNvGrpSpPr/>
          <p:nvPr/>
        </p:nvGrpSpPr>
        <p:grpSpPr>
          <a:xfrm>
            <a:off x="7345076" y="2649137"/>
            <a:ext cx="417498" cy="69900"/>
            <a:chOff x="4495488" y="4546300"/>
            <a:chExt cx="417498" cy="69900"/>
          </a:xfrm>
        </p:grpSpPr>
        <p:pic>
          <p:nvPicPr>
            <p:cNvPr id="272" name="Google Shape;272;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73" name="Google Shape;273;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274" name="Google Shape;274;g36deade42ff_0_739"/>
          <p:cNvGrpSpPr/>
          <p:nvPr/>
        </p:nvGrpSpPr>
        <p:grpSpPr>
          <a:xfrm>
            <a:off x="7396476" y="3259575"/>
            <a:ext cx="417498" cy="69900"/>
            <a:chOff x="4495488" y="4546300"/>
            <a:chExt cx="417498" cy="69900"/>
          </a:xfrm>
        </p:grpSpPr>
        <p:pic>
          <p:nvPicPr>
            <p:cNvPr id="275" name="Google Shape;275;g36deade42ff_0_739"/>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276" name="Google Shape;276;g36deade42ff_0_739"/>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277" name="Google Shape;277;g36deade42ff_0_739"/>
          <p:cNvSpPr/>
          <p:nvPr/>
        </p:nvSpPr>
        <p:spPr>
          <a:xfrm>
            <a:off x="115150" y="83550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Effect transition="in" filter="fade">
                                      <p:cBhvr>
                                        <p:cTn id="7" dur="1000"/>
                                        <p:tgtEl>
                                          <p:spTgt spid="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g36deade42ff_0_867"/>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Assessing concentration is important for </a:t>
            </a:r>
            <a:endParaRPr sz="2100" b="1">
              <a:latin typeface="Lato"/>
              <a:ea typeface="Lato"/>
              <a:cs typeface="Lato"/>
              <a:sym typeface="Lato"/>
            </a:endParaRPr>
          </a:p>
          <a:p>
            <a:pPr marL="0" lvl="0" indent="0" algn="ctr" rtl="0">
              <a:lnSpc>
                <a:spcPct val="100000"/>
              </a:lnSpc>
              <a:spcBef>
                <a:spcPts val="0"/>
              </a:spcBef>
              <a:spcAft>
                <a:spcPts val="0"/>
              </a:spcAft>
              <a:buSzPts val="2800"/>
              <a:buNone/>
            </a:pPr>
            <a:r>
              <a:rPr lang="en" sz="2100" b="1">
                <a:latin typeface="Lato"/>
                <a:ea typeface="Lato"/>
                <a:cs typeface="Lato"/>
                <a:sym typeface="Lato"/>
              </a:rPr>
              <a:t>even pooling and accurate loading</a:t>
            </a:r>
            <a:endParaRPr sz="2100" b="1">
              <a:latin typeface="Lato"/>
              <a:ea typeface="Lato"/>
              <a:cs typeface="Lato"/>
              <a:sym typeface="Lato"/>
            </a:endParaRPr>
          </a:p>
        </p:txBody>
      </p:sp>
      <p:sp>
        <p:nvSpPr>
          <p:cNvPr id="283" name="Google Shape;283;g36deade42ff_0_867"/>
          <p:cNvSpPr txBox="1"/>
          <p:nvPr/>
        </p:nvSpPr>
        <p:spPr>
          <a:xfrm>
            <a:off x="574350" y="978450"/>
            <a:ext cx="7998000" cy="3794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Why</a:t>
            </a:r>
            <a:r>
              <a:rPr lang="en" sz="1600"/>
              <a:t> is an accurate concentration important?</a:t>
            </a:r>
            <a:endParaRPr sz="1600"/>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b="1"/>
              <a:t>Individual samples:</a:t>
            </a:r>
            <a:r>
              <a:rPr lang="en"/>
              <a:t> to pool equal amounts of different samples together</a:t>
            </a:r>
            <a:endParaRPr/>
          </a:p>
          <a:p>
            <a:pPr marL="914400" lvl="1" indent="-317500" algn="l" rtl="0">
              <a:lnSpc>
                <a:spcPct val="150000"/>
              </a:lnSpc>
              <a:spcBef>
                <a:spcPts val="0"/>
              </a:spcBef>
              <a:spcAft>
                <a:spcPts val="0"/>
              </a:spcAft>
              <a:buSzPts val="1400"/>
              <a:buChar char="○"/>
            </a:pPr>
            <a:r>
              <a:rPr lang="en"/>
              <a:t>Aim for an even amount of sequencing data per sample</a:t>
            </a:r>
            <a:endParaRPr/>
          </a:p>
          <a:p>
            <a:pPr marL="0" lvl="0" indent="0" algn="l" rtl="0">
              <a:lnSpc>
                <a:spcPct val="150000"/>
              </a:lnSpc>
              <a:spcBef>
                <a:spcPts val="0"/>
              </a:spcBef>
              <a:spcAft>
                <a:spcPts val="0"/>
              </a:spcAft>
              <a:buNone/>
            </a:pPr>
            <a:endParaRPr sz="1000"/>
          </a:p>
          <a:p>
            <a:pPr marL="457200" lvl="0" indent="-317500" algn="l" rtl="0">
              <a:lnSpc>
                <a:spcPct val="150000"/>
              </a:lnSpc>
              <a:spcBef>
                <a:spcPts val="0"/>
              </a:spcBef>
              <a:spcAft>
                <a:spcPts val="0"/>
              </a:spcAft>
              <a:buSzPts val="1400"/>
              <a:buChar char="●"/>
            </a:pPr>
            <a:r>
              <a:rPr lang="en" b="1"/>
              <a:t>Final library:</a:t>
            </a:r>
            <a:r>
              <a:rPr lang="en"/>
              <a:t> The total amount of final library needs to be within a specific range*</a:t>
            </a:r>
            <a:endParaRPr/>
          </a:p>
          <a:p>
            <a:pPr marL="914400" lvl="1" indent="-317500" algn="l" rtl="0">
              <a:lnSpc>
                <a:spcPct val="150000"/>
              </a:lnSpc>
              <a:spcBef>
                <a:spcPts val="0"/>
              </a:spcBef>
              <a:spcAft>
                <a:spcPts val="0"/>
              </a:spcAft>
              <a:buSzPts val="1400"/>
              <a:buChar char="○"/>
            </a:pPr>
            <a:r>
              <a:rPr lang="en"/>
              <a:t>For the MinION 10.4 flow cell, this range is 10-50 fmol</a:t>
            </a:r>
            <a:endParaRPr/>
          </a:p>
          <a:p>
            <a:pPr marL="1371600" lvl="2" indent="-317500" algn="l" rtl="0">
              <a:lnSpc>
                <a:spcPct val="150000"/>
              </a:lnSpc>
              <a:spcBef>
                <a:spcPts val="0"/>
              </a:spcBef>
              <a:spcAft>
                <a:spcPts val="0"/>
              </a:spcAft>
              <a:buSzPts val="1400"/>
              <a:buChar char="■"/>
            </a:pPr>
            <a:r>
              <a:rPr lang="en" b="1"/>
              <a:t>We have found that 100-150 fmol works best</a:t>
            </a:r>
            <a:endParaRPr b="1"/>
          </a:p>
          <a:p>
            <a:pPr marL="914400" lvl="0" indent="0" algn="l" rtl="0">
              <a:lnSpc>
                <a:spcPct val="150000"/>
              </a:lnSpc>
              <a:spcBef>
                <a:spcPts val="0"/>
              </a:spcBef>
              <a:spcAft>
                <a:spcPts val="0"/>
              </a:spcAft>
              <a:buNone/>
            </a:pPr>
            <a:endParaRPr/>
          </a:p>
          <a:p>
            <a:pPr marL="457200" lvl="0" indent="0" algn="l" rtl="0">
              <a:lnSpc>
                <a:spcPct val="150000"/>
              </a:lnSpc>
              <a:spcBef>
                <a:spcPts val="0"/>
              </a:spcBef>
              <a:spcAft>
                <a:spcPts val="0"/>
              </a:spcAft>
              <a:buNone/>
            </a:pPr>
            <a:r>
              <a:rPr lang="en"/>
              <a:t>*</a:t>
            </a:r>
            <a:r>
              <a:rPr lang="en" sz="1300"/>
              <a:t>Nanopore is more forgiving than Illumina in accommodating a wider range of input loading amounts and we find that loading more than 50 fmol works well</a:t>
            </a:r>
            <a:endParaRPr sz="1300"/>
          </a:p>
          <a:p>
            <a:pPr marL="0" lvl="0" indent="0" algn="l" rtl="0">
              <a:lnSpc>
                <a:spcPct val="150000"/>
              </a:lnSpc>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g36deade42ff_0_872"/>
          <p:cNvSpPr txBox="1">
            <a:spLocks noGrp="1"/>
          </p:cNvSpPr>
          <p:nvPr>
            <p:ph type="title"/>
          </p:nvPr>
        </p:nvSpPr>
        <p:spPr>
          <a:xfrm>
            <a:off x="279000" y="93725"/>
            <a:ext cx="8586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concentration is best assessed using fluorometry like Qubit</a:t>
            </a:r>
            <a:endParaRPr sz="2100" b="1">
              <a:latin typeface="Lato"/>
              <a:ea typeface="Lato"/>
              <a:cs typeface="Lato"/>
              <a:sym typeface="Lato"/>
            </a:endParaRPr>
          </a:p>
        </p:txBody>
      </p:sp>
      <p:sp>
        <p:nvSpPr>
          <p:cNvPr id="289" name="Google Shape;289;g36deade42ff_0_872"/>
          <p:cNvSpPr txBox="1"/>
          <p:nvPr/>
        </p:nvSpPr>
        <p:spPr>
          <a:xfrm>
            <a:off x="1305700" y="102310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a:t>
            </a:r>
            <a:endParaRPr/>
          </a:p>
        </p:txBody>
      </p:sp>
      <p:pic>
        <p:nvPicPr>
          <p:cNvPr id="290" name="Google Shape;290;g36deade42ff_0_872"/>
          <p:cNvPicPr preferRelativeResize="0"/>
          <p:nvPr/>
        </p:nvPicPr>
        <p:blipFill rotWithShape="1">
          <a:blip r:embed="rId3">
            <a:alphaModFix/>
          </a:blip>
          <a:srcRect b="10362"/>
          <a:stretch/>
        </p:blipFill>
        <p:spPr>
          <a:xfrm>
            <a:off x="1500700" y="1534750"/>
            <a:ext cx="1442099" cy="786224"/>
          </a:xfrm>
          <a:prstGeom prst="rect">
            <a:avLst/>
          </a:prstGeom>
          <a:noFill/>
          <a:ln>
            <a:noFill/>
          </a:ln>
        </p:spPr>
      </p:pic>
      <p:sp>
        <p:nvSpPr>
          <p:cNvPr id="291" name="Google Shape;291;g36deade42ff_0_872"/>
          <p:cNvSpPr txBox="1"/>
          <p:nvPr/>
        </p:nvSpPr>
        <p:spPr>
          <a:xfrm>
            <a:off x="115150" y="2217338"/>
            <a:ext cx="4213200" cy="4002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p:txBody>
      </p:sp>
      <p:sp>
        <p:nvSpPr>
          <p:cNvPr id="292" name="Google Shape;292;g36deade42ff_0_872"/>
          <p:cNvSpPr txBox="1"/>
          <p:nvPr/>
        </p:nvSpPr>
        <p:spPr>
          <a:xfrm>
            <a:off x="2781725" y="876700"/>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293" name="Google Shape;293;g36deade42ff_0_872"/>
          <p:cNvSpPr txBox="1"/>
          <p:nvPr/>
        </p:nvSpPr>
        <p:spPr>
          <a:xfrm>
            <a:off x="3137800" y="980650"/>
            <a:ext cx="14421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concentration</a:t>
            </a:r>
            <a:endParaRPr sz="1200">
              <a:solidFill>
                <a:srgbClr val="6AA84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g36deade42ff_0_881"/>
          <p:cNvSpPr txBox="1"/>
          <p:nvPr/>
        </p:nvSpPr>
        <p:spPr>
          <a:xfrm>
            <a:off x="1305700" y="102310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a:t>
            </a:r>
            <a:endParaRPr/>
          </a:p>
        </p:txBody>
      </p:sp>
      <p:pic>
        <p:nvPicPr>
          <p:cNvPr id="299" name="Google Shape;299;g36deade42ff_0_881"/>
          <p:cNvPicPr preferRelativeResize="0"/>
          <p:nvPr/>
        </p:nvPicPr>
        <p:blipFill rotWithShape="1">
          <a:blip r:embed="rId3">
            <a:alphaModFix/>
          </a:blip>
          <a:srcRect b="10362"/>
          <a:stretch/>
        </p:blipFill>
        <p:spPr>
          <a:xfrm>
            <a:off x="1500700" y="1534750"/>
            <a:ext cx="1442099" cy="786224"/>
          </a:xfrm>
          <a:prstGeom prst="rect">
            <a:avLst/>
          </a:prstGeom>
          <a:noFill/>
          <a:ln>
            <a:noFill/>
          </a:ln>
        </p:spPr>
      </p:pic>
      <p:sp>
        <p:nvSpPr>
          <p:cNvPr id="300" name="Google Shape;300;g36deade42ff_0_881"/>
          <p:cNvSpPr txBox="1"/>
          <p:nvPr/>
        </p:nvSpPr>
        <p:spPr>
          <a:xfrm>
            <a:off x="115150" y="2217338"/>
            <a:ext cx="4213200" cy="4002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p:txBody>
      </p:sp>
      <p:sp>
        <p:nvSpPr>
          <p:cNvPr id="301" name="Google Shape;301;g36deade42ff_0_881"/>
          <p:cNvSpPr txBox="1"/>
          <p:nvPr/>
        </p:nvSpPr>
        <p:spPr>
          <a:xfrm>
            <a:off x="2781725" y="876700"/>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02" name="Google Shape;302;g36deade42ff_0_881"/>
          <p:cNvSpPr txBox="1"/>
          <p:nvPr/>
        </p:nvSpPr>
        <p:spPr>
          <a:xfrm>
            <a:off x="3137800" y="980650"/>
            <a:ext cx="14421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concentration</a:t>
            </a:r>
            <a:endParaRPr sz="1200">
              <a:solidFill>
                <a:srgbClr val="6AA84F"/>
              </a:solidFill>
            </a:endParaRPr>
          </a:p>
        </p:txBody>
      </p:sp>
      <p:sp>
        <p:nvSpPr>
          <p:cNvPr id="303" name="Google Shape;303;g36deade42ff_0_881"/>
          <p:cNvSpPr txBox="1"/>
          <p:nvPr/>
        </p:nvSpPr>
        <p:spPr>
          <a:xfrm>
            <a:off x="5383250" y="1023100"/>
            <a:ext cx="3520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Electrophoresis</a:t>
            </a:r>
            <a:endParaRPr b="1"/>
          </a:p>
          <a:p>
            <a:pPr marL="0" lvl="0" indent="0" algn="ctr" rtl="0">
              <a:spcBef>
                <a:spcPts val="0"/>
              </a:spcBef>
              <a:spcAft>
                <a:spcPts val="0"/>
              </a:spcAft>
              <a:buNone/>
            </a:pPr>
            <a:r>
              <a:rPr lang="en"/>
              <a:t>(e.g. QSep, Tapestation, Bioanalyzer, gel)</a:t>
            </a:r>
            <a:endParaRPr/>
          </a:p>
        </p:txBody>
      </p:sp>
      <p:pic>
        <p:nvPicPr>
          <p:cNvPr id="304" name="Google Shape;304;g36deade42ff_0_881"/>
          <p:cNvPicPr preferRelativeResize="0"/>
          <p:nvPr/>
        </p:nvPicPr>
        <p:blipFill>
          <a:blip r:embed="rId4">
            <a:alphaModFix/>
          </a:blip>
          <a:stretch>
            <a:fillRect/>
          </a:stretch>
        </p:blipFill>
        <p:spPr>
          <a:xfrm>
            <a:off x="6430127" y="1565985"/>
            <a:ext cx="1099286" cy="615600"/>
          </a:xfrm>
          <a:prstGeom prst="rect">
            <a:avLst/>
          </a:prstGeom>
          <a:noFill/>
          <a:ln>
            <a:noFill/>
          </a:ln>
        </p:spPr>
      </p:pic>
      <p:sp>
        <p:nvSpPr>
          <p:cNvPr id="305" name="Google Shape;305;g36deade42ff_0_881"/>
          <p:cNvSpPr txBox="1"/>
          <p:nvPr/>
        </p:nvSpPr>
        <p:spPr>
          <a:xfrm>
            <a:off x="4677450" y="2229110"/>
            <a:ext cx="43224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Compare intensity of DNA bands to standards</a:t>
            </a:r>
            <a:endParaRPr/>
          </a:p>
          <a:p>
            <a:pPr marL="457200" lvl="0" indent="-317500" algn="l" rtl="0">
              <a:lnSpc>
                <a:spcPct val="150000"/>
              </a:lnSpc>
              <a:spcBef>
                <a:spcPts val="0"/>
              </a:spcBef>
              <a:spcAft>
                <a:spcPts val="0"/>
              </a:spcAft>
              <a:buSzPts val="1400"/>
              <a:buChar char="●"/>
            </a:pPr>
            <a:r>
              <a:rPr lang="en"/>
              <a:t>Especially useful to determine concentration in certain fragment length range</a:t>
            </a:r>
            <a:endParaRPr/>
          </a:p>
        </p:txBody>
      </p:sp>
      <p:sp>
        <p:nvSpPr>
          <p:cNvPr id="306" name="Google Shape;306;g36deade42ff_0_881"/>
          <p:cNvSpPr txBox="1"/>
          <p:nvPr/>
        </p:nvSpPr>
        <p:spPr>
          <a:xfrm>
            <a:off x="5270125" y="3129835"/>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07" name="Google Shape;307;g36deade42ff_0_881"/>
          <p:cNvSpPr txBox="1"/>
          <p:nvPr/>
        </p:nvSpPr>
        <p:spPr>
          <a:xfrm>
            <a:off x="5643050" y="3233785"/>
            <a:ext cx="30012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size profiling (“quality”) and molar concentrations (for pooling)</a:t>
            </a:r>
            <a:endParaRPr sz="1200">
              <a:solidFill>
                <a:srgbClr val="6AA84F"/>
              </a:solidFill>
            </a:endParaRPr>
          </a:p>
        </p:txBody>
      </p:sp>
      <p:sp>
        <p:nvSpPr>
          <p:cNvPr id="308" name="Google Shape;308;g36deade42ff_0_881"/>
          <p:cNvSpPr txBox="1">
            <a:spLocks noGrp="1"/>
          </p:cNvSpPr>
          <p:nvPr>
            <p:ph type="title"/>
          </p:nvPr>
        </p:nvSpPr>
        <p:spPr>
          <a:xfrm>
            <a:off x="279000" y="93725"/>
            <a:ext cx="8586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concentration is best assessed using fluorometry like Qubit</a:t>
            </a:r>
            <a:endParaRPr sz="2100" b="1">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36deade42ff_0_895"/>
          <p:cNvSpPr txBox="1">
            <a:spLocks noGrp="1"/>
          </p:cNvSpPr>
          <p:nvPr>
            <p:ph type="title"/>
          </p:nvPr>
        </p:nvSpPr>
        <p:spPr>
          <a:xfrm>
            <a:off x="115150" y="93725"/>
            <a:ext cx="8884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Bioanalyzer or Tapestation may be used for pooling, if necessary</a:t>
            </a:r>
            <a:endParaRPr sz="2100" b="1">
              <a:latin typeface="Lato"/>
              <a:ea typeface="Lato"/>
              <a:cs typeface="Lato"/>
              <a:sym typeface="Lato"/>
            </a:endParaRPr>
          </a:p>
        </p:txBody>
      </p:sp>
      <p:sp>
        <p:nvSpPr>
          <p:cNvPr id="314" name="Google Shape;314;g36deade42ff_0_895"/>
          <p:cNvSpPr txBox="1"/>
          <p:nvPr/>
        </p:nvSpPr>
        <p:spPr>
          <a:xfrm>
            <a:off x="1305700" y="1023100"/>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Fluorometry</a:t>
            </a:r>
            <a:endParaRPr b="1"/>
          </a:p>
          <a:p>
            <a:pPr marL="0" lvl="0" indent="0" algn="ctr" rtl="0">
              <a:spcBef>
                <a:spcPts val="0"/>
              </a:spcBef>
              <a:spcAft>
                <a:spcPts val="0"/>
              </a:spcAft>
              <a:buNone/>
            </a:pPr>
            <a:r>
              <a:rPr lang="en"/>
              <a:t>(e.g. Qubit)</a:t>
            </a:r>
            <a:endParaRPr/>
          </a:p>
        </p:txBody>
      </p:sp>
      <p:pic>
        <p:nvPicPr>
          <p:cNvPr id="315" name="Google Shape;315;g36deade42ff_0_895"/>
          <p:cNvPicPr preferRelativeResize="0"/>
          <p:nvPr/>
        </p:nvPicPr>
        <p:blipFill rotWithShape="1">
          <a:blip r:embed="rId3">
            <a:alphaModFix/>
          </a:blip>
          <a:srcRect b="10362"/>
          <a:stretch/>
        </p:blipFill>
        <p:spPr>
          <a:xfrm>
            <a:off x="1500700" y="1534750"/>
            <a:ext cx="1442099" cy="786224"/>
          </a:xfrm>
          <a:prstGeom prst="rect">
            <a:avLst/>
          </a:prstGeom>
          <a:noFill/>
          <a:ln>
            <a:noFill/>
          </a:ln>
        </p:spPr>
      </p:pic>
      <p:sp>
        <p:nvSpPr>
          <p:cNvPr id="316" name="Google Shape;316;g36deade42ff_0_895"/>
          <p:cNvSpPr txBox="1"/>
          <p:nvPr/>
        </p:nvSpPr>
        <p:spPr>
          <a:xfrm>
            <a:off x="115150" y="2217338"/>
            <a:ext cx="4213200" cy="4002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Detects fluorescent dyes that only bind DNA</a:t>
            </a:r>
            <a:endParaRPr/>
          </a:p>
        </p:txBody>
      </p:sp>
      <p:sp>
        <p:nvSpPr>
          <p:cNvPr id="317" name="Google Shape;317;g36deade42ff_0_895"/>
          <p:cNvSpPr txBox="1"/>
          <p:nvPr/>
        </p:nvSpPr>
        <p:spPr>
          <a:xfrm>
            <a:off x="2781725" y="876700"/>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18" name="Google Shape;318;g36deade42ff_0_895"/>
          <p:cNvSpPr txBox="1"/>
          <p:nvPr/>
        </p:nvSpPr>
        <p:spPr>
          <a:xfrm>
            <a:off x="3137800" y="980650"/>
            <a:ext cx="14421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concentration</a:t>
            </a:r>
            <a:endParaRPr sz="1200">
              <a:solidFill>
                <a:srgbClr val="6AA84F"/>
              </a:solidFill>
            </a:endParaRPr>
          </a:p>
        </p:txBody>
      </p:sp>
      <p:pic>
        <p:nvPicPr>
          <p:cNvPr id="319" name="Google Shape;319;g36deade42ff_0_895"/>
          <p:cNvPicPr preferRelativeResize="0"/>
          <p:nvPr/>
        </p:nvPicPr>
        <p:blipFill>
          <a:blip r:embed="rId4">
            <a:alphaModFix/>
          </a:blip>
          <a:stretch>
            <a:fillRect/>
          </a:stretch>
        </p:blipFill>
        <p:spPr>
          <a:xfrm>
            <a:off x="6430127" y="1565985"/>
            <a:ext cx="1099286" cy="615600"/>
          </a:xfrm>
          <a:prstGeom prst="rect">
            <a:avLst/>
          </a:prstGeom>
          <a:noFill/>
          <a:ln>
            <a:noFill/>
          </a:ln>
        </p:spPr>
      </p:pic>
      <p:sp>
        <p:nvSpPr>
          <p:cNvPr id="320" name="Google Shape;320;g36deade42ff_0_895"/>
          <p:cNvSpPr txBox="1"/>
          <p:nvPr/>
        </p:nvSpPr>
        <p:spPr>
          <a:xfrm>
            <a:off x="4677450" y="2229110"/>
            <a:ext cx="43224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Compare intensity of DNA bands to standards</a:t>
            </a:r>
            <a:endParaRPr/>
          </a:p>
          <a:p>
            <a:pPr marL="457200" lvl="0" indent="-317500" algn="l" rtl="0">
              <a:lnSpc>
                <a:spcPct val="150000"/>
              </a:lnSpc>
              <a:spcBef>
                <a:spcPts val="0"/>
              </a:spcBef>
              <a:spcAft>
                <a:spcPts val="0"/>
              </a:spcAft>
              <a:buSzPts val="1400"/>
              <a:buChar char="●"/>
            </a:pPr>
            <a:r>
              <a:rPr lang="en"/>
              <a:t>Especially useful to determine concentration in certain fragment length range</a:t>
            </a:r>
            <a:endParaRPr/>
          </a:p>
        </p:txBody>
      </p:sp>
      <p:sp>
        <p:nvSpPr>
          <p:cNvPr id="321" name="Google Shape;321;g36deade42ff_0_895"/>
          <p:cNvSpPr txBox="1"/>
          <p:nvPr/>
        </p:nvSpPr>
        <p:spPr>
          <a:xfrm>
            <a:off x="5270125" y="3129835"/>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22" name="Google Shape;322;g36deade42ff_0_895"/>
          <p:cNvSpPr txBox="1"/>
          <p:nvPr/>
        </p:nvSpPr>
        <p:spPr>
          <a:xfrm>
            <a:off x="5643050" y="3233785"/>
            <a:ext cx="3001200" cy="554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size profiling (“quality”) and molar concentrations (for pooling)</a:t>
            </a:r>
            <a:endParaRPr sz="1200">
              <a:solidFill>
                <a:srgbClr val="6AA84F"/>
              </a:solidFill>
            </a:endParaRPr>
          </a:p>
        </p:txBody>
      </p:sp>
      <p:sp>
        <p:nvSpPr>
          <p:cNvPr id="323" name="Google Shape;323;g36deade42ff_0_895"/>
          <p:cNvSpPr txBox="1"/>
          <p:nvPr/>
        </p:nvSpPr>
        <p:spPr>
          <a:xfrm>
            <a:off x="5383250" y="1023100"/>
            <a:ext cx="3520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Electrophoresis</a:t>
            </a:r>
            <a:endParaRPr b="1"/>
          </a:p>
          <a:p>
            <a:pPr marL="0" lvl="0" indent="0" algn="ctr" rtl="0">
              <a:spcBef>
                <a:spcPts val="0"/>
              </a:spcBef>
              <a:spcAft>
                <a:spcPts val="0"/>
              </a:spcAft>
              <a:buNone/>
            </a:pPr>
            <a:r>
              <a:rPr lang="en"/>
              <a:t>(e.g. QSep, Tapestation, Bioanalyzer, gel)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g36deade42ff_0_909"/>
          <p:cNvSpPr txBox="1">
            <a:spLocks noGrp="1"/>
          </p:cNvSpPr>
          <p:nvPr>
            <p:ph type="title"/>
          </p:nvPr>
        </p:nvSpPr>
        <p:spPr>
          <a:xfrm>
            <a:off x="115150" y="93725"/>
            <a:ext cx="89202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Nanodrop is not recommended for assessing concentration</a:t>
            </a:r>
            <a:endParaRPr sz="2100" b="1">
              <a:latin typeface="Lato"/>
              <a:ea typeface="Lato"/>
              <a:cs typeface="Lato"/>
              <a:sym typeface="Lato"/>
            </a:endParaRPr>
          </a:p>
        </p:txBody>
      </p:sp>
      <p:sp>
        <p:nvSpPr>
          <p:cNvPr id="329" name="Google Shape;329;g36deade42ff_0_909"/>
          <p:cNvSpPr txBox="1"/>
          <p:nvPr/>
        </p:nvSpPr>
        <p:spPr>
          <a:xfrm>
            <a:off x="1277025" y="666425"/>
            <a:ext cx="18321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Spectrophotometry</a:t>
            </a:r>
            <a:endParaRPr b="1"/>
          </a:p>
          <a:p>
            <a:pPr marL="0" lvl="0" indent="0" algn="ctr" rtl="0">
              <a:spcBef>
                <a:spcPts val="0"/>
              </a:spcBef>
              <a:spcAft>
                <a:spcPts val="0"/>
              </a:spcAft>
              <a:buNone/>
            </a:pPr>
            <a:r>
              <a:rPr lang="en"/>
              <a:t>(e.</a:t>
            </a:r>
            <a:r>
              <a:rPr lang="en">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g</a:t>
            </a:r>
            <a:r>
              <a:rPr lang="en"/>
              <a:t>. Nanodrop)</a:t>
            </a:r>
            <a:endParaRPr/>
          </a:p>
        </p:txBody>
      </p:sp>
      <p:sp>
        <p:nvSpPr>
          <p:cNvPr id="330" name="Google Shape;330;g36deade42ff_0_909"/>
          <p:cNvSpPr txBox="1"/>
          <p:nvPr/>
        </p:nvSpPr>
        <p:spPr>
          <a:xfrm>
            <a:off x="160425" y="2405188"/>
            <a:ext cx="41793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SzPts val="1400"/>
              <a:buChar char="●"/>
            </a:pPr>
            <a:r>
              <a:rPr lang="en"/>
              <a:t>DNA absorbs light most strongly at 260 nm</a:t>
            </a:r>
            <a:endParaRPr/>
          </a:p>
          <a:p>
            <a:pPr marL="457200" lvl="0" indent="-317500" algn="l" rtl="0">
              <a:lnSpc>
                <a:spcPct val="150000"/>
              </a:lnSpc>
              <a:spcBef>
                <a:spcPts val="0"/>
              </a:spcBef>
              <a:spcAft>
                <a:spcPts val="0"/>
              </a:spcAft>
              <a:buSzPts val="1400"/>
              <a:buChar char="●"/>
            </a:pPr>
            <a:r>
              <a:rPr lang="en"/>
              <a:t>Level of absorbance ~ concentration of DNA</a:t>
            </a:r>
            <a:endParaRPr/>
          </a:p>
        </p:txBody>
      </p:sp>
      <p:pic>
        <p:nvPicPr>
          <p:cNvPr id="331" name="Google Shape;331;g36deade42ff_0_909"/>
          <p:cNvPicPr preferRelativeResize="0"/>
          <p:nvPr/>
        </p:nvPicPr>
        <p:blipFill rotWithShape="1">
          <a:blip r:embed="rId3">
            <a:alphaModFix/>
          </a:blip>
          <a:srcRect l="21083" t="10014" r="16703" b="6881"/>
          <a:stretch/>
        </p:blipFill>
        <p:spPr>
          <a:xfrm>
            <a:off x="1699352" y="1282025"/>
            <a:ext cx="936080" cy="1134900"/>
          </a:xfrm>
          <a:prstGeom prst="rect">
            <a:avLst/>
          </a:prstGeom>
          <a:noFill/>
          <a:ln>
            <a:noFill/>
          </a:ln>
        </p:spPr>
      </p:pic>
      <p:sp>
        <p:nvSpPr>
          <p:cNvPr id="332" name="Google Shape;332;g36deade42ff_0_909"/>
          <p:cNvSpPr txBox="1"/>
          <p:nvPr/>
        </p:nvSpPr>
        <p:spPr>
          <a:xfrm>
            <a:off x="0" y="3128500"/>
            <a:ext cx="4722900" cy="895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solidFill>
                  <a:srgbClr val="FF0000"/>
                </a:solidFill>
              </a:rPr>
              <a:t>BUT</a:t>
            </a:r>
            <a:r>
              <a:rPr lang="en"/>
              <a:t> other molecules (RNA, proteins) &amp; contaminants also absorb light at 260 nm, causing up to 10-fold </a:t>
            </a:r>
            <a:r>
              <a:rPr lang="en" b="1">
                <a:solidFill>
                  <a:srgbClr val="FF0000"/>
                </a:solidFill>
              </a:rPr>
              <a:t>overestimation</a:t>
            </a:r>
            <a:r>
              <a:rPr lang="en"/>
              <a:t> of the DNA concentration!</a:t>
            </a:r>
            <a:endParaRPr/>
          </a:p>
        </p:txBody>
      </p:sp>
      <p:sp>
        <p:nvSpPr>
          <p:cNvPr id="333" name="Google Shape;333;g36deade42ff_0_909"/>
          <p:cNvSpPr txBox="1"/>
          <p:nvPr/>
        </p:nvSpPr>
        <p:spPr>
          <a:xfrm>
            <a:off x="1013875" y="4364875"/>
            <a:ext cx="4614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334" name="Google Shape;334;g36deade42ff_0_909"/>
          <p:cNvSpPr txBox="1"/>
          <p:nvPr/>
        </p:nvSpPr>
        <p:spPr>
          <a:xfrm>
            <a:off x="1475275" y="4561225"/>
            <a:ext cx="2733000" cy="36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6AA84F"/>
                </a:solidFill>
              </a:rPr>
              <a:t>Use for detecting contaminants</a:t>
            </a:r>
            <a:endParaRPr sz="1200">
              <a:solidFill>
                <a:srgbClr val="6AA84F"/>
              </a:solidFill>
            </a:endParaRPr>
          </a:p>
        </p:txBody>
      </p:sp>
      <p:sp>
        <p:nvSpPr>
          <p:cNvPr id="335" name="Google Shape;335;g36deade42ff_0_909"/>
          <p:cNvSpPr txBox="1"/>
          <p:nvPr/>
        </p:nvSpPr>
        <p:spPr>
          <a:xfrm>
            <a:off x="1013875" y="3905800"/>
            <a:ext cx="5991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CC0000"/>
                </a:solidFill>
                <a:highlight>
                  <a:srgbClr val="FFFFFF"/>
                </a:highlight>
                <a:latin typeface="Roboto"/>
                <a:ea typeface="Roboto"/>
                <a:cs typeface="Roboto"/>
                <a:sym typeface="Roboto"/>
              </a:rPr>
              <a:t>✘</a:t>
            </a:r>
            <a:endParaRPr sz="3750">
              <a:solidFill>
                <a:srgbClr val="CC0000"/>
              </a:solidFill>
            </a:endParaRPr>
          </a:p>
        </p:txBody>
      </p:sp>
      <p:sp>
        <p:nvSpPr>
          <p:cNvPr id="336" name="Google Shape;336;g36deade42ff_0_909"/>
          <p:cNvSpPr txBox="1"/>
          <p:nvPr/>
        </p:nvSpPr>
        <p:spPr>
          <a:xfrm>
            <a:off x="1467925" y="4088288"/>
            <a:ext cx="2376600" cy="369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200" b="1">
                <a:solidFill>
                  <a:srgbClr val="CC0000"/>
                </a:solidFill>
              </a:rPr>
              <a:t>Do not use for concentration</a:t>
            </a:r>
            <a:endParaRPr sz="1200">
              <a:solidFill>
                <a:srgbClr val="CC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g36deade42ff_0_921"/>
          <p:cNvPicPr preferRelativeResize="0"/>
          <p:nvPr/>
        </p:nvPicPr>
        <p:blipFill rotWithShape="1">
          <a:blip r:embed="rId3">
            <a:alphaModFix/>
          </a:blip>
          <a:srcRect l="24590"/>
          <a:stretch/>
        </p:blipFill>
        <p:spPr>
          <a:xfrm>
            <a:off x="1117400" y="1239288"/>
            <a:ext cx="1795625" cy="2200275"/>
          </a:xfrm>
          <a:prstGeom prst="rect">
            <a:avLst/>
          </a:prstGeom>
          <a:noFill/>
          <a:ln>
            <a:noFill/>
          </a:ln>
        </p:spPr>
      </p:pic>
      <p:sp>
        <p:nvSpPr>
          <p:cNvPr id="342" name="Google Shape;342;g36deade42ff_0_921"/>
          <p:cNvSpPr txBox="1">
            <a:spLocks noGrp="1"/>
          </p:cNvSpPr>
          <p:nvPr>
            <p:ph type="body" idx="1"/>
          </p:nvPr>
        </p:nvSpPr>
        <p:spPr>
          <a:xfrm>
            <a:off x="132525" y="743000"/>
            <a:ext cx="5864100" cy="3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343" name="Google Shape;343;g36deade42ff_0_921"/>
          <p:cNvSpPr txBox="1"/>
          <p:nvPr/>
        </p:nvSpPr>
        <p:spPr>
          <a:xfrm>
            <a:off x="204300" y="3439575"/>
            <a:ext cx="4200900" cy="1369800"/>
          </a:xfrm>
          <a:prstGeom prst="rect">
            <a:avLst/>
          </a:prstGeom>
          <a:noFill/>
          <a:ln>
            <a:noFill/>
          </a:ln>
        </p:spPr>
        <p:txBody>
          <a:bodyPr spcFirstLastPara="1" wrap="square" lIns="91425" tIns="91425" rIns="91425" bIns="91425" anchor="t" anchorCtr="0">
            <a:spAutoFit/>
          </a:bodyPr>
          <a:lstStyle/>
          <a:p>
            <a:pPr marL="171450" lvl="0" indent="-146050" algn="l" rtl="0">
              <a:lnSpc>
                <a:spcPct val="150000"/>
              </a:lnSpc>
              <a:spcBef>
                <a:spcPts val="0"/>
              </a:spcBef>
              <a:spcAft>
                <a:spcPts val="0"/>
              </a:spcAft>
              <a:buClr>
                <a:schemeClr val="dk1"/>
              </a:buClr>
              <a:buSzPts val="1400"/>
              <a:buChar char="●"/>
            </a:pPr>
            <a:r>
              <a:rPr lang="en">
                <a:solidFill>
                  <a:schemeClr val="dk1"/>
                </a:solidFill>
              </a:rPr>
              <a:t>dsDNA HS Reagent (200x concentrate)</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Buffer</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#1</a:t>
            </a:r>
            <a:endParaRPr>
              <a:solidFill>
                <a:schemeClr val="dk1"/>
              </a:solidFill>
            </a:endParaRPr>
          </a:p>
          <a:p>
            <a:pPr marL="171450" lvl="0" indent="-146050" algn="l" rtl="0">
              <a:lnSpc>
                <a:spcPct val="150000"/>
              </a:lnSpc>
              <a:spcBef>
                <a:spcPts val="0"/>
              </a:spcBef>
              <a:spcAft>
                <a:spcPts val="0"/>
              </a:spcAft>
              <a:buClr>
                <a:schemeClr val="dk1"/>
              </a:buClr>
              <a:buSzPts val="1400"/>
              <a:buChar char="●"/>
            </a:pPr>
            <a:r>
              <a:rPr lang="en">
                <a:solidFill>
                  <a:schemeClr val="dk1"/>
                </a:solidFill>
              </a:rPr>
              <a:t>dsDNA HS Standard #2</a:t>
            </a:r>
            <a:endParaRPr/>
          </a:p>
        </p:txBody>
      </p:sp>
      <p:sp>
        <p:nvSpPr>
          <p:cNvPr id="344" name="Google Shape;344;g36deade42ff_0_921"/>
          <p:cNvSpPr txBox="1">
            <a:spLocks noGrp="1"/>
          </p:cNvSpPr>
          <p:nvPr>
            <p:ph type="body" idx="1"/>
          </p:nvPr>
        </p:nvSpPr>
        <p:spPr>
          <a:xfrm>
            <a:off x="4072800" y="1522200"/>
            <a:ext cx="5864100" cy="2099100"/>
          </a:xfrm>
          <a:prstGeom prst="rect">
            <a:avLst/>
          </a:prstGeom>
        </p:spPr>
        <p:txBody>
          <a:bodyPr spcFirstLastPara="1" wrap="square" lIns="91425" tIns="91425" rIns="91425" bIns="91425" anchor="t" anchorCtr="0">
            <a:noAutofit/>
          </a:bodyPr>
          <a:lstStyle/>
          <a:p>
            <a:pPr marL="171450" lvl="0" indent="-146050" algn="l" rtl="0">
              <a:lnSpc>
                <a:spcPct val="150000"/>
              </a:lnSpc>
              <a:spcBef>
                <a:spcPts val="0"/>
              </a:spcBef>
              <a:spcAft>
                <a:spcPts val="0"/>
              </a:spcAft>
              <a:buClr>
                <a:srgbClr val="000000"/>
              </a:buClr>
              <a:buSzPts val="1400"/>
              <a:buAutoNum type="arabicPeriod"/>
            </a:pPr>
            <a:r>
              <a:rPr lang="en" sz="1400">
                <a:solidFill>
                  <a:srgbClr val="000000"/>
                </a:solidFill>
              </a:rPr>
              <a:t>Prepare Working Solution:</a:t>
            </a:r>
            <a:endParaRPr sz="1400">
              <a:solidFill>
                <a:srgbClr val="000000"/>
              </a:solidFill>
            </a:endParaRPr>
          </a:p>
          <a:p>
            <a:pPr marL="342900" lvl="1" indent="-146050" algn="l" rtl="0">
              <a:lnSpc>
                <a:spcPct val="150000"/>
              </a:lnSpc>
              <a:spcBef>
                <a:spcPts val="0"/>
              </a:spcBef>
              <a:spcAft>
                <a:spcPts val="0"/>
              </a:spcAft>
              <a:buClr>
                <a:srgbClr val="000000"/>
              </a:buClr>
              <a:buSzPts val="1400"/>
              <a:buChar char="○"/>
            </a:pPr>
            <a:r>
              <a:rPr lang="en">
                <a:solidFill>
                  <a:srgbClr val="000000"/>
                </a:solidFill>
              </a:rPr>
              <a:t>D</a:t>
            </a:r>
            <a:r>
              <a:rPr lang="en" sz="1400">
                <a:solidFill>
                  <a:srgbClr val="000000"/>
                </a:solidFill>
              </a:rPr>
              <a:t>iluting HS reagent 1:200 in HS buffer</a:t>
            </a:r>
            <a:endParaRPr sz="1400">
              <a:solidFill>
                <a:srgbClr val="000000"/>
              </a:solidFill>
            </a:endParaRPr>
          </a:p>
          <a:p>
            <a:pPr marL="914400" lvl="0" indent="0" algn="l" rtl="0">
              <a:lnSpc>
                <a:spcPct val="150000"/>
              </a:lnSpc>
              <a:spcBef>
                <a:spcPts val="0"/>
              </a:spcBef>
              <a:spcAft>
                <a:spcPts val="0"/>
              </a:spcAft>
              <a:buNone/>
            </a:pPr>
            <a:endParaRPr>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a:solidFill>
                  <a:srgbClr val="000000"/>
                </a:solidFill>
              </a:rPr>
              <a:t>Dilute in Working Solution:</a:t>
            </a:r>
            <a:endParaRPr sz="1400">
              <a:solidFill>
                <a:srgbClr val="000000"/>
              </a:solidFill>
            </a:endParaRPr>
          </a:p>
          <a:p>
            <a:pPr marL="342900" lvl="1" indent="-146050" algn="l" rtl="0">
              <a:lnSpc>
                <a:spcPct val="150000"/>
              </a:lnSpc>
              <a:spcBef>
                <a:spcPts val="0"/>
              </a:spcBef>
              <a:spcAft>
                <a:spcPts val="0"/>
              </a:spcAft>
              <a:buClr>
                <a:srgbClr val="000000"/>
              </a:buClr>
              <a:buSzPts val="1400"/>
              <a:buChar char="○"/>
            </a:pPr>
            <a:r>
              <a:rPr lang="en">
                <a:solidFill>
                  <a:srgbClr val="000000"/>
                </a:solidFill>
              </a:rPr>
              <a:t>Standards: 10 μl standard + 190 μl Working Solution</a:t>
            </a:r>
            <a:endParaRPr>
              <a:solidFill>
                <a:srgbClr val="000000"/>
              </a:solidFill>
            </a:endParaRPr>
          </a:p>
          <a:p>
            <a:pPr marL="342900" lvl="1" indent="-146050" algn="l" rtl="0">
              <a:lnSpc>
                <a:spcPct val="150000"/>
              </a:lnSpc>
              <a:spcBef>
                <a:spcPts val="0"/>
              </a:spcBef>
              <a:spcAft>
                <a:spcPts val="0"/>
              </a:spcAft>
              <a:buClr>
                <a:srgbClr val="000000"/>
              </a:buClr>
              <a:buSzPts val="1400"/>
              <a:buChar char="○"/>
            </a:pPr>
            <a:r>
              <a:rPr lang="en">
                <a:solidFill>
                  <a:srgbClr val="000000"/>
                </a:solidFill>
              </a:rPr>
              <a:t>Samples: 1 μl sample + 199 μl Working Solution</a:t>
            </a:r>
            <a:endParaRPr>
              <a:solidFill>
                <a:srgbClr val="000000"/>
              </a:solidFill>
            </a:endParaRPr>
          </a:p>
          <a:p>
            <a:pPr marL="914400" lvl="0" indent="0" algn="l" rtl="0">
              <a:lnSpc>
                <a:spcPct val="150000"/>
              </a:lnSpc>
              <a:spcBef>
                <a:spcPts val="0"/>
              </a:spcBef>
              <a:spcAft>
                <a:spcPts val="0"/>
              </a:spcAft>
              <a:buNone/>
            </a:pPr>
            <a:endParaRPr>
              <a:solidFill>
                <a:srgbClr val="000000"/>
              </a:solidFill>
            </a:endParaRPr>
          </a:p>
          <a:p>
            <a:pPr marL="171450" lvl="0" indent="-146050" algn="l" rtl="0">
              <a:lnSpc>
                <a:spcPct val="150000"/>
              </a:lnSpc>
              <a:spcBef>
                <a:spcPts val="0"/>
              </a:spcBef>
              <a:spcAft>
                <a:spcPts val="0"/>
              </a:spcAft>
              <a:buClr>
                <a:srgbClr val="000000"/>
              </a:buClr>
              <a:buSzPts val="1400"/>
              <a:buAutoNum type="arabicPeriod"/>
            </a:pPr>
            <a:r>
              <a:rPr lang="en" sz="1400">
                <a:solidFill>
                  <a:srgbClr val="000000"/>
                </a:solidFill>
              </a:rPr>
              <a:t>Vortex 2-3 seconds before running standards/samples</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345" name="Google Shape;345;g36deade42ff_0_921"/>
          <p:cNvSpPr txBox="1">
            <a:spLocks noGrp="1"/>
          </p:cNvSpPr>
          <p:nvPr>
            <p:ph type="title"/>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How to use the Qubit</a:t>
            </a:r>
            <a:endParaRPr sz="2100" b="1">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g36deade42ff_0_929"/>
          <p:cNvSpPr txBox="1"/>
          <p:nvPr/>
        </p:nvSpPr>
        <p:spPr>
          <a:xfrm>
            <a:off x="0" y="3911050"/>
            <a:ext cx="2346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Select dsDNA HS workflow</a:t>
            </a:r>
            <a:endParaRPr/>
          </a:p>
        </p:txBody>
      </p:sp>
      <p:pic>
        <p:nvPicPr>
          <p:cNvPr id="351" name="Google Shape;351;g36deade42ff_0_929"/>
          <p:cNvPicPr preferRelativeResize="0"/>
          <p:nvPr/>
        </p:nvPicPr>
        <p:blipFill>
          <a:blip r:embed="rId3">
            <a:alphaModFix/>
          </a:blip>
          <a:stretch>
            <a:fillRect/>
          </a:stretch>
        </p:blipFill>
        <p:spPr>
          <a:xfrm>
            <a:off x="230400" y="1211425"/>
            <a:ext cx="1959197" cy="2602782"/>
          </a:xfrm>
          <a:prstGeom prst="rect">
            <a:avLst/>
          </a:prstGeom>
          <a:noFill/>
          <a:ln>
            <a:noFill/>
          </a:ln>
        </p:spPr>
      </p:pic>
      <p:pic>
        <p:nvPicPr>
          <p:cNvPr id="352" name="Google Shape;352;g36deade42ff_0_929"/>
          <p:cNvPicPr preferRelativeResize="0"/>
          <p:nvPr/>
        </p:nvPicPr>
        <p:blipFill rotWithShape="1">
          <a:blip r:embed="rId4">
            <a:alphaModFix/>
          </a:blip>
          <a:srcRect t="2064" b="998"/>
          <a:stretch/>
        </p:blipFill>
        <p:spPr>
          <a:xfrm>
            <a:off x="2328448" y="1211425"/>
            <a:ext cx="2023625" cy="2602775"/>
          </a:xfrm>
          <a:prstGeom prst="rect">
            <a:avLst/>
          </a:prstGeom>
          <a:noFill/>
          <a:ln>
            <a:noFill/>
          </a:ln>
        </p:spPr>
      </p:pic>
      <p:pic>
        <p:nvPicPr>
          <p:cNvPr id="353" name="Google Shape;353;g36deade42ff_0_929"/>
          <p:cNvPicPr preferRelativeResize="0"/>
          <p:nvPr/>
        </p:nvPicPr>
        <p:blipFill rotWithShape="1">
          <a:blip r:embed="rId5">
            <a:alphaModFix/>
          </a:blip>
          <a:srcRect l="2653" t="921" r="2235" b="2085"/>
          <a:stretch/>
        </p:blipFill>
        <p:spPr>
          <a:xfrm>
            <a:off x="4490924" y="1211425"/>
            <a:ext cx="1959201" cy="2608922"/>
          </a:xfrm>
          <a:prstGeom prst="rect">
            <a:avLst/>
          </a:prstGeom>
          <a:noFill/>
          <a:ln>
            <a:noFill/>
          </a:ln>
        </p:spPr>
      </p:pic>
      <p:pic>
        <p:nvPicPr>
          <p:cNvPr id="354" name="Google Shape;354;g36deade42ff_0_929"/>
          <p:cNvPicPr preferRelativeResize="0"/>
          <p:nvPr/>
        </p:nvPicPr>
        <p:blipFill rotWithShape="1">
          <a:blip r:embed="rId6">
            <a:alphaModFix/>
          </a:blip>
          <a:srcRect t="1220" b="1936"/>
          <a:stretch/>
        </p:blipFill>
        <p:spPr>
          <a:xfrm>
            <a:off x="6588975" y="1211425"/>
            <a:ext cx="2100384" cy="2608924"/>
          </a:xfrm>
          <a:prstGeom prst="rect">
            <a:avLst/>
          </a:prstGeom>
          <a:noFill/>
          <a:ln>
            <a:noFill/>
          </a:ln>
        </p:spPr>
      </p:pic>
      <p:sp>
        <p:nvSpPr>
          <p:cNvPr id="355" name="Google Shape;355;g36deade42ff_0_929"/>
          <p:cNvSpPr txBox="1"/>
          <p:nvPr/>
        </p:nvSpPr>
        <p:spPr>
          <a:xfrm>
            <a:off x="2073600" y="3911050"/>
            <a:ext cx="2346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the 2 standards</a:t>
            </a:r>
            <a:endParaRPr/>
          </a:p>
        </p:txBody>
      </p:sp>
      <p:sp>
        <p:nvSpPr>
          <p:cNvPr id="356" name="Google Shape;356;g36deade42ff_0_929"/>
          <p:cNvSpPr txBox="1"/>
          <p:nvPr/>
        </p:nvSpPr>
        <p:spPr>
          <a:xfrm>
            <a:off x="4297525" y="3911050"/>
            <a:ext cx="23460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Enter sample volume added to tube</a:t>
            </a:r>
            <a:endParaRPr/>
          </a:p>
        </p:txBody>
      </p:sp>
      <p:sp>
        <p:nvSpPr>
          <p:cNvPr id="357" name="Google Shape;357;g36deade42ff_0_929"/>
          <p:cNvSpPr txBox="1"/>
          <p:nvPr/>
        </p:nvSpPr>
        <p:spPr>
          <a:xfrm>
            <a:off x="6466176" y="3911050"/>
            <a:ext cx="2587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Run sample</a:t>
            </a:r>
            <a:endParaRPr/>
          </a:p>
          <a:p>
            <a:pPr marL="0" lvl="0" indent="0" algn="ctr" rtl="0">
              <a:spcBef>
                <a:spcPts val="0"/>
              </a:spcBef>
              <a:spcAft>
                <a:spcPts val="0"/>
              </a:spcAft>
              <a:buNone/>
            </a:pPr>
            <a:r>
              <a:rPr lang="en"/>
              <a:t>Top value = original conc.</a:t>
            </a:r>
            <a:endParaRPr/>
          </a:p>
          <a:p>
            <a:pPr marL="0" lvl="0" indent="0" algn="ctr" rtl="0">
              <a:spcBef>
                <a:spcPts val="0"/>
              </a:spcBef>
              <a:spcAft>
                <a:spcPts val="0"/>
              </a:spcAft>
              <a:buNone/>
            </a:pPr>
            <a:r>
              <a:rPr lang="en"/>
              <a:t>Bottom value = diluted conc.</a:t>
            </a:r>
            <a:endParaRPr/>
          </a:p>
        </p:txBody>
      </p:sp>
      <p:sp>
        <p:nvSpPr>
          <p:cNvPr id="358" name="Google Shape;358;g36deade42ff_0_929"/>
          <p:cNvSpPr/>
          <p:nvPr/>
        </p:nvSpPr>
        <p:spPr>
          <a:xfrm>
            <a:off x="6652400" y="4207325"/>
            <a:ext cx="2158800" cy="2424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g36deade42ff_0_929"/>
          <p:cNvSpPr txBox="1">
            <a:spLocks noGrp="1"/>
          </p:cNvSpPr>
          <p:nvPr>
            <p:ph type="body" idx="4294967295"/>
          </p:nvPr>
        </p:nvSpPr>
        <p:spPr>
          <a:xfrm>
            <a:off x="132525" y="743000"/>
            <a:ext cx="5864100" cy="3045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b="1">
                <a:solidFill>
                  <a:srgbClr val="000000"/>
                </a:solidFill>
              </a:rPr>
              <a:t>Qubit dsDNA </a:t>
            </a:r>
            <a:r>
              <a:rPr lang="en" sz="1400" b="1" u="sng">
                <a:solidFill>
                  <a:srgbClr val="000000"/>
                </a:solidFill>
              </a:rPr>
              <a:t>H</a:t>
            </a:r>
            <a:r>
              <a:rPr lang="en" sz="1400" b="1">
                <a:solidFill>
                  <a:srgbClr val="000000"/>
                </a:solidFill>
              </a:rPr>
              <a:t>igh </a:t>
            </a:r>
            <a:r>
              <a:rPr lang="en" sz="1400" b="1" u="sng">
                <a:solidFill>
                  <a:srgbClr val="000000"/>
                </a:solidFill>
              </a:rPr>
              <a:t>S</a:t>
            </a:r>
            <a:r>
              <a:rPr lang="en" sz="1400" b="1">
                <a:solidFill>
                  <a:srgbClr val="000000"/>
                </a:solidFill>
              </a:rPr>
              <a:t>ensitivity (HS) Assay kit</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p:txBody>
      </p:sp>
      <p:sp>
        <p:nvSpPr>
          <p:cNvPr id="360" name="Google Shape;360;g36deade42ff_0_929"/>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How to use the Qubit</a:t>
            </a:r>
            <a:endParaRPr sz="2100" b="1">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36deade42ff_0_943"/>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g36deade42ff_0_943"/>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367" name="Google Shape;367;g36deade42ff_0_943"/>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368" name="Google Shape;368;g36deade42ff_0_943"/>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369" name="Google Shape;369;g36deade42ff_0_943"/>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370" name="Google Shape;370;g36deade42ff_0_943"/>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371" name="Google Shape;371;g36deade42ff_0_943"/>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372" name="Google Shape;372;g36deade42ff_0_943"/>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373" name="Google Shape;373;g36deade42ff_0_943"/>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374" name="Google Shape;374;g36deade42ff_0_943"/>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375" name="Google Shape;375;g36deade42ff_0_943"/>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376" name="Google Shape;376;g36deade42ff_0_943"/>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377" name="Google Shape;377;g36deade42ff_0_943"/>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378" name="Google Shape;378;g36deade42ff_0_943"/>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379" name="Google Shape;379;g36deade42ff_0_943"/>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380" name="Google Shape;380;g36deade42ff_0_943"/>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381" name="Google Shape;381;g36deade42ff_0_943"/>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382" name="Google Shape;382;g36deade42ff_0_943"/>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383" name="Google Shape;383;g36deade42ff_0_943"/>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384" name="Google Shape;384;g36deade42ff_0_943"/>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385" name="Google Shape;385;g36deade42ff_0_943"/>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386" name="Google Shape;386;g36deade42ff_0_943"/>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387" name="Google Shape;387;g36deade42ff_0_943"/>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388" name="Google Shape;388;g36deade42ff_0_943"/>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389" name="Google Shape;389;g36deade42ff_0_943"/>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390" name="Google Shape;390;g36deade42ff_0_943"/>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391" name="Google Shape;391;g36deade42ff_0_943"/>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392" name="Google Shape;392;g36deade42ff_0_943"/>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393" name="Google Shape;393;g36deade42ff_0_943"/>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394" name="Google Shape;394;g36deade42ff_0_943"/>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395" name="Google Shape;395;g36deade42ff_0_943"/>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396" name="Google Shape;396;g36deade42ff_0_943"/>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397" name="Google Shape;397;g36deade42ff_0_943"/>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398" name="Google Shape;398;g36deade42ff_0_943"/>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399" name="Google Shape;399;g36deade42ff_0_943"/>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400" name="Google Shape;400;g36deade42ff_0_943"/>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401" name="Google Shape;401;g36deade42ff_0_943"/>
          <p:cNvGrpSpPr/>
          <p:nvPr/>
        </p:nvGrpSpPr>
        <p:grpSpPr>
          <a:xfrm>
            <a:off x="281913" y="1634388"/>
            <a:ext cx="2366199" cy="308375"/>
            <a:chOff x="281913" y="1862988"/>
            <a:chExt cx="2366199" cy="308375"/>
          </a:xfrm>
        </p:grpSpPr>
        <p:pic>
          <p:nvPicPr>
            <p:cNvPr id="402" name="Google Shape;402;g36deade42ff_0_943"/>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403" name="Google Shape;403;g36deade42ff_0_943"/>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404" name="Google Shape;404;g36deade42ff_0_943"/>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405" name="Google Shape;405;g36deade42ff_0_943"/>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406" name="Google Shape;406;g36deade42ff_0_943"/>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407" name="Google Shape;407;g36deade42ff_0_943"/>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408" name="Google Shape;408;g36deade42ff_0_943"/>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409" name="Google Shape;409;g36deade42ff_0_943"/>
          <p:cNvGrpSpPr/>
          <p:nvPr/>
        </p:nvGrpSpPr>
        <p:grpSpPr>
          <a:xfrm>
            <a:off x="3193413" y="1634388"/>
            <a:ext cx="2366199" cy="308375"/>
            <a:chOff x="3159638" y="1911975"/>
            <a:chExt cx="2366199" cy="308375"/>
          </a:xfrm>
        </p:grpSpPr>
        <p:pic>
          <p:nvPicPr>
            <p:cNvPr id="410" name="Google Shape;410;g36deade42ff_0_94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411" name="Google Shape;411;g36deade42ff_0_94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412" name="Google Shape;412;g36deade42ff_0_94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413" name="Google Shape;413;g36deade42ff_0_94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414" name="Google Shape;414;g36deade42ff_0_94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415" name="Google Shape;415;g36deade42ff_0_94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416" name="Google Shape;416;g36deade42ff_0_943"/>
          <p:cNvGrpSpPr/>
          <p:nvPr/>
        </p:nvGrpSpPr>
        <p:grpSpPr>
          <a:xfrm>
            <a:off x="4037313" y="2450650"/>
            <a:ext cx="1583916" cy="69900"/>
            <a:chOff x="4037313" y="3136450"/>
            <a:chExt cx="1583916" cy="69900"/>
          </a:xfrm>
        </p:grpSpPr>
        <p:pic>
          <p:nvPicPr>
            <p:cNvPr id="417" name="Google Shape;417;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18" name="Google Shape;418;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19" name="Google Shape;419;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20" name="Google Shape;420;g36deade42ff_0_943"/>
          <p:cNvGrpSpPr/>
          <p:nvPr/>
        </p:nvGrpSpPr>
        <p:grpSpPr>
          <a:xfrm>
            <a:off x="3244063" y="2587938"/>
            <a:ext cx="1583916" cy="69900"/>
            <a:chOff x="4037313" y="3136450"/>
            <a:chExt cx="1583916" cy="69900"/>
          </a:xfrm>
        </p:grpSpPr>
        <p:pic>
          <p:nvPicPr>
            <p:cNvPr id="421" name="Google Shape;421;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22" name="Google Shape;422;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23" name="Google Shape;423;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24" name="Google Shape;424;g36deade42ff_0_943"/>
          <p:cNvGrpSpPr/>
          <p:nvPr/>
        </p:nvGrpSpPr>
        <p:grpSpPr>
          <a:xfrm>
            <a:off x="3968338" y="2725225"/>
            <a:ext cx="1583916" cy="69900"/>
            <a:chOff x="4037313" y="3136450"/>
            <a:chExt cx="1583916" cy="69900"/>
          </a:xfrm>
        </p:grpSpPr>
        <p:pic>
          <p:nvPicPr>
            <p:cNvPr id="425" name="Google Shape;425;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26" name="Google Shape;426;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27" name="Google Shape;427;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28" name="Google Shape;428;g36deade42ff_0_943"/>
          <p:cNvGrpSpPr/>
          <p:nvPr/>
        </p:nvGrpSpPr>
        <p:grpSpPr>
          <a:xfrm>
            <a:off x="3618363" y="2862513"/>
            <a:ext cx="1583916" cy="69900"/>
            <a:chOff x="4037313" y="3136450"/>
            <a:chExt cx="1583916" cy="69900"/>
          </a:xfrm>
        </p:grpSpPr>
        <p:pic>
          <p:nvPicPr>
            <p:cNvPr id="429" name="Google Shape;429;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30" name="Google Shape;430;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31" name="Google Shape;431;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432" name="Google Shape;432;g36deade42ff_0_943"/>
          <p:cNvGrpSpPr/>
          <p:nvPr/>
        </p:nvGrpSpPr>
        <p:grpSpPr>
          <a:xfrm>
            <a:off x="3319063" y="2999800"/>
            <a:ext cx="1583916" cy="69900"/>
            <a:chOff x="4037313" y="3136450"/>
            <a:chExt cx="1583916" cy="69900"/>
          </a:xfrm>
        </p:grpSpPr>
        <p:pic>
          <p:nvPicPr>
            <p:cNvPr id="433" name="Google Shape;433;g36deade42ff_0_94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434" name="Google Shape;434;g36deade42ff_0_94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435" name="Google Shape;435;g36deade42ff_0_94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436" name="Google Shape;436;g36deade42ff_0_943"/>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437" name="Google Shape;437;g36deade42ff_0_943"/>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438" name="Google Shape;438;g36deade42ff_0_943"/>
          <p:cNvGrpSpPr/>
          <p:nvPr/>
        </p:nvGrpSpPr>
        <p:grpSpPr>
          <a:xfrm>
            <a:off x="3709954" y="3422048"/>
            <a:ext cx="486765" cy="69900"/>
            <a:chOff x="3581517" y="4234748"/>
            <a:chExt cx="486765" cy="69900"/>
          </a:xfrm>
        </p:grpSpPr>
        <p:pic>
          <p:nvPicPr>
            <p:cNvPr id="439" name="Google Shape;439;g36deade42ff_0_943"/>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440" name="Google Shape;440;g36deade42ff_0_943"/>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441" name="Google Shape;441;g36deade42ff_0_943"/>
          <p:cNvGrpSpPr/>
          <p:nvPr/>
        </p:nvGrpSpPr>
        <p:grpSpPr>
          <a:xfrm>
            <a:off x="3996079" y="3599948"/>
            <a:ext cx="486765" cy="69900"/>
            <a:chOff x="3867642" y="4412648"/>
            <a:chExt cx="486765" cy="69900"/>
          </a:xfrm>
        </p:grpSpPr>
        <p:pic>
          <p:nvPicPr>
            <p:cNvPr id="442" name="Google Shape;442;g36deade42ff_0_943"/>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443" name="Google Shape;443;g36deade42ff_0_943"/>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444" name="Google Shape;444;g36deade42ff_0_943"/>
          <p:cNvGrpSpPr/>
          <p:nvPr/>
        </p:nvGrpSpPr>
        <p:grpSpPr>
          <a:xfrm>
            <a:off x="4363804" y="3477123"/>
            <a:ext cx="486765" cy="69900"/>
            <a:chOff x="4235367" y="4289823"/>
            <a:chExt cx="486765" cy="69900"/>
          </a:xfrm>
        </p:grpSpPr>
        <p:pic>
          <p:nvPicPr>
            <p:cNvPr id="445" name="Google Shape;445;g36deade42ff_0_94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446" name="Google Shape;446;g36deade42ff_0_94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447" name="Google Shape;447;g36deade42ff_0_943"/>
          <p:cNvGrpSpPr/>
          <p:nvPr/>
        </p:nvGrpSpPr>
        <p:grpSpPr>
          <a:xfrm>
            <a:off x="6789551" y="2380750"/>
            <a:ext cx="417498" cy="69900"/>
            <a:chOff x="4495488" y="4546300"/>
            <a:chExt cx="417498" cy="69900"/>
          </a:xfrm>
        </p:grpSpPr>
        <p:pic>
          <p:nvPicPr>
            <p:cNvPr id="448" name="Google Shape;448;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49" name="Google Shape;449;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50" name="Google Shape;450;g36deade42ff_0_943"/>
          <p:cNvGrpSpPr/>
          <p:nvPr/>
        </p:nvGrpSpPr>
        <p:grpSpPr>
          <a:xfrm>
            <a:off x="4079779" y="3807123"/>
            <a:ext cx="486765" cy="69900"/>
            <a:chOff x="3951342" y="4619823"/>
            <a:chExt cx="486765" cy="69900"/>
          </a:xfrm>
        </p:grpSpPr>
        <p:pic>
          <p:nvPicPr>
            <p:cNvPr id="451" name="Google Shape;451;g36deade42ff_0_943"/>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452" name="Google Shape;452;g36deade42ff_0_943"/>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453" name="Google Shape;453;g36deade42ff_0_943"/>
          <p:cNvGrpSpPr/>
          <p:nvPr/>
        </p:nvGrpSpPr>
        <p:grpSpPr>
          <a:xfrm>
            <a:off x="6487113" y="1634388"/>
            <a:ext cx="2366199" cy="308375"/>
            <a:chOff x="3159638" y="1911975"/>
            <a:chExt cx="2366199" cy="308375"/>
          </a:xfrm>
        </p:grpSpPr>
        <p:pic>
          <p:nvPicPr>
            <p:cNvPr id="454" name="Google Shape;454;g36deade42ff_0_94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455" name="Google Shape;455;g36deade42ff_0_94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456" name="Google Shape;456;g36deade42ff_0_94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457" name="Google Shape;457;g36deade42ff_0_94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458" name="Google Shape;458;g36deade42ff_0_94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459" name="Google Shape;459;g36deade42ff_0_94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460" name="Google Shape;460;g36deade42ff_0_943"/>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461" name="Google Shape;461;g36deade42ff_0_943"/>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462" name="Google Shape;462;g36deade42ff_0_943"/>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463" name="Google Shape;463;g36deade42ff_0_943"/>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464" name="Google Shape;464;g36deade42ff_0_943"/>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465" name="Google Shape;465;g36deade42ff_0_943"/>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466" name="Google Shape;466;g36deade42ff_0_943"/>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467" name="Google Shape;467;g36deade42ff_0_943"/>
          <p:cNvGrpSpPr/>
          <p:nvPr/>
        </p:nvGrpSpPr>
        <p:grpSpPr>
          <a:xfrm>
            <a:off x="4585892" y="3696623"/>
            <a:ext cx="486765" cy="69900"/>
            <a:chOff x="4235367" y="4289823"/>
            <a:chExt cx="486765" cy="69900"/>
          </a:xfrm>
        </p:grpSpPr>
        <p:pic>
          <p:nvPicPr>
            <p:cNvPr id="468" name="Google Shape;468;g36deade42ff_0_94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469" name="Google Shape;469;g36deade42ff_0_94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470" name="Google Shape;470;g36deade42ff_0_943"/>
          <p:cNvGrpSpPr/>
          <p:nvPr/>
        </p:nvGrpSpPr>
        <p:grpSpPr>
          <a:xfrm>
            <a:off x="8073451" y="2422475"/>
            <a:ext cx="417498" cy="69900"/>
            <a:chOff x="4495488" y="4546300"/>
            <a:chExt cx="417498" cy="69900"/>
          </a:xfrm>
        </p:grpSpPr>
        <p:pic>
          <p:nvPicPr>
            <p:cNvPr id="471" name="Google Shape;471;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72" name="Google Shape;472;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73" name="Google Shape;473;g36deade42ff_0_943"/>
          <p:cNvGrpSpPr/>
          <p:nvPr/>
        </p:nvGrpSpPr>
        <p:grpSpPr>
          <a:xfrm>
            <a:off x="6819226" y="2865025"/>
            <a:ext cx="417498" cy="69900"/>
            <a:chOff x="4495488" y="4546300"/>
            <a:chExt cx="417498" cy="69900"/>
          </a:xfrm>
        </p:grpSpPr>
        <p:pic>
          <p:nvPicPr>
            <p:cNvPr id="474" name="Google Shape;474;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75" name="Google Shape;475;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76" name="Google Shape;476;g36deade42ff_0_943"/>
          <p:cNvGrpSpPr/>
          <p:nvPr/>
        </p:nvGrpSpPr>
        <p:grpSpPr>
          <a:xfrm>
            <a:off x="7538426" y="3008925"/>
            <a:ext cx="417498" cy="69900"/>
            <a:chOff x="4495488" y="4546300"/>
            <a:chExt cx="417498" cy="69900"/>
          </a:xfrm>
        </p:grpSpPr>
        <p:pic>
          <p:nvPicPr>
            <p:cNvPr id="477" name="Google Shape;477;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78" name="Google Shape;478;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79" name="Google Shape;479;g36deade42ff_0_943"/>
          <p:cNvGrpSpPr/>
          <p:nvPr/>
        </p:nvGrpSpPr>
        <p:grpSpPr>
          <a:xfrm>
            <a:off x="8183576" y="2950650"/>
            <a:ext cx="417498" cy="69900"/>
            <a:chOff x="4495488" y="4546300"/>
            <a:chExt cx="417498" cy="69900"/>
          </a:xfrm>
        </p:grpSpPr>
        <p:pic>
          <p:nvPicPr>
            <p:cNvPr id="480" name="Google Shape;480;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81" name="Google Shape;481;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82" name="Google Shape;482;g36deade42ff_0_943"/>
          <p:cNvGrpSpPr/>
          <p:nvPr/>
        </p:nvGrpSpPr>
        <p:grpSpPr>
          <a:xfrm>
            <a:off x="7345076" y="2649137"/>
            <a:ext cx="417498" cy="69900"/>
            <a:chOff x="4495488" y="4546300"/>
            <a:chExt cx="417498" cy="69900"/>
          </a:xfrm>
        </p:grpSpPr>
        <p:pic>
          <p:nvPicPr>
            <p:cNvPr id="483" name="Google Shape;483;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84" name="Google Shape;484;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485" name="Google Shape;485;g36deade42ff_0_943"/>
          <p:cNvGrpSpPr/>
          <p:nvPr/>
        </p:nvGrpSpPr>
        <p:grpSpPr>
          <a:xfrm>
            <a:off x="7396476" y="3259575"/>
            <a:ext cx="417498" cy="69900"/>
            <a:chOff x="4495488" y="4546300"/>
            <a:chExt cx="417498" cy="69900"/>
          </a:xfrm>
        </p:grpSpPr>
        <p:pic>
          <p:nvPicPr>
            <p:cNvPr id="486" name="Google Shape;486;g36deade42ff_0_94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487" name="Google Shape;487;g36deade42ff_0_94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488" name="Google Shape;488;g36deade42ff_0_943"/>
          <p:cNvSpPr/>
          <p:nvPr/>
        </p:nvSpPr>
        <p:spPr>
          <a:xfrm>
            <a:off x="30473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g36deade42ff_0_943"/>
          <p:cNvSpPr txBox="1">
            <a:spLocks noGrp="1"/>
          </p:cNvSpPr>
          <p:nvPr>
            <p:ph type="title"/>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prep QC</a:t>
            </a:r>
            <a:endParaRPr sz="2100" b="1">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g36deade42ff_0_1071"/>
          <p:cNvSpPr txBox="1"/>
          <p:nvPr/>
        </p:nvSpPr>
        <p:spPr>
          <a:xfrm>
            <a:off x="454350" y="1054650"/>
            <a:ext cx="8229600" cy="3594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Why </a:t>
            </a:r>
            <a:r>
              <a:rPr lang="en" sz="1600"/>
              <a:t>is it important to assess library size distribution?</a:t>
            </a:r>
            <a:endParaRPr sz="1600"/>
          </a:p>
          <a:p>
            <a:pPr marL="0" lvl="0" indent="0" algn="l" rtl="0">
              <a:lnSpc>
                <a:spcPct val="150000"/>
              </a:lnSpc>
              <a:spcBef>
                <a:spcPts val="0"/>
              </a:spcBef>
              <a:spcAft>
                <a:spcPts val="0"/>
              </a:spcAft>
              <a:buNone/>
            </a:pPr>
            <a:endParaRPr sz="1000"/>
          </a:p>
          <a:p>
            <a:pPr marL="457200" lvl="0" indent="-330200" algn="l" rtl="0">
              <a:spcBef>
                <a:spcPts val="0"/>
              </a:spcBef>
              <a:spcAft>
                <a:spcPts val="0"/>
              </a:spcAft>
              <a:buSzPts val="1600"/>
              <a:buChar char="●"/>
            </a:pPr>
            <a:r>
              <a:rPr lang="en" sz="1600"/>
              <a:t>Depending on sample quality, there can be huge variations in the library size (100s of bases to 1000s of bases)</a:t>
            </a:r>
            <a:endParaRPr sz="1600"/>
          </a:p>
          <a:p>
            <a:pPr marL="457200" lvl="0" indent="0" algn="l" rtl="0">
              <a:lnSpc>
                <a:spcPct val="150000"/>
              </a:lnSpc>
              <a:spcBef>
                <a:spcPts val="0"/>
              </a:spcBef>
              <a:spcAft>
                <a:spcPts val="0"/>
              </a:spcAft>
              <a:buNone/>
            </a:pPr>
            <a:endParaRPr sz="1500"/>
          </a:p>
          <a:p>
            <a:pPr marL="457200" lvl="0" indent="-330200" algn="l" rtl="0">
              <a:spcBef>
                <a:spcPts val="0"/>
              </a:spcBef>
              <a:spcAft>
                <a:spcPts val="0"/>
              </a:spcAft>
              <a:buSzPts val="1600"/>
              <a:buChar char="●"/>
            </a:pPr>
            <a:r>
              <a:rPr lang="en" sz="1600"/>
              <a:t>Non-specific products can sometimes be formed</a:t>
            </a:r>
            <a:endParaRPr sz="1600"/>
          </a:p>
          <a:p>
            <a:pPr marL="914400" lvl="1" indent="-330200" algn="l" rtl="0">
              <a:spcBef>
                <a:spcPts val="0"/>
              </a:spcBef>
              <a:spcAft>
                <a:spcPts val="0"/>
              </a:spcAft>
              <a:buSzPts val="1600"/>
              <a:buChar char="○"/>
            </a:pPr>
            <a:r>
              <a:rPr lang="en" sz="1600"/>
              <a:t>Primer/oligo dimers when high input cDNA concentrations are used</a:t>
            </a:r>
            <a:endParaRPr sz="1600"/>
          </a:p>
          <a:p>
            <a:pPr marL="914400" lvl="1" indent="-330200" algn="l" rtl="0">
              <a:spcBef>
                <a:spcPts val="0"/>
              </a:spcBef>
              <a:spcAft>
                <a:spcPts val="0"/>
              </a:spcAft>
              <a:buSzPts val="1600"/>
              <a:buChar char="○"/>
            </a:pPr>
            <a:r>
              <a:rPr lang="en" sz="1600"/>
              <a:t>Long concatemers that can block pores and reduce sequencing output (~10kb or more)</a:t>
            </a: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Fragment length distribution impacts molarity calculations for pooling and sequencer loading </a:t>
            </a:r>
            <a:endParaRPr sz="1600"/>
          </a:p>
          <a:p>
            <a:pPr marL="914400" lvl="1" indent="-330200" algn="l" rtl="0">
              <a:spcBef>
                <a:spcPts val="0"/>
              </a:spcBef>
              <a:spcAft>
                <a:spcPts val="0"/>
              </a:spcAft>
              <a:buSzPts val="1600"/>
              <a:buChar char="○"/>
            </a:pPr>
            <a:r>
              <a:rPr lang="en" sz="1600"/>
              <a:t>Convert from ng/μl (Qubit) + Length bp to nM (fmol/µL) </a:t>
            </a:r>
            <a:endParaRPr sz="1600"/>
          </a:p>
        </p:txBody>
      </p:sp>
      <p:sp>
        <p:nvSpPr>
          <p:cNvPr id="495" name="Google Shape;495;g36deade42ff_0_1071"/>
          <p:cNvSpPr txBox="1">
            <a:spLocks noGrp="1"/>
          </p:cNvSpPr>
          <p:nvPr>
            <p:ph type="title" idx="4294967295"/>
          </p:nvPr>
        </p:nvSpPr>
        <p:spPr>
          <a:xfrm>
            <a:off x="267550" y="93725"/>
            <a:ext cx="8551800" cy="808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Assessing length can provide insight to the quality of the library:</a:t>
            </a:r>
            <a:endParaRPr sz="2100" b="1">
              <a:latin typeface="Lato"/>
              <a:ea typeface="Lato"/>
              <a:cs typeface="Lato"/>
              <a:sym typeface="Lato"/>
            </a:endParaRPr>
          </a:p>
          <a:p>
            <a:pPr marL="0" lvl="0" indent="0" algn="ctr" rtl="0">
              <a:lnSpc>
                <a:spcPct val="100000"/>
              </a:lnSpc>
              <a:spcBef>
                <a:spcPts val="0"/>
              </a:spcBef>
              <a:spcAft>
                <a:spcPts val="0"/>
              </a:spcAft>
              <a:buSzPts val="2800"/>
              <a:buNone/>
            </a:pPr>
            <a:r>
              <a:rPr lang="en" sz="2100" b="1" i="1">
                <a:latin typeface="Lato"/>
                <a:ea typeface="Lato"/>
                <a:cs typeface="Lato"/>
                <a:sym typeface="Lato"/>
              </a:rPr>
              <a:t>Is the library good enough to load?</a:t>
            </a:r>
            <a:endParaRPr sz="2100" b="1" i="1">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g36deade42ff_0_1076"/>
          <p:cNvSpPr txBox="1"/>
          <p:nvPr/>
        </p:nvSpPr>
        <p:spPr>
          <a:xfrm>
            <a:off x="1257163" y="1121600"/>
            <a:ext cx="190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Gel electrophoresis</a:t>
            </a:r>
            <a:endParaRPr b="1"/>
          </a:p>
        </p:txBody>
      </p:sp>
      <p:sp>
        <p:nvSpPr>
          <p:cNvPr id="501" name="Google Shape;501;g36deade42ff_0_1076"/>
          <p:cNvSpPr txBox="1"/>
          <p:nvPr/>
        </p:nvSpPr>
        <p:spPr>
          <a:xfrm>
            <a:off x="5638500" y="893000"/>
            <a:ext cx="32058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t>Capillary electrophoresis</a:t>
            </a:r>
            <a:endParaRPr b="1"/>
          </a:p>
          <a:p>
            <a:pPr marL="0" lvl="0" indent="0" algn="ctr" rtl="0">
              <a:lnSpc>
                <a:spcPct val="115000"/>
              </a:lnSpc>
              <a:spcBef>
                <a:spcPts val="0"/>
              </a:spcBef>
              <a:spcAft>
                <a:spcPts val="0"/>
              </a:spcAft>
              <a:buNone/>
            </a:pPr>
            <a:r>
              <a:rPr lang="en"/>
              <a:t>E.g. Tapestation, Bioanalyzer</a:t>
            </a:r>
            <a:endParaRPr/>
          </a:p>
        </p:txBody>
      </p:sp>
      <p:sp>
        <p:nvSpPr>
          <p:cNvPr id="502" name="Google Shape;502;g36deade42ff_0_1076"/>
          <p:cNvSpPr txBox="1"/>
          <p:nvPr/>
        </p:nvSpPr>
        <p:spPr>
          <a:xfrm>
            <a:off x="100925" y="3257425"/>
            <a:ext cx="4756200" cy="10467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PCR amplify an aliquot of the library using “universal” primers</a:t>
            </a:r>
            <a:endParaRPr/>
          </a:p>
          <a:p>
            <a:pPr marL="285750" lvl="0" indent="-203200" algn="l" rtl="0">
              <a:lnSpc>
                <a:spcPct val="150000"/>
              </a:lnSpc>
              <a:spcBef>
                <a:spcPts val="0"/>
              </a:spcBef>
              <a:spcAft>
                <a:spcPts val="0"/>
              </a:spcAft>
              <a:buSzPts val="1400"/>
              <a:buAutoNum type="arabicPeriod"/>
            </a:pPr>
            <a:r>
              <a:rPr lang="en"/>
              <a:t>Gel electrophoresis of ladder and samples</a:t>
            </a:r>
            <a:endParaRPr/>
          </a:p>
        </p:txBody>
      </p:sp>
      <p:sp>
        <p:nvSpPr>
          <p:cNvPr id="503" name="Google Shape;503;g36deade42ff_0_1076"/>
          <p:cNvSpPr txBox="1"/>
          <p:nvPr/>
        </p:nvSpPr>
        <p:spPr>
          <a:xfrm>
            <a:off x="5638500" y="3028825"/>
            <a:ext cx="3834900" cy="7233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Add buffer to aliquot of library</a:t>
            </a:r>
            <a:endParaRPr/>
          </a:p>
          <a:p>
            <a:pPr marL="285750" lvl="0" indent="-203200" algn="l" rtl="0">
              <a:lnSpc>
                <a:spcPct val="150000"/>
              </a:lnSpc>
              <a:spcBef>
                <a:spcPts val="0"/>
              </a:spcBef>
              <a:spcAft>
                <a:spcPts val="0"/>
              </a:spcAft>
              <a:buSzPts val="1400"/>
              <a:buAutoNum type="arabicPeriod"/>
            </a:pPr>
            <a:r>
              <a:rPr lang="en"/>
              <a:t>Run machine</a:t>
            </a:r>
            <a:endParaRPr/>
          </a:p>
        </p:txBody>
      </p:sp>
      <p:sp>
        <p:nvSpPr>
          <p:cNvPr id="504" name="Google Shape;504;g36deade42ff_0_1076"/>
          <p:cNvSpPr txBox="1"/>
          <p:nvPr/>
        </p:nvSpPr>
        <p:spPr>
          <a:xfrm>
            <a:off x="454350" y="4264825"/>
            <a:ext cx="3763200" cy="1046700"/>
          </a:xfrm>
          <a:prstGeom prst="rect">
            <a:avLst/>
          </a:prstGeom>
          <a:noFill/>
          <a:ln>
            <a:noFill/>
          </a:ln>
        </p:spPr>
        <p:txBody>
          <a:bodyPr spcFirstLastPara="1" wrap="square" lIns="91425" tIns="91425" rIns="91425" bIns="91425" anchor="t" anchorCtr="0">
            <a:spAutoFit/>
          </a:bodyPr>
          <a:lstStyle/>
          <a:p>
            <a:pPr marL="342900" lvl="0" indent="-203200" algn="l" rtl="0">
              <a:spcBef>
                <a:spcPts val="0"/>
              </a:spcBef>
              <a:spcAft>
                <a:spcPts val="0"/>
              </a:spcAft>
              <a:buSzPts val="1400"/>
              <a:buChar char="●"/>
            </a:pPr>
            <a:r>
              <a:rPr lang="en"/>
              <a:t>Takes ~ 4 hrs</a:t>
            </a:r>
            <a:endParaRPr/>
          </a:p>
          <a:p>
            <a:pPr marL="342900" lvl="0" indent="-203200" algn="l" rtl="0">
              <a:spcBef>
                <a:spcPts val="0"/>
              </a:spcBef>
              <a:spcAft>
                <a:spcPts val="0"/>
              </a:spcAft>
              <a:buSzPts val="1400"/>
              <a:buChar char="●"/>
            </a:pPr>
            <a:r>
              <a:rPr lang="en"/>
              <a:t>Does not require specialized equipment</a:t>
            </a:r>
            <a:endParaRPr/>
          </a:p>
          <a:p>
            <a:pPr marL="342900" lvl="0" indent="-203200" algn="l" rtl="0">
              <a:spcBef>
                <a:spcPts val="0"/>
              </a:spcBef>
              <a:spcAft>
                <a:spcPts val="0"/>
              </a:spcAft>
              <a:buSzPts val="1400"/>
              <a:buChar char="●"/>
            </a:pPr>
            <a:r>
              <a:rPr lang="en"/>
              <a:t>Tends to slightly overestimate library size</a:t>
            </a:r>
            <a:endParaRPr/>
          </a:p>
          <a:p>
            <a:pPr marL="0" lvl="0" indent="0" algn="ctr" rtl="0">
              <a:spcBef>
                <a:spcPts val="0"/>
              </a:spcBef>
              <a:spcAft>
                <a:spcPts val="0"/>
              </a:spcAft>
              <a:buNone/>
            </a:pPr>
            <a:endParaRPr/>
          </a:p>
        </p:txBody>
      </p:sp>
      <p:sp>
        <p:nvSpPr>
          <p:cNvPr id="505" name="Google Shape;505;g36deade42ff_0_1076"/>
          <p:cNvSpPr txBox="1"/>
          <p:nvPr/>
        </p:nvSpPr>
        <p:spPr>
          <a:xfrm>
            <a:off x="5388050" y="3999900"/>
            <a:ext cx="3205800" cy="1143600"/>
          </a:xfrm>
          <a:prstGeom prst="rect">
            <a:avLst/>
          </a:prstGeom>
          <a:noFill/>
          <a:ln>
            <a:noFill/>
          </a:ln>
        </p:spPr>
        <p:txBody>
          <a:bodyPr spcFirstLastPara="1" wrap="square" lIns="91425" tIns="91425" rIns="91425" bIns="91425" anchor="t" anchorCtr="0">
            <a:spAutoFit/>
          </a:bodyPr>
          <a:lstStyle/>
          <a:p>
            <a:pPr marL="228600" lvl="0" indent="-203200" algn="l" rtl="0">
              <a:lnSpc>
                <a:spcPct val="115000"/>
              </a:lnSpc>
              <a:spcBef>
                <a:spcPts val="0"/>
              </a:spcBef>
              <a:spcAft>
                <a:spcPts val="0"/>
              </a:spcAft>
              <a:buSzPts val="1400"/>
              <a:buChar char="●"/>
            </a:pPr>
            <a:r>
              <a:rPr lang="en"/>
              <a:t>Tapestation ~ 10-20 minutes</a:t>
            </a:r>
            <a:endParaRPr/>
          </a:p>
          <a:p>
            <a:pPr marL="228600" lvl="0" indent="-203200" algn="l" rtl="0">
              <a:lnSpc>
                <a:spcPct val="115000"/>
              </a:lnSpc>
              <a:spcBef>
                <a:spcPts val="0"/>
              </a:spcBef>
              <a:spcAft>
                <a:spcPts val="0"/>
              </a:spcAft>
              <a:buSzPts val="1400"/>
              <a:buChar char="●"/>
            </a:pPr>
            <a:r>
              <a:rPr lang="en"/>
              <a:t>Bioanalyzer ~ 45 minutes</a:t>
            </a:r>
            <a:endParaRPr/>
          </a:p>
          <a:p>
            <a:pPr marL="228600" lvl="0" indent="-203200" algn="l" rtl="0">
              <a:lnSpc>
                <a:spcPct val="115000"/>
              </a:lnSpc>
              <a:spcBef>
                <a:spcPts val="0"/>
              </a:spcBef>
              <a:spcAft>
                <a:spcPts val="0"/>
              </a:spcAft>
              <a:buSzPts val="1400"/>
              <a:buChar char="●"/>
            </a:pPr>
            <a:r>
              <a:rPr lang="en"/>
              <a:t>No PCR bias</a:t>
            </a:r>
            <a:endParaRPr/>
          </a:p>
          <a:p>
            <a:pPr marL="228600" lvl="0" indent="-203200" algn="l" rtl="0">
              <a:lnSpc>
                <a:spcPct val="115000"/>
              </a:lnSpc>
              <a:spcBef>
                <a:spcPts val="0"/>
              </a:spcBef>
              <a:spcAft>
                <a:spcPts val="0"/>
              </a:spcAft>
              <a:buSzPts val="1400"/>
              <a:buChar char="●"/>
            </a:pPr>
            <a:r>
              <a:rPr lang="en"/>
              <a:t>Can calculate concentration in nM</a:t>
            </a:r>
            <a:endParaRPr/>
          </a:p>
        </p:txBody>
      </p:sp>
      <p:pic>
        <p:nvPicPr>
          <p:cNvPr id="506" name="Google Shape;506;g36deade42ff_0_1076"/>
          <p:cNvPicPr preferRelativeResize="0"/>
          <p:nvPr/>
        </p:nvPicPr>
        <p:blipFill rotWithShape="1">
          <a:blip r:embed="rId3">
            <a:alphaModFix/>
          </a:blip>
          <a:srcRect l="23046" r="20946"/>
          <a:stretch/>
        </p:blipFill>
        <p:spPr>
          <a:xfrm>
            <a:off x="7315925" y="1540988"/>
            <a:ext cx="1530950" cy="1537524"/>
          </a:xfrm>
          <a:prstGeom prst="rect">
            <a:avLst/>
          </a:prstGeom>
          <a:noFill/>
          <a:ln>
            <a:noFill/>
          </a:ln>
        </p:spPr>
      </p:pic>
      <p:pic>
        <p:nvPicPr>
          <p:cNvPr id="507" name="Google Shape;507;g36deade42ff_0_1076"/>
          <p:cNvPicPr preferRelativeResize="0"/>
          <p:nvPr/>
        </p:nvPicPr>
        <p:blipFill>
          <a:blip r:embed="rId4">
            <a:alphaModFix/>
          </a:blip>
          <a:stretch>
            <a:fillRect/>
          </a:stretch>
        </p:blipFill>
        <p:spPr>
          <a:xfrm>
            <a:off x="5177999" y="1751424"/>
            <a:ext cx="1905300" cy="1066990"/>
          </a:xfrm>
          <a:prstGeom prst="rect">
            <a:avLst/>
          </a:prstGeom>
          <a:noFill/>
          <a:ln>
            <a:noFill/>
          </a:ln>
        </p:spPr>
      </p:pic>
      <p:grpSp>
        <p:nvGrpSpPr>
          <p:cNvPr id="508" name="Google Shape;508;g36deade42ff_0_1076"/>
          <p:cNvGrpSpPr/>
          <p:nvPr/>
        </p:nvGrpSpPr>
        <p:grpSpPr>
          <a:xfrm>
            <a:off x="64275" y="1756750"/>
            <a:ext cx="4442327" cy="1332725"/>
            <a:chOff x="216675" y="1528150"/>
            <a:chExt cx="4442327" cy="1332725"/>
          </a:xfrm>
        </p:grpSpPr>
        <p:pic>
          <p:nvPicPr>
            <p:cNvPr id="509" name="Google Shape;509;g36deade42ff_0_1076"/>
            <p:cNvPicPr preferRelativeResize="0"/>
            <p:nvPr/>
          </p:nvPicPr>
          <p:blipFill>
            <a:blip r:embed="rId5">
              <a:alphaModFix/>
            </a:blip>
            <a:stretch>
              <a:fillRect/>
            </a:stretch>
          </p:blipFill>
          <p:spPr>
            <a:xfrm>
              <a:off x="216675" y="1556550"/>
              <a:ext cx="3691750" cy="1254625"/>
            </a:xfrm>
            <a:prstGeom prst="rect">
              <a:avLst/>
            </a:prstGeom>
            <a:noFill/>
            <a:ln>
              <a:noFill/>
            </a:ln>
          </p:spPr>
        </p:pic>
        <p:pic>
          <p:nvPicPr>
            <p:cNvPr id="510" name="Google Shape;510;g36deade42ff_0_1076"/>
            <p:cNvPicPr preferRelativeResize="0"/>
            <p:nvPr/>
          </p:nvPicPr>
          <p:blipFill rotWithShape="1">
            <a:blip r:embed="rId6">
              <a:alphaModFix/>
            </a:blip>
            <a:srcRect r="47237" b="45352"/>
            <a:stretch/>
          </p:blipFill>
          <p:spPr>
            <a:xfrm>
              <a:off x="2658225" y="1528150"/>
              <a:ext cx="2000777" cy="1332725"/>
            </a:xfrm>
            <a:prstGeom prst="rect">
              <a:avLst/>
            </a:prstGeom>
            <a:noFill/>
            <a:ln>
              <a:noFill/>
            </a:ln>
          </p:spPr>
        </p:pic>
      </p:grpSp>
      <p:sp>
        <p:nvSpPr>
          <p:cNvPr id="511" name="Google Shape;511;g36deade42ff_0_1076"/>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size is assessed with electrophoresis methods</a:t>
            </a:r>
            <a:endParaRPr sz="2100" b="1">
              <a:latin typeface="Lato"/>
              <a:ea typeface="Lato"/>
              <a:cs typeface="Lato"/>
              <a:sym typeface="Lato"/>
            </a:endParaRPr>
          </a:p>
        </p:txBody>
      </p:sp>
      <p:sp>
        <p:nvSpPr>
          <p:cNvPr id="512" name="Google Shape;512;g36deade42ff_0_1076"/>
          <p:cNvSpPr txBox="1"/>
          <p:nvPr/>
        </p:nvSpPr>
        <p:spPr>
          <a:xfrm>
            <a:off x="454350" y="597450"/>
            <a:ext cx="8229600" cy="431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How </a:t>
            </a:r>
            <a:r>
              <a:rPr lang="en" sz="1600"/>
              <a:t>to assess library size distribution?</a:t>
            </a:r>
            <a:endParaRPr/>
          </a:p>
        </p:txBody>
      </p:sp>
      <p:sp>
        <p:nvSpPr>
          <p:cNvPr id="513" name="Google Shape;513;g36deade42ff_0_1076"/>
          <p:cNvSpPr/>
          <p:nvPr/>
        </p:nvSpPr>
        <p:spPr>
          <a:xfrm>
            <a:off x="113150" y="1130850"/>
            <a:ext cx="4627500" cy="31734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1"/>
                                        </p:tgtEl>
                                        <p:attrNameLst>
                                          <p:attrName>style.visibility</p:attrName>
                                        </p:attrNameLst>
                                      </p:cBhvr>
                                      <p:to>
                                        <p:strVal val="visible"/>
                                      </p:to>
                                    </p:set>
                                    <p:animEffect transition="in" filter="fade">
                                      <p:cBhvr>
                                        <p:cTn id="7" dur="1000"/>
                                        <p:tgtEl>
                                          <p:spTgt spid="501"/>
                                        </p:tgtEl>
                                      </p:cBhvr>
                                    </p:animEffect>
                                  </p:childTnLst>
                                </p:cTn>
                              </p:par>
                              <p:par>
                                <p:cTn id="8" presetID="10" presetClass="entr" presetSubtype="0" fill="hold" nodeType="withEffect">
                                  <p:stCondLst>
                                    <p:cond delay="0"/>
                                  </p:stCondLst>
                                  <p:childTnLst>
                                    <p:set>
                                      <p:cBhvr>
                                        <p:cTn id="9" dur="1" fill="hold">
                                          <p:stCondLst>
                                            <p:cond delay="0"/>
                                          </p:stCondLst>
                                        </p:cTn>
                                        <p:tgtEl>
                                          <p:spTgt spid="503"/>
                                        </p:tgtEl>
                                        <p:attrNameLst>
                                          <p:attrName>style.visibility</p:attrName>
                                        </p:attrNameLst>
                                      </p:cBhvr>
                                      <p:to>
                                        <p:strVal val="visible"/>
                                      </p:to>
                                    </p:set>
                                    <p:animEffect transition="in" filter="fade">
                                      <p:cBhvr>
                                        <p:cTn id="10" dur="1000"/>
                                        <p:tgtEl>
                                          <p:spTgt spid="503"/>
                                        </p:tgtEl>
                                      </p:cBhvr>
                                    </p:animEffect>
                                  </p:childTnLst>
                                </p:cTn>
                              </p:par>
                              <p:par>
                                <p:cTn id="11" presetID="10" presetClass="entr" presetSubtype="0" fill="hold" nodeType="withEffect">
                                  <p:stCondLst>
                                    <p:cond delay="0"/>
                                  </p:stCondLst>
                                  <p:childTnLst>
                                    <p:set>
                                      <p:cBhvr>
                                        <p:cTn id="12" dur="1" fill="hold">
                                          <p:stCondLst>
                                            <p:cond delay="0"/>
                                          </p:stCondLst>
                                        </p:cTn>
                                        <p:tgtEl>
                                          <p:spTgt spid="505"/>
                                        </p:tgtEl>
                                        <p:attrNameLst>
                                          <p:attrName>style.visibility</p:attrName>
                                        </p:attrNameLst>
                                      </p:cBhvr>
                                      <p:to>
                                        <p:strVal val="visible"/>
                                      </p:to>
                                    </p:set>
                                    <p:animEffect transition="in" filter="fade">
                                      <p:cBhvr>
                                        <p:cTn id="13" dur="1000"/>
                                        <p:tgtEl>
                                          <p:spTgt spid="505"/>
                                        </p:tgtEl>
                                      </p:cBhvr>
                                    </p:animEffect>
                                  </p:childTnLst>
                                </p:cTn>
                              </p:par>
                              <p:par>
                                <p:cTn id="14" presetID="10" presetClass="entr" presetSubtype="0" fill="hold" nodeType="withEffect">
                                  <p:stCondLst>
                                    <p:cond delay="0"/>
                                  </p:stCondLst>
                                  <p:childTnLst>
                                    <p:set>
                                      <p:cBhvr>
                                        <p:cTn id="15" dur="1" fill="hold">
                                          <p:stCondLst>
                                            <p:cond delay="0"/>
                                          </p:stCondLst>
                                        </p:cTn>
                                        <p:tgtEl>
                                          <p:spTgt spid="506"/>
                                        </p:tgtEl>
                                        <p:attrNameLst>
                                          <p:attrName>style.visibility</p:attrName>
                                        </p:attrNameLst>
                                      </p:cBhvr>
                                      <p:to>
                                        <p:strVal val="visible"/>
                                      </p:to>
                                    </p:set>
                                    <p:animEffect transition="in" filter="fade">
                                      <p:cBhvr>
                                        <p:cTn id="16" dur="1000"/>
                                        <p:tgtEl>
                                          <p:spTgt spid="506"/>
                                        </p:tgtEl>
                                      </p:cBhvr>
                                    </p:animEffect>
                                  </p:childTnLst>
                                </p:cTn>
                              </p:par>
                              <p:par>
                                <p:cTn id="17" presetID="10" presetClass="entr" presetSubtype="0" fill="hold" nodeType="withEffect">
                                  <p:stCondLst>
                                    <p:cond delay="0"/>
                                  </p:stCondLst>
                                  <p:childTnLst>
                                    <p:set>
                                      <p:cBhvr>
                                        <p:cTn id="18" dur="1" fill="hold">
                                          <p:stCondLst>
                                            <p:cond delay="0"/>
                                          </p:stCondLst>
                                        </p:cTn>
                                        <p:tgtEl>
                                          <p:spTgt spid="507"/>
                                        </p:tgtEl>
                                        <p:attrNameLst>
                                          <p:attrName>style.visibility</p:attrName>
                                        </p:attrNameLst>
                                      </p:cBhvr>
                                      <p:to>
                                        <p:strVal val="visible"/>
                                      </p:to>
                                    </p:set>
                                    <p:animEffect transition="in" filter="fade">
                                      <p:cBhvr>
                                        <p:cTn id="19" dur="1000"/>
                                        <p:tgtEl>
                                          <p:spTgt spid="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g36deade42ff_0_1093"/>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Diagnostic PCR method</a:t>
            </a:r>
            <a:endParaRPr sz="2100" b="1">
              <a:latin typeface="Lato"/>
              <a:ea typeface="Lato"/>
              <a:cs typeface="Lato"/>
              <a:sym typeface="Lato"/>
            </a:endParaRPr>
          </a:p>
        </p:txBody>
      </p:sp>
      <p:sp>
        <p:nvSpPr>
          <p:cNvPr id="519" name="Google Shape;519;g36deade42ff_0_1093"/>
          <p:cNvSpPr txBox="1"/>
          <p:nvPr/>
        </p:nvSpPr>
        <p:spPr>
          <a:xfrm>
            <a:off x="454350" y="521250"/>
            <a:ext cx="8443800" cy="1046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a:pPr>
            <a:r>
              <a:rPr lang="en"/>
              <a:t>Take 1 uL of the individual libraries or final pool and perform a standard PCR reaction for 20 cycles</a:t>
            </a:r>
            <a:endParaRPr/>
          </a:p>
          <a:p>
            <a:pPr marL="914400" lvl="0" indent="0" algn="l" rtl="0">
              <a:spcBef>
                <a:spcPts val="0"/>
              </a:spcBef>
              <a:spcAft>
                <a:spcPts val="0"/>
              </a:spcAft>
              <a:buNone/>
            </a:pPr>
            <a:r>
              <a:rPr lang="en" i="1"/>
              <a:t>Note: the PCR product will only be used for diagnostic QC, not for sequencing</a:t>
            </a:r>
            <a:endParaRPr i="1"/>
          </a:p>
          <a:p>
            <a:pPr marL="914400" lvl="0" indent="0" algn="l" rtl="0">
              <a:spcBef>
                <a:spcPts val="0"/>
              </a:spcBef>
              <a:spcAft>
                <a:spcPts val="0"/>
              </a:spcAft>
              <a:buNone/>
            </a:pPr>
            <a:endParaRPr/>
          </a:p>
          <a:p>
            <a:pPr marL="457200" lvl="0" indent="-317500" algn="l" rtl="0">
              <a:spcBef>
                <a:spcPts val="0"/>
              </a:spcBef>
              <a:spcAft>
                <a:spcPts val="0"/>
              </a:spcAft>
              <a:buSzPts val="1400"/>
              <a:buAutoNum type="arabicPeriod"/>
            </a:pPr>
            <a:r>
              <a:rPr lang="en"/>
              <a:t>For each sample or pool, setup the amplification reaction as follows:</a:t>
            </a:r>
            <a:endParaRPr sz="1150">
              <a:solidFill>
                <a:schemeClr val="dk1"/>
              </a:solidFill>
              <a:highlight>
                <a:srgbClr val="FFFFFF"/>
              </a:highlight>
            </a:endParaRPr>
          </a:p>
        </p:txBody>
      </p:sp>
      <p:graphicFrame>
        <p:nvGraphicFramePr>
          <p:cNvPr id="520" name="Google Shape;520;g36deade42ff_0_1093"/>
          <p:cNvGraphicFramePr/>
          <p:nvPr/>
        </p:nvGraphicFramePr>
        <p:xfrm>
          <a:off x="2681275" y="1543050"/>
          <a:ext cx="3267075" cy="1143000"/>
        </p:xfrm>
        <a:graphic>
          <a:graphicData uri="http://schemas.openxmlformats.org/drawingml/2006/table">
            <a:tbl>
              <a:tblPr>
                <a:noFill/>
                <a:tableStyleId>{2E662A1D-99CD-4F52-A12D-C67976704F78}</a:tableStyleId>
              </a:tblPr>
              <a:tblGrid>
                <a:gridCol w="2238375">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tblGrid>
              <a:tr h="190500">
                <a:tc>
                  <a:txBody>
                    <a:bodyPr/>
                    <a:lstStyle/>
                    <a:p>
                      <a:pPr marL="0" lvl="0" indent="0" algn="l" rtl="0">
                        <a:lnSpc>
                          <a:spcPct val="115000"/>
                        </a:lnSpc>
                        <a:spcBef>
                          <a:spcPts val="0"/>
                        </a:spcBef>
                        <a:spcAft>
                          <a:spcPts val="0"/>
                        </a:spcAft>
                        <a:buNone/>
                      </a:pPr>
                      <a:r>
                        <a:rPr lang="en" sz="1100" b="1"/>
                        <a:t>Component</a:t>
                      </a:r>
                      <a:endParaRPr sz="1100" b="1"/>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b="1"/>
                        <a:t>Volume (µL)</a:t>
                      </a:r>
                      <a:endParaRPr sz="1100" b="1"/>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90500">
                <a:tc>
                  <a:txBody>
                    <a:bodyPr/>
                    <a:lstStyle/>
                    <a:p>
                      <a:pPr marL="0" lvl="0" indent="0" algn="l" rtl="0">
                        <a:lnSpc>
                          <a:spcPct val="115000"/>
                        </a:lnSpc>
                        <a:spcBef>
                          <a:spcPts val="0"/>
                        </a:spcBef>
                        <a:spcAft>
                          <a:spcPts val="0"/>
                        </a:spcAft>
                        <a:buNone/>
                      </a:pPr>
                      <a:r>
                        <a:rPr lang="en" sz="1100"/>
                        <a:t>LongAmp Master Mix (2x)</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25</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90500">
                <a:tc>
                  <a:txBody>
                    <a:bodyPr/>
                    <a:lstStyle/>
                    <a:p>
                      <a:pPr marL="0" lvl="0" indent="0" algn="l" rtl="0">
                        <a:lnSpc>
                          <a:spcPct val="115000"/>
                        </a:lnSpc>
                        <a:spcBef>
                          <a:spcPts val="0"/>
                        </a:spcBef>
                        <a:spcAft>
                          <a:spcPts val="0"/>
                        </a:spcAft>
                        <a:buNone/>
                      </a:pPr>
                      <a:r>
                        <a:rPr lang="en" sz="1100"/>
                        <a:t>Nuclease-free Water</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23.5</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100"/>
                        <a:t>RLB-PCR Primer* (10µM)</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0.5</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90500">
                <a:tc>
                  <a:txBody>
                    <a:bodyPr/>
                    <a:lstStyle/>
                    <a:p>
                      <a:pPr marL="0" lvl="0" indent="0" algn="l" rtl="0">
                        <a:lnSpc>
                          <a:spcPct val="115000"/>
                        </a:lnSpc>
                        <a:spcBef>
                          <a:spcPts val="0"/>
                        </a:spcBef>
                        <a:spcAft>
                          <a:spcPts val="0"/>
                        </a:spcAft>
                        <a:buNone/>
                      </a:pPr>
                      <a:r>
                        <a:rPr lang="en" sz="1100"/>
                        <a:t>DNA Library Template</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1</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90500">
                <a:tc>
                  <a:txBody>
                    <a:bodyPr/>
                    <a:lstStyle/>
                    <a:p>
                      <a:pPr marL="0" lvl="0" indent="0" algn="l" rtl="0">
                        <a:lnSpc>
                          <a:spcPct val="115000"/>
                        </a:lnSpc>
                        <a:spcBef>
                          <a:spcPts val="0"/>
                        </a:spcBef>
                        <a:spcAft>
                          <a:spcPts val="0"/>
                        </a:spcAft>
                        <a:buNone/>
                      </a:pPr>
                      <a:r>
                        <a:rPr lang="en" sz="1100"/>
                        <a:t>Total Volume</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100"/>
                        <a:t>50</a:t>
                      </a:r>
                      <a:endParaRPr sz="1100"/>
                    </a:p>
                  </a:txBody>
                  <a:tcPr marL="101600" marR="10160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21" name="Google Shape;521;g36deade42ff_0_1093"/>
          <p:cNvSpPr txBox="1"/>
          <p:nvPr/>
        </p:nvSpPr>
        <p:spPr>
          <a:xfrm>
            <a:off x="454350" y="2731050"/>
            <a:ext cx="84438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startAt="3"/>
            </a:pPr>
            <a:r>
              <a:rPr lang="en"/>
              <a:t>Use the following cycling conditions:</a:t>
            </a:r>
            <a:endParaRPr sz="1150">
              <a:solidFill>
                <a:schemeClr val="dk1"/>
              </a:solidFill>
              <a:highlight>
                <a:srgbClr val="FFFFFF"/>
              </a:highlight>
            </a:endParaRPr>
          </a:p>
        </p:txBody>
      </p:sp>
      <p:graphicFrame>
        <p:nvGraphicFramePr>
          <p:cNvPr id="522" name="Google Shape;522;g36deade42ff_0_1093"/>
          <p:cNvGraphicFramePr/>
          <p:nvPr/>
        </p:nvGraphicFramePr>
        <p:xfrm>
          <a:off x="2681275" y="3131250"/>
          <a:ext cx="3267075" cy="1477966"/>
        </p:xfrm>
        <a:graphic>
          <a:graphicData uri="http://schemas.openxmlformats.org/drawingml/2006/table">
            <a:tbl>
              <a:tblPr>
                <a:noFill/>
                <a:tableStyleId>{42853E17-F762-43AA-9A03-3D2A84B8C53F}</a:tableStyleId>
              </a:tblPr>
              <a:tblGrid>
                <a:gridCol w="2249300">
                  <a:extLst>
                    <a:ext uri="{9D8B030D-6E8A-4147-A177-3AD203B41FA5}">
                      <a16:colId xmlns:a16="http://schemas.microsoft.com/office/drawing/2014/main" val="20000"/>
                    </a:ext>
                  </a:extLst>
                </a:gridCol>
                <a:gridCol w="1017775">
                  <a:extLst>
                    <a:ext uri="{9D8B030D-6E8A-4147-A177-3AD203B41FA5}">
                      <a16:colId xmlns:a16="http://schemas.microsoft.com/office/drawing/2014/main" val="20001"/>
                    </a:ext>
                  </a:extLst>
                </a:gridCol>
              </a:tblGrid>
              <a:tr h="200025">
                <a:tc>
                  <a:txBody>
                    <a:bodyPr/>
                    <a:lstStyle/>
                    <a:p>
                      <a:pPr marL="0" lvl="0" indent="0" algn="ctr" rtl="0">
                        <a:lnSpc>
                          <a:spcPct val="115000"/>
                        </a:lnSpc>
                        <a:spcBef>
                          <a:spcPts val="0"/>
                        </a:spcBef>
                        <a:spcAft>
                          <a:spcPts val="0"/>
                        </a:spcAft>
                        <a:buNone/>
                      </a:pPr>
                      <a:r>
                        <a:rPr lang="en" sz="1000" b="1"/>
                        <a:t>Thermocycler (lid at 105˚C)</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 sz="1000" b="1"/>
                        <a:t>Cycles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t>95 °C for 45s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95 ˚C for 15s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3">
                  <a:txBody>
                    <a:bodyPr/>
                    <a:lstStyle/>
                    <a:p>
                      <a:pPr marL="0" lvl="0" indent="0" algn="ctr" rtl="0">
                        <a:lnSpc>
                          <a:spcPct val="115000"/>
                        </a:lnSpc>
                        <a:spcBef>
                          <a:spcPts val="0"/>
                        </a:spcBef>
                        <a:spcAft>
                          <a:spcPts val="0"/>
                        </a:spcAft>
                        <a:buNone/>
                      </a:pPr>
                      <a:r>
                        <a:rPr lang="en" sz="1000"/>
                        <a:t>20</a:t>
                      </a:r>
                      <a:endParaRPr sz="1000"/>
                    </a:p>
                  </a:txBody>
                  <a:tcPr marL="25400" marR="25400" marT="25400" marB="254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None/>
                      </a:pPr>
                      <a:r>
                        <a:rPr lang="en" sz="1000"/>
                        <a:t>56 ˚C for 15s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65 °C for 5 min</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65˚C for 10 mins</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None/>
                      </a:pPr>
                      <a:r>
                        <a:rPr lang="en" sz="1000"/>
                        <a:t>Hold at 10˚C</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a:t>
                      </a:r>
                      <a:endParaRPr sz="1000"/>
                    </a:p>
                  </a:txBody>
                  <a:tcPr marL="25400" marR="25400" marT="25400" marB="2540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523" name="Google Shape;523;g36deade42ff_0_1093"/>
          <p:cNvSpPr txBox="1"/>
          <p:nvPr/>
        </p:nvSpPr>
        <p:spPr>
          <a:xfrm>
            <a:off x="454350" y="4675350"/>
            <a:ext cx="83238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AutoNum type="arabicPeriod" startAt="4"/>
            </a:pPr>
            <a:r>
              <a:rPr lang="en"/>
              <a:t>Run PCR amplified product on a gel to visualize and estimate the library size.</a:t>
            </a:r>
            <a:endParaRPr/>
          </a:p>
        </p:txBody>
      </p:sp>
      <p:sp>
        <p:nvSpPr>
          <p:cNvPr id="524" name="Google Shape;524;g36deade42ff_0_1093"/>
          <p:cNvSpPr txBox="1"/>
          <p:nvPr/>
        </p:nvSpPr>
        <p:spPr>
          <a:xfrm>
            <a:off x="7431425" y="4211475"/>
            <a:ext cx="1728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hlinkClick r:id="rId3"/>
              </a:rPr>
              <a:t>CZ Biohub Protocols: Nanopore mNGS</a:t>
            </a:r>
            <a:endParaRPr/>
          </a:p>
        </p:txBody>
      </p:sp>
      <p:sp>
        <p:nvSpPr>
          <p:cNvPr id="525" name="Google Shape;525;g36deade42ff_0_1093"/>
          <p:cNvSpPr txBox="1"/>
          <p:nvPr/>
        </p:nvSpPr>
        <p:spPr>
          <a:xfrm>
            <a:off x="6489400" y="2017650"/>
            <a:ext cx="19032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rPr>
              <a:t>*This primer is only for diagnostic PCR</a:t>
            </a:r>
            <a:endParaRPr sz="1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g36deade42ff_0_1103"/>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Diagnostic PCR results compared to Tapestation</a:t>
            </a:r>
            <a:endParaRPr sz="2100" b="1">
              <a:latin typeface="Lato"/>
              <a:ea typeface="Lato"/>
              <a:cs typeface="Lato"/>
              <a:sym typeface="Lato"/>
            </a:endParaRPr>
          </a:p>
        </p:txBody>
      </p:sp>
      <p:grpSp>
        <p:nvGrpSpPr>
          <p:cNvPr id="531" name="Google Shape;531;g36deade42ff_0_1103"/>
          <p:cNvGrpSpPr/>
          <p:nvPr/>
        </p:nvGrpSpPr>
        <p:grpSpPr>
          <a:xfrm>
            <a:off x="136799" y="576250"/>
            <a:ext cx="3524939" cy="4472953"/>
            <a:chOff x="2346599" y="576250"/>
            <a:chExt cx="3524939" cy="4472953"/>
          </a:xfrm>
        </p:grpSpPr>
        <p:grpSp>
          <p:nvGrpSpPr>
            <p:cNvPr id="532" name="Google Shape;532;g36deade42ff_0_1103"/>
            <p:cNvGrpSpPr/>
            <p:nvPr/>
          </p:nvGrpSpPr>
          <p:grpSpPr>
            <a:xfrm>
              <a:off x="2346599" y="1006125"/>
              <a:ext cx="3524939" cy="4043078"/>
              <a:chOff x="3847600" y="1868800"/>
              <a:chExt cx="2515119" cy="3225174"/>
            </a:xfrm>
          </p:grpSpPr>
          <p:pic>
            <p:nvPicPr>
              <p:cNvPr id="533" name="Google Shape;533;g36deade42ff_0_1103"/>
              <p:cNvPicPr preferRelativeResize="0"/>
              <p:nvPr/>
            </p:nvPicPr>
            <p:blipFill rotWithShape="1">
              <a:blip r:embed="rId3">
                <a:alphaModFix/>
              </a:blip>
              <a:srcRect t="37296" r="79329"/>
              <a:stretch/>
            </p:blipFill>
            <p:spPr>
              <a:xfrm>
                <a:off x="3847600" y="1868800"/>
                <a:ext cx="1021576" cy="3225174"/>
              </a:xfrm>
              <a:prstGeom prst="rect">
                <a:avLst/>
              </a:prstGeom>
              <a:noFill/>
              <a:ln>
                <a:noFill/>
              </a:ln>
            </p:spPr>
          </p:pic>
          <p:pic>
            <p:nvPicPr>
              <p:cNvPr id="534" name="Google Shape;534;g36deade42ff_0_1103"/>
              <p:cNvPicPr preferRelativeResize="0"/>
              <p:nvPr/>
            </p:nvPicPr>
            <p:blipFill rotWithShape="1">
              <a:blip r:embed="rId3">
                <a:alphaModFix/>
              </a:blip>
              <a:srcRect l="61589" t="37296" r="7995"/>
              <a:stretch/>
            </p:blipFill>
            <p:spPr>
              <a:xfrm>
                <a:off x="4859668" y="1868800"/>
                <a:ext cx="1503051" cy="3225174"/>
              </a:xfrm>
              <a:prstGeom prst="rect">
                <a:avLst/>
              </a:prstGeom>
              <a:noFill/>
              <a:ln>
                <a:noFill/>
              </a:ln>
            </p:spPr>
          </p:pic>
        </p:grpSp>
        <p:sp>
          <p:nvSpPr>
            <p:cNvPr id="535" name="Google Shape;535;g36deade42ff_0_1103"/>
            <p:cNvSpPr txBox="1"/>
            <p:nvPr/>
          </p:nvSpPr>
          <p:spPr>
            <a:xfrm>
              <a:off x="3857625" y="576250"/>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1     2     3   Neg</a:t>
              </a:r>
              <a:endParaRPr sz="1800" b="1">
                <a:solidFill>
                  <a:schemeClr val="dk2"/>
                </a:solidFill>
              </a:endParaRPr>
            </a:p>
          </p:txBody>
        </p:sp>
      </p:grpSp>
      <p:pic>
        <p:nvPicPr>
          <p:cNvPr id="536" name="Google Shape;536;g36deade42ff_0_1103"/>
          <p:cNvPicPr preferRelativeResize="0"/>
          <p:nvPr/>
        </p:nvPicPr>
        <p:blipFill rotWithShape="1">
          <a:blip r:embed="rId4">
            <a:alphaModFix/>
          </a:blip>
          <a:srcRect t="13562"/>
          <a:stretch/>
        </p:blipFill>
        <p:spPr>
          <a:xfrm>
            <a:off x="5301600" y="576250"/>
            <a:ext cx="3482349" cy="1464376"/>
          </a:xfrm>
          <a:prstGeom prst="rect">
            <a:avLst/>
          </a:prstGeom>
          <a:noFill/>
          <a:ln>
            <a:noFill/>
          </a:ln>
        </p:spPr>
      </p:pic>
      <p:pic>
        <p:nvPicPr>
          <p:cNvPr id="537" name="Google Shape;537;g36deade42ff_0_1103"/>
          <p:cNvPicPr preferRelativeResize="0"/>
          <p:nvPr/>
        </p:nvPicPr>
        <p:blipFill rotWithShape="1">
          <a:blip r:embed="rId5">
            <a:alphaModFix/>
          </a:blip>
          <a:srcRect t="13524"/>
          <a:stretch/>
        </p:blipFill>
        <p:spPr>
          <a:xfrm>
            <a:off x="5337000" y="2084063"/>
            <a:ext cx="3482349" cy="1464375"/>
          </a:xfrm>
          <a:prstGeom prst="rect">
            <a:avLst/>
          </a:prstGeom>
          <a:noFill/>
          <a:ln>
            <a:noFill/>
          </a:ln>
        </p:spPr>
      </p:pic>
      <p:pic>
        <p:nvPicPr>
          <p:cNvPr id="538" name="Google Shape;538;g36deade42ff_0_1103"/>
          <p:cNvPicPr preferRelativeResize="0"/>
          <p:nvPr/>
        </p:nvPicPr>
        <p:blipFill rotWithShape="1">
          <a:blip r:embed="rId6">
            <a:alphaModFix/>
          </a:blip>
          <a:srcRect t="13472"/>
          <a:stretch/>
        </p:blipFill>
        <p:spPr>
          <a:xfrm>
            <a:off x="5420058" y="3548425"/>
            <a:ext cx="3316240" cy="1464376"/>
          </a:xfrm>
          <a:prstGeom prst="rect">
            <a:avLst/>
          </a:prstGeom>
          <a:noFill/>
          <a:ln>
            <a:noFill/>
          </a:ln>
        </p:spPr>
      </p:pic>
      <p:cxnSp>
        <p:nvCxnSpPr>
          <p:cNvPr id="539" name="Google Shape;539;g36deade42ff_0_1103"/>
          <p:cNvCxnSpPr/>
          <p:nvPr/>
        </p:nvCxnSpPr>
        <p:spPr>
          <a:xfrm flipH="1">
            <a:off x="1536420" y="1006125"/>
            <a:ext cx="17100" cy="3694800"/>
          </a:xfrm>
          <a:prstGeom prst="straightConnector1">
            <a:avLst/>
          </a:prstGeom>
          <a:noFill/>
          <a:ln w="19050" cap="flat" cmpd="sng">
            <a:solidFill>
              <a:srgbClr val="B7B7B7"/>
            </a:solidFill>
            <a:prstDash val="dash"/>
            <a:round/>
            <a:headEnd type="none" w="med" len="med"/>
            <a:tailEnd type="none" w="med" len="med"/>
          </a:ln>
        </p:spPr>
      </p:cxnSp>
      <p:sp>
        <p:nvSpPr>
          <p:cNvPr id="540" name="Google Shape;540;g36deade42ff_0_1103"/>
          <p:cNvSpPr txBox="1"/>
          <p:nvPr/>
        </p:nvSpPr>
        <p:spPr>
          <a:xfrm>
            <a:off x="5160650" y="617225"/>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1 </a:t>
            </a:r>
            <a:endParaRPr sz="1800" b="1">
              <a:solidFill>
                <a:schemeClr val="dk2"/>
              </a:solidFill>
            </a:endParaRPr>
          </a:p>
        </p:txBody>
      </p:sp>
      <p:sp>
        <p:nvSpPr>
          <p:cNvPr id="541" name="Google Shape;541;g36deade42ff_0_1103"/>
          <p:cNvSpPr txBox="1"/>
          <p:nvPr/>
        </p:nvSpPr>
        <p:spPr>
          <a:xfrm>
            <a:off x="5160650" y="2065025"/>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2 </a:t>
            </a:r>
            <a:endParaRPr sz="1800" b="1">
              <a:solidFill>
                <a:schemeClr val="dk2"/>
              </a:solidFill>
            </a:endParaRPr>
          </a:p>
        </p:txBody>
      </p:sp>
      <p:sp>
        <p:nvSpPr>
          <p:cNvPr id="542" name="Google Shape;542;g36deade42ff_0_1103"/>
          <p:cNvSpPr txBox="1"/>
          <p:nvPr/>
        </p:nvSpPr>
        <p:spPr>
          <a:xfrm>
            <a:off x="5160650" y="3512825"/>
            <a:ext cx="2013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3 </a:t>
            </a:r>
            <a:endParaRPr sz="1800" b="1">
              <a:solidFill>
                <a:schemeClr val="dk2"/>
              </a:solidFill>
            </a:endParaRPr>
          </a:p>
        </p:txBody>
      </p:sp>
      <p:sp>
        <p:nvSpPr>
          <p:cNvPr id="543" name="Google Shape;543;g36deade42ff_0_1103"/>
          <p:cNvSpPr txBox="1"/>
          <p:nvPr/>
        </p:nvSpPr>
        <p:spPr>
          <a:xfrm>
            <a:off x="7787650" y="617225"/>
            <a:ext cx="1177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~1700bp </a:t>
            </a:r>
            <a:endParaRPr sz="1600">
              <a:solidFill>
                <a:schemeClr val="dk2"/>
              </a:solidFill>
            </a:endParaRPr>
          </a:p>
        </p:txBody>
      </p:sp>
      <p:sp>
        <p:nvSpPr>
          <p:cNvPr id="544" name="Google Shape;544;g36deade42ff_0_1103"/>
          <p:cNvSpPr txBox="1"/>
          <p:nvPr/>
        </p:nvSpPr>
        <p:spPr>
          <a:xfrm>
            <a:off x="7787650" y="2141225"/>
            <a:ext cx="1177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~900bp </a:t>
            </a:r>
            <a:endParaRPr sz="1600">
              <a:solidFill>
                <a:schemeClr val="dk2"/>
              </a:solidFill>
            </a:endParaRPr>
          </a:p>
        </p:txBody>
      </p:sp>
      <p:sp>
        <p:nvSpPr>
          <p:cNvPr id="545" name="Google Shape;545;g36deade42ff_0_1103"/>
          <p:cNvSpPr txBox="1"/>
          <p:nvPr/>
        </p:nvSpPr>
        <p:spPr>
          <a:xfrm>
            <a:off x="7787650" y="3589025"/>
            <a:ext cx="1177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~1200bp </a:t>
            </a:r>
            <a:endParaRPr sz="16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g36deade42ff_0_1122"/>
          <p:cNvSpPr txBox="1"/>
          <p:nvPr/>
        </p:nvSpPr>
        <p:spPr>
          <a:xfrm>
            <a:off x="1257163" y="1121600"/>
            <a:ext cx="190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Gel electrophoresis</a:t>
            </a:r>
            <a:endParaRPr b="1"/>
          </a:p>
        </p:txBody>
      </p:sp>
      <p:sp>
        <p:nvSpPr>
          <p:cNvPr id="551" name="Google Shape;551;g36deade42ff_0_1122"/>
          <p:cNvSpPr txBox="1"/>
          <p:nvPr/>
        </p:nvSpPr>
        <p:spPr>
          <a:xfrm>
            <a:off x="5638500" y="893000"/>
            <a:ext cx="3205800" cy="648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t>Capillary electrophoresis</a:t>
            </a:r>
            <a:endParaRPr b="1"/>
          </a:p>
          <a:p>
            <a:pPr marL="0" lvl="0" indent="0" algn="ctr" rtl="0">
              <a:lnSpc>
                <a:spcPct val="115000"/>
              </a:lnSpc>
              <a:spcBef>
                <a:spcPts val="0"/>
              </a:spcBef>
              <a:spcAft>
                <a:spcPts val="0"/>
              </a:spcAft>
              <a:buNone/>
            </a:pPr>
            <a:r>
              <a:rPr lang="en"/>
              <a:t>E.g. Tapestation, Bioanalyzer</a:t>
            </a:r>
            <a:endParaRPr/>
          </a:p>
        </p:txBody>
      </p:sp>
      <p:sp>
        <p:nvSpPr>
          <p:cNvPr id="552" name="Google Shape;552;g36deade42ff_0_1122"/>
          <p:cNvSpPr txBox="1"/>
          <p:nvPr/>
        </p:nvSpPr>
        <p:spPr>
          <a:xfrm>
            <a:off x="100925" y="3257425"/>
            <a:ext cx="4756200" cy="10467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PCR amplify an aliquot of the library using “universal” primers</a:t>
            </a:r>
            <a:endParaRPr/>
          </a:p>
          <a:p>
            <a:pPr marL="285750" lvl="0" indent="-203200" algn="l" rtl="0">
              <a:lnSpc>
                <a:spcPct val="150000"/>
              </a:lnSpc>
              <a:spcBef>
                <a:spcPts val="0"/>
              </a:spcBef>
              <a:spcAft>
                <a:spcPts val="0"/>
              </a:spcAft>
              <a:buSzPts val="1400"/>
              <a:buAutoNum type="arabicPeriod"/>
            </a:pPr>
            <a:r>
              <a:rPr lang="en"/>
              <a:t>Gel electrophoresis of ladder and samples</a:t>
            </a:r>
            <a:endParaRPr/>
          </a:p>
        </p:txBody>
      </p:sp>
      <p:sp>
        <p:nvSpPr>
          <p:cNvPr id="553" name="Google Shape;553;g36deade42ff_0_1122"/>
          <p:cNvSpPr txBox="1"/>
          <p:nvPr/>
        </p:nvSpPr>
        <p:spPr>
          <a:xfrm>
            <a:off x="5638500" y="3028825"/>
            <a:ext cx="3834900" cy="723300"/>
          </a:xfrm>
          <a:prstGeom prst="rect">
            <a:avLst/>
          </a:prstGeom>
          <a:noFill/>
          <a:ln>
            <a:noFill/>
          </a:ln>
        </p:spPr>
        <p:txBody>
          <a:bodyPr spcFirstLastPara="1" wrap="square" lIns="91425" tIns="91425" rIns="91425" bIns="91425" anchor="t" anchorCtr="0">
            <a:spAutoFit/>
          </a:bodyPr>
          <a:lstStyle/>
          <a:p>
            <a:pPr marL="285750" lvl="0" indent="-203200" algn="l" rtl="0">
              <a:lnSpc>
                <a:spcPct val="150000"/>
              </a:lnSpc>
              <a:spcBef>
                <a:spcPts val="0"/>
              </a:spcBef>
              <a:spcAft>
                <a:spcPts val="0"/>
              </a:spcAft>
              <a:buSzPts val="1400"/>
              <a:buAutoNum type="arabicPeriod"/>
            </a:pPr>
            <a:r>
              <a:rPr lang="en"/>
              <a:t>Add buffer to aliquot of library</a:t>
            </a:r>
            <a:endParaRPr/>
          </a:p>
          <a:p>
            <a:pPr marL="285750" lvl="0" indent="-203200" algn="l" rtl="0">
              <a:lnSpc>
                <a:spcPct val="150000"/>
              </a:lnSpc>
              <a:spcBef>
                <a:spcPts val="0"/>
              </a:spcBef>
              <a:spcAft>
                <a:spcPts val="0"/>
              </a:spcAft>
              <a:buSzPts val="1400"/>
              <a:buAutoNum type="arabicPeriod"/>
            </a:pPr>
            <a:r>
              <a:rPr lang="en"/>
              <a:t>Run machine</a:t>
            </a:r>
            <a:endParaRPr/>
          </a:p>
        </p:txBody>
      </p:sp>
      <p:sp>
        <p:nvSpPr>
          <p:cNvPr id="554" name="Google Shape;554;g36deade42ff_0_1122"/>
          <p:cNvSpPr txBox="1"/>
          <p:nvPr/>
        </p:nvSpPr>
        <p:spPr>
          <a:xfrm>
            <a:off x="454350" y="4264825"/>
            <a:ext cx="3763200" cy="831300"/>
          </a:xfrm>
          <a:prstGeom prst="rect">
            <a:avLst/>
          </a:prstGeom>
          <a:noFill/>
          <a:ln>
            <a:noFill/>
          </a:ln>
        </p:spPr>
        <p:txBody>
          <a:bodyPr spcFirstLastPara="1" wrap="square" lIns="91425" tIns="91425" rIns="91425" bIns="91425" anchor="t" anchorCtr="0">
            <a:spAutoFit/>
          </a:bodyPr>
          <a:lstStyle/>
          <a:p>
            <a:pPr marL="342900" lvl="0" indent="-203200" algn="l" rtl="0">
              <a:spcBef>
                <a:spcPts val="0"/>
              </a:spcBef>
              <a:spcAft>
                <a:spcPts val="0"/>
              </a:spcAft>
              <a:buSzPts val="1400"/>
              <a:buChar char="●"/>
            </a:pPr>
            <a:r>
              <a:rPr lang="en"/>
              <a:t>Takes ~ 4 hrs</a:t>
            </a:r>
            <a:endParaRPr/>
          </a:p>
          <a:p>
            <a:pPr marL="342900" lvl="0" indent="-203200" algn="l" rtl="0">
              <a:spcBef>
                <a:spcPts val="0"/>
              </a:spcBef>
              <a:spcAft>
                <a:spcPts val="0"/>
              </a:spcAft>
              <a:buSzPts val="1400"/>
              <a:buChar char="●"/>
            </a:pPr>
            <a:r>
              <a:rPr lang="en"/>
              <a:t>Does not require specialized equipment</a:t>
            </a:r>
            <a:endParaRPr/>
          </a:p>
          <a:p>
            <a:pPr marL="0" lvl="0" indent="0" algn="ctr" rtl="0">
              <a:spcBef>
                <a:spcPts val="0"/>
              </a:spcBef>
              <a:spcAft>
                <a:spcPts val="0"/>
              </a:spcAft>
              <a:buNone/>
            </a:pPr>
            <a:endParaRPr/>
          </a:p>
        </p:txBody>
      </p:sp>
      <p:sp>
        <p:nvSpPr>
          <p:cNvPr id="555" name="Google Shape;555;g36deade42ff_0_1122"/>
          <p:cNvSpPr txBox="1"/>
          <p:nvPr/>
        </p:nvSpPr>
        <p:spPr>
          <a:xfrm>
            <a:off x="5388050" y="3999900"/>
            <a:ext cx="3205800" cy="1143600"/>
          </a:xfrm>
          <a:prstGeom prst="rect">
            <a:avLst/>
          </a:prstGeom>
          <a:noFill/>
          <a:ln>
            <a:noFill/>
          </a:ln>
        </p:spPr>
        <p:txBody>
          <a:bodyPr spcFirstLastPara="1" wrap="square" lIns="91425" tIns="91425" rIns="91425" bIns="91425" anchor="t" anchorCtr="0">
            <a:spAutoFit/>
          </a:bodyPr>
          <a:lstStyle/>
          <a:p>
            <a:pPr marL="228600" lvl="0" indent="-203200" algn="l" rtl="0">
              <a:lnSpc>
                <a:spcPct val="115000"/>
              </a:lnSpc>
              <a:spcBef>
                <a:spcPts val="0"/>
              </a:spcBef>
              <a:spcAft>
                <a:spcPts val="0"/>
              </a:spcAft>
              <a:buSzPts val="1400"/>
              <a:buChar char="●"/>
            </a:pPr>
            <a:r>
              <a:rPr lang="en"/>
              <a:t>Tapestation ~ 10-20 minutes</a:t>
            </a:r>
            <a:endParaRPr/>
          </a:p>
          <a:p>
            <a:pPr marL="228600" lvl="0" indent="-203200" algn="l" rtl="0">
              <a:lnSpc>
                <a:spcPct val="115000"/>
              </a:lnSpc>
              <a:spcBef>
                <a:spcPts val="0"/>
              </a:spcBef>
              <a:spcAft>
                <a:spcPts val="0"/>
              </a:spcAft>
              <a:buSzPts val="1400"/>
              <a:buChar char="●"/>
            </a:pPr>
            <a:r>
              <a:rPr lang="en"/>
              <a:t>Bioanalyzer ~ 45 minutes</a:t>
            </a:r>
            <a:endParaRPr/>
          </a:p>
          <a:p>
            <a:pPr marL="228600" lvl="0" indent="-203200" algn="l" rtl="0">
              <a:lnSpc>
                <a:spcPct val="115000"/>
              </a:lnSpc>
              <a:spcBef>
                <a:spcPts val="0"/>
              </a:spcBef>
              <a:spcAft>
                <a:spcPts val="0"/>
              </a:spcAft>
              <a:buSzPts val="1400"/>
              <a:buChar char="●"/>
            </a:pPr>
            <a:r>
              <a:rPr lang="en"/>
              <a:t>No PCR bias</a:t>
            </a:r>
            <a:endParaRPr/>
          </a:p>
          <a:p>
            <a:pPr marL="228600" lvl="0" indent="-203200" algn="l" rtl="0">
              <a:lnSpc>
                <a:spcPct val="115000"/>
              </a:lnSpc>
              <a:spcBef>
                <a:spcPts val="0"/>
              </a:spcBef>
              <a:spcAft>
                <a:spcPts val="0"/>
              </a:spcAft>
              <a:buSzPts val="1400"/>
              <a:buChar char="●"/>
            </a:pPr>
            <a:r>
              <a:rPr lang="en"/>
              <a:t>Can calculate concentration in nM</a:t>
            </a:r>
            <a:endParaRPr/>
          </a:p>
        </p:txBody>
      </p:sp>
      <p:pic>
        <p:nvPicPr>
          <p:cNvPr id="556" name="Google Shape;556;g36deade42ff_0_1122"/>
          <p:cNvPicPr preferRelativeResize="0"/>
          <p:nvPr/>
        </p:nvPicPr>
        <p:blipFill rotWithShape="1">
          <a:blip r:embed="rId3">
            <a:alphaModFix/>
          </a:blip>
          <a:srcRect l="23046" r="20946"/>
          <a:stretch/>
        </p:blipFill>
        <p:spPr>
          <a:xfrm>
            <a:off x="7315925" y="1540988"/>
            <a:ext cx="1530950" cy="1537524"/>
          </a:xfrm>
          <a:prstGeom prst="rect">
            <a:avLst/>
          </a:prstGeom>
          <a:noFill/>
          <a:ln>
            <a:noFill/>
          </a:ln>
        </p:spPr>
      </p:pic>
      <p:pic>
        <p:nvPicPr>
          <p:cNvPr id="557" name="Google Shape;557;g36deade42ff_0_1122"/>
          <p:cNvPicPr preferRelativeResize="0"/>
          <p:nvPr/>
        </p:nvPicPr>
        <p:blipFill>
          <a:blip r:embed="rId4">
            <a:alphaModFix/>
          </a:blip>
          <a:stretch>
            <a:fillRect/>
          </a:stretch>
        </p:blipFill>
        <p:spPr>
          <a:xfrm>
            <a:off x="5177999" y="1751424"/>
            <a:ext cx="1905300" cy="1066990"/>
          </a:xfrm>
          <a:prstGeom prst="rect">
            <a:avLst/>
          </a:prstGeom>
          <a:noFill/>
          <a:ln>
            <a:noFill/>
          </a:ln>
        </p:spPr>
      </p:pic>
      <p:grpSp>
        <p:nvGrpSpPr>
          <p:cNvPr id="558" name="Google Shape;558;g36deade42ff_0_1122"/>
          <p:cNvGrpSpPr/>
          <p:nvPr/>
        </p:nvGrpSpPr>
        <p:grpSpPr>
          <a:xfrm>
            <a:off x="64275" y="1756750"/>
            <a:ext cx="4442327" cy="1332725"/>
            <a:chOff x="216675" y="1528150"/>
            <a:chExt cx="4442327" cy="1332725"/>
          </a:xfrm>
        </p:grpSpPr>
        <p:pic>
          <p:nvPicPr>
            <p:cNvPr id="559" name="Google Shape;559;g36deade42ff_0_1122"/>
            <p:cNvPicPr preferRelativeResize="0"/>
            <p:nvPr/>
          </p:nvPicPr>
          <p:blipFill>
            <a:blip r:embed="rId5">
              <a:alphaModFix/>
            </a:blip>
            <a:stretch>
              <a:fillRect/>
            </a:stretch>
          </p:blipFill>
          <p:spPr>
            <a:xfrm>
              <a:off x="216675" y="1556550"/>
              <a:ext cx="3691750" cy="1254625"/>
            </a:xfrm>
            <a:prstGeom prst="rect">
              <a:avLst/>
            </a:prstGeom>
            <a:noFill/>
            <a:ln>
              <a:noFill/>
            </a:ln>
          </p:spPr>
        </p:pic>
        <p:pic>
          <p:nvPicPr>
            <p:cNvPr id="560" name="Google Shape;560;g36deade42ff_0_1122"/>
            <p:cNvPicPr preferRelativeResize="0"/>
            <p:nvPr/>
          </p:nvPicPr>
          <p:blipFill rotWithShape="1">
            <a:blip r:embed="rId6">
              <a:alphaModFix/>
            </a:blip>
            <a:srcRect r="47237" b="45352"/>
            <a:stretch/>
          </p:blipFill>
          <p:spPr>
            <a:xfrm>
              <a:off x="2658225" y="1528150"/>
              <a:ext cx="2000777" cy="1332725"/>
            </a:xfrm>
            <a:prstGeom prst="rect">
              <a:avLst/>
            </a:prstGeom>
            <a:noFill/>
            <a:ln>
              <a:noFill/>
            </a:ln>
          </p:spPr>
        </p:pic>
      </p:grpSp>
      <p:sp>
        <p:nvSpPr>
          <p:cNvPr id="561" name="Google Shape;561;g36deade42ff_0_1122"/>
          <p:cNvSpPr/>
          <p:nvPr/>
        </p:nvSpPr>
        <p:spPr>
          <a:xfrm>
            <a:off x="4989950" y="826050"/>
            <a:ext cx="4002000" cy="3094800"/>
          </a:xfrm>
          <a:prstGeom prst="roundRect">
            <a:avLst>
              <a:gd name="adj" fmla="val 4899"/>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g36deade42ff_0_1122"/>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size is assessed with electrophoresis methods</a:t>
            </a:r>
            <a:endParaRPr sz="2100" b="1">
              <a:latin typeface="Lato"/>
              <a:ea typeface="Lato"/>
              <a:cs typeface="Lato"/>
              <a:sym typeface="Lato"/>
            </a:endParaRPr>
          </a:p>
        </p:txBody>
      </p:sp>
      <p:sp>
        <p:nvSpPr>
          <p:cNvPr id="563" name="Google Shape;563;g36deade42ff_0_1122"/>
          <p:cNvSpPr txBox="1"/>
          <p:nvPr/>
        </p:nvSpPr>
        <p:spPr>
          <a:xfrm>
            <a:off x="454350" y="597450"/>
            <a:ext cx="8229600" cy="4311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b="1"/>
              <a:t>How </a:t>
            </a:r>
            <a:r>
              <a:rPr lang="en" sz="1600"/>
              <a:t>to assess library size distribution?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g36deade42ff_0_1139"/>
          <p:cNvSpPr txBox="1"/>
          <p:nvPr/>
        </p:nvSpPr>
        <p:spPr>
          <a:xfrm>
            <a:off x="115150" y="779800"/>
            <a:ext cx="78849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t>Tapestation</a:t>
            </a:r>
            <a:endParaRPr b="1"/>
          </a:p>
          <a:p>
            <a:pPr marL="457200" lvl="0" indent="-317500" algn="l" rtl="0">
              <a:lnSpc>
                <a:spcPct val="150000"/>
              </a:lnSpc>
              <a:spcBef>
                <a:spcPts val="0"/>
              </a:spcBef>
              <a:spcAft>
                <a:spcPts val="0"/>
              </a:spcAft>
              <a:buSzPts val="1400"/>
              <a:buChar char="●"/>
            </a:pPr>
            <a:r>
              <a:rPr lang="en" u="sng"/>
              <a:t>Genomic DNA kit </a:t>
            </a:r>
            <a:r>
              <a:rPr lang="en"/>
              <a:t>is most suitable since fragments can be 1000s of bases long</a:t>
            </a:r>
            <a:endParaRPr/>
          </a:p>
        </p:txBody>
      </p:sp>
      <p:pic>
        <p:nvPicPr>
          <p:cNvPr id="569" name="Google Shape;569;g36deade42ff_0_1139"/>
          <p:cNvPicPr preferRelativeResize="0"/>
          <p:nvPr/>
        </p:nvPicPr>
        <p:blipFill>
          <a:blip r:embed="rId3">
            <a:alphaModFix/>
          </a:blip>
          <a:stretch>
            <a:fillRect/>
          </a:stretch>
        </p:blipFill>
        <p:spPr>
          <a:xfrm>
            <a:off x="267550" y="2037466"/>
            <a:ext cx="3527649" cy="2743911"/>
          </a:xfrm>
          <a:prstGeom prst="rect">
            <a:avLst/>
          </a:prstGeom>
          <a:noFill/>
          <a:ln>
            <a:noFill/>
          </a:ln>
        </p:spPr>
      </p:pic>
      <p:pic>
        <p:nvPicPr>
          <p:cNvPr id="570" name="Google Shape;570;g36deade42ff_0_1139"/>
          <p:cNvPicPr preferRelativeResize="0"/>
          <p:nvPr/>
        </p:nvPicPr>
        <p:blipFill rotWithShape="1">
          <a:blip r:embed="rId4">
            <a:alphaModFix/>
          </a:blip>
          <a:srcRect r="2978"/>
          <a:stretch/>
        </p:blipFill>
        <p:spPr>
          <a:xfrm>
            <a:off x="3935900" y="1939875"/>
            <a:ext cx="5125226" cy="2800725"/>
          </a:xfrm>
          <a:prstGeom prst="rect">
            <a:avLst/>
          </a:prstGeom>
          <a:noFill/>
          <a:ln>
            <a:noFill/>
          </a:ln>
        </p:spPr>
      </p:pic>
      <p:sp>
        <p:nvSpPr>
          <p:cNvPr id="571" name="Google Shape;571;g36deade42ff_0_1139"/>
          <p:cNvSpPr txBox="1"/>
          <p:nvPr/>
        </p:nvSpPr>
        <p:spPr>
          <a:xfrm>
            <a:off x="7676375" y="2273600"/>
            <a:ext cx="5991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6AA84F"/>
                </a:solidFill>
                <a:highlight>
                  <a:srgbClr val="FFFFFF"/>
                </a:highlight>
                <a:latin typeface="Roboto"/>
                <a:ea typeface="Roboto"/>
                <a:cs typeface="Roboto"/>
                <a:sym typeface="Roboto"/>
              </a:rPr>
              <a:t>✓</a:t>
            </a:r>
            <a:endParaRPr sz="4500">
              <a:solidFill>
                <a:srgbClr val="6AA84F"/>
              </a:solidFill>
            </a:endParaRPr>
          </a:p>
        </p:txBody>
      </p:sp>
      <p:sp>
        <p:nvSpPr>
          <p:cNvPr id="572" name="Google Shape;572;g36deade42ff_0_1139"/>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Tapestation genomic DNA kit can be used to assess library size</a:t>
            </a:r>
            <a:endParaRPr sz="2100" b="1">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g36deade42ff_0_1147"/>
          <p:cNvSpPr txBox="1"/>
          <p:nvPr/>
        </p:nvSpPr>
        <p:spPr>
          <a:xfrm>
            <a:off x="115150" y="779800"/>
            <a:ext cx="78849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t>Tapestation</a:t>
            </a:r>
            <a:endParaRPr b="1"/>
          </a:p>
          <a:p>
            <a:pPr marL="457200" lvl="0" indent="-317500" algn="l" rtl="0">
              <a:lnSpc>
                <a:spcPct val="150000"/>
              </a:lnSpc>
              <a:spcBef>
                <a:spcPts val="0"/>
              </a:spcBef>
              <a:spcAft>
                <a:spcPts val="0"/>
              </a:spcAft>
              <a:buSzPts val="1400"/>
              <a:buChar char="●"/>
            </a:pPr>
            <a:r>
              <a:rPr lang="en" u="sng"/>
              <a:t>Genomic DNA kit </a:t>
            </a:r>
            <a:r>
              <a:rPr lang="en"/>
              <a:t>is most suitable since fragments can be 1000s of bases long</a:t>
            </a:r>
            <a:endParaRPr/>
          </a:p>
        </p:txBody>
      </p:sp>
      <p:pic>
        <p:nvPicPr>
          <p:cNvPr id="578" name="Google Shape;578;g36deade42ff_0_1147"/>
          <p:cNvPicPr preferRelativeResize="0"/>
          <p:nvPr/>
        </p:nvPicPr>
        <p:blipFill>
          <a:blip r:embed="rId3">
            <a:alphaModFix/>
          </a:blip>
          <a:stretch>
            <a:fillRect/>
          </a:stretch>
        </p:blipFill>
        <p:spPr>
          <a:xfrm>
            <a:off x="395541" y="2018249"/>
            <a:ext cx="3653562" cy="2039500"/>
          </a:xfrm>
          <a:prstGeom prst="rect">
            <a:avLst/>
          </a:prstGeom>
          <a:noFill/>
          <a:ln>
            <a:noFill/>
          </a:ln>
        </p:spPr>
      </p:pic>
      <p:pic>
        <p:nvPicPr>
          <p:cNvPr id="579" name="Google Shape;579;g36deade42ff_0_1147"/>
          <p:cNvPicPr preferRelativeResize="0"/>
          <p:nvPr/>
        </p:nvPicPr>
        <p:blipFill>
          <a:blip r:embed="rId4">
            <a:alphaModFix/>
          </a:blip>
          <a:stretch>
            <a:fillRect/>
          </a:stretch>
        </p:blipFill>
        <p:spPr>
          <a:xfrm>
            <a:off x="4119700" y="2273953"/>
            <a:ext cx="3302900" cy="1892126"/>
          </a:xfrm>
          <a:prstGeom prst="rect">
            <a:avLst/>
          </a:prstGeom>
          <a:noFill/>
          <a:ln>
            <a:noFill/>
          </a:ln>
        </p:spPr>
      </p:pic>
      <p:sp>
        <p:nvSpPr>
          <p:cNvPr id="580" name="Google Shape;580;g36deade42ff_0_1147"/>
          <p:cNvSpPr txBox="1"/>
          <p:nvPr/>
        </p:nvSpPr>
        <p:spPr>
          <a:xfrm>
            <a:off x="6626700" y="2190750"/>
            <a:ext cx="599100" cy="7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750">
                <a:solidFill>
                  <a:srgbClr val="CC0000"/>
                </a:solidFill>
                <a:highlight>
                  <a:srgbClr val="FFFFFF"/>
                </a:highlight>
                <a:latin typeface="Roboto"/>
                <a:ea typeface="Roboto"/>
                <a:cs typeface="Roboto"/>
                <a:sym typeface="Roboto"/>
              </a:rPr>
              <a:t>✘</a:t>
            </a:r>
            <a:endParaRPr sz="3750">
              <a:solidFill>
                <a:srgbClr val="CC0000"/>
              </a:solidFill>
            </a:endParaRPr>
          </a:p>
        </p:txBody>
      </p:sp>
      <p:cxnSp>
        <p:nvCxnSpPr>
          <p:cNvPr id="581" name="Google Shape;581;g36deade42ff_0_1147"/>
          <p:cNvCxnSpPr/>
          <p:nvPr/>
        </p:nvCxnSpPr>
        <p:spPr>
          <a:xfrm flipH="1">
            <a:off x="6380375" y="2076550"/>
            <a:ext cx="311700" cy="459300"/>
          </a:xfrm>
          <a:prstGeom prst="straightConnector1">
            <a:avLst/>
          </a:prstGeom>
          <a:noFill/>
          <a:ln w="9525" cap="flat" cmpd="sng">
            <a:solidFill>
              <a:srgbClr val="BF9000"/>
            </a:solidFill>
            <a:prstDash val="solid"/>
            <a:round/>
            <a:headEnd type="none" w="med" len="med"/>
            <a:tailEnd type="triangle" w="med" len="med"/>
          </a:ln>
        </p:spPr>
      </p:cxnSp>
      <p:sp>
        <p:nvSpPr>
          <p:cNvPr id="582" name="Google Shape;582;g36deade42ff_0_1147"/>
          <p:cNvSpPr txBox="1"/>
          <p:nvPr/>
        </p:nvSpPr>
        <p:spPr>
          <a:xfrm>
            <a:off x="4953750" y="1774195"/>
            <a:ext cx="3945000" cy="319500"/>
          </a:xfrm>
          <a:prstGeom prst="rect">
            <a:avLst/>
          </a:prstGeom>
          <a:noFill/>
          <a:ln w="9525" cap="flat" cmpd="sng">
            <a:solidFill>
              <a:srgbClr val="BF9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BF9000"/>
                </a:solidFill>
              </a:rPr>
              <a:t>Concatemer peak at ~10kb, with no other peaks*</a:t>
            </a:r>
            <a:endParaRPr sz="1300">
              <a:solidFill>
                <a:srgbClr val="BF9000"/>
              </a:solidFill>
            </a:endParaRPr>
          </a:p>
        </p:txBody>
      </p:sp>
      <p:sp>
        <p:nvSpPr>
          <p:cNvPr id="583" name="Google Shape;583;g36deade42ff_0_1147"/>
          <p:cNvSpPr txBox="1"/>
          <p:nvPr/>
        </p:nvSpPr>
        <p:spPr>
          <a:xfrm>
            <a:off x="475625" y="4249500"/>
            <a:ext cx="8055900" cy="80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BF9000"/>
                </a:solidFill>
              </a:rPr>
              <a:t>*Consider the input going in, and the library size you would expect. In this case, a 10kb peak was seen for RNA input, which is much longer than the fragment size we’d expect. It turns out that the 10kb peak was a concatemer artifact created during barcoding PCR.</a:t>
            </a:r>
            <a:endParaRPr sz="1300">
              <a:solidFill>
                <a:srgbClr val="BF9000"/>
              </a:solidFill>
            </a:endParaRPr>
          </a:p>
        </p:txBody>
      </p:sp>
      <p:sp>
        <p:nvSpPr>
          <p:cNvPr id="584" name="Google Shape;584;g36deade42ff_0_1147"/>
          <p:cNvSpPr txBox="1">
            <a:spLocks noGrp="1"/>
          </p:cNvSpPr>
          <p:nvPr>
            <p:ph type="title" idx="4294967295"/>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000" b="1">
                <a:latin typeface="Lato"/>
                <a:ea typeface="Lato"/>
                <a:cs typeface="Lato"/>
                <a:sym typeface="Lato"/>
              </a:rPr>
              <a:t>Look out for ~10kb concatemer artifacts - they will clog the flow cell pores </a:t>
            </a:r>
            <a:endParaRPr sz="2000" b="1">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36deade42ff_0_1158"/>
          <p:cNvSpPr txBox="1"/>
          <p:nvPr/>
        </p:nvSpPr>
        <p:spPr>
          <a:xfrm>
            <a:off x="454350" y="1054650"/>
            <a:ext cx="8229600" cy="35865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Char char="●"/>
            </a:pPr>
            <a:r>
              <a:rPr lang="en" sz="1600"/>
              <a:t>Checking library size is important for troubleshooting</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It is recommended to routinely check library size when establishing the protocol or expanding to new sample types</a:t>
            </a:r>
            <a:endParaRPr sz="1600"/>
          </a:p>
          <a:p>
            <a:pPr marL="45720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If results are consistent and sample type / source are constant, it is possible for the library size to be estimated</a:t>
            </a:r>
            <a:endParaRPr sz="1200"/>
          </a:p>
          <a:p>
            <a:pPr marL="0" lvl="0" indent="0" algn="l" rtl="0">
              <a:lnSpc>
                <a:spcPct val="150000"/>
              </a:lnSpc>
              <a:spcBef>
                <a:spcPts val="0"/>
              </a:spcBef>
              <a:spcAft>
                <a:spcPts val="0"/>
              </a:spcAft>
              <a:buNone/>
            </a:pPr>
            <a:endParaRPr sz="1600"/>
          </a:p>
          <a:p>
            <a:pPr marL="457200" lvl="0" indent="-330200" algn="l" rtl="0">
              <a:lnSpc>
                <a:spcPct val="150000"/>
              </a:lnSpc>
              <a:spcBef>
                <a:spcPts val="0"/>
              </a:spcBef>
              <a:spcAft>
                <a:spcPts val="0"/>
              </a:spcAft>
              <a:buSzPts val="1600"/>
              <a:buChar char="●"/>
            </a:pPr>
            <a:r>
              <a:rPr lang="en" sz="1600"/>
              <a:t>Size may be evaluated by:</a:t>
            </a:r>
            <a:endParaRPr sz="1600"/>
          </a:p>
          <a:p>
            <a:pPr marL="914400" lvl="1" indent="-323850" algn="l" rtl="0">
              <a:lnSpc>
                <a:spcPct val="150000"/>
              </a:lnSpc>
              <a:spcBef>
                <a:spcPts val="0"/>
              </a:spcBef>
              <a:spcAft>
                <a:spcPts val="0"/>
              </a:spcAft>
              <a:buSzPts val="1500"/>
              <a:buChar char="○"/>
            </a:pPr>
            <a:r>
              <a:rPr lang="en" sz="1500"/>
              <a:t>Diagnostic PCR + gel electrophoresis</a:t>
            </a:r>
            <a:endParaRPr sz="1500"/>
          </a:p>
          <a:p>
            <a:pPr marL="914400" lvl="1" indent="-323850" algn="l" rtl="0">
              <a:lnSpc>
                <a:spcPct val="150000"/>
              </a:lnSpc>
              <a:spcBef>
                <a:spcPts val="0"/>
              </a:spcBef>
              <a:spcAft>
                <a:spcPts val="0"/>
              </a:spcAft>
              <a:buSzPts val="1500"/>
              <a:buChar char="○"/>
            </a:pPr>
            <a:r>
              <a:rPr lang="en" sz="1500"/>
              <a:t>QSep / Tapestation / Bioanalyzer / Fragment analyzer</a:t>
            </a:r>
            <a:endParaRPr sz="1500"/>
          </a:p>
          <a:p>
            <a:pPr marL="457200" lvl="0" indent="-330200" algn="l" rtl="0">
              <a:lnSpc>
                <a:spcPct val="150000"/>
              </a:lnSpc>
              <a:spcBef>
                <a:spcPts val="0"/>
              </a:spcBef>
              <a:spcAft>
                <a:spcPts val="0"/>
              </a:spcAft>
              <a:buSzPts val="1600"/>
              <a:buChar char="●"/>
            </a:pPr>
            <a:r>
              <a:rPr lang="en" sz="1600"/>
              <a:t>Size will be used for concentration calculation</a:t>
            </a:r>
            <a:endParaRPr sz="1600"/>
          </a:p>
        </p:txBody>
      </p:sp>
      <p:sp>
        <p:nvSpPr>
          <p:cNvPr id="590" name="Google Shape;590;g36deade42ff_0_1158"/>
          <p:cNvSpPr txBox="1">
            <a:spLocks noGrp="1"/>
          </p:cNvSpPr>
          <p:nvPr>
            <p:ph type="title" idx="4294967295"/>
          </p:nvPr>
        </p:nvSpPr>
        <p:spPr>
          <a:xfrm>
            <a:off x="267550" y="169925"/>
            <a:ext cx="8551800" cy="808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400" b="1">
                <a:latin typeface="Lato"/>
                <a:ea typeface="Lato"/>
                <a:cs typeface="Lato"/>
                <a:sym typeface="Lato"/>
              </a:rPr>
              <a:t>Library size</a:t>
            </a:r>
            <a:endParaRPr sz="2400" b="1" i="1">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36deade42ff_0_1163"/>
          <p:cNvSpPr/>
          <p:nvPr/>
        </p:nvSpPr>
        <p:spPr>
          <a:xfrm>
            <a:off x="6955625" y="1634388"/>
            <a:ext cx="928500" cy="2268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g36deade42ff_0_1163"/>
          <p:cNvSpPr txBox="1"/>
          <p:nvPr/>
        </p:nvSpPr>
        <p:spPr>
          <a:xfrm>
            <a:off x="760550" y="953025"/>
            <a:ext cx="140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Concentration</a:t>
            </a:r>
            <a:endParaRPr/>
          </a:p>
        </p:txBody>
      </p:sp>
      <p:sp>
        <p:nvSpPr>
          <p:cNvPr id="597" name="Google Shape;597;g36deade42ff_0_1163"/>
          <p:cNvSpPr txBox="1"/>
          <p:nvPr/>
        </p:nvSpPr>
        <p:spPr>
          <a:xfrm>
            <a:off x="3427288" y="953025"/>
            <a:ext cx="1816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Length</a:t>
            </a:r>
            <a:endParaRPr/>
          </a:p>
        </p:txBody>
      </p:sp>
      <p:sp>
        <p:nvSpPr>
          <p:cNvPr id="598" name="Google Shape;598;g36deade42ff_0_1163"/>
          <p:cNvSpPr txBox="1"/>
          <p:nvPr/>
        </p:nvSpPr>
        <p:spPr>
          <a:xfrm>
            <a:off x="6509225" y="953025"/>
            <a:ext cx="2280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t>Remove adapter dimers</a:t>
            </a:r>
            <a:endParaRPr/>
          </a:p>
        </p:txBody>
      </p:sp>
      <p:pic>
        <p:nvPicPr>
          <p:cNvPr id="599" name="Google Shape;599;g36deade42ff_0_1163"/>
          <p:cNvPicPr preferRelativeResize="0"/>
          <p:nvPr/>
        </p:nvPicPr>
        <p:blipFill rotWithShape="1">
          <a:blip r:embed="rId3">
            <a:alphaModFix/>
          </a:blip>
          <a:srcRect b="91476"/>
          <a:stretch/>
        </p:blipFill>
        <p:spPr>
          <a:xfrm>
            <a:off x="412213" y="2482725"/>
            <a:ext cx="750124" cy="69900"/>
          </a:xfrm>
          <a:prstGeom prst="rect">
            <a:avLst/>
          </a:prstGeom>
          <a:noFill/>
          <a:ln>
            <a:noFill/>
          </a:ln>
        </p:spPr>
      </p:pic>
      <p:pic>
        <p:nvPicPr>
          <p:cNvPr id="600" name="Google Shape;600;g36deade42ff_0_1163"/>
          <p:cNvPicPr preferRelativeResize="0"/>
          <p:nvPr/>
        </p:nvPicPr>
        <p:blipFill rotWithShape="1">
          <a:blip r:embed="rId3">
            <a:alphaModFix/>
          </a:blip>
          <a:srcRect b="91476"/>
          <a:stretch/>
        </p:blipFill>
        <p:spPr>
          <a:xfrm>
            <a:off x="941888" y="2380750"/>
            <a:ext cx="750124" cy="69900"/>
          </a:xfrm>
          <a:prstGeom prst="rect">
            <a:avLst/>
          </a:prstGeom>
          <a:noFill/>
          <a:ln>
            <a:noFill/>
          </a:ln>
        </p:spPr>
      </p:pic>
      <p:pic>
        <p:nvPicPr>
          <p:cNvPr id="601" name="Google Shape;601;g36deade42ff_0_1163"/>
          <p:cNvPicPr preferRelativeResize="0"/>
          <p:nvPr/>
        </p:nvPicPr>
        <p:blipFill rotWithShape="1">
          <a:blip r:embed="rId3">
            <a:alphaModFix/>
          </a:blip>
          <a:srcRect b="91476"/>
          <a:stretch/>
        </p:blipFill>
        <p:spPr>
          <a:xfrm>
            <a:off x="1032413" y="2603988"/>
            <a:ext cx="750124" cy="69900"/>
          </a:xfrm>
          <a:prstGeom prst="rect">
            <a:avLst/>
          </a:prstGeom>
          <a:noFill/>
          <a:ln>
            <a:noFill/>
          </a:ln>
        </p:spPr>
      </p:pic>
      <p:pic>
        <p:nvPicPr>
          <p:cNvPr id="602" name="Google Shape;602;g36deade42ff_0_1163"/>
          <p:cNvPicPr preferRelativeResize="0"/>
          <p:nvPr/>
        </p:nvPicPr>
        <p:blipFill rotWithShape="1">
          <a:blip r:embed="rId3">
            <a:alphaModFix/>
          </a:blip>
          <a:srcRect b="91476"/>
          <a:stretch/>
        </p:blipFill>
        <p:spPr>
          <a:xfrm>
            <a:off x="708863" y="2724125"/>
            <a:ext cx="750124" cy="69900"/>
          </a:xfrm>
          <a:prstGeom prst="rect">
            <a:avLst/>
          </a:prstGeom>
          <a:noFill/>
          <a:ln>
            <a:noFill/>
          </a:ln>
        </p:spPr>
      </p:pic>
      <p:pic>
        <p:nvPicPr>
          <p:cNvPr id="603" name="Google Shape;603;g36deade42ff_0_1163"/>
          <p:cNvPicPr preferRelativeResize="0"/>
          <p:nvPr/>
        </p:nvPicPr>
        <p:blipFill rotWithShape="1">
          <a:blip r:embed="rId3">
            <a:alphaModFix/>
          </a:blip>
          <a:srcRect b="91476"/>
          <a:stretch/>
        </p:blipFill>
        <p:spPr>
          <a:xfrm>
            <a:off x="1046488" y="2822500"/>
            <a:ext cx="750124" cy="69900"/>
          </a:xfrm>
          <a:prstGeom prst="rect">
            <a:avLst/>
          </a:prstGeom>
          <a:noFill/>
          <a:ln>
            <a:noFill/>
          </a:ln>
        </p:spPr>
      </p:pic>
      <p:pic>
        <p:nvPicPr>
          <p:cNvPr id="604" name="Google Shape;604;g36deade42ff_0_1163"/>
          <p:cNvPicPr preferRelativeResize="0"/>
          <p:nvPr/>
        </p:nvPicPr>
        <p:blipFill rotWithShape="1">
          <a:blip r:embed="rId3">
            <a:alphaModFix/>
          </a:blip>
          <a:srcRect b="91476"/>
          <a:stretch/>
        </p:blipFill>
        <p:spPr>
          <a:xfrm>
            <a:off x="994188" y="3030713"/>
            <a:ext cx="750124" cy="69900"/>
          </a:xfrm>
          <a:prstGeom prst="rect">
            <a:avLst/>
          </a:prstGeom>
          <a:noFill/>
          <a:ln>
            <a:noFill/>
          </a:ln>
        </p:spPr>
      </p:pic>
      <p:pic>
        <p:nvPicPr>
          <p:cNvPr id="605" name="Google Shape;605;g36deade42ff_0_1163"/>
          <p:cNvPicPr preferRelativeResize="0"/>
          <p:nvPr/>
        </p:nvPicPr>
        <p:blipFill rotWithShape="1">
          <a:blip r:embed="rId3">
            <a:alphaModFix/>
          </a:blip>
          <a:srcRect b="91476"/>
          <a:stretch/>
        </p:blipFill>
        <p:spPr>
          <a:xfrm>
            <a:off x="1351288" y="2924013"/>
            <a:ext cx="750124" cy="69900"/>
          </a:xfrm>
          <a:prstGeom prst="rect">
            <a:avLst/>
          </a:prstGeom>
          <a:noFill/>
          <a:ln>
            <a:noFill/>
          </a:ln>
        </p:spPr>
      </p:pic>
      <p:pic>
        <p:nvPicPr>
          <p:cNvPr id="606" name="Google Shape;606;g36deade42ff_0_1163"/>
          <p:cNvPicPr preferRelativeResize="0"/>
          <p:nvPr/>
        </p:nvPicPr>
        <p:blipFill rotWithShape="1">
          <a:blip r:embed="rId3">
            <a:alphaModFix/>
          </a:blip>
          <a:srcRect b="91476"/>
          <a:stretch/>
        </p:blipFill>
        <p:spPr>
          <a:xfrm>
            <a:off x="1503688" y="2698000"/>
            <a:ext cx="750124" cy="69900"/>
          </a:xfrm>
          <a:prstGeom prst="rect">
            <a:avLst/>
          </a:prstGeom>
          <a:noFill/>
          <a:ln>
            <a:noFill/>
          </a:ln>
        </p:spPr>
      </p:pic>
      <p:pic>
        <p:nvPicPr>
          <p:cNvPr id="607" name="Google Shape;607;g36deade42ff_0_1163"/>
          <p:cNvPicPr preferRelativeResize="0"/>
          <p:nvPr/>
        </p:nvPicPr>
        <p:blipFill rotWithShape="1">
          <a:blip r:embed="rId3">
            <a:alphaModFix/>
          </a:blip>
          <a:srcRect b="91476"/>
          <a:stretch/>
        </p:blipFill>
        <p:spPr>
          <a:xfrm>
            <a:off x="1403388" y="2492375"/>
            <a:ext cx="750124" cy="69900"/>
          </a:xfrm>
          <a:prstGeom prst="rect">
            <a:avLst/>
          </a:prstGeom>
          <a:noFill/>
          <a:ln>
            <a:noFill/>
          </a:ln>
        </p:spPr>
      </p:pic>
      <p:pic>
        <p:nvPicPr>
          <p:cNvPr id="608" name="Google Shape;608;g36deade42ff_0_1163"/>
          <p:cNvPicPr preferRelativeResize="0"/>
          <p:nvPr/>
        </p:nvPicPr>
        <p:blipFill rotWithShape="1">
          <a:blip r:embed="rId3">
            <a:alphaModFix/>
          </a:blip>
          <a:srcRect b="91476"/>
          <a:stretch/>
        </p:blipFill>
        <p:spPr>
          <a:xfrm>
            <a:off x="1162338" y="3149963"/>
            <a:ext cx="750124" cy="69900"/>
          </a:xfrm>
          <a:prstGeom prst="rect">
            <a:avLst/>
          </a:prstGeom>
          <a:noFill/>
          <a:ln>
            <a:noFill/>
          </a:ln>
        </p:spPr>
      </p:pic>
      <p:pic>
        <p:nvPicPr>
          <p:cNvPr id="609" name="Google Shape;609;g36deade42ff_0_1163"/>
          <p:cNvPicPr preferRelativeResize="0"/>
          <p:nvPr/>
        </p:nvPicPr>
        <p:blipFill rotWithShape="1">
          <a:blip r:embed="rId3">
            <a:alphaModFix/>
          </a:blip>
          <a:srcRect b="91476"/>
          <a:stretch/>
        </p:blipFill>
        <p:spPr>
          <a:xfrm>
            <a:off x="244063" y="2619225"/>
            <a:ext cx="750124" cy="69900"/>
          </a:xfrm>
          <a:prstGeom prst="rect">
            <a:avLst/>
          </a:prstGeom>
          <a:noFill/>
          <a:ln>
            <a:noFill/>
          </a:ln>
        </p:spPr>
      </p:pic>
      <p:pic>
        <p:nvPicPr>
          <p:cNvPr id="610" name="Google Shape;610;g36deade42ff_0_1163"/>
          <p:cNvPicPr preferRelativeResize="0"/>
          <p:nvPr/>
        </p:nvPicPr>
        <p:blipFill rotWithShape="1">
          <a:blip r:embed="rId3">
            <a:alphaModFix/>
          </a:blip>
          <a:srcRect b="91476"/>
          <a:stretch/>
        </p:blipFill>
        <p:spPr>
          <a:xfrm>
            <a:off x="994188" y="3473075"/>
            <a:ext cx="750124" cy="69900"/>
          </a:xfrm>
          <a:prstGeom prst="rect">
            <a:avLst/>
          </a:prstGeom>
          <a:noFill/>
          <a:ln>
            <a:noFill/>
          </a:ln>
        </p:spPr>
      </p:pic>
      <p:pic>
        <p:nvPicPr>
          <p:cNvPr id="611" name="Google Shape;611;g36deade42ff_0_1163"/>
          <p:cNvPicPr preferRelativeResize="0"/>
          <p:nvPr/>
        </p:nvPicPr>
        <p:blipFill rotWithShape="1">
          <a:blip r:embed="rId3">
            <a:alphaModFix/>
          </a:blip>
          <a:srcRect b="91476"/>
          <a:stretch/>
        </p:blipFill>
        <p:spPr>
          <a:xfrm>
            <a:off x="1185913" y="3574150"/>
            <a:ext cx="750124" cy="69900"/>
          </a:xfrm>
          <a:prstGeom prst="rect">
            <a:avLst/>
          </a:prstGeom>
          <a:noFill/>
          <a:ln>
            <a:noFill/>
          </a:ln>
        </p:spPr>
      </p:pic>
      <p:pic>
        <p:nvPicPr>
          <p:cNvPr id="612" name="Google Shape;612;g36deade42ff_0_1163"/>
          <p:cNvPicPr preferRelativeResize="0"/>
          <p:nvPr/>
        </p:nvPicPr>
        <p:blipFill rotWithShape="1">
          <a:blip r:embed="rId3">
            <a:alphaModFix/>
          </a:blip>
          <a:srcRect b="91476"/>
          <a:stretch/>
        </p:blipFill>
        <p:spPr>
          <a:xfrm>
            <a:off x="244063" y="2822500"/>
            <a:ext cx="750124" cy="69900"/>
          </a:xfrm>
          <a:prstGeom prst="rect">
            <a:avLst/>
          </a:prstGeom>
          <a:noFill/>
          <a:ln>
            <a:noFill/>
          </a:ln>
        </p:spPr>
      </p:pic>
      <p:pic>
        <p:nvPicPr>
          <p:cNvPr id="613" name="Google Shape;613;g36deade42ff_0_1163"/>
          <p:cNvPicPr preferRelativeResize="0"/>
          <p:nvPr/>
        </p:nvPicPr>
        <p:blipFill rotWithShape="1">
          <a:blip r:embed="rId3">
            <a:alphaModFix/>
          </a:blip>
          <a:srcRect b="91476"/>
          <a:stretch/>
        </p:blipFill>
        <p:spPr>
          <a:xfrm>
            <a:off x="435788" y="2941100"/>
            <a:ext cx="750124" cy="69900"/>
          </a:xfrm>
          <a:prstGeom prst="rect">
            <a:avLst/>
          </a:prstGeom>
          <a:noFill/>
          <a:ln>
            <a:noFill/>
          </a:ln>
        </p:spPr>
      </p:pic>
      <p:pic>
        <p:nvPicPr>
          <p:cNvPr id="614" name="Google Shape;614;g36deade42ff_0_1163"/>
          <p:cNvPicPr preferRelativeResize="0"/>
          <p:nvPr/>
        </p:nvPicPr>
        <p:blipFill rotWithShape="1">
          <a:blip r:embed="rId3">
            <a:alphaModFix/>
          </a:blip>
          <a:srcRect b="91476"/>
          <a:stretch/>
        </p:blipFill>
        <p:spPr>
          <a:xfrm>
            <a:off x="380363" y="3142763"/>
            <a:ext cx="750124" cy="69900"/>
          </a:xfrm>
          <a:prstGeom prst="rect">
            <a:avLst/>
          </a:prstGeom>
          <a:noFill/>
          <a:ln>
            <a:noFill/>
          </a:ln>
        </p:spPr>
      </p:pic>
      <p:pic>
        <p:nvPicPr>
          <p:cNvPr id="615" name="Google Shape;615;g36deade42ff_0_1163"/>
          <p:cNvPicPr preferRelativeResize="0"/>
          <p:nvPr/>
        </p:nvPicPr>
        <p:blipFill rotWithShape="1">
          <a:blip r:embed="rId3">
            <a:alphaModFix/>
          </a:blip>
          <a:srcRect b="91476"/>
          <a:stretch/>
        </p:blipFill>
        <p:spPr>
          <a:xfrm>
            <a:off x="581413" y="3236025"/>
            <a:ext cx="750124" cy="69900"/>
          </a:xfrm>
          <a:prstGeom prst="rect">
            <a:avLst/>
          </a:prstGeom>
          <a:noFill/>
          <a:ln>
            <a:noFill/>
          </a:ln>
        </p:spPr>
      </p:pic>
      <p:pic>
        <p:nvPicPr>
          <p:cNvPr id="616" name="Google Shape;616;g36deade42ff_0_1163"/>
          <p:cNvPicPr preferRelativeResize="0"/>
          <p:nvPr/>
        </p:nvPicPr>
        <p:blipFill rotWithShape="1">
          <a:blip r:embed="rId3">
            <a:alphaModFix/>
          </a:blip>
          <a:srcRect b="91476"/>
          <a:stretch/>
        </p:blipFill>
        <p:spPr>
          <a:xfrm>
            <a:off x="401763" y="3350263"/>
            <a:ext cx="750124" cy="69900"/>
          </a:xfrm>
          <a:prstGeom prst="rect">
            <a:avLst/>
          </a:prstGeom>
          <a:noFill/>
          <a:ln>
            <a:noFill/>
          </a:ln>
        </p:spPr>
      </p:pic>
      <p:pic>
        <p:nvPicPr>
          <p:cNvPr id="617" name="Google Shape;617;g36deade42ff_0_1163"/>
          <p:cNvPicPr preferRelativeResize="0"/>
          <p:nvPr/>
        </p:nvPicPr>
        <p:blipFill rotWithShape="1">
          <a:blip r:embed="rId3">
            <a:alphaModFix/>
          </a:blip>
          <a:srcRect b="91476"/>
          <a:stretch/>
        </p:blipFill>
        <p:spPr>
          <a:xfrm>
            <a:off x="229613" y="3449763"/>
            <a:ext cx="750124" cy="69900"/>
          </a:xfrm>
          <a:prstGeom prst="rect">
            <a:avLst/>
          </a:prstGeom>
          <a:noFill/>
          <a:ln>
            <a:noFill/>
          </a:ln>
        </p:spPr>
      </p:pic>
      <p:pic>
        <p:nvPicPr>
          <p:cNvPr id="618" name="Google Shape;618;g36deade42ff_0_1163"/>
          <p:cNvPicPr preferRelativeResize="0"/>
          <p:nvPr/>
        </p:nvPicPr>
        <p:blipFill rotWithShape="1">
          <a:blip r:embed="rId3">
            <a:alphaModFix/>
          </a:blip>
          <a:srcRect b="91476"/>
          <a:stretch/>
        </p:blipFill>
        <p:spPr>
          <a:xfrm>
            <a:off x="340313" y="3552413"/>
            <a:ext cx="750124" cy="69900"/>
          </a:xfrm>
          <a:prstGeom prst="rect">
            <a:avLst/>
          </a:prstGeom>
          <a:noFill/>
          <a:ln>
            <a:noFill/>
          </a:ln>
        </p:spPr>
      </p:pic>
      <p:pic>
        <p:nvPicPr>
          <p:cNvPr id="619" name="Google Shape;619;g36deade42ff_0_1163"/>
          <p:cNvPicPr preferRelativeResize="0"/>
          <p:nvPr/>
        </p:nvPicPr>
        <p:blipFill rotWithShape="1">
          <a:blip r:embed="rId3">
            <a:alphaModFix/>
          </a:blip>
          <a:srcRect b="91476"/>
          <a:stretch/>
        </p:blipFill>
        <p:spPr>
          <a:xfrm>
            <a:off x="617788" y="3675238"/>
            <a:ext cx="750124" cy="69900"/>
          </a:xfrm>
          <a:prstGeom prst="rect">
            <a:avLst/>
          </a:prstGeom>
          <a:noFill/>
          <a:ln>
            <a:noFill/>
          </a:ln>
        </p:spPr>
      </p:pic>
      <p:pic>
        <p:nvPicPr>
          <p:cNvPr id="620" name="Google Shape;620;g36deade42ff_0_1163"/>
          <p:cNvPicPr preferRelativeResize="0"/>
          <p:nvPr/>
        </p:nvPicPr>
        <p:blipFill rotWithShape="1">
          <a:blip r:embed="rId3">
            <a:alphaModFix/>
          </a:blip>
          <a:srcRect b="91476"/>
          <a:stretch/>
        </p:blipFill>
        <p:spPr>
          <a:xfrm>
            <a:off x="1351288" y="3696663"/>
            <a:ext cx="750124" cy="69900"/>
          </a:xfrm>
          <a:prstGeom prst="rect">
            <a:avLst/>
          </a:prstGeom>
          <a:noFill/>
          <a:ln>
            <a:noFill/>
          </a:ln>
        </p:spPr>
      </p:pic>
      <p:pic>
        <p:nvPicPr>
          <p:cNvPr id="621" name="Google Shape;621;g36deade42ff_0_1163"/>
          <p:cNvPicPr preferRelativeResize="0"/>
          <p:nvPr/>
        </p:nvPicPr>
        <p:blipFill rotWithShape="1">
          <a:blip r:embed="rId3">
            <a:alphaModFix/>
          </a:blip>
          <a:srcRect b="91476"/>
          <a:stretch/>
        </p:blipFill>
        <p:spPr>
          <a:xfrm>
            <a:off x="1304288" y="3259575"/>
            <a:ext cx="750124" cy="69900"/>
          </a:xfrm>
          <a:prstGeom prst="rect">
            <a:avLst/>
          </a:prstGeom>
          <a:noFill/>
          <a:ln>
            <a:noFill/>
          </a:ln>
        </p:spPr>
      </p:pic>
      <p:pic>
        <p:nvPicPr>
          <p:cNvPr id="622" name="Google Shape;622;g36deade42ff_0_1163"/>
          <p:cNvPicPr preferRelativeResize="0"/>
          <p:nvPr/>
        </p:nvPicPr>
        <p:blipFill rotWithShape="1">
          <a:blip r:embed="rId3">
            <a:alphaModFix/>
          </a:blip>
          <a:srcRect b="91476"/>
          <a:stretch/>
        </p:blipFill>
        <p:spPr>
          <a:xfrm>
            <a:off x="1860138" y="2595175"/>
            <a:ext cx="750124" cy="69900"/>
          </a:xfrm>
          <a:prstGeom prst="rect">
            <a:avLst/>
          </a:prstGeom>
          <a:noFill/>
          <a:ln>
            <a:noFill/>
          </a:ln>
        </p:spPr>
      </p:pic>
      <p:pic>
        <p:nvPicPr>
          <p:cNvPr id="623" name="Google Shape;623;g36deade42ff_0_1163"/>
          <p:cNvPicPr preferRelativeResize="0"/>
          <p:nvPr/>
        </p:nvPicPr>
        <p:blipFill rotWithShape="1">
          <a:blip r:embed="rId3">
            <a:alphaModFix/>
          </a:blip>
          <a:srcRect b="91476"/>
          <a:stretch/>
        </p:blipFill>
        <p:spPr>
          <a:xfrm>
            <a:off x="1828413" y="3451613"/>
            <a:ext cx="750124" cy="69900"/>
          </a:xfrm>
          <a:prstGeom prst="rect">
            <a:avLst/>
          </a:prstGeom>
          <a:noFill/>
          <a:ln>
            <a:noFill/>
          </a:ln>
        </p:spPr>
      </p:pic>
      <p:pic>
        <p:nvPicPr>
          <p:cNvPr id="624" name="Google Shape;624;g36deade42ff_0_1163"/>
          <p:cNvPicPr preferRelativeResize="0"/>
          <p:nvPr/>
        </p:nvPicPr>
        <p:blipFill rotWithShape="1">
          <a:blip r:embed="rId3">
            <a:alphaModFix/>
          </a:blip>
          <a:srcRect b="91476"/>
          <a:stretch/>
        </p:blipFill>
        <p:spPr>
          <a:xfrm>
            <a:off x="1185913" y="3355600"/>
            <a:ext cx="750124" cy="69900"/>
          </a:xfrm>
          <a:prstGeom prst="rect">
            <a:avLst/>
          </a:prstGeom>
          <a:noFill/>
          <a:ln>
            <a:noFill/>
          </a:ln>
        </p:spPr>
      </p:pic>
      <p:pic>
        <p:nvPicPr>
          <p:cNvPr id="625" name="Google Shape;625;g36deade42ff_0_1163"/>
          <p:cNvPicPr preferRelativeResize="0"/>
          <p:nvPr/>
        </p:nvPicPr>
        <p:blipFill rotWithShape="1">
          <a:blip r:embed="rId3">
            <a:alphaModFix/>
          </a:blip>
          <a:srcRect b="91476"/>
          <a:stretch/>
        </p:blipFill>
        <p:spPr>
          <a:xfrm>
            <a:off x="1980813" y="3604013"/>
            <a:ext cx="750124" cy="69900"/>
          </a:xfrm>
          <a:prstGeom prst="rect">
            <a:avLst/>
          </a:prstGeom>
          <a:noFill/>
          <a:ln>
            <a:noFill/>
          </a:ln>
        </p:spPr>
      </p:pic>
      <p:pic>
        <p:nvPicPr>
          <p:cNvPr id="626" name="Google Shape;626;g36deade42ff_0_1163"/>
          <p:cNvPicPr preferRelativeResize="0"/>
          <p:nvPr/>
        </p:nvPicPr>
        <p:blipFill rotWithShape="1">
          <a:blip r:embed="rId3">
            <a:alphaModFix/>
          </a:blip>
          <a:srcRect b="91476"/>
          <a:stretch/>
        </p:blipFill>
        <p:spPr>
          <a:xfrm>
            <a:off x="1970063" y="3329475"/>
            <a:ext cx="750124" cy="69900"/>
          </a:xfrm>
          <a:prstGeom prst="rect">
            <a:avLst/>
          </a:prstGeom>
          <a:noFill/>
          <a:ln>
            <a:noFill/>
          </a:ln>
        </p:spPr>
      </p:pic>
      <p:pic>
        <p:nvPicPr>
          <p:cNvPr id="627" name="Google Shape;627;g36deade42ff_0_1163"/>
          <p:cNvPicPr preferRelativeResize="0"/>
          <p:nvPr/>
        </p:nvPicPr>
        <p:blipFill rotWithShape="1">
          <a:blip r:embed="rId3">
            <a:alphaModFix/>
          </a:blip>
          <a:srcRect b="91476"/>
          <a:stretch/>
        </p:blipFill>
        <p:spPr>
          <a:xfrm>
            <a:off x="1796613" y="3037000"/>
            <a:ext cx="750124" cy="69900"/>
          </a:xfrm>
          <a:prstGeom prst="rect">
            <a:avLst/>
          </a:prstGeom>
          <a:noFill/>
          <a:ln>
            <a:noFill/>
          </a:ln>
        </p:spPr>
      </p:pic>
      <p:pic>
        <p:nvPicPr>
          <p:cNvPr id="628" name="Google Shape;628;g36deade42ff_0_1163"/>
          <p:cNvPicPr preferRelativeResize="0"/>
          <p:nvPr/>
        </p:nvPicPr>
        <p:blipFill rotWithShape="1">
          <a:blip r:embed="rId3">
            <a:alphaModFix/>
          </a:blip>
          <a:srcRect b="91476"/>
          <a:stretch/>
        </p:blipFill>
        <p:spPr>
          <a:xfrm>
            <a:off x="1936038" y="3148275"/>
            <a:ext cx="750124" cy="69900"/>
          </a:xfrm>
          <a:prstGeom prst="rect">
            <a:avLst/>
          </a:prstGeom>
          <a:noFill/>
          <a:ln>
            <a:noFill/>
          </a:ln>
        </p:spPr>
      </p:pic>
      <p:pic>
        <p:nvPicPr>
          <p:cNvPr id="629" name="Google Shape;629;g36deade42ff_0_1163"/>
          <p:cNvPicPr preferRelativeResize="0"/>
          <p:nvPr/>
        </p:nvPicPr>
        <p:blipFill rotWithShape="1">
          <a:blip r:embed="rId3">
            <a:alphaModFix/>
          </a:blip>
          <a:srcRect b="91476"/>
          <a:stretch/>
        </p:blipFill>
        <p:spPr>
          <a:xfrm>
            <a:off x="191763" y="3029263"/>
            <a:ext cx="750124" cy="69900"/>
          </a:xfrm>
          <a:prstGeom prst="rect">
            <a:avLst/>
          </a:prstGeom>
          <a:noFill/>
          <a:ln>
            <a:noFill/>
          </a:ln>
        </p:spPr>
      </p:pic>
      <p:pic>
        <p:nvPicPr>
          <p:cNvPr id="630" name="Google Shape;630;g36deade42ff_0_1163"/>
          <p:cNvPicPr preferRelativeResize="0"/>
          <p:nvPr/>
        </p:nvPicPr>
        <p:blipFill rotWithShape="1">
          <a:blip r:embed="rId3">
            <a:alphaModFix/>
          </a:blip>
          <a:srcRect b="91476"/>
          <a:stretch/>
        </p:blipFill>
        <p:spPr>
          <a:xfrm>
            <a:off x="1796613" y="2806200"/>
            <a:ext cx="750124" cy="69900"/>
          </a:xfrm>
          <a:prstGeom prst="rect">
            <a:avLst/>
          </a:prstGeom>
          <a:noFill/>
          <a:ln>
            <a:noFill/>
          </a:ln>
        </p:spPr>
      </p:pic>
      <p:grpSp>
        <p:nvGrpSpPr>
          <p:cNvPr id="631" name="Google Shape;631;g36deade42ff_0_1163"/>
          <p:cNvGrpSpPr/>
          <p:nvPr/>
        </p:nvGrpSpPr>
        <p:grpSpPr>
          <a:xfrm>
            <a:off x="281913" y="1634388"/>
            <a:ext cx="2366199" cy="308375"/>
            <a:chOff x="281913" y="1862988"/>
            <a:chExt cx="2366199" cy="308375"/>
          </a:xfrm>
        </p:grpSpPr>
        <p:pic>
          <p:nvPicPr>
            <p:cNvPr id="632" name="Google Shape;632;g36deade42ff_0_1163"/>
            <p:cNvPicPr preferRelativeResize="0"/>
            <p:nvPr/>
          </p:nvPicPr>
          <p:blipFill rotWithShape="1">
            <a:blip r:embed="rId3">
              <a:alphaModFix/>
            </a:blip>
            <a:srcRect b="91476"/>
            <a:stretch/>
          </p:blipFill>
          <p:spPr>
            <a:xfrm>
              <a:off x="450063" y="1964963"/>
              <a:ext cx="750124" cy="69900"/>
            </a:xfrm>
            <a:prstGeom prst="rect">
              <a:avLst/>
            </a:prstGeom>
            <a:noFill/>
            <a:ln>
              <a:noFill/>
            </a:ln>
          </p:spPr>
        </p:pic>
        <p:pic>
          <p:nvPicPr>
            <p:cNvPr id="633" name="Google Shape;633;g36deade42ff_0_1163"/>
            <p:cNvPicPr preferRelativeResize="0"/>
            <p:nvPr/>
          </p:nvPicPr>
          <p:blipFill rotWithShape="1">
            <a:blip r:embed="rId3">
              <a:alphaModFix/>
            </a:blip>
            <a:srcRect b="91476"/>
            <a:stretch/>
          </p:blipFill>
          <p:spPr>
            <a:xfrm>
              <a:off x="979738" y="1862988"/>
              <a:ext cx="750124" cy="69900"/>
            </a:xfrm>
            <a:prstGeom prst="rect">
              <a:avLst/>
            </a:prstGeom>
            <a:noFill/>
            <a:ln>
              <a:noFill/>
            </a:ln>
          </p:spPr>
        </p:pic>
        <p:pic>
          <p:nvPicPr>
            <p:cNvPr id="634" name="Google Shape;634;g36deade42ff_0_1163"/>
            <p:cNvPicPr preferRelativeResize="0"/>
            <p:nvPr/>
          </p:nvPicPr>
          <p:blipFill rotWithShape="1">
            <a:blip r:embed="rId3">
              <a:alphaModFix/>
            </a:blip>
            <a:srcRect b="91476"/>
            <a:stretch/>
          </p:blipFill>
          <p:spPr>
            <a:xfrm>
              <a:off x="1070263" y="2086225"/>
              <a:ext cx="750124" cy="69900"/>
            </a:xfrm>
            <a:prstGeom prst="rect">
              <a:avLst/>
            </a:prstGeom>
            <a:noFill/>
            <a:ln>
              <a:noFill/>
            </a:ln>
          </p:spPr>
        </p:pic>
        <p:pic>
          <p:nvPicPr>
            <p:cNvPr id="635" name="Google Shape;635;g36deade42ff_0_1163"/>
            <p:cNvPicPr preferRelativeResize="0"/>
            <p:nvPr/>
          </p:nvPicPr>
          <p:blipFill rotWithShape="1">
            <a:blip r:embed="rId3">
              <a:alphaModFix/>
            </a:blip>
            <a:srcRect b="91476"/>
            <a:stretch/>
          </p:blipFill>
          <p:spPr>
            <a:xfrm>
              <a:off x="1441238" y="1974613"/>
              <a:ext cx="750124" cy="69900"/>
            </a:xfrm>
            <a:prstGeom prst="rect">
              <a:avLst/>
            </a:prstGeom>
            <a:noFill/>
            <a:ln>
              <a:noFill/>
            </a:ln>
          </p:spPr>
        </p:pic>
        <p:pic>
          <p:nvPicPr>
            <p:cNvPr id="636" name="Google Shape;636;g36deade42ff_0_1163"/>
            <p:cNvPicPr preferRelativeResize="0"/>
            <p:nvPr/>
          </p:nvPicPr>
          <p:blipFill rotWithShape="1">
            <a:blip r:embed="rId3">
              <a:alphaModFix/>
            </a:blip>
            <a:srcRect b="91476"/>
            <a:stretch/>
          </p:blipFill>
          <p:spPr>
            <a:xfrm>
              <a:off x="281913" y="2101463"/>
              <a:ext cx="750124" cy="69900"/>
            </a:xfrm>
            <a:prstGeom prst="rect">
              <a:avLst/>
            </a:prstGeom>
            <a:noFill/>
            <a:ln>
              <a:noFill/>
            </a:ln>
          </p:spPr>
        </p:pic>
        <p:pic>
          <p:nvPicPr>
            <p:cNvPr id="637" name="Google Shape;637;g36deade42ff_0_1163"/>
            <p:cNvPicPr preferRelativeResize="0"/>
            <p:nvPr/>
          </p:nvPicPr>
          <p:blipFill rotWithShape="1">
            <a:blip r:embed="rId3">
              <a:alphaModFix/>
            </a:blip>
            <a:srcRect b="91476"/>
            <a:stretch/>
          </p:blipFill>
          <p:spPr>
            <a:xfrm>
              <a:off x="1897988" y="2077413"/>
              <a:ext cx="750124" cy="69900"/>
            </a:xfrm>
            <a:prstGeom prst="rect">
              <a:avLst/>
            </a:prstGeom>
            <a:noFill/>
            <a:ln>
              <a:noFill/>
            </a:ln>
          </p:spPr>
        </p:pic>
      </p:grpSp>
      <p:sp>
        <p:nvSpPr>
          <p:cNvPr id="638" name="Google Shape;638;g36deade42ff_0_1163"/>
          <p:cNvSpPr txBox="1"/>
          <p:nvPr/>
        </p:nvSpPr>
        <p:spPr>
          <a:xfrm>
            <a:off x="1075450"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639" name="Google Shape;639;g36deade42ff_0_1163"/>
          <p:cNvGrpSpPr/>
          <p:nvPr/>
        </p:nvGrpSpPr>
        <p:grpSpPr>
          <a:xfrm>
            <a:off x="3193413" y="1634388"/>
            <a:ext cx="2366199" cy="308375"/>
            <a:chOff x="3159638" y="1911975"/>
            <a:chExt cx="2366199" cy="308375"/>
          </a:xfrm>
        </p:grpSpPr>
        <p:pic>
          <p:nvPicPr>
            <p:cNvPr id="640" name="Google Shape;640;g36deade42ff_0_116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641" name="Google Shape;641;g36deade42ff_0_116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642" name="Google Shape;642;g36deade42ff_0_116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643" name="Google Shape;643;g36deade42ff_0_116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644" name="Google Shape;644;g36deade42ff_0_116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645" name="Google Shape;645;g36deade42ff_0_116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grpSp>
        <p:nvGrpSpPr>
          <p:cNvPr id="646" name="Google Shape;646;g36deade42ff_0_1163"/>
          <p:cNvGrpSpPr/>
          <p:nvPr/>
        </p:nvGrpSpPr>
        <p:grpSpPr>
          <a:xfrm>
            <a:off x="4037313" y="2450650"/>
            <a:ext cx="1583916" cy="69900"/>
            <a:chOff x="4037313" y="3136450"/>
            <a:chExt cx="1583916" cy="69900"/>
          </a:xfrm>
        </p:grpSpPr>
        <p:pic>
          <p:nvPicPr>
            <p:cNvPr id="647" name="Google Shape;647;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48" name="Google Shape;648;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49" name="Google Shape;649;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50" name="Google Shape;650;g36deade42ff_0_1163"/>
          <p:cNvGrpSpPr/>
          <p:nvPr/>
        </p:nvGrpSpPr>
        <p:grpSpPr>
          <a:xfrm>
            <a:off x="3244063" y="2587938"/>
            <a:ext cx="1583916" cy="69900"/>
            <a:chOff x="4037313" y="3136450"/>
            <a:chExt cx="1583916" cy="69900"/>
          </a:xfrm>
        </p:grpSpPr>
        <p:pic>
          <p:nvPicPr>
            <p:cNvPr id="651" name="Google Shape;651;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52" name="Google Shape;652;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53" name="Google Shape;653;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54" name="Google Shape;654;g36deade42ff_0_1163"/>
          <p:cNvGrpSpPr/>
          <p:nvPr/>
        </p:nvGrpSpPr>
        <p:grpSpPr>
          <a:xfrm>
            <a:off x="3968338" y="2725225"/>
            <a:ext cx="1583916" cy="69900"/>
            <a:chOff x="4037313" y="3136450"/>
            <a:chExt cx="1583916" cy="69900"/>
          </a:xfrm>
        </p:grpSpPr>
        <p:pic>
          <p:nvPicPr>
            <p:cNvPr id="655" name="Google Shape;655;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56" name="Google Shape;656;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57" name="Google Shape;657;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58" name="Google Shape;658;g36deade42ff_0_1163"/>
          <p:cNvGrpSpPr/>
          <p:nvPr/>
        </p:nvGrpSpPr>
        <p:grpSpPr>
          <a:xfrm>
            <a:off x="3618363" y="2862513"/>
            <a:ext cx="1583916" cy="69900"/>
            <a:chOff x="4037313" y="3136450"/>
            <a:chExt cx="1583916" cy="69900"/>
          </a:xfrm>
        </p:grpSpPr>
        <p:pic>
          <p:nvPicPr>
            <p:cNvPr id="659" name="Google Shape;659;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60" name="Google Shape;660;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61" name="Google Shape;661;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grpSp>
        <p:nvGrpSpPr>
          <p:cNvPr id="662" name="Google Shape;662;g36deade42ff_0_1163"/>
          <p:cNvGrpSpPr/>
          <p:nvPr/>
        </p:nvGrpSpPr>
        <p:grpSpPr>
          <a:xfrm>
            <a:off x="3319063" y="2999800"/>
            <a:ext cx="1583916" cy="69900"/>
            <a:chOff x="4037313" y="3136450"/>
            <a:chExt cx="1583916" cy="69900"/>
          </a:xfrm>
        </p:grpSpPr>
        <p:pic>
          <p:nvPicPr>
            <p:cNvPr id="663" name="Google Shape;663;g36deade42ff_0_1163"/>
            <p:cNvPicPr preferRelativeResize="0"/>
            <p:nvPr/>
          </p:nvPicPr>
          <p:blipFill rotWithShape="1">
            <a:blip r:embed="rId3">
              <a:alphaModFix/>
            </a:blip>
            <a:srcRect b="91476"/>
            <a:stretch/>
          </p:blipFill>
          <p:spPr>
            <a:xfrm>
              <a:off x="4037313" y="3136450"/>
              <a:ext cx="750124" cy="69900"/>
            </a:xfrm>
            <a:prstGeom prst="rect">
              <a:avLst/>
            </a:prstGeom>
            <a:noFill/>
            <a:ln>
              <a:noFill/>
            </a:ln>
          </p:spPr>
        </p:pic>
        <p:pic>
          <p:nvPicPr>
            <p:cNvPr id="664" name="Google Shape;664;g36deade42ff_0_1163"/>
            <p:cNvPicPr preferRelativeResize="0"/>
            <p:nvPr/>
          </p:nvPicPr>
          <p:blipFill rotWithShape="1">
            <a:blip r:embed="rId3">
              <a:alphaModFix/>
            </a:blip>
            <a:srcRect l="29298" b="91477"/>
            <a:stretch/>
          </p:blipFill>
          <p:spPr>
            <a:xfrm>
              <a:off x="5090878" y="3136450"/>
              <a:ext cx="530351" cy="69900"/>
            </a:xfrm>
            <a:prstGeom prst="rect">
              <a:avLst/>
            </a:prstGeom>
            <a:noFill/>
            <a:ln>
              <a:noFill/>
            </a:ln>
          </p:spPr>
        </p:pic>
        <p:pic>
          <p:nvPicPr>
            <p:cNvPr id="665" name="Google Shape;665;g36deade42ff_0_1163"/>
            <p:cNvPicPr preferRelativeResize="0"/>
            <p:nvPr/>
          </p:nvPicPr>
          <p:blipFill rotWithShape="1">
            <a:blip r:embed="rId3">
              <a:alphaModFix/>
            </a:blip>
            <a:srcRect l="29300" r="29960" b="91477"/>
            <a:stretch/>
          </p:blipFill>
          <p:spPr>
            <a:xfrm>
              <a:off x="4428923" y="3136450"/>
              <a:ext cx="710874" cy="69900"/>
            </a:xfrm>
            <a:prstGeom prst="rect">
              <a:avLst/>
            </a:prstGeom>
            <a:noFill/>
            <a:ln>
              <a:noFill/>
            </a:ln>
          </p:spPr>
        </p:pic>
      </p:grpSp>
      <p:sp>
        <p:nvSpPr>
          <p:cNvPr id="666" name="Google Shape;666;g36deade42ff_0_1163"/>
          <p:cNvSpPr txBox="1"/>
          <p:nvPr/>
        </p:nvSpPr>
        <p:spPr>
          <a:xfrm>
            <a:off x="4114606"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sp>
        <p:nvSpPr>
          <p:cNvPr id="667" name="Google Shape;667;g36deade42ff_0_1163"/>
          <p:cNvSpPr txBox="1"/>
          <p:nvPr/>
        </p:nvSpPr>
        <p:spPr>
          <a:xfrm>
            <a:off x="4114606" y="3045775"/>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or</a:t>
            </a:r>
            <a:endParaRPr sz="1000"/>
          </a:p>
        </p:txBody>
      </p:sp>
      <p:grpSp>
        <p:nvGrpSpPr>
          <p:cNvPr id="668" name="Google Shape;668;g36deade42ff_0_1163"/>
          <p:cNvGrpSpPr/>
          <p:nvPr/>
        </p:nvGrpSpPr>
        <p:grpSpPr>
          <a:xfrm>
            <a:off x="3709954" y="3422048"/>
            <a:ext cx="486765" cy="69900"/>
            <a:chOff x="3581517" y="4234748"/>
            <a:chExt cx="486765" cy="69900"/>
          </a:xfrm>
        </p:grpSpPr>
        <p:pic>
          <p:nvPicPr>
            <p:cNvPr id="669" name="Google Shape;669;g36deade42ff_0_1163"/>
            <p:cNvPicPr preferRelativeResize="0"/>
            <p:nvPr/>
          </p:nvPicPr>
          <p:blipFill rotWithShape="1">
            <a:blip r:embed="rId3">
              <a:alphaModFix/>
            </a:blip>
            <a:srcRect t="1" r="65322" b="91475"/>
            <a:stretch/>
          </p:blipFill>
          <p:spPr>
            <a:xfrm>
              <a:off x="3581517" y="4234748"/>
              <a:ext cx="260124" cy="69900"/>
            </a:xfrm>
            <a:prstGeom prst="rect">
              <a:avLst/>
            </a:prstGeom>
            <a:noFill/>
            <a:ln>
              <a:noFill/>
            </a:ln>
          </p:spPr>
        </p:pic>
        <p:pic>
          <p:nvPicPr>
            <p:cNvPr id="670" name="Google Shape;670;g36deade42ff_0_1163"/>
            <p:cNvPicPr preferRelativeResize="0"/>
            <p:nvPr/>
          </p:nvPicPr>
          <p:blipFill rotWithShape="1">
            <a:blip r:embed="rId3">
              <a:alphaModFix/>
            </a:blip>
            <a:srcRect l="65322" b="91476"/>
            <a:stretch/>
          </p:blipFill>
          <p:spPr>
            <a:xfrm>
              <a:off x="3808157" y="4234748"/>
              <a:ext cx="260124" cy="69900"/>
            </a:xfrm>
            <a:prstGeom prst="rect">
              <a:avLst/>
            </a:prstGeom>
            <a:noFill/>
            <a:ln>
              <a:noFill/>
            </a:ln>
          </p:spPr>
        </p:pic>
      </p:grpSp>
      <p:grpSp>
        <p:nvGrpSpPr>
          <p:cNvPr id="671" name="Google Shape;671;g36deade42ff_0_1163"/>
          <p:cNvGrpSpPr/>
          <p:nvPr/>
        </p:nvGrpSpPr>
        <p:grpSpPr>
          <a:xfrm>
            <a:off x="3996079" y="3599948"/>
            <a:ext cx="486765" cy="69900"/>
            <a:chOff x="3867642" y="4412648"/>
            <a:chExt cx="486765" cy="69900"/>
          </a:xfrm>
        </p:grpSpPr>
        <p:pic>
          <p:nvPicPr>
            <p:cNvPr id="672" name="Google Shape;672;g36deade42ff_0_1163"/>
            <p:cNvPicPr preferRelativeResize="0"/>
            <p:nvPr/>
          </p:nvPicPr>
          <p:blipFill rotWithShape="1">
            <a:blip r:embed="rId3">
              <a:alphaModFix/>
            </a:blip>
            <a:srcRect t="1" r="65322" b="91475"/>
            <a:stretch/>
          </p:blipFill>
          <p:spPr>
            <a:xfrm>
              <a:off x="3867642" y="4412648"/>
              <a:ext cx="260124" cy="69900"/>
            </a:xfrm>
            <a:prstGeom prst="rect">
              <a:avLst/>
            </a:prstGeom>
            <a:noFill/>
            <a:ln>
              <a:noFill/>
            </a:ln>
          </p:spPr>
        </p:pic>
        <p:pic>
          <p:nvPicPr>
            <p:cNvPr id="673" name="Google Shape;673;g36deade42ff_0_1163"/>
            <p:cNvPicPr preferRelativeResize="0"/>
            <p:nvPr/>
          </p:nvPicPr>
          <p:blipFill rotWithShape="1">
            <a:blip r:embed="rId3">
              <a:alphaModFix/>
            </a:blip>
            <a:srcRect l="65322" b="91476"/>
            <a:stretch/>
          </p:blipFill>
          <p:spPr>
            <a:xfrm>
              <a:off x="4094282" y="4412648"/>
              <a:ext cx="260124" cy="69900"/>
            </a:xfrm>
            <a:prstGeom prst="rect">
              <a:avLst/>
            </a:prstGeom>
            <a:noFill/>
            <a:ln>
              <a:noFill/>
            </a:ln>
          </p:spPr>
        </p:pic>
      </p:grpSp>
      <p:grpSp>
        <p:nvGrpSpPr>
          <p:cNvPr id="674" name="Google Shape;674;g36deade42ff_0_1163"/>
          <p:cNvGrpSpPr/>
          <p:nvPr/>
        </p:nvGrpSpPr>
        <p:grpSpPr>
          <a:xfrm>
            <a:off x="4363804" y="3477123"/>
            <a:ext cx="486765" cy="69900"/>
            <a:chOff x="4235367" y="4289823"/>
            <a:chExt cx="486765" cy="69900"/>
          </a:xfrm>
        </p:grpSpPr>
        <p:pic>
          <p:nvPicPr>
            <p:cNvPr id="675" name="Google Shape;675;g36deade42ff_0_116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676" name="Google Shape;676;g36deade42ff_0_116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677" name="Google Shape;677;g36deade42ff_0_1163"/>
          <p:cNvGrpSpPr/>
          <p:nvPr/>
        </p:nvGrpSpPr>
        <p:grpSpPr>
          <a:xfrm>
            <a:off x="6789551" y="2380750"/>
            <a:ext cx="417498" cy="69900"/>
            <a:chOff x="4495488" y="4546300"/>
            <a:chExt cx="417498" cy="69900"/>
          </a:xfrm>
        </p:grpSpPr>
        <p:pic>
          <p:nvPicPr>
            <p:cNvPr id="678" name="Google Shape;678;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679" name="Google Shape;679;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680" name="Google Shape;680;g36deade42ff_0_1163"/>
          <p:cNvGrpSpPr/>
          <p:nvPr/>
        </p:nvGrpSpPr>
        <p:grpSpPr>
          <a:xfrm>
            <a:off x="4079779" y="3807123"/>
            <a:ext cx="486765" cy="69900"/>
            <a:chOff x="3951342" y="4619823"/>
            <a:chExt cx="486765" cy="69900"/>
          </a:xfrm>
        </p:grpSpPr>
        <p:pic>
          <p:nvPicPr>
            <p:cNvPr id="681" name="Google Shape;681;g36deade42ff_0_1163"/>
            <p:cNvPicPr preferRelativeResize="0"/>
            <p:nvPr/>
          </p:nvPicPr>
          <p:blipFill rotWithShape="1">
            <a:blip r:embed="rId3">
              <a:alphaModFix/>
            </a:blip>
            <a:srcRect t="1" r="65322" b="91475"/>
            <a:stretch/>
          </p:blipFill>
          <p:spPr>
            <a:xfrm>
              <a:off x="3951342" y="4619823"/>
              <a:ext cx="260124" cy="69900"/>
            </a:xfrm>
            <a:prstGeom prst="rect">
              <a:avLst/>
            </a:prstGeom>
            <a:noFill/>
            <a:ln>
              <a:noFill/>
            </a:ln>
          </p:spPr>
        </p:pic>
        <p:pic>
          <p:nvPicPr>
            <p:cNvPr id="682" name="Google Shape;682;g36deade42ff_0_1163"/>
            <p:cNvPicPr preferRelativeResize="0"/>
            <p:nvPr/>
          </p:nvPicPr>
          <p:blipFill rotWithShape="1">
            <a:blip r:embed="rId3">
              <a:alphaModFix/>
            </a:blip>
            <a:srcRect l="65322" b="91476"/>
            <a:stretch/>
          </p:blipFill>
          <p:spPr>
            <a:xfrm>
              <a:off x="4177982" y="4619823"/>
              <a:ext cx="260124" cy="69900"/>
            </a:xfrm>
            <a:prstGeom prst="rect">
              <a:avLst/>
            </a:prstGeom>
            <a:noFill/>
            <a:ln>
              <a:noFill/>
            </a:ln>
          </p:spPr>
        </p:pic>
      </p:grpSp>
      <p:grpSp>
        <p:nvGrpSpPr>
          <p:cNvPr id="683" name="Google Shape;683;g36deade42ff_0_1163"/>
          <p:cNvGrpSpPr/>
          <p:nvPr/>
        </p:nvGrpSpPr>
        <p:grpSpPr>
          <a:xfrm>
            <a:off x="6487113" y="1634388"/>
            <a:ext cx="2366199" cy="308375"/>
            <a:chOff x="3159638" y="1911975"/>
            <a:chExt cx="2366199" cy="308375"/>
          </a:xfrm>
        </p:grpSpPr>
        <p:pic>
          <p:nvPicPr>
            <p:cNvPr id="684" name="Google Shape;684;g36deade42ff_0_1163"/>
            <p:cNvPicPr preferRelativeResize="0"/>
            <p:nvPr/>
          </p:nvPicPr>
          <p:blipFill rotWithShape="1">
            <a:blip r:embed="rId3">
              <a:alphaModFix/>
            </a:blip>
            <a:srcRect b="91476"/>
            <a:stretch/>
          </p:blipFill>
          <p:spPr>
            <a:xfrm>
              <a:off x="3327788" y="2013950"/>
              <a:ext cx="750124" cy="69900"/>
            </a:xfrm>
            <a:prstGeom prst="rect">
              <a:avLst/>
            </a:prstGeom>
            <a:noFill/>
            <a:ln>
              <a:noFill/>
            </a:ln>
          </p:spPr>
        </p:pic>
        <p:pic>
          <p:nvPicPr>
            <p:cNvPr id="685" name="Google Shape;685;g36deade42ff_0_1163"/>
            <p:cNvPicPr preferRelativeResize="0"/>
            <p:nvPr/>
          </p:nvPicPr>
          <p:blipFill rotWithShape="1">
            <a:blip r:embed="rId3">
              <a:alphaModFix/>
            </a:blip>
            <a:srcRect b="91476"/>
            <a:stretch/>
          </p:blipFill>
          <p:spPr>
            <a:xfrm>
              <a:off x="3857463" y="1911975"/>
              <a:ext cx="750124" cy="69900"/>
            </a:xfrm>
            <a:prstGeom prst="rect">
              <a:avLst/>
            </a:prstGeom>
            <a:noFill/>
            <a:ln>
              <a:noFill/>
            </a:ln>
          </p:spPr>
        </p:pic>
        <p:pic>
          <p:nvPicPr>
            <p:cNvPr id="686" name="Google Shape;686;g36deade42ff_0_1163"/>
            <p:cNvPicPr preferRelativeResize="0"/>
            <p:nvPr/>
          </p:nvPicPr>
          <p:blipFill rotWithShape="1">
            <a:blip r:embed="rId3">
              <a:alphaModFix/>
            </a:blip>
            <a:srcRect b="91476"/>
            <a:stretch/>
          </p:blipFill>
          <p:spPr>
            <a:xfrm>
              <a:off x="3947988" y="2135213"/>
              <a:ext cx="750124" cy="69900"/>
            </a:xfrm>
            <a:prstGeom prst="rect">
              <a:avLst/>
            </a:prstGeom>
            <a:noFill/>
            <a:ln>
              <a:noFill/>
            </a:ln>
          </p:spPr>
        </p:pic>
        <p:pic>
          <p:nvPicPr>
            <p:cNvPr id="687" name="Google Shape;687;g36deade42ff_0_1163"/>
            <p:cNvPicPr preferRelativeResize="0"/>
            <p:nvPr/>
          </p:nvPicPr>
          <p:blipFill rotWithShape="1">
            <a:blip r:embed="rId3">
              <a:alphaModFix/>
            </a:blip>
            <a:srcRect b="91476"/>
            <a:stretch/>
          </p:blipFill>
          <p:spPr>
            <a:xfrm>
              <a:off x="4318963" y="2023600"/>
              <a:ext cx="750124" cy="69900"/>
            </a:xfrm>
            <a:prstGeom prst="rect">
              <a:avLst/>
            </a:prstGeom>
            <a:noFill/>
            <a:ln>
              <a:noFill/>
            </a:ln>
          </p:spPr>
        </p:pic>
        <p:pic>
          <p:nvPicPr>
            <p:cNvPr id="688" name="Google Shape;688;g36deade42ff_0_1163"/>
            <p:cNvPicPr preferRelativeResize="0"/>
            <p:nvPr/>
          </p:nvPicPr>
          <p:blipFill rotWithShape="1">
            <a:blip r:embed="rId3">
              <a:alphaModFix/>
            </a:blip>
            <a:srcRect b="91476"/>
            <a:stretch/>
          </p:blipFill>
          <p:spPr>
            <a:xfrm>
              <a:off x="3159638" y="2150450"/>
              <a:ext cx="750124" cy="69900"/>
            </a:xfrm>
            <a:prstGeom prst="rect">
              <a:avLst/>
            </a:prstGeom>
            <a:noFill/>
            <a:ln>
              <a:noFill/>
            </a:ln>
          </p:spPr>
        </p:pic>
        <p:pic>
          <p:nvPicPr>
            <p:cNvPr id="689" name="Google Shape;689;g36deade42ff_0_1163"/>
            <p:cNvPicPr preferRelativeResize="0"/>
            <p:nvPr/>
          </p:nvPicPr>
          <p:blipFill rotWithShape="1">
            <a:blip r:embed="rId3">
              <a:alphaModFix/>
            </a:blip>
            <a:srcRect b="91476"/>
            <a:stretch/>
          </p:blipFill>
          <p:spPr>
            <a:xfrm>
              <a:off x="4775713" y="2126400"/>
              <a:ext cx="750124" cy="69900"/>
            </a:xfrm>
            <a:prstGeom prst="rect">
              <a:avLst/>
            </a:prstGeom>
            <a:noFill/>
            <a:ln>
              <a:noFill/>
            </a:ln>
          </p:spPr>
        </p:pic>
      </p:grpSp>
      <p:pic>
        <p:nvPicPr>
          <p:cNvPr id="690" name="Google Shape;690;g36deade42ff_0_1163"/>
          <p:cNvPicPr preferRelativeResize="0"/>
          <p:nvPr/>
        </p:nvPicPr>
        <p:blipFill rotWithShape="1">
          <a:blip r:embed="rId3">
            <a:alphaModFix/>
          </a:blip>
          <a:srcRect b="91476"/>
          <a:stretch/>
        </p:blipFill>
        <p:spPr>
          <a:xfrm>
            <a:off x="6594963" y="3106900"/>
            <a:ext cx="750124" cy="69900"/>
          </a:xfrm>
          <a:prstGeom prst="rect">
            <a:avLst/>
          </a:prstGeom>
          <a:noFill/>
          <a:ln>
            <a:noFill/>
          </a:ln>
        </p:spPr>
      </p:pic>
      <p:pic>
        <p:nvPicPr>
          <p:cNvPr id="691" name="Google Shape;691;g36deade42ff_0_1163"/>
          <p:cNvPicPr preferRelativeResize="0"/>
          <p:nvPr/>
        </p:nvPicPr>
        <p:blipFill rotWithShape="1">
          <a:blip r:embed="rId3">
            <a:alphaModFix/>
          </a:blip>
          <a:srcRect b="91476"/>
          <a:stretch/>
        </p:blipFill>
        <p:spPr>
          <a:xfrm>
            <a:off x="7207038" y="2468700"/>
            <a:ext cx="750124" cy="69900"/>
          </a:xfrm>
          <a:prstGeom prst="rect">
            <a:avLst/>
          </a:prstGeom>
          <a:noFill/>
          <a:ln>
            <a:noFill/>
          </a:ln>
        </p:spPr>
      </p:pic>
      <p:pic>
        <p:nvPicPr>
          <p:cNvPr id="692" name="Google Shape;692;g36deade42ff_0_1163"/>
          <p:cNvPicPr preferRelativeResize="0"/>
          <p:nvPr/>
        </p:nvPicPr>
        <p:blipFill rotWithShape="1">
          <a:blip r:embed="rId3">
            <a:alphaModFix/>
          </a:blip>
          <a:srcRect b="91476"/>
          <a:stretch/>
        </p:blipFill>
        <p:spPr>
          <a:xfrm>
            <a:off x="7295150" y="2829563"/>
            <a:ext cx="750124" cy="69900"/>
          </a:xfrm>
          <a:prstGeom prst="rect">
            <a:avLst/>
          </a:prstGeom>
          <a:noFill/>
          <a:ln>
            <a:noFill/>
          </a:ln>
        </p:spPr>
      </p:pic>
      <p:pic>
        <p:nvPicPr>
          <p:cNvPr id="693" name="Google Shape;693;g36deade42ff_0_1163"/>
          <p:cNvPicPr preferRelativeResize="0"/>
          <p:nvPr/>
        </p:nvPicPr>
        <p:blipFill rotWithShape="1">
          <a:blip r:embed="rId3">
            <a:alphaModFix/>
          </a:blip>
          <a:srcRect b="91476"/>
          <a:stretch/>
        </p:blipFill>
        <p:spPr>
          <a:xfrm>
            <a:off x="8045263" y="3176800"/>
            <a:ext cx="750124" cy="69900"/>
          </a:xfrm>
          <a:prstGeom prst="rect">
            <a:avLst/>
          </a:prstGeom>
          <a:noFill/>
          <a:ln>
            <a:noFill/>
          </a:ln>
        </p:spPr>
      </p:pic>
      <p:pic>
        <p:nvPicPr>
          <p:cNvPr id="694" name="Google Shape;694;g36deade42ff_0_1163"/>
          <p:cNvPicPr preferRelativeResize="0"/>
          <p:nvPr/>
        </p:nvPicPr>
        <p:blipFill rotWithShape="1">
          <a:blip r:embed="rId3">
            <a:alphaModFix/>
          </a:blip>
          <a:srcRect b="91476"/>
          <a:stretch/>
        </p:blipFill>
        <p:spPr>
          <a:xfrm>
            <a:off x="6509213" y="2707175"/>
            <a:ext cx="750124" cy="69900"/>
          </a:xfrm>
          <a:prstGeom prst="rect">
            <a:avLst/>
          </a:prstGeom>
          <a:noFill/>
          <a:ln>
            <a:noFill/>
          </a:ln>
        </p:spPr>
      </p:pic>
      <p:pic>
        <p:nvPicPr>
          <p:cNvPr id="695" name="Google Shape;695;g36deade42ff_0_1163"/>
          <p:cNvPicPr preferRelativeResize="0"/>
          <p:nvPr/>
        </p:nvPicPr>
        <p:blipFill rotWithShape="1">
          <a:blip r:embed="rId3">
            <a:alphaModFix/>
          </a:blip>
          <a:srcRect b="91476"/>
          <a:stretch/>
        </p:blipFill>
        <p:spPr>
          <a:xfrm>
            <a:off x="8125288" y="2683125"/>
            <a:ext cx="750124" cy="69900"/>
          </a:xfrm>
          <a:prstGeom prst="rect">
            <a:avLst/>
          </a:prstGeom>
          <a:noFill/>
          <a:ln>
            <a:noFill/>
          </a:ln>
        </p:spPr>
      </p:pic>
      <p:sp>
        <p:nvSpPr>
          <p:cNvPr id="696" name="Google Shape;696;g36deade42ff_0_1163"/>
          <p:cNvSpPr txBox="1"/>
          <p:nvPr/>
        </p:nvSpPr>
        <p:spPr>
          <a:xfrm>
            <a:off x="7353275" y="2009644"/>
            <a:ext cx="4830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t>vs</a:t>
            </a:r>
            <a:endParaRPr sz="1000"/>
          </a:p>
        </p:txBody>
      </p:sp>
      <p:grpSp>
        <p:nvGrpSpPr>
          <p:cNvPr id="697" name="Google Shape;697;g36deade42ff_0_1163"/>
          <p:cNvGrpSpPr/>
          <p:nvPr/>
        </p:nvGrpSpPr>
        <p:grpSpPr>
          <a:xfrm>
            <a:off x="4585892" y="3696623"/>
            <a:ext cx="486765" cy="69900"/>
            <a:chOff x="4235367" y="4289823"/>
            <a:chExt cx="486765" cy="69900"/>
          </a:xfrm>
        </p:grpSpPr>
        <p:pic>
          <p:nvPicPr>
            <p:cNvPr id="698" name="Google Shape;698;g36deade42ff_0_1163"/>
            <p:cNvPicPr preferRelativeResize="0"/>
            <p:nvPr/>
          </p:nvPicPr>
          <p:blipFill rotWithShape="1">
            <a:blip r:embed="rId3">
              <a:alphaModFix/>
            </a:blip>
            <a:srcRect t="1" r="65322" b="91475"/>
            <a:stretch/>
          </p:blipFill>
          <p:spPr>
            <a:xfrm>
              <a:off x="4235367" y="4289823"/>
              <a:ext cx="260124" cy="69900"/>
            </a:xfrm>
            <a:prstGeom prst="rect">
              <a:avLst/>
            </a:prstGeom>
            <a:noFill/>
            <a:ln>
              <a:noFill/>
            </a:ln>
          </p:spPr>
        </p:pic>
        <p:pic>
          <p:nvPicPr>
            <p:cNvPr id="699" name="Google Shape;699;g36deade42ff_0_1163"/>
            <p:cNvPicPr preferRelativeResize="0"/>
            <p:nvPr/>
          </p:nvPicPr>
          <p:blipFill rotWithShape="1">
            <a:blip r:embed="rId3">
              <a:alphaModFix/>
            </a:blip>
            <a:srcRect l="65322" b="91476"/>
            <a:stretch/>
          </p:blipFill>
          <p:spPr>
            <a:xfrm>
              <a:off x="4462007" y="4289823"/>
              <a:ext cx="260124" cy="69900"/>
            </a:xfrm>
            <a:prstGeom prst="rect">
              <a:avLst/>
            </a:prstGeom>
            <a:noFill/>
            <a:ln>
              <a:noFill/>
            </a:ln>
          </p:spPr>
        </p:pic>
      </p:grpSp>
      <p:grpSp>
        <p:nvGrpSpPr>
          <p:cNvPr id="700" name="Google Shape;700;g36deade42ff_0_1163"/>
          <p:cNvGrpSpPr/>
          <p:nvPr/>
        </p:nvGrpSpPr>
        <p:grpSpPr>
          <a:xfrm>
            <a:off x="8073451" y="2422475"/>
            <a:ext cx="417498" cy="69900"/>
            <a:chOff x="4495488" y="4546300"/>
            <a:chExt cx="417498" cy="69900"/>
          </a:xfrm>
        </p:grpSpPr>
        <p:pic>
          <p:nvPicPr>
            <p:cNvPr id="701" name="Google Shape;701;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02" name="Google Shape;702;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03" name="Google Shape;703;g36deade42ff_0_1163"/>
          <p:cNvGrpSpPr/>
          <p:nvPr/>
        </p:nvGrpSpPr>
        <p:grpSpPr>
          <a:xfrm>
            <a:off x="6819226" y="2865025"/>
            <a:ext cx="417498" cy="69900"/>
            <a:chOff x="4495488" y="4546300"/>
            <a:chExt cx="417498" cy="69900"/>
          </a:xfrm>
        </p:grpSpPr>
        <p:pic>
          <p:nvPicPr>
            <p:cNvPr id="704" name="Google Shape;704;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05" name="Google Shape;705;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06" name="Google Shape;706;g36deade42ff_0_1163"/>
          <p:cNvGrpSpPr/>
          <p:nvPr/>
        </p:nvGrpSpPr>
        <p:grpSpPr>
          <a:xfrm>
            <a:off x="7538426" y="3008925"/>
            <a:ext cx="417498" cy="69900"/>
            <a:chOff x="4495488" y="4546300"/>
            <a:chExt cx="417498" cy="69900"/>
          </a:xfrm>
        </p:grpSpPr>
        <p:pic>
          <p:nvPicPr>
            <p:cNvPr id="707" name="Google Shape;707;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08" name="Google Shape;708;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09" name="Google Shape;709;g36deade42ff_0_1163"/>
          <p:cNvGrpSpPr/>
          <p:nvPr/>
        </p:nvGrpSpPr>
        <p:grpSpPr>
          <a:xfrm>
            <a:off x="8183576" y="2950650"/>
            <a:ext cx="417498" cy="69900"/>
            <a:chOff x="4495488" y="4546300"/>
            <a:chExt cx="417498" cy="69900"/>
          </a:xfrm>
        </p:grpSpPr>
        <p:pic>
          <p:nvPicPr>
            <p:cNvPr id="710" name="Google Shape;710;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11" name="Google Shape;711;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12" name="Google Shape;712;g36deade42ff_0_1163"/>
          <p:cNvGrpSpPr/>
          <p:nvPr/>
        </p:nvGrpSpPr>
        <p:grpSpPr>
          <a:xfrm>
            <a:off x="7345076" y="2649137"/>
            <a:ext cx="417498" cy="69900"/>
            <a:chOff x="4495488" y="4546300"/>
            <a:chExt cx="417498" cy="69900"/>
          </a:xfrm>
        </p:grpSpPr>
        <p:pic>
          <p:nvPicPr>
            <p:cNvPr id="713" name="Google Shape;713;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14" name="Google Shape;714;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grpSp>
        <p:nvGrpSpPr>
          <p:cNvPr id="715" name="Google Shape;715;g36deade42ff_0_1163"/>
          <p:cNvGrpSpPr/>
          <p:nvPr/>
        </p:nvGrpSpPr>
        <p:grpSpPr>
          <a:xfrm>
            <a:off x="7396476" y="3259575"/>
            <a:ext cx="417498" cy="69900"/>
            <a:chOff x="4495488" y="4546300"/>
            <a:chExt cx="417498" cy="69900"/>
          </a:xfrm>
        </p:grpSpPr>
        <p:pic>
          <p:nvPicPr>
            <p:cNvPr id="716" name="Google Shape;716;g36deade42ff_0_1163"/>
            <p:cNvPicPr preferRelativeResize="0"/>
            <p:nvPr/>
          </p:nvPicPr>
          <p:blipFill rotWithShape="1">
            <a:blip r:embed="rId3">
              <a:alphaModFix/>
            </a:blip>
            <a:srcRect t="1" r="72171" b="91475"/>
            <a:stretch/>
          </p:blipFill>
          <p:spPr>
            <a:xfrm>
              <a:off x="4495488" y="4546300"/>
              <a:ext cx="208750" cy="69900"/>
            </a:xfrm>
            <a:prstGeom prst="rect">
              <a:avLst/>
            </a:prstGeom>
            <a:noFill/>
            <a:ln>
              <a:noFill/>
            </a:ln>
          </p:spPr>
        </p:pic>
        <p:pic>
          <p:nvPicPr>
            <p:cNvPr id="717" name="Google Shape;717;g36deade42ff_0_1163"/>
            <p:cNvPicPr preferRelativeResize="0"/>
            <p:nvPr/>
          </p:nvPicPr>
          <p:blipFill rotWithShape="1">
            <a:blip r:embed="rId3">
              <a:alphaModFix/>
            </a:blip>
            <a:srcRect l="72171" b="91476"/>
            <a:stretch/>
          </p:blipFill>
          <p:spPr>
            <a:xfrm>
              <a:off x="4704236" y="4546300"/>
              <a:ext cx="208750" cy="69900"/>
            </a:xfrm>
            <a:prstGeom prst="rect">
              <a:avLst/>
            </a:prstGeom>
            <a:noFill/>
            <a:ln>
              <a:noFill/>
            </a:ln>
          </p:spPr>
        </p:pic>
      </p:grpSp>
      <p:sp>
        <p:nvSpPr>
          <p:cNvPr id="718" name="Google Shape;718;g36deade42ff_0_1163"/>
          <p:cNvSpPr/>
          <p:nvPr/>
        </p:nvSpPr>
        <p:spPr>
          <a:xfrm>
            <a:off x="6247788" y="814450"/>
            <a:ext cx="2754000" cy="33549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g36deade42ff_0_1163"/>
          <p:cNvSpPr txBox="1">
            <a:spLocks noGrp="1"/>
          </p:cNvSpPr>
          <p:nvPr>
            <p:ph type="title"/>
          </p:nvPr>
        </p:nvSpPr>
        <p:spPr>
          <a:xfrm>
            <a:off x="267550" y="93725"/>
            <a:ext cx="855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100" b="1">
                <a:latin typeface="Lato"/>
                <a:ea typeface="Lato"/>
                <a:cs typeface="Lato"/>
                <a:sym typeface="Lato"/>
              </a:rPr>
              <a:t>Library prep QC</a:t>
            </a:r>
            <a:endParaRPr sz="2100" b="1">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36deade42ff_0_1291"/>
          <p:cNvSpPr txBox="1">
            <a:spLocks noGrp="1"/>
          </p:cNvSpPr>
          <p:nvPr>
            <p:ph type="body" idx="1"/>
          </p:nvPr>
        </p:nvSpPr>
        <p:spPr>
          <a:xfrm>
            <a:off x="83100" y="771475"/>
            <a:ext cx="8661000" cy="1568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Primer/oligo dimers:</a:t>
            </a:r>
            <a:endParaRPr/>
          </a:p>
          <a:p>
            <a:pPr marL="914400" lvl="1" indent="-330200" algn="l" rtl="0">
              <a:spcBef>
                <a:spcPts val="0"/>
              </a:spcBef>
              <a:spcAft>
                <a:spcPts val="0"/>
              </a:spcAft>
              <a:buSzPts val="1600"/>
              <a:buChar char="○"/>
            </a:pPr>
            <a:r>
              <a:rPr lang="en" sz="1600"/>
              <a:t>Occur when primers and unused 9N and TSO oligos interact during the PCR amplification</a:t>
            </a:r>
            <a:endParaRPr sz="1600"/>
          </a:p>
          <a:p>
            <a:pPr marL="914400" lvl="1" indent="-330200" algn="l" rtl="0">
              <a:spcBef>
                <a:spcPts val="1000"/>
              </a:spcBef>
              <a:spcAft>
                <a:spcPts val="1200"/>
              </a:spcAft>
              <a:buSzPts val="1600"/>
              <a:buChar char="○"/>
            </a:pPr>
            <a:r>
              <a:rPr lang="en" sz="1600"/>
              <a:t>Will not be informative if sequenced</a:t>
            </a:r>
            <a:endParaRPr sz="1600"/>
          </a:p>
        </p:txBody>
      </p:sp>
      <p:sp>
        <p:nvSpPr>
          <p:cNvPr id="725" name="Google Shape;725;g36deade42ff_0_1291"/>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Library prep QC - Clean up primer/oligo dimers</a:t>
            </a:r>
            <a:endParaRPr sz="2400" b="1">
              <a:latin typeface="Lato"/>
              <a:ea typeface="Lato"/>
              <a:cs typeface="Lato"/>
              <a:sym typeface="Lato"/>
            </a:endParaRPr>
          </a:p>
        </p:txBody>
      </p:sp>
      <p:grpSp>
        <p:nvGrpSpPr>
          <p:cNvPr id="726" name="Google Shape;726;g36deade42ff_0_1291"/>
          <p:cNvGrpSpPr/>
          <p:nvPr/>
        </p:nvGrpSpPr>
        <p:grpSpPr>
          <a:xfrm>
            <a:off x="2286000" y="2571753"/>
            <a:ext cx="4571999" cy="1939326"/>
            <a:chOff x="1767750" y="2921303"/>
            <a:chExt cx="4571999" cy="1939326"/>
          </a:xfrm>
        </p:grpSpPr>
        <p:pic>
          <p:nvPicPr>
            <p:cNvPr id="727" name="Google Shape;727;g36deade42ff_0_1291"/>
            <p:cNvPicPr preferRelativeResize="0"/>
            <p:nvPr/>
          </p:nvPicPr>
          <p:blipFill>
            <a:blip r:embed="rId3">
              <a:alphaModFix/>
            </a:blip>
            <a:stretch>
              <a:fillRect/>
            </a:stretch>
          </p:blipFill>
          <p:spPr>
            <a:xfrm>
              <a:off x="1767750" y="2921303"/>
              <a:ext cx="4571999" cy="1939326"/>
            </a:xfrm>
            <a:prstGeom prst="rect">
              <a:avLst/>
            </a:prstGeom>
            <a:noFill/>
            <a:ln>
              <a:noFill/>
            </a:ln>
          </p:spPr>
        </p:pic>
        <p:sp>
          <p:nvSpPr>
            <p:cNvPr id="728" name="Google Shape;728;g36deade42ff_0_1291"/>
            <p:cNvSpPr/>
            <p:nvPr/>
          </p:nvSpPr>
          <p:spPr>
            <a:xfrm>
              <a:off x="2806450" y="4156825"/>
              <a:ext cx="149700" cy="703800"/>
            </a:xfrm>
            <a:prstGeom prst="ellipse">
              <a:avLst/>
            </a:prstGeom>
            <a:noFill/>
            <a:ln w="19050" cap="flat" cmpd="sng">
              <a:solidFill>
                <a:srgbClr val="F1C2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729" name="Google Shape;729;g36deade42ff_0_1291"/>
            <p:cNvCxnSpPr>
              <a:stCxn id="730" idx="2"/>
              <a:endCxn id="728" idx="7"/>
            </p:cNvCxnSpPr>
            <p:nvPr/>
          </p:nvCxnSpPr>
          <p:spPr>
            <a:xfrm flipH="1">
              <a:off x="2934300" y="3792800"/>
              <a:ext cx="1637700" cy="467100"/>
            </a:xfrm>
            <a:prstGeom prst="straightConnector1">
              <a:avLst/>
            </a:prstGeom>
            <a:noFill/>
            <a:ln w="9525" cap="flat" cmpd="sng">
              <a:solidFill>
                <a:srgbClr val="F1C232"/>
              </a:solidFill>
              <a:prstDash val="solid"/>
              <a:round/>
              <a:headEnd type="none" w="med" len="med"/>
              <a:tailEnd type="triangle" w="med" len="med"/>
            </a:ln>
          </p:spPr>
        </p:cxnSp>
        <p:sp>
          <p:nvSpPr>
            <p:cNvPr id="730" name="Google Shape;730;g36deade42ff_0_1291"/>
            <p:cNvSpPr txBox="1"/>
            <p:nvPr/>
          </p:nvSpPr>
          <p:spPr>
            <a:xfrm>
              <a:off x="3802950" y="3220100"/>
              <a:ext cx="1538100" cy="572700"/>
            </a:xfrm>
            <a:prstGeom prst="rect">
              <a:avLst/>
            </a:prstGeom>
            <a:noFill/>
            <a:ln w="9525" cap="flat" cmpd="sng">
              <a:solidFill>
                <a:srgbClr val="F1C23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1C232"/>
                  </a:solidFill>
                </a:rPr>
                <a:t>Primer/oligo dimer peak</a:t>
              </a:r>
              <a:endParaRPr sz="1300">
                <a:solidFill>
                  <a:srgbClr val="F1C232"/>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g36deade42ff_0_1301"/>
          <p:cNvSpPr txBox="1"/>
          <p:nvPr/>
        </p:nvSpPr>
        <p:spPr>
          <a:xfrm>
            <a:off x="81175" y="829900"/>
            <a:ext cx="6576600" cy="1382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 b="1"/>
              <a:t>SPRIselect or AMPure XP SPRI select beads (paramagnetic) </a:t>
            </a:r>
            <a:endParaRPr b="1"/>
          </a:p>
          <a:p>
            <a:pPr marL="0" marR="0" lvl="0" indent="0" algn="l" rtl="0">
              <a:lnSpc>
                <a:spcPct val="150000"/>
              </a:lnSpc>
              <a:spcBef>
                <a:spcPts val="0"/>
              </a:spcBef>
              <a:spcAft>
                <a:spcPts val="0"/>
              </a:spcAft>
              <a:buNone/>
            </a:pPr>
            <a:endParaRPr b="1"/>
          </a:p>
          <a:p>
            <a:pPr marL="171450" marR="0" lvl="0" indent="-203200" algn="l" rtl="0">
              <a:lnSpc>
                <a:spcPct val="175000"/>
              </a:lnSpc>
              <a:spcBef>
                <a:spcPts val="0"/>
              </a:spcBef>
              <a:spcAft>
                <a:spcPts val="0"/>
              </a:spcAft>
              <a:buSzPts val="1400"/>
              <a:buChar char="●"/>
            </a:pPr>
            <a:r>
              <a:rPr lang="en"/>
              <a:t>The longer a fragment, the better it will bind to the beads</a:t>
            </a:r>
            <a:endParaRPr/>
          </a:p>
          <a:p>
            <a:pPr marL="171450" marR="0" lvl="0" indent="-203200" algn="l" rtl="0">
              <a:lnSpc>
                <a:spcPct val="175000"/>
              </a:lnSpc>
              <a:spcBef>
                <a:spcPts val="0"/>
              </a:spcBef>
              <a:spcAft>
                <a:spcPts val="0"/>
              </a:spcAft>
              <a:buSzPts val="1400"/>
              <a:buChar char="●"/>
            </a:pPr>
            <a:r>
              <a:rPr lang="en"/>
              <a:t>The fewer beads you add, the more short fragments you’ll lose</a:t>
            </a:r>
            <a:endParaRPr/>
          </a:p>
          <a:p>
            <a:pPr marL="171450" marR="0" lvl="0" indent="-203200" algn="l" rtl="0">
              <a:lnSpc>
                <a:spcPct val="175000"/>
              </a:lnSpc>
              <a:spcBef>
                <a:spcPts val="0"/>
              </a:spcBef>
              <a:spcAft>
                <a:spcPts val="0"/>
              </a:spcAft>
              <a:buClr>
                <a:srgbClr val="FF0000"/>
              </a:buClr>
              <a:buSzPts val="1400"/>
              <a:buChar char="●"/>
            </a:pPr>
            <a:r>
              <a:rPr lang="en" b="1">
                <a:solidFill>
                  <a:srgbClr val="FF0000"/>
                </a:solidFill>
              </a:rPr>
              <a:t>Perform size selection using these beads to remove adapter dimers</a:t>
            </a:r>
            <a:endParaRPr b="1">
              <a:solidFill>
                <a:srgbClr val="FF0000"/>
              </a:solidFill>
            </a:endParaRPr>
          </a:p>
        </p:txBody>
      </p:sp>
      <p:sp>
        <p:nvSpPr>
          <p:cNvPr id="736" name="Google Shape;736;g36deade42ff_0_1301"/>
          <p:cNvSpPr txBox="1"/>
          <p:nvPr/>
        </p:nvSpPr>
        <p:spPr>
          <a:xfrm>
            <a:off x="6963475" y="3253675"/>
            <a:ext cx="2001000" cy="603300"/>
          </a:xfrm>
          <a:prstGeom prst="rect">
            <a:avLst/>
          </a:prstGeom>
          <a:noFill/>
          <a:ln>
            <a:noFill/>
          </a:ln>
        </p:spPr>
        <p:txBody>
          <a:bodyPr spcFirstLastPara="1" wrap="square" lIns="91425" tIns="91425" rIns="91425" bIns="91425" anchor="t" anchorCtr="0">
            <a:noAutofit/>
          </a:bodyPr>
          <a:lstStyle/>
          <a:p>
            <a:pPr marL="0" lvl="0" indent="457200" algn="ctr" rtl="0">
              <a:lnSpc>
                <a:spcPct val="150000"/>
              </a:lnSpc>
              <a:spcBef>
                <a:spcPts val="0"/>
              </a:spcBef>
              <a:spcAft>
                <a:spcPts val="0"/>
              </a:spcAft>
              <a:buNone/>
            </a:pPr>
            <a:r>
              <a:rPr lang="en"/>
              <a:t>Volume beads</a:t>
            </a:r>
            <a:endParaRPr/>
          </a:p>
          <a:p>
            <a:pPr marL="0" lvl="0" indent="457200" algn="ctr" rtl="0">
              <a:lnSpc>
                <a:spcPct val="150000"/>
              </a:lnSpc>
              <a:spcBef>
                <a:spcPts val="0"/>
              </a:spcBef>
              <a:spcAft>
                <a:spcPts val="0"/>
              </a:spcAft>
              <a:buNone/>
            </a:pPr>
            <a:r>
              <a:rPr lang="en"/>
              <a:t>Volume reaction</a:t>
            </a:r>
            <a:endParaRPr/>
          </a:p>
        </p:txBody>
      </p:sp>
      <p:pic>
        <p:nvPicPr>
          <p:cNvPr id="737" name="Google Shape;737;g36deade42ff_0_1301"/>
          <p:cNvPicPr preferRelativeResize="0"/>
          <p:nvPr/>
        </p:nvPicPr>
        <p:blipFill rotWithShape="1">
          <a:blip r:embed="rId3">
            <a:alphaModFix/>
          </a:blip>
          <a:srcRect/>
          <a:stretch/>
        </p:blipFill>
        <p:spPr>
          <a:xfrm>
            <a:off x="6130302" y="683225"/>
            <a:ext cx="2834174" cy="2421925"/>
          </a:xfrm>
          <a:prstGeom prst="rect">
            <a:avLst/>
          </a:prstGeom>
          <a:noFill/>
          <a:ln>
            <a:noFill/>
          </a:ln>
        </p:spPr>
      </p:pic>
      <p:cxnSp>
        <p:nvCxnSpPr>
          <p:cNvPr id="738" name="Google Shape;738;g36deade42ff_0_1301"/>
          <p:cNvCxnSpPr/>
          <p:nvPr/>
        </p:nvCxnSpPr>
        <p:spPr>
          <a:xfrm rot="10800000" flipH="1">
            <a:off x="7529700" y="3625900"/>
            <a:ext cx="1304700" cy="300"/>
          </a:xfrm>
          <a:prstGeom prst="straightConnector1">
            <a:avLst/>
          </a:prstGeom>
          <a:noFill/>
          <a:ln w="9525" cap="flat" cmpd="sng">
            <a:solidFill>
              <a:schemeClr val="dk2"/>
            </a:solidFill>
            <a:prstDash val="solid"/>
            <a:round/>
            <a:headEnd type="none" w="med" len="med"/>
            <a:tailEnd type="none" w="med" len="med"/>
          </a:ln>
        </p:spPr>
      </p:cxnSp>
      <p:sp>
        <p:nvSpPr>
          <p:cNvPr id="739" name="Google Shape;739;g36deade42ff_0_1301"/>
          <p:cNvSpPr txBox="1"/>
          <p:nvPr/>
        </p:nvSpPr>
        <p:spPr>
          <a:xfrm>
            <a:off x="6377400" y="3377200"/>
            <a:ext cx="1304700" cy="345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a:t>SPRI ratio =</a:t>
            </a:r>
            <a:endParaRPr/>
          </a:p>
        </p:txBody>
      </p:sp>
      <p:sp>
        <p:nvSpPr>
          <p:cNvPr id="740" name="Google Shape;740;g36deade42ff_0_1301"/>
          <p:cNvSpPr txBox="1"/>
          <p:nvPr/>
        </p:nvSpPr>
        <p:spPr>
          <a:xfrm>
            <a:off x="6338200" y="4005500"/>
            <a:ext cx="2773200" cy="85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300"/>
              <a:t>Example: for a 1.8x SPRI clean-up:</a:t>
            </a:r>
            <a:endParaRPr sz="1300"/>
          </a:p>
          <a:p>
            <a:pPr marL="457200" lvl="0" indent="-311150" algn="l" rtl="0">
              <a:lnSpc>
                <a:spcPct val="115000"/>
              </a:lnSpc>
              <a:spcBef>
                <a:spcPts val="0"/>
              </a:spcBef>
              <a:spcAft>
                <a:spcPts val="0"/>
              </a:spcAft>
              <a:buSzPts val="1300"/>
              <a:buChar char="-"/>
            </a:pPr>
            <a:r>
              <a:rPr lang="en" sz="1300"/>
              <a:t>Add 18 μl of SPRI beads to 10 μl of sample</a:t>
            </a:r>
            <a:endParaRPr sz="1300"/>
          </a:p>
        </p:txBody>
      </p:sp>
      <p:sp>
        <p:nvSpPr>
          <p:cNvPr id="741" name="Google Shape;741;g36deade42ff_0_1301"/>
          <p:cNvSpPr txBox="1">
            <a:spLocks noGrp="1"/>
          </p:cNvSpPr>
          <p:nvPr>
            <p:ph type="title"/>
          </p:nvPr>
        </p:nvSpPr>
        <p:spPr>
          <a:xfrm>
            <a:off x="115150" y="93725"/>
            <a:ext cx="87192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SPRI beads may be used to remove adapters and reagents</a:t>
            </a:r>
            <a:endParaRPr sz="2400" b="1">
              <a:latin typeface="Lato"/>
              <a:ea typeface="Lato"/>
              <a:cs typeface="Lato"/>
              <a:sym typeface="Lato"/>
            </a:endParaRPr>
          </a:p>
        </p:txBody>
      </p:sp>
      <p:pic>
        <p:nvPicPr>
          <p:cNvPr id="742" name="Google Shape;742;g36deade42ff_0_1301"/>
          <p:cNvPicPr preferRelativeResize="0"/>
          <p:nvPr/>
        </p:nvPicPr>
        <p:blipFill>
          <a:blip r:embed="rId4">
            <a:alphaModFix/>
          </a:blip>
          <a:stretch>
            <a:fillRect/>
          </a:stretch>
        </p:blipFill>
        <p:spPr>
          <a:xfrm>
            <a:off x="158000" y="2507938"/>
            <a:ext cx="5825503" cy="1961922"/>
          </a:xfrm>
          <a:prstGeom prst="rect">
            <a:avLst/>
          </a:prstGeom>
          <a:noFill/>
          <a:ln>
            <a:noFill/>
          </a:ln>
        </p:spPr>
      </p:pic>
      <p:sp>
        <p:nvSpPr>
          <p:cNvPr id="743" name="Google Shape;743;g36deade42ff_0_1301"/>
          <p:cNvSpPr txBox="1"/>
          <p:nvPr/>
        </p:nvSpPr>
        <p:spPr>
          <a:xfrm>
            <a:off x="508075" y="4349400"/>
            <a:ext cx="57228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rgbClr val="4D4D4D"/>
                </a:solidFill>
              </a:rPr>
              <a:t>1. Bind DNA to magnetic beads; 2. Separate beads from contaminants; </a:t>
            </a:r>
            <a:endParaRPr sz="1200">
              <a:solidFill>
                <a:srgbClr val="4D4D4D"/>
              </a:solidFill>
            </a:endParaRPr>
          </a:p>
          <a:p>
            <a:pPr marL="0" lvl="0" indent="0" algn="l" rtl="0">
              <a:lnSpc>
                <a:spcPct val="115000"/>
              </a:lnSpc>
              <a:spcBef>
                <a:spcPts val="0"/>
              </a:spcBef>
              <a:spcAft>
                <a:spcPts val="0"/>
              </a:spcAft>
              <a:buNone/>
            </a:pPr>
            <a:r>
              <a:rPr lang="en" sz="1200">
                <a:solidFill>
                  <a:srgbClr val="4D4D4D"/>
                </a:solidFill>
              </a:rPr>
              <a:t>3. Wash magnetic beads with 85% ethanol to remove contaminants; </a:t>
            </a:r>
            <a:endParaRPr sz="1200">
              <a:solidFill>
                <a:srgbClr val="4D4D4D"/>
              </a:solidFill>
            </a:endParaRPr>
          </a:p>
          <a:p>
            <a:pPr marL="0" lvl="0" indent="0" algn="l" rtl="0">
              <a:lnSpc>
                <a:spcPct val="115000"/>
              </a:lnSpc>
              <a:spcBef>
                <a:spcPts val="0"/>
              </a:spcBef>
              <a:spcAft>
                <a:spcPts val="0"/>
              </a:spcAft>
              <a:buNone/>
            </a:pPr>
            <a:r>
              <a:rPr lang="en" sz="1200">
                <a:solidFill>
                  <a:srgbClr val="4D4D4D"/>
                </a:solidFill>
              </a:rPr>
              <a:t>4. Elute DNA from magnetic beads; 5. Transfer sample to new tube</a:t>
            </a:r>
            <a:endParaRPr sz="1200">
              <a:solidFill>
                <a:srgbClr val="4D4D4D"/>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7"/>
                                        </p:tgtEl>
                                        <p:attrNameLst>
                                          <p:attrName>style.visibility</p:attrName>
                                        </p:attrNameLst>
                                      </p:cBhvr>
                                      <p:to>
                                        <p:strVal val="visible"/>
                                      </p:to>
                                    </p:set>
                                    <p:animEffect transition="in" filter="fade">
                                      <p:cBhvr>
                                        <p:cTn id="7" dur="1000"/>
                                        <p:tgtEl>
                                          <p:spTgt spid="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36deade42ff_0_1313"/>
          <p:cNvSpPr txBox="1"/>
          <p:nvPr/>
        </p:nvSpPr>
        <p:spPr>
          <a:xfrm>
            <a:off x="574350" y="906100"/>
            <a:ext cx="7329600" cy="5727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en" sz="1600" b="1">
                <a:solidFill>
                  <a:schemeClr val="dk1"/>
                </a:solidFill>
              </a:rPr>
              <a:t>AMPure XP SPRI select beads (paramagnetic) </a:t>
            </a:r>
            <a:endParaRPr sz="1600" b="1">
              <a:solidFill>
                <a:schemeClr val="dk1"/>
              </a:solidFill>
            </a:endParaRPr>
          </a:p>
          <a:p>
            <a:pPr marL="0" lvl="0" indent="0" algn="l" rtl="0">
              <a:lnSpc>
                <a:spcPct val="150000"/>
              </a:lnSpc>
              <a:spcBef>
                <a:spcPts val="0"/>
              </a:spcBef>
              <a:spcAft>
                <a:spcPts val="0"/>
              </a:spcAft>
              <a:buNone/>
            </a:pPr>
            <a:endParaRPr sz="1700" b="1"/>
          </a:p>
          <a:p>
            <a:pPr marL="457200" lvl="0" indent="0" algn="l" rtl="0">
              <a:lnSpc>
                <a:spcPct val="200000"/>
              </a:lnSpc>
              <a:spcBef>
                <a:spcPts val="0"/>
              </a:spcBef>
              <a:spcAft>
                <a:spcPts val="0"/>
              </a:spcAft>
              <a:buNone/>
            </a:pPr>
            <a:endParaRPr sz="1500"/>
          </a:p>
          <a:p>
            <a:pPr marL="0" marR="0" lvl="0" indent="0" algn="l" rtl="0">
              <a:lnSpc>
                <a:spcPct val="150000"/>
              </a:lnSpc>
              <a:spcBef>
                <a:spcPts val="0"/>
              </a:spcBef>
              <a:spcAft>
                <a:spcPts val="0"/>
              </a:spcAft>
              <a:buNone/>
            </a:pPr>
            <a:endParaRPr sz="1700" b="1"/>
          </a:p>
          <a:p>
            <a:pPr marL="457200" marR="0" lvl="0" indent="0" algn="l" rtl="0">
              <a:lnSpc>
                <a:spcPct val="200000"/>
              </a:lnSpc>
              <a:spcBef>
                <a:spcPts val="0"/>
              </a:spcBef>
              <a:spcAft>
                <a:spcPts val="0"/>
              </a:spcAft>
              <a:buNone/>
            </a:pPr>
            <a:endParaRPr sz="1500"/>
          </a:p>
        </p:txBody>
      </p:sp>
      <p:sp>
        <p:nvSpPr>
          <p:cNvPr id="750" name="Google Shape;750;g36deade42ff_0_1313"/>
          <p:cNvSpPr txBox="1"/>
          <p:nvPr/>
        </p:nvSpPr>
        <p:spPr>
          <a:xfrm>
            <a:off x="629775" y="1317175"/>
            <a:ext cx="7625400" cy="11004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Size selection using SPRI beads to remove adapter dimers</a:t>
            </a:r>
            <a:endParaRPr sz="1600"/>
          </a:p>
          <a:p>
            <a:pPr marL="0" lvl="0" indent="0" algn="l" rtl="0">
              <a:spcBef>
                <a:spcPts val="0"/>
              </a:spcBef>
              <a:spcAft>
                <a:spcPts val="0"/>
              </a:spcAft>
              <a:buNone/>
            </a:pPr>
            <a:endParaRPr sz="1600"/>
          </a:p>
          <a:p>
            <a:pPr marL="457200" lvl="0" indent="-330200" algn="l" rtl="0">
              <a:spcBef>
                <a:spcPts val="0"/>
              </a:spcBef>
              <a:spcAft>
                <a:spcPts val="0"/>
              </a:spcAft>
              <a:buSzPts val="1600"/>
              <a:buChar char="●"/>
            </a:pPr>
            <a:r>
              <a:rPr lang="en" sz="1600"/>
              <a:t>Samples can first be pooled and then a 0.6x SPRI clean-up can be performed</a:t>
            </a:r>
            <a:endParaRPr sz="1600"/>
          </a:p>
        </p:txBody>
      </p:sp>
      <p:sp>
        <p:nvSpPr>
          <p:cNvPr id="751" name="Google Shape;751;g36deade42ff_0_1313"/>
          <p:cNvSpPr txBox="1">
            <a:spLocks noGrp="1"/>
          </p:cNvSpPr>
          <p:nvPr>
            <p:ph type="title" idx="4294967295"/>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Library prep QC - Clean up adapter dimers</a:t>
            </a:r>
            <a:endParaRPr sz="2400" b="1">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g36deade42ff_0_1320"/>
          <p:cNvSpPr txBox="1"/>
          <p:nvPr/>
        </p:nvSpPr>
        <p:spPr>
          <a:xfrm>
            <a:off x="5784450" y="2948625"/>
            <a:ext cx="1383600" cy="47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t>Final QC</a:t>
            </a:r>
            <a:endParaRPr/>
          </a:p>
          <a:p>
            <a:pPr marL="0" lvl="0" indent="0" algn="ctr" rtl="0">
              <a:lnSpc>
                <a:spcPct val="115000"/>
              </a:lnSpc>
              <a:spcBef>
                <a:spcPts val="0"/>
              </a:spcBef>
              <a:spcAft>
                <a:spcPts val="0"/>
              </a:spcAft>
              <a:buNone/>
            </a:pPr>
            <a:r>
              <a:rPr lang="en"/>
              <a:t>passed?</a:t>
            </a:r>
            <a:endParaRPr/>
          </a:p>
        </p:txBody>
      </p:sp>
      <p:pic>
        <p:nvPicPr>
          <p:cNvPr id="757" name="Google Shape;757;g36deade42ff_0_1320"/>
          <p:cNvPicPr preferRelativeResize="0"/>
          <p:nvPr/>
        </p:nvPicPr>
        <p:blipFill>
          <a:blip r:embed="rId3">
            <a:alphaModFix/>
          </a:blip>
          <a:stretch>
            <a:fillRect/>
          </a:stretch>
        </p:blipFill>
        <p:spPr>
          <a:xfrm>
            <a:off x="1222320" y="1501100"/>
            <a:ext cx="661200" cy="1107599"/>
          </a:xfrm>
          <a:prstGeom prst="rect">
            <a:avLst/>
          </a:prstGeom>
          <a:noFill/>
          <a:ln>
            <a:noFill/>
          </a:ln>
        </p:spPr>
      </p:pic>
      <p:sp>
        <p:nvSpPr>
          <p:cNvPr id="758" name="Google Shape;758;g36deade42ff_0_1320"/>
          <p:cNvSpPr txBox="1"/>
          <p:nvPr/>
        </p:nvSpPr>
        <p:spPr>
          <a:xfrm>
            <a:off x="272825" y="1895150"/>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A</a:t>
            </a:r>
            <a:endParaRPr sz="1600"/>
          </a:p>
        </p:txBody>
      </p:sp>
      <p:sp>
        <p:nvSpPr>
          <p:cNvPr id="759" name="Google Shape;759;g36deade42ff_0_1320"/>
          <p:cNvSpPr txBox="1"/>
          <p:nvPr/>
        </p:nvSpPr>
        <p:spPr>
          <a:xfrm>
            <a:off x="272825" y="3085483"/>
            <a:ext cx="10650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Sample B</a:t>
            </a:r>
            <a:endParaRPr sz="1600"/>
          </a:p>
        </p:txBody>
      </p:sp>
      <p:sp>
        <p:nvSpPr>
          <p:cNvPr id="760" name="Google Shape;760;g36deade42ff_0_1320"/>
          <p:cNvSpPr txBox="1"/>
          <p:nvPr/>
        </p:nvSpPr>
        <p:spPr>
          <a:xfrm>
            <a:off x="36875" y="4263250"/>
            <a:ext cx="15369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Water control A </a:t>
            </a:r>
            <a:endParaRPr sz="1600"/>
          </a:p>
        </p:txBody>
      </p:sp>
      <p:pic>
        <p:nvPicPr>
          <p:cNvPr id="761" name="Google Shape;761;g36deade42ff_0_1320"/>
          <p:cNvPicPr preferRelativeResize="0"/>
          <p:nvPr/>
        </p:nvPicPr>
        <p:blipFill>
          <a:blip r:embed="rId3">
            <a:alphaModFix/>
          </a:blip>
          <a:stretch>
            <a:fillRect/>
          </a:stretch>
        </p:blipFill>
        <p:spPr>
          <a:xfrm>
            <a:off x="1222320" y="2691425"/>
            <a:ext cx="661200" cy="1107599"/>
          </a:xfrm>
          <a:prstGeom prst="rect">
            <a:avLst/>
          </a:prstGeom>
          <a:noFill/>
          <a:ln>
            <a:noFill/>
          </a:ln>
        </p:spPr>
      </p:pic>
      <p:pic>
        <p:nvPicPr>
          <p:cNvPr id="762" name="Google Shape;762;g36deade42ff_0_1320"/>
          <p:cNvPicPr preferRelativeResize="0"/>
          <p:nvPr/>
        </p:nvPicPr>
        <p:blipFill>
          <a:blip r:embed="rId3">
            <a:alphaModFix/>
          </a:blip>
          <a:stretch>
            <a:fillRect/>
          </a:stretch>
        </p:blipFill>
        <p:spPr>
          <a:xfrm>
            <a:off x="1222320" y="3881750"/>
            <a:ext cx="661200" cy="1107599"/>
          </a:xfrm>
          <a:prstGeom prst="rect">
            <a:avLst/>
          </a:prstGeom>
          <a:noFill/>
          <a:ln>
            <a:noFill/>
          </a:ln>
        </p:spPr>
      </p:pic>
      <p:pic>
        <p:nvPicPr>
          <p:cNvPr id="763" name="Google Shape;763;g36deade42ff_0_1320"/>
          <p:cNvPicPr preferRelativeResize="0"/>
          <p:nvPr/>
        </p:nvPicPr>
        <p:blipFill>
          <a:blip r:embed="rId3">
            <a:alphaModFix/>
          </a:blip>
          <a:stretch>
            <a:fillRect/>
          </a:stretch>
        </p:blipFill>
        <p:spPr>
          <a:xfrm>
            <a:off x="5275645" y="2663362"/>
            <a:ext cx="661200" cy="1107599"/>
          </a:xfrm>
          <a:prstGeom prst="rect">
            <a:avLst/>
          </a:prstGeom>
          <a:noFill/>
          <a:ln>
            <a:noFill/>
          </a:ln>
        </p:spPr>
      </p:pic>
      <p:sp>
        <p:nvSpPr>
          <p:cNvPr id="764" name="Google Shape;764;g36deade42ff_0_1320"/>
          <p:cNvSpPr txBox="1"/>
          <p:nvPr/>
        </p:nvSpPr>
        <p:spPr>
          <a:xfrm>
            <a:off x="5086075" y="3057425"/>
            <a:ext cx="568800" cy="47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a:t>Pool</a:t>
            </a:r>
            <a:endParaRPr sz="1600"/>
          </a:p>
        </p:txBody>
      </p:sp>
      <p:cxnSp>
        <p:nvCxnSpPr>
          <p:cNvPr id="765" name="Google Shape;765;g36deade42ff_0_1320"/>
          <p:cNvCxnSpPr/>
          <p:nvPr/>
        </p:nvCxnSpPr>
        <p:spPr>
          <a:xfrm>
            <a:off x="4515038" y="3260775"/>
            <a:ext cx="516600" cy="0"/>
          </a:xfrm>
          <a:prstGeom prst="straightConnector1">
            <a:avLst/>
          </a:prstGeom>
          <a:noFill/>
          <a:ln w="28575" cap="flat" cmpd="sng">
            <a:solidFill>
              <a:srgbClr val="595959"/>
            </a:solidFill>
            <a:prstDash val="solid"/>
            <a:round/>
            <a:headEnd type="none" w="med" len="med"/>
            <a:tailEnd type="triangle" w="med" len="med"/>
          </a:ln>
        </p:spPr>
      </p:cxnSp>
      <p:cxnSp>
        <p:nvCxnSpPr>
          <p:cNvPr id="766" name="Google Shape;766;g36deade42ff_0_1320"/>
          <p:cNvCxnSpPr/>
          <p:nvPr/>
        </p:nvCxnSpPr>
        <p:spPr>
          <a:xfrm rot="10800000" flipH="1">
            <a:off x="4515038" y="3768425"/>
            <a:ext cx="507000" cy="633000"/>
          </a:xfrm>
          <a:prstGeom prst="straightConnector1">
            <a:avLst/>
          </a:prstGeom>
          <a:noFill/>
          <a:ln w="28575" cap="flat" cmpd="sng">
            <a:solidFill>
              <a:srgbClr val="595959"/>
            </a:solidFill>
            <a:prstDash val="solid"/>
            <a:round/>
            <a:headEnd type="none" w="med" len="med"/>
            <a:tailEnd type="triangle" w="med" len="med"/>
          </a:ln>
        </p:spPr>
      </p:cxnSp>
      <p:cxnSp>
        <p:nvCxnSpPr>
          <p:cNvPr id="767" name="Google Shape;767;g36deade42ff_0_1320"/>
          <p:cNvCxnSpPr/>
          <p:nvPr/>
        </p:nvCxnSpPr>
        <p:spPr>
          <a:xfrm>
            <a:off x="4515038" y="2054188"/>
            <a:ext cx="536100" cy="646500"/>
          </a:xfrm>
          <a:prstGeom prst="straightConnector1">
            <a:avLst/>
          </a:prstGeom>
          <a:noFill/>
          <a:ln w="28575" cap="flat" cmpd="sng">
            <a:solidFill>
              <a:srgbClr val="595959"/>
            </a:solidFill>
            <a:prstDash val="solid"/>
            <a:round/>
            <a:headEnd type="none" w="med" len="med"/>
            <a:tailEnd type="triangle" w="med" len="med"/>
          </a:ln>
        </p:spPr>
      </p:cxnSp>
      <p:cxnSp>
        <p:nvCxnSpPr>
          <p:cNvPr id="768" name="Google Shape;768;g36deade42ff_0_1320"/>
          <p:cNvCxnSpPr/>
          <p:nvPr/>
        </p:nvCxnSpPr>
        <p:spPr>
          <a:xfrm>
            <a:off x="7069200" y="3293375"/>
            <a:ext cx="835500" cy="0"/>
          </a:xfrm>
          <a:prstGeom prst="straightConnector1">
            <a:avLst/>
          </a:prstGeom>
          <a:noFill/>
          <a:ln w="28575" cap="flat" cmpd="sng">
            <a:solidFill>
              <a:srgbClr val="595959"/>
            </a:solidFill>
            <a:prstDash val="solid"/>
            <a:round/>
            <a:headEnd type="none" w="med" len="med"/>
            <a:tailEnd type="triangle" w="med" len="med"/>
          </a:ln>
        </p:spPr>
      </p:cxnSp>
      <p:sp>
        <p:nvSpPr>
          <p:cNvPr id="769" name="Google Shape;769;g36deade42ff_0_1320"/>
          <p:cNvSpPr txBox="1">
            <a:spLocks noGrp="1"/>
          </p:cNvSpPr>
          <p:nvPr>
            <p:ph type="title"/>
          </p:nvPr>
        </p:nvSpPr>
        <p:spPr>
          <a:xfrm>
            <a:off x="115150" y="93725"/>
            <a:ext cx="70257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Library prep QC</a:t>
            </a:r>
            <a:endParaRPr sz="2400" b="1">
              <a:latin typeface="Lato"/>
              <a:ea typeface="Lato"/>
              <a:cs typeface="Lato"/>
              <a:sym typeface="Lato"/>
            </a:endParaRPr>
          </a:p>
        </p:txBody>
      </p:sp>
      <p:sp>
        <p:nvSpPr>
          <p:cNvPr id="770" name="Google Shape;770;g36deade42ff_0_1320"/>
          <p:cNvSpPr txBox="1"/>
          <p:nvPr/>
        </p:nvSpPr>
        <p:spPr>
          <a:xfrm>
            <a:off x="1946975" y="1854800"/>
            <a:ext cx="2791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71" name="Google Shape;771;g36deade42ff_0_1320"/>
          <p:cNvSpPr txBox="1"/>
          <p:nvPr/>
        </p:nvSpPr>
        <p:spPr>
          <a:xfrm>
            <a:off x="1946975" y="3045125"/>
            <a:ext cx="293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72" name="Google Shape;772;g36deade42ff_0_1320"/>
          <p:cNvSpPr txBox="1"/>
          <p:nvPr/>
        </p:nvSpPr>
        <p:spPr>
          <a:xfrm>
            <a:off x="1946975" y="4299100"/>
            <a:ext cx="283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Individual library QC passed?</a:t>
            </a:r>
            <a:endParaRPr/>
          </a:p>
        </p:txBody>
      </p:sp>
      <p:sp>
        <p:nvSpPr>
          <p:cNvPr id="773" name="Google Shape;773;g36deade42ff_0_1320"/>
          <p:cNvSpPr txBox="1"/>
          <p:nvPr/>
        </p:nvSpPr>
        <p:spPr>
          <a:xfrm>
            <a:off x="4695425" y="20517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74" name="Google Shape;774;g36deade42ff_0_1320"/>
          <p:cNvSpPr txBox="1"/>
          <p:nvPr/>
        </p:nvSpPr>
        <p:spPr>
          <a:xfrm>
            <a:off x="4484150" y="287197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75" name="Google Shape;775;g36deade42ff_0_1320"/>
          <p:cNvSpPr txBox="1"/>
          <p:nvPr/>
        </p:nvSpPr>
        <p:spPr>
          <a:xfrm>
            <a:off x="4695425" y="4054925"/>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76" name="Google Shape;776;g36deade42ff_0_1320"/>
          <p:cNvSpPr txBox="1"/>
          <p:nvPr/>
        </p:nvSpPr>
        <p:spPr>
          <a:xfrm>
            <a:off x="4767575" y="252150"/>
            <a:ext cx="4661700" cy="1369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b="1">
                <a:solidFill>
                  <a:schemeClr val="dk2"/>
                </a:solidFill>
              </a:rPr>
              <a:t>How to fix samples with QC issues? </a:t>
            </a:r>
            <a:endParaRPr b="1">
              <a:solidFill>
                <a:schemeClr val="dk2"/>
              </a:solidFill>
            </a:endParaRPr>
          </a:p>
          <a:p>
            <a:pPr marL="457200" lvl="0" indent="-317500" algn="l" rtl="0">
              <a:lnSpc>
                <a:spcPct val="150000"/>
              </a:lnSpc>
              <a:spcBef>
                <a:spcPts val="0"/>
              </a:spcBef>
              <a:spcAft>
                <a:spcPts val="0"/>
              </a:spcAft>
              <a:buSzPts val="1400"/>
              <a:buChar char="●"/>
            </a:pPr>
            <a:r>
              <a:rPr lang="en"/>
              <a:t>Concentration too low -&gt; amplify or restart</a:t>
            </a:r>
            <a:endParaRPr/>
          </a:p>
          <a:p>
            <a:pPr marL="457200" lvl="0" indent="-317500" algn="l" rtl="0">
              <a:lnSpc>
                <a:spcPct val="150000"/>
              </a:lnSpc>
              <a:spcBef>
                <a:spcPts val="0"/>
              </a:spcBef>
              <a:spcAft>
                <a:spcPts val="0"/>
              </a:spcAft>
              <a:buSzPts val="1400"/>
              <a:buChar char="●"/>
            </a:pPr>
            <a:r>
              <a:rPr lang="en"/>
              <a:t>Adapter dimers -&gt; perform additional cleanups</a:t>
            </a:r>
            <a:endParaRPr/>
          </a:p>
          <a:p>
            <a:pPr marL="457200" lvl="0" indent="-317500" algn="l" rtl="0">
              <a:lnSpc>
                <a:spcPct val="150000"/>
              </a:lnSpc>
              <a:spcBef>
                <a:spcPts val="0"/>
              </a:spcBef>
              <a:spcAft>
                <a:spcPts val="0"/>
              </a:spcAft>
              <a:buSzPts val="1400"/>
              <a:buChar char="●"/>
            </a:pPr>
            <a:r>
              <a:rPr lang="en"/>
              <a:t>Concatemer artifact observed -&gt; restart</a:t>
            </a:r>
            <a:endParaRPr/>
          </a:p>
        </p:txBody>
      </p:sp>
      <p:sp>
        <p:nvSpPr>
          <p:cNvPr id="777" name="Google Shape;777;g36deade42ff_0_1320"/>
          <p:cNvSpPr/>
          <p:nvPr/>
        </p:nvSpPr>
        <p:spPr>
          <a:xfrm flipH="1">
            <a:off x="2562875" y="833288"/>
            <a:ext cx="1236000" cy="9591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g36deade42ff_0_1320"/>
          <p:cNvSpPr txBox="1"/>
          <p:nvPr/>
        </p:nvSpPr>
        <p:spPr>
          <a:xfrm>
            <a:off x="3867925" y="13921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79" name="Google Shape;779;g36deade42ff_0_1320"/>
          <p:cNvSpPr/>
          <p:nvPr/>
        </p:nvSpPr>
        <p:spPr>
          <a:xfrm flipH="1">
            <a:off x="6083775" y="2241400"/>
            <a:ext cx="661200" cy="615600"/>
          </a:xfrm>
          <a:prstGeom prst="uturnArrow">
            <a:avLst>
              <a:gd name="adj1" fmla="val 13612"/>
              <a:gd name="adj2" fmla="val 22241"/>
              <a:gd name="adj3" fmla="val 30488"/>
              <a:gd name="adj4" fmla="val 42193"/>
              <a:gd name="adj5" fmla="val 8189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g36deade42ff_0_1320"/>
          <p:cNvSpPr txBox="1"/>
          <p:nvPr/>
        </p:nvSpPr>
        <p:spPr>
          <a:xfrm>
            <a:off x="6814025" y="2456788"/>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NO</a:t>
            </a:r>
            <a:endParaRPr b="1">
              <a:solidFill>
                <a:schemeClr val="dk2"/>
              </a:solidFill>
            </a:endParaRPr>
          </a:p>
        </p:txBody>
      </p:sp>
      <p:sp>
        <p:nvSpPr>
          <p:cNvPr id="781" name="Google Shape;781;g36deade42ff_0_1320"/>
          <p:cNvSpPr txBox="1"/>
          <p:nvPr/>
        </p:nvSpPr>
        <p:spPr>
          <a:xfrm>
            <a:off x="7230425" y="2977900"/>
            <a:ext cx="5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YES</a:t>
            </a:r>
            <a:endParaRPr b="1">
              <a:solidFill>
                <a:schemeClr val="dk2"/>
              </a:solidFill>
            </a:endParaRPr>
          </a:p>
        </p:txBody>
      </p:sp>
      <p:sp>
        <p:nvSpPr>
          <p:cNvPr id="782" name="Google Shape;782;g36deade42ff_0_1320"/>
          <p:cNvSpPr txBox="1"/>
          <p:nvPr/>
        </p:nvSpPr>
        <p:spPr>
          <a:xfrm>
            <a:off x="2939400" y="474225"/>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sp>
        <p:nvSpPr>
          <p:cNvPr id="783" name="Google Shape;783;g36deade42ff_0_1320"/>
          <p:cNvSpPr txBox="1"/>
          <p:nvPr/>
        </p:nvSpPr>
        <p:spPr>
          <a:xfrm>
            <a:off x="6159975" y="1920338"/>
            <a:ext cx="76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2"/>
                </a:solidFill>
              </a:rPr>
              <a:t>Fix it</a:t>
            </a:r>
            <a:endParaRPr b="1">
              <a:solidFill>
                <a:schemeClr val="dk2"/>
              </a:solidFill>
            </a:endParaRPr>
          </a:p>
        </p:txBody>
      </p:sp>
      <p:pic>
        <p:nvPicPr>
          <p:cNvPr id="784" name="Google Shape;784;g36deade42ff_0_1320"/>
          <p:cNvPicPr preferRelativeResize="0"/>
          <p:nvPr/>
        </p:nvPicPr>
        <p:blipFill>
          <a:blip r:embed="rId4">
            <a:alphaModFix/>
          </a:blip>
          <a:stretch>
            <a:fillRect/>
          </a:stretch>
        </p:blipFill>
        <p:spPr>
          <a:xfrm>
            <a:off x="7899550" y="2941570"/>
            <a:ext cx="1030500" cy="75971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36deade42ff_0_13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Lato"/>
                <a:ea typeface="Lato"/>
                <a:cs typeface="Lato"/>
                <a:sym typeface="Lato"/>
              </a:rPr>
              <a:t>How much concentration do I really need?</a:t>
            </a:r>
            <a:endParaRPr sz="2400" b="1">
              <a:latin typeface="Lato"/>
              <a:ea typeface="Lato"/>
              <a:cs typeface="Lato"/>
              <a:sym typeface="Lato"/>
            </a:endParaRPr>
          </a:p>
        </p:txBody>
      </p:sp>
      <p:sp>
        <p:nvSpPr>
          <p:cNvPr id="790" name="Google Shape;790;g36deade42ff_0_13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n">
                <a:solidFill>
                  <a:schemeClr val="dk1"/>
                </a:solidFill>
              </a:rPr>
              <a:t>Final pool</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Need 100-150 fmol to load the flow cell</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 = 11ul of 10-15nM </a:t>
            </a:r>
            <a:endParaRPr>
              <a:solidFill>
                <a:schemeClr val="dk1"/>
              </a:solidFill>
            </a:endParaRPr>
          </a:p>
          <a:p>
            <a:pPr marL="9144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en">
                <a:solidFill>
                  <a:schemeClr val="dk1"/>
                </a:solidFill>
              </a:rPr>
              <a:t>Individual samples: </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Ideally individual samples would also have 10-15nM </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(7-10ng/ul for 1000bp library)</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(13-20ng/ul for 2000bp library)</a:t>
            </a:r>
            <a:endParaRPr>
              <a:solidFill>
                <a:schemeClr val="dk1"/>
              </a:solidFill>
            </a:endParaRPr>
          </a:p>
          <a:p>
            <a:pPr marL="914400" lvl="1" indent="-317500" algn="l" rtl="0">
              <a:spcBef>
                <a:spcPts val="0"/>
              </a:spcBef>
              <a:spcAft>
                <a:spcPts val="0"/>
              </a:spcAft>
              <a:buClr>
                <a:schemeClr val="dk1"/>
              </a:buClr>
              <a:buSzPts val="1400"/>
              <a:buChar char="○"/>
            </a:pPr>
            <a:r>
              <a:rPr lang="en">
                <a:solidFill>
                  <a:schemeClr val="dk1"/>
                </a:solidFill>
              </a:rPr>
              <a:t>Total mass (ng) per sample added to pool will depend on:</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library size</a:t>
            </a:r>
            <a:endParaRPr>
              <a:solidFill>
                <a:schemeClr val="dk1"/>
              </a:solidFill>
            </a:endParaRPr>
          </a:p>
          <a:p>
            <a:pPr marL="1371600" lvl="2" indent="-317500" algn="l" rtl="0">
              <a:spcBef>
                <a:spcPts val="0"/>
              </a:spcBef>
              <a:spcAft>
                <a:spcPts val="0"/>
              </a:spcAft>
              <a:buClr>
                <a:schemeClr val="dk1"/>
              </a:buClr>
              <a:buSzPts val="1400"/>
              <a:buChar char="■"/>
            </a:pPr>
            <a:r>
              <a:rPr lang="en">
                <a:solidFill>
                  <a:schemeClr val="dk1"/>
                </a:solidFill>
              </a:rPr>
              <a:t># of samples in the pool</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a:spLocks noGrp="1"/>
          </p:cNvSpPr>
          <p:nvPr>
            <p:ph type="ctrTitle"/>
          </p:nvPr>
        </p:nvSpPr>
        <p:spPr>
          <a:xfrm>
            <a:off x="198578" y="410524"/>
            <a:ext cx="8520600" cy="2092800"/>
          </a:xfrm>
          <a:prstGeom prst="rect">
            <a:avLst/>
          </a:prstGeom>
        </p:spPr>
        <p:txBody>
          <a:bodyPr spcFirstLastPara="1" vert="horz" wrap="square" lIns="91425" tIns="91425" rIns="91425" bIns="91425" rtlCol="0" anchor="b" anchorCtr="0">
            <a:noAutofit/>
          </a:bodyPr>
          <a:lstStyle/>
          <a:p>
            <a:pPr>
              <a:spcBef>
                <a:spcPts val="0"/>
              </a:spcBef>
            </a:pPr>
            <a:r>
              <a:rPr lang="en" sz="4000" b="1" dirty="0">
                <a:solidFill>
                  <a:schemeClr val="dk2"/>
                </a:solidFill>
              </a:rPr>
              <a:t>Using the </a:t>
            </a:r>
            <a:r>
              <a:rPr lang="en" sz="4000" b="1" dirty="0" err="1">
                <a:solidFill>
                  <a:schemeClr val="dk2"/>
                </a:solidFill>
              </a:rPr>
              <a:t>Tapestation</a:t>
            </a:r>
            <a:r>
              <a:rPr lang="en" sz="4000" b="1" dirty="0">
                <a:solidFill>
                  <a:schemeClr val="dk2"/>
                </a:solidFill>
              </a:rPr>
              <a:t> </a:t>
            </a:r>
            <a:endParaRPr sz="4000" b="1" dirty="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15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Choosing the right assay according to your starting material</a:t>
            </a:r>
            <a:endParaRPr/>
          </a:p>
        </p:txBody>
      </p:sp>
      <p:pic>
        <p:nvPicPr>
          <p:cNvPr id="175" name="Google Shape;175;p27"/>
          <p:cNvPicPr preferRelativeResize="0"/>
          <p:nvPr/>
        </p:nvPicPr>
        <p:blipFill>
          <a:blip r:embed="rId3">
            <a:alphaModFix/>
          </a:blip>
          <a:stretch>
            <a:fillRect/>
          </a:stretch>
        </p:blipFill>
        <p:spPr>
          <a:xfrm>
            <a:off x="152400" y="725113"/>
            <a:ext cx="8839201" cy="3948375"/>
          </a:xfrm>
          <a:prstGeom prst="rect">
            <a:avLst/>
          </a:prstGeom>
          <a:noFill/>
          <a:ln>
            <a:noFill/>
          </a:ln>
        </p:spPr>
      </p:pic>
      <p:sp>
        <p:nvSpPr>
          <p:cNvPr id="176" name="Google Shape;176;p27"/>
          <p:cNvSpPr txBox="1"/>
          <p:nvPr/>
        </p:nvSpPr>
        <p:spPr>
          <a:xfrm>
            <a:off x="6293725" y="2939875"/>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DNA</a:t>
            </a:r>
            <a:endParaRPr sz="1200">
              <a:solidFill>
                <a:srgbClr val="FF0000"/>
              </a:solidFill>
            </a:endParaRPr>
          </a:p>
          <a:p>
            <a:pPr marL="0" lvl="0" indent="0" algn="ctr" rtl="0">
              <a:spcBef>
                <a:spcPts val="0"/>
              </a:spcBef>
              <a:spcAft>
                <a:spcPts val="0"/>
              </a:spcAft>
              <a:buNone/>
            </a:pPr>
            <a:r>
              <a:rPr lang="en" sz="1200">
                <a:solidFill>
                  <a:srgbClr val="FF0000"/>
                </a:solidFill>
              </a:rPr>
              <a:t>200 to &gt;60000 bp, 10 – 100 ng/µL</a:t>
            </a:r>
            <a:endParaRPr sz="1200">
              <a:solidFill>
                <a:srgbClr val="FF0000"/>
              </a:solidFill>
            </a:endParaRPr>
          </a:p>
        </p:txBody>
      </p:sp>
      <p:sp>
        <p:nvSpPr>
          <p:cNvPr id="177" name="Google Shape;177;p27"/>
          <p:cNvSpPr txBox="1"/>
          <p:nvPr/>
        </p:nvSpPr>
        <p:spPr>
          <a:xfrm>
            <a:off x="6293725" y="2519451"/>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RNA</a:t>
            </a:r>
            <a:endParaRPr sz="1200">
              <a:solidFill>
                <a:srgbClr val="FF0000"/>
              </a:solidFill>
            </a:endParaRPr>
          </a:p>
          <a:p>
            <a:pPr marL="0" lvl="0" indent="0" algn="ctr" rtl="0">
              <a:spcBef>
                <a:spcPts val="0"/>
              </a:spcBef>
              <a:spcAft>
                <a:spcPts val="0"/>
              </a:spcAft>
              <a:buNone/>
            </a:pPr>
            <a:r>
              <a:rPr lang="en" sz="1200">
                <a:solidFill>
                  <a:srgbClr val="FF0000"/>
                </a:solidFill>
              </a:rPr>
              <a:t>500 – 10000 pg/µL</a:t>
            </a:r>
            <a:endParaRPr sz="1200">
              <a:solidFill>
                <a:srgbClr val="FF0000"/>
              </a:solidFill>
            </a:endParaRPr>
          </a:p>
        </p:txBody>
      </p:sp>
      <p:sp>
        <p:nvSpPr>
          <p:cNvPr id="178" name="Google Shape;178;p27"/>
          <p:cNvSpPr txBox="1"/>
          <p:nvPr/>
        </p:nvSpPr>
        <p:spPr>
          <a:xfrm>
            <a:off x="6293725" y="3771663"/>
            <a:ext cx="2495700" cy="359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0000"/>
                </a:solidFill>
              </a:rPr>
              <a:t>Sequencing libraries</a:t>
            </a:r>
            <a:endParaRPr sz="1200">
              <a:solidFill>
                <a:srgbClr val="FF0000"/>
              </a:solidFill>
            </a:endParaRPr>
          </a:p>
          <a:p>
            <a:pPr marL="0" lvl="0" indent="0" algn="ctr" rtl="0">
              <a:spcBef>
                <a:spcPts val="0"/>
              </a:spcBef>
              <a:spcAft>
                <a:spcPts val="0"/>
              </a:spcAft>
              <a:buNone/>
            </a:pPr>
            <a:r>
              <a:rPr lang="en" sz="1200">
                <a:solidFill>
                  <a:srgbClr val="FF0000"/>
                </a:solidFill>
              </a:rPr>
              <a:t>100 - 5,000 bp, 10 - 1,000 pg/µL</a:t>
            </a:r>
            <a:endParaRPr sz="1200">
              <a:solidFill>
                <a:srgbClr val="FF0000"/>
              </a:solidFill>
            </a:endParaRPr>
          </a:p>
        </p:txBody>
      </p:sp>
      <p:sp>
        <p:nvSpPr>
          <p:cNvPr id="179" name="Google Shape;179;p27"/>
          <p:cNvSpPr txBox="1"/>
          <p:nvPr/>
        </p:nvSpPr>
        <p:spPr>
          <a:xfrm>
            <a:off x="4945175" y="4673475"/>
            <a:ext cx="4046400" cy="470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0000"/>
                </a:solidFill>
              </a:rPr>
              <a:t>Note, sensitivity is guided by input concentration.</a:t>
            </a:r>
            <a:endParaRPr>
              <a:solidFill>
                <a:srgbClr val="FF0000"/>
              </a:solidFill>
            </a:endParaRPr>
          </a:p>
        </p:txBody>
      </p:sp>
      <p:sp>
        <p:nvSpPr>
          <p:cNvPr id="180" name="Google Shape;180;p27"/>
          <p:cNvSpPr/>
          <p:nvPr/>
        </p:nvSpPr>
        <p:spPr>
          <a:xfrm>
            <a:off x="248325" y="2507850"/>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27"/>
          <p:cNvSpPr/>
          <p:nvPr/>
        </p:nvSpPr>
        <p:spPr>
          <a:xfrm>
            <a:off x="248325" y="3756363"/>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27"/>
          <p:cNvSpPr/>
          <p:nvPr/>
        </p:nvSpPr>
        <p:spPr>
          <a:xfrm>
            <a:off x="248325" y="2924575"/>
            <a:ext cx="8643000" cy="390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7"/>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23" name="Google Shape;323;p47"/>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Clr>
                <a:schemeClr val="dk1"/>
              </a:buClr>
              <a:buSzPts val="1600"/>
              <a:buAutoNum type="arabicPeriod"/>
            </a:pPr>
            <a:r>
              <a:rPr lang="en" sz="1600">
                <a:solidFill>
                  <a:schemeClr val="dk1"/>
                </a:solidFill>
              </a:rPr>
              <a:t>Ensure that all marker peaks (</a:t>
            </a:r>
            <a:r>
              <a:rPr lang="en" sz="1600">
                <a:solidFill>
                  <a:srgbClr val="FD7C4B"/>
                </a:solidFill>
              </a:rPr>
              <a:t>‘Lower’</a:t>
            </a:r>
            <a:r>
              <a:rPr lang="en" sz="1600">
                <a:solidFill>
                  <a:schemeClr val="dk1"/>
                </a:solidFill>
              </a:rPr>
              <a:t> and </a:t>
            </a:r>
            <a:r>
              <a:rPr lang="en" sz="1600">
                <a:solidFill>
                  <a:srgbClr val="9ACDFC"/>
                </a:solidFill>
              </a:rPr>
              <a:t>‘Upper’</a:t>
            </a:r>
            <a:r>
              <a:rPr lang="en" sz="1600">
                <a:solidFill>
                  <a:schemeClr val="dk1"/>
                </a:solidFill>
              </a:rPr>
              <a:t>) are properly assigned. </a:t>
            </a:r>
            <a:r>
              <a:rPr lang="en" sz="1600" b="1">
                <a:solidFill>
                  <a:schemeClr val="dk1"/>
                </a:solidFill>
              </a:rPr>
              <a:t>Concentration values are calculated using the area of the sample peak compared to the known concentration of the upper marker.</a:t>
            </a:r>
            <a:endParaRPr sz="1600" b="1">
              <a:solidFill>
                <a:schemeClr val="dk1"/>
              </a:solidFill>
            </a:endParaRPr>
          </a:p>
        </p:txBody>
      </p:sp>
      <p:pic>
        <p:nvPicPr>
          <p:cNvPr id="324" name="Google Shape;324;p47"/>
          <p:cNvPicPr preferRelativeResize="0"/>
          <p:nvPr/>
        </p:nvPicPr>
        <p:blipFill>
          <a:blip r:embed="rId3">
            <a:alphaModFix/>
          </a:blip>
          <a:stretch>
            <a:fillRect/>
          </a:stretch>
        </p:blipFill>
        <p:spPr>
          <a:xfrm>
            <a:off x="164300" y="1113175"/>
            <a:ext cx="5537976" cy="2917161"/>
          </a:xfrm>
          <a:prstGeom prst="rect">
            <a:avLst/>
          </a:prstGeom>
          <a:noFill/>
          <a:ln>
            <a:noFill/>
          </a:ln>
        </p:spPr>
      </p:pic>
      <p:pic>
        <p:nvPicPr>
          <p:cNvPr id="325" name="Google Shape;325;p47"/>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26" name="Google Shape;326;p47"/>
          <p:cNvSpPr/>
          <p:nvPr/>
        </p:nvSpPr>
        <p:spPr>
          <a:xfrm>
            <a:off x="291925" y="784500"/>
            <a:ext cx="353100" cy="282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0" y="0"/>
            <a:ext cx="91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analyse a TapeStation run?</a:t>
            </a:r>
            <a:endParaRPr/>
          </a:p>
        </p:txBody>
      </p:sp>
      <p:sp>
        <p:nvSpPr>
          <p:cNvPr id="332" name="Google Shape;332;p48"/>
          <p:cNvSpPr txBox="1">
            <a:spLocks noGrp="1"/>
          </p:cNvSpPr>
          <p:nvPr>
            <p:ph type="body" idx="1"/>
          </p:nvPr>
        </p:nvSpPr>
        <p:spPr>
          <a:xfrm>
            <a:off x="5842775" y="736725"/>
            <a:ext cx="2989500" cy="4200000"/>
          </a:xfrm>
          <a:prstGeom prst="rect">
            <a:avLst/>
          </a:prstGeom>
        </p:spPr>
        <p:txBody>
          <a:bodyPr spcFirstLastPara="1" wrap="square" lIns="91425" tIns="91425" rIns="91425" bIns="91425" anchor="t" anchorCtr="0">
            <a:normAutofit lnSpcReduction="10000"/>
          </a:bodyPr>
          <a:lstStyle/>
          <a:p>
            <a:pPr marL="457200" lvl="0" indent="-330200" algn="l" rtl="0">
              <a:spcBef>
                <a:spcPts val="0"/>
              </a:spcBef>
              <a:spcAft>
                <a:spcPts val="0"/>
              </a:spcAft>
              <a:buClr>
                <a:srgbClr val="999999"/>
              </a:buClr>
              <a:buSzPts val="1600"/>
              <a:buAutoNum type="arabicPeriod"/>
            </a:pPr>
            <a:r>
              <a:rPr lang="en" sz="1600">
                <a:solidFill>
                  <a:srgbClr val="999999"/>
                </a:solidFill>
              </a:rPr>
              <a:t>Ensure that all marker peaks (‘Lower’ and ‘Upper’) are properly assigned. </a:t>
            </a:r>
            <a:r>
              <a:rPr lang="en" sz="1600" b="1">
                <a:solidFill>
                  <a:srgbClr val="999999"/>
                </a:solidFill>
              </a:rPr>
              <a:t>Concentration values are calculated using the area of the sample peak compared to the known concentration of the upper marker.</a:t>
            </a:r>
            <a:endParaRPr sz="1600">
              <a:solidFill>
                <a:srgbClr val="999999"/>
              </a:solidFill>
            </a:endParaRPr>
          </a:p>
          <a:p>
            <a:pPr marL="457200" lvl="0" indent="-330200" algn="l" rtl="0">
              <a:spcBef>
                <a:spcPts val="0"/>
              </a:spcBef>
              <a:spcAft>
                <a:spcPts val="0"/>
              </a:spcAft>
              <a:buClr>
                <a:schemeClr val="dk1"/>
              </a:buClr>
              <a:buSzPts val="1600"/>
              <a:buAutoNum type="arabicPeriod"/>
            </a:pPr>
            <a:r>
              <a:rPr lang="en" sz="1600">
                <a:solidFill>
                  <a:schemeClr val="dk1"/>
                </a:solidFill>
              </a:rPr>
              <a:t>Ensure that </a:t>
            </a:r>
            <a:r>
              <a:rPr lang="en" sz="1600">
                <a:solidFill>
                  <a:srgbClr val="A8D3FD"/>
                </a:solidFill>
              </a:rPr>
              <a:t>sample peaks</a:t>
            </a:r>
            <a:r>
              <a:rPr lang="en" sz="1600">
                <a:solidFill>
                  <a:schemeClr val="dk1"/>
                </a:solidFill>
              </a:rPr>
              <a:t> are properly integrated by manually adjusting the peak when necessary.</a:t>
            </a:r>
            <a:endParaRPr sz="1600">
              <a:solidFill>
                <a:schemeClr val="dk1"/>
              </a:solidFill>
            </a:endParaRPr>
          </a:p>
        </p:txBody>
      </p:sp>
      <p:pic>
        <p:nvPicPr>
          <p:cNvPr id="333" name="Google Shape;333;p48"/>
          <p:cNvPicPr preferRelativeResize="0"/>
          <p:nvPr/>
        </p:nvPicPr>
        <p:blipFill>
          <a:blip r:embed="rId3">
            <a:alphaModFix/>
          </a:blip>
          <a:stretch>
            <a:fillRect/>
          </a:stretch>
        </p:blipFill>
        <p:spPr>
          <a:xfrm>
            <a:off x="164775" y="1292350"/>
            <a:ext cx="5537976" cy="2558801"/>
          </a:xfrm>
          <a:prstGeom prst="rect">
            <a:avLst/>
          </a:prstGeom>
          <a:noFill/>
          <a:ln>
            <a:noFill/>
          </a:ln>
        </p:spPr>
      </p:pic>
      <p:pic>
        <p:nvPicPr>
          <p:cNvPr id="334" name="Google Shape;334;p48"/>
          <p:cNvPicPr preferRelativeResize="0"/>
          <p:nvPr/>
        </p:nvPicPr>
        <p:blipFill rotWithShape="1">
          <a:blip r:embed="rId4">
            <a:alphaModFix/>
          </a:blip>
          <a:srcRect b="82624"/>
          <a:stretch/>
        </p:blipFill>
        <p:spPr>
          <a:xfrm>
            <a:off x="56038" y="494665"/>
            <a:ext cx="5786725" cy="572700"/>
          </a:xfrm>
          <a:prstGeom prst="rect">
            <a:avLst/>
          </a:prstGeom>
          <a:noFill/>
          <a:ln>
            <a:noFill/>
          </a:ln>
        </p:spPr>
      </p:pic>
      <p:sp>
        <p:nvSpPr>
          <p:cNvPr id="335" name="Google Shape;335;p48"/>
          <p:cNvSpPr/>
          <p:nvPr/>
        </p:nvSpPr>
        <p:spPr>
          <a:xfrm>
            <a:off x="3358050" y="773975"/>
            <a:ext cx="256500" cy="29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5"/>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30" name="Google Shape;630;p55"/>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31" name="Google Shape;631;p5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32" name="Google Shape;632;p55"/>
          <p:cNvSpPr txBox="1"/>
          <p:nvPr/>
        </p:nvSpPr>
        <p:spPr>
          <a:xfrm>
            <a:off x="2963150" y="1567975"/>
            <a:ext cx="1806300" cy="1303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This is the “</a:t>
            </a:r>
            <a:r>
              <a:rPr lang="en" sz="1200" u="sng">
                <a:solidFill>
                  <a:srgbClr val="FF0000"/>
                </a:solidFill>
              </a:rPr>
              <a:t>Electropherogram</a:t>
            </a:r>
            <a:r>
              <a:rPr lang="en" sz="1200">
                <a:solidFill>
                  <a:schemeClr val="dk1"/>
                </a:solidFill>
              </a:rPr>
              <a:t>”</a:t>
            </a:r>
            <a:r>
              <a:rPr lang="en" sz="1200"/>
              <a:t> view setting. If you see this after the TS analysis ends, click on “</a:t>
            </a:r>
            <a:r>
              <a:rPr lang="en" sz="1200" u="sng">
                <a:solidFill>
                  <a:srgbClr val="0000FF"/>
                </a:solidFill>
              </a:rPr>
              <a:t>Region</a:t>
            </a:r>
            <a:r>
              <a:rPr lang="en" sz="1200"/>
              <a:t>”</a:t>
            </a:r>
            <a:endParaRPr sz="1200"/>
          </a:p>
        </p:txBody>
      </p:sp>
      <p:cxnSp>
        <p:nvCxnSpPr>
          <p:cNvPr id="633" name="Google Shape;633;p55"/>
          <p:cNvCxnSpPr/>
          <p:nvPr/>
        </p:nvCxnSpPr>
        <p:spPr>
          <a:xfrm rot="10800000">
            <a:off x="733675" y="924200"/>
            <a:ext cx="2297400" cy="1030200"/>
          </a:xfrm>
          <a:prstGeom prst="straightConnector1">
            <a:avLst/>
          </a:prstGeom>
          <a:noFill/>
          <a:ln w="19050" cap="flat" cmpd="sng">
            <a:solidFill>
              <a:srgbClr val="FF0000"/>
            </a:solidFill>
            <a:prstDash val="solid"/>
            <a:round/>
            <a:headEnd type="none" w="med" len="med"/>
            <a:tailEnd type="triangle" w="med" len="med"/>
          </a:ln>
        </p:spPr>
      </p:cxnSp>
      <p:cxnSp>
        <p:nvCxnSpPr>
          <p:cNvPr id="634" name="Google Shape;634;p55"/>
          <p:cNvCxnSpPr/>
          <p:nvPr/>
        </p:nvCxnSpPr>
        <p:spPr>
          <a:xfrm rot="10800000">
            <a:off x="1312375" y="931375"/>
            <a:ext cx="1718700" cy="1758600"/>
          </a:xfrm>
          <a:prstGeom prst="straightConnector1">
            <a:avLst/>
          </a:prstGeom>
          <a:noFill/>
          <a:ln w="19050" cap="flat" cmpd="sng">
            <a:solidFill>
              <a:srgbClr val="0000FF"/>
            </a:solidFill>
            <a:prstDash val="solid"/>
            <a:round/>
            <a:headEnd type="none" w="med" len="med"/>
            <a:tailEnd type="triangl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56"/>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40" name="Google Shape;640;p56"/>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41" name="Google Shape;641;p56"/>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2" name="Google Shape;642;p56"/>
          <p:cNvSpPr/>
          <p:nvPr/>
        </p:nvSpPr>
        <p:spPr>
          <a:xfrm>
            <a:off x="6302001" y="403800"/>
            <a:ext cx="435900" cy="7116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43" name="Google Shape;643;p56"/>
          <p:cNvCxnSpPr/>
          <p:nvPr/>
        </p:nvCxnSpPr>
        <p:spPr>
          <a:xfrm flipH="1">
            <a:off x="6843600" y="613825"/>
            <a:ext cx="381300" cy="114900"/>
          </a:xfrm>
          <a:prstGeom prst="straightConnector1">
            <a:avLst/>
          </a:prstGeom>
          <a:noFill/>
          <a:ln w="19050" cap="flat" cmpd="sng">
            <a:solidFill>
              <a:srgbClr val="FF0000"/>
            </a:solidFill>
            <a:prstDash val="solid"/>
            <a:round/>
            <a:headEnd type="none" w="med" len="med"/>
            <a:tailEnd type="triangle" w="med" len="med"/>
          </a:ln>
        </p:spPr>
      </p:cxnSp>
      <p:sp>
        <p:nvSpPr>
          <p:cNvPr id="644" name="Google Shape;644;p56"/>
          <p:cNvSpPr txBox="1"/>
          <p:nvPr/>
        </p:nvSpPr>
        <p:spPr>
          <a:xfrm>
            <a:off x="7300900" y="403800"/>
            <a:ext cx="1349100" cy="534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“Region Settings”</a:t>
            </a:r>
            <a:endParaRPr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7"/>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0" name="Google Shape;650;p57"/>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51" name="Google Shape;651;p57"/>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52" name="Google Shape;652;p57"/>
          <p:cNvCxnSpPr/>
          <p:nvPr/>
        </p:nvCxnSpPr>
        <p:spPr>
          <a:xfrm rot="10800000">
            <a:off x="3055125" y="2243675"/>
            <a:ext cx="1622700" cy="762000"/>
          </a:xfrm>
          <a:prstGeom prst="straightConnector1">
            <a:avLst/>
          </a:prstGeom>
          <a:noFill/>
          <a:ln w="19050" cap="flat" cmpd="sng">
            <a:solidFill>
              <a:srgbClr val="FF0000"/>
            </a:solidFill>
            <a:prstDash val="solid"/>
            <a:round/>
            <a:headEnd type="none" w="med" len="med"/>
            <a:tailEnd type="triangle" w="med" len="med"/>
          </a:ln>
        </p:spPr>
      </p:cxnSp>
      <p:sp>
        <p:nvSpPr>
          <p:cNvPr id="653" name="Google Shape;653;p57"/>
          <p:cNvSpPr txBox="1"/>
          <p:nvPr/>
        </p:nvSpPr>
        <p:spPr>
          <a:xfrm>
            <a:off x="4713125" y="2857500"/>
            <a:ext cx="1587600" cy="6843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on this line to add the peak range of interest</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8"/>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59" name="Google Shape;659;p58"/>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60" name="Google Shape;660;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661" name="Google Shape;661;p58"/>
          <p:cNvSpPr/>
          <p:nvPr/>
        </p:nvSpPr>
        <p:spPr>
          <a:xfrm>
            <a:off x="2470858" y="2132400"/>
            <a:ext cx="944100" cy="195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cxnSp>
        <p:nvCxnSpPr>
          <p:cNvPr id="662" name="Google Shape;662;p58"/>
          <p:cNvCxnSpPr/>
          <p:nvPr/>
        </p:nvCxnSpPr>
        <p:spPr>
          <a:xfrm rot="10800000" flipH="1">
            <a:off x="2977450" y="2472100"/>
            <a:ext cx="1800" cy="526500"/>
          </a:xfrm>
          <a:prstGeom prst="straightConnector1">
            <a:avLst/>
          </a:prstGeom>
          <a:noFill/>
          <a:ln w="19050" cap="flat" cmpd="sng">
            <a:solidFill>
              <a:srgbClr val="FF0000"/>
            </a:solidFill>
            <a:prstDash val="solid"/>
            <a:round/>
            <a:headEnd type="none" w="med" len="med"/>
            <a:tailEnd type="triangle" w="med" len="med"/>
          </a:ln>
        </p:spPr>
      </p:cxnSp>
      <p:sp>
        <p:nvSpPr>
          <p:cNvPr id="663" name="Google Shape;663;p58"/>
          <p:cNvSpPr txBox="1"/>
          <p:nvPr/>
        </p:nvSpPr>
        <p:spPr>
          <a:xfrm>
            <a:off x="2136425" y="3040925"/>
            <a:ext cx="2088600" cy="7125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Enter the “from” and “to” range here. We commonly use the 200-1000 bp range</a:t>
            </a:r>
            <a:endParaRPr sz="1200"/>
          </a:p>
        </p:txBody>
      </p:sp>
      <p:cxnSp>
        <p:nvCxnSpPr>
          <p:cNvPr id="664" name="Google Shape;664;p58"/>
          <p:cNvCxnSpPr/>
          <p:nvPr/>
        </p:nvCxnSpPr>
        <p:spPr>
          <a:xfrm rot="10800000" flipH="1">
            <a:off x="6378225" y="2370525"/>
            <a:ext cx="134100" cy="388200"/>
          </a:xfrm>
          <a:prstGeom prst="straightConnector1">
            <a:avLst/>
          </a:prstGeom>
          <a:noFill/>
          <a:ln w="19050" cap="flat" cmpd="sng">
            <a:solidFill>
              <a:srgbClr val="FF0000"/>
            </a:solidFill>
            <a:prstDash val="solid"/>
            <a:round/>
            <a:headEnd type="none" w="med" len="med"/>
            <a:tailEnd type="triangle" w="med" len="med"/>
          </a:ln>
        </p:spPr>
      </p:cxnSp>
      <p:sp>
        <p:nvSpPr>
          <p:cNvPr id="665" name="Google Shape;665;p58"/>
          <p:cNvSpPr txBox="1"/>
          <p:nvPr/>
        </p:nvSpPr>
        <p:spPr>
          <a:xfrm>
            <a:off x="4960050" y="2812300"/>
            <a:ext cx="1823400" cy="12306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By selecting “assay file” this range will apply to all future assays. But you can also specify the range for a sample or file.</a:t>
            </a:r>
            <a:endParaRPr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9"/>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71" name="Google Shape;671;p59"/>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72" name="Google Shape;672;p59"/>
          <p:cNvPicPr preferRelativeResize="0"/>
          <p:nvPr/>
        </p:nvPicPr>
        <p:blipFill>
          <a:blip r:embed="rId3">
            <a:alphaModFix/>
          </a:blip>
          <a:stretch>
            <a:fillRect/>
          </a:stretch>
        </p:blipFill>
        <p:spPr>
          <a:xfrm>
            <a:off x="0" y="0"/>
            <a:ext cx="9144000" cy="5143500"/>
          </a:xfrm>
          <a:prstGeom prst="rect">
            <a:avLst/>
          </a:prstGeom>
          <a:noFill/>
          <a:ln>
            <a:noFill/>
          </a:ln>
        </p:spPr>
      </p:pic>
      <p:cxnSp>
        <p:nvCxnSpPr>
          <p:cNvPr id="673" name="Google Shape;673;p59"/>
          <p:cNvCxnSpPr/>
          <p:nvPr/>
        </p:nvCxnSpPr>
        <p:spPr>
          <a:xfrm>
            <a:off x="6589900" y="3654775"/>
            <a:ext cx="225900" cy="613800"/>
          </a:xfrm>
          <a:prstGeom prst="straightConnector1">
            <a:avLst/>
          </a:prstGeom>
          <a:noFill/>
          <a:ln w="19050" cap="flat" cmpd="sng">
            <a:solidFill>
              <a:srgbClr val="FF0000"/>
            </a:solidFill>
            <a:prstDash val="solid"/>
            <a:round/>
            <a:headEnd type="none" w="med" len="med"/>
            <a:tailEnd type="triangle" w="med" len="med"/>
          </a:ln>
        </p:spPr>
      </p:cxnSp>
      <p:sp>
        <p:nvSpPr>
          <p:cNvPr id="674" name="Google Shape;674;p59"/>
          <p:cNvSpPr txBox="1"/>
          <p:nvPr/>
        </p:nvSpPr>
        <p:spPr>
          <a:xfrm>
            <a:off x="5826475" y="3224375"/>
            <a:ext cx="1088100" cy="381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Click “Apply”</a:t>
            </a:r>
            <a:endParaRPr sz="12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80" name="Google Shape;680;p60"/>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81" name="Google Shape;681;p60"/>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2" name="Google Shape;682;p60"/>
          <p:cNvSpPr txBox="1"/>
          <p:nvPr/>
        </p:nvSpPr>
        <p:spPr>
          <a:xfrm>
            <a:off x="2686750" y="2292750"/>
            <a:ext cx="2174400" cy="12774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The “Region Molarity” concentration is now based on the 200-1000 bp range selected. This is the TS value that we use for our sample quantification</a:t>
            </a:r>
            <a:endParaRPr sz="1200"/>
          </a:p>
        </p:txBody>
      </p:sp>
      <p:cxnSp>
        <p:nvCxnSpPr>
          <p:cNvPr id="683" name="Google Shape;683;p60"/>
          <p:cNvCxnSpPr/>
          <p:nvPr/>
        </p:nvCxnSpPr>
        <p:spPr>
          <a:xfrm>
            <a:off x="4423825" y="3626550"/>
            <a:ext cx="1136400" cy="635100"/>
          </a:xfrm>
          <a:prstGeom prst="straightConnector1">
            <a:avLst/>
          </a:prstGeom>
          <a:noFill/>
          <a:ln w="19050" cap="flat" cmpd="sng">
            <a:solidFill>
              <a:srgbClr val="FF0000"/>
            </a:solidFill>
            <a:prstDash val="solid"/>
            <a:round/>
            <a:headEnd type="none" w="med" len="med"/>
            <a:tailEnd type="triangle" w="med" len="med"/>
          </a:ln>
        </p:spPr>
      </p:cxnSp>
      <p:sp>
        <p:nvSpPr>
          <p:cNvPr id="684" name="Google Shape;684;p60"/>
          <p:cNvSpPr/>
          <p:nvPr/>
        </p:nvSpPr>
        <p:spPr>
          <a:xfrm>
            <a:off x="5580950" y="4261600"/>
            <a:ext cx="1227600" cy="3951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61"/>
          <p:cNvSpPr txBox="1">
            <a:spLocks noGrp="1"/>
          </p:cNvSpPr>
          <p:nvPr>
            <p:ph type="title"/>
          </p:nvPr>
        </p:nvSpPr>
        <p:spPr>
          <a:xfrm>
            <a:off x="311700" y="445025"/>
            <a:ext cx="8520600" cy="572700"/>
          </a:xfrm>
          <a:prstGeom prst="rect">
            <a:avLst/>
          </a:prstGeom>
        </p:spPr>
        <p:txBody>
          <a:bodyPr spcFirstLastPara="1" vert="horz" wrap="square" lIns="91425" tIns="91425" rIns="91425" bIns="91425" rtlCol="0" anchor="t" anchorCtr="0">
            <a:noAutofit/>
          </a:bodyPr>
          <a:lstStyle/>
          <a:p>
            <a:endParaRPr/>
          </a:p>
        </p:txBody>
      </p:sp>
      <p:sp>
        <p:nvSpPr>
          <p:cNvPr id="690" name="Google Shape;690;p61"/>
          <p:cNvSpPr txBox="1">
            <a:spLocks noGrp="1"/>
          </p:cNvSpPr>
          <p:nvPr>
            <p:ph type="body" idx="1"/>
          </p:nvPr>
        </p:nvSpPr>
        <p:spPr>
          <a:xfrm>
            <a:off x="311700" y="1152475"/>
            <a:ext cx="8520600" cy="3416400"/>
          </a:xfrm>
          <a:prstGeom prst="rect">
            <a:avLst/>
          </a:prstGeom>
        </p:spPr>
        <p:txBody>
          <a:bodyPr spcFirstLastPara="1" vert="horz" wrap="square" lIns="91425" tIns="91425" rIns="91425" bIns="91425" rtlCol="0" anchor="t" anchorCtr="0">
            <a:noAutofit/>
          </a:bodyPr>
          <a:lstStyle/>
          <a:p>
            <a:pPr marL="0" indent="0">
              <a:spcAft>
                <a:spcPts val="1600"/>
              </a:spcAft>
              <a:buNone/>
            </a:pPr>
            <a:endParaRPr/>
          </a:p>
        </p:txBody>
      </p:sp>
      <p:pic>
        <p:nvPicPr>
          <p:cNvPr id="691" name="Google Shape;691;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2" name="Google Shape;692;p61"/>
          <p:cNvSpPr txBox="1"/>
          <p:nvPr/>
        </p:nvSpPr>
        <p:spPr>
          <a:xfrm>
            <a:off x="2686750" y="2032000"/>
            <a:ext cx="2174400" cy="1644000"/>
          </a:xfrm>
          <a:prstGeom prst="rect">
            <a:avLst/>
          </a:prstGeom>
          <a:solidFill>
            <a:srgbClr val="FFFFFF"/>
          </a:solidFill>
          <a:ln w="9525"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r>
              <a:rPr lang="en" sz="1200"/>
              <a:t>You can click and drag the peak range vertical line to make adjustments. In this case, we shifted the line from 200 bp to 132 bp to take into account shorter fragments. Region molarity is automatically recalculated.</a:t>
            </a:r>
            <a:endParaRPr sz="1200"/>
          </a:p>
        </p:txBody>
      </p:sp>
      <p:cxnSp>
        <p:nvCxnSpPr>
          <p:cNvPr id="693" name="Google Shape;693;p61"/>
          <p:cNvCxnSpPr/>
          <p:nvPr/>
        </p:nvCxnSpPr>
        <p:spPr>
          <a:xfrm>
            <a:off x="4861150" y="3252600"/>
            <a:ext cx="1594800" cy="14100"/>
          </a:xfrm>
          <a:prstGeom prst="straightConnector1">
            <a:avLst/>
          </a:prstGeom>
          <a:noFill/>
          <a:ln w="19050" cap="flat" cmpd="sng">
            <a:solidFill>
              <a:srgbClr val="FF0000"/>
            </a:solidFill>
            <a:prstDash val="solid"/>
            <a:round/>
            <a:headEnd type="none" w="med" len="med"/>
            <a:tailEnd type="triangl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p:cNvPicPr preferRelativeResize="0"/>
          <p:nvPr/>
        </p:nvPicPr>
        <p:blipFill>
          <a:blip r:embed="rId3">
            <a:alphaModFix/>
          </a:blip>
          <a:stretch>
            <a:fillRect/>
          </a:stretch>
        </p:blipFill>
        <p:spPr>
          <a:xfrm>
            <a:off x="367069" y="53575"/>
            <a:ext cx="8602710" cy="5143499"/>
          </a:xfrm>
          <a:prstGeom prst="rect">
            <a:avLst/>
          </a:prstGeom>
          <a:noFill/>
          <a:ln>
            <a:noFill/>
          </a:ln>
        </p:spPr>
      </p:pic>
      <p:sp>
        <p:nvSpPr>
          <p:cNvPr id="69" name="Google Shape;69;p15"/>
          <p:cNvSpPr txBox="1"/>
          <p:nvPr/>
        </p:nvSpPr>
        <p:spPr>
          <a:xfrm>
            <a:off x="4789875" y="1971675"/>
            <a:ext cx="27540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When you click on file this window will open. Click on “Create report” on the left panel in the purple box. That will create the report in pdf which is now you can save by clicking on “Save As…” in brown box. This will create the pdf report wich is amenable to view in other computers</a:t>
            </a:r>
            <a:endParaRPr/>
          </a:p>
        </p:txBody>
      </p:sp>
      <p:sp>
        <p:nvSpPr>
          <p:cNvPr id="70" name="Google Shape;70;p15"/>
          <p:cNvSpPr/>
          <p:nvPr/>
        </p:nvSpPr>
        <p:spPr>
          <a:xfrm>
            <a:off x="235750" y="1939525"/>
            <a:ext cx="1350300" cy="428700"/>
          </a:xfrm>
          <a:prstGeom prst="rect">
            <a:avLst/>
          </a:prstGeom>
          <a:noFill/>
          <a:ln w="2857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1553775" y="4597000"/>
            <a:ext cx="675000" cy="546600"/>
          </a:xfrm>
          <a:prstGeom prst="rect">
            <a:avLst/>
          </a:prstGeom>
          <a:noFill/>
          <a:ln w="28575" cap="flat" cmpd="sng">
            <a:solidFill>
              <a:srgbClr val="7F6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p:cNvPicPr preferRelativeResize="0"/>
          <p:nvPr/>
        </p:nvPicPr>
        <p:blipFill>
          <a:blip r:embed="rId3">
            <a:alphaModFix/>
          </a:blip>
          <a:srcRect r="2990" b="3726"/>
          <a:stretch>
            <a:fillRect/>
          </a:stretch>
        </p:blipFill>
        <p:spPr>
          <a:xfrm>
            <a:off x="136688" y="124875"/>
            <a:ext cx="8870623" cy="4366081"/>
          </a:xfrm>
          <a:prstGeom prst="rect">
            <a:avLst/>
          </a:prstGeom>
          <a:noFill/>
          <a:ln>
            <a:noFill/>
          </a:ln>
        </p:spPr>
      </p:pic>
      <p:sp>
        <p:nvSpPr>
          <p:cNvPr id="77" name="Google Shape;77;p16"/>
          <p:cNvSpPr txBox="1"/>
          <p:nvPr/>
        </p:nvSpPr>
        <p:spPr>
          <a:xfrm>
            <a:off x="846525" y="4618425"/>
            <a:ext cx="4886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Save and now your report is ready to share as a pdf!</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2089</Words>
  <Application>Microsoft Macintosh PowerPoint</Application>
  <PresentationFormat>On-screen Show (16:9)</PresentationFormat>
  <Paragraphs>323</Paragraphs>
  <Slides>39</Slides>
  <Notes>39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39</vt:i4>
      </vt:variant>
    </vt:vector>
  </HeadingPairs>
  <TitlesOfParts>
    <vt:vector size="46" baseType="lpstr">
      <vt:lpstr>Arial</vt:lpstr>
      <vt:lpstr>Helvetica Neue</vt:lpstr>
      <vt:lpstr>Roboto</vt:lpstr>
      <vt:lpstr>Helvetica Neue Light</vt:lpstr>
      <vt:lpstr>Lato</vt:lpstr>
      <vt:lpstr>Simple Light</vt:lpstr>
      <vt:lpstr>Simple Light</vt:lpstr>
      <vt:lpstr>PowerPoint Presentation</vt:lpstr>
      <vt:lpstr>Library Quality Control (QC)</vt:lpstr>
      <vt:lpstr>Overview of Library QC</vt:lpstr>
      <vt:lpstr>Library prep QC</vt:lpstr>
      <vt:lpstr>Assessing concentration is important for  even pooling and accurate loading</vt:lpstr>
      <vt:lpstr>Library concentration is best assessed using fluorometry like Qubit</vt:lpstr>
      <vt:lpstr>Library concentration is best assessed using fluorometry like Qubit</vt:lpstr>
      <vt:lpstr>Bioanalyzer or Tapestation may be used for pooling, if necessary</vt:lpstr>
      <vt:lpstr>Nanodrop is not recommended for assessing concentration</vt:lpstr>
      <vt:lpstr>How to use the Qubit</vt:lpstr>
      <vt:lpstr>How to use the Qubit</vt:lpstr>
      <vt:lpstr>Library prep QC</vt:lpstr>
      <vt:lpstr>Assessing length can provide insight to the quality of the library: Is the library good enough to load?</vt:lpstr>
      <vt:lpstr>Library size is assessed with electrophoresis methods</vt:lpstr>
      <vt:lpstr>Diagnostic PCR method</vt:lpstr>
      <vt:lpstr>Diagnostic PCR results compared to Tapestation</vt:lpstr>
      <vt:lpstr>Library size is assessed with electrophoresis methods</vt:lpstr>
      <vt:lpstr>Tapestation genomic DNA kit can be used to assess library size</vt:lpstr>
      <vt:lpstr>Look out for ~10kb concatemer artifacts - they will clog the flow cell pores </vt:lpstr>
      <vt:lpstr>Library size</vt:lpstr>
      <vt:lpstr>Library prep QC</vt:lpstr>
      <vt:lpstr>Library prep QC - Clean up primer/oligo dimers</vt:lpstr>
      <vt:lpstr>SPRI beads may be used to remove adapters and reagents</vt:lpstr>
      <vt:lpstr>Library prep QC - Clean up adapter dimers</vt:lpstr>
      <vt:lpstr>Library prep QC</vt:lpstr>
      <vt:lpstr>How much concentration do I really need?</vt:lpstr>
      <vt:lpstr>Using the Tapestation </vt:lpstr>
      <vt:lpstr>Choosing the right assay according to your starting material</vt:lpstr>
      <vt:lpstr>How to analyse a TapeStation run?</vt:lpstr>
      <vt:lpstr>How to analyse a TapeStation run?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3</cp:revision>
  <dcterms:modified xsi:type="dcterms:W3CDTF">2026-10-02T08:15:14Z</dcterms:modified>
</cp:coreProperties>
</file>