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5143500" type="screen16x9"/>
  <p:notesSz cx="6858000" cy="9144000"/>
  <p:embeddedFontLst>
    <p:embeddedFont>
      <p:font typeface="Lato" panose="020F0502020204030203" pitchFamily="34"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2" roundtripDataSignature="AMtx7mg41XMmIrMuNo63oOQituJ21rPV5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25"/>
    <p:restoredTop sz="94658"/>
  </p:normalViewPr>
  <p:slideViewPr>
    <p:cSldViewPr snapToGrid="0">
      <p:cViewPr varScale="1">
        <p:scale>
          <a:sx n="154" d="100"/>
          <a:sy n="154" d="100"/>
        </p:scale>
        <p:origin x="240" y="19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42"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43"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1: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f2eb81a5a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6f2eb81a5a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6f2eb81a5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6f2eb81a5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6f2eb81a5a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6f2eb81a5a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6f2eb81a5a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6f2eb81a5a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6f2eb81a5a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6f2eb81a5a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6f2eb81a5a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6f2eb81a5a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6f2eb81a5a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6f2eb81a5a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6f2eb81a5a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6f2eb81a5a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6f2eb81a5a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6f2eb81a5a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6f2eb81a5a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6f2eb81a5a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6f2eb81a5a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6f2eb81a5a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6f2eb81a5a_0_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6f2eb81a5a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6f2eb81a5a_0_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6f2eb81a5a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6f2eb81a5a_0_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36f2eb81a5a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6f2eb81a5a_0_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36f2eb81a5a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6f2eb81a5a_0_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6f2eb81a5a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6f2eb81a5a_0_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6f2eb81a5a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6f2eb81a5a_0_1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36f2eb81a5a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6f2eb81a5a_0_1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6f2eb81a5a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6f2eb81a5a_0_1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36f2eb81a5a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6f2eb81a5a_0_1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36f2eb81a5a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6f2eb81a5a_0_1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36f2eb81a5a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6f2eb81a5a_0_1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36f2eb81a5a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Quote">
  <p:cSld name="TITLE_AND_BODY_1">
    <p:spTree>
      <p:nvGrpSpPr>
        <p:cNvPr id="1" name="Shape 9"/>
        <p:cNvGrpSpPr/>
        <p:nvPr/>
      </p:nvGrpSpPr>
      <p:grpSpPr>
        <a:xfrm>
          <a:off x="0" y="0"/>
          <a:ext cx="0" cy="0"/>
          <a:chOff x="0" y="0"/>
          <a:chExt cx="0" cy="0"/>
        </a:xfrm>
      </p:grpSpPr>
      <p:sp>
        <p:nvSpPr>
          <p:cNvPr id="10" name="Google Shape;10;p18"/>
          <p:cNvSpPr txBox="1">
            <a:spLocks noGrp="1"/>
          </p:cNvSpPr>
          <p:nvPr>
            <p:ph type="body" idx="1"/>
          </p:nvPr>
        </p:nvSpPr>
        <p:spPr>
          <a:xfrm>
            <a:off x="1812726" y="3355330"/>
            <a:ext cx="5518500" cy="243000"/>
          </a:xfrm>
          <a:prstGeom prst="rect">
            <a:avLst/>
          </a:prstGeom>
          <a:noFill/>
          <a:ln>
            <a:noFill/>
          </a:ln>
        </p:spPr>
        <p:txBody>
          <a:bodyPr spcFirstLastPara="1" wrap="square" lIns="26775" tIns="26775" rIns="26775" bIns="26775" anchor="t" anchorCtr="0">
            <a:spAutoFit/>
          </a:bodyPr>
          <a:lstStyle>
            <a:lvl1pPr marL="457200" lvl="0" indent="-228600" algn="ctr">
              <a:lnSpc>
                <a:spcPct val="100000"/>
              </a:lnSpc>
              <a:spcBef>
                <a:spcPts val="0"/>
              </a:spcBef>
              <a:spcAft>
                <a:spcPts val="0"/>
              </a:spcAft>
              <a:buClr>
                <a:srgbClr val="000000"/>
              </a:buClr>
              <a:buSzPts val="1200"/>
              <a:buFont typeface="Helvetica Neue"/>
              <a:buNone/>
              <a:defRPr sz="1200" i="1"/>
            </a:lvl1pPr>
            <a:lvl2pPr marL="914400" lvl="1" indent="-279400" algn="l">
              <a:lnSpc>
                <a:spcPct val="90000"/>
              </a:lnSpc>
              <a:spcBef>
                <a:spcPts val="1700"/>
              </a:spcBef>
              <a:spcAft>
                <a:spcPts val="0"/>
              </a:spcAft>
              <a:buClr>
                <a:srgbClr val="000000"/>
              </a:buClr>
              <a:buSzPts val="800"/>
              <a:buChar char="○"/>
              <a:defRPr/>
            </a:lvl2pPr>
            <a:lvl3pPr marL="1371600" lvl="2" indent="-279400" algn="l">
              <a:lnSpc>
                <a:spcPct val="90000"/>
              </a:lnSpc>
              <a:spcBef>
                <a:spcPts val="1700"/>
              </a:spcBef>
              <a:spcAft>
                <a:spcPts val="0"/>
              </a:spcAft>
              <a:buClr>
                <a:srgbClr val="000000"/>
              </a:buClr>
              <a:buSzPts val="800"/>
              <a:buChar char="■"/>
              <a:defRPr/>
            </a:lvl3pPr>
            <a:lvl4pPr marL="1828800" lvl="3" indent="-279400" algn="l">
              <a:lnSpc>
                <a:spcPct val="90000"/>
              </a:lnSpc>
              <a:spcBef>
                <a:spcPts val="1700"/>
              </a:spcBef>
              <a:spcAft>
                <a:spcPts val="0"/>
              </a:spcAft>
              <a:buClr>
                <a:srgbClr val="000000"/>
              </a:buClr>
              <a:buSzPts val="800"/>
              <a:buChar char="●"/>
              <a:defRPr/>
            </a:lvl4pPr>
            <a:lvl5pPr marL="2286000" lvl="4" indent="-279400" algn="l">
              <a:lnSpc>
                <a:spcPct val="90000"/>
              </a:lnSpc>
              <a:spcBef>
                <a:spcPts val="1700"/>
              </a:spcBef>
              <a:spcAft>
                <a:spcPts val="0"/>
              </a:spcAft>
              <a:buClr>
                <a:srgbClr val="000000"/>
              </a:buClr>
              <a:buSzPts val="800"/>
              <a:buChar char="○"/>
              <a:defRPr/>
            </a:lvl5pPr>
            <a:lvl6pPr marL="2743200" lvl="5" indent="-279400" algn="l">
              <a:lnSpc>
                <a:spcPct val="90000"/>
              </a:lnSpc>
              <a:spcBef>
                <a:spcPts val="1700"/>
              </a:spcBef>
              <a:spcAft>
                <a:spcPts val="0"/>
              </a:spcAft>
              <a:buClr>
                <a:srgbClr val="000000"/>
              </a:buClr>
              <a:buSzPts val="800"/>
              <a:buChar char="■"/>
              <a:defRPr/>
            </a:lvl6pPr>
            <a:lvl7pPr marL="3200400" lvl="6" indent="-279400" algn="l">
              <a:lnSpc>
                <a:spcPct val="90000"/>
              </a:lnSpc>
              <a:spcBef>
                <a:spcPts val="1700"/>
              </a:spcBef>
              <a:spcAft>
                <a:spcPts val="0"/>
              </a:spcAft>
              <a:buClr>
                <a:srgbClr val="000000"/>
              </a:buClr>
              <a:buSzPts val="800"/>
              <a:buChar char="●"/>
              <a:defRPr/>
            </a:lvl7pPr>
            <a:lvl8pPr marL="3657600" lvl="7" indent="-279400" algn="l">
              <a:lnSpc>
                <a:spcPct val="90000"/>
              </a:lnSpc>
              <a:spcBef>
                <a:spcPts val="1700"/>
              </a:spcBef>
              <a:spcAft>
                <a:spcPts val="0"/>
              </a:spcAft>
              <a:buClr>
                <a:srgbClr val="000000"/>
              </a:buClr>
              <a:buSzPts val="800"/>
              <a:buChar char="○"/>
              <a:defRPr/>
            </a:lvl8pPr>
            <a:lvl9pPr marL="4114800" lvl="8" indent="-279400" algn="l">
              <a:lnSpc>
                <a:spcPct val="90000"/>
              </a:lnSpc>
              <a:spcBef>
                <a:spcPts val="1700"/>
              </a:spcBef>
              <a:spcAft>
                <a:spcPts val="0"/>
              </a:spcAft>
              <a:buClr>
                <a:srgbClr val="000000"/>
              </a:buClr>
              <a:buSzPts val="800"/>
              <a:buChar char="■"/>
              <a:defRPr/>
            </a:lvl9pPr>
          </a:lstStyle>
          <a:p>
            <a:endParaRPr/>
          </a:p>
        </p:txBody>
      </p:sp>
      <p:sp>
        <p:nvSpPr>
          <p:cNvPr id="11" name="Google Shape;11;p18"/>
          <p:cNvSpPr txBox="1">
            <a:spLocks noGrp="1"/>
          </p:cNvSpPr>
          <p:nvPr>
            <p:ph type="body" idx="2"/>
          </p:nvPr>
        </p:nvSpPr>
        <p:spPr>
          <a:xfrm>
            <a:off x="1812726" y="2249091"/>
            <a:ext cx="5518500" cy="324000"/>
          </a:xfrm>
          <a:prstGeom prst="rect">
            <a:avLst/>
          </a:prstGeom>
          <a:noFill/>
          <a:ln>
            <a:noFill/>
          </a:ln>
        </p:spPr>
        <p:txBody>
          <a:bodyPr spcFirstLastPara="1" wrap="square" lIns="26775" tIns="26775" rIns="26775" bIns="26775" anchor="ctr" anchorCtr="0">
            <a:spAutoFit/>
          </a:bodyPr>
          <a:lstStyle>
            <a:lvl1pPr marL="457200" lvl="0" indent="-228600" algn="ctr">
              <a:lnSpc>
                <a:spcPct val="100000"/>
              </a:lnSpc>
              <a:spcBef>
                <a:spcPts val="0"/>
              </a:spcBef>
              <a:spcAft>
                <a:spcPts val="0"/>
              </a:spcAft>
              <a:buClr>
                <a:srgbClr val="000000"/>
              </a:buClr>
              <a:buSzPts val="1700"/>
              <a:buFont typeface="Helvetica Neue"/>
              <a:buNone/>
              <a:defRPr sz="1700">
                <a:latin typeface="Helvetica Neue"/>
                <a:ea typeface="Helvetica Neue"/>
                <a:cs typeface="Helvetica Neue"/>
                <a:sym typeface="Helvetica Neue"/>
              </a:defRPr>
            </a:lvl1pPr>
            <a:lvl2pPr marL="914400" lvl="1" indent="-279400" algn="l">
              <a:lnSpc>
                <a:spcPct val="90000"/>
              </a:lnSpc>
              <a:spcBef>
                <a:spcPts val="1700"/>
              </a:spcBef>
              <a:spcAft>
                <a:spcPts val="0"/>
              </a:spcAft>
              <a:buClr>
                <a:srgbClr val="000000"/>
              </a:buClr>
              <a:buSzPts val="800"/>
              <a:buChar char="○"/>
              <a:defRPr/>
            </a:lvl2pPr>
            <a:lvl3pPr marL="1371600" lvl="2" indent="-279400" algn="l">
              <a:lnSpc>
                <a:spcPct val="90000"/>
              </a:lnSpc>
              <a:spcBef>
                <a:spcPts val="1700"/>
              </a:spcBef>
              <a:spcAft>
                <a:spcPts val="0"/>
              </a:spcAft>
              <a:buClr>
                <a:srgbClr val="000000"/>
              </a:buClr>
              <a:buSzPts val="800"/>
              <a:buChar char="■"/>
              <a:defRPr/>
            </a:lvl3pPr>
            <a:lvl4pPr marL="1828800" lvl="3" indent="-279400" algn="l">
              <a:lnSpc>
                <a:spcPct val="90000"/>
              </a:lnSpc>
              <a:spcBef>
                <a:spcPts val="1700"/>
              </a:spcBef>
              <a:spcAft>
                <a:spcPts val="0"/>
              </a:spcAft>
              <a:buClr>
                <a:srgbClr val="000000"/>
              </a:buClr>
              <a:buSzPts val="800"/>
              <a:buChar char="●"/>
              <a:defRPr/>
            </a:lvl4pPr>
            <a:lvl5pPr marL="2286000" lvl="4" indent="-279400" algn="l">
              <a:lnSpc>
                <a:spcPct val="90000"/>
              </a:lnSpc>
              <a:spcBef>
                <a:spcPts val="1700"/>
              </a:spcBef>
              <a:spcAft>
                <a:spcPts val="0"/>
              </a:spcAft>
              <a:buClr>
                <a:srgbClr val="000000"/>
              </a:buClr>
              <a:buSzPts val="800"/>
              <a:buChar char="○"/>
              <a:defRPr/>
            </a:lvl5pPr>
            <a:lvl6pPr marL="2743200" lvl="5" indent="-279400" algn="l">
              <a:lnSpc>
                <a:spcPct val="90000"/>
              </a:lnSpc>
              <a:spcBef>
                <a:spcPts val="1700"/>
              </a:spcBef>
              <a:spcAft>
                <a:spcPts val="0"/>
              </a:spcAft>
              <a:buClr>
                <a:srgbClr val="000000"/>
              </a:buClr>
              <a:buSzPts val="800"/>
              <a:buChar char="■"/>
              <a:defRPr/>
            </a:lvl6pPr>
            <a:lvl7pPr marL="3200400" lvl="6" indent="-279400" algn="l">
              <a:lnSpc>
                <a:spcPct val="90000"/>
              </a:lnSpc>
              <a:spcBef>
                <a:spcPts val="1700"/>
              </a:spcBef>
              <a:spcAft>
                <a:spcPts val="0"/>
              </a:spcAft>
              <a:buClr>
                <a:srgbClr val="000000"/>
              </a:buClr>
              <a:buSzPts val="800"/>
              <a:buChar char="●"/>
              <a:defRPr/>
            </a:lvl7pPr>
            <a:lvl8pPr marL="3657600" lvl="7" indent="-279400" algn="l">
              <a:lnSpc>
                <a:spcPct val="90000"/>
              </a:lnSpc>
              <a:spcBef>
                <a:spcPts val="1700"/>
              </a:spcBef>
              <a:spcAft>
                <a:spcPts val="0"/>
              </a:spcAft>
              <a:buClr>
                <a:srgbClr val="000000"/>
              </a:buClr>
              <a:buSzPts val="800"/>
              <a:buChar char="○"/>
              <a:defRPr/>
            </a:lvl8pPr>
            <a:lvl9pPr marL="4114800" lvl="8" indent="-279400" algn="l">
              <a:lnSpc>
                <a:spcPct val="90000"/>
              </a:lnSpc>
              <a:spcBef>
                <a:spcPts val="1700"/>
              </a:spcBef>
              <a:spcAft>
                <a:spcPts val="0"/>
              </a:spcAft>
              <a:buClr>
                <a:srgbClr val="000000"/>
              </a:buClr>
              <a:buSzPts val="800"/>
              <a:buChar char="■"/>
              <a:defRPr/>
            </a:lvl9pPr>
          </a:lstStyle>
          <a:p>
            <a:endParaRPr/>
          </a:p>
        </p:txBody>
      </p:sp>
      <p:sp>
        <p:nvSpPr>
          <p:cNvPr id="12" name="Google Shape;12;p18"/>
          <p:cNvSpPr txBox="1">
            <a:spLocks noGrp="1"/>
          </p:cNvSpPr>
          <p:nvPr>
            <p:ph type="sldNum" idx="12"/>
          </p:nvPr>
        </p:nvSpPr>
        <p:spPr>
          <a:xfrm>
            <a:off x="4482789" y="4902398"/>
            <a:ext cx="174900" cy="177300"/>
          </a:xfrm>
          <a:prstGeom prst="rect">
            <a:avLst/>
          </a:prstGeom>
          <a:noFill/>
          <a:ln>
            <a:noFill/>
          </a:ln>
        </p:spPr>
        <p:txBody>
          <a:bodyPr spcFirstLastPara="1" wrap="square" lIns="26775" tIns="26775" rIns="26775" bIns="26775" anchor="t" anchorCtr="0">
            <a:spAutoFit/>
          </a:bodyPr>
          <a:lstStyle>
            <a:lvl1pPr marL="0" marR="0" lvl="0"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sz="1000">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1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20"/>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9" name="Google Shape;19;p20"/>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0" name="Google Shape;20;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3" name="Google Shape;23;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2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6" name="Google Shape;26;p22"/>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7" name="Google Shape;27;p22"/>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8" name="Google Shape;2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2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1" name="Google Shape;31;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24"/>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4" name="Google Shape;34;p24"/>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5" name="Google Shape;35;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p25"/>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8" name="Google Shape;38;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26"/>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26"/>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2" name="Google Shape;42;p26"/>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p26"/>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4" name="Google Shape;44;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
        <p:cNvGrpSpPr/>
        <p:nvPr/>
      </p:nvGrpSpPr>
      <p:grpSpPr>
        <a:xfrm>
          <a:off x="0" y="0"/>
          <a:ext cx="0" cy="0"/>
          <a:chOff x="0" y="0"/>
          <a:chExt cx="0" cy="0"/>
        </a:xfrm>
      </p:grpSpPr>
      <p:sp>
        <p:nvSpPr>
          <p:cNvPr id="46" name="Google Shape;46;p27"/>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7" name="Google Shape;47;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8"/>
        <p:cNvGrpSpPr/>
        <p:nvPr/>
      </p:nvGrpSpPr>
      <p:grpSpPr>
        <a:xfrm>
          <a:off x="0" y="0"/>
          <a:ext cx="0" cy="0"/>
          <a:chOff x="0" y="0"/>
          <a:chExt cx="0" cy="0"/>
        </a:xfrm>
      </p:grpSpPr>
      <p:sp>
        <p:nvSpPr>
          <p:cNvPr id="49" name="Google Shape;49;p28"/>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0" name="Google Shape;50;p28"/>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51" name="Google Shape;51;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community.nanoporetech.com/nanopore_learning/lessons/priming-and-loading-your-flow-cel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community.nanoporetech.com/docs/prepare/library_prep_protocols/rapid-sequencing-dna-v14-pcr-barcoding-sqk-rpb114-24/v/rpb_9191_v114_revb_28jun2023/priming-and-loading-the-spoton-flow-cell?devices=minion"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community.nanoporetech.com/nanopore_learning/lessons/priming-and-loading-your-flow-cell"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hyperlink" Target="https://nanoporetech.com/platform/accuracy"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
          <p:cNvSpPr txBox="1">
            <a:spLocks noGrp="1"/>
          </p:cNvSpPr>
          <p:nvPr>
            <p:ph type="body" idx="2"/>
          </p:nvPr>
        </p:nvSpPr>
        <p:spPr>
          <a:xfrm>
            <a:off x="1418073" y="1422943"/>
            <a:ext cx="6668100" cy="608100"/>
          </a:xfrm>
          <a:prstGeom prst="rect">
            <a:avLst/>
          </a:prstGeom>
          <a:noFill/>
          <a:ln>
            <a:noFill/>
          </a:ln>
        </p:spPr>
        <p:txBody>
          <a:bodyPr spcFirstLastPara="1" wrap="square" lIns="26775" tIns="26775" rIns="26775" bIns="26775" anchor="ctr" anchorCtr="0">
            <a:spAutoFit/>
          </a:bodyPr>
          <a:lstStyle/>
          <a:p>
            <a:pPr marL="0" marR="0" lvl="0" indent="0" algn="ctr" rtl="0">
              <a:lnSpc>
                <a:spcPct val="90000"/>
              </a:lnSpc>
              <a:spcBef>
                <a:spcPts val="0"/>
              </a:spcBef>
              <a:spcAft>
                <a:spcPts val="0"/>
              </a:spcAft>
              <a:buClr>
                <a:srgbClr val="000000"/>
              </a:buClr>
              <a:buSzPts val="3200"/>
              <a:buFont typeface="Lato"/>
              <a:buNone/>
            </a:pPr>
            <a:r>
              <a:rPr lang="en" sz="4000" b="1" dirty="0" err="1">
                <a:latin typeface="Lato"/>
                <a:ea typeface="Lato"/>
                <a:cs typeface="Lato"/>
                <a:sym typeface="Lato"/>
              </a:rPr>
              <a:t>MinION</a:t>
            </a:r>
            <a:r>
              <a:rPr lang="en" sz="4000" b="1" dirty="0">
                <a:latin typeface="Lato"/>
                <a:ea typeface="Lato"/>
                <a:cs typeface="Lato"/>
                <a:sym typeface="Lato"/>
              </a:rPr>
              <a:t> Loading</a:t>
            </a:r>
            <a:endParaRPr sz="4000" dirty="0"/>
          </a:p>
        </p:txBody>
      </p:sp>
      <p:sp>
        <p:nvSpPr>
          <p:cNvPr id="2" name="TextBox 1">
            <a:extLst>
              <a:ext uri="{FF2B5EF4-FFF2-40B4-BE49-F238E27FC236}">
                <a16:creationId xmlns:a16="http://schemas.microsoft.com/office/drawing/2014/main" id="{0BC992BE-87EF-FC3A-F428-0A9BB29D53E5}"/>
              </a:ext>
            </a:extLst>
          </p:cNvPr>
          <p:cNvSpPr txBox="1"/>
          <p:nvPr/>
        </p:nvSpPr>
        <p:spPr>
          <a:xfrm>
            <a:off x="6744025" y="4795843"/>
            <a:ext cx="2530208" cy="246221"/>
          </a:xfrm>
          <a:prstGeom prst="rect">
            <a:avLst/>
          </a:prstGeom>
          <a:noFill/>
        </p:spPr>
        <p:txBody>
          <a:bodyPr wrap="square" rtlCol="0">
            <a:spAutoFit/>
          </a:bodyPr>
          <a:lstStyle/>
          <a:p>
            <a:r>
              <a:rPr lang="en-US" sz="1000" dirty="0">
                <a:solidFill>
                  <a:schemeClr val="tx1">
                    <a:lumMod val="50000"/>
                    <a:lumOff val="50000"/>
                  </a:schemeClr>
                </a:solidFill>
                <a:latin typeface="Arial" panose="020B0604020202020204" pitchFamily="34" charset="0"/>
                <a:cs typeface="Arial" panose="020B0604020202020204" pitchFamily="34" charset="0"/>
              </a:rPr>
              <a:t>Rapid Response </a:t>
            </a:r>
            <a:r>
              <a:rPr lang="en-US" sz="1000">
                <a:solidFill>
                  <a:schemeClr val="tx1">
                    <a:lumMod val="50000"/>
                    <a:lumOff val="50000"/>
                  </a:schemeClr>
                </a:solidFill>
                <a:latin typeface="Arial" panose="020B0604020202020204" pitchFamily="34" charset="0"/>
                <a:cs typeface="Arial" panose="020B0604020202020204" pitchFamily="34" charset="0"/>
              </a:rPr>
              <a:t>– Updated Jan </a:t>
            </a:r>
            <a:r>
              <a:rPr lang="en-US" sz="1000" dirty="0">
                <a:solidFill>
                  <a:schemeClr val="tx1">
                    <a:lumMod val="50000"/>
                    <a:lumOff val="50000"/>
                  </a:schemeClr>
                </a:solidFill>
                <a:latin typeface="Arial" panose="020B0604020202020204" pitchFamily="34" charset="0"/>
                <a:cs typeface="Arial" panose="020B0604020202020204" pitchFamily="34" charset="0"/>
              </a:rPr>
              <a:t>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g36f2eb81a5a_1_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Lato"/>
                <a:ea typeface="Lato"/>
                <a:cs typeface="Lato"/>
                <a:sym typeface="Lato"/>
              </a:rPr>
              <a:t>How much concentration do I really need?</a:t>
            </a:r>
            <a:endParaRPr sz="2400" b="1">
              <a:latin typeface="Lato"/>
              <a:ea typeface="Lato"/>
              <a:cs typeface="Lato"/>
              <a:sym typeface="Lato"/>
            </a:endParaRPr>
          </a:p>
        </p:txBody>
      </p:sp>
      <p:sp>
        <p:nvSpPr>
          <p:cNvPr id="64" name="Google Shape;64;g36f2eb81a5a_1_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
                <a:solidFill>
                  <a:schemeClr val="dk1"/>
                </a:solidFill>
              </a:rPr>
              <a:t>Final pool</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Need 100-150 fmol to load the flow cell</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 = 11ul of 10-15nM </a:t>
            </a:r>
            <a:endParaRPr>
              <a:solidFill>
                <a:schemeClr val="dk1"/>
              </a:solidFill>
            </a:endParaRPr>
          </a:p>
          <a:p>
            <a:pPr marL="914400" lvl="0" indent="0" algn="l" rtl="0">
              <a:spcBef>
                <a:spcPts val="0"/>
              </a:spcBef>
              <a:spcAft>
                <a:spcPts val="0"/>
              </a:spcAft>
              <a:buNone/>
            </a:pP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Individual samples: </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Ideally individual samples would also have 10-15nM </a:t>
            </a:r>
            <a:endParaRPr>
              <a:solidFill>
                <a:schemeClr val="dk1"/>
              </a:solidFill>
            </a:endParaRPr>
          </a:p>
          <a:p>
            <a:pPr marL="1371600" lvl="2" indent="-317500" algn="l" rtl="0">
              <a:spcBef>
                <a:spcPts val="0"/>
              </a:spcBef>
              <a:spcAft>
                <a:spcPts val="0"/>
              </a:spcAft>
              <a:buClr>
                <a:schemeClr val="dk1"/>
              </a:buClr>
              <a:buSzPts val="1400"/>
              <a:buChar char="■"/>
            </a:pPr>
            <a:r>
              <a:rPr lang="en">
                <a:solidFill>
                  <a:schemeClr val="dk1"/>
                </a:solidFill>
              </a:rPr>
              <a:t>(7-10ng/ul for 1000bp library)</a:t>
            </a:r>
            <a:endParaRPr>
              <a:solidFill>
                <a:schemeClr val="dk1"/>
              </a:solidFill>
            </a:endParaRPr>
          </a:p>
          <a:p>
            <a:pPr marL="1371600" lvl="2" indent="-317500" algn="l" rtl="0">
              <a:spcBef>
                <a:spcPts val="0"/>
              </a:spcBef>
              <a:spcAft>
                <a:spcPts val="0"/>
              </a:spcAft>
              <a:buClr>
                <a:schemeClr val="dk1"/>
              </a:buClr>
              <a:buSzPts val="1400"/>
              <a:buChar char="■"/>
            </a:pPr>
            <a:r>
              <a:rPr lang="en">
                <a:solidFill>
                  <a:schemeClr val="dk1"/>
                </a:solidFill>
              </a:rPr>
              <a:t>(13-20ng/ul for 2000bp library)</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Total mass (ng) per sample added to pool will depend on:</a:t>
            </a:r>
            <a:endParaRPr>
              <a:solidFill>
                <a:schemeClr val="dk1"/>
              </a:solidFill>
            </a:endParaRPr>
          </a:p>
          <a:p>
            <a:pPr marL="1371600" lvl="2" indent="-317500" algn="l" rtl="0">
              <a:spcBef>
                <a:spcPts val="0"/>
              </a:spcBef>
              <a:spcAft>
                <a:spcPts val="0"/>
              </a:spcAft>
              <a:buClr>
                <a:schemeClr val="dk1"/>
              </a:buClr>
              <a:buSzPts val="1400"/>
              <a:buChar char="■"/>
            </a:pPr>
            <a:r>
              <a:rPr lang="en">
                <a:solidFill>
                  <a:schemeClr val="dk1"/>
                </a:solidFill>
              </a:rPr>
              <a:t>library size</a:t>
            </a:r>
            <a:endParaRPr>
              <a:solidFill>
                <a:schemeClr val="dk1"/>
              </a:solidFill>
            </a:endParaRPr>
          </a:p>
          <a:p>
            <a:pPr marL="1371600" lvl="2" indent="-317500" algn="l" rtl="0">
              <a:spcBef>
                <a:spcPts val="0"/>
              </a:spcBef>
              <a:spcAft>
                <a:spcPts val="0"/>
              </a:spcAft>
              <a:buClr>
                <a:schemeClr val="dk1"/>
              </a:buClr>
              <a:buSzPts val="1400"/>
              <a:buChar char="■"/>
            </a:pPr>
            <a:r>
              <a:rPr lang="en">
                <a:solidFill>
                  <a:schemeClr val="dk1"/>
                </a:solidFill>
              </a:rPr>
              <a:t># of samples in the pool</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g36f2eb81a5a_0_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latin typeface="Lato"/>
                <a:ea typeface="Lato"/>
                <a:cs typeface="Lato"/>
                <a:sym typeface="Lato"/>
              </a:rPr>
              <a:t>Before Loading...</a:t>
            </a:r>
            <a:endParaRPr b="1">
              <a:latin typeface="Lato"/>
              <a:ea typeface="Lato"/>
              <a:cs typeface="Lato"/>
              <a:sym typeface="Lato"/>
            </a:endParaRPr>
          </a:p>
        </p:txBody>
      </p:sp>
      <p:sp>
        <p:nvSpPr>
          <p:cNvPr id="70" name="Google Shape;70;g36f2eb81a5a_0_0"/>
          <p:cNvSpPr txBox="1">
            <a:spLocks noGrp="1"/>
          </p:cNvSpPr>
          <p:nvPr>
            <p:ph type="body" idx="1"/>
          </p:nvPr>
        </p:nvSpPr>
        <p:spPr>
          <a:xfrm>
            <a:off x="311700" y="1076275"/>
            <a:ext cx="4761900" cy="39972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Font typeface="Lato"/>
              <a:buChar char="●"/>
            </a:pPr>
            <a:r>
              <a:rPr lang="en">
                <a:solidFill>
                  <a:schemeClr val="dk1"/>
                </a:solidFill>
                <a:latin typeface="Lato"/>
                <a:ea typeface="Lato"/>
                <a:cs typeface="Lato"/>
                <a:sym typeface="Lato"/>
              </a:rPr>
              <a:t>Thaw loading reagents</a:t>
            </a:r>
            <a:endParaRPr>
              <a:solidFill>
                <a:schemeClr val="dk1"/>
              </a:solidFill>
              <a:latin typeface="Lato"/>
              <a:ea typeface="Lato"/>
              <a:cs typeface="Lato"/>
              <a:sym typeface="Lato"/>
            </a:endParaRPr>
          </a:p>
          <a:p>
            <a:pPr marL="914400" lvl="1" indent="-317500" algn="l" rtl="0">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~30 min at room temperature</a:t>
            </a:r>
            <a:endParaRPr>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
                <a:solidFill>
                  <a:schemeClr val="dk1"/>
                </a:solidFill>
                <a:latin typeface="Lato"/>
                <a:ea typeface="Lato"/>
                <a:cs typeface="Lato"/>
                <a:sym typeface="Lato"/>
              </a:rPr>
              <a:t>Take out SpotON flow cell from 4</a:t>
            </a:r>
            <a:r>
              <a:rPr lang="en" sz="1400" baseline="30000">
                <a:solidFill>
                  <a:schemeClr val="dk1"/>
                </a:solidFill>
                <a:latin typeface="Lato"/>
                <a:ea typeface="Lato"/>
                <a:cs typeface="Lato"/>
                <a:sym typeface="Lato"/>
              </a:rPr>
              <a:t>o</a:t>
            </a:r>
            <a:r>
              <a:rPr lang="en">
                <a:solidFill>
                  <a:schemeClr val="dk1"/>
                </a:solidFill>
                <a:latin typeface="Lato"/>
                <a:ea typeface="Lato"/>
                <a:cs typeface="Lato"/>
                <a:sym typeface="Lato"/>
              </a:rPr>
              <a:t>C</a:t>
            </a:r>
            <a:endParaRPr>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
                <a:solidFill>
                  <a:schemeClr val="dk1"/>
                </a:solidFill>
                <a:latin typeface="Lato"/>
                <a:ea typeface="Lato"/>
                <a:cs typeface="Lato"/>
                <a:sym typeface="Lato"/>
              </a:rPr>
              <a:t>If it’s your first time loading, watch </a:t>
            </a:r>
            <a:r>
              <a:rPr lang="en" u="sng">
                <a:solidFill>
                  <a:schemeClr val="hlink"/>
                </a:solidFill>
                <a:latin typeface="Lato"/>
                <a:ea typeface="Lato"/>
                <a:cs typeface="Lato"/>
                <a:sym typeface="Lato"/>
                <a:hlinkClick r:id="rId3"/>
              </a:rPr>
              <a:t>this video</a:t>
            </a:r>
            <a:r>
              <a:rPr lang="en">
                <a:solidFill>
                  <a:schemeClr val="dk1"/>
                </a:solidFill>
                <a:latin typeface="Lato"/>
                <a:ea typeface="Lato"/>
                <a:cs typeface="Lato"/>
                <a:sym typeface="Lato"/>
              </a:rPr>
              <a:t> to see how it is done</a:t>
            </a:r>
            <a:endParaRPr>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
                <a:solidFill>
                  <a:schemeClr val="dk1"/>
                </a:solidFill>
                <a:latin typeface="Lato"/>
                <a:ea typeface="Lato"/>
                <a:cs typeface="Lato"/>
                <a:sym typeface="Lato"/>
              </a:rPr>
              <a:t>Ensure that the MinION is connected to the computer and the software (MinKNOW) is up to date</a:t>
            </a:r>
            <a:endParaRPr>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
                <a:solidFill>
                  <a:schemeClr val="dk1"/>
                </a:solidFill>
                <a:latin typeface="Lato"/>
                <a:ea typeface="Lato"/>
                <a:cs typeface="Lato"/>
                <a:sym typeface="Lato"/>
              </a:rPr>
              <a:t>Insert the flow-cell in the instrument</a:t>
            </a:r>
            <a:endParaRPr>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
                <a:solidFill>
                  <a:schemeClr val="dk1"/>
                </a:solidFill>
                <a:latin typeface="Lato"/>
                <a:ea typeface="Lato"/>
                <a:cs typeface="Lato"/>
                <a:sym typeface="Lato"/>
              </a:rPr>
              <a:t>Perform a flow cell check and ensure that at least 800 pores are available* (ideally 1200-1800)</a:t>
            </a:r>
            <a:endParaRPr>
              <a:solidFill>
                <a:schemeClr val="dk1"/>
              </a:solidFill>
              <a:latin typeface="Lato"/>
              <a:ea typeface="Lato"/>
              <a:cs typeface="Lato"/>
              <a:sym typeface="Lato"/>
            </a:endParaRPr>
          </a:p>
        </p:txBody>
      </p:sp>
      <p:sp>
        <p:nvSpPr>
          <p:cNvPr id="71" name="Google Shape;71;g36f2eb81a5a_0_0"/>
          <p:cNvSpPr txBox="1"/>
          <p:nvPr/>
        </p:nvSpPr>
        <p:spPr>
          <a:xfrm>
            <a:off x="6577975" y="2944500"/>
            <a:ext cx="1099500" cy="35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Flow cell</a:t>
            </a:r>
            <a:endParaRPr/>
          </a:p>
        </p:txBody>
      </p:sp>
      <p:sp>
        <p:nvSpPr>
          <p:cNvPr id="72" name="Google Shape;72;g36f2eb81a5a_0_0"/>
          <p:cNvSpPr txBox="1"/>
          <p:nvPr/>
        </p:nvSpPr>
        <p:spPr>
          <a:xfrm>
            <a:off x="4946975" y="586600"/>
            <a:ext cx="1050300" cy="49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g36f2eb81a5a_0_0"/>
          <p:cNvSpPr txBox="1"/>
          <p:nvPr/>
        </p:nvSpPr>
        <p:spPr>
          <a:xfrm>
            <a:off x="6175575" y="804700"/>
            <a:ext cx="1744500" cy="35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MinION instrument</a:t>
            </a:r>
            <a:endParaRPr/>
          </a:p>
        </p:txBody>
      </p:sp>
      <p:pic>
        <p:nvPicPr>
          <p:cNvPr id="74" name="Google Shape;74;g36f2eb81a5a_0_0"/>
          <p:cNvPicPr preferRelativeResize="0"/>
          <p:nvPr/>
        </p:nvPicPr>
        <p:blipFill>
          <a:blip r:embed="rId4">
            <a:alphaModFix/>
          </a:blip>
          <a:stretch>
            <a:fillRect/>
          </a:stretch>
        </p:blipFill>
        <p:spPr>
          <a:xfrm>
            <a:off x="5642850" y="1163807"/>
            <a:ext cx="3116050" cy="1358600"/>
          </a:xfrm>
          <a:prstGeom prst="rect">
            <a:avLst/>
          </a:prstGeom>
          <a:noFill/>
          <a:ln>
            <a:noFill/>
          </a:ln>
        </p:spPr>
      </p:pic>
      <p:pic>
        <p:nvPicPr>
          <p:cNvPr id="75" name="Google Shape;75;g36f2eb81a5a_0_0"/>
          <p:cNvPicPr preferRelativeResize="0"/>
          <p:nvPr/>
        </p:nvPicPr>
        <p:blipFill>
          <a:blip r:embed="rId5">
            <a:alphaModFix/>
          </a:blip>
          <a:stretch>
            <a:fillRect/>
          </a:stretch>
        </p:blipFill>
        <p:spPr>
          <a:xfrm>
            <a:off x="5379475" y="3046544"/>
            <a:ext cx="3642801" cy="1521250"/>
          </a:xfrm>
          <a:prstGeom prst="rect">
            <a:avLst/>
          </a:prstGeom>
          <a:noFill/>
          <a:ln>
            <a:noFill/>
          </a:ln>
        </p:spPr>
      </p:pic>
      <p:sp>
        <p:nvSpPr>
          <p:cNvPr id="76" name="Google Shape;76;g36f2eb81a5a_0_0"/>
          <p:cNvSpPr txBox="1"/>
          <p:nvPr/>
        </p:nvSpPr>
        <p:spPr>
          <a:xfrm>
            <a:off x="4458075" y="4567800"/>
            <a:ext cx="4564200" cy="49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a:t>
            </a:r>
            <a:r>
              <a:rPr lang="en" sz="1200">
                <a:solidFill>
                  <a:schemeClr val="dk2"/>
                </a:solidFill>
              </a:rPr>
              <a:t>ONT guarantees 800 active pores; you can sequence with fewer, but less data will be generated</a:t>
            </a:r>
            <a:endParaRPr sz="12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pic>
        <p:nvPicPr>
          <p:cNvPr id="81" name="Google Shape;81;g36f2eb81a5a_0_11"/>
          <p:cNvPicPr preferRelativeResize="0"/>
          <p:nvPr/>
        </p:nvPicPr>
        <p:blipFill>
          <a:blip r:embed="rId3">
            <a:alphaModFix/>
          </a:blip>
          <a:stretch>
            <a:fillRect/>
          </a:stretch>
        </p:blipFill>
        <p:spPr>
          <a:xfrm>
            <a:off x="1368275" y="657375"/>
            <a:ext cx="6512874" cy="4136549"/>
          </a:xfrm>
          <a:prstGeom prst="rect">
            <a:avLst/>
          </a:prstGeom>
          <a:noFill/>
          <a:ln>
            <a:noFill/>
          </a:ln>
        </p:spPr>
      </p:pic>
      <p:cxnSp>
        <p:nvCxnSpPr>
          <p:cNvPr id="82" name="Google Shape;82;g36f2eb81a5a_0_11"/>
          <p:cNvCxnSpPr/>
          <p:nvPr/>
        </p:nvCxnSpPr>
        <p:spPr>
          <a:xfrm>
            <a:off x="3615450" y="3275875"/>
            <a:ext cx="659100" cy="0"/>
          </a:xfrm>
          <a:prstGeom prst="straightConnector1">
            <a:avLst/>
          </a:prstGeom>
          <a:noFill/>
          <a:ln w="38100" cap="flat" cmpd="sng">
            <a:solidFill>
              <a:srgbClr val="CC0000"/>
            </a:solidFill>
            <a:prstDash val="solid"/>
            <a:round/>
            <a:headEnd type="none" w="med" len="med"/>
            <a:tailEnd type="stealth" w="med" len="med"/>
          </a:ln>
        </p:spPr>
      </p:cxnSp>
      <p:sp>
        <p:nvSpPr>
          <p:cNvPr id="83" name="Google Shape;83;g36f2eb81a5a_0_11"/>
          <p:cNvSpPr txBox="1">
            <a:spLocks noGrp="1"/>
          </p:cNvSpPr>
          <p:nvPr>
            <p:ph type="title"/>
          </p:nvPr>
        </p:nvSpPr>
        <p:spPr>
          <a:xfrm>
            <a:off x="171875" y="1354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620" b="1">
                <a:latin typeface="Lato"/>
                <a:ea typeface="Lato"/>
                <a:cs typeface="Lato"/>
                <a:sym typeface="Lato"/>
              </a:rPr>
              <a:t>Perform a Flow cell check to identify the number of available pores for sequencing</a:t>
            </a:r>
            <a:endParaRPr sz="1620" b="1">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g36f2eb81a5a_0_17"/>
          <p:cNvSpPr txBox="1">
            <a:spLocks noGrp="1"/>
          </p:cNvSpPr>
          <p:nvPr>
            <p:ph type="title"/>
          </p:nvPr>
        </p:nvSpPr>
        <p:spPr>
          <a:xfrm>
            <a:off x="171875" y="135400"/>
            <a:ext cx="8520600" cy="4588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endParaRPr sz="1620" b="1">
              <a:latin typeface="Lato"/>
              <a:ea typeface="Lato"/>
              <a:cs typeface="Lato"/>
              <a:sym typeface="Lato"/>
            </a:endParaRPr>
          </a:p>
          <a:p>
            <a:pPr marL="0" lvl="0" indent="0" algn="l" rtl="0">
              <a:spcBef>
                <a:spcPts val="0"/>
              </a:spcBef>
              <a:spcAft>
                <a:spcPts val="0"/>
              </a:spcAft>
              <a:buSzPts val="990"/>
              <a:buNone/>
            </a:pPr>
            <a:r>
              <a:rPr lang="en" sz="2120" b="1">
                <a:latin typeface="Lato"/>
                <a:ea typeface="Lato"/>
                <a:cs typeface="Lato"/>
                <a:sym typeface="Lato"/>
              </a:rPr>
              <a:t>Loading the flow cell</a:t>
            </a:r>
            <a:endParaRPr sz="2120" b="1">
              <a:latin typeface="Lato"/>
              <a:ea typeface="Lato"/>
              <a:cs typeface="Lato"/>
              <a:sym typeface="Lato"/>
            </a:endParaRPr>
          </a:p>
          <a:p>
            <a:pPr marL="0" lvl="0" indent="0" algn="l" rtl="0">
              <a:spcBef>
                <a:spcPts val="0"/>
              </a:spcBef>
              <a:spcAft>
                <a:spcPts val="0"/>
              </a:spcAft>
              <a:buSzPts val="990"/>
              <a:buNone/>
            </a:pPr>
            <a:endParaRPr sz="1620" b="1">
              <a:latin typeface="Lato"/>
              <a:ea typeface="Lato"/>
              <a:cs typeface="Lato"/>
              <a:sym typeface="Lato"/>
            </a:endParaRPr>
          </a:p>
          <a:p>
            <a:pPr marL="457200" lvl="0" indent="-331470" algn="l" rtl="0">
              <a:spcBef>
                <a:spcPts val="0"/>
              </a:spcBef>
              <a:spcAft>
                <a:spcPts val="0"/>
              </a:spcAft>
              <a:buSzPts val="1620"/>
              <a:buFont typeface="Lato"/>
              <a:buChar char="●"/>
            </a:pPr>
            <a:r>
              <a:rPr lang="en" sz="1620">
                <a:latin typeface="Lato"/>
                <a:ea typeface="Lato"/>
                <a:cs typeface="Lato"/>
                <a:sym typeface="Lato"/>
              </a:rPr>
              <a:t>Follow the ONT protocol for “Priming and loading the MinION and GridION Flow Cell” </a:t>
            </a:r>
            <a:endParaRPr sz="1620">
              <a:latin typeface="Lato"/>
              <a:ea typeface="Lato"/>
              <a:cs typeface="Lato"/>
              <a:sym typeface="Lato"/>
            </a:endParaRPr>
          </a:p>
          <a:p>
            <a:pPr marL="457200" lvl="0" indent="0" algn="l" rtl="0">
              <a:spcBef>
                <a:spcPts val="0"/>
              </a:spcBef>
              <a:spcAft>
                <a:spcPts val="0"/>
              </a:spcAft>
              <a:buNone/>
            </a:pPr>
            <a:r>
              <a:rPr lang="en" sz="1620">
                <a:latin typeface="Lato"/>
                <a:ea typeface="Lato"/>
                <a:cs typeface="Lato"/>
                <a:sym typeface="Lato"/>
              </a:rPr>
              <a:t>(link </a:t>
            </a:r>
            <a:r>
              <a:rPr lang="en" sz="1620" u="sng">
                <a:solidFill>
                  <a:schemeClr val="hlink"/>
                </a:solidFill>
                <a:latin typeface="Lato"/>
                <a:ea typeface="Lato"/>
                <a:cs typeface="Lato"/>
                <a:sym typeface="Lato"/>
                <a:hlinkClick r:id="rId3"/>
              </a:rPr>
              <a:t>here</a:t>
            </a:r>
            <a:r>
              <a:rPr lang="en" sz="1620">
                <a:latin typeface="Lato"/>
                <a:ea typeface="Lato"/>
                <a:cs typeface="Lato"/>
                <a:sym typeface="Lato"/>
              </a:rPr>
              <a:t>)</a:t>
            </a:r>
            <a:endParaRPr sz="1620">
              <a:latin typeface="Lato"/>
              <a:ea typeface="Lato"/>
              <a:cs typeface="Lato"/>
              <a:sym typeface="Lato"/>
            </a:endParaRPr>
          </a:p>
          <a:p>
            <a:pPr marL="0" lvl="0" indent="0" algn="l" rtl="0">
              <a:spcBef>
                <a:spcPts val="0"/>
              </a:spcBef>
              <a:spcAft>
                <a:spcPts val="0"/>
              </a:spcAft>
              <a:buNone/>
            </a:pPr>
            <a:endParaRPr sz="1620">
              <a:latin typeface="Lato"/>
              <a:ea typeface="Lato"/>
              <a:cs typeface="Lato"/>
              <a:sym typeface="Lato"/>
            </a:endParaRPr>
          </a:p>
          <a:p>
            <a:pPr marL="457200" lvl="0" indent="-331470" algn="l" rtl="0">
              <a:spcBef>
                <a:spcPts val="0"/>
              </a:spcBef>
              <a:spcAft>
                <a:spcPts val="0"/>
              </a:spcAft>
              <a:buSzPts val="1620"/>
              <a:buFont typeface="Lato"/>
              <a:buChar char="●"/>
            </a:pPr>
            <a:r>
              <a:rPr lang="en" sz="1620">
                <a:latin typeface="Lato"/>
                <a:ea typeface="Lato"/>
                <a:cs typeface="Lato"/>
                <a:sym typeface="Lato"/>
              </a:rPr>
              <a:t>If it is your first time loading, watch the “Priming and loading your flow cell” video (link </a:t>
            </a:r>
            <a:r>
              <a:rPr lang="en" sz="1620" u="sng">
                <a:solidFill>
                  <a:schemeClr val="hlink"/>
                </a:solidFill>
                <a:latin typeface="Lato"/>
                <a:ea typeface="Lato"/>
                <a:cs typeface="Lato"/>
                <a:sym typeface="Lato"/>
                <a:hlinkClick r:id="rId4"/>
              </a:rPr>
              <a:t>here</a:t>
            </a:r>
            <a:r>
              <a:rPr lang="en" sz="1620">
                <a:latin typeface="Lato"/>
                <a:ea typeface="Lato"/>
                <a:cs typeface="Lato"/>
                <a:sym typeface="Lato"/>
              </a:rPr>
              <a:t>)</a:t>
            </a:r>
            <a:endParaRPr sz="1620">
              <a:latin typeface="Lato"/>
              <a:ea typeface="Lato"/>
              <a:cs typeface="Lato"/>
              <a:sym typeface="Lato"/>
            </a:endParaRPr>
          </a:p>
          <a:p>
            <a:pPr marL="0" lvl="0" indent="0" algn="l" rtl="0">
              <a:spcBef>
                <a:spcPts val="0"/>
              </a:spcBef>
              <a:spcAft>
                <a:spcPts val="0"/>
              </a:spcAft>
              <a:buSzPts val="990"/>
              <a:buNone/>
            </a:pPr>
            <a:endParaRPr sz="1620" b="1">
              <a:latin typeface="Lato"/>
              <a:ea typeface="Lato"/>
              <a:cs typeface="Lato"/>
              <a:sym typeface="Lato"/>
            </a:endParaRPr>
          </a:p>
          <a:p>
            <a:pPr marL="0" lvl="0" indent="0" algn="l" rtl="0">
              <a:spcBef>
                <a:spcPts val="0"/>
              </a:spcBef>
              <a:spcAft>
                <a:spcPts val="0"/>
              </a:spcAft>
              <a:buSzPts val="990"/>
              <a:buNone/>
            </a:pPr>
            <a:endParaRPr sz="1620" b="1">
              <a:latin typeface="Lato"/>
              <a:ea typeface="Lato"/>
              <a:cs typeface="Lato"/>
              <a:sym typeface="Lato"/>
            </a:endParaRPr>
          </a:p>
          <a:p>
            <a:pPr marL="0" lvl="0" indent="0" algn="l" rtl="0">
              <a:spcBef>
                <a:spcPts val="0"/>
              </a:spcBef>
              <a:spcAft>
                <a:spcPts val="0"/>
              </a:spcAft>
              <a:buSzPts val="990"/>
              <a:buNone/>
            </a:pPr>
            <a:r>
              <a:rPr lang="en" sz="1620" b="1">
                <a:latin typeface="Lato"/>
                <a:ea typeface="Lato"/>
                <a:cs typeface="Lato"/>
                <a:sym typeface="Lato"/>
              </a:rPr>
              <a:t>Notes:</a:t>
            </a:r>
            <a:endParaRPr sz="1620" b="1">
              <a:latin typeface="Lato"/>
              <a:ea typeface="Lato"/>
              <a:cs typeface="Lato"/>
              <a:sym typeface="Lato"/>
            </a:endParaRPr>
          </a:p>
          <a:p>
            <a:pPr marL="0" lvl="0" indent="0" algn="l" rtl="0">
              <a:spcBef>
                <a:spcPts val="0"/>
              </a:spcBef>
              <a:spcAft>
                <a:spcPts val="0"/>
              </a:spcAft>
              <a:buSzPts val="990"/>
              <a:buNone/>
            </a:pPr>
            <a:endParaRPr sz="1620" b="1">
              <a:latin typeface="Lato"/>
              <a:ea typeface="Lato"/>
              <a:cs typeface="Lato"/>
              <a:sym typeface="Lato"/>
            </a:endParaRPr>
          </a:p>
          <a:p>
            <a:pPr marL="457200" lvl="0" indent="-331470" algn="l" rtl="0">
              <a:spcBef>
                <a:spcPts val="0"/>
              </a:spcBef>
              <a:spcAft>
                <a:spcPts val="0"/>
              </a:spcAft>
              <a:buSzPts val="1620"/>
              <a:buFont typeface="Lato"/>
              <a:buChar char="●"/>
            </a:pPr>
            <a:r>
              <a:rPr lang="en" sz="1620">
                <a:latin typeface="Lato"/>
                <a:ea typeface="Lato"/>
                <a:cs typeface="Lato"/>
                <a:sym typeface="Lato"/>
              </a:rPr>
              <a:t>Generally, library beads (LIB) are used for loading, and library solution (LIS) is not used</a:t>
            </a:r>
            <a:endParaRPr sz="1620">
              <a:latin typeface="Lato"/>
              <a:ea typeface="Lato"/>
              <a:cs typeface="Lato"/>
              <a:sym typeface="Lato"/>
            </a:endParaRPr>
          </a:p>
          <a:p>
            <a:pPr marL="457200" lvl="0" indent="-331470" algn="l" rtl="0">
              <a:spcBef>
                <a:spcPts val="0"/>
              </a:spcBef>
              <a:spcAft>
                <a:spcPts val="0"/>
              </a:spcAft>
              <a:buSzPts val="1620"/>
              <a:buFont typeface="Lato"/>
              <a:buChar char="●"/>
            </a:pPr>
            <a:r>
              <a:rPr lang="en" sz="1620">
                <a:latin typeface="Lato"/>
                <a:ea typeface="Lato"/>
                <a:cs typeface="Lato"/>
                <a:sym typeface="Lato"/>
              </a:rPr>
              <a:t>Use Bovine Serum Albumin (BSA) if you have the exact catalog number listed in the protocol (otherwise skip)</a:t>
            </a:r>
            <a:endParaRPr sz="1620">
              <a:latin typeface="Lato"/>
              <a:ea typeface="Lato"/>
              <a:cs typeface="Lato"/>
              <a:sym typeface="Lato"/>
            </a:endParaRPr>
          </a:p>
          <a:p>
            <a:pPr marL="0" lvl="0" indent="0" algn="l" rtl="0">
              <a:spcBef>
                <a:spcPts val="0"/>
              </a:spcBef>
              <a:spcAft>
                <a:spcPts val="0"/>
              </a:spcAft>
              <a:buSzPts val="990"/>
              <a:buNone/>
            </a:pPr>
            <a:endParaRPr sz="1620" b="1">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93" name="Google Shape;93;g36f2eb81a5a_0_21"/>
          <p:cNvPicPr preferRelativeResize="0"/>
          <p:nvPr/>
        </p:nvPicPr>
        <p:blipFill>
          <a:blip r:embed="rId3">
            <a:alphaModFix/>
          </a:blip>
          <a:stretch>
            <a:fillRect/>
          </a:stretch>
        </p:blipFill>
        <p:spPr>
          <a:xfrm>
            <a:off x="1368275" y="657375"/>
            <a:ext cx="6512874" cy="4136549"/>
          </a:xfrm>
          <a:prstGeom prst="rect">
            <a:avLst/>
          </a:prstGeom>
          <a:noFill/>
          <a:ln>
            <a:noFill/>
          </a:ln>
        </p:spPr>
      </p:pic>
      <p:cxnSp>
        <p:nvCxnSpPr>
          <p:cNvPr id="94" name="Google Shape;94;g36f2eb81a5a_0_21"/>
          <p:cNvCxnSpPr/>
          <p:nvPr/>
        </p:nvCxnSpPr>
        <p:spPr>
          <a:xfrm>
            <a:off x="3625425" y="2466875"/>
            <a:ext cx="659100" cy="0"/>
          </a:xfrm>
          <a:prstGeom prst="straightConnector1">
            <a:avLst/>
          </a:prstGeom>
          <a:noFill/>
          <a:ln w="38100" cap="flat" cmpd="sng">
            <a:solidFill>
              <a:srgbClr val="F1C232"/>
            </a:solidFill>
            <a:prstDash val="solid"/>
            <a:round/>
            <a:headEnd type="none" w="med" len="med"/>
            <a:tailEnd type="stealth" w="med" len="med"/>
          </a:ln>
        </p:spPr>
      </p:cxnSp>
      <p:sp>
        <p:nvSpPr>
          <p:cNvPr id="95" name="Google Shape;95;g36f2eb81a5a_0_21"/>
          <p:cNvSpPr txBox="1">
            <a:spLocks noGrp="1"/>
          </p:cNvSpPr>
          <p:nvPr>
            <p:ph type="title"/>
          </p:nvPr>
        </p:nvSpPr>
        <p:spPr>
          <a:xfrm>
            <a:off x="171875" y="1354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620" b="1">
                <a:latin typeface="Lato"/>
                <a:ea typeface="Lato"/>
                <a:cs typeface="Lato"/>
                <a:sym typeface="Lato"/>
              </a:rPr>
              <a:t>Starting a sequencing run</a:t>
            </a:r>
            <a:endParaRPr sz="1620" b="1">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g36f2eb81a5a_0_27"/>
          <p:cNvSpPr txBox="1">
            <a:spLocks noGrp="1"/>
          </p:cNvSpPr>
          <p:nvPr>
            <p:ph type="title"/>
          </p:nvPr>
        </p:nvSpPr>
        <p:spPr>
          <a:xfrm>
            <a:off x="171875" y="1354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620" b="1">
                <a:latin typeface="Lato"/>
                <a:ea typeface="Lato"/>
                <a:cs typeface="Lato"/>
                <a:sym typeface="Lato"/>
              </a:rPr>
              <a:t>Starting a sequencing run</a:t>
            </a:r>
            <a:endParaRPr sz="1620" b="1">
              <a:latin typeface="Lato"/>
              <a:ea typeface="Lato"/>
              <a:cs typeface="Lato"/>
              <a:sym typeface="Lato"/>
            </a:endParaRPr>
          </a:p>
        </p:txBody>
      </p:sp>
      <p:pic>
        <p:nvPicPr>
          <p:cNvPr id="101" name="Google Shape;101;g36f2eb81a5a_0_27"/>
          <p:cNvPicPr preferRelativeResize="0"/>
          <p:nvPr/>
        </p:nvPicPr>
        <p:blipFill>
          <a:blip r:embed="rId3">
            <a:alphaModFix/>
          </a:blip>
          <a:stretch>
            <a:fillRect/>
          </a:stretch>
        </p:blipFill>
        <p:spPr>
          <a:xfrm>
            <a:off x="272454" y="339090"/>
            <a:ext cx="8599091" cy="51434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g36f2eb81a5a_0_32"/>
          <p:cNvPicPr preferRelativeResize="0"/>
          <p:nvPr/>
        </p:nvPicPr>
        <p:blipFill>
          <a:blip r:embed="rId3">
            <a:alphaModFix/>
          </a:blip>
          <a:stretch>
            <a:fillRect/>
          </a:stretch>
        </p:blipFill>
        <p:spPr>
          <a:xfrm>
            <a:off x="272454" y="381000"/>
            <a:ext cx="8599091" cy="5143499"/>
          </a:xfrm>
          <a:prstGeom prst="rect">
            <a:avLst/>
          </a:prstGeom>
          <a:noFill/>
          <a:ln>
            <a:noFill/>
          </a:ln>
        </p:spPr>
      </p:pic>
      <p:sp>
        <p:nvSpPr>
          <p:cNvPr id="107" name="Google Shape;107;g36f2eb81a5a_0_32"/>
          <p:cNvSpPr txBox="1">
            <a:spLocks noGrp="1"/>
          </p:cNvSpPr>
          <p:nvPr>
            <p:ph type="title"/>
          </p:nvPr>
        </p:nvSpPr>
        <p:spPr>
          <a:xfrm>
            <a:off x="171875" y="1354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620" b="1">
                <a:latin typeface="Lato"/>
                <a:ea typeface="Lato"/>
                <a:cs typeface="Lato"/>
                <a:sym typeface="Lato"/>
              </a:rPr>
              <a:t>Select library prep kit used: SQK-RPB114-24 Rapid PCR Barcoding Kit</a:t>
            </a:r>
            <a:endParaRPr sz="1620" b="1">
              <a:latin typeface="Lato"/>
              <a:ea typeface="Lato"/>
              <a:cs typeface="Lato"/>
              <a:sym typeface="Lato"/>
            </a:endParaRPr>
          </a:p>
        </p:txBody>
      </p:sp>
      <p:sp>
        <p:nvSpPr>
          <p:cNvPr id="108" name="Google Shape;108;g36f2eb81a5a_0_32"/>
          <p:cNvSpPr txBox="1"/>
          <p:nvPr/>
        </p:nvSpPr>
        <p:spPr>
          <a:xfrm>
            <a:off x="3018875" y="4221325"/>
            <a:ext cx="32133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F1C232"/>
                </a:solidFill>
              </a:rPr>
              <a:t>Select appropriate kit used for library prep</a:t>
            </a:r>
            <a:endParaRPr sz="800">
              <a:solidFill>
                <a:srgbClr val="F1C23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pic>
        <p:nvPicPr>
          <p:cNvPr id="113" name="Google Shape;113;g36f2eb81a5a_0_38"/>
          <p:cNvPicPr preferRelativeResize="0"/>
          <p:nvPr/>
        </p:nvPicPr>
        <p:blipFill>
          <a:blip r:embed="rId3">
            <a:alphaModFix/>
          </a:blip>
          <a:stretch>
            <a:fillRect/>
          </a:stretch>
        </p:blipFill>
        <p:spPr>
          <a:xfrm>
            <a:off x="272454" y="355283"/>
            <a:ext cx="8599091" cy="5143499"/>
          </a:xfrm>
          <a:prstGeom prst="rect">
            <a:avLst/>
          </a:prstGeom>
          <a:noFill/>
          <a:ln>
            <a:noFill/>
          </a:ln>
        </p:spPr>
      </p:pic>
      <p:sp>
        <p:nvSpPr>
          <p:cNvPr id="114" name="Google Shape;114;g36f2eb81a5a_0_38"/>
          <p:cNvSpPr txBox="1">
            <a:spLocks noGrp="1"/>
          </p:cNvSpPr>
          <p:nvPr>
            <p:ph type="title" idx="4294967295"/>
          </p:nvPr>
        </p:nvSpPr>
        <p:spPr>
          <a:xfrm>
            <a:off x="171875" y="1354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620" b="1">
                <a:latin typeface="Lato"/>
                <a:ea typeface="Lato"/>
                <a:cs typeface="Lato"/>
                <a:sym typeface="Lato"/>
              </a:rPr>
              <a:t>Select a basecaller</a:t>
            </a:r>
            <a:endParaRPr sz="1620" b="1">
              <a:latin typeface="Lato"/>
              <a:ea typeface="Lato"/>
              <a:cs typeface="Lato"/>
              <a:sym typeface="Lato"/>
            </a:endParaRPr>
          </a:p>
        </p:txBody>
      </p:sp>
      <p:cxnSp>
        <p:nvCxnSpPr>
          <p:cNvPr id="115" name="Google Shape;115;g36f2eb81a5a_0_38"/>
          <p:cNvCxnSpPr/>
          <p:nvPr/>
        </p:nvCxnSpPr>
        <p:spPr>
          <a:xfrm flipH="1">
            <a:off x="5843450" y="3384825"/>
            <a:ext cx="629400" cy="9900"/>
          </a:xfrm>
          <a:prstGeom prst="straightConnector1">
            <a:avLst/>
          </a:prstGeom>
          <a:noFill/>
          <a:ln w="38100" cap="flat" cmpd="sng">
            <a:solidFill>
              <a:srgbClr val="F1C232"/>
            </a:solidFill>
            <a:prstDash val="solid"/>
            <a:round/>
            <a:headEnd type="none" w="med" len="med"/>
            <a:tailEnd type="stealth" w="med" len="med"/>
          </a:ln>
        </p:spPr>
      </p:cxnSp>
      <p:sp>
        <p:nvSpPr>
          <p:cNvPr id="116" name="Google Shape;116;g36f2eb81a5a_0_38"/>
          <p:cNvSpPr txBox="1"/>
          <p:nvPr/>
        </p:nvSpPr>
        <p:spPr>
          <a:xfrm>
            <a:off x="6435752" y="3124813"/>
            <a:ext cx="16578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F1C232"/>
                </a:solidFill>
              </a:rPr>
              <a:t>Select appropriate basecaller</a:t>
            </a:r>
            <a:endParaRPr sz="1200">
              <a:solidFill>
                <a:srgbClr val="F1C23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pic>
        <p:nvPicPr>
          <p:cNvPr id="121" name="Google Shape;121;g36f2eb81a5a_0_45"/>
          <p:cNvPicPr preferRelativeResize="0"/>
          <p:nvPr/>
        </p:nvPicPr>
        <p:blipFill>
          <a:blip r:embed="rId3">
            <a:alphaModFix/>
          </a:blip>
          <a:stretch>
            <a:fillRect/>
          </a:stretch>
        </p:blipFill>
        <p:spPr>
          <a:xfrm>
            <a:off x="272454" y="355283"/>
            <a:ext cx="8599091" cy="5143499"/>
          </a:xfrm>
          <a:prstGeom prst="rect">
            <a:avLst/>
          </a:prstGeom>
          <a:noFill/>
          <a:ln>
            <a:noFill/>
          </a:ln>
        </p:spPr>
      </p:pic>
      <p:sp>
        <p:nvSpPr>
          <p:cNvPr id="122" name="Google Shape;122;g36f2eb81a5a_0_45"/>
          <p:cNvSpPr txBox="1">
            <a:spLocks noGrp="1"/>
          </p:cNvSpPr>
          <p:nvPr>
            <p:ph type="title" idx="4294967295"/>
          </p:nvPr>
        </p:nvSpPr>
        <p:spPr>
          <a:xfrm>
            <a:off x="171875" y="1354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620" b="1">
                <a:latin typeface="Lato"/>
                <a:ea typeface="Lato"/>
                <a:cs typeface="Lato"/>
                <a:sym typeface="Lato"/>
              </a:rPr>
              <a:t>Select a basecaller</a:t>
            </a:r>
            <a:endParaRPr sz="1620" b="1">
              <a:latin typeface="Lato"/>
              <a:ea typeface="Lato"/>
              <a:cs typeface="Lato"/>
              <a:sym typeface="Lato"/>
            </a:endParaRPr>
          </a:p>
        </p:txBody>
      </p:sp>
      <p:cxnSp>
        <p:nvCxnSpPr>
          <p:cNvPr id="123" name="Google Shape;123;g36f2eb81a5a_0_45"/>
          <p:cNvCxnSpPr/>
          <p:nvPr/>
        </p:nvCxnSpPr>
        <p:spPr>
          <a:xfrm flipH="1">
            <a:off x="5843450" y="3384825"/>
            <a:ext cx="629400" cy="9900"/>
          </a:xfrm>
          <a:prstGeom prst="straightConnector1">
            <a:avLst/>
          </a:prstGeom>
          <a:noFill/>
          <a:ln w="38100" cap="flat" cmpd="sng">
            <a:solidFill>
              <a:srgbClr val="F1C232"/>
            </a:solidFill>
            <a:prstDash val="solid"/>
            <a:round/>
            <a:headEnd type="none" w="med" len="med"/>
            <a:tailEnd type="stealth" w="med" len="med"/>
          </a:ln>
        </p:spPr>
      </p:cxnSp>
      <p:sp>
        <p:nvSpPr>
          <p:cNvPr id="124" name="Google Shape;124;g36f2eb81a5a_0_45"/>
          <p:cNvSpPr txBox="1"/>
          <p:nvPr/>
        </p:nvSpPr>
        <p:spPr>
          <a:xfrm>
            <a:off x="6435752" y="3124813"/>
            <a:ext cx="16578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F1C232"/>
                </a:solidFill>
              </a:rPr>
              <a:t>Select appropriate basecaller</a:t>
            </a:r>
            <a:endParaRPr sz="1200">
              <a:solidFill>
                <a:srgbClr val="F1C232"/>
              </a:solidFill>
            </a:endParaRPr>
          </a:p>
        </p:txBody>
      </p:sp>
      <p:sp>
        <p:nvSpPr>
          <p:cNvPr id="125" name="Google Shape;125;g36f2eb81a5a_0_45"/>
          <p:cNvSpPr txBox="1"/>
          <p:nvPr/>
        </p:nvSpPr>
        <p:spPr>
          <a:xfrm>
            <a:off x="578000" y="2843325"/>
            <a:ext cx="2662500" cy="1477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F1C232"/>
                </a:solidFill>
              </a:rPr>
              <a:t>High-accuracy or super-accurate basecalling is recommended</a:t>
            </a:r>
            <a:endParaRPr sz="1200">
              <a:solidFill>
                <a:srgbClr val="F1C232"/>
              </a:solidFill>
            </a:endParaRPr>
          </a:p>
          <a:p>
            <a:pPr marL="0" lvl="0" indent="0" algn="l" rtl="0">
              <a:spcBef>
                <a:spcPts val="0"/>
              </a:spcBef>
              <a:spcAft>
                <a:spcPts val="0"/>
              </a:spcAft>
              <a:buNone/>
            </a:pPr>
            <a:endParaRPr sz="1200">
              <a:solidFill>
                <a:srgbClr val="F1C232"/>
              </a:solidFill>
            </a:endParaRPr>
          </a:p>
          <a:p>
            <a:pPr marL="0" lvl="0" indent="0" algn="l" rtl="0">
              <a:spcBef>
                <a:spcPts val="0"/>
              </a:spcBef>
              <a:spcAft>
                <a:spcPts val="0"/>
              </a:spcAft>
              <a:buNone/>
            </a:pPr>
            <a:r>
              <a:rPr lang="en" sz="1200">
                <a:solidFill>
                  <a:srgbClr val="F1C232"/>
                </a:solidFill>
              </a:rPr>
              <a:t>(the choice is a balance between accuracy and available computational power)</a:t>
            </a:r>
            <a:endParaRPr sz="1200">
              <a:solidFill>
                <a:srgbClr val="F1C232"/>
              </a:solidFill>
            </a:endParaRPr>
          </a:p>
          <a:p>
            <a:pPr marL="0" lvl="0" indent="0" algn="l" rtl="0">
              <a:spcBef>
                <a:spcPts val="0"/>
              </a:spcBef>
              <a:spcAft>
                <a:spcPts val="0"/>
              </a:spcAft>
              <a:buNone/>
            </a:pPr>
            <a:endParaRPr sz="1200">
              <a:solidFill>
                <a:srgbClr val="F1C23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g36f2eb81a5a_0_53"/>
          <p:cNvSpPr txBox="1">
            <a:spLocks noGrp="1"/>
          </p:cNvSpPr>
          <p:nvPr>
            <p:ph type="body" idx="1"/>
          </p:nvPr>
        </p:nvSpPr>
        <p:spPr>
          <a:xfrm>
            <a:off x="311700" y="1152475"/>
            <a:ext cx="41202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chemeClr val="dk1"/>
                </a:solidFill>
                <a:latin typeface="Lato"/>
                <a:ea typeface="Lato"/>
                <a:cs typeface="Lato"/>
                <a:sym typeface="Lato"/>
              </a:rPr>
              <a:t>What do they do?</a:t>
            </a:r>
            <a:endParaRPr>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
                <a:solidFill>
                  <a:schemeClr val="dk1"/>
                </a:solidFill>
                <a:latin typeface="Lato"/>
                <a:ea typeface="Lato"/>
                <a:cs typeface="Lato"/>
                <a:sym typeface="Lato"/>
              </a:rPr>
              <a:t>Input raw ONT data (POD5)</a:t>
            </a:r>
            <a:endParaRPr>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
                <a:solidFill>
                  <a:schemeClr val="dk1"/>
                </a:solidFill>
                <a:latin typeface="Lato"/>
                <a:ea typeface="Lato"/>
                <a:cs typeface="Lato"/>
                <a:sym typeface="Lato"/>
              </a:rPr>
              <a:t>Output basecalled data (FASTQ)</a:t>
            </a:r>
            <a:endParaRPr>
              <a:solidFill>
                <a:schemeClr val="dk1"/>
              </a:solidFill>
              <a:latin typeface="Lato"/>
              <a:ea typeface="Lato"/>
              <a:cs typeface="Lato"/>
              <a:sym typeface="Lato"/>
            </a:endParaRPr>
          </a:p>
          <a:p>
            <a:pPr marL="0" lvl="0" indent="0" algn="l" rtl="0">
              <a:spcBef>
                <a:spcPts val="0"/>
              </a:spcBef>
              <a:spcAft>
                <a:spcPts val="0"/>
              </a:spcAft>
              <a:buNone/>
            </a:pPr>
            <a:endParaRPr>
              <a:solidFill>
                <a:schemeClr val="dk1"/>
              </a:solidFill>
              <a:latin typeface="Lato"/>
              <a:ea typeface="Lato"/>
              <a:cs typeface="Lato"/>
              <a:sym typeface="Lato"/>
            </a:endParaRPr>
          </a:p>
          <a:p>
            <a:pPr marL="0" lvl="0" indent="0" algn="l" rtl="0">
              <a:spcBef>
                <a:spcPts val="0"/>
              </a:spcBef>
              <a:spcAft>
                <a:spcPts val="0"/>
              </a:spcAft>
              <a:buNone/>
            </a:pPr>
            <a:r>
              <a:rPr lang="en">
                <a:solidFill>
                  <a:schemeClr val="dk1"/>
                </a:solidFill>
                <a:latin typeface="Lato"/>
                <a:ea typeface="Lato"/>
                <a:cs typeface="Lato"/>
                <a:sym typeface="Lato"/>
              </a:rPr>
              <a:t>Basecaller options</a:t>
            </a:r>
            <a:endParaRPr>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
                <a:solidFill>
                  <a:schemeClr val="dk1"/>
                </a:solidFill>
                <a:latin typeface="Lato"/>
                <a:ea typeface="Lato"/>
                <a:cs typeface="Lato"/>
                <a:sym typeface="Lato"/>
              </a:rPr>
              <a:t>Fast</a:t>
            </a:r>
            <a:endParaRPr>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
                <a:solidFill>
                  <a:schemeClr val="dk1"/>
                </a:solidFill>
                <a:latin typeface="Lato"/>
                <a:ea typeface="Lato"/>
                <a:cs typeface="Lato"/>
                <a:sym typeface="Lato"/>
              </a:rPr>
              <a:t>High Accuracy (HAC)</a:t>
            </a:r>
            <a:endParaRPr>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
                <a:solidFill>
                  <a:schemeClr val="dk1"/>
                </a:solidFill>
                <a:latin typeface="Lato"/>
                <a:ea typeface="Lato"/>
                <a:cs typeface="Lato"/>
                <a:sym typeface="Lato"/>
              </a:rPr>
              <a:t>Super Accuracy (SUP)</a:t>
            </a:r>
            <a:endParaRPr>
              <a:solidFill>
                <a:schemeClr val="dk1"/>
              </a:solidFill>
              <a:latin typeface="Lato"/>
              <a:ea typeface="Lato"/>
              <a:cs typeface="Lato"/>
              <a:sym typeface="Lato"/>
            </a:endParaRPr>
          </a:p>
        </p:txBody>
      </p:sp>
      <p:sp>
        <p:nvSpPr>
          <p:cNvPr id="131" name="Google Shape;131;g36f2eb81a5a_0_53"/>
          <p:cNvSpPr txBox="1">
            <a:spLocks noGrp="1"/>
          </p:cNvSpPr>
          <p:nvPr>
            <p:ph type="title"/>
          </p:nvPr>
        </p:nvSpPr>
        <p:spPr>
          <a:xfrm>
            <a:off x="171875" y="1354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620" b="1">
                <a:latin typeface="Lato"/>
                <a:ea typeface="Lato"/>
                <a:cs typeface="Lato"/>
                <a:sym typeface="Lato"/>
              </a:rPr>
              <a:t>Intro to basecallers</a:t>
            </a:r>
            <a:endParaRPr sz="2620" b="1">
              <a:latin typeface="Lato"/>
              <a:ea typeface="Lato"/>
              <a:cs typeface="Lato"/>
              <a:sym typeface="Lato"/>
            </a:endParaRPr>
          </a:p>
        </p:txBody>
      </p:sp>
      <p:pic>
        <p:nvPicPr>
          <p:cNvPr id="132" name="Google Shape;132;g36f2eb81a5a_0_53"/>
          <p:cNvPicPr preferRelativeResize="0"/>
          <p:nvPr/>
        </p:nvPicPr>
        <p:blipFill>
          <a:blip r:embed="rId3">
            <a:alphaModFix/>
          </a:blip>
          <a:stretch>
            <a:fillRect/>
          </a:stretch>
        </p:blipFill>
        <p:spPr>
          <a:xfrm>
            <a:off x="4651801" y="1867024"/>
            <a:ext cx="4077650" cy="1682425"/>
          </a:xfrm>
          <a:prstGeom prst="rect">
            <a:avLst/>
          </a:prstGeom>
          <a:noFill/>
          <a:ln>
            <a:noFill/>
          </a:ln>
        </p:spPr>
      </p:pic>
      <p:sp>
        <p:nvSpPr>
          <p:cNvPr id="133" name="Google Shape;133;g36f2eb81a5a_0_53"/>
          <p:cNvSpPr txBox="1">
            <a:spLocks noGrp="1"/>
          </p:cNvSpPr>
          <p:nvPr>
            <p:ph type="body" idx="1"/>
          </p:nvPr>
        </p:nvSpPr>
        <p:spPr>
          <a:xfrm>
            <a:off x="4572000" y="1152463"/>
            <a:ext cx="4120200" cy="1731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chemeClr val="dk1"/>
                </a:solidFill>
                <a:latin typeface="Lato"/>
                <a:ea typeface="Lato"/>
                <a:cs typeface="Lato"/>
                <a:sym typeface="Lato"/>
              </a:rPr>
              <a:t>ONT Basecaller programs</a:t>
            </a:r>
            <a:endParaRPr>
              <a:solidFill>
                <a:schemeClr val="dk1"/>
              </a:solidFill>
              <a:latin typeface="Lato"/>
              <a:ea typeface="Lato"/>
              <a:cs typeface="Lato"/>
              <a:sym typeface="Lato"/>
            </a:endParaRPr>
          </a:p>
          <a:p>
            <a:pPr marL="0" lvl="0" indent="457200" algn="l" rtl="0">
              <a:spcBef>
                <a:spcPts val="0"/>
              </a:spcBef>
              <a:spcAft>
                <a:spcPts val="0"/>
              </a:spcAft>
              <a:buNone/>
            </a:pPr>
            <a:r>
              <a:rPr lang="en" sz="1600" i="1">
                <a:solidFill>
                  <a:schemeClr val="dk1"/>
                </a:solidFill>
                <a:latin typeface="Lato"/>
                <a:ea typeface="Lato"/>
                <a:cs typeface="Lato"/>
                <a:sym typeface="Lato"/>
              </a:rPr>
              <a:t>ONT periodically releases new basecallers</a:t>
            </a:r>
            <a:endParaRPr sz="1600" i="1">
              <a:solidFill>
                <a:schemeClr val="dk1"/>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g36f2eb81a5a_0_60"/>
          <p:cNvSpPr txBox="1">
            <a:spLocks noGrp="1"/>
          </p:cNvSpPr>
          <p:nvPr>
            <p:ph type="body" idx="1"/>
          </p:nvPr>
        </p:nvSpPr>
        <p:spPr>
          <a:xfrm>
            <a:off x="5564675" y="1152475"/>
            <a:ext cx="3267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Higher accuracy basecallers will require more computation and time</a:t>
            </a:r>
            <a:endParaRPr/>
          </a:p>
          <a:p>
            <a:pPr marL="0" lvl="0" indent="0" algn="l" rtl="0">
              <a:spcBef>
                <a:spcPts val="0"/>
              </a:spcBef>
              <a:spcAft>
                <a:spcPts val="0"/>
              </a:spcAft>
              <a:buNone/>
            </a:pPr>
            <a:endParaRPr/>
          </a:p>
          <a:p>
            <a:pPr marL="0" lvl="0" indent="0" algn="l" rtl="0">
              <a:spcBef>
                <a:spcPts val="0"/>
              </a:spcBef>
              <a:spcAft>
                <a:spcPts val="0"/>
              </a:spcAft>
              <a:buNone/>
            </a:pPr>
            <a:r>
              <a:rPr lang="en"/>
              <a:t>Fast basecallers can keep up with sequencing runs</a:t>
            </a:r>
            <a:endParaRPr/>
          </a:p>
        </p:txBody>
      </p:sp>
      <p:pic>
        <p:nvPicPr>
          <p:cNvPr id="139" name="Google Shape;139;g36f2eb81a5a_0_60"/>
          <p:cNvPicPr preferRelativeResize="0"/>
          <p:nvPr/>
        </p:nvPicPr>
        <p:blipFill>
          <a:blip r:embed="rId3">
            <a:alphaModFix/>
          </a:blip>
          <a:stretch>
            <a:fillRect/>
          </a:stretch>
        </p:blipFill>
        <p:spPr>
          <a:xfrm>
            <a:off x="311708" y="955325"/>
            <a:ext cx="5252966" cy="3991023"/>
          </a:xfrm>
          <a:prstGeom prst="rect">
            <a:avLst/>
          </a:prstGeom>
          <a:noFill/>
          <a:ln>
            <a:noFill/>
          </a:ln>
        </p:spPr>
      </p:pic>
      <p:sp>
        <p:nvSpPr>
          <p:cNvPr id="140" name="Google Shape;140;g36f2eb81a5a_0_60"/>
          <p:cNvSpPr txBox="1">
            <a:spLocks noGrp="1"/>
          </p:cNvSpPr>
          <p:nvPr>
            <p:ph type="title"/>
          </p:nvPr>
        </p:nvSpPr>
        <p:spPr>
          <a:xfrm>
            <a:off x="171875" y="1354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020" b="1">
                <a:latin typeface="Lato"/>
                <a:ea typeface="Lato"/>
                <a:cs typeface="Lato"/>
                <a:sym typeface="Lato"/>
              </a:rPr>
              <a:t>Basecallers differ in accuracy, computational power required, and time</a:t>
            </a:r>
            <a:endParaRPr sz="2020" b="1">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g36f2eb81a5a_0_66"/>
          <p:cNvSpPr txBox="1">
            <a:spLocks noGrp="1"/>
          </p:cNvSpPr>
          <p:nvPr>
            <p:ph type="title"/>
          </p:nvPr>
        </p:nvSpPr>
        <p:spPr>
          <a:xfrm>
            <a:off x="171875" y="1354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220" b="1">
                <a:latin typeface="Lato"/>
                <a:ea typeface="Lato"/>
                <a:cs typeface="Lato"/>
                <a:sym typeface="Lato"/>
              </a:rPr>
              <a:t>Comparison of Dorado basecalling models - accuracy</a:t>
            </a:r>
            <a:endParaRPr sz="2220" b="1">
              <a:latin typeface="Lato"/>
              <a:ea typeface="Lato"/>
              <a:cs typeface="Lato"/>
              <a:sym typeface="Lato"/>
            </a:endParaRPr>
          </a:p>
        </p:txBody>
      </p:sp>
      <p:sp>
        <p:nvSpPr>
          <p:cNvPr id="146" name="Google Shape;146;g36f2eb81a5a_0_66"/>
          <p:cNvSpPr txBox="1"/>
          <p:nvPr/>
        </p:nvSpPr>
        <p:spPr>
          <a:xfrm>
            <a:off x="5044650" y="2272525"/>
            <a:ext cx="3677700" cy="78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4A4A4A"/>
                </a:solidFill>
                <a:highlight>
                  <a:srgbClr val="FFFFFF"/>
                </a:highlight>
              </a:rPr>
              <a:t>A Phred quality score (Q score) is a measure of confidence of the basecall based on the estimated error rate.</a:t>
            </a:r>
            <a:endParaRPr sz="1500"/>
          </a:p>
        </p:txBody>
      </p:sp>
      <p:pic>
        <p:nvPicPr>
          <p:cNvPr id="147" name="Google Shape;147;g36f2eb81a5a_0_66"/>
          <p:cNvPicPr preferRelativeResize="0"/>
          <p:nvPr/>
        </p:nvPicPr>
        <p:blipFill rotWithShape="1">
          <a:blip r:embed="rId3">
            <a:alphaModFix/>
          </a:blip>
          <a:srcRect b="27688"/>
          <a:stretch/>
        </p:blipFill>
        <p:spPr>
          <a:xfrm>
            <a:off x="5044700" y="3224075"/>
            <a:ext cx="3677600" cy="1412762"/>
          </a:xfrm>
          <a:prstGeom prst="rect">
            <a:avLst/>
          </a:prstGeom>
          <a:noFill/>
          <a:ln>
            <a:noFill/>
          </a:ln>
        </p:spPr>
      </p:pic>
      <p:pic>
        <p:nvPicPr>
          <p:cNvPr id="148" name="Google Shape;148;g36f2eb81a5a_0_66"/>
          <p:cNvPicPr preferRelativeResize="0"/>
          <p:nvPr/>
        </p:nvPicPr>
        <p:blipFill rotWithShape="1">
          <a:blip r:embed="rId4">
            <a:alphaModFix/>
          </a:blip>
          <a:srcRect l="55614" t="31043" r="4166"/>
          <a:stretch/>
        </p:blipFill>
        <p:spPr>
          <a:xfrm>
            <a:off x="634700" y="1547950"/>
            <a:ext cx="3677601" cy="2651500"/>
          </a:xfrm>
          <a:prstGeom prst="rect">
            <a:avLst/>
          </a:prstGeom>
          <a:noFill/>
          <a:ln>
            <a:noFill/>
          </a:ln>
        </p:spPr>
      </p:pic>
      <p:sp>
        <p:nvSpPr>
          <p:cNvPr id="149" name="Google Shape;149;g36f2eb81a5a_0_66"/>
          <p:cNvSpPr txBox="1"/>
          <p:nvPr/>
        </p:nvSpPr>
        <p:spPr>
          <a:xfrm>
            <a:off x="5044650" y="1597388"/>
            <a:ext cx="36777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4A4A4A"/>
                </a:solidFill>
                <a:highlight>
                  <a:srgbClr val="FFFFFF"/>
                </a:highlight>
              </a:rPr>
              <a:t>Basecalling accuracy is measured in Phred quality score (Q score)</a:t>
            </a:r>
            <a:endParaRPr sz="15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g36f2eb81a5a_0_74"/>
          <p:cNvSpPr txBox="1">
            <a:spLocks noGrp="1"/>
          </p:cNvSpPr>
          <p:nvPr>
            <p:ph type="body" idx="1"/>
          </p:nvPr>
        </p:nvSpPr>
        <p:spPr>
          <a:xfrm>
            <a:off x="311700" y="1088700"/>
            <a:ext cx="8520600" cy="348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dk1"/>
                </a:solidFill>
                <a:latin typeface="Lato"/>
                <a:ea typeface="Lato"/>
                <a:cs typeface="Lato"/>
                <a:sym typeface="Lato"/>
              </a:rPr>
              <a:t>Fast basecalling: </a:t>
            </a:r>
            <a:r>
              <a:rPr lang="en" sz="1500">
                <a:solidFill>
                  <a:schemeClr val="dk1"/>
                </a:solidFill>
                <a:latin typeface="Lato"/>
                <a:ea typeface="Lato"/>
                <a:cs typeface="Lato"/>
                <a:sym typeface="Lato"/>
              </a:rPr>
              <a:t>fastest, least computationally intense. Compatible with real-time basecalling on all nanopore devices with compute. Recommended for quick, real-time insights on sequencing data when compute resources are limited.</a:t>
            </a:r>
            <a:endParaRPr sz="1500">
              <a:solidFill>
                <a:schemeClr val="dk1"/>
              </a:solidFill>
              <a:latin typeface="Lato"/>
              <a:ea typeface="Lato"/>
              <a:cs typeface="Lato"/>
              <a:sym typeface="Lato"/>
            </a:endParaRPr>
          </a:p>
          <a:p>
            <a:pPr marL="0" lvl="0" indent="0" algn="l" rtl="0">
              <a:spcBef>
                <a:spcPts val="0"/>
              </a:spcBef>
              <a:spcAft>
                <a:spcPts val="0"/>
              </a:spcAft>
              <a:buNone/>
            </a:pPr>
            <a:endParaRPr sz="1500">
              <a:solidFill>
                <a:schemeClr val="dk1"/>
              </a:solidFill>
              <a:latin typeface="Lato"/>
              <a:ea typeface="Lato"/>
              <a:cs typeface="Lato"/>
              <a:sym typeface="Lato"/>
            </a:endParaRPr>
          </a:p>
          <a:p>
            <a:pPr marL="0" lvl="0" indent="0" algn="l" rtl="0">
              <a:spcBef>
                <a:spcPts val="0"/>
              </a:spcBef>
              <a:spcAft>
                <a:spcPts val="0"/>
              </a:spcAft>
              <a:buNone/>
            </a:pPr>
            <a:r>
              <a:rPr lang="en" sz="1500" b="1">
                <a:solidFill>
                  <a:schemeClr val="dk1"/>
                </a:solidFill>
                <a:latin typeface="Lato"/>
                <a:ea typeface="Lato"/>
                <a:cs typeface="Lato"/>
                <a:sym typeface="Lato"/>
              </a:rPr>
              <a:t>High accuracy basecalling (HAC):</a:t>
            </a:r>
            <a:r>
              <a:rPr lang="en" sz="1500">
                <a:solidFill>
                  <a:schemeClr val="dk1"/>
                </a:solidFill>
                <a:latin typeface="Lato"/>
                <a:ea typeface="Lato"/>
                <a:cs typeface="Lato"/>
                <a:sym typeface="Lato"/>
              </a:rPr>
              <a:t> highly accurate, intermediate speed and computational requirement. Recommended for high-throughput projects focusing on variant analysis.</a:t>
            </a:r>
            <a:endParaRPr sz="1500">
              <a:solidFill>
                <a:schemeClr val="dk1"/>
              </a:solidFill>
              <a:latin typeface="Lato"/>
              <a:ea typeface="Lato"/>
              <a:cs typeface="Lato"/>
              <a:sym typeface="Lato"/>
            </a:endParaRPr>
          </a:p>
          <a:p>
            <a:pPr marL="0" lvl="0" indent="0" algn="l" rtl="0">
              <a:spcBef>
                <a:spcPts val="0"/>
              </a:spcBef>
              <a:spcAft>
                <a:spcPts val="0"/>
              </a:spcAft>
              <a:buNone/>
            </a:pPr>
            <a:endParaRPr sz="1500">
              <a:solidFill>
                <a:schemeClr val="dk1"/>
              </a:solidFill>
              <a:latin typeface="Lato"/>
              <a:ea typeface="Lato"/>
              <a:cs typeface="Lato"/>
              <a:sym typeface="Lato"/>
            </a:endParaRPr>
          </a:p>
          <a:p>
            <a:pPr marL="0" lvl="0" indent="0" algn="l" rtl="0">
              <a:spcBef>
                <a:spcPts val="0"/>
              </a:spcBef>
              <a:spcAft>
                <a:spcPts val="0"/>
              </a:spcAft>
              <a:buNone/>
            </a:pPr>
            <a:r>
              <a:rPr lang="en" sz="1500" b="1">
                <a:solidFill>
                  <a:schemeClr val="dk1"/>
                </a:solidFill>
                <a:latin typeface="Lato"/>
                <a:ea typeface="Lato"/>
                <a:cs typeface="Lato"/>
                <a:sym typeface="Lato"/>
              </a:rPr>
              <a:t>Super accuracy basecalling (SUP): </a:t>
            </a:r>
            <a:r>
              <a:rPr lang="en" sz="1500">
                <a:solidFill>
                  <a:schemeClr val="dk1"/>
                </a:solidFill>
                <a:latin typeface="Lato"/>
                <a:ea typeface="Lato"/>
                <a:cs typeface="Lato"/>
                <a:sym typeface="Lato"/>
              </a:rPr>
              <a:t>the most accurate and computationally intense. Recommended for de novo assembly projects and low-frequency variant analysis (e.g. somatic variation and single-cell applications).</a:t>
            </a:r>
            <a:endParaRPr sz="1500">
              <a:solidFill>
                <a:schemeClr val="dk1"/>
              </a:solidFill>
              <a:latin typeface="Lato"/>
              <a:ea typeface="Lato"/>
              <a:cs typeface="Lato"/>
              <a:sym typeface="Lato"/>
            </a:endParaRPr>
          </a:p>
        </p:txBody>
      </p:sp>
      <p:sp>
        <p:nvSpPr>
          <p:cNvPr id="155" name="Google Shape;155;g36f2eb81a5a_0_74"/>
          <p:cNvSpPr txBox="1"/>
          <p:nvPr/>
        </p:nvSpPr>
        <p:spPr>
          <a:xfrm>
            <a:off x="4997750" y="4568875"/>
            <a:ext cx="3900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chemeClr val="hlink"/>
                </a:solidFill>
                <a:hlinkClick r:id="rId3"/>
              </a:rPr>
              <a:t>https://nanoporetech.com/platform/accuracy</a:t>
            </a:r>
            <a:endParaRPr/>
          </a:p>
        </p:txBody>
      </p:sp>
      <p:sp>
        <p:nvSpPr>
          <p:cNvPr id="156" name="Google Shape;156;g36f2eb81a5a_0_74"/>
          <p:cNvSpPr txBox="1">
            <a:spLocks noGrp="1"/>
          </p:cNvSpPr>
          <p:nvPr>
            <p:ph type="title"/>
          </p:nvPr>
        </p:nvSpPr>
        <p:spPr>
          <a:xfrm>
            <a:off x="171875" y="135400"/>
            <a:ext cx="8520600" cy="850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020" b="1">
                <a:latin typeface="Lato"/>
                <a:ea typeface="Lato"/>
                <a:cs typeface="Lato"/>
                <a:sym typeface="Lato"/>
              </a:rPr>
              <a:t>The choice of basecaller is dependent on the computational resources available, time, and accuracy required.</a:t>
            </a:r>
            <a:endParaRPr sz="2020" b="1">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g36f2eb81a5a_0_80"/>
          <p:cNvSpPr txBox="1">
            <a:spLocks noGrp="1"/>
          </p:cNvSpPr>
          <p:nvPr>
            <p:ph type="body" idx="1"/>
          </p:nvPr>
        </p:nvSpPr>
        <p:spPr>
          <a:xfrm>
            <a:off x="311700" y="1088700"/>
            <a:ext cx="8520600" cy="34803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b="1">
                <a:solidFill>
                  <a:schemeClr val="dk1"/>
                </a:solidFill>
                <a:latin typeface="Lato"/>
                <a:ea typeface="Lato"/>
                <a:cs typeface="Lato"/>
                <a:sym typeface="Lato"/>
              </a:rPr>
              <a:t>Real time during the run: </a:t>
            </a:r>
            <a:r>
              <a:rPr lang="en">
                <a:solidFill>
                  <a:schemeClr val="dk1"/>
                </a:solidFill>
                <a:latin typeface="Lato"/>
                <a:ea typeface="Lato"/>
                <a:cs typeface="Lato"/>
                <a:sym typeface="Lato"/>
              </a:rPr>
              <a:t>HAC if possible, but if computation is limited, choose fast</a:t>
            </a:r>
            <a:endParaRPr>
              <a:solidFill>
                <a:schemeClr val="dk1"/>
              </a:solidFill>
              <a:latin typeface="Lato"/>
              <a:ea typeface="Lato"/>
              <a:cs typeface="Lato"/>
              <a:sym typeface="Lato"/>
            </a:endParaRPr>
          </a:p>
          <a:p>
            <a:pPr marL="0" lvl="0" indent="0" algn="l" rtl="0">
              <a:lnSpc>
                <a:spcPct val="150000"/>
              </a:lnSpc>
              <a:spcBef>
                <a:spcPts val="0"/>
              </a:spcBef>
              <a:spcAft>
                <a:spcPts val="0"/>
              </a:spcAft>
              <a:buNone/>
            </a:pPr>
            <a:r>
              <a:rPr lang="en" b="1">
                <a:solidFill>
                  <a:schemeClr val="dk1"/>
                </a:solidFill>
                <a:latin typeface="Lato"/>
                <a:ea typeface="Lato"/>
                <a:cs typeface="Lato"/>
                <a:sym typeface="Lato"/>
              </a:rPr>
              <a:t>Preliminary data analysis: </a:t>
            </a:r>
            <a:r>
              <a:rPr lang="en">
                <a:solidFill>
                  <a:schemeClr val="dk1"/>
                </a:solidFill>
                <a:latin typeface="Lato"/>
                <a:ea typeface="Lato"/>
                <a:cs typeface="Lato"/>
                <a:sym typeface="Lato"/>
              </a:rPr>
              <a:t>fast is okay</a:t>
            </a:r>
            <a:endParaRPr>
              <a:solidFill>
                <a:schemeClr val="dk1"/>
              </a:solidFill>
              <a:latin typeface="Lato"/>
              <a:ea typeface="Lato"/>
              <a:cs typeface="Lato"/>
              <a:sym typeface="Lato"/>
            </a:endParaRPr>
          </a:p>
          <a:p>
            <a:pPr marL="0" lvl="0" indent="0" algn="l" rtl="0">
              <a:lnSpc>
                <a:spcPct val="150000"/>
              </a:lnSpc>
              <a:spcBef>
                <a:spcPts val="0"/>
              </a:spcBef>
              <a:spcAft>
                <a:spcPts val="0"/>
              </a:spcAft>
              <a:buNone/>
            </a:pPr>
            <a:r>
              <a:rPr lang="en" b="1">
                <a:solidFill>
                  <a:schemeClr val="dk1"/>
                </a:solidFill>
                <a:latin typeface="Lato"/>
                <a:ea typeface="Lato"/>
                <a:cs typeface="Lato"/>
                <a:sym typeface="Lato"/>
              </a:rPr>
              <a:t>Final data analysis: </a:t>
            </a:r>
            <a:r>
              <a:rPr lang="en">
                <a:solidFill>
                  <a:schemeClr val="dk1"/>
                </a:solidFill>
                <a:latin typeface="Lato"/>
                <a:ea typeface="Lato"/>
                <a:cs typeface="Lato"/>
                <a:sym typeface="Lato"/>
              </a:rPr>
              <a:t>HAC or SUP* is recommended</a:t>
            </a:r>
            <a:endParaRPr>
              <a:solidFill>
                <a:schemeClr val="dk1"/>
              </a:solidFill>
              <a:latin typeface="Lato"/>
              <a:ea typeface="Lato"/>
              <a:cs typeface="Lato"/>
              <a:sym typeface="Lato"/>
            </a:endParaRPr>
          </a:p>
          <a:p>
            <a:pPr marL="0" lvl="0" indent="457200" algn="l" rtl="0">
              <a:spcBef>
                <a:spcPts val="0"/>
              </a:spcBef>
              <a:spcAft>
                <a:spcPts val="0"/>
              </a:spcAft>
              <a:buNone/>
            </a:pPr>
            <a:r>
              <a:rPr lang="en">
                <a:solidFill>
                  <a:schemeClr val="dk1"/>
                </a:solidFill>
                <a:latin typeface="Lato"/>
                <a:ea typeface="Lato"/>
                <a:cs typeface="Lato"/>
                <a:sym typeface="Lato"/>
              </a:rPr>
              <a:t>*</a:t>
            </a:r>
            <a:r>
              <a:rPr lang="en" sz="1600" i="1">
                <a:solidFill>
                  <a:schemeClr val="dk1"/>
                </a:solidFill>
                <a:latin typeface="Lato"/>
                <a:ea typeface="Lato"/>
                <a:cs typeface="Lato"/>
                <a:sym typeface="Lato"/>
              </a:rPr>
              <a:t>SUP may be too computationally intensive</a:t>
            </a:r>
            <a:endParaRPr sz="1600" i="1">
              <a:solidFill>
                <a:schemeClr val="dk1"/>
              </a:solidFill>
              <a:latin typeface="Lato"/>
              <a:ea typeface="Lato"/>
              <a:cs typeface="Lato"/>
              <a:sym typeface="Lato"/>
            </a:endParaRPr>
          </a:p>
          <a:p>
            <a:pPr marL="0" lvl="0" indent="0" algn="l" rtl="0">
              <a:spcBef>
                <a:spcPts val="0"/>
              </a:spcBef>
              <a:spcAft>
                <a:spcPts val="0"/>
              </a:spcAft>
              <a:buNone/>
            </a:pPr>
            <a:endParaRPr b="1">
              <a:solidFill>
                <a:schemeClr val="dk1"/>
              </a:solidFill>
              <a:latin typeface="Lato"/>
              <a:ea typeface="Lato"/>
              <a:cs typeface="Lato"/>
              <a:sym typeface="Lato"/>
            </a:endParaRPr>
          </a:p>
        </p:txBody>
      </p:sp>
      <p:sp>
        <p:nvSpPr>
          <p:cNvPr id="162" name="Google Shape;162;g36f2eb81a5a_0_80"/>
          <p:cNvSpPr txBox="1">
            <a:spLocks noGrp="1"/>
          </p:cNvSpPr>
          <p:nvPr>
            <p:ph type="title"/>
          </p:nvPr>
        </p:nvSpPr>
        <p:spPr>
          <a:xfrm>
            <a:off x="171875" y="135400"/>
            <a:ext cx="8520600" cy="850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420" b="1">
                <a:latin typeface="Lato"/>
                <a:ea typeface="Lato"/>
                <a:cs typeface="Lato"/>
                <a:sym typeface="Lato"/>
              </a:rPr>
              <a:t>So which basecaller should I use?</a:t>
            </a:r>
            <a:endParaRPr sz="2420" b="1">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pic>
        <p:nvPicPr>
          <p:cNvPr id="167" name="Google Shape;167;g36f2eb81a5a_0_85"/>
          <p:cNvPicPr preferRelativeResize="0"/>
          <p:nvPr/>
        </p:nvPicPr>
        <p:blipFill>
          <a:blip r:embed="rId3">
            <a:alphaModFix/>
          </a:blip>
          <a:stretch>
            <a:fillRect/>
          </a:stretch>
        </p:blipFill>
        <p:spPr>
          <a:xfrm>
            <a:off x="272454" y="346710"/>
            <a:ext cx="8599091" cy="5143499"/>
          </a:xfrm>
          <a:prstGeom prst="rect">
            <a:avLst/>
          </a:prstGeom>
          <a:noFill/>
          <a:ln>
            <a:noFill/>
          </a:ln>
        </p:spPr>
      </p:pic>
      <p:sp>
        <p:nvSpPr>
          <p:cNvPr id="168" name="Google Shape;168;g36f2eb81a5a_0_85"/>
          <p:cNvSpPr txBox="1">
            <a:spLocks noGrp="1"/>
          </p:cNvSpPr>
          <p:nvPr>
            <p:ph type="title"/>
          </p:nvPr>
        </p:nvSpPr>
        <p:spPr>
          <a:xfrm>
            <a:off x="171875" y="1354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620" b="1">
                <a:latin typeface="Lato"/>
                <a:ea typeface="Lato"/>
                <a:cs typeface="Lato"/>
                <a:sym typeface="Lato"/>
              </a:rPr>
              <a:t>Trim barcodes: ON</a:t>
            </a:r>
            <a:endParaRPr sz="1620" b="1">
              <a:latin typeface="Lato"/>
              <a:ea typeface="Lato"/>
              <a:cs typeface="Lato"/>
              <a:sym typeface="Lato"/>
            </a:endParaRPr>
          </a:p>
        </p:txBody>
      </p:sp>
      <p:sp>
        <p:nvSpPr>
          <p:cNvPr id="169" name="Google Shape;169;g36f2eb81a5a_0_85"/>
          <p:cNvSpPr txBox="1"/>
          <p:nvPr/>
        </p:nvSpPr>
        <p:spPr>
          <a:xfrm>
            <a:off x="4797200" y="2361383"/>
            <a:ext cx="32133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F1C232"/>
                </a:solidFill>
              </a:rPr>
              <a:t>Trim barcodes: ON</a:t>
            </a:r>
            <a:endParaRPr sz="800">
              <a:solidFill>
                <a:srgbClr val="F1C232"/>
              </a:solidFill>
            </a:endParaRPr>
          </a:p>
        </p:txBody>
      </p:sp>
      <p:cxnSp>
        <p:nvCxnSpPr>
          <p:cNvPr id="170" name="Google Shape;170;g36f2eb81a5a_0_85"/>
          <p:cNvCxnSpPr/>
          <p:nvPr/>
        </p:nvCxnSpPr>
        <p:spPr>
          <a:xfrm flipH="1">
            <a:off x="4104900" y="2541075"/>
            <a:ext cx="629400" cy="9900"/>
          </a:xfrm>
          <a:prstGeom prst="straightConnector1">
            <a:avLst/>
          </a:prstGeom>
          <a:noFill/>
          <a:ln w="38100" cap="flat" cmpd="sng">
            <a:solidFill>
              <a:srgbClr val="F1C232"/>
            </a:solidFill>
            <a:prstDash val="solid"/>
            <a:round/>
            <a:headEnd type="none" w="med" len="med"/>
            <a:tailEnd type="stealth" w="med" len="med"/>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pic>
        <p:nvPicPr>
          <p:cNvPr id="175" name="Google Shape;175;g36f2eb81a5a_0_92"/>
          <p:cNvPicPr preferRelativeResize="0"/>
          <p:nvPr/>
        </p:nvPicPr>
        <p:blipFill>
          <a:blip r:embed="rId3">
            <a:alphaModFix/>
          </a:blip>
          <a:stretch>
            <a:fillRect/>
          </a:stretch>
        </p:blipFill>
        <p:spPr>
          <a:xfrm>
            <a:off x="272454" y="338138"/>
            <a:ext cx="8599091" cy="5143499"/>
          </a:xfrm>
          <a:prstGeom prst="rect">
            <a:avLst/>
          </a:prstGeom>
          <a:noFill/>
          <a:ln>
            <a:noFill/>
          </a:ln>
        </p:spPr>
      </p:pic>
      <p:sp>
        <p:nvSpPr>
          <p:cNvPr id="176" name="Google Shape;176;g36f2eb81a5a_0_92"/>
          <p:cNvSpPr txBox="1">
            <a:spLocks noGrp="1"/>
          </p:cNvSpPr>
          <p:nvPr>
            <p:ph type="title"/>
          </p:nvPr>
        </p:nvSpPr>
        <p:spPr>
          <a:xfrm>
            <a:off x="171875" y="1354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620" b="1">
                <a:latin typeface="Lato"/>
                <a:ea typeface="Lato"/>
                <a:cs typeface="Lato"/>
                <a:sym typeface="Lato"/>
              </a:rPr>
              <a:t>Set run duration</a:t>
            </a:r>
            <a:endParaRPr sz="1620" b="1">
              <a:latin typeface="Lato"/>
              <a:ea typeface="Lato"/>
              <a:cs typeface="Lato"/>
              <a:sym typeface="Lato"/>
            </a:endParaRPr>
          </a:p>
        </p:txBody>
      </p:sp>
      <p:cxnSp>
        <p:nvCxnSpPr>
          <p:cNvPr id="177" name="Google Shape;177;g36f2eb81a5a_0_92"/>
          <p:cNvCxnSpPr/>
          <p:nvPr/>
        </p:nvCxnSpPr>
        <p:spPr>
          <a:xfrm flipH="1">
            <a:off x="6624325" y="2490300"/>
            <a:ext cx="629400" cy="9900"/>
          </a:xfrm>
          <a:prstGeom prst="straightConnector1">
            <a:avLst/>
          </a:prstGeom>
          <a:noFill/>
          <a:ln w="38100" cap="flat" cmpd="sng">
            <a:solidFill>
              <a:srgbClr val="F1C232"/>
            </a:solidFill>
            <a:prstDash val="solid"/>
            <a:round/>
            <a:headEnd type="none" w="med" len="med"/>
            <a:tailEnd type="stealth" w="med" len="med"/>
          </a:ln>
        </p:spPr>
      </p:cxnSp>
      <p:sp>
        <p:nvSpPr>
          <p:cNvPr id="178" name="Google Shape;178;g36f2eb81a5a_0_92"/>
          <p:cNvSpPr txBox="1"/>
          <p:nvPr/>
        </p:nvSpPr>
        <p:spPr>
          <a:xfrm>
            <a:off x="7473000" y="2218200"/>
            <a:ext cx="11559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F1C232"/>
                </a:solidFill>
              </a:rPr>
              <a:t>Set run duration</a:t>
            </a:r>
            <a:endParaRPr sz="800">
              <a:solidFill>
                <a:srgbClr val="F1C232"/>
              </a:solidFill>
            </a:endParaRPr>
          </a:p>
        </p:txBody>
      </p:sp>
      <p:sp>
        <p:nvSpPr>
          <p:cNvPr id="179" name="Google Shape;179;g36f2eb81a5a_0_92"/>
          <p:cNvSpPr txBox="1"/>
          <p:nvPr/>
        </p:nvSpPr>
        <p:spPr>
          <a:xfrm>
            <a:off x="2307375" y="3499325"/>
            <a:ext cx="2561700" cy="861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F1C232"/>
                </a:solidFill>
              </a:rPr>
              <a:t>Maximum run time is 72 hrs</a:t>
            </a:r>
            <a:endParaRPr sz="1200">
              <a:solidFill>
                <a:srgbClr val="F1C232"/>
              </a:solidFill>
            </a:endParaRPr>
          </a:p>
          <a:p>
            <a:pPr marL="0" lvl="0" indent="0" algn="l" rtl="0">
              <a:spcBef>
                <a:spcPts val="0"/>
              </a:spcBef>
              <a:spcAft>
                <a:spcPts val="0"/>
              </a:spcAft>
              <a:buNone/>
            </a:pPr>
            <a:r>
              <a:rPr lang="en" sz="800">
                <a:solidFill>
                  <a:srgbClr val="F1C232"/>
                </a:solidFill>
              </a:rPr>
              <a:t>(data will be generated in near real-time regardless)</a:t>
            </a:r>
            <a:endParaRPr sz="800">
              <a:solidFill>
                <a:srgbClr val="F1C232"/>
              </a:solidFill>
            </a:endParaRPr>
          </a:p>
          <a:p>
            <a:pPr marL="0" lvl="0" indent="0" algn="l" rtl="0">
              <a:spcBef>
                <a:spcPts val="0"/>
              </a:spcBef>
              <a:spcAft>
                <a:spcPts val="0"/>
              </a:spcAft>
              <a:buNone/>
            </a:pPr>
            <a:endParaRPr sz="800">
              <a:solidFill>
                <a:srgbClr val="F1C232"/>
              </a:solidFill>
            </a:endParaRPr>
          </a:p>
          <a:p>
            <a:pPr marL="0" lvl="0" indent="0" algn="l" rtl="0">
              <a:spcBef>
                <a:spcPts val="0"/>
              </a:spcBef>
              <a:spcAft>
                <a:spcPts val="0"/>
              </a:spcAft>
              <a:buNone/>
            </a:pPr>
            <a:r>
              <a:rPr lang="en" sz="800">
                <a:solidFill>
                  <a:srgbClr val="F1C232"/>
                </a:solidFill>
              </a:rPr>
              <a:t>Pores get exhausted over time, so increasing run time may have diminishing returns</a:t>
            </a:r>
            <a:endParaRPr sz="800">
              <a:solidFill>
                <a:srgbClr val="F1C23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pic>
        <p:nvPicPr>
          <p:cNvPr id="184" name="Google Shape;184;g36f2eb81a5a_0_100"/>
          <p:cNvPicPr preferRelativeResize="0"/>
          <p:nvPr/>
        </p:nvPicPr>
        <p:blipFill>
          <a:blip r:embed="rId3">
            <a:alphaModFix/>
          </a:blip>
          <a:stretch>
            <a:fillRect/>
          </a:stretch>
        </p:blipFill>
        <p:spPr>
          <a:xfrm>
            <a:off x="272454" y="329565"/>
            <a:ext cx="8599091" cy="5143499"/>
          </a:xfrm>
          <a:prstGeom prst="rect">
            <a:avLst/>
          </a:prstGeom>
          <a:noFill/>
          <a:ln>
            <a:noFill/>
          </a:ln>
        </p:spPr>
      </p:pic>
      <p:sp>
        <p:nvSpPr>
          <p:cNvPr id="185" name="Google Shape;185;g36f2eb81a5a_0_100"/>
          <p:cNvSpPr txBox="1">
            <a:spLocks noGrp="1"/>
          </p:cNvSpPr>
          <p:nvPr>
            <p:ph type="title"/>
          </p:nvPr>
        </p:nvSpPr>
        <p:spPr>
          <a:xfrm>
            <a:off x="171875" y="1354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620" b="1">
                <a:latin typeface="Lato"/>
                <a:ea typeface="Lato"/>
                <a:cs typeface="Lato"/>
                <a:sym typeface="Lato"/>
              </a:rPr>
              <a:t>Save output files every 10 minutes</a:t>
            </a:r>
            <a:endParaRPr sz="1620" b="1">
              <a:latin typeface="Lato"/>
              <a:ea typeface="Lato"/>
              <a:cs typeface="Lato"/>
              <a:sym typeface="Lato"/>
            </a:endParaRPr>
          </a:p>
        </p:txBody>
      </p:sp>
      <p:cxnSp>
        <p:nvCxnSpPr>
          <p:cNvPr id="186" name="Google Shape;186;g36f2eb81a5a_0_100"/>
          <p:cNvCxnSpPr/>
          <p:nvPr/>
        </p:nvCxnSpPr>
        <p:spPr>
          <a:xfrm flipH="1">
            <a:off x="4262125" y="3557100"/>
            <a:ext cx="629400" cy="9900"/>
          </a:xfrm>
          <a:prstGeom prst="straightConnector1">
            <a:avLst/>
          </a:prstGeom>
          <a:noFill/>
          <a:ln w="38100" cap="flat" cmpd="sng">
            <a:solidFill>
              <a:srgbClr val="F1C232"/>
            </a:solidFill>
            <a:prstDash val="solid"/>
            <a:round/>
            <a:headEnd type="none" w="med" len="med"/>
            <a:tailEnd type="stealth" w="med" len="med"/>
          </a:ln>
        </p:spPr>
      </p:cxnSp>
      <p:sp>
        <p:nvSpPr>
          <p:cNvPr id="187" name="Google Shape;187;g36f2eb81a5a_0_100"/>
          <p:cNvSpPr txBox="1"/>
          <p:nvPr/>
        </p:nvSpPr>
        <p:spPr>
          <a:xfrm>
            <a:off x="4958400" y="3285000"/>
            <a:ext cx="11559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F1C232"/>
                </a:solidFill>
              </a:rPr>
              <a:t>In case of run disruption</a:t>
            </a:r>
            <a:endParaRPr sz="800">
              <a:solidFill>
                <a:srgbClr val="F1C23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2" name="Google Shape;192;g36f2eb81a5a_0_107"/>
          <p:cNvPicPr preferRelativeResize="0"/>
          <p:nvPr/>
        </p:nvPicPr>
        <p:blipFill>
          <a:blip r:embed="rId3">
            <a:alphaModFix/>
          </a:blip>
          <a:stretch>
            <a:fillRect/>
          </a:stretch>
        </p:blipFill>
        <p:spPr>
          <a:xfrm>
            <a:off x="272454" y="381000"/>
            <a:ext cx="8599091" cy="5143499"/>
          </a:xfrm>
          <a:prstGeom prst="rect">
            <a:avLst/>
          </a:prstGeom>
          <a:noFill/>
          <a:ln>
            <a:noFill/>
          </a:ln>
        </p:spPr>
      </p:pic>
      <p:sp>
        <p:nvSpPr>
          <p:cNvPr id="193" name="Google Shape;193;g36f2eb81a5a_0_107"/>
          <p:cNvSpPr txBox="1">
            <a:spLocks noGrp="1"/>
          </p:cNvSpPr>
          <p:nvPr>
            <p:ph type="title"/>
          </p:nvPr>
        </p:nvSpPr>
        <p:spPr>
          <a:xfrm>
            <a:off x="171875" y="1354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620" b="1">
                <a:latin typeface="Lato"/>
                <a:ea typeface="Lato"/>
                <a:cs typeface="Lato"/>
                <a:sym typeface="Lato"/>
              </a:rPr>
              <a:t>Choose output files to store</a:t>
            </a:r>
            <a:endParaRPr sz="1620" b="1">
              <a:latin typeface="Lato"/>
              <a:ea typeface="Lato"/>
              <a:cs typeface="Lato"/>
              <a:sym typeface="Lato"/>
            </a:endParaRPr>
          </a:p>
        </p:txBody>
      </p:sp>
      <p:cxnSp>
        <p:nvCxnSpPr>
          <p:cNvPr id="194" name="Google Shape;194;g36f2eb81a5a_0_107"/>
          <p:cNvCxnSpPr/>
          <p:nvPr/>
        </p:nvCxnSpPr>
        <p:spPr>
          <a:xfrm rot="10800000">
            <a:off x="3343650" y="3161650"/>
            <a:ext cx="599700" cy="5400"/>
          </a:xfrm>
          <a:prstGeom prst="straightConnector1">
            <a:avLst/>
          </a:prstGeom>
          <a:noFill/>
          <a:ln w="38100" cap="flat" cmpd="sng">
            <a:solidFill>
              <a:srgbClr val="F1C232"/>
            </a:solidFill>
            <a:prstDash val="solid"/>
            <a:round/>
            <a:headEnd type="none" w="med" len="med"/>
            <a:tailEnd type="stealth" w="med" len="med"/>
          </a:ln>
        </p:spPr>
      </p:cxnSp>
      <p:sp>
        <p:nvSpPr>
          <p:cNvPr id="195" name="Google Shape;195;g36f2eb81a5a_0_107"/>
          <p:cNvSpPr txBox="1"/>
          <p:nvPr/>
        </p:nvSpPr>
        <p:spPr>
          <a:xfrm>
            <a:off x="4190075" y="2952750"/>
            <a:ext cx="1657800" cy="101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F1C232"/>
                </a:solidFill>
              </a:rPr>
              <a:t>It is recommended to save raw .POD5 files</a:t>
            </a:r>
            <a:endParaRPr sz="1200">
              <a:solidFill>
                <a:srgbClr val="F1C232"/>
              </a:solidFill>
            </a:endParaRPr>
          </a:p>
          <a:p>
            <a:pPr marL="0" lvl="0" indent="0" algn="l" rtl="0">
              <a:spcBef>
                <a:spcPts val="0"/>
              </a:spcBef>
              <a:spcAft>
                <a:spcPts val="0"/>
              </a:spcAft>
              <a:buNone/>
            </a:pPr>
            <a:r>
              <a:rPr lang="en" sz="1000">
                <a:solidFill>
                  <a:srgbClr val="F1C232"/>
                </a:solidFill>
              </a:rPr>
              <a:t>(in case you want to repeat basecalling in the future)</a:t>
            </a:r>
            <a:endParaRPr sz="1000">
              <a:solidFill>
                <a:srgbClr val="F1C232"/>
              </a:solidFill>
            </a:endParaRPr>
          </a:p>
        </p:txBody>
      </p:sp>
      <p:sp>
        <p:nvSpPr>
          <p:cNvPr id="196" name="Google Shape;196;g36f2eb81a5a_0_107"/>
          <p:cNvSpPr txBox="1"/>
          <p:nvPr/>
        </p:nvSpPr>
        <p:spPr>
          <a:xfrm>
            <a:off x="5187775" y="4237250"/>
            <a:ext cx="2561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F1C232"/>
                </a:solidFill>
              </a:rPr>
              <a:t>Save and continue to start the run</a:t>
            </a:r>
            <a:endParaRPr sz="1200">
              <a:solidFill>
                <a:srgbClr val="F1C23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pic>
        <p:nvPicPr>
          <p:cNvPr id="201" name="Google Shape;201;g36f2eb81a5a_0_115"/>
          <p:cNvPicPr preferRelativeResize="0"/>
          <p:nvPr/>
        </p:nvPicPr>
        <p:blipFill rotWithShape="1">
          <a:blip r:embed="rId3">
            <a:alphaModFix/>
          </a:blip>
          <a:srcRect/>
          <a:stretch/>
        </p:blipFill>
        <p:spPr>
          <a:xfrm>
            <a:off x="824900" y="561300"/>
            <a:ext cx="7214551" cy="4582200"/>
          </a:xfrm>
          <a:prstGeom prst="rect">
            <a:avLst/>
          </a:prstGeom>
          <a:noFill/>
          <a:ln>
            <a:noFill/>
          </a:ln>
        </p:spPr>
      </p:pic>
      <p:sp>
        <p:nvSpPr>
          <p:cNvPr id="202" name="Google Shape;202;g36f2eb81a5a_0_115"/>
          <p:cNvSpPr txBox="1">
            <a:spLocks noGrp="1"/>
          </p:cNvSpPr>
          <p:nvPr>
            <p:ph type="title"/>
          </p:nvPr>
        </p:nvSpPr>
        <p:spPr>
          <a:xfrm>
            <a:off x="171875" y="1354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620" b="1">
                <a:latin typeface="Lato"/>
                <a:ea typeface="Lato"/>
                <a:cs typeface="Lato"/>
                <a:sym typeface="Lato"/>
              </a:rPr>
              <a:t>Start the run</a:t>
            </a:r>
            <a:endParaRPr sz="1620" b="1">
              <a:latin typeface="Lato"/>
              <a:ea typeface="Lato"/>
              <a:cs typeface="Lato"/>
              <a:sym typeface="Lato"/>
            </a:endParaRPr>
          </a:p>
        </p:txBody>
      </p:sp>
      <p:sp>
        <p:nvSpPr>
          <p:cNvPr id="203" name="Google Shape;203;g36f2eb81a5a_0_115"/>
          <p:cNvSpPr txBox="1"/>
          <p:nvPr/>
        </p:nvSpPr>
        <p:spPr>
          <a:xfrm>
            <a:off x="4104800" y="1677900"/>
            <a:ext cx="32760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F1C232"/>
                </a:solidFill>
              </a:rPr>
              <a:t>Flow cell warms up to 37˚C and another flow cell check is performed</a:t>
            </a:r>
            <a:endParaRPr>
              <a:solidFill>
                <a:srgbClr val="F1C232"/>
              </a:solidFill>
            </a:endParaRPr>
          </a:p>
          <a:p>
            <a:pPr marL="0" lvl="0" indent="0" algn="l" rtl="0">
              <a:spcBef>
                <a:spcPts val="0"/>
              </a:spcBef>
              <a:spcAft>
                <a:spcPts val="0"/>
              </a:spcAft>
              <a:buNone/>
            </a:pPr>
            <a:endParaRPr>
              <a:solidFill>
                <a:srgbClr val="F1C232"/>
              </a:solidFill>
            </a:endParaRPr>
          </a:p>
          <a:p>
            <a:pPr marL="0" lvl="0" indent="0" algn="l" rtl="0">
              <a:spcBef>
                <a:spcPts val="0"/>
              </a:spcBef>
              <a:spcAft>
                <a:spcPts val="0"/>
              </a:spcAft>
              <a:buNone/>
            </a:pPr>
            <a:r>
              <a:rPr lang="en">
                <a:solidFill>
                  <a:srgbClr val="F1C232"/>
                </a:solidFill>
              </a:rPr>
              <a:t>Then run will begin</a:t>
            </a:r>
            <a:endParaRPr>
              <a:solidFill>
                <a:srgbClr val="F1C23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pic>
        <p:nvPicPr>
          <p:cNvPr id="208" name="Google Shape;208;g36f2eb81a5a_0_121"/>
          <p:cNvPicPr preferRelativeResize="0"/>
          <p:nvPr/>
        </p:nvPicPr>
        <p:blipFill>
          <a:blip r:embed="rId3">
            <a:alphaModFix/>
          </a:blip>
          <a:stretch>
            <a:fillRect/>
          </a:stretch>
        </p:blipFill>
        <p:spPr>
          <a:xfrm>
            <a:off x="272454" y="338138"/>
            <a:ext cx="8599091" cy="5143499"/>
          </a:xfrm>
          <a:prstGeom prst="rect">
            <a:avLst/>
          </a:prstGeom>
          <a:noFill/>
          <a:ln>
            <a:noFill/>
          </a:ln>
        </p:spPr>
      </p:pic>
      <p:cxnSp>
        <p:nvCxnSpPr>
          <p:cNvPr id="209" name="Google Shape;209;g36f2eb81a5a_0_121"/>
          <p:cNvCxnSpPr/>
          <p:nvPr/>
        </p:nvCxnSpPr>
        <p:spPr>
          <a:xfrm flipH="1">
            <a:off x="4219925" y="3058838"/>
            <a:ext cx="419400" cy="9900"/>
          </a:xfrm>
          <a:prstGeom prst="straightConnector1">
            <a:avLst/>
          </a:prstGeom>
          <a:noFill/>
          <a:ln w="38100" cap="flat" cmpd="sng">
            <a:solidFill>
              <a:srgbClr val="F1C232"/>
            </a:solidFill>
            <a:prstDash val="solid"/>
            <a:round/>
            <a:headEnd type="none" w="med" len="med"/>
            <a:tailEnd type="stealth" w="med" len="med"/>
          </a:ln>
        </p:spPr>
      </p:cxnSp>
      <p:sp>
        <p:nvSpPr>
          <p:cNvPr id="210" name="Google Shape;210;g36f2eb81a5a_0_121"/>
          <p:cNvSpPr txBox="1"/>
          <p:nvPr/>
        </p:nvSpPr>
        <p:spPr>
          <a:xfrm>
            <a:off x="4679400" y="2786738"/>
            <a:ext cx="16578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F1C232"/>
                </a:solidFill>
              </a:rPr>
              <a:t>Click on flow cell image to monitor run </a:t>
            </a:r>
            <a:endParaRPr sz="1200">
              <a:solidFill>
                <a:srgbClr val="F1C232"/>
              </a:solidFill>
            </a:endParaRPr>
          </a:p>
        </p:txBody>
      </p:sp>
      <p:sp>
        <p:nvSpPr>
          <p:cNvPr id="211" name="Google Shape;211;g36f2eb81a5a_0_121"/>
          <p:cNvSpPr txBox="1">
            <a:spLocks noGrp="1"/>
          </p:cNvSpPr>
          <p:nvPr>
            <p:ph type="title"/>
          </p:nvPr>
        </p:nvSpPr>
        <p:spPr>
          <a:xfrm>
            <a:off x="171875" y="1354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620" b="1">
                <a:latin typeface="Lato"/>
                <a:ea typeface="Lato"/>
                <a:cs typeface="Lato"/>
                <a:sym typeface="Lato"/>
              </a:rPr>
              <a:t>Monitor the run</a:t>
            </a:r>
            <a:endParaRPr sz="1620" b="1">
              <a:latin typeface="Lato"/>
              <a:ea typeface="Lato"/>
              <a:cs typeface="Lato"/>
              <a:sym typeface="Lat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pic>
        <p:nvPicPr>
          <p:cNvPr id="216" name="Google Shape;216;g36f2eb81a5a_0_128"/>
          <p:cNvPicPr preferRelativeResize="0"/>
          <p:nvPr/>
        </p:nvPicPr>
        <p:blipFill rotWithShape="1">
          <a:blip r:embed="rId3">
            <a:alphaModFix/>
          </a:blip>
          <a:srcRect/>
          <a:stretch/>
        </p:blipFill>
        <p:spPr>
          <a:xfrm>
            <a:off x="1368275" y="657375"/>
            <a:ext cx="6512874" cy="4136549"/>
          </a:xfrm>
          <a:prstGeom prst="rect">
            <a:avLst/>
          </a:prstGeom>
          <a:noFill/>
          <a:ln>
            <a:noFill/>
          </a:ln>
        </p:spPr>
      </p:pic>
      <p:sp>
        <p:nvSpPr>
          <p:cNvPr id="217" name="Google Shape;217;g36f2eb81a5a_0_128"/>
          <p:cNvSpPr txBox="1">
            <a:spLocks noGrp="1"/>
          </p:cNvSpPr>
          <p:nvPr>
            <p:ph type="title"/>
          </p:nvPr>
        </p:nvSpPr>
        <p:spPr>
          <a:xfrm>
            <a:off x="171875" y="1354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620" b="1">
                <a:latin typeface="Lato"/>
                <a:ea typeface="Lato"/>
                <a:cs typeface="Lato"/>
                <a:sym typeface="Lato"/>
              </a:rPr>
              <a:t>Monitor the run</a:t>
            </a:r>
            <a:endParaRPr sz="1620" b="1">
              <a:latin typeface="Lato"/>
              <a:ea typeface="Lato"/>
              <a:cs typeface="Lato"/>
              <a:sym typeface="Lat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g36f2eb81a5a_0_1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620">
                <a:latin typeface="Lato"/>
                <a:ea typeface="Lato"/>
                <a:cs typeface="Lato"/>
                <a:sym typeface="Lato"/>
              </a:rPr>
              <a:t>After a run</a:t>
            </a:r>
            <a:endParaRPr sz="2620">
              <a:latin typeface="Lato"/>
              <a:ea typeface="Lato"/>
              <a:cs typeface="Lato"/>
              <a:sym typeface="Lato"/>
            </a:endParaRPr>
          </a:p>
        </p:txBody>
      </p:sp>
      <p:sp>
        <p:nvSpPr>
          <p:cNvPr id="223" name="Google Shape;223;g36f2eb81a5a_0_1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Font typeface="Lato"/>
              <a:buAutoNum type="arabicPeriod"/>
            </a:pPr>
            <a:r>
              <a:rPr lang="en">
                <a:solidFill>
                  <a:schemeClr val="dk1"/>
                </a:solidFill>
                <a:latin typeface="Lato"/>
                <a:ea typeface="Lato"/>
                <a:cs typeface="Lato"/>
                <a:sym typeface="Lato"/>
              </a:rPr>
              <a:t>Check the run report to see approximately how many pores are available</a:t>
            </a:r>
            <a:endParaRPr>
              <a:solidFill>
                <a:schemeClr val="dk1"/>
              </a:solidFill>
              <a:latin typeface="Lato"/>
              <a:ea typeface="Lato"/>
              <a:cs typeface="Lato"/>
              <a:sym typeface="Lato"/>
            </a:endParaRPr>
          </a:p>
          <a:p>
            <a:pPr marL="914400" lvl="0" indent="0" algn="l" rtl="0">
              <a:spcBef>
                <a:spcPts val="0"/>
              </a:spcBef>
              <a:spcAft>
                <a:spcPts val="0"/>
              </a:spcAft>
              <a:buNone/>
            </a:pPr>
            <a:endParaRPr>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AutoNum type="arabicPeriod"/>
            </a:pPr>
            <a:r>
              <a:rPr lang="en">
                <a:solidFill>
                  <a:schemeClr val="dk1"/>
                </a:solidFill>
                <a:latin typeface="Lato"/>
                <a:ea typeface="Lato"/>
                <a:cs typeface="Lato"/>
                <a:sym typeface="Lato"/>
              </a:rPr>
              <a:t>Wash the flow cell if it is worth saving</a:t>
            </a:r>
            <a:endParaRPr>
              <a:solidFill>
                <a:schemeClr val="dk1"/>
              </a:solidFill>
              <a:latin typeface="Lato"/>
              <a:ea typeface="Lato"/>
              <a:cs typeface="Lato"/>
              <a:sym typeface="Lato"/>
            </a:endParaRPr>
          </a:p>
          <a:p>
            <a:pPr marL="914400" lvl="0" indent="0" algn="l" rtl="0">
              <a:spcBef>
                <a:spcPts val="0"/>
              </a:spcBef>
              <a:spcAft>
                <a:spcPts val="0"/>
              </a:spcAft>
              <a:buNone/>
            </a:pPr>
            <a:endParaRPr>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AutoNum type="arabicPeriod"/>
            </a:pPr>
            <a:r>
              <a:rPr lang="en">
                <a:solidFill>
                  <a:schemeClr val="dk1"/>
                </a:solidFill>
                <a:latin typeface="Lato"/>
                <a:ea typeface="Lato"/>
                <a:cs typeface="Lato"/>
                <a:sym typeface="Lato"/>
              </a:rPr>
              <a:t>Run flow cell check to see how many pores are still available after wash</a:t>
            </a:r>
            <a:endParaRPr>
              <a:solidFill>
                <a:schemeClr val="dk1"/>
              </a:solidFill>
              <a:latin typeface="Lato"/>
              <a:ea typeface="Lato"/>
              <a:cs typeface="Lato"/>
              <a:sym typeface="Lato"/>
            </a:endParaRPr>
          </a:p>
          <a:p>
            <a:pPr marL="914400" lvl="0" indent="0" algn="l" rtl="0">
              <a:spcBef>
                <a:spcPts val="0"/>
              </a:spcBef>
              <a:spcAft>
                <a:spcPts val="0"/>
              </a:spcAft>
              <a:buNone/>
            </a:pPr>
            <a:endParaRPr>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AutoNum type="arabicPeriod"/>
            </a:pPr>
            <a:r>
              <a:rPr lang="en">
                <a:solidFill>
                  <a:schemeClr val="dk1"/>
                </a:solidFill>
                <a:latin typeface="Lato"/>
                <a:ea typeface="Lato"/>
                <a:cs typeface="Lato"/>
                <a:sym typeface="Lato"/>
              </a:rPr>
              <a:t>Start another run </a:t>
            </a:r>
            <a:r>
              <a:rPr lang="en" i="1">
                <a:solidFill>
                  <a:schemeClr val="dk1"/>
                </a:solidFill>
                <a:latin typeface="Lato"/>
                <a:ea typeface="Lato"/>
                <a:cs typeface="Lato"/>
                <a:sym typeface="Lato"/>
              </a:rPr>
              <a:t>or </a:t>
            </a:r>
            <a:r>
              <a:rPr lang="en">
                <a:solidFill>
                  <a:schemeClr val="dk1"/>
                </a:solidFill>
                <a:latin typeface="Lato"/>
                <a:ea typeface="Lato"/>
                <a:cs typeface="Lato"/>
                <a:sym typeface="Lato"/>
              </a:rPr>
              <a:t>add storage buffer and save at 4C</a:t>
            </a:r>
            <a:endParaRPr>
              <a:solidFill>
                <a:schemeClr val="dk1"/>
              </a:solidFill>
              <a:latin typeface="Lato"/>
              <a:ea typeface="Lato"/>
              <a:cs typeface="Lato"/>
              <a:sym typeface="Lat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g36f2eb81a5a_0_1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620">
                <a:latin typeface="Lato"/>
                <a:ea typeface="Lato"/>
                <a:cs typeface="Lato"/>
                <a:sym typeface="Lato"/>
              </a:rPr>
              <a:t>Computer considerations</a:t>
            </a:r>
            <a:endParaRPr sz="2620">
              <a:latin typeface="Lato"/>
              <a:ea typeface="Lato"/>
              <a:cs typeface="Lato"/>
              <a:sym typeface="Lato"/>
            </a:endParaRPr>
          </a:p>
        </p:txBody>
      </p:sp>
      <p:sp>
        <p:nvSpPr>
          <p:cNvPr id="229" name="Google Shape;229;g36f2eb81a5a_0_13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Font typeface="Lato"/>
              <a:buChar char="●"/>
            </a:pPr>
            <a:r>
              <a:rPr lang="en">
                <a:solidFill>
                  <a:schemeClr val="dk1"/>
                </a:solidFill>
                <a:latin typeface="Lato"/>
                <a:ea typeface="Lato"/>
                <a:cs typeface="Lato"/>
                <a:sym typeface="Lato"/>
              </a:rPr>
              <a:t>POD5 files are very large</a:t>
            </a:r>
            <a:endParaRPr>
              <a:solidFill>
                <a:schemeClr val="dk1"/>
              </a:solidFill>
              <a:latin typeface="Lato"/>
              <a:ea typeface="Lato"/>
              <a:cs typeface="Lato"/>
              <a:sym typeface="Lato"/>
            </a:endParaRPr>
          </a:p>
          <a:p>
            <a:pPr marL="914400" lvl="1" indent="-317500" algn="l" rtl="0">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Ensure there is a storage plan in place to maintain space on the computer</a:t>
            </a:r>
            <a:endParaRPr>
              <a:solidFill>
                <a:schemeClr val="dk1"/>
              </a:solidFill>
              <a:latin typeface="Lato"/>
              <a:ea typeface="Lato"/>
              <a:cs typeface="Lato"/>
              <a:sym typeface="Lato"/>
            </a:endParaRPr>
          </a:p>
          <a:p>
            <a:pPr marL="914400" lvl="1" indent="-317500" algn="l" rtl="0">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You may want to move or discard POD5 files at a regular cadence</a:t>
            </a:r>
            <a:endParaRPr sz="1100" b="1">
              <a:solidFill>
                <a:schemeClr val="dk1"/>
              </a:solidFill>
            </a:endParaRPr>
          </a:p>
          <a:p>
            <a:pPr marL="0" lvl="0" indent="0" algn="l" rtl="0">
              <a:spcBef>
                <a:spcPts val="0"/>
              </a:spcBef>
              <a:spcAft>
                <a:spcPts val="0"/>
              </a:spcAft>
              <a:buNone/>
            </a:pPr>
            <a:endParaRPr>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
                <a:solidFill>
                  <a:schemeClr val="dk1"/>
                </a:solidFill>
                <a:latin typeface="Lato"/>
                <a:ea typeface="Lato"/>
                <a:cs typeface="Lato"/>
                <a:sym typeface="Lato"/>
              </a:rPr>
              <a:t>Always have 300GB available before every run</a:t>
            </a:r>
            <a:endParaRPr>
              <a:solidFill>
                <a:schemeClr val="dk1"/>
              </a:solidFill>
              <a:latin typeface="Lato"/>
              <a:ea typeface="Lato"/>
              <a:cs typeface="Lato"/>
              <a:sym typeface="Lato"/>
            </a:endParaRPr>
          </a:p>
          <a:p>
            <a:pPr marL="914400" lvl="1" indent="-317500" algn="l" rtl="0">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A backup 5TB+ drive or a NAS (Network attached storage) are options to use for longer storage to keep your local storage clean</a:t>
            </a:r>
            <a:endParaRPr>
              <a:solidFill>
                <a:schemeClr val="dk1"/>
              </a:solidFill>
              <a:latin typeface="Lato"/>
              <a:ea typeface="Lato"/>
              <a:cs typeface="Lato"/>
              <a:sym typeface="Lato"/>
            </a:endParaRPr>
          </a:p>
          <a:p>
            <a:pPr marL="0" lvl="0" indent="0" algn="l" rtl="0">
              <a:spcBef>
                <a:spcPts val="0"/>
              </a:spcBef>
              <a:spcAft>
                <a:spcPts val="0"/>
              </a:spcAft>
              <a:buNone/>
            </a:pPr>
            <a:endParaRPr>
              <a:solidFill>
                <a:schemeClr val="dk1"/>
              </a:solidFill>
              <a:latin typeface="Lato"/>
              <a:ea typeface="Lato"/>
              <a:cs typeface="Lato"/>
              <a:sym typeface="Lat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16B4C3C-5016-15BD-4CF3-800EE46A6596}"/>
              </a:ext>
            </a:extLst>
          </p:cNvPr>
          <p:cNvSpPr txBox="1"/>
          <p:nvPr/>
        </p:nvSpPr>
        <p:spPr>
          <a:xfrm>
            <a:off x="133003" y="2445831"/>
            <a:ext cx="8628611" cy="461665"/>
          </a:xfrm>
          <a:prstGeom prst="rect">
            <a:avLst/>
          </a:prstGeom>
          <a:noFill/>
        </p:spPr>
        <p:txBody>
          <a:bodyPr wrap="square">
            <a:spAutoFit/>
          </a:bodyPr>
          <a:lstStyle/>
          <a:p>
            <a:r>
              <a:rPr lang="en-US" sz="2400" b="1" i="0" dirty="0">
                <a:solidFill>
                  <a:schemeClr val="bg1">
                    <a:lumMod val="50000"/>
                  </a:schemeClr>
                </a:solidFill>
                <a:effectLst/>
                <a:latin typeface="Arial"/>
              </a:rPr>
              <a:t>Next: 08-O_Sequencing Run QC for ONT  Slides</a:t>
            </a:r>
            <a:r>
              <a:rPr lang="en-US" sz="2400" b="1" dirty="0">
                <a:solidFill>
                  <a:schemeClr val="bg1">
                    <a:lumMod val="50000"/>
                  </a:schemeClr>
                </a:solidFill>
              </a:rPr>
              <a:t> &amp; Activity</a:t>
            </a:r>
          </a:p>
        </p:txBody>
      </p:sp>
    </p:spTree>
    <p:extLst>
      <p:ext uri="{BB962C8B-B14F-4D97-AF65-F5344CB8AC3E}">
        <p14:creationId xmlns:p14="http://schemas.microsoft.com/office/powerpoint/2010/main" val="733789778"/>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877</Words>
  <Application>Microsoft Macintosh PowerPoint</Application>
  <PresentationFormat>On-screen Show (16:9)</PresentationFormat>
  <Paragraphs>117</Paragraphs>
  <Slides>25</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Helvetica Neue</vt:lpstr>
      <vt:lpstr>Helvetica Neue Light</vt:lpstr>
      <vt:lpstr>Lato</vt:lpstr>
      <vt:lpstr>Simple Light</vt:lpstr>
      <vt:lpstr>PowerPoint Presentation</vt:lpstr>
      <vt:lpstr>How much concentration do I really need?</vt:lpstr>
      <vt:lpstr>Before Loading...</vt:lpstr>
      <vt:lpstr>Perform a Flow cell check to identify the number of available pores for sequencing</vt:lpstr>
      <vt:lpstr> Loading the flow cell  Follow the ONT protocol for “Priming and loading the MinION and GridION Flow Cell”  (link here)  If it is your first time loading, watch the “Priming and loading your flow cell” video (link here)   Notes:  Generally, library beads (LIB) are used for loading, and library solution (LIS) is not used Use Bovine Serum Albumin (BSA) if you have the exact catalog number listed in the protocol (otherwise skip) </vt:lpstr>
      <vt:lpstr>Starting a sequencing run</vt:lpstr>
      <vt:lpstr>Starting a sequencing run</vt:lpstr>
      <vt:lpstr>Select library prep kit used: SQK-RPB114-24 Rapid PCR Barcoding Kit</vt:lpstr>
      <vt:lpstr>Select a basecaller</vt:lpstr>
      <vt:lpstr>Select a basecaller</vt:lpstr>
      <vt:lpstr>Intro to basecallers</vt:lpstr>
      <vt:lpstr>Basecallers differ in accuracy, computational power required, and time</vt:lpstr>
      <vt:lpstr>Comparison of Dorado basecalling models - accuracy</vt:lpstr>
      <vt:lpstr>The choice of basecaller is dependent on the computational resources available, time, and accuracy required.</vt:lpstr>
      <vt:lpstr>So which basecaller should I use?</vt:lpstr>
      <vt:lpstr>Trim barcodes: ON</vt:lpstr>
      <vt:lpstr>Set run duration</vt:lpstr>
      <vt:lpstr>Save output files every 10 minutes</vt:lpstr>
      <vt:lpstr>Choose output files to store</vt:lpstr>
      <vt:lpstr>Start the run</vt:lpstr>
      <vt:lpstr>Monitor the run</vt:lpstr>
      <vt:lpstr>Monitor the run</vt:lpstr>
      <vt:lpstr>After a run</vt:lpstr>
      <vt:lpstr>Computer considerations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Juliana Gil</cp:lastModifiedBy>
  <cp:revision>4</cp:revision>
  <dcterms:modified xsi:type="dcterms:W3CDTF">2026-10-08T23:27:27Z</dcterms:modified>
</cp:coreProperties>
</file>