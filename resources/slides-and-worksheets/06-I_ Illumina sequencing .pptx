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63" r:id="rId11"/>
    <p:sldId id="264" r:id="rId12"/>
    <p:sldId id="265" r:id="rId13"/>
    <p:sldId id="266" r:id="rId14"/>
    <p:sldId id="267" r:id="rId15"/>
    <p:sldId id="268" r:id="rId16"/>
    <p:sldId id="312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155BD4-F74D-1F70-CCBC-237FB302F341}" name="Juliana Gil" initials="JG" userId="S::juliana.gil@czbiohub.org::5f6b24e8-ba98-4699-b143-05c9bc962fe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9072DC-5E30-4CAA-B43F-716575AE636B}">
  <a:tblStyle styleId="{539072DC-5E30-4CAA-B43F-716575AE63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52"/>
    <p:restoredTop sz="94658"/>
  </p:normalViewPr>
  <p:slideViewPr>
    <p:cSldViewPr snapToGrid="0">
      <p:cViewPr varScale="1">
        <p:scale>
          <a:sx n="149" d="100"/>
          <a:sy n="149" d="100"/>
        </p:scale>
        <p:origin x="176" y="2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50f337bdb_10_1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2750f337bdb_10_1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750f337bdb_10_1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2750f337bdb_10_1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750f337bdb_10_1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2750f337bdb_10_1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From: Illumina_sequencing_introduction.pdf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750f337bdb_10_1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2750f337bdb_10_1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50f337bdb_10_1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2750f337bdb_10_1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750f337bdb_10_1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750f337bdb_10_1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From: Illumina_sequencing_introduction.pdf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750f337bdb_10_1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g2750f337bdb_10_1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From: </a:t>
            </a:r>
            <a:r>
              <a:rPr lang="en" dirty="0" err="1">
                <a:solidFill>
                  <a:schemeClr val="dk1"/>
                </a:solidFill>
              </a:rPr>
              <a:t>Illumina_sequencing_introduction.pdf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2F2EC98B-46D4-86DD-C83F-8D985C26E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750f337bdb_10_1523:notes">
            <a:extLst>
              <a:ext uri="{FF2B5EF4-FFF2-40B4-BE49-F238E27FC236}">
                <a16:creationId xmlns:a16="http://schemas.microsoft.com/office/drawing/2014/main" id="{B4F6C0A3-F521-8A95-2755-B1B40ECF58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g2750f337bdb_10_1523:notes">
            <a:extLst>
              <a:ext uri="{FF2B5EF4-FFF2-40B4-BE49-F238E27FC236}">
                <a16:creationId xmlns:a16="http://schemas.microsoft.com/office/drawing/2014/main" id="{118E4CBA-A3BC-9A39-ED18-18002F33C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From: </a:t>
            </a:r>
            <a:r>
              <a:rPr lang="en" dirty="0" err="1">
                <a:solidFill>
                  <a:schemeClr val="dk1"/>
                </a:solidFill>
              </a:rPr>
              <a:t>Illumina_sequencing_introduction.pdf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7413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7FE6F0FD-E291-B484-0E6B-5E9447F57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750f337bdb_10_1523:notes">
            <a:extLst>
              <a:ext uri="{FF2B5EF4-FFF2-40B4-BE49-F238E27FC236}">
                <a16:creationId xmlns:a16="http://schemas.microsoft.com/office/drawing/2014/main" id="{A4EEA585-D780-8FFD-3557-F5EA0A090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g2750f337bdb_10_1523:notes">
            <a:extLst>
              <a:ext uri="{FF2B5EF4-FFF2-40B4-BE49-F238E27FC236}">
                <a16:creationId xmlns:a16="http://schemas.microsoft.com/office/drawing/2014/main" id="{5287DD0E-098D-837C-821F-7CA415007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From: </a:t>
            </a:r>
            <a:r>
              <a:rPr lang="en" dirty="0" err="1">
                <a:solidFill>
                  <a:schemeClr val="dk1"/>
                </a:solidFill>
              </a:rPr>
              <a:t>Illumina_sequencing_introduction.pdf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8177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750f337bdb_10_1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g2750f337bdb_10_1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750f337bdb_10_1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g2750f337bdb_10_1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From: Illumina_sequencing_introduction.pdf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750f337bdb_10_1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g2750f337bdb_10_1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From: Illumina_sequencing_introduction.pdf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750f337bdb_10_1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g2750f337bdb_10_1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750f337bdb_10_1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2750f337bdb_10_15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@&lt;instrument&gt;:&lt;run number&gt;:&lt;flowcell ID&gt;:&lt;lane&gt;:&lt;tile&gt;:&lt;x-pos&gt;:&lt;y-pos&gt; &lt;read&gt;:&lt;is filtered&gt;:&lt;control number&gt;:&lt;sample number&gt;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3" name="Google Shape;373;g2750f337bdb_10_15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750f337bdb_10_1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g2750f337bdb_10_1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higher coverage results in a higher quality (fewer ‘false’ mutations).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822e78a24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2" name="Google Shape;412;g822e78a24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E344-5CD1-52B1-9AF1-86D9FC96F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07B1A-61F7-BF2A-9A13-222FFF99D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8518A-7E47-1CDB-52C4-87059A76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7FAF3-EB76-21F9-DC9E-B0D00768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1" y="4869657"/>
            <a:ext cx="1143000" cy="273844"/>
          </a:xfrm>
        </p:spPr>
        <p:txBody>
          <a:bodyPr/>
          <a:lstStyle>
            <a:lvl1pPr>
              <a:defRPr sz="800"/>
            </a:lvl1pPr>
          </a:lstStyle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sz="800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A33CB-562A-415E-03CE-1864303B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993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62F3F-915B-47EC-F2C8-39CEBD5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7F3B-7404-E442-4CFF-563AD80B9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29F79-3992-8BF2-6579-A0B7C066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2300B-B95B-E3F8-3259-3F0604CFD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9377" y="4869657"/>
            <a:ext cx="1154624" cy="273844"/>
          </a:xfrm>
        </p:spPr>
        <p:txBody>
          <a:bodyPr/>
          <a:lstStyle>
            <a:lvl1pPr>
              <a:defRPr sz="800"/>
            </a:lvl1pPr>
          </a:lstStyle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sz="800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6E737-C558-62E3-BFFD-1D0275E3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231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EE0A-DFC9-CD3E-85F2-90E23A8B3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E46C0-C910-7F35-4342-0FBE5C022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5FB62-98E2-94E3-DD43-8AEB3AAD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9DBC7-5B17-5B2E-18DC-5E485084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5871" y="4869657"/>
            <a:ext cx="1108129" cy="273844"/>
          </a:xfrm>
        </p:spPr>
        <p:txBody>
          <a:bodyPr/>
          <a:lstStyle>
            <a:lvl1pPr>
              <a:defRPr sz="800"/>
            </a:lvl1pPr>
          </a:lstStyle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sz="800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6B35B-049B-C1E7-21C2-1ED5E4946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423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3EF6-782C-CD76-79AB-CC149F734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BE93-D1D6-42ED-6C6C-9FB96DF1C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30353-A8EC-FAE3-E8DA-E79065BBF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D51ED-2212-A11F-D4C2-CC4A73CD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88AF9-16B7-F9AC-94E4-67618B02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20373" y="4869657"/>
            <a:ext cx="1123627" cy="273844"/>
          </a:xfrm>
        </p:spPr>
        <p:txBody>
          <a:bodyPr/>
          <a:lstStyle>
            <a:lvl1pPr>
              <a:defRPr sz="800"/>
            </a:lvl1pPr>
          </a:lstStyle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sz="800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6C1CE-6DFE-F894-7087-0D65C516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94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48AD-9F9D-E491-275D-8928F334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7CC1-75E5-A155-9109-06A84CD62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03473-8097-9CDA-EBB3-DA00A770C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75FDC-3998-9801-1BFD-ACE6CE273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300A8-6438-2F26-D8F8-15CCC4466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ADC652-3801-F4E8-07A1-7EE07A006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868BB-1354-66B0-27F3-E0DB4F34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33EC7B-E7AB-9386-4E1B-27C114E1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58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01D5-EE3C-96B9-321B-815693E3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C3E4A-A43D-E961-DB43-13ABB031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3C401-9340-0985-AB9B-7D658D92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2D15A-65CE-D895-1665-1D679B1A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68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7BEC0-8C51-BDD5-A9E2-9E71B7F8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B83CC-97C7-7E29-DEC4-16DB3464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9A276-D22B-85D1-768A-6448B46E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90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23CF-2B47-9299-B095-BC6A1C831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39F5-2FB5-CA4F-98A0-5F0A4D93B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A983D-3ADA-891A-A9D2-7228EB36B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5EEA9-5D3C-1515-69BE-B43ADA8E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D0C23-2506-D330-B35B-E99BF841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93FD5-11EC-8C8F-6CC3-49F9CED2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171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B516-9674-08A7-46C8-C219A1A8F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8F8D2D-61CF-D69B-C1DB-9CF701A70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E4159-B4E6-56B2-AEEE-931D2ACC7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58CE5-0D70-FC57-4E6B-315302FB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A3B5D-3814-A833-D8B8-D76A2CBB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D15AE-59A8-53E4-124C-174234FC6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212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8D83-2562-03E8-95AD-D265FD55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6F67B-F89D-86AB-0010-F1D36E30C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5F117-A36C-B9C1-3021-192276F0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65BB3-575B-05CB-8CCC-BF357383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C3427-2B99-F5B8-BEDB-6C35A75A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85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47353-E0B6-9CC5-47F8-F69782D63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9AF06-27A6-1C37-337F-1779250B3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42D9E-6809-1A0C-3B83-5D8C8ABC0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6A586-784F-0EF1-6992-5C70855C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EE072-795C-41F2-481F-51D9561E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571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C3B00E-6F5F-10C1-22F4-60A4EC9EC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3906" y="4839165"/>
            <a:ext cx="114009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Revised 01/15/2026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5394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0367E6-A6C6-0913-2721-7C3F35DCD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BCB8E-4BF9-9058-F0A0-7FEE86BB0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8CC2F-31DF-E13D-CF26-825DE07E36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84613-9838-C24F-79DF-8CD89F752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28861" y="4869657"/>
            <a:ext cx="10151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sz="700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303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ctrTitle"/>
          </p:nvPr>
        </p:nvSpPr>
        <p:spPr>
          <a:xfrm>
            <a:off x="369897" y="1676986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br>
              <a:rPr lang="en" sz="5000" b="1" dirty="0">
                <a:solidFill>
                  <a:srgbClr val="D9D9D9"/>
                </a:solidFill>
              </a:rPr>
            </a:br>
            <a:br>
              <a:rPr lang="en" sz="5000" b="1" dirty="0">
                <a:solidFill>
                  <a:srgbClr val="D9D9D9"/>
                </a:solidFill>
              </a:rPr>
            </a:br>
            <a:br>
              <a:rPr lang="en" sz="5000" b="1" dirty="0">
                <a:solidFill>
                  <a:srgbClr val="D9D9D9"/>
                </a:solidFill>
              </a:rPr>
            </a:br>
            <a:br>
              <a:rPr lang="en" sz="5000" b="1" dirty="0">
                <a:solidFill>
                  <a:srgbClr val="D9D9D9"/>
                </a:solidFill>
              </a:rPr>
            </a:br>
            <a:br>
              <a:rPr lang="en" sz="5000" b="1" dirty="0">
                <a:solidFill>
                  <a:srgbClr val="D9D9D9"/>
                </a:solidFill>
              </a:rPr>
            </a:br>
            <a:br>
              <a:rPr lang="en" sz="5000" b="1" dirty="0">
                <a:solidFill>
                  <a:srgbClr val="D9D9D9"/>
                </a:solidFill>
              </a:rPr>
            </a:br>
            <a:r>
              <a:rPr lang="en" sz="5000" b="1" dirty="0">
                <a:solidFill>
                  <a:srgbClr val="D9D9D9"/>
                </a:solidFill>
              </a:rPr>
              <a:t>Introduction to </a:t>
            </a:r>
            <a:endParaRPr sz="5000" b="1" dirty="0">
              <a:solidFill>
                <a:srgbClr val="D9D9D9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000" b="1" dirty="0">
                <a:solidFill>
                  <a:srgbClr val="D9D9D9"/>
                </a:solidFill>
              </a:rPr>
              <a:t>Illumina sequencing and </a:t>
            </a:r>
            <a:r>
              <a:rPr lang="en" sz="5000" b="1" dirty="0" err="1">
                <a:solidFill>
                  <a:srgbClr val="D9D9D9"/>
                </a:solidFill>
              </a:rPr>
              <a:t>mNGS</a:t>
            </a:r>
            <a:r>
              <a:rPr lang="en" sz="5000" b="1" dirty="0">
                <a:solidFill>
                  <a:srgbClr val="D9D9D9"/>
                </a:solidFill>
              </a:rPr>
              <a:t> data analysis </a:t>
            </a:r>
            <a:endParaRPr sz="5000" b="1" dirty="0">
              <a:solidFill>
                <a:srgbClr val="D9D9D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3A4A3-9F4E-F605-572D-6C91320214BA}"/>
              </a:ext>
            </a:extLst>
          </p:cNvPr>
          <p:cNvSpPr txBox="1"/>
          <p:nvPr/>
        </p:nvSpPr>
        <p:spPr>
          <a:xfrm>
            <a:off x="6542116" y="4897279"/>
            <a:ext cx="26787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3"/>
          <p:cNvSpPr/>
          <p:nvPr/>
        </p:nvSpPr>
        <p:spPr>
          <a:xfrm>
            <a:off x="2778150" y="1269300"/>
            <a:ext cx="6315000" cy="3732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3"/>
          <p:cNvSpPr/>
          <p:nvPr/>
        </p:nvSpPr>
        <p:spPr>
          <a:xfrm>
            <a:off x="337700" y="251875"/>
            <a:ext cx="8594700" cy="959100"/>
          </a:xfrm>
          <a:prstGeom prst="stripedRightArrow">
            <a:avLst>
              <a:gd name="adj1" fmla="val 67480"/>
              <a:gd name="adj2" fmla="val 1473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3"/>
          <p:cNvSpPr txBox="1">
            <a:spLocks noGrp="1"/>
          </p:cNvSpPr>
          <p:nvPr>
            <p:ph type="title"/>
          </p:nvPr>
        </p:nvSpPr>
        <p:spPr>
          <a:xfrm>
            <a:off x="2065200" y="287875"/>
            <a:ext cx="47556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400" b="1">
                <a:solidFill>
                  <a:srgbClr val="FFFFFF"/>
                </a:solidFill>
              </a:rPr>
              <a:t>mNGS pipeline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215" name="Google Shape;215;p53"/>
          <p:cNvSpPr txBox="1"/>
          <p:nvPr/>
        </p:nvSpPr>
        <p:spPr>
          <a:xfrm>
            <a:off x="250750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3"/>
          <p:cNvSpPr txBox="1"/>
          <p:nvPr/>
        </p:nvSpPr>
        <p:spPr>
          <a:xfrm>
            <a:off x="1640775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xNA extraction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3"/>
          <p:cNvSpPr txBox="1"/>
          <p:nvPr/>
        </p:nvSpPr>
        <p:spPr>
          <a:xfrm>
            <a:off x="2950075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Library prep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3"/>
          <p:cNvSpPr txBox="1"/>
          <p:nvPr/>
        </p:nvSpPr>
        <p:spPr>
          <a:xfrm>
            <a:off x="4592180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3"/>
          <p:cNvSpPr txBox="1"/>
          <p:nvPr/>
        </p:nvSpPr>
        <p:spPr>
          <a:xfrm>
            <a:off x="613261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3"/>
          <p:cNvSpPr txBox="1"/>
          <p:nvPr/>
        </p:nvSpPr>
        <p:spPr>
          <a:xfrm>
            <a:off x="-500" y="3033150"/>
            <a:ext cx="15039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Type(s)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Lab setup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3"/>
          <p:cNvSpPr txBox="1"/>
          <p:nvPr/>
        </p:nvSpPr>
        <p:spPr>
          <a:xfrm>
            <a:off x="1340475" y="303315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Type(s)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QC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3"/>
          <p:cNvSpPr txBox="1"/>
          <p:nvPr/>
        </p:nvSpPr>
        <p:spPr>
          <a:xfrm>
            <a:off x="2546425" y="3033150"/>
            <a:ext cx="2173200" cy="21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Host removal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Fragmentation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dsDNA generation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End-repair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Adapter ligation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Barcoding &amp; PCR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Clean-up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Pooling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QC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3"/>
          <p:cNvSpPr txBox="1"/>
          <p:nvPr/>
        </p:nvSpPr>
        <p:spPr>
          <a:xfrm>
            <a:off x="5846725" y="3033150"/>
            <a:ext cx="2173200" cy="9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QC data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Host removal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Alignment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Blast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Ranking of hits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53"/>
          <p:cNvPicPr preferRelativeResize="0"/>
          <p:nvPr/>
        </p:nvPicPr>
        <p:blipFill rotWithShape="1">
          <a:blip r:embed="rId3">
            <a:alphaModFix/>
          </a:blip>
          <a:srcRect l="14551" r="17610" b="13941"/>
          <a:stretch/>
        </p:blipFill>
        <p:spPr>
          <a:xfrm>
            <a:off x="4679550" y="1896300"/>
            <a:ext cx="1126125" cy="95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3"/>
          <p:cNvPicPr preferRelativeResize="0"/>
          <p:nvPr/>
        </p:nvPicPr>
        <p:blipFill rotWithShape="1">
          <a:blip r:embed="rId4">
            <a:alphaModFix/>
          </a:blip>
          <a:srcRect l="13069" t="15507" r="15081" b="13226"/>
          <a:stretch/>
        </p:blipFill>
        <p:spPr>
          <a:xfrm>
            <a:off x="379113" y="1914700"/>
            <a:ext cx="8718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53"/>
          <p:cNvSpPr txBox="1"/>
          <p:nvPr/>
        </p:nvSpPr>
        <p:spPr>
          <a:xfrm>
            <a:off x="4315963" y="3033150"/>
            <a:ext cx="2245200" cy="8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Machine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Read length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Loading conc.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149689">
            <a:off x="1852262" y="2113663"/>
            <a:ext cx="607525" cy="727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53"/>
          <p:cNvPicPr preferRelativeResize="0"/>
          <p:nvPr/>
        </p:nvPicPr>
        <p:blipFill rotWithShape="1">
          <a:blip r:embed="rId6">
            <a:alphaModFix/>
          </a:blip>
          <a:srcRect b="50614"/>
          <a:stretch/>
        </p:blipFill>
        <p:spPr>
          <a:xfrm>
            <a:off x="2884550" y="2066066"/>
            <a:ext cx="1344551" cy="725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53"/>
          <p:cNvCxnSpPr/>
          <p:nvPr/>
        </p:nvCxnSpPr>
        <p:spPr>
          <a:xfrm rot="10800000" flipH="1">
            <a:off x="7638150" y="2419325"/>
            <a:ext cx="309300" cy="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0" name="Google Shape;230;p53"/>
          <p:cNvGrpSpPr/>
          <p:nvPr/>
        </p:nvGrpSpPr>
        <p:grpSpPr>
          <a:xfrm>
            <a:off x="7765375" y="1751825"/>
            <a:ext cx="1252725" cy="1357550"/>
            <a:chOff x="7841575" y="1370825"/>
            <a:chExt cx="1252725" cy="1357550"/>
          </a:xfrm>
        </p:grpSpPr>
        <p:sp>
          <p:nvSpPr>
            <p:cNvPr id="231" name="Google Shape;231;p53"/>
            <p:cNvSpPr/>
            <p:nvPr/>
          </p:nvSpPr>
          <p:spPr>
            <a:xfrm>
              <a:off x="7841575" y="1486750"/>
              <a:ext cx="1122600" cy="11226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2" name="Google Shape;232;p5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47262" y="1685076"/>
              <a:ext cx="502137" cy="7259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53"/>
            <p:cNvSpPr/>
            <p:nvPr/>
          </p:nvSpPr>
          <p:spPr>
            <a:xfrm>
              <a:off x="7887625" y="1532800"/>
              <a:ext cx="1030500" cy="10305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4" name="Google Shape;234;p53"/>
            <p:cNvCxnSpPr/>
            <p:nvPr/>
          </p:nvCxnSpPr>
          <p:spPr>
            <a:xfrm>
              <a:off x="8395325" y="244607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5" name="Google Shape;235;p53"/>
            <p:cNvCxnSpPr/>
            <p:nvPr/>
          </p:nvCxnSpPr>
          <p:spPr>
            <a:xfrm>
              <a:off x="8401375" y="137082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" name="Google Shape;236;p53"/>
            <p:cNvCxnSpPr/>
            <p:nvPr/>
          </p:nvCxnSpPr>
          <p:spPr>
            <a:xfrm rot="10800000" flipH="1">
              <a:off x="8785000" y="2038325"/>
              <a:ext cx="309300" cy="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7" name="Google Shape;237;p53"/>
          <p:cNvSpPr txBox="1"/>
          <p:nvPr/>
        </p:nvSpPr>
        <p:spPr>
          <a:xfrm>
            <a:off x="765036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Pathogen 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3"/>
          <p:cNvSpPr txBox="1"/>
          <p:nvPr/>
        </p:nvSpPr>
        <p:spPr>
          <a:xfrm>
            <a:off x="4975075" y="4627025"/>
            <a:ext cx="20049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5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53"/>
          <p:cNvGrpSpPr/>
          <p:nvPr/>
        </p:nvGrpSpPr>
        <p:grpSpPr>
          <a:xfrm>
            <a:off x="6241847" y="1990187"/>
            <a:ext cx="1126132" cy="877745"/>
            <a:chOff x="5059375" y="3618825"/>
            <a:chExt cx="1583426" cy="1234175"/>
          </a:xfrm>
        </p:grpSpPr>
        <p:pic>
          <p:nvPicPr>
            <p:cNvPr id="240" name="Google Shape;240;p53" descr="A screenshot of a cell phon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 l="47032" t="64642" r="26637" b="6039"/>
            <a:stretch/>
          </p:blipFill>
          <p:spPr>
            <a:xfrm>
              <a:off x="5059375" y="3618825"/>
              <a:ext cx="1583426" cy="12341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1" name="Google Shape;241;p53"/>
            <p:cNvGrpSpPr/>
            <p:nvPr/>
          </p:nvGrpSpPr>
          <p:grpSpPr>
            <a:xfrm>
              <a:off x="5111211" y="3670860"/>
              <a:ext cx="1459635" cy="832076"/>
              <a:chOff x="4301800" y="3312000"/>
              <a:chExt cx="1612500" cy="923400"/>
            </a:xfrm>
          </p:grpSpPr>
          <p:sp>
            <p:nvSpPr>
              <p:cNvPr id="242" name="Google Shape;242;p53"/>
              <p:cNvSpPr/>
              <p:nvPr/>
            </p:nvSpPr>
            <p:spPr>
              <a:xfrm>
                <a:off x="4301800" y="3312000"/>
                <a:ext cx="1612500" cy="923400"/>
              </a:xfrm>
              <a:prstGeom prst="rect">
                <a:avLst/>
              </a:prstGeom>
              <a:solidFill>
                <a:srgbClr val="E7E6E6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3" name="Google Shape;243;p53" descr="IDseq_logo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4497525" y="3575725"/>
                <a:ext cx="1221038" cy="395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44" name="Google Shape;244;p53"/>
          <p:cNvSpPr/>
          <p:nvPr/>
        </p:nvSpPr>
        <p:spPr>
          <a:xfrm>
            <a:off x="6292375" y="2043775"/>
            <a:ext cx="974700" cy="528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6800" y="125825"/>
            <a:ext cx="4684700" cy="231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1675" y="2509200"/>
            <a:ext cx="4684700" cy="257174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4"/>
          <p:cNvSpPr txBox="1"/>
          <p:nvPr/>
        </p:nvSpPr>
        <p:spPr>
          <a:xfrm>
            <a:off x="151775" y="366725"/>
            <a:ext cx="3742500" cy="43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Introduction to illumina Next-Generation sequencing (NGS)</a:t>
            </a:r>
            <a:endParaRPr sz="3600" b="1" i="0" u="none" strike="noStrike" cap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54"/>
          <p:cNvPicPr preferRelativeResize="0"/>
          <p:nvPr/>
        </p:nvPicPr>
        <p:blipFill rotWithShape="1">
          <a:blip r:embed="rId5">
            <a:alphaModFix/>
          </a:blip>
          <a:srcRect t="29694" b="43926"/>
          <a:stretch/>
        </p:blipFill>
        <p:spPr>
          <a:xfrm>
            <a:off x="947612" y="1511950"/>
            <a:ext cx="2264825" cy="5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54"/>
          <p:cNvSpPr txBox="1"/>
          <p:nvPr/>
        </p:nvSpPr>
        <p:spPr>
          <a:xfrm>
            <a:off x="6464975" y="199675"/>
            <a:ext cx="1269600" cy="13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B. Cluster Amplification</a:t>
            </a:r>
            <a:endParaRPr sz="8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5"/>
          <p:cNvSpPr txBox="1"/>
          <p:nvPr/>
        </p:nvSpPr>
        <p:spPr>
          <a:xfrm>
            <a:off x="309875" y="988600"/>
            <a:ext cx="3982200" cy="3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library?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read?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paired-end sequencing?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a cluster?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(de-)multiplexing?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a fastq file?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coverage?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55"/>
          <p:cNvPicPr preferRelativeResize="0"/>
          <p:nvPr/>
        </p:nvPicPr>
        <p:blipFill rotWithShape="1">
          <a:blip r:embed="rId3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5"/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Next-generation sequencing (NGS)</a:t>
            </a:r>
            <a:endParaRPr sz="28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6"/>
          <p:cNvSpPr txBox="1">
            <a:spLocks noGrp="1"/>
          </p:cNvSpPr>
          <p:nvPr>
            <p:ph type="title"/>
          </p:nvPr>
        </p:nvSpPr>
        <p:spPr>
          <a:xfrm>
            <a:off x="177400" y="100325"/>
            <a:ext cx="8890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666666"/>
                </a:solidFill>
              </a:rPr>
              <a:t>Sequencing library </a:t>
            </a:r>
            <a:r>
              <a:rPr lang="en" sz="1900">
                <a:solidFill>
                  <a:srgbClr val="666666"/>
                </a:solidFill>
              </a:rPr>
              <a:t>= collection of fragments ready for sequencing</a:t>
            </a:r>
            <a:r>
              <a:rPr lang="en">
                <a:solidFill>
                  <a:srgbClr val="666666"/>
                </a:solidFill>
              </a:rPr>
              <a:t> 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68" name="Google Shape;268;p56"/>
          <p:cNvSpPr txBox="1"/>
          <p:nvPr/>
        </p:nvSpPr>
        <p:spPr>
          <a:xfrm>
            <a:off x="4975" y="753700"/>
            <a:ext cx="87837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DNA is fragmented into smaller pieces, optimal for sequencing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Adapter sequences, barcode sequences and flow cell binding sites are added to allow the sequencing process to occur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56"/>
          <p:cNvPicPr preferRelativeResize="0"/>
          <p:nvPr/>
        </p:nvPicPr>
        <p:blipFill rotWithShape="1">
          <a:blip r:embed="rId3">
            <a:alphaModFix/>
          </a:blip>
          <a:srcRect b="5208"/>
          <a:stretch>
            <a:fillRect/>
          </a:stretch>
        </p:blipFill>
        <p:spPr>
          <a:xfrm>
            <a:off x="2888575" y="1709000"/>
            <a:ext cx="6150074" cy="326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56"/>
          <p:cNvSpPr txBox="1"/>
          <p:nvPr/>
        </p:nvSpPr>
        <p:spPr>
          <a:xfrm>
            <a:off x="385975" y="1363300"/>
            <a:ext cx="1716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library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305125" y="191617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834800" y="181420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925325" y="2037438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601775" y="215757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939400" y="22559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887100" y="246416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244200" y="235746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396600" y="21314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296300" y="19258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055250" y="25834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36975" y="205267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887100" y="29065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078825" y="300760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36975" y="22559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328700" y="23745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273275" y="25762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474325" y="266947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294675" y="27837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22525" y="28832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233225" y="298586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510700" y="3108688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244200" y="31301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197200" y="26930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753050" y="20286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721325" y="288506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078825" y="27890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873725" y="303746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862975" y="27629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689525" y="24704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828950" y="25817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84675" y="24627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689525" y="2239650"/>
            <a:ext cx="750124" cy="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6"/>
          <p:cNvSpPr/>
          <p:nvPr/>
        </p:nvSpPr>
        <p:spPr>
          <a:xfrm>
            <a:off x="3793775" y="1445250"/>
            <a:ext cx="4773600" cy="1754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6"/>
          <p:cNvSpPr/>
          <p:nvPr/>
        </p:nvSpPr>
        <p:spPr>
          <a:xfrm>
            <a:off x="1689525" y="2444449"/>
            <a:ext cx="750000" cy="103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56"/>
          <p:cNvCxnSpPr/>
          <p:nvPr/>
        </p:nvCxnSpPr>
        <p:spPr>
          <a:xfrm rot="10800000" flipH="1">
            <a:off x="2435400" y="1522575"/>
            <a:ext cx="1453200" cy="92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6" name="Google Shape;306;p56"/>
          <p:cNvCxnSpPr/>
          <p:nvPr/>
        </p:nvCxnSpPr>
        <p:spPr>
          <a:xfrm>
            <a:off x="2436250" y="2543950"/>
            <a:ext cx="1437600" cy="565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324A048-E684-88DA-3FB1-D5930053738A}"/>
              </a:ext>
            </a:extLst>
          </p:cNvPr>
          <p:cNvGrpSpPr/>
          <p:nvPr/>
        </p:nvGrpSpPr>
        <p:grpSpPr>
          <a:xfrm>
            <a:off x="292934" y="706216"/>
            <a:ext cx="8696678" cy="4181946"/>
            <a:chOff x="1747661" y="336850"/>
            <a:chExt cx="8696678" cy="4181946"/>
          </a:xfrm>
        </p:grpSpPr>
        <p:pic>
          <p:nvPicPr>
            <p:cNvPr id="311" name="Google Shape;311;p5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47661" y="336850"/>
              <a:ext cx="8696678" cy="41819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57"/>
            <p:cNvSpPr txBox="1"/>
            <p:nvPr/>
          </p:nvSpPr>
          <p:spPr>
            <a:xfrm>
              <a:off x="6280277" y="475945"/>
              <a:ext cx="2028128" cy="1850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 dirty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B. Cluster Amplification</a:t>
              </a:r>
              <a:endParaRPr sz="140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Google Shape;313;p57">
            <a:extLst>
              <a:ext uri="{FF2B5EF4-FFF2-40B4-BE49-F238E27FC236}">
                <a16:creationId xmlns:a16="http://schemas.microsoft.com/office/drawing/2014/main" id="{9B351D26-5EF9-CCE8-D0BA-FA3793085785}"/>
              </a:ext>
            </a:extLst>
          </p:cNvPr>
          <p:cNvSpPr txBox="1"/>
          <p:nvPr/>
        </p:nvSpPr>
        <p:spPr>
          <a:xfrm>
            <a:off x="2130050" y="164525"/>
            <a:ext cx="6629175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Cluster formation through bridge amplification</a:t>
            </a:r>
            <a:endParaRPr sz="2400" b="0" i="0" u="none" strike="noStrike" cap="none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58"/>
          <p:cNvPicPr preferRelativeResize="0"/>
          <p:nvPr/>
        </p:nvPicPr>
        <p:blipFill rotWithShape="1">
          <a:blip r:embed="rId3">
            <a:alphaModFix/>
          </a:blip>
          <a:srcRect r="50313"/>
          <a:stretch/>
        </p:blipFill>
        <p:spPr>
          <a:xfrm>
            <a:off x="569051" y="720476"/>
            <a:ext cx="3927650" cy="433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8"/>
          <p:cNvPicPr preferRelativeResize="0"/>
          <p:nvPr/>
        </p:nvPicPr>
        <p:blipFill rotWithShape="1">
          <a:blip r:embed="rId4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8"/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dirty="0">
                <a:solidFill>
                  <a:srgbClr val="666666"/>
                </a:solidFill>
              </a:rPr>
              <a:t>Fluorescence imaging</a:t>
            </a:r>
            <a:endParaRPr sz="2800" b="0" i="0" u="none" strike="noStrike" cap="none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1275" y="1669030"/>
            <a:ext cx="3343674" cy="2207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5EE02FFC-A980-3762-C8C4-F283A2A8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58">
            <a:extLst>
              <a:ext uri="{FF2B5EF4-FFF2-40B4-BE49-F238E27FC236}">
                <a16:creationId xmlns:a16="http://schemas.microsoft.com/office/drawing/2014/main" id="{321DCB36-7006-9435-16A5-E336CF9995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8">
            <a:extLst>
              <a:ext uri="{FF2B5EF4-FFF2-40B4-BE49-F238E27FC236}">
                <a16:creationId xmlns:a16="http://schemas.microsoft.com/office/drawing/2014/main" id="{3BCA7EA2-F6BA-0DD9-CBE6-D7254AE75CD6}"/>
              </a:ext>
            </a:extLst>
          </p:cNvPr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Sequencing By Synthesis (SBS)</a:t>
            </a:r>
            <a:endParaRPr sz="2800" b="0" i="0" u="none" strike="noStrike" cap="none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648F05E-C5D9-B93C-7BC3-189D32FA9D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561"/>
          <a:stretch>
            <a:fillRect/>
          </a:stretch>
        </p:blipFill>
        <p:spPr>
          <a:xfrm>
            <a:off x="1778864" y="3126409"/>
            <a:ext cx="489149" cy="118661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E025360-826B-A744-CE06-A639E4B4BB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90" b="23230"/>
          <a:stretch>
            <a:fillRect/>
          </a:stretch>
        </p:blipFill>
        <p:spPr>
          <a:xfrm>
            <a:off x="2949760" y="3126409"/>
            <a:ext cx="489149" cy="118661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40A0373-5C99-BCCB-AD0F-BDE7BAE3F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2839" y="3136298"/>
            <a:ext cx="358286" cy="116683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5F662A3-0F41-D834-B612-853B469757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" b="5425"/>
          <a:stretch>
            <a:fillRect/>
          </a:stretch>
        </p:blipFill>
        <p:spPr>
          <a:xfrm>
            <a:off x="1231743" y="3126409"/>
            <a:ext cx="415999" cy="120890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846169F-BFE3-F6FD-7207-816D3AF509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252" y="3126409"/>
            <a:ext cx="910317" cy="1208902"/>
          </a:xfrm>
          <a:prstGeom prst="rect">
            <a:avLst/>
          </a:prstGeom>
        </p:spPr>
      </p:pic>
      <p:grpSp>
        <p:nvGrpSpPr>
          <p:cNvPr id="262" name="Group 261">
            <a:extLst>
              <a:ext uri="{FF2B5EF4-FFF2-40B4-BE49-F238E27FC236}">
                <a16:creationId xmlns:a16="http://schemas.microsoft.com/office/drawing/2014/main" id="{775BF929-6112-CCF7-4F03-701C52189C90}"/>
              </a:ext>
            </a:extLst>
          </p:cNvPr>
          <p:cNvGrpSpPr/>
          <p:nvPr/>
        </p:nvGrpSpPr>
        <p:grpSpPr>
          <a:xfrm>
            <a:off x="113276" y="1209541"/>
            <a:ext cx="8874787" cy="1312494"/>
            <a:chOff x="141335" y="971045"/>
            <a:chExt cx="8874787" cy="131249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B7874D6-D2EF-80D8-5B86-6DCE66184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16713"/>
            <a:stretch>
              <a:fillRect/>
            </a:stretch>
          </p:blipFill>
          <p:spPr>
            <a:xfrm>
              <a:off x="141335" y="1432480"/>
              <a:ext cx="1174369" cy="374682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B65D812-7CCB-6499-8A9D-DAAF71DBF035}"/>
                </a:ext>
              </a:extLst>
            </p:cNvPr>
            <p:cNvGrpSpPr/>
            <p:nvPr/>
          </p:nvGrpSpPr>
          <p:grpSpPr>
            <a:xfrm>
              <a:off x="1047035" y="1303436"/>
              <a:ext cx="1104850" cy="667509"/>
              <a:chOff x="2387596" y="1792072"/>
              <a:chExt cx="1104850" cy="66750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8E54B45-24CA-7EBE-6964-6BD8A6B336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t="30522" r="27386" b="17760"/>
              <a:stretch>
                <a:fillRect/>
              </a:stretch>
            </p:blipFill>
            <p:spPr>
              <a:xfrm>
                <a:off x="2774628" y="1792072"/>
                <a:ext cx="717818" cy="667509"/>
              </a:xfrm>
              <a:prstGeom prst="rect">
                <a:avLst/>
              </a:prstGeom>
            </p:spPr>
          </p:pic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5A4F1A9-8ECF-7428-C7DD-F9146DC846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4956" y="1814411"/>
                <a:ext cx="381391" cy="33125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0207D22-3531-9F00-CAF8-72112DDBDF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7596" y="2145670"/>
                <a:ext cx="415999" cy="22483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7D7BFD3-D890-F217-C8F5-6CD72FDEA116}"/>
                </a:ext>
              </a:extLst>
            </p:cNvPr>
            <p:cNvCxnSpPr/>
            <p:nvPr/>
          </p:nvCxnSpPr>
          <p:spPr>
            <a:xfrm>
              <a:off x="6865012" y="1637190"/>
              <a:ext cx="1167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1E72D05-33F5-F264-26DA-8AC940C7B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91261" y="997382"/>
              <a:ext cx="918438" cy="125982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FD828D8D-00B4-6030-10FC-7E14AE306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26431" y="971045"/>
              <a:ext cx="989691" cy="1312494"/>
            </a:xfrm>
            <a:prstGeom prst="rect">
              <a:avLst/>
            </a:prstGeom>
          </p:spPr>
        </p:pic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4FA706CD-2F6F-9422-AE4B-6D34BA8CABCD}"/>
                </a:ext>
              </a:extLst>
            </p:cNvPr>
            <p:cNvGrpSpPr/>
            <p:nvPr/>
          </p:nvGrpSpPr>
          <p:grpSpPr>
            <a:xfrm>
              <a:off x="2158250" y="985117"/>
              <a:ext cx="4713127" cy="1259216"/>
              <a:chOff x="3327053" y="1020158"/>
              <a:chExt cx="4713127" cy="1259216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2B1C66F-8190-BECB-2F6B-19703A72EA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l="68796" t="43913"/>
              <a:stretch>
                <a:fillRect/>
              </a:stretch>
            </p:blipFill>
            <p:spPr>
              <a:xfrm>
                <a:off x="4931819" y="1032740"/>
                <a:ext cx="1000969" cy="1208902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E6CA83DD-608A-60A3-0808-B78392AC5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77241" t="78"/>
              <a:stretch>
                <a:fillRect/>
              </a:stretch>
            </p:blipFill>
            <p:spPr>
              <a:xfrm>
                <a:off x="3443785" y="1032740"/>
                <a:ext cx="353218" cy="1242389"/>
              </a:xfrm>
              <a:prstGeom prst="rect">
                <a:avLst/>
              </a:prstGeom>
            </p:spPr>
          </p:pic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B5F42BF0-0C92-BB3F-1B7A-895AFEBCC20B}"/>
                  </a:ext>
                </a:extLst>
              </p:cNvPr>
              <p:cNvCxnSpPr/>
              <p:nvPr/>
            </p:nvCxnSpPr>
            <p:spPr>
              <a:xfrm>
                <a:off x="3327053" y="1663127"/>
                <a:ext cx="11673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5BDE6539-5866-554D-E268-BD2CF9B9406D}"/>
                  </a:ext>
                </a:extLst>
              </p:cNvPr>
              <p:cNvCxnSpPr/>
              <p:nvPr/>
            </p:nvCxnSpPr>
            <p:spPr>
              <a:xfrm>
                <a:off x="3831255" y="1665604"/>
                <a:ext cx="11673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E2AC7F30-34CC-6D12-82E4-0F0104E3F52A}"/>
                  </a:ext>
                </a:extLst>
              </p:cNvPr>
              <p:cNvGrpSpPr/>
              <p:nvPr/>
            </p:nvGrpSpPr>
            <p:grpSpPr>
              <a:xfrm>
                <a:off x="3955236" y="1020158"/>
                <a:ext cx="847233" cy="1242390"/>
                <a:chOff x="3955236" y="1020158"/>
                <a:chExt cx="847233" cy="1242390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0CCE6262-C19E-20DD-2B83-C7613482A1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rcRect l="35351" r="13143" b="9416"/>
                <a:stretch>
                  <a:fillRect/>
                </a:stretch>
              </p:blipFill>
              <p:spPr>
                <a:xfrm>
                  <a:off x="3955236" y="1020158"/>
                  <a:ext cx="847233" cy="1242390"/>
                </a:xfrm>
                <a:prstGeom prst="rect">
                  <a:avLst/>
                </a:prstGeom>
              </p:spPr>
            </p:pic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7A9A7291-B20D-76C4-778F-56707D0AA4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rcRect l="47802" t="4083" r="28928" b="85159"/>
                <a:stretch>
                  <a:fillRect/>
                </a:stretch>
              </p:blipFill>
              <p:spPr>
                <a:xfrm>
                  <a:off x="3955236" y="1091725"/>
                  <a:ext cx="382772" cy="147556"/>
                </a:xfrm>
                <a:prstGeom prst="rect">
                  <a:avLst/>
                </a:prstGeom>
              </p:spPr>
            </p:pic>
          </p:grp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BBEC936-A4FD-81E0-811F-4B6DD0B6F10D}"/>
                  </a:ext>
                </a:extLst>
              </p:cNvPr>
              <p:cNvCxnSpPr/>
              <p:nvPr/>
            </p:nvCxnSpPr>
            <p:spPr>
              <a:xfrm>
                <a:off x="4802469" y="1663155"/>
                <a:ext cx="11673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CE608FC-01BA-1750-5E33-97BEEA28A369}"/>
                  </a:ext>
                </a:extLst>
              </p:cNvPr>
              <p:cNvCxnSpPr/>
              <p:nvPr/>
            </p:nvCxnSpPr>
            <p:spPr>
              <a:xfrm>
                <a:off x="5932788" y="1701028"/>
                <a:ext cx="11673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4B54E471-304C-B94A-C8DF-793C560BB866}"/>
                  </a:ext>
                </a:extLst>
              </p:cNvPr>
              <p:cNvGrpSpPr/>
              <p:nvPr/>
            </p:nvGrpSpPr>
            <p:grpSpPr>
              <a:xfrm>
                <a:off x="6039215" y="1038392"/>
                <a:ext cx="2000965" cy="1240982"/>
                <a:chOff x="6039215" y="1038392"/>
                <a:chExt cx="2000965" cy="1240982"/>
              </a:xfrm>
            </p:grpSpPr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0B357460-8A54-29E2-AA72-531B46717A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rcRect l="59822" r="2748"/>
                <a:stretch>
                  <a:fillRect/>
                </a:stretch>
              </p:blipFill>
              <p:spPr>
                <a:xfrm>
                  <a:off x="7039211" y="1038392"/>
                  <a:ext cx="1000969" cy="1240982"/>
                </a:xfrm>
                <a:prstGeom prst="rect">
                  <a:avLst/>
                </a:prstGeom>
              </p:spPr>
            </p:pic>
            <p:pic>
              <p:nvPicPr>
                <p:cNvPr id="257" name="Picture 256">
                  <a:extLst>
                    <a:ext uri="{FF2B5EF4-FFF2-40B4-BE49-F238E27FC236}">
                      <a16:creationId xmlns:a16="http://schemas.microsoft.com/office/drawing/2014/main" id="{93686B5A-0E30-3CF0-B25E-D8D9DBDF5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rcRect l="3118" r="59067"/>
                <a:stretch>
                  <a:fillRect/>
                </a:stretch>
              </p:blipFill>
              <p:spPr>
                <a:xfrm>
                  <a:off x="6039215" y="1038392"/>
                  <a:ext cx="1011274" cy="1240982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6C7EC305-9F99-FA36-8E59-6FB261216A79}"/>
                </a:ext>
              </a:extLst>
            </p:cNvPr>
            <p:cNvCxnSpPr/>
            <p:nvPr/>
          </p:nvCxnSpPr>
          <p:spPr>
            <a:xfrm>
              <a:off x="7909699" y="1648621"/>
              <a:ext cx="1167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22C635B3-979D-AFBA-FC5D-DEE1308BB17A}"/>
              </a:ext>
            </a:extLst>
          </p:cNvPr>
          <p:cNvCxnSpPr/>
          <p:nvPr/>
        </p:nvCxnSpPr>
        <p:spPr>
          <a:xfrm>
            <a:off x="1117569" y="3709558"/>
            <a:ext cx="1167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BF4851C1-9964-D4C9-E839-871253244D3B}"/>
              </a:ext>
            </a:extLst>
          </p:cNvPr>
          <p:cNvSpPr txBox="1"/>
          <p:nvPr/>
        </p:nvSpPr>
        <p:spPr>
          <a:xfrm>
            <a:off x="308008" y="866274"/>
            <a:ext cx="8680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1.Cluster formation through bridge amplification: the result is a lawn of clonal ssDNA ‘islands’  </a:t>
            </a:r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2E314583-784C-A830-3736-4A4C0F02434C}"/>
              </a:ext>
            </a:extLst>
          </p:cNvPr>
          <p:cNvCxnSpPr/>
          <p:nvPr/>
        </p:nvCxnSpPr>
        <p:spPr>
          <a:xfrm>
            <a:off x="1647742" y="3732018"/>
            <a:ext cx="1167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BB5CA266-702A-E7F7-B65E-168ACD485E22}"/>
              </a:ext>
            </a:extLst>
          </p:cNvPr>
          <p:cNvCxnSpPr/>
          <p:nvPr/>
        </p:nvCxnSpPr>
        <p:spPr>
          <a:xfrm>
            <a:off x="2268013" y="3730860"/>
            <a:ext cx="1167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89CBB06B-7A29-7CA3-20A4-CE354B5ED35C}"/>
              </a:ext>
            </a:extLst>
          </p:cNvPr>
          <p:cNvGrpSpPr/>
          <p:nvPr/>
        </p:nvGrpSpPr>
        <p:grpSpPr>
          <a:xfrm>
            <a:off x="2751125" y="3730859"/>
            <a:ext cx="200961" cy="0"/>
            <a:chOff x="2758374" y="3789168"/>
            <a:chExt cx="200961" cy="0"/>
          </a:xfrm>
        </p:grpSpPr>
        <p:cxnSp>
          <p:nvCxnSpPr>
            <p:cNvPr id="267" name="Straight Arrow Connector 266">
              <a:extLst>
                <a:ext uri="{FF2B5EF4-FFF2-40B4-BE49-F238E27FC236}">
                  <a16:creationId xmlns:a16="http://schemas.microsoft.com/office/drawing/2014/main" id="{7A84018B-CFAC-4D35-F1AD-BB41319EE6EE}"/>
                </a:ext>
              </a:extLst>
            </p:cNvPr>
            <p:cNvCxnSpPr/>
            <p:nvPr/>
          </p:nvCxnSpPr>
          <p:spPr>
            <a:xfrm>
              <a:off x="2758374" y="3789168"/>
              <a:ext cx="1167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>
              <a:extLst>
                <a:ext uri="{FF2B5EF4-FFF2-40B4-BE49-F238E27FC236}">
                  <a16:creationId xmlns:a16="http://schemas.microsoft.com/office/drawing/2014/main" id="{9B7C8212-2E53-39A4-B276-49BFA5B6D3BF}"/>
                </a:ext>
              </a:extLst>
            </p:cNvPr>
            <p:cNvCxnSpPr/>
            <p:nvPr/>
          </p:nvCxnSpPr>
          <p:spPr>
            <a:xfrm>
              <a:off x="2842603" y="3789168"/>
              <a:ext cx="1167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1" name="TextBox 270">
            <a:extLst>
              <a:ext uri="{FF2B5EF4-FFF2-40B4-BE49-F238E27FC236}">
                <a16:creationId xmlns:a16="http://schemas.microsoft.com/office/drawing/2014/main" id="{A2CF4E55-DC9A-B1F1-3E54-BB652E820193}"/>
              </a:ext>
            </a:extLst>
          </p:cNvPr>
          <p:cNvSpPr txBox="1"/>
          <p:nvPr/>
        </p:nvSpPr>
        <p:spPr>
          <a:xfrm>
            <a:off x="113277" y="2686685"/>
            <a:ext cx="3823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2.Nucleotides emit in each incorporation cycle 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488F182-565B-2FB5-711A-4643A664059C}"/>
              </a:ext>
            </a:extLst>
          </p:cNvPr>
          <p:cNvSpPr txBox="1"/>
          <p:nvPr/>
        </p:nvSpPr>
        <p:spPr>
          <a:xfrm>
            <a:off x="4120656" y="2674334"/>
            <a:ext cx="5023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3.Sequencing is done by imaging fluorescence at each cycle</a:t>
            </a:r>
          </a:p>
        </p:txBody>
      </p:sp>
      <p:pic>
        <p:nvPicPr>
          <p:cNvPr id="275" name="Picture 274">
            <a:extLst>
              <a:ext uri="{FF2B5EF4-FFF2-40B4-BE49-F238E27FC236}">
                <a16:creationId xmlns:a16="http://schemas.microsoft.com/office/drawing/2014/main" id="{C33CFC06-65AE-3D55-DDD2-53E8973D877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45633" t="60864" r="36381" b="19130"/>
          <a:stretch>
            <a:fillRect/>
          </a:stretch>
        </p:blipFill>
        <p:spPr>
          <a:xfrm>
            <a:off x="6739349" y="3088457"/>
            <a:ext cx="2016627" cy="1262514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F1DE73AB-498F-6B2F-9449-C5D59AEC4D3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0839" t="84114" r="20424" b="5314"/>
          <a:stretch>
            <a:fillRect/>
          </a:stretch>
        </p:blipFill>
        <p:spPr>
          <a:xfrm>
            <a:off x="3937143" y="4507096"/>
            <a:ext cx="4950372" cy="428512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E741F4F2-299F-CF2C-0061-58FA392C39A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47313" y="2994462"/>
            <a:ext cx="2023133" cy="1208902"/>
          </a:xfrm>
          <a:prstGeom prst="rect">
            <a:avLst/>
          </a:prstGeom>
        </p:spPr>
      </p:pic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1140946F-702A-B3F1-36DF-7DBBEAC8B5CD}"/>
              </a:ext>
            </a:extLst>
          </p:cNvPr>
          <p:cNvCxnSpPr/>
          <p:nvPr/>
        </p:nvCxnSpPr>
        <p:spPr>
          <a:xfrm flipV="1">
            <a:off x="6333341" y="3088457"/>
            <a:ext cx="396516" cy="583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657E6D1D-8CAE-072B-9732-494BFCDC92AF}"/>
              </a:ext>
            </a:extLst>
          </p:cNvPr>
          <p:cNvCxnSpPr>
            <a:cxnSpLocks/>
          </p:cNvCxnSpPr>
          <p:nvPr/>
        </p:nvCxnSpPr>
        <p:spPr>
          <a:xfrm>
            <a:off x="6317240" y="3719629"/>
            <a:ext cx="451413" cy="6379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130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F733C603-04D6-DFDF-9C29-DAB57A64D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58">
            <a:extLst>
              <a:ext uri="{FF2B5EF4-FFF2-40B4-BE49-F238E27FC236}">
                <a16:creationId xmlns:a16="http://schemas.microsoft.com/office/drawing/2014/main" id="{F4B77732-B496-B9AC-9636-59D674FCF2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8">
            <a:extLst>
              <a:ext uri="{FF2B5EF4-FFF2-40B4-BE49-F238E27FC236}">
                <a16:creationId xmlns:a16="http://schemas.microsoft.com/office/drawing/2014/main" id="{8CE509E0-E527-BA60-9C8B-ED93720BAFD2}"/>
              </a:ext>
            </a:extLst>
          </p:cNvPr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666666"/>
                </a:solidFill>
              </a:rPr>
              <a:t>XLEAP-SBS Chemistry update</a:t>
            </a:r>
            <a:endParaRPr lang="en-US" sz="2800" b="0" i="0" u="none" strike="noStrike" cap="none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D057D3-BBE7-EAB6-1859-AED8E6B18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100" y="1007689"/>
            <a:ext cx="6729800" cy="378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0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9"/>
          <p:cNvSpPr txBox="1"/>
          <p:nvPr/>
        </p:nvSpPr>
        <p:spPr>
          <a:xfrm>
            <a:off x="1868875" y="2216350"/>
            <a:ext cx="562500" cy="14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59"/>
          <p:cNvPicPr preferRelativeResize="0"/>
          <p:nvPr/>
        </p:nvPicPr>
        <p:blipFill rotWithShape="1">
          <a:blip r:embed="rId3">
            <a:alphaModFix/>
          </a:blip>
          <a:srcRect t="26009" b="56603"/>
          <a:stretch/>
        </p:blipFill>
        <p:spPr>
          <a:xfrm>
            <a:off x="1246900" y="2590800"/>
            <a:ext cx="6150074" cy="598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59"/>
          <p:cNvCxnSpPr/>
          <p:nvPr/>
        </p:nvCxnSpPr>
        <p:spPr>
          <a:xfrm>
            <a:off x="3068425" y="2546575"/>
            <a:ext cx="3129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0" name="Google Shape;330;p59"/>
          <p:cNvCxnSpPr/>
          <p:nvPr/>
        </p:nvCxnSpPr>
        <p:spPr>
          <a:xfrm>
            <a:off x="3386075" y="2546575"/>
            <a:ext cx="10479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1" name="Google Shape;331;p59"/>
          <p:cNvSpPr txBox="1"/>
          <p:nvPr/>
        </p:nvSpPr>
        <p:spPr>
          <a:xfrm>
            <a:off x="3468800" y="2203675"/>
            <a:ext cx="802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Read 1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59"/>
          <p:cNvCxnSpPr/>
          <p:nvPr/>
        </p:nvCxnSpPr>
        <p:spPr>
          <a:xfrm>
            <a:off x="5863025" y="2546575"/>
            <a:ext cx="3129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3" name="Google Shape;333;p59"/>
          <p:cNvCxnSpPr/>
          <p:nvPr/>
        </p:nvCxnSpPr>
        <p:spPr>
          <a:xfrm>
            <a:off x="6181700" y="2548025"/>
            <a:ext cx="2820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4" name="Google Shape;334;p59"/>
          <p:cNvCxnSpPr/>
          <p:nvPr/>
        </p:nvCxnSpPr>
        <p:spPr>
          <a:xfrm>
            <a:off x="6921200" y="1876500"/>
            <a:ext cx="0" cy="15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5" name="Google Shape;335;p59"/>
          <p:cNvCxnSpPr/>
          <p:nvPr/>
        </p:nvCxnSpPr>
        <p:spPr>
          <a:xfrm>
            <a:off x="6742175" y="2653350"/>
            <a:ext cx="176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6" name="Google Shape;336;p59"/>
          <p:cNvSpPr txBox="1"/>
          <p:nvPr/>
        </p:nvSpPr>
        <p:spPr>
          <a:xfrm>
            <a:off x="6890650" y="1984325"/>
            <a:ext cx="562500" cy="14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59"/>
          <p:cNvCxnSpPr/>
          <p:nvPr/>
        </p:nvCxnSpPr>
        <p:spPr>
          <a:xfrm rot="10800000">
            <a:off x="2147000" y="2108525"/>
            <a:ext cx="0" cy="15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8" name="Google Shape;338;p59"/>
          <p:cNvCxnSpPr/>
          <p:nvPr/>
        </p:nvCxnSpPr>
        <p:spPr>
          <a:xfrm rot="10800000">
            <a:off x="2149925" y="2885375"/>
            <a:ext cx="176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9" name="Google Shape;339;p59"/>
          <p:cNvCxnSpPr/>
          <p:nvPr/>
        </p:nvCxnSpPr>
        <p:spPr>
          <a:xfrm>
            <a:off x="2336675" y="2996200"/>
            <a:ext cx="2715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0" name="Google Shape;340;p59"/>
          <p:cNvCxnSpPr/>
          <p:nvPr/>
        </p:nvCxnSpPr>
        <p:spPr>
          <a:xfrm>
            <a:off x="2608175" y="2996200"/>
            <a:ext cx="2820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1" name="Google Shape;341;p59"/>
          <p:cNvCxnSpPr/>
          <p:nvPr/>
        </p:nvCxnSpPr>
        <p:spPr>
          <a:xfrm rot="10800000">
            <a:off x="5691350" y="2996200"/>
            <a:ext cx="3129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2" name="Google Shape;342;p59"/>
          <p:cNvCxnSpPr/>
          <p:nvPr/>
        </p:nvCxnSpPr>
        <p:spPr>
          <a:xfrm rot="10800000">
            <a:off x="4643450" y="2996200"/>
            <a:ext cx="10479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3" name="Google Shape;343;p59"/>
          <p:cNvSpPr txBox="1"/>
          <p:nvPr/>
        </p:nvSpPr>
        <p:spPr>
          <a:xfrm>
            <a:off x="4865250" y="2941975"/>
            <a:ext cx="802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Read 2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59"/>
          <p:cNvPicPr preferRelativeResize="0"/>
          <p:nvPr/>
        </p:nvPicPr>
        <p:blipFill rotWithShape="1">
          <a:blip r:embed="rId4">
            <a:alphaModFix/>
          </a:blip>
          <a:srcRect b="74630"/>
          <a:stretch/>
        </p:blipFill>
        <p:spPr>
          <a:xfrm>
            <a:off x="1246900" y="1336150"/>
            <a:ext cx="6150074" cy="87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9"/>
          <p:cNvPicPr preferRelativeResize="0"/>
          <p:nvPr/>
        </p:nvPicPr>
        <p:blipFill rotWithShape="1">
          <a:blip r:embed="rId5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9"/>
          <p:cNvSpPr txBox="1">
            <a:spLocks noGrp="1"/>
          </p:cNvSpPr>
          <p:nvPr>
            <p:ph type="title"/>
          </p:nvPr>
        </p:nvSpPr>
        <p:spPr>
          <a:xfrm>
            <a:off x="2260175" y="87875"/>
            <a:ext cx="8890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rgbClr val="666666"/>
                </a:solidFill>
              </a:rPr>
              <a:t>Sequencing read order</a:t>
            </a:r>
            <a:endParaRPr dirty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1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10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25" y="1403275"/>
            <a:ext cx="8839201" cy="3598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60"/>
          <p:cNvPicPr preferRelativeResize="0"/>
          <p:nvPr/>
        </p:nvPicPr>
        <p:blipFill rotWithShape="1">
          <a:blip r:embed="rId4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60"/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Paired-End sequencing</a:t>
            </a:r>
            <a:endParaRPr sz="2800" b="0" i="0" u="none" strike="noStrike" cap="none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0"/>
          <p:cNvSpPr txBox="1"/>
          <p:nvPr/>
        </p:nvSpPr>
        <p:spPr>
          <a:xfrm>
            <a:off x="69500" y="1025425"/>
            <a:ext cx="24261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Paired-end 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1925" y="790150"/>
            <a:ext cx="6548299" cy="42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61"/>
          <p:cNvPicPr preferRelativeResize="0"/>
          <p:nvPr/>
        </p:nvPicPr>
        <p:blipFill rotWithShape="1">
          <a:blip r:embed="rId4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61"/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Pooling and demultiplexing</a:t>
            </a:r>
            <a:endParaRPr sz="2800" b="0" i="0" u="none" strike="noStrike" cap="none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1"/>
          <p:cNvSpPr txBox="1"/>
          <p:nvPr/>
        </p:nvSpPr>
        <p:spPr>
          <a:xfrm>
            <a:off x="69500" y="1025425"/>
            <a:ext cx="24261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Multiplexing or Pooling = Sequencing multiple samples together in one reaction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295400"/>
            <a:ext cx="8839199" cy="365964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62"/>
          <p:cNvSpPr txBox="1"/>
          <p:nvPr/>
        </p:nvSpPr>
        <p:spPr>
          <a:xfrm>
            <a:off x="199876" y="122550"/>
            <a:ext cx="88392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fastq file </a:t>
            </a:r>
            <a:r>
              <a:rPr lang="en" sz="19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= raw data file containing sequencing data, generated by sequencer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2"/>
          <p:cNvSpPr txBox="1"/>
          <p:nvPr/>
        </p:nvSpPr>
        <p:spPr>
          <a:xfrm>
            <a:off x="180425" y="726150"/>
            <a:ext cx="89565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Sequencer will demultiplex sequencing data, resulting in a two fastq files per sample (read 1 and read 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5" name="Google Shape;375;p63"/>
          <p:cNvGraphicFramePr/>
          <p:nvPr/>
        </p:nvGraphicFramePr>
        <p:xfrm>
          <a:off x="5302879" y="2701337"/>
          <a:ext cx="3481875" cy="1500675"/>
        </p:xfrm>
        <a:graphic>
          <a:graphicData uri="http://schemas.openxmlformats.org/drawingml/2006/table">
            <a:tbl>
              <a:tblPr>
                <a:noFill/>
                <a:tableStyleId>{539072DC-5E30-4CAA-B43F-716575AE636B}</a:tableStyleId>
              </a:tblPr>
              <a:tblGrid>
                <a:gridCol w="99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Quality 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Probability of Incorrect 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Base Call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Inferred Base Call Accuracy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 (Q10)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in 10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90%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 (Q20)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in 100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30 (Q30)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in 1000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99.90%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6" name="Google Shape;376;p63"/>
          <p:cNvSpPr/>
          <p:nvPr/>
        </p:nvSpPr>
        <p:spPr>
          <a:xfrm>
            <a:off x="5307725" y="4262200"/>
            <a:ext cx="1467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= -10log</a:t>
            </a:r>
            <a:r>
              <a:rPr lang="en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3"/>
          <p:cNvSpPr/>
          <p:nvPr/>
        </p:nvSpPr>
        <p:spPr>
          <a:xfrm>
            <a:off x="203750" y="2449300"/>
            <a:ext cx="4744500" cy="1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read is described by 4 elements in 4 lines: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sequence identifier with information about the run (always starts with ‘@’)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base calls: </a:t>
            </a:r>
            <a:r>
              <a:rPr lang="en" sz="1400" b="0" i="0" u="none" strike="noStrike" cap="none">
                <a:solidFill>
                  <a:srgbClr val="9DC061"/>
                </a:solidFill>
                <a:latin typeface="Arial"/>
                <a:ea typeface="Arial"/>
                <a:cs typeface="Arial"/>
                <a:sym typeface="Arial"/>
              </a:rPr>
              <a:t>A, C, T, G and N</a:t>
            </a:r>
            <a:endParaRPr sz="1400" b="0" i="0" u="none" strike="noStrike" cap="none">
              <a:solidFill>
                <a:srgbClr val="9DC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separator, which is simply a plus (+) sign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base call quality scores (coded in ascii format)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63"/>
          <p:cNvSpPr txBox="1"/>
          <p:nvPr/>
        </p:nvSpPr>
        <p:spPr>
          <a:xfrm>
            <a:off x="281775" y="1211400"/>
            <a:ext cx="8281200" cy="1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@NB501961:14:HM7TLBGX2:1:11102:3233:17234 1:N:0:GATCACCA+GATCACCA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DC061"/>
                </a:solidFill>
                <a:latin typeface="Courier New"/>
                <a:ea typeface="Courier New"/>
                <a:cs typeface="Courier New"/>
                <a:sym typeface="Courier New"/>
              </a:rPr>
              <a:t>CATTCGGCTGGGTTTCGTCACCCTGCGGGAAGATGCGGGTCCAGGCGATAGAGGTGCGGAAGCATTTGAAGCCCA</a:t>
            </a:r>
            <a:endParaRPr sz="1400" b="0" i="0" u="none" strike="noStrike" cap="none">
              <a:solidFill>
                <a:srgbClr val="9DC06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AAAAAEEEEEEEEEE/EEEEEEEEEEEEEEEEEEEEEE&lt;EEEEEEEEE//EAEEEEEEAA/EEE/EEAAEEE&lt;6/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" name="Google Shape;379;p63"/>
          <p:cNvSpPr txBox="1"/>
          <p:nvPr/>
        </p:nvSpPr>
        <p:spPr>
          <a:xfrm>
            <a:off x="203750" y="851825"/>
            <a:ext cx="22467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Read1.fastq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63"/>
          <p:cNvSpPr txBox="1"/>
          <p:nvPr/>
        </p:nvSpPr>
        <p:spPr>
          <a:xfrm>
            <a:off x="606675" y="3301825"/>
            <a:ext cx="43914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marR="88900" lvl="0" indent="0" algn="l" rtl="0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@&lt;instrument&gt;:&lt;run number&gt;:&lt;flowcell ID&gt;: &lt;lane&gt;:&lt;tile&gt;:&lt;x-pos&gt;:&lt;y-pos&gt; &lt;read&gt;:&lt;is filtered&gt;:&lt;control number&gt;:&lt;sample number&gt;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3"/>
          <p:cNvSpPr txBox="1"/>
          <p:nvPr/>
        </p:nvSpPr>
        <p:spPr>
          <a:xfrm>
            <a:off x="199876" y="122550"/>
            <a:ext cx="88392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fastq file </a:t>
            </a:r>
            <a:r>
              <a:rPr lang="en" sz="19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= raw data file containing sequencing data, generated by sequencer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4"/>
          <p:cNvSpPr txBox="1"/>
          <p:nvPr/>
        </p:nvSpPr>
        <p:spPr>
          <a:xfrm>
            <a:off x="138975" y="83475"/>
            <a:ext cx="82152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Coverage </a:t>
            </a:r>
            <a:r>
              <a:rPr lang="en" sz="19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= How many times a base has been sequenced</a:t>
            </a:r>
            <a:endParaRPr sz="19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4"/>
          <p:cNvSpPr txBox="1"/>
          <p:nvPr/>
        </p:nvSpPr>
        <p:spPr>
          <a:xfrm>
            <a:off x="145700" y="929775"/>
            <a:ext cx="8730600" cy="6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= How many times each base has been sequenced on average throughout the genome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64"/>
          <p:cNvCxnSpPr/>
          <p:nvPr/>
        </p:nvCxnSpPr>
        <p:spPr>
          <a:xfrm>
            <a:off x="1605025" y="4415600"/>
            <a:ext cx="7107300" cy="0"/>
          </a:xfrm>
          <a:prstGeom prst="straightConnector1">
            <a:avLst/>
          </a:prstGeom>
          <a:noFill/>
          <a:ln w="22860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9" name="Google Shape;389;p64"/>
          <p:cNvSpPr txBox="1"/>
          <p:nvPr/>
        </p:nvSpPr>
        <p:spPr>
          <a:xfrm>
            <a:off x="3603525" y="4183750"/>
            <a:ext cx="36486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Reference genome</a:t>
            </a:r>
            <a:endParaRPr sz="17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64"/>
          <p:cNvCxnSpPr/>
          <p:nvPr/>
        </p:nvCxnSpPr>
        <p:spPr>
          <a:xfrm>
            <a:off x="1649375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1" name="Google Shape;391;p64"/>
          <p:cNvCxnSpPr/>
          <p:nvPr/>
        </p:nvCxnSpPr>
        <p:spPr>
          <a:xfrm>
            <a:off x="1852450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2" name="Google Shape;392;p64"/>
          <p:cNvCxnSpPr/>
          <p:nvPr/>
        </p:nvCxnSpPr>
        <p:spPr>
          <a:xfrm>
            <a:off x="1649375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3" name="Google Shape;393;p64"/>
          <p:cNvCxnSpPr/>
          <p:nvPr/>
        </p:nvCxnSpPr>
        <p:spPr>
          <a:xfrm>
            <a:off x="2004475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4" name="Google Shape;394;p64"/>
          <p:cNvCxnSpPr/>
          <p:nvPr/>
        </p:nvCxnSpPr>
        <p:spPr>
          <a:xfrm>
            <a:off x="4290550" y="3730004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5" name="Google Shape;395;p64"/>
          <p:cNvCxnSpPr/>
          <p:nvPr/>
        </p:nvCxnSpPr>
        <p:spPr>
          <a:xfrm>
            <a:off x="4645650" y="3619063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6" name="Google Shape;396;p64"/>
          <p:cNvCxnSpPr/>
          <p:nvPr/>
        </p:nvCxnSpPr>
        <p:spPr>
          <a:xfrm>
            <a:off x="4407975" y="350813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" name="Google Shape;397;p64"/>
          <p:cNvCxnSpPr/>
          <p:nvPr/>
        </p:nvCxnSpPr>
        <p:spPr>
          <a:xfrm>
            <a:off x="4611050" y="3397196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8" name="Google Shape;398;p64"/>
          <p:cNvCxnSpPr/>
          <p:nvPr/>
        </p:nvCxnSpPr>
        <p:spPr>
          <a:xfrm>
            <a:off x="4407975" y="3286254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9" name="Google Shape;399;p64"/>
          <p:cNvCxnSpPr/>
          <p:nvPr/>
        </p:nvCxnSpPr>
        <p:spPr>
          <a:xfrm>
            <a:off x="4763075" y="3175313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0" name="Google Shape;400;p64"/>
          <p:cNvCxnSpPr/>
          <p:nvPr/>
        </p:nvCxnSpPr>
        <p:spPr>
          <a:xfrm>
            <a:off x="2631675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1" name="Google Shape;401;p64"/>
          <p:cNvCxnSpPr/>
          <p:nvPr/>
        </p:nvCxnSpPr>
        <p:spPr>
          <a:xfrm>
            <a:off x="2834750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" name="Google Shape;402;p64"/>
          <p:cNvCxnSpPr/>
          <p:nvPr/>
        </p:nvCxnSpPr>
        <p:spPr>
          <a:xfrm>
            <a:off x="2631675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3" name="Google Shape;403;p64"/>
          <p:cNvCxnSpPr/>
          <p:nvPr/>
        </p:nvCxnSpPr>
        <p:spPr>
          <a:xfrm>
            <a:off x="2986775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4" name="Google Shape;404;p64"/>
          <p:cNvCxnSpPr/>
          <p:nvPr/>
        </p:nvCxnSpPr>
        <p:spPr>
          <a:xfrm>
            <a:off x="3603525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5" name="Google Shape;405;p64"/>
          <p:cNvCxnSpPr/>
          <p:nvPr/>
        </p:nvCxnSpPr>
        <p:spPr>
          <a:xfrm>
            <a:off x="3806600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6" name="Google Shape;406;p64"/>
          <p:cNvCxnSpPr/>
          <p:nvPr/>
        </p:nvCxnSpPr>
        <p:spPr>
          <a:xfrm>
            <a:off x="3603525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" name="Google Shape;407;p64"/>
          <p:cNvCxnSpPr/>
          <p:nvPr/>
        </p:nvCxnSpPr>
        <p:spPr>
          <a:xfrm>
            <a:off x="3958625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8" name="Google Shape;408;p64"/>
          <p:cNvCxnSpPr/>
          <p:nvPr/>
        </p:nvCxnSpPr>
        <p:spPr>
          <a:xfrm>
            <a:off x="4597325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9" name="Google Shape;409;p64"/>
          <p:cNvCxnSpPr/>
          <p:nvPr/>
        </p:nvCxnSpPr>
        <p:spPr>
          <a:xfrm>
            <a:off x="4800400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64"/>
          <p:cNvCxnSpPr/>
          <p:nvPr/>
        </p:nvCxnSpPr>
        <p:spPr>
          <a:xfrm>
            <a:off x="4597325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1" name="Google Shape;411;p64"/>
          <p:cNvCxnSpPr/>
          <p:nvPr/>
        </p:nvCxnSpPr>
        <p:spPr>
          <a:xfrm>
            <a:off x="4952425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2" name="Google Shape;412;p64"/>
          <p:cNvCxnSpPr/>
          <p:nvPr/>
        </p:nvCxnSpPr>
        <p:spPr>
          <a:xfrm>
            <a:off x="5575450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" name="Google Shape;413;p64"/>
          <p:cNvCxnSpPr/>
          <p:nvPr/>
        </p:nvCxnSpPr>
        <p:spPr>
          <a:xfrm>
            <a:off x="5778525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4" name="Google Shape;414;p64"/>
          <p:cNvCxnSpPr/>
          <p:nvPr/>
        </p:nvCxnSpPr>
        <p:spPr>
          <a:xfrm>
            <a:off x="5575450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5" name="Google Shape;415;p64"/>
          <p:cNvCxnSpPr/>
          <p:nvPr/>
        </p:nvCxnSpPr>
        <p:spPr>
          <a:xfrm>
            <a:off x="5930550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6" name="Google Shape;416;p64"/>
          <p:cNvCxnSpPr/>
          <p:nvPr/>
        </p:nvCxnSpPr>
        <p:spPr>
          <a:xfrm>
            <a:off x="6528050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7" name="Google Shape;417;p64"/>
          <p:cNvCxnSpPr/>
          <p:nvPr/>
        </p:nvCxnSpPr>
        <p:spPr>
          <a:xfrm>
            <a:off x="6731125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" name="Google Shape;418;p64"/>
          <p:cNvCxnSpPr/>
          <p:nvPr/>
        </p:nvCxnSpPr>
        <p:spPr>
          <a:xfrm>
            <a:off x="6528050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9" name="Google Shape;419;p64"/>
          <p:cNvCxnSpPr/>
          <p:nvPr/>
        </p:nvCxnSpPr>
        <p:spPr>
          <a:xfrm>
            <a:off x="6883150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0" name="Google Shape;420;p64"/>
          <p:cNvCxnSpPr/>
          <p:nvPr/>
        </p:nvCxnSpPr>
        <p:spPr>
          <a:xfrm>
            <a:off x="7480650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1" name="Google Shape;421;p64"/>
          <p:cNvCxnSpPr/>
          <p:nvPr/>
        </p:nvCxnSpPr>
        <p:spPr>
          <a:xfrm>
            <a:off x="7683725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2" name="Google Shape;422;p64"/>
          <p:cNvCxnSpPr/>
          <p:nvPr/>
        </p:nvCxnSpPr>
        <p:spPr>
          <a:xfrm>
            <a:off x="7480650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" name="Google Shape;423;p64"/>
          <p:cNvCxnSpPr/>
          <p:nvPr/>
        </p:nvCxnSpPr>
        <p:spPr>
          <a:xfrm>
            <a:off x="7835750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4" name="Google Shape;424;p64"/>
          <p:cNvCxnSpPr/>
          <p:nvPr/>
        </p:nvCxnSpPr>
        <p:spPr>
          <a:xfrm>
            <a:off x="5283025" y="3729992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" name="Google Shape;425;p64"/>
          <p:cNvCxnSpPr/>
          <p:nvPr/>
        </p:nvCxnSpPr>
        <p:spPr>
          <a:xfrm>
            <a:off x="5638125" y="36190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" name="Google Shape;426;p64"/>
          <p:cNvCxnSpPr/>
          <p:nvPr/>
        </p:nvCxnSpPr>
        <p:spPr>
          <a:xfrm>
            <a:off x="5400450" y="35081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7" name="Google Shape;427;p64"/>
          <p:cNvCxnSpPr/>
          <p:nvPr/>
        </p:nvCxnSpPr>
        <p:spPr>
          <a:xfrm>
            <a:off x="5603525" y="3397183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" name="Google Shape;428;p64"/>
          <p:cNvCxnSpPr/>
          <p:nvPr/>
        </p:nvCxnSpPr>
        <p:spPr>
          <a:xfrm>
            <a:off x="5400450" y="3286242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" name="Google Shape;429;p64"/>
          <p:cNvCxnSpPr/>
          <p:nvPr/>
        </p:nvCxnSpPr>
        <p:spPr>
          <a:xfrm>
            <a:off x="5755550" y="317530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0" name="Google Shape;430;p64"/>
          <p:cNvCxnSpPr/>
          <p:nvPr/>
        </p:nvCxnSpPr>
        <p:spPr>
          <a:xfrm>
            <a:off x="6210275" y="3729979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1" name="Google Shape;431;p64"/>
          <p:cNvCxnSpPr/>
          <p:nvPr/>
        </p:nvCxnSpPr>
        <p:spPr>
          <a:xfrm>
            <a:off x="6565375" y="361903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2" name="Google Shape;432;p64"/>
          <p:cNvCxnSpPr/>
          <p:nvPr/>
        </p:nvCxnSpPr>
        <p:spPr>
          <a:xfrm>
            <a:off x="6327700" y="3508113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" name="Google Shape;433;p64"/>
          <p:cNvCxnSpPr/>
          <p:nvPr/>
        </p:nvCxnSpPr>
        <p:spPr>
          <a:xfrm>
            <a:off x="6530775" y="3397171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" name="Google Shape;434;p64"/>
          <p:cNvCxnSpPr/>
          <p:nvPr/>
        </p:nvCxnSpPr>
        <p:spPr>
          <a:xfrm>
            <a:off x="6327700" y="3286229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p64"/>
          <p:cNvCxnSpPr/>
          <p:nvPr/>
        </p:nvCxnSpPr>
        <p:spPr>
          <a:xfrm>
            <a:off x="6682800" y="317528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6" name="Google Shape;436;p64"/>
          <p:cNvCxnSpPr/>
          <p:nvPr/>
        </p:nvCxnSpPr>
        <p:spPr>
          <a:xfrm>
            <a:off x="6091425" y="30645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7" name="Google Shape;437;p64"/>
          <p:cNvCxnSpPr/>
          <p:nvPr/>
        </p:nvCxnSpPr>
        <p:spPr>
          <a:xfrm>
            <a:off x="6446525" y="29536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8" name="Google Shape;438;p64"/>
          <p:cNvCxnSpPr/>
          <p:nvPr/>
        </p:nvCxnSpPr>
        <p:spPr>
          <a:xfrm>
            <a:off x="6208850" y="284270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" name="Google Shape;439;p64"/>
          <p:cNvCxnSpPr/>
          <p:nvPr/>
        </p:nvCxnSpPr>
        <p:spPr>
          <a:xfrm>
            <a:off x="6411925" y="273175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0" name="Google Shape;440;p64"/>
          <p:cNvCxnSpPr/>
          <p:nvPr/>
        </p:nvCxnSpPr>
        <p:spPr>
          <a:xfrm>
            <a:off x="6208850" y="262081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1" name="Google Shape;441;p64"/>
          <p:cNvCxnSpPr/>
          <p:nvPr/>
        </p:nvCxnSpPr>
        <p:spPr>
          <a:xfrm>
            <a:off x="6563950" y="250987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2" name="Google Shape;442;p64"/>
          <p:cNvSpPr txBox="1"/>
          <p:nvPr/>
        </p:nvSpPr>
        <p:spPr>
          <a:xfrm>
            <a:off x="1567025" y="3029900"/>
            <a:ext cx="16470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depth = 4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64"/>
          <p:cNvSpPr txBox="1"/>
          <p:nvPr/>
        </p:nvSpPr>
        <p:spPr>
          <a:xfrm>
            <a:off x="4099700" y="2313688"/>
            <a:ext cx="18714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depth = 10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4"/>
          <p:cNvSpPr txBox="1"/>
          <p:nvPr/>
        </p:nvSpPr>
        <p:spPr>
          <a:xfrm>
            <a:off x="5899875" y="1605525"/>
            <a:ext cx="20253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depth = 16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" name="Google Shape;445;p64"/>
          <p:cNvCxnSpPr/>
          <p:nvPr/>
        </p:nvCxnSpPr>
        <p:spPr>
          <a:xfrm>
            <a:off x="2396825" y="3440125"/>
            <a:ext cx="0" cy="86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46" name="Google Shape;446;p64"/>
          <p:cNvCxnSpPr>
            <a:stCxn id="443" idx="2"/>
          </p:cNvCxnSpPr>
          <p:nvPr/>
        </p:nvCxnSpPr>
        <p:spPr>
          <a:xfrm flipH="1">
            <a:off x="5025800" y="2739388"/>
            <a:ext cx="9600" cy="156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47" name="Google Shape;447;p64"/>
          <p:cNvCxnSpPr>
            <a:stCxn id="444" idx="2"/>
          </p:cNvCxnSpPr>
          <p:nvPr/>
        </p:nvCxnSpPr>
        <p:spPr>
          <a:xfrm>
            <a:off x="6912525" y="2031225"/>
            <a:ext cx="0" cy="227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48" name="Google Shape;448;p64"/>
          <p:cNvSpPr txBox="1"/>
          <p:nvPr/>
        </p:nvSpPr>
        <p:spPr>
          <a:xfrm>
            <a:off x="-125825" y="2682775"/>
            <a:ext cx="13683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 aligned to reference genome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" name="Google Shape;449;p64"/>
          <p:cNvGrpSpPr/>
          <p:nvPr/>
        </p:nvGrpSpPr>
        <p:grpSpPr>
          <a:xfrm rot="10800000">
            <a:off x="1126339" y="1604988"/>
            <a:ext cx="508712" cy="2631600"/>
            <a:chOff x="7380788" y="1637825"/>
            <a:chExt cx="508712" cy="2631600"/>
          </a:xfrm>
        </p:grpSpPr>
        <p:sp>
          <p:nvSpPr>
            <p:cNvPr id="450" name="Google Shape;450;p64"/>
            <p:cNvSpPr/>
            <p:nvPr/>
          </p:nvSpPr>
          <p:spPr>
            <a:xfrm>
              <a:off x="7384600" y="1648925"/>
              <a:ext cx="504900" cy="2609400"/>
            </a:xfrm>
            <a:prstGeom prst="brace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64"/>
            <p:cNvSpPr/>
            <p:nvPr/>
          </p:nvSpPr>
          <p:spPr>
            <a:xfrm>
              <a:off x="7380788" y="1637825"/>
              <a:ext cx="155400" cy="2631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/>
        </p:nvSpPr>
        <p:spPr>
          <a:xfrm>
            <a:off x="252225" y="1888400"/>
            <a:ext cx="87477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D9D9D9"/>
                </a:solidFill>
              </a:rPr>
              <a:t>Next: 07-I_ </a:t>
            </a:r>
            <a:r>
              <a:rPr lang="en" sz="2800" b="1" dirty="0" err="1">
                <a:solidFill>
                  <a:srgbClr val="D9D9D9"/>
                </a:solidFill>
              </a:rPr>
              <a:t>iSeq</a:t>
            </a:r>
            <a:r>
              <a:rPr lang="en" sz="2800" b="1" dirty="0">
                <a:solidFill>
                  <a:srgbClr val="D9D9D9"/>
                </a:solidFill>
              </a:rPr>
              <a:t> 100 / MiSeq loading and sequencing</a:t>
            </a:r>
            <a:endParaRPr sz="2800" b="1" dirty="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F79471E9-4F1B-344D-9856-F809C63B85B4}" vid="{2FD73ADB-B93C-3142-8107-D94AE41C2BA2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646</Words>
  <Application>Microsoft Macintosh PowerPoint</Application>
  <PresentationFormat>On-screen Show (16:9)</PresentationFormat>
  <Paragraphs>131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Aptos</vt:lpstr>
      <vt:lpstr>Courier New</vt:lpstr>
      <vt:lpstr>Aptos Display</vt:lpstr>
      <vt:lpstr>Calibri</vt:lpstr>
      <vt:lpstr>Office Theme</vt:lpstr>
      <vt:lpstr>      Introduction to  Illumina sequencing and mNGS data analysis </vt:lpstr>
      <vt:lpstr>mNGS pipeline</vt:lpstr>
      <vt:lpstr>PowerPoint Presentation</vt:lpstr>
      <vt:lpstr>PowerPoint Presentation</vt:lpstr>
      <vt:lpstr>Sequencing library = collection of fragments ready for sequencing </vt:lpstr>
      <vt:lpstr>PowerPoint Presentation</vt:lpstr>
      <vt:lpstr>PowerPoint Presentation</vt:lpstr>
      <vt:lpstr>PowerPoint Presentation</vt:lpstr>
      <vt:lpstr>PowerPoint Presentation</vt:lpstr>
      <vt:lpstr>Sequencing read order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Juliana Gil</cp:lastModifiedBy>
  <cp:revision>14</cp:revision>
  <dcterms:modified xsi:type="dcterms:W3CDTF">2026-10-08T23:29:10Z</dcterms:modified>
</cp:coreProperties>
</file>