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106_0.xml" ContentType="application/vnd.ms-powerpoint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9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96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8155BD4-F74D-1F70-CCBC-237FB302F341}" name="Juliana Gil" initials="JG" userId="S::juliana.gil@czbiohub.org::5f6b24e8-ba98-4699-b143-05c9bc962fe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39072DC-5E30-4CAA-B43F-716575AE636B}">
  <a:tblStyle styleId="{539072DC-5E30-4CAA-B43F-716575AE636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73"/>
    <p:restoredTop sz="94658"/>
  </p:normalViewPr>
  <p:slideViewPr>
    <p:cSldViewPr snapToGrid="0">
      <p:cViewPr varScale="1">
        <p:scale>
          <a:sx n="154" d="100"/>
          <a:sy n="154" d="100"/>
        </p:scale>
        <p:origin x="648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8/10/relationships/authors" Target="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omments/modernComment_106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DB6DBA-1F8D-BD47-A54E-954F9FBD38D8}" authorId="{98155BD4-F74D-1F70-CCBC-237FB302F341}" created="2026-02-19T22:33:54.478">
    <pc:sldMkLst xmlns:pc="http://schemas.microsoft.com/office/powerpoint/2013/main/command">
      <pc:docMk/>
      <pc:sldMk cId="0" sldId="262"/>
    </pc:sldMkLst>
    <p188:txBody>
      <a:bodyPr/>
      <a:lstStyle/>
      <a:p>
        <a:r>
          <a:rPr lang="en-US"/>
          <a:t>link illumina's documentation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750f337bdb_10_14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g2750f337bdb_10_14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750f337bdb_10_14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g2750f337bdb_10_14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750f337bdb_10_14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g2750f337bdb_10_14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From: Illumina_sequencing_introduction.pdf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750f337bdb_10_14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g2750f337bdb_10_14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750f337bdb_10_14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g2750f337bdb_10_14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750f337bdb_10_15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2750f337bdb_10_15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From: Illumina_sequencing_introduction.pdf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750f337bdb_10_15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" name="Google Shape;317;g2750f337bdb_10_15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From: </a:t>
            </a:r>
            <a:r>
              <a:rPr lang="en" dirty="0" err="1">
                <a:solidFill>
                  <a:schemeClr val="dk1"/>
                </a:solidFill>
              </a:rPr>
              <a:t>Illumina_sequencing_introduction.pdf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750f337bdb_10_15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5" name="Google Shape;325;g2750f337bdb_10_15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750f337bdb_10_15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9" name="Google Shape;349;g2750f337bdb_10_15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From: Illumina_sequencing_introduction.pdf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750f337bdb_10_1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7" name="Google Shape;357;g2750f337bdb_10_15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From: Illumina_sequencing_introduction.pdf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750f337bdb_10_15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5" name="Google Shape;365;g2750f337bdb_10_15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750f337bdb_10_15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2" name="Google Shape;372;g2750f337bdb_10_15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@&lt;instrument&gt;:&lt;run number&gt;:&lt;flowcell ID&gt;:&lt;lane&gt;:&lt;tile&gt;:&lt;x-pos&gt;:&lt;y-pos&gt; &lt;read&gt;:&lt;is filtered&gt;:&lt;control number&gt;:&lt;sample number&gt;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3" name="Google Shape;373;g2750f337bdb_10_157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750f337bdb_10_1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4" name="Google Shape;384;g2750f337bdb_10_1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 higher coverage results in a higher quality (fewer ‘false’ mutations).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750f337bdb_10_16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4" name="Google Shape;454;g2750f337bdb_10_16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2750f337bdb_10_16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7" name="Google Shape;477;g2750f337bdb_10_16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2750f337bdb_10_16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2750f337bdb_10_16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2750f337bdb_10_17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9" name="Google Shape;509;g2750f337bdb_10_17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2750f337bdb_10_17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5" name="Google Shape;515;g2750f337bdb_10_17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2750f337bdb_10_173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38" name="Google Shape;538;g2750f337bdb_10_17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2750f337bdb_10_18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33" name="Google Shape;633;g2750f337bdb_10_18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2750f337bdb_10_19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29" name="Google Shape;729;g2750f337bdb_10_19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2750f337bdb_10_20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5" name="Google Shape;825;g2750f337bdb_10_20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2750f337bdb_10_21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21" name="Google Shape;921;g2750f337bdb_10_2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2750f337bdb_10_2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3" name="Google Shape;1023;g2750f337bdb_10_2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2750f337bdb_10_2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0" name="Google Shape;1030;g2750f337bdb_10_2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2750f337bdb_10_2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7" name="Google Shape;1037;g2750f337bdb_10_2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2750f337bdb_10_2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4" name="Google Shape;1044;g2750f337bdb_10_2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2750f337bdb_10_2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0" name="Google Shape;1090;g2750f337bdb_10_2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2750f337bdb_10_2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8" name="Google Shape;1128;g2750f337bdb_10_2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2750f337bdb_10_2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7" name="Google Shape;1167;g2750f337bdb_10_2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g2750f337bdb_10_23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2" name="Google Shape;1202;g2750f337bdb_10_23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g2750f337bdb_10_2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6" name="Google Shape;1236;g2750f337bdb_10_24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g2750f337bdb_10_24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1" name="Google Shape;1261;g2750f337bdb_10_24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g2750f337bdb_10_246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88" name="Google Shape;1288;g2750f337bdb_10_24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g2750f337bdb_10_26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3" name="Google Shape;1463;g2750f337bdb_10_26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g2750f337bdb_10_26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4" name="Google Shape;1474;g2750f337bdb_10_26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g2750f337bdb_10_26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3" name="Google Shape;1483;g2750f337bdb_10_26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g2750f337bdb_10_26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9" name="Google Shape;1489;g2750f337bdb_10_26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2750f337bdb_10_26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7" name="Google Shape;1497;g2750f337bdb_10_26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g2750f337bdb_10_26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5" name="Google Shape;1505;g2750f337bdb_10_26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6E344-5CD1-52B1-9AF1-86D9FC96F0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507B1A-61F7-BF2A-9A13-222FFF99D6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8518A-7E47-1CDB-52C4-87059A76D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</a:pPr>
            <a:endParaRPr lang="en-US" kern="1200">
              <a:solidFill>
                <a:prstClr val="black">
                  <a:tint val="82000"/>
                </a:prstClr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7FAF3-EB76-21F9-DC9E-B0D007685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1001" y="4869657"/>
            <a:ext cx="1143000" cy="273844"/>
          </a:xfrm>
        </p:spPr>
        <p:txBody>
          <a:bodyPr/>
          <a:lstStyle>
            <a:lvl1pPr>
              <a:defRPr sz="800"/>
            </a:lvl1pPr>
          </a:lstStyle>
          <a:p>
            <a:pPr defTabSz="685800">
              <a:buClrTx/>
            </a:pPr>
            <a:r>
              <a:rPr lang="en-US" kern="1200">
                <a:solidFill>
                  <a:prstClr val="black">
                    <a:tint val="82000"/>
                  </a:prstClr>
                </a:solidFill>
                <a:ea typeface="+mn-ea"/>
              </a:rPr>
              <a:t>Revised 01/15/2026</a:t>
            </a:r>
            <a:endParaRPr lang="en-US" sz="800" kern="1200" dirty="0">
              <a:solidFill>
                <a:prstClr val="black">
                  <a:tint val="82000"/>
                </a:prstClr>
              </a:solidFill>
              <a:ea typeface="+mn-e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A33CB-562A-415E-03CE-1864303B0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F384F357-E468-3F40-A4AB-0BD97BEF585F}" type="slidenum">
              <a:rPr lang="en-US" sz="1350" kern="1200" smtClean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US" sz="1350" kern="120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0993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62F3F-915B-47EC-F2C8-39CEBD518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27F3B-7404-E442-4CFF-563AD80B9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29F79-3992-8BF2-6579-A0B7C066F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</a:pPr>
            <a:endParaRPr lang="en-US" kern="1200">
              <a:solidFill>
                <a:prstClr val="black">
                  <a:tint val="82000"/>
                </a:prstClr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2300B-B95B-E3F8-3259-3F0604CFD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89377" y="4869657"/>
            <a:ext cx="1154624" cy="273844"/>
          </a:xfrm>
        </p:spPr>
        <p:txBody>
          <a:bodyPr/>
          <a:lstStyle>
            <a:lvl1pPr>
              <a:defRPr sz="800"/>
            </a:lvl1pPr>
          </a:lstStyle>
          <a:p>
            <a:pPr defTabSz="685800">
              <a:buClrTx/>
            </a:pPr>
            <a:r>
              <a:rPr lang="en-US" kern="1200">
                <a:solidFill>
                  <a:prstClr val="black">
                    <a:tint val="82000"/>
                  </a:prstClr>
                </a:solidFill>
                <a:ea typeface="+mn-ea"/>
              </a:rPr>
              <a:t>Revised 01/15/2026</a:t>
            </a:r>
            <a:endParaRPr lang="en-US" sz="800" kern="1200" dirty="0">
              <a:solidFill>
                <a:prstClr val="black">
                  <a:tint val="82000"/>
                </a:prstClr>
              </a:solidFill>
              <a:ea typeface="+mn-e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6E737-C558-62E3-BFFD-1D0275E31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F384F357-E468-3F40-A4AB-0BD97BEF585F}" type="slidenum">
              <a:rPr lang="en-US" sz="1350" kern="1200" smtClean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US" sz="1350" kern="120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9231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0EE0A-DFC9-CD3E-85F2-90E23A8B3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E46C0-C910-7F35-4342-0FBE5C022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5FB62-98E2-94E3-DD43-8AEB3AAD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</a:pPr>
            <a:endParaRPr lang="en-US" kern="1200">
              <a:solidFill>
                <a:prstClr val="black">
                  <a:tint val="82000"/>
                </a:prstClr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9DBC7-5B17-5B2E-18DC-5E4850841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35871" y="4869657"/>
            <a:ext cx="1108129" cy="273844"/>
          </a:xfrm>
        </p:spPr>
        <p:txBody>
          <a:bodyPr/>
          <a:lstStyle>
            <a:lvl1pPr>
              <a:defRPr sz="800"/>
            </a:lvl1pPr>
          </a:lstStyle>
          <a:p>
            <a:pPr defTabSz="685800">
              <a:buClrTx/>
            </a:pPr>
            <a:r>
              <a:rPr lang="en-US" kern="1200">
                <a:solidFill>
                  <a:prstClr val="black">
                    <a:tint val="82000"/>
                  </a:prstClr>
                </a:solidFill>
                <a:ea typeface="+mn-ea"/>
              </a:rPr>
              <a:t>Revised 01/15/2026</a:t>
            </a:r>
            <a:endParaRPr lang="en-US" sz="800" kern="1200" dirty="0">
              <a:solidFill>
                <a:prstClr val="black">
                  <a:tint val="82000"/>
                </a:prstClr>
              </a:solidFill>
              <a:ea typeface="+mn-e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6B35B-049B-C1E7-21C2-1ED5E4946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F384F357-E468-3F40-A4AB-0BD97BEF585F}" type="slidenum">
              <a:rPr lang="en-US" sz="1350" kern="1200" smtClean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US" sz="1350" kern="120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4233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A3EF6-782C-CD76-79AB-CC149F734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FBE93-D1D6-42ED-6C6C-9FB96DF1C7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730353-A8EC-FAE3-E8DA-E79065BBF9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5D51ED-2212-A11F-D4C2-CC4A73CD3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</a:pPr>
            <a:endParaRPr lang="en-US" kern="1200">
              <a:solidFill>
                <a:prstClr val="black">
                  <a:tint val="82000"/>
                </a:prstClr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188AF9-16B7-F9AC-94E4-67618B025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20373" y="4869657"/>
            <a:ext cx="1123627" cy="273844"/>
          </a:xfrm>
        </p:spPr>
        <p:txBody>
          <a:bodyPr/>
          <a:lstStyle>
            <a:lvl1pPr>
              <a:defRPr sz="800"/>
            </a:lvl1pPr>
          </a:lstStyle>
          <a:p>
            <a:pPr defTabSz="685800">
              <a:buClrTx/>
            </a:pPr>
            <a:r>
              <a:rPr lang="en-US" kern="1200">
                <a:solidFill>
                  <a:prstClr val="black">
                    <a:tint val="82000"/>
                  </a:prstClr>
                </a:solidFill>
                <a:ea typeface="+mn-ea"/>
              </a:rPr>
              <a:t>Revised 01/15/2026</a:t>
            </a:r>
            <a:endParaRPr lang="en-US" sz="800" kern="1200" dirty="0">
              <a:solidFill>
                <a:prstClr val="black">
                  <a:tint val="82000"/>
                </a:prstClr>
              </a:solidFill>
              <a:ea typeface="+mn-ea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46C1CE-6DFE-F894-7087-0D65C516F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F384F357-E468-3F40-A4AB-0BD97BEF585F}" type="slidenum">
              <a:rPr lang="en-US" sz="1350" kern="1200" smtClean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US" sz="1350" kern="120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994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B48AD-9F9D-E491-275D-8928F334A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87CC1-75E5-A155-9109-06A84CD62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03473-8097-9CDA-EBB3-DA00A770C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475FDC-3998-9801-1BFD-ACE6CE273F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3300A8-6438-2F26-D8F8-15CCC4466D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ADC652-3801-F4E8-07A1-7EE07A006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</a:pPr>
            <a:endParaRPr lang="en-US" kern="1200">
              <a:solidFill>
                <a:prstClr val="black">
                  <a:tint val="82000"/>
                </a:prstClr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E868BB-1354-66B0-27F3-E0DB4F342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buClrTx/>
            </a:pPr>
            <a:r>
              <a:rPr lang="en-US" kern="1200">
                <a:solidFill>
                  <a:prstClr val="black">
                    <a:tint val="82000"/>
                  </a:prstClr>
                </a:solidFill>
                <a:ea typeface="+mn-ea"/>
              </a:rPr>
              <a:t>Revised 01/15/2026</a:t>
            </a:r>
            <a:endParaRPr lang="en-US" kern="1200" dirty="0">
              <a:solidFill>
                <a:prstClr val="black">
                  <a:tint val="82000"/>
                </a:prstClr>
              </a:solidFill>
              <a:ea typeface="+mn-ea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33EC7B-E7AB-9386-4E1B-27C114E1A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F384F357-E468-3F40-A4AB-0BD97BEF585F}" type="slidenum">
              <a:rPr lang="en-US" sz="1350" kern="1200" smtClean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US" sz="1350" kern="120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586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501D5-EE3C-96B9-321B-815693E36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C3E4A-A43D-E961-DB43-13ABB0315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</a:pPr>
            <a:endParaRPr lang="en-US" kern="1200">
              <a:solidFill>
                <a:prstClr val="black">
                  <a:tint val="82000"/>
                </a:prstClr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C3C401-9340-0985-AB9B-7D658D92E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buClrTx/>
            </a:pPr>
            <a:r>
              <a:rPr lang="en-US" kern="1200">
                <a:solidFill>
                  <a:prstClr val="black">
                    <a:tint val="82000"/>
                  </a:prstClr>
                </a:solidFill>
                <a:ea typeface="+mn-ea"/>
              </a:rPr>
              <a:t>Revised 01/15/2026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A2D15A-65CE-D895-1665-1D679B1AC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F384F357-E468-3F40-A4AB-0BD97BEF585F}" type="slidenum">
              <a:rPr lang="en-US" sz="1350" kern="1200" smtClean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US" sz="1350" kern="120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8686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D7BEC0-8C51-BDD5-A9E2-9E71B7F8C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</a:pPr>
            <a:endParaRPr lang="en-US" kern="1200">
              <a:solidFill>
                <a:prstClr val="black">
                  <a:tint val="82000"/>
                </a:prstClr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DB83CC-97C7-7E29-DEC4-16DB3464B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buClrTx/>
            </a:pPr>
            <a:r>
              <a:rPr lang="en-US" kern="1200">
                <a:solidFill>
                  <a:prstClr val="black">
                    <a:tint val="82000"/>
                  </a:prstClr>
                </a:solidFill>
                <a:ea typeface="+mn-ea"/>
              </a:rPr>
              <a:t>Revised 01/15/2026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79A276-D22B-85D1-768A-6448B46E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F384F357-E468-3F40-A4AB-0BD97BEF585F}" type="slidenum">
              <a:rPr lang="en-US" sz="1350" kern="1200" smtClean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US" sz="1350" kern="120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5905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323CF-2B47-9299-B095-BC6A1C831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C39F5-2FB5-CA4F-98A0-5F0A4D93B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7A983D-3ADA-891A-A9D2-7228EB36BB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E5EEA9-5D3C-1515-69BE-B43ADA8EA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</a:pPr>
            <a:endParaRPr lang="en-US" kern="1200">
              <a:solidFill>
                <a:prstClr val="black">
                  <a:tint val="82000"/>
                </a:prstClr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0D0C23-2506-D330-B35B-E99BF8411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buClrTx/>
            </a:pPr>
            <a:r>
              <a:rPr lang="en-US" kern="1200">
                <a:solidFill>
                  <a:prstClr val="black">
                    <a:tint val="82000"/>
                  </a:prstClr>
                </a:solidFill>
                <a:ea typeface="+mn-ea"/>
              </a:rPr>
              <a:t>Revised 01/15/2026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193FD5-11EC-8C8F-6CC3-49F9CED23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F384F357-E468-3F40-A4AB-0BD97BEF585F}" type="slidenum">
              <a:rPr lang="en-US" sz="1350" kern="1200" smtClean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US" sz="1350" kern="120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1714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0B516-9674-08A7-46C8-C219A1A8F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8F8D2D-61CF-D69B-C1DB-9CF701A708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BE4159-B4E6-56B2-AEEE-931D2ACC7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358CE5-0D70-FC57-4E6B-315302FBF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</a:pPr>
            <a:endParaRPr lang="en-US" kern="1200">
              <a:solidFill>
                <a:prstClr val="black">
                  <a:tint val="82000"/>
                </a:prstClr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A3B5D-3814-A833-D8B8-D76A2CBB7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buClrTx/>
            </a:pPr>
            <a:r>
              <a:rPr lang="en-US" kern="1200">
                <a:solidFill>
                  <a:prstClr val="black">
                    <a:tint val="82000"/>
                  </a:prstClr>
                </a:solidFill>
                <a:ea typeface="+mn-ea"/>
              </a:rPr>
              <a:t>Revised 01/15/2026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1D15AE-59A8-53E4-124C-174234FC6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F384F357-E468-3F40-A4AB-0BD97BEF585F}" type="slidenum">
              <a:rPr lang="en-US" sz="1350" kern="1200" smtClean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US" sz="1350" kern="120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2125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98D83-2562-03E8-95AD-D265FD553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F6F67B-F89D-86AB-0010-F1D36E30C5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5F117-A36C-B9C1-3021-192276F05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</a:pPr>
            <a:endParaRPr lang="en-US" kern="1200">
              <a:solidFill>
                <a:prstClr val="black">
                  <a:tint val="82000"/>
                </a:prstClr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65BB3-575B-05CB-8CCC-BF3573831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buClrTx/>
            </a:pPr>
            <a:r>
              <a:rPr lang="en-US" kern="1200">
                <a:solidFill>
                  <a:prstClr val="black">
                    <a:tint val="82000"/>
                  </a:prstClr>
                </a:solidFill>
                <a:ea typeface="+mn-ea"/>
              </a:rPr>
              <a:t>Revised 01/15/2026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C3427-2B99-F5B8-BEDB-6C35A75A9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F384F357-E468-3F40-A4AB-0BD97BEF585F}" type="slidenum">
              <a:rPr lang="en-US" sz="1350" kern="1200" smtClean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US" sz="1350" kern="120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1854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B47353-E0B6-9CC5-47F8-F69782D630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69AF06-27A6-1C37-337F-1779250B30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42D9E-6809-1A0C-3B83-5D8C8ABC0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</a:pPr>
            <a:endParaRPr lang="en-US" kern="1200">
              <a:solidFill>
                <a:prstClr val="black">
                  <a:tint val="82000"/>
                </a:prstClr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6A586-784F-0EF1-6992-5C70855CB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buClrTx/>
            </a:pPr>
            <a:r>
              <a:rPr lang="en-US" kern="1200">
                <a:solidFill>
                  <a:prstClr val="black">
                    <a:tint val="82000"/>
                  </a:prstClr>
                </a:solidFill>
                <a:ea typeface="+mn-ea"/>
              </a:rPr>
              <a:t>Revised 01/15/2026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EE072-795C-41F2-481F-51D9561E8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F384F357-E468-3F40-A4AB-0BD97BEF585F}" type="slidenum">
              <a:rPr lang="en-US" sz="1350" kern="1200" smtClean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US" sz="1350" kern="120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25718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1C3B00E-6F5F-10C1-22F4-60A4EC9EC2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3906" y="4839165"/>
            <a:ext cx="1140094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Revised 01/15/2026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753942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78771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7465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●"/>
              <a:defRPr sz="1800"/>
            </a:lvl1pPr>
            <a:lvl2pPr marL="914400" lvl="1" indent="-37465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○"/>
              <a:defRPr sz="1800"/>
            </a:lvl2pPr>
            <a:lvl3pPr marL="1371600" lvl="2" indent="-37465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■"/>
              <a:defRPr sz="1800"/>
            </a:lvl3pPr>
            <a:lvl4pPr marL="1828800" lvl="3" indent="-37465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●"/>
              <a:defRPr sz="1800"/>
            </a:lvl4pPr>
            <a:lvl5pPr marL="2286000" lvl="4" indent="-37465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○"/>
              <a:defRPr sz="1800"/>
            </a:lvl5pPr>
            <a:lvl6pPr marL="2743200" lvl="5" indent="-2794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A5D71F1-562A-47F0-807E-B621755595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3906" y="4839165"/>
            <a:ext cx="1140094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Revised 01/15/2026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9445300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>
  <p:cSld name="Title &amp; Sub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666750" y="8620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666750" y="2652713"/>
            <a:ext cx="78105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6D0E6EB-E0F1-0E5B-F679-75B50F4EF8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3906" y="4839165"/>
            <a:ext cx="1140094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Revised 01/15/2026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8704809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1">
  <p:cSld name="TITLE 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A8BA3E8-8D60-3EDB-3F5D-63573651B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3906" y="4839165"/>
            <a:ext cx="1140094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Revised 01/15/2026</a:t>
            </a:r>
            <a:endParaRPr lang="en-US" sz="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80E2E8-32B5-FABC-1848-9C94C84F0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8506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0367E6-A6C6-0913-2721-7C3F35DCD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BCB8E-4BF9-9058-F0A0-7FEE86BB0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8CC2F-31DF-E13D-CF26-825DE07E36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defTabSz="685800">
              <a:buClrTx/>
            </a:pPr>
            <a:endParaRPr lang="en-US" kern="1200">
              <a:solidFill>
                <a:prstClr val="black">
                  <a:tint val="82000"/>
                </a:prstClr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84613-9838-C24F-79DF-8CD89F7528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28861" y="4869657"/>
            <a:ext cx="10151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buClrTx/>
            </a:pPr>
            <a:r>
              <a:rPr lang="en-US" kern="1200">
                <a:solidFill>
                  <a:prstClr val="black">
                    <a:tint val="82000"/>
                  </a:prstClr>
                </a:solidFill>
                <a:ea typeface="+mn-ea"/>
              </a:rPr>
              <a:t>Revised 01/15/2026</a:t>
            </a:r>
            <a:endParaRPr lang="en-US" sz="700" kern="1200" dirty="0">
              <a:solidFill>
                <a:prstClr val="black">
                  <a:tint val="82000"/>
                </a:prstClr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03032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6_0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hyperlink" Target="https://github.com/chanzuckerberg/czid-workflows/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hyperlink" Target="https://public.czid.org/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public.czid.org/" TargetMode="External"/><Relationship Id="rId3" Type="http://schemas.openxmlformats.org/officeDocument/2006/relationships/image" Target="../media/image37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7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hyperlink" Target="https://public.czid.org/" TargetMode="External"/><Relationship Id="rId9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ublic.czid.org/" TargetMode="External"/><Relationship Id="rId5" Type="http://schemas.openxmlformats.org/officeDocument/2006/relationships/image" Target="../media/image40.png"/><Relationship Id="rId4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hyperlink" Target="https://public.czid.org/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0.png"/><Relationship Id="rId4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ublic.czid.org/" TargetMode="External"/><Relationship Id="rId4" Type="http://schemas.openxmlformats.org/officeDocument/2006/relationships/image" Target="../media/image4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jpg"/><Relationship Id="rId3" Type="http://schemas.openxmlformats.org/officeDocument/2006/relationships/image" Target="../media/image17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lades.nextstrain.org/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chanzuckerberg.zendesk.com/hc/en-us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2"/>
          <p:cNvSpPr txBox="1">
            <a:spLocks noGrp="1"/>
          </p:cNvSpPr>
          <p:nvPr>
            <p:ph type="ctrTitle"/>
          </p:nvPr>
        </p:nvSpPr>
        <p:spPr>
          <a:xfrm>
            <a:off x="369897" y="1676986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br>
              <a:rPr lang="en" sz="5000" b="1" dirty="0">
                <a:solidFill>
                  <a:srgbClr val="D9D9D9"/>
                </a:solidFill>
              </a:rPr>
            </a:br>
            <a:br>
              <a:rPr lang="en" sz="5000" b="1" dirty="0">
                <a:solidFill>
                  <a:srgbClr val="D9D9D9"/>
                </a:solidFill>
              </a:rPr>
            </a:br>
            <a:br>
              <a:rPr lang="en" sz="5000" b="1" dirty="0">
                <a:solidFill>
                  <a:srgbClr val="D9D9D9"/>
                </a:solidFill>
              </a:rPr>
            </a:br>
            <a:br>
              <a:rPr lang="en" sz="5000" b="1" dirty="0">
                <a:solidFill>
                  <a:srgbClr val="D9D9D9"/>
                </a:solidFill>
              </a:rPr>
            </a:br>
            <a:br>
              <a:rPr lang="en" sz="5000" b="1" dirty="0">
                <a:solidFill>
                  <a:srgbClr val="D9D9D9"/>
                </a:solidFill>
              </a:rPr>
            </a:br>
            <a:br>
              <a:rPr lang="en" sz="5000" b="1" dirty="0">
                <a:solidFill>
                  <a:srgbClr val="D9D9D9"/>
                </a:solidFill>
              </a:rPr>
            </a:br>
            <a:r>
              <a:rPr lang="en" sz="5000" b="1" dirty="0">
                <a:solidFill>
                  <a:srgbClr val="D9D9D9"/>
                </a:solidFill>
              </a:rPr>
              <a:t>Introduction to </a:t>
            </a:r>
            <a:endParaRPr sz="5000" b="1" dirty="0">
              <a:solidFill>
                <a:srgbClr val="D9D9D9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5000" b="1" dirty="0">
                <a:solidFill>
                  <a:srgbClr val="D9D9D9"/>
                </a:solidFill>
              </a:rPr>
              <a:t>Illumina sequencing and </a:t>
            </a:r>
            <a:r>
              <a:rPr lang="en" sz="5000" b="1" dirty="0" err="1">
                <a:solidFill>
                  <a:srgbClr val="D9D9D9"/>
                </a:solidFill>
              </a:rPr>
              <a:t>mNGS</a:t>
            </a:r>
            <a:r>
              <a:rPr lang="en" sz="5000" b="1" dirty="0">
                <a:solidFill>
                  <a:srgbClr val="D9D9D9"/>
                </a:solidFill>
              </a:rPr>
              <a:t> data analysis </a:t>
            </a:r>
            <a:endParaRPr sz="5000" b="1" dirty="0">
              <a:solidFill>
                <a:srgbClr val="D9D9D9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63A4A3-9F4E-F605-572D-6C91320214BA}"/>
              </a:ext>
            </a:extLst>
          </p:cNvPr>
          <p:cNvSpPr txBox="1"/>
          <p:nvPr/>
        </p:nvSpPr>
        <p:spPr>
          <a:xfrm>
            <a:off x="6542116" y="4897279"/>
            <a:ext cx="26787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 Response – Updated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3"/>
          <p:cNvSpPr/>
          <p:nvPr/>
        </p:nvSpPr>
        <p:spPr>
          <a:xfrm>
            <a:off x="2778150" y="1269300"/>
            <a:ext cx="6315000" cy="37320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53"/>
          <p:cNvSpPr/>
          <p:nvPr/>
        </p:nvSpPr>
        <p:spPr>
          <a:xfrm>
            <a:off x="337700" y="251875"/>
            <a:ext cx="8594700" cy="959100"/>
          </a:xfrm>
          <a:prstGeom prst="stripedRightArrow">
            <a:avLst>
              <a:gd name="adj1" fmla="val 67480"/>
              <a:gd name="adj2" fmla="val 147356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53"/>
          <p:cNvSpPr txBox="1">
            <a:spLocks noGrp="1"/>
          </p:cNvSpPr>
          <p:nvPr>
            <p:ph type="title"/>
          </p:nvPr>
        </p:nvSpPr>
        <p:spPr>
          <a:xfrm>
            <a:off x="2065200" y="287875"/>
            <a:ext cx="4755600" cy="8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400" b="1">
                <a:solidFill>
                  <a:srgbClr val="FFFFFF"/>
                </a:solidFill>
              </a:rPr>
              <a:t>mNGS pipeline</a:t>
            </a:r>
            <a:endParaRPr sz="4400" b="1">
              <a:solidFill>
                <a:srgbClr val="FFFFFF"/>
              </a:solidFill>
            </a:endParaRPr>
          </a:p>
        </p:txBody>
      </p:sp>
      <p:sp>
        <p:nvSpPr>
          <p:cNvPr id="215" name="Google Shape;215;p53"/>
          <p:cNvSpPr txBox="1"/>
          <p:nvPr/>
        </p:nvSpPr>
        <p:spPr>
          <a:xfrm>
            <a:off x="250750" y="1311300"/>
            <a:ext cx="1030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Study design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53"/>
          <p:cNvSpPr txBox="1"/>
          <p:nvPr/>
        </p:nvSpPr>
        <p:spPr>
          <a:xfrm>
            <a:off x="1640775" y="1311300"/>
            <a:ext cx="1030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xNA extraction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53"/>
          <p:cNvSpPr txBox="1"/>
          <p:nvPr/>
        </p:nvSpPr>
        <p:spPr>
          <a:xfrm>
            <a:off x="2950075" y="1387500"/>
            <a:ext cx="1213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Library prep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53"/>
          <p:cNvSpPr txBox="1"/>
          <p:nvPr/>
        </p:nvSpPr>
        <p:spPr>
          <a:xfrm>
            <a:off x="4592180" y="1387500"/>
            <a:ext cx="1213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Sequencing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53"/>
          <p:cNvSpPr txBox="1"/>
          <p:nvPr/>
        </p:nvSpPr>
        <p:spPr>
          <a:xfrm>
            <a:off x="6132613" y="1387500"/>
            <a:ext cx="13446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analysis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53"/>
          <p:cNvSpPr txBox="1"/>
          <p:nvPr/>
        </p:nvSpPr>
        <p:spPr>
          <a:xfrm>
            <a:off x="-500" y="3033150"/>
            <a:ext cx="15039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Type(s)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Controls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Storage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Lab setup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53"/>
          <p:cNvSpPr txBox="1"/>
          <p:nvPr/>
        </p:nvSpPr>
        <p:spPr>
          <a:xfrm>
            <a:off x="1340475" y="3033150"/>
            <a:ext cx="13446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Type(s)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Controls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QC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53"/>
          <p:cNvSpPr txBox="1"/>
          <p:nvPr/>
        </p:nvSpPr>
        <p:spPr>
          <a:xfrm>
            <a:off x="2546425" y="3033150"/>
            <a:ext cx="2173200" cy="21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Host removal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Fragmentation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dsDNA generation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End-repair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Adapter ligation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Barcoding &amp; PCR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Clean-up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Pooling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QC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53"/>
          <p:cNvSpPr txBox="1"/>
          <p:nvPr/>
        </p:nvSpPr>
        <p:spPr>
          <a:xfrm>
            <a:off x="5846725" y="3033150"/>
            <a:ext cx="2173200" cy="9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QC data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Host removal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Alignment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Blast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Ranking of hits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53"/>
          <p:cNvPicPr preferRelativeResize="0"/>
          <p:nvPr/>
        </p:nvPicPr>
        <p:blipFill rotWithShape="1">
          <a:blip r:embed="rId3">
            <a:alphaModFix/>
          </a:blip>
          <a:srcRect l="14551" r="17610" b="13941"/>
          <a:stretch/>
        </p:blipFill>
        <p:spPr>
          <a:xfrm>
            <a:off x="4679550" y="1896300"/>
            <a:ext cx="1126125" cy="959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53"/>
          <p:cNvPicPr preferRelativeResize="0"/>
          <p:nvPr/>
        </p:nvPicPr>
        <p:blipFill rotWithShape="1">
          <a:blip r:embed="rId4">
            <a:alphaModFix/>
          </a:blip>
          <a:srcRect l="13069" t="15507" r="15081" b="13226"/>
          <a:stretch/>
        </p:blipFill>
        <p:spPr>
          <a:xfrm>
            <a:off x="379113" y="1914700"/>
            <a:ext cx="871875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53"/>
          <p:cNvSpPr txBox="1"/>
          <p:nvPr/>
        </p:nvSpPr>
        <p:spPr>
          <a:xfrm>
            <a:off x="4315963" y="3033150"/>
            <a:ext cx="2245200" cy="8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Machine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Read length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Loading conc.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5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149689">
            <a:off x="1852262" y="2113663"/>
            <a:ext cx="607525" cy="727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53"/>
          <p:cNvPicPr preferRelativeResize="0"/>
          <p:nvPr/>
        </p:nvPicPr>
        <p:blipFill rotWithShape="1">
          <a:blip r:embed="rId6">
            <a:alphaModFix/>
          </a:blip>
          <a:srcRect b="50614"/>
          <a:stretch/>
        </p:blipFill>
        <p:spPr>
          <a:xfrm>
            <a:off x="2884550" y="2066066"/>
            <a:ext cx="1344551" cy="7259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9" name="Google Shape;229;p53"/>
          <p:cNvCxnSpPr/>
          <p:nvPr/>
        </p:nvCxnSpPr>
        <p:spPr>
          <a:xfrm rot="10800000" flipH="1">
            <a:off x="7638150" y="2419325"/>
            <a:ext cx="309300" cy="1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30" name="Google Shape;230;p53"/>
          <p:cNvGrpSpPr/>
          <p:nvPr/>
        </p:nvGrpSpPr>
        <p:grpSpPr>
          <a:xfrm>
            <a:off x="7765375" y="1751825"/>
            <a:ext cx="1252725" cy="1357550"/>
            <a:chOff x="7841575" y="1370825"/>
            <a:chExt cx="1252725" cy="1357550"/>
          </a:xfrm>
        </p:grpSpPr>
        <p:sp>
          <p:nvSpPr>
            <p:cNvPr id="231" name="Google Shape;231;p53"/>
            <p:cNvSpPr/>
            <p:nvPr/>
          </p:nvSpPr>
          <p:spPr>
            <a:xfrm>
              <a:off x="7841575" y="1486750"/>
              <a:ext cx="1122600" cy="1122600"/>
            </a:xfrm>
            <a:prstGeom prst="ellipse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2" name="Google Shape;232;p53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147262" y="1685076"/>
              <a:ext cx="502137" cy="7259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" name="Google Shape;233;p53"/>
            <p:cNvSpPr/>
            <p:nvPr/>
          </p:nvSpPr>
          <p:spPr>
            <a:xfrm>
              <a:off x="7887625" y="1532800"/>
              <a:ext cx="1030500" cy="1030500"/>
            </a:xfrm>
            <a:prstGeom prst="ellipse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4" name="Google Shape;234;p53"/>
            <p:cNvCxnSpPr/>
            <p:nvPr/>
          </p:nvCxnSpPr>
          <p:spPr>
            <a:xfrm>
              <a:off x="8395325" y="2446075"/>
              <a:ext cx="3000" cy="2823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5" name="Google Shape;235;p53"/>
            <p:cNvCxnSpPr/>
            <p:nvPr/>
          </p:nvCxnSpPr>
          <p:spPr>
            <a:xfrm>
              <a:off x="8401375" y="1370825"/>
              <a:ext cx="3000" cy="2823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6" name="Google Shape;236;p53"/>
            <p:cNvCxnSpPr/>
            <p:nvPr/>
          </p:nvCxnSpPr>
          <p:spPr>
            <a:xfrm rot="10800000" flipH="1">
              <a:off x="8785000" y="2038325"/>
              <a:ext cx="309300" cy="15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37" name="Google Shape;237;p53"/>
          <p:cNvSpPr txBox="1"/>
          <p:nvPr/>
        </p:nvSpPr>
        <p:spPr>
          <a:xfrm>
            <a:off x="7650363" y="1387500"/>
            <a:ext cx="13446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Pathogen ID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53"/>
          <p:cNvSpPr txBox="1"/>
          <p:nvPr/>
        </p:nvSpPr>
        <p:spPr>
          <a:xfrm>
            <a:off x="4975075" y="4627025"/>
            <a:ext cx="20049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15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9" name="Google Shape;239;p53"/>
          <p:cNvGrpSpPr/>
          <p:nvPr/>
        </p:nvGrpSpPr>
        <p:grpSpPr>
          <a:xfrm>
            <a:off x="6241847" y="1990187"/>
            <a:ext cx="1126132" cy="877745"/>
            <a:chOff x="5059375" y="3618825"/>
            <a:chExt cx="1583426" cy="1234175"/>
          </a:xfrm>
        </p:grpSpPr>
        <p:pic>
          <p:nvPicPr>
            <p:cNvPr id="240" name="Google Shape;240;p53" descr="A screenshot of a cell phone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 l="47032" t="64642" r="26637" b="6039"/>
            <a:stretch/>
          </p:blipFill>
          <p:spPr>
            <a:xfrm>
              <a:off x="5059375" y="3618825"/>
              <a:ext cx="1583426" cy="12341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41" name="Google Shape;241;p53"/>
            <p:cNvGrpSpPr/>
            <p:nvPr/>
          </p:nvGrpSpPr>
          <p:grpSpPr>
            <a:xfrm>
              <a:off x="5111211" y="3670860"/>
              <a:ext cx="1459635" cy="832076"/>
              <a:chOff x="4301800" y="3312000"/>
              <a:chExt cx="1612500" cy="923400"/>
            </a:xfrm>
          </p:grpSpPr>
          <p:sp>
            <p:nvSpPr>
              <p:cNvPr id="242" name="Google Shape;242;p53"/>
              <p:cNvSpPr/>
              <p:nvPr/>
            </p:nvSpPr>
            <p:spPr>
              <a:xfrm>
                <a:off x="4301800" y="3312000"/>
                <a:ext cx="1612500" cy="923400"/>
              </a:xfrm>
              <a:prstGeom prst="rect">
                <a:avLst/>
              </a:prstGeom>
              <a:solidFill>
                <a:srgbClr val="E7E6E6"/>
              </a:solidFill>
              <a:ln w="9525" cap="flat" cmpd="sng">
                <a:solidFill>
                  <a:srgbClr val="44546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243" name="Google Shape;243;p53" descr="IDseq_logo.png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4497525" y="3575725"/>
                <a:ext cx="1221038" cy="3959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44" name="Google Shape;244;p53"/>
          <p:cNvSpPr/>
          <p:nvPr/>
        </p:nvSpPr>
        <p:spPr>
          <a:xfrm>
            <a:off x="6292375" y="2043775"/>
            <a:ext cx="974700" cy="528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6800" y="125825"/>
            <a:ext cx="4684700" cy="2312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31675" y="2509200"/>
            <a:ext cx="4684700" cy="257174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54"/>
          <p:cNvSpPr txBox="1"/>
          <p:nvPr/>
        </p:nvSpPr>
        <p:spPr>
          <a:xfrm>
            <a:off x="151775" y="366725"/>
            <a:ext cx="3742500" cy="43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Introduction to illumina Next-Generation sequencing (NGS)</a:t>
            </a:r>
            <a:endParaRPr sz="3600" b="1" i="0" u="none" strike="noStrike" cap="non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" name="Google Shape;253;p54"/>
          <p:cNvPicPr preferRelativeResize="0"/>
          <p:nvPr/>
        </p:nvPicPr>
        <p:blipFill rotWithShape="1">
          <a:blip r:embed="rId5">
            <a:alphaModFix/>
          </a:blip>
          <a:srcRect t="29694" b="43926"/>
          <a:stretch/>
        </p:blipFill>
        <p:spPr>
          <a:xfrm>
            <a:off x="947612" y="1511950"/>
            <a:ext cx="2264825" cy="59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54"/>
          <p:cNvSpPr txBox="1"/>
          <p:nvPr/>
        </p:nvSpPr>
        <p:spPr>
          <a:xfrm>
            <a:off x="6464975" y="199675"/>
            <a:ext cx="1269600" cy="13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B. Cluster Amplification</a:t>
            </a:r>
            <a:endParaRPr sz="800" b="0" i="0" u="none" strike="noStrike" cap="non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5"/>
          <p:cNvSpPr txBox="1"/>
          <p:nvPr/>
        </p:nvSpPr>
        <p:spPr>
          <a:xfrm>
            <a:off x="309875" y="988600"/>
            <a:ext cx="3982200" cy="30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a library?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65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a read?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65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paired-end sequencing?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65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a cluster?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65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(de-)multiplexing?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65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en"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a fastq file?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65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coverage?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p55"/>
          <p:cNvPicPr preferRelativeResize="0"/>
          <p:nvPr/>
        </p:nvPicPr>
        <p:blipFill rotWithShape="1">
          <a:blip r:embed="rId3">
            <a:alphaModFix/>
          </a:blip>
          <a:srcRect t="29694" b="43926"/>
          <a:stretch/>
        </p:blipFill>
        <p:spPr>
          <a:xfrm>
            <a:off x="208900" y="83475"/>
            <a:ext cx="1921150" cy="50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55"/>
          <p:cNvSpPr txBox="1"/>
          <p:nvPr/>
        </p:nvSpPr>
        <p:spPr>
          <a:xfrm>
            <a:off x="2108425" y="83475"/>
            <a:ext cx="62457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Next-generation sequencing (NGS)</a:t>
            </a:r>
            <a:endParaRPr sz="2800" b="0" i="0" u="none" strike="noStrike" cap="non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6"/>
          <p:cNvSpPr txBox="1">
            <a:spLocks noGrp="1"/>
          </p:cNvSpPr>
          <p:nvPr>
            <p:ph type="title"/>
          </p:nvPr>
        </p:nvSpPr>
        <p:spPr>
          <a:xfrm>
            <a:off x="177400" y="100325"/>
            <a:ext cx="8890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rgbClr val="666666"/>
                </a:solidFill>
              </a:rPr>
              <a:t>Sequencing library </a:t>
            </a:r>
            <a:r>
              <a:rPr lang="en" sz="1900">
                <a:solidFill>
                  <a:srgbClr val="666666"/>
                </a:solidFill>
              </a:rPr>
              <a:t>= collection of fragments ready for sequencing</a:t>
            </a:r>
            <a:r>
              <a:rPr lang="en">
                <a:solidFill>
                  <a:srgbClr val="666666"/>
                </a:solidFill>
              </a:rPr>
              <a:t> 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268" name="Google Shape;268;p56"/>
          <p:cNvSpPr txBox="1"/>
          <p:nvPr/>
        </p:nvSpPr>
        <p:spPr>
          <a:xfrm>
            <a:off x="4975" y="753700"/>
            <a:ext cx="8783700" cy="5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DNA is fragmented into smaller pieces, optimal for sequencing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Adapter sequences, barcode sequences and flow cell binding sites are added to allow the sequencing process to occur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9" name="Google Shape;269;p56"/>
          <p:cNvPicPr preferRelativeResize="0"/>
          <p:nvPr/>
        </p:nvPicPr>
        <p:blipFill rotWithShape="1">
          <a:blip r:embed="rId3">
            <a:alphaModFix/>
          </a:blip>
          <a:srcRect b="5208"/>
          <a:stretch>
            <a:fillRect/>
          </a:stretch>
        </p:blipFill>
        <p:spPr>
          <a:xfrm>
            <a:off x="2888575" y="1709000"/>
            <a:ext cx="6150074" cy="326427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56"/>
          <p:cNvSpPr txBox="1"/>
          <p:nvPr/>
        </p:nvSpPr>
        <p:spPr>
          <a:xfrm>
            <a:off x="385975" y="1363300"/>
            <a:ext cx="17163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Sample library</a:t>
            </a:r>
            <a:endParaRPr sz="1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1" name="Google Shape;271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305125" y="1916175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834800" y="1814200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925325" y="2037438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601775" y="2157575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939400" y="2255950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887100" y="2464163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1244200" y="2357463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1396600" y="2131450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1296300" y="1925825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1055250" y="2583413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136975" y="2052675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887100" y="2906525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1078825" y="3007600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136975" y="2255950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328700" y="2374550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273275" y="2576213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474325" y="2669475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294675" y="2783713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122525" y="2883213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233225" y="2985863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510700" y="3108688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1244200" y="3130113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1197200" y="2693025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1753050" y="2028625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1721325" y="2885063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1078825" y="2789050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1873725" y="3037463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1862975" y="2762925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1689525" y="2470450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1828950" y="2581725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84675" y="2462713"/>
            <a:ext cx="750124" cy="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56"/>
          <p:cNvPicPr preferRelativeResize="0"/>
          <p:nvPr/>
        </p:nvPicPr>
        <p:blipFill rotWithShape="1">
          <a:blip r:embed="rId4">
            <a:alphaModFix/>
          </a:blip>
          <a:srcRect b="91476"/>
          <a:stretch/>
        </p:blipFill>
        <p:spPr>
          <a:xfrm>
            <a:off x="1689525" y="2239650"/>
            <a:ext cx="750124" cy="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56"/>
          <p:cNvSpPr/>
          <p:nvPr/>
        </p:nvSpPr>
        <p:spPr>
          <a:xfrm>
            <a:off x="3793775" y="1445250"/>
            <a:ext cx="4773600" cy="1754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56"/>
          <p:cNvSpPr/>
          <p:nvPr/>
        </p:nvSpPr>
        <p:spPr>
          <a:xfrm>
            <a:off x="1689525" y="2444449"/>
            <a:ext cx="750000" cy="103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5" name="Google Shape;305;p56"/>
          <p:cNvCxnSpPr/>
          <p:nvPr/>
        </p:nvCxnSpPr>
        <p:spPr>
          <a:xfrm rot="10800000" flipH="1">
            <a:off x="2435400" y="1522575"/>
            <a:ext cx="1453200" cy="92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6" name="Google Shape;306;p56"/>
          <p:cNvCxnSpPr/>
          <p:nvPr/>
        </p:nvCxnSpPr>
        <p:spPr>
          <a:xfrm>
            <a:off x="2436250" y="2543950"/>
            <a:ext cx="1437600" cy="5655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57"/>
          <p:cNvPicPr preferRelativeResize="0"/>
          <p:nvPr/>
        </p:nvPicPr>
        <p:blipFill rotWithShape="1">
          <a:blip r:embed="rId3">
            <a:alphaModFix/>
          </a:blip>
          <a:srcRect t="29694" b="43926"/>
          <a:stretch/>
        </p:blipFill>
        <p:spPr>
          <a:xfrm>
            <a:off x="208900" y="83475"/>
            <a:ext cx="1921150" cy="50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57"/>
          <p:cNvSpPr txBox="1"/>
          <p:nvPr/>
        </p:nvSpPr>
        <p:spPr>
          <a:xfrm>
            <a:off x="2108425" y="83475"/>
            <a:ext cx="62457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Next-generation sequencing (NGS)</a:t>
            </a:r>
            <a:endParaRPr sz="2800" b="0" i="0" u="none" strike="noStrike" cap="non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324A048-E684-88DA-3FB1-D5930053738A}"/>
              </a:ext>
            </a:extLst>
          </p:cNvPr>
          <p:cNvGrpSpPr/>
          <p:nvPr/>
        </p:nvGrpSpPr>
        <p:grpSpPr>
          <a:xfrm>
            <a:off x="292934" y="706216"/>
            <a:ext cx="8696678" cy="4181946"/>
            <a:chOff x="1747661" y="336850"/>
            <a:chExt cx="8696678" cy="4181946"/>
          </a:xfrm>
        </p:grpSpPr>
        <p:pic>
          <p:nvPicPr>
            <p:cNvPr id="311" name="Google Shape;311;p5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747661" y="336850"/>
              <a:ext cx="8696678" cy="41819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4" name="Google Shape;314;p57"/>
            <p:cNvSpPr txBox="1"/>
            <p:nvPr/>
          </p:nvSpPr>
          <p:spPr>
            <a:xfrm>
              <a:off x="6280277" y="475945"/>
              <a:ext cx="2028128" cy="18506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 dirty="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B. Cluster Amplification</a:t>
              </a:r>
              <a:endParaRPr sz="1400" b="0" i="0" u="none" strike="noStrike" cap="none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58"/>
          <p:cNvPicPr preferRelativeResize="0"/>
          <p:nvPr/>
        </p:nvPicPr>
        <p:blipFill rotWithShape="1">
          <a:blip r:embed="rId4">
            <a:alphaModFix/>
          </a:blip>
          <a:srcRect r="50313"/>
          <a:stretch/>
        </p:blipFill>
        <p:spPr>
          <a:xfrm>
            <a:off x="609600" y="651550"/>
            <a:ext cx="3927650" cy="433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58"/>
          <p:cNvPicPr preferRelativeResize="0"/>
          <p:nvPr/>
        </p:nvPicPr>
        <p:blipFill rotWithShape="1">
          <a:blip r:embed="rId5">
            <a:alphaModFix/>
          </a:blip>
          <a:srcRect t="29694" b="43926"/>
          <a:stretch/>
        </p:blipFill>
        <p:spPr>
          <a:xfrm>
            <a:off x="208900" y="83475"/>
            <a:ext cx="1921150" cy="50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58"/>
          <p:cNvSpPr txBox="1"/>
          <p:nvPr/>
        </p:nvSpPr>
        <p:spPr>
          <a:xfrm>
            <a:off x="2108425" y="83475"/>
            <a:ext cx="62457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Next-generation sequencing (NGS)</a:t>
            </a:r>
            <a:endParaRPr sz="2800" b="0" i="0" u="none" strike="noStrike" cap="non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2" name="Google Shape;322;p5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28909" y="1669031"/>
            <a:ext cx="3343674" cy="2207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9"/>
          <p:cNvSpPr txBox="1"/>
          <p:nvPr/>
        </p:nvSpPr>
        <p:spPr>
          <a:xfrm>
            <a:off x="1868875" y="2216350"/>
            <a:ext cx="562500" cy="14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" name="Google Shape;328;p59"/>
          <p:cNvPicPr preferRelativeResize="0"/>
          <p:nvPr/>
        </p:nvPicPr>
        <p:blipFill rotWithShape="1">
          <a:blip r:embed="rId3">
            <a:alphaModFix/>
          </a:blip>
          <a:srcRect t="26009" b="56603"/>
          <a:stretch/>
        </p:blipFill>
        <p:spPr>
          <a:xfrm>
            <a:off x="1246900" y="2590800"/>
            <a:ext cx="6150074" cy="5987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9" name="Google Shape;329;p59"/>
          <p:cNvCxnSpPr/>
          <p:nvPr/>
        </p:nvCxnSpPr>
        <p:spPr>
          <a:xfrm>
            <a:off x="3068425" y="2546575"/>
            <a:ext cx="312900" cy="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30" name="Google Shape;330;p59"/>
          <p:cNvCxnSpPr/>
          <p:nvPr/>
        </p:nvCxnSpPr>
        <p:spPr>
          <a:xfrm>
            <a:off x="3386075" y="2546575"/>
            <a:ext cx="1047900" cy="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1" name="Google Shape;331;p59"/>
          <p:cNvSpPr txBox="1"/>
          <p:nvPr/>
        </p:nvSpPr>
        <p:spPr>
          <a:xfrm>
            <a:off x="3468800" y="2203675"/>
            <a:ext cx="802800" cy="3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Read 1</a:t>
            </a:r>
            <a:endParaRPr sz="1400" b="0" i="0" u="none" strike="noStrike" cap="non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2" name="Google Shape;332;p59"/>
          <p:cNvCxnSpPr/>
          <p:nvPr/>
        </p:nvCxnSpPr>
        <p:spPr>
          <a:xfrm>
            <a:off x="5863025" y="2546575"/>
            <a:ext cx="312900" cy="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33" name="Google Shape;333;p59"/>
          <p:cNvCxnSpPr/>
          <p:nvPr/>
        </p:nvCxnSpPr>
        <p:spPr>
          <a:xfrm>
            <a:off x="6181700" y="2548025"/>
            <a:ext cx="282000" cy="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34" name="Google Shape;334;p59"/>
          <p:cNvCxnSpPr/>
          <p:nvPr/>
        </p:nvCxnSpPr>
        <p:spPr>
          <a:xfrm>
            <a:off x="6921200" y="1876500"/>
            <a:ext cx="0" cy="155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5" name="Google Shape;335;p59"/>
          <p:cNvCxnSpPr/>
          <p:nvPr/>
        </p:nvCxnSpPr>
        <p:spPr>
          <a:xfrm>
            <a:off x="6742175" y="2653350"/>
            <a:ext cx="176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6" name="Google Shape;336;p59"/>
          <p:cNvSpPr txBox="1"/>
          <p:nvPr/>
        </p:nvSpPr>
        <p:spPr>
          <a:xfrm>
            <a:off x="6890650" y="1984325"/>
            <a:ext cx="562500" cy="14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7" name="Google Shape;337;p59"/>
          <p:cNvCxnSpPr/>
          <p:nvPr/>
        </p:nvCxnSpPr>
        <p:spPr>
          <a:xfrm rot="10800000">
            <a:off x="2147000" y="2108525"/>
            <a:ext cx="0" cy="155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8" name="Google Shape;338;p59"/>
          <p:cNvCxnSpPr/>
          <p:nvPr/>
        </p:nvCxnSpPr>
        <p:spPr>
          <a:xfrm rot="10800000">
            <a:off x="2149925" y="2885375"/>
            <a:ext cx="176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9" name="Google Shape;339;p59"/>
          <p:cNvCxnSpPr/>
          <p:nvPr/>
        </p:nvCxnSpPr>
        <p:spPr>
          <a:xfrm>
            <a:off x="2336675" y="2996200"/>
            <a:ext cx="271500" cy="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40" name="Google Shape;340;p59"/>
          <p:cNvCxnSpPr/>
          <p:nvPr/>
        </p:nvCxnSpPr>
        <p:spPr>
          <a:xfrm>
            <a:off x="2608175" y="2996200"/>
            <a:ext cx="282000" cy="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41" name="Google Shape;341;p59"/>
          <p:cNvCxnSpPr/>
          <p:nvPr/>
        </p:nvCxnSpPr>
        <p:spPr>
          <a:xfrm rot="10800000">
            <a:off x="5691350" y="2996200"/>
            <a:ext cx="312900" cy="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42" name="Google Shape;342;p59"/>
          <p:cNvCxnSpPr/>
          <p:nvPr/>
        </p:nvCxnSpPr>
        <p:spPr>
          <a:xfrm rot="10800000">
            <a:off x="4643450" y="2996200"/>
            <a:ext cx="1047900" cy="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3" name="Google Shape;343;p59"/>
          <p:cNvSpPr txBox="1"/>
          <p:nvPr/>
        </p:nvSpPr>
        <p:spPr>
          <a:xfrm>
            <a:off x="4865250" y="2941975"/>
            <a:ext cx="802800" cy="3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Read 2</a:t>
            </a:r>
            <a:endParaRPr sz="1400" b="0" i="0" u="none" strike="noStrike" cap="non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4" name="Google Shape;344;p59"/>
          <p:cNvPicPr preferRelativeResize="0"/>
          <p:nvPr/>
        </p:nvPicPr>
        <p:blipFill rotWithShape="1">
          <a:blip r:embed="rId4">
            <a:alphaModFix/>
          </a:blip>
          <a:srcRect b="74630"/>
          <a:stretch/>
        </p:blipFill>
        <p:spPr>
          <a:xfrm>
            <a:off x="1246900" y="1336150"/>
            <a:ext cx="6150074" cy="873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59"/>
          <p:cNvPicPr preferRelativeResize="0"/>
          <p:nvPr/>
        </p:nvPicPr>
        <p:blipFill rotWithShape="1">
          <a:blip r:embed="rId5">
            <a:alphaModFix/>
          </a:blip>
          <a:srcRect t="29694" b="43926"/>
          <a:stretch/>
        </p:blipFill>
        <p:spPr>
          <a:xfrm>
            <a:off x="208900" y="83475"/>
            <a:ext cx="1921150" cy="50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59"/>
          <p:cNvSpPr txBox="1">
            <a:spLocks noGrp="1"/>
          </p:cNvSpPr>
          <p:nvPr>
            <p:ph type="title"/>
          </p:nvPr>
        </p:nvSpPr>
        <p:spPr>
          <a:xfrm>
            <a:off x="2260175" y="87875"/>
            <a:ext cx="8890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rgbClr val="666666"/>
                </a:solidFill>
              </a:rPr>
              <a:t>Sequencing process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1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10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0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10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1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25" y="1403275"/>
            <a:ext cx="8839201" cy="3598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60"/>
          <p:cNvPicPr preferRelativeResize="0"/>
          <p:nvPr/>
        </p:nvPicPr>
        <p:blipFill rotWithShape="1">
          <a:blip r:embed="rId4">
            <a:alphaModFix/>
          </a:blip>
          <a:srcRect t="29694" b="43926"/>
          <a:stretch/>
        </p:blipFill>
        <p:spPr>
          <a:xfrm>
            <a:off x="208900" y="83475"/>
            <a:ext cx="1921150" cy="50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60"/>
          <p:cNvSpPr txBox="1"/>
          <p:nvPr/>
        </p:nvSpPr>
        <p:spPr>
          <a:xfrm>
            <a:off x="2108425" y="83475"/>
            <a:ext cx="62457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Next-generation sequencing (NGS)</a:t>
            </a:r>
            <a:endParaRPr sz="2800" b="0" i="0" u="none" strike="noStrike" cap="non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60"/>
          <p:cNvSpPr txBox="1"/>
          <p:nvPr/>
        </p:nvSpPr>
        <p:spPr>
          <a:xfrm>
            <a:off x="69500" y="1025425"/>
            <a:ext cx="2426100" cy="7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Paired-end sequencing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41925" y="790150"/>
            <a:ext cx="6548299" cy="420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61"/>
          <p:cNvPicPr preferRelativeResize="0"/>
          <p:nvPr/>
        </p:nvPicPr>
        <p:blipFill rotWithShape="1">
          <a:blip r:embed="rId4">
            <a:alphaModFix/>
          </a:blip>
          <a:srcRect t="29694" b="43926"/>
          <a:stretch/>
        </p:blipFill>
        <p:spPr>
          <a:xfrm>
            <a:off x="208900" y="83475"/>
            <a:ext cx="1921150" cy="50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61"/>
          <p:cNvSpPr txBox="1"/>
          <p:nvPr/>
        </p:nvSpPr>
        <p:spPr>
          <a:xfrm>
            <a:off x="2108425" y="83475"/>
            <a:ext cx="62457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Next-generation sequencing (NGS)</a:t>
            </a:r>
            <a:endParaRPr sz="2800" b="0" i="0" u="none" strike="noStrike" cap="non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61"/>
          <p:cNvSpPr txBox="1"/>
          <p:nvPr/>
        </p:nvSpPr>
        <p:spPr>
          <a:xfrm>
            <a:off x="69500" y="1025425"/>
            <a:ext cx="2426100" cy="7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Multiplexing or Pooling = Sequencing multiple samples together in one reaction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295400"/>
            <a:ext cx="8839199" cy="3659649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62"/>
          <p:cNvSpPr txBox="1"/>
          <p:nvPr/>
        </p:nvSpPr>
        <p:spPr>
          <a:xfrm>
            <a:off x="199876" y="122550"/>
            <a:ext cx="88392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28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fastq file </a:t>
            </a:r>
            <a:r>
              <a:rPr lang="en" sz="19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= raw data file containing sequencing data, generated by sequencer</a:t>
            </a: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62"/>
          <p:cNvSpPr txBox="1"/>
          <p:nvPr/>
        </p:nvSpPr>
        <p:spPr>
          <a:xfrm>
            <a:off x="180425" y="726150"/>
            <a:ext cx="89565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Sequencer will demultiplex sequencing data, resulting in a two fastq files per sample (read 1 and read 2)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5" name="Google Shape;375;p63"/>
          <p:cNvGraphicFramePr/>
          <p:nvPr/>
        </p:nvGraphicFramePr>
        <p:xfrm>
          <a:off x="5302879" y="2701337"/>
          <a:ext cx="3481875" cy="1500675"/>
        </p:xfrm>
        <a:graphic>
          <a:graphicData uri="http://schemas.openxmlformats.org/drawingml/2006/table">
            <a:tbl>
              <a:tblPr>
                <a:noFill/>
                <a:tableStyleId>{539072DC-5E30-4CAA-B43F-716575AE636B}</a:tableStyleId>
              </a:tblPr>
              <a:tblGrid>
                <a:gridCol w="997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7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5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Quality 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Score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50" marR="7150" marT="71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Probability of Incorrect 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Base Call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50" marR="7150" marT="71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Inferred Base Call Accuracy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50" marR="7150" marT="71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10 (Q10)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50" marR="7150" marT="71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 in 10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50" marR="7150" marT="71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90%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50" marR="7150" marT="71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20 (Q20)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50" marR="7150" marT="71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 in 100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50" marR="7150" marT="71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99%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50" marR="7150" marT="71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30 (Q30)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50" marR="7150" marT="71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 in 1000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50" marR="7150" marT="71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99.90%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50" marR="7150" marT="71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6" name="Google Shape;376;p63"/>
          <p:cNvSpPr/>
          <p:nvPr/>
        </p:nvSpPr>
        <p:spPr>
          <a:xfrm>
            <a:off x="5307725" y="4262200"/>
            <a:ext cx="1467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 = -10log</a:t>
            </a:r>
            <a:r>
              <a:rPr lang="en" sz="14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63"/>
          <p:cNvSpPr/>
          <p:nvPr/>
        </p:nvSpPr>
        <p:spPr>
          <a:xfrm>
            <a:off x="203750" y="2449300"/>
            <a:ext cx="4744500" cy="16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read is described by 4 elements in 4 lines: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endParaRPr sz="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sequence identifier with information about the run (always starts with ‘@’)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base calls: </a:t>
            </a:r>
            <a:r>
              <a:rPr lang="en" sz="1400" b="0" i="0" u="none" strike="noStrike" cap="none">
                <a:solidFill>
                  <a:srgbClr val="9DC061"/>
                </a:solidFill>
                <a:latin typeface="Arial"/>
                <a:ea typeface="Arial"/>
                <a:cs typeface="Arial"/>
                <a:sym typeface="Arial"/>
              </a:rPr>
              <a:t>A, C, T, G and N</a:t>
            </a:r>
            <a:endParaRPr sz="1400" b="0" i="0" u="none" strike="noStrike" cap="none">
              <a:solidFill>
                <a:srgbClr val="9DC06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separator, which is simply a plus (+) sign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base call quality scores (coded in ascii format)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63"/>
          <p:cNvSpPr txBox="1"/>
          <p:nvPr/>
        </p:nvSpPr>
        <p:spPr>
          <a:xfrm>
            <a:off x="281775" y="1211400"/>
            <a:ext cx="8281200" cy="10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@NB501961:14:HM7TLBGX2:1:11102:3233:17234 1:N:0:GATCACCA+GATCACCA</a:t>
            </a:r>
            <a:endParaRPr sz="14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9DC061"/>
                </a:solidFill>
                <a:latin typeface="Courier New"/>
                <a:ea typeface="Courier New"/>
                <a:cs typeface="Courier New"/>
                <a:sym typeface="Courier New"/>
              </a:rPr>
              <a:t>CATTCGGCTGGGTTTCGTCACCCTGCGGGAAGATGCGGGTCCAGGCGATAGAGGTGCGGAAGCATTTGAAGCCCA</a:t>
            </a:r>
            <a:endParaRPr sz="1400" b="0" i="0" u="none" strike="noStrike" cap="none">
              <a:solidFill>
                <a:srgbClr val="9DC06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endParaRPr sz="14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AAAAAEEEEEEEEEE/EEEEEEEEEEEEEEEEEEEEEE&lt;EEEEEEEEE//EAEEEEEEAA/EEE/EEAAEEE&lt;6/</a:t>
            </a:r>
            <a:endParaRPr sz="14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9" name="Google Shape;379;p63"/>
          <p:cNvSpPr txBox="1"/>
          <p:nvPr/>
        </p:nvSpPr>
        <p:spPr>
          <a:xfrm>
            <a:off x="203750" y="851825"/>
            <a:ext cx="2246700" cy="4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Read1.fastq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63"/>
          <p:cNvSpPr txBox="1"/>
          <p:nvPr/>
        </p:nvSpPr>
        <p:spPr>
          <a:xfrm>
            <a:off x="606675" y="3301825"/>
            <a:ext cx="4391400" cy="7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8900" marR="88900" lvl="0" indent="0" algn="l" rtl="0">
              <a:lnSpc>
                <a:spcPct val="142857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@&lt;instrument&gt;:&lt;run number&gt;:&lt;flowcell ID&gt;: &lt;lane&gt;:&lt;tile&gt;:&lt;x-pos&gt;:&lt;y-pos&gt; &lt;read&gt;:&lt;is filtered&gt;:&lt;control number&gt;:&lt;sample number&gt;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63"/>
          <p:cNvSpPr txBox="1"/>
          <p:nvPr/>
        </p:nvSpPr>
        <p:spPr>
          <a:xfrm>
            <a:off x="199876" y="122550"/>
            <a:ext cx="88392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28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fastq file </a:t>
            </a:r>
            <a:r>
              <a:rPr lang="en" sz="19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= raw data file containing sequencing data, generated by sequencer</a:t>
            </a: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4"/>
          <p:cNvSpPr txBox="1"/>
          <p:nvPr/>
        </p:nvSpPr>
        <p:spPr>
          <a:xfrm>
            <a:off x="138975" y="83475"/>
            <a:ext cx="82152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Coverage </a:t>
            </a:r>
            <a:r>
              <a:rPr lang="en" sz="19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= How many times a base has been sequenced</a:t>
            </a:r>
            <a:endParaRPr sz="1900" b="0" i="0" u="none" strike="noStrike" cap="non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64"/>
          <p:cNvSpPr txBox="1"/>
          <p:nvPr/>
        </p:nvSpPr>
        <p:spPr>
          <a:xfrm>
            <a:off x="145700" y="929775"/>
            <a:ext cx="8730600" cy="6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Coverage = How many times each base has been sequenced on average throughout the genome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8" name="Google Shape;388;p64"/>
          <p:cNvCxnSpPr/>
          <p:nvPr/>
        </p:nvCxnSpPr>
        <p:spPr>
          <a:xfrm>
            <a:off x="1605025" y="4415600"/>
            <a:ext cx="7107300" cy="0"/>
          </a:xfrm>
          <a:prstGeom prst="straightConnector1">
            <a:avLst/>
          </a:prstGeom>
          <a:noFill/>
          <a:ln w="22860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9" name="Google Shape;389;p64"/>
          <p:cNvSpPr txBox="1"/>
          <p:nvPr/>
        </p:nvSpPr>
        <p:spPr>
          <a:xfrm>
            <a:off x="3603525" y="4183750"/>
            <a:ext cx="36486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Reference genome</a:t>
            </a:r>
            <a:endParaRPr sz="17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0" name="Google Shape;390;p64"/>
          <p:cNvCxnSpPr/>
          <p:nvPr/>
        </p:nvCxnSpPr>
        <p:spPr>
          <a:xfrm>
            <a:off x="1649375" y="4183750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1" name="Google Shape;391;p64"/>
          <p:cNvCxnSpPr/>
          <p:nvPr/>
        </p:nvCxnSpPr>
        <p:spPr>
          <a:xfrm>
            <a:off x="1852450" y="4072808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2" name="Google Shape;392;p64"/>
          <p:cNvCxnSpPr/>
          <p:nvPr/>
        </p:nvCxnSpPr>
        <p:spPr>
          <a:xfrm>
            <a:off x="1649375" y="3961867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3" name="Google Shape;393;p64"/>
          <p:cNvCxnSpPr/>
          <p:nvPr/>
        </p:nvCxnSpPr>
        <p:spPr>
          <a:xfrm>
            <a:off x="2004475" y="3850925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4" name="Google Shape;394;p64"/>
          <p:cNvCxnSpPr/>
          <p:nvPr/>
        </p:nvCxnSpPr>
        <p:spPr>
          <a:xfrm>
            <a:off x="4290550" y="3730004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5" name="Google Shape;395;p64"/>
          <p:cNvCxnSpPr/>
          <p:nvPr/>
        </p:nvCxnSpPr>
        <p:spPr>
          <a:xfrm>
            <a:off x="4645650" y="3619063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6" name="Google Shape;396;p64"/>
          <p:cNvCxnSpPr/>
          <p:nvPr/>
        </p:nvCxnSpPr>
        <p:spPr>
          <a:xfrm>
            <a:off x="4407975" y="3508138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7" name="Google Shape;397;p64"/>
          <p:cNvCxnSpPr/>
          <p:nvPr/>
        </p:nvCxnSpPr>
        <p:spPr>
          <a:xfrm>
            <a:off x="4611050" y="3397196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8" name="Google Shape;398;p64"/>
          <p:cNvCxnSpPr/>
          <p:nvPr/>
        </p:nvCxnSpPr>
        <p:spPr>
          <a:xfrm>
            <a:off x="4407975" y="3286254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9" name="Google Shape;399;p64"/>
          <p:cNvCxnSpPr/>
          <p:nvPr/>
        </p:nvCxnSpPr>
        <p:spPr>
          <a:xfrm>
            <a:off x="4763075" y="3175313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0" name="Google Shape;400;p64"/>
          <p:cNvCxnSpPr/>
          <p:nvPr/>
        </p:nvCxnSpPr>
        <p:spPr>
          <a:xfrm>
            <a:off x="2631675" y="4183750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1" name="Google Shape;401;p64"/>
          <p:cNvCxnSpPr/>
          <p:nvPr/>
        </p:nvCxnSpPr>
        <p:spPr>
          <a:xfrm>
            <a:off x="2834750" y="4072808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2" name="Google Shape;402;p64"/>
          <p:cNvCxnSpPr/>
          <p:nvPr/>
        </p:nvCxnSpPr>
        <p:spPr>
          <a:xfrm>
            <a:off x="2631675" y="3961867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3" name="Google Shape;403;p64"/>
          <p:cNvCxnSpPr/>
          <p:nvPr/>
        </p:nvCxnSpPr>
        <p:spPr>
          <a:xfrm>
            <a:off x="2986775" y="3850925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4" name="Google Shape;404;p64"/>
          <p:cNvCxnSpPr/>
          <p:nvPr/>
        </p:nvCxnSpPr>
        <p:spPr>
          <a:xfrm>
            <a:off x="3603525" y="4183750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5" name="Google Shape;405;p64"/>
          <p:cNvCxnSpPr/>
          <p:nvPr/>
        </p:nvCxnSpPr>
        <p:spPr>
          <a:xfrm>
            <a:off x="3806600" y="4072808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6" name="Google Shape;406;p64"/>
          <p:cNvCxnSpPr/>
          <p:nvPr/>
        </p:nvCxnSpPr>
        <p:spPr>
          <a:xfrm>
            <a:off x="3603525" y="3961867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7" name="Google Shape;407;p64"/>
          <p:cNvCxnSpPr/>
          <p:nvPr/>
        </p:nvCxnSpPr>
        <p:spPr>
          <a:xfrm>
            <a:off x="3958625" y="3850925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8" name="Google Shape;408;p64"/>
          <p:cNvCxnSpPr/>
          <p:nvPr/>
        </p:nvCxnSpPr>
        <p:spPr>
          <a:xfrm>
            <a:off x="4597325" y="4183750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9" name="Google Shape;409;p64"/>
          <p:cNvCxnSpPr/>
          <p:nvPr/>
        </p:nvCxnSpPr>
        <p:spPr>
          <a:xfrm>
            <a:off x="4800400" y="4072808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0" name="Google Shape;410;p64"/>
          <p:cNvCxnSpPr/>
          <p:nvPr/>
        </p:nvCxnSpPr>
        <p:spPr>
          <a:xfrm>
            <a:off x="4597325" y="3961867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1" name="Google Shape;411;p64"/>
          <p:cNvCxnSpPr/>
          <p:nvPr/>
        </p:nvCxnSpPr>
        <p:spPr>
          <a:xfrm>
            <a:off x="4952425" y="3850925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2" name="Google Shape;412;p64"/>
          <p:cNvCxnSpPr/>
          <p:nvPr/>
        </p:nvCxnSpPr>
        <p:spPr>
          <a:xfrm>
            <a:off x="5575450" y="4183750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3" name="Google Shape;413;p64"/>
          <p:cNvCxnSpPr/>
          <p:nvPr/>
        </p:nvCxnSpPr>
        <p:spPr>
          <a:xfrm>
            <a:off x="5778525" y="4072808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4" name="Google Shape;414;p64"/>
          <p:cNvCxnSpPr/>
          <p:nvPr/>
        </p:nvCxnSpPr>
        <p:spPr>
          <a:xfrm>
            <a:off x="5575450" y="3961867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5" name="Google Shape;415;p64"/>
          <p:cNvCxnSpPr/>
          <p:nvPr/>
        </p:nvCxnSpPr>
        <p:spPr>
          <a:xfrm>
            <a:off x="5930550" y="3850925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6" name="Google Shape;416;p64"/>
          <p:cNvCxnSpPr/>
          <p:nvPr/>
        </p:nvCxnSpPr>
        <p:spPr>
          <a:xfrm>
            <a:off x="6528050" y="4183750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7" name="Google Shape;417;p64"/>
          <p:cNvCxnSpPr/>
          <p:nvPr/>
        </p:nvCxnSpPr>
        <p:spPr>
          <a:xfrm>
            <a:off x="6731125" y="4072808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8" name="Google Shape;418;p64"/>
          <p:cNvCxnSpPr/>
          <p:nvPr/>
        </p:nvCxnSpPr>
        <p:spPr>
          <a:xfrm>
            <a:off x="6528050" y="3961867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9" name="Google Shape;419;p64"/>
          <p:cNvCxnSpPr/>
          <p:nvPr/>
        </p:nvCxnSpPr>
        <p:spPr>
          <a:xfrm>
            <a:off x="6883150" y="3850925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0" name="Google Shape;420;p64"/>
          <p:cNvCxnSpPr/>
          <p:nvPr/>
        </p:nvCxnSpPr>
        <p:spPr>
          <a:xfrm>
            <a:off x="7480650" y="4183750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1" name="Google Shape;421;p64"/>
          <p:cNvCxnSpPr/>
          <p:nvPr/>
        </p:nvCxnSpPr>
        <p:spPr>
          <a:xfrm>
            <a:off x="7683725" y="4072808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2" name="Google Shape;422;p64"/>
          <p:cNvCxnSpPr/>
          <p:nvPr/>
        </p:nvCxnSpPr>
        <p:spPr>
          <a:xfrm>
            <a:off x="7480650" y="3961867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3" name="Google Shape;423;p64"/>
          <p:cNvCxnSpPr/>
          <p:nvPr/>
        </p:nvCxnSpPr>
        <p:spPr>
          <a:xfrm>
            <a:off x="7835750" y="3850925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4" name="Google Shape;424;p64"/>
          <p:cNvCxnSpPr/>
          <p:nvPr/>
        </p:nvCxnSpPr>
        <p:spPr>
          <a:xfrm>
            <a:off x="5283025" y="3729992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5" name="Google Shape;425;p64"/>
          <p:cNvCxnSpPr/>
          <p:nvPr/>
        </p:nvCxnSpPr>
        <p:spPr>
          <a:xfrm>
            <a:off x="5638125" y="3619050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6" name="Google Shape;426;p64"/>
          <p:cNvCxnSpPr/>
          <p:nvPr/>
        </p:nvCxnSpPr>
        <p:spPr>
          <a:xfrm>
            <a:off x="5400450" y="3508125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7" name="Google Shape;427;p64"/>
          <p:cNvCxnSpPr/>
          <p:nvPr/>
        </p:nvCxnSpPr>
        <p:spPr>
          <a:xfrm>
            <a:off x="5603525" y="3397183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8" name="Google Shape;428;p64"/>
          <p:cNvCxnSpPr/>
          <p:nvPr/>
        </p:nvCxnSpPr>
        <p:spPr>
          <a:xfrm>
            <a:off x="5400450" y="3286242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9" name="Google Shape;429;p64"/>
          <p:cNvCxnSpPr/>
          <p:nvPr/>
        </p:nvCxnSpPr>
        <p:spPr>
          <a:xfrm>
            <a:off x="5755550" y="3175300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0" name="Google Shape;430;p64"/>
          <p:cNvCxnSpPr/>
          <p:nvPr/>
        </p:nvCxnSpPr>
        <p:spPr>
          <a:xfrm>
            <a:off x="6210275" y="3729979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1" name="Google Shape;431;p64"/>
          <p:cNvCxnSpPr/>
          <p:nvPr/>
        </p:nvCxnSpPr>
        <p:spPr>
          <a:xfrm>
            <a:off x="6565375" y="3619038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2" name="Google Shape;432;p64"/>
          <p:cNvCxnSpPr/>
          <p:nvPr/>
        </p:nvCxnSpPr>
        <p:spPr>
          <a:xfrm>
            <a:off x="6327700" y="3508113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3" name="Google Shape;433;p64"/>
          <p:cNvCxnSpPr/>
          <p:nvPr/>
        </p:nvCxnSpPr>
        <p:spPr>
          <a:xfrm>
            <a:off x="6530775" y="3397171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4" name="Google Shape;434;p64"/>
          <p:cNvCxnSpPr/>
          <p:nvPr/>
        </p:nvCxnSpPr>
        <p:spPr>
          <a:xfrm>
            <a:off x="6327700" y="3286229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5" name="Google Shape;435;p64"/>
          <p:cNvCxnSpPr/>
          <p:nvPr/>
        </p:nvCxnSpPr>
        <p:spPr>
          <a:xfrm>
            <a:off x="6682800" y="3175288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6" name="Google Shape;436;p64"/>
          <p:cNvCxnSpPr/>
          <p:nvPr/>
        </p:nvCxnSpPr>
        <p:spPr>
          <a:xfrm>
            <a:off x="6091425" y="3064567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7" name="Google Shape;437;p64"/>
          <p:cNvCxnSpPr/>
          <p:nvPr/>
        </p:nvCxnSpPr>
        <p:spPr>
          <a:xfrm>
            <a:off x="6446525" y="2953625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8" name="Google Shape;438;p64"/>
          <p:cNvCxnSpPr/>
          <p:nvPr/>
        </p:nvCxnSpPr>
        <p:spPr>
          <a:xfrm>
            <a:off x="6208850" y="2842700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9" name="Google Shape;439;p64"/>
          <p:cNvCxnSpPr/>
          <p:nvPr/>
        </p:nvCxnSpPr>
        <p:spPr>
          <a:xfrm>
            <a:off x="6411925" y="2731758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0" name="Google Shape;440;p64"/>
          <p:cNvCxnSpPr/>
          <p:nvPr/>
        </p:nvCxnSpPr>
        <p:spPr>
          <a:xfrm>
            <a:off x="6208850" y="2620817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1" name="Google Shape;441;p64"/>
          <p:cNvCxnSpPr/>
          <p:nvPr/>
        </p:nvCxnSpPr>
        <p:spPr>
          <a:xfrm>
            <a:off x="6563950" y="2509875"/>
            <a:ext cx="848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2" name="Google Shape;442;p64"/>
          <p:cNvSpPr txBox="1"/>
          <p:nvPr/>
        </p:nvSpPr>
        <p:spPr>
          <a:xfrm>
            <a:off x="1567025" y="3029900"/>
            <a:ext cx="16470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Coverage depth = 4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64"/>
          <p:cNvSpPr txBox="1"/>
          <p:nvPr/>
        </p:nvSpPr>
        <p:spPr>
          <a:xfrm>
            <a:off x="4099700" y="2313688"/>
            <a:ext cx="18714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Coverage depth = 10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64"/>
          <p:cNvSpPr txBox="1"/>
          <p:nvPr/>
        </p:nvSpPr>
        <p:spPr>
          <a:xfrm>
            <a:off x="5899875" y="1605525"/>
            <a:ext cx="20253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Coverage depth = 16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5" name="Google Shape;445;p64"/>
          <p:cNvCxnSpPr/>
          <p:nvPr/>
        </p:nvCxnSpPr>
        <p:spPr>
          <a:xfrm>
            <a:off x="2396825" y="3440125"/>
            <a:ext cx="0" cy="861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446" name="Google Shape;446;p64"/>
          <p:cNvCxnSpPr>
            <a:stCxn id="443" idx="2"/>
          </p:cNvCxnSpPr>
          <p:nvPr/>
        </p:nvCxnSpPr>
        <p:spPr>
          <a:xfrm flipH="1">
            <a:off x="5025800" y="2739388"/>
            <a:ext cx="9600" cy="156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447" name="Google Shape;447;p64"/>
          <p:cNvCxnSpPr>
            <a:stCxn id="444" idx="2"/>
          </p:cNvCxnSpPr>
          <p:nvPr/>
        </p:nvCxnSpPr>
        <p:spPr>
          <a:xfrm>
            <a:off x="6912525" y="2031225"/>
            <a:ext cx="0" cy="227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448" name="Google Shape;448;p64"/>
          <p:cNvSpPr txBox="1"/>
          <p:nvPr/>
        </p:nvSpPr>
        <p:spPr>
          <a:xfrm>
            <a:off x="-125825" y="2682775"/>
            <a:ext cx="13683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Reads aligned to reference genome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9" name="Google Shape;449;p64"/>
          <p:cNvGrpSpPr/>
          <p:nvPr/>
        </p:nvGrpSpPr>
        <p:grpSpPr>
          <a:xfrm rot="10800000">
            <a:off x="1126339" y="1604988"/>
            <a:ext cx="508712" cy="2631600"/>
            <a:chOff x="7380788" y="1637825"/>
            <a:chExt cx="508712" cy="2631600"/>
          </a:xfrm>
        </p:grpSpPr>
        <p:sp>
          <p:nvSpPr>
            <p:cNvPr id="450" name="Google Shape;450;p64"/>
            <p:cNvSpPr/>
            <p:nvPr/>
          </p:nvSpPr>
          <p:spPr>
            <a:xfrm>
              <a:off x="7384600" y="1648925"/>
              <a:ext cx="504900" cy="2609400"/>
            </a:xfrm>
            <a:prstGeom prst="bracePair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64"/>
            <p:cNvSpPr/>
            <p:nvPr/>
          </p:nvSpPr>
          <p:spPr>
            <a:xfrm>
              <a:off x="7380788" y="1637825"/>
              <a:ext cx="155400" cy="2631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57A8AF8-294F-0009-B3E8-5692AE44E65E}"/>
              </a:ext>
            </a:extLst>
          </p:cNvPr>
          <p:cNvSpPr txBox="1"/>
          <p:nvPr/>
        </p:nvSpPr>
        <p:spPr>
          <a:xfrm>
            <a:off x="184421" y="1273387"/>
            <a:ext cx="849206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/>
              </a:rPr>
              <a:t>This training resource was developed to be used with the CZ ID platform</a:t>
            </a:r>
          </a:p>
          <a:p>
            <a:pPr lvl="0" rtl="0" fontAlgn="base"/>
            <a:endParaRPr lang="en-US" sz="2000" b="0" i="0" u="none" strike="noStrike" dirty="0">
              <a:solidFill>
                <a:srgbClr val="000000"/>
              </a:solidFill>
              <a:effectLst/>
              <a:latin typeface="Arial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/>
              </a:rPr>
              <a:t>In October, 2026, stewardship of CZ ID transitioned to UCSF and the platform was renamed to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Arial"/>
              </a:rPr>
              <a:t>SeqtoID</a:t>
            </a:r>
            <a:endParaRPr lang="en-US" sz="2000" b="0" i="0" u="none" strike="noStrike" dirty="0">
              <a:solidFill>
                <a:srgbClr val="000000"/>
              </a:solidFill>
              <a:effectLst/>
              <a:latin typeface="Arial"/>
            </a:endParaRPr>
          </a:p>
          <a:p>
            <a:pPr lvl="0" rtl="0" fontAlgn="base"/>
            <a:endParaRPr lang="en-US" sz="2000" b="0" i="0" u="none" strike="noStrike" dirty="0">
              <a:solidFill>
                <a:srgbClr val="000000"/>
              </a:solidFill>
              <a:effectLst/>
              <a:latin typeface="Arial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/>
              </a:rPr>
              <a:t>These training materials are not being actively maintained and may not reflect differences between CZ ID and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Arial"/>
              </a:rPr>
              <a:t>SeqtoID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/>
              </a:rPr>
              <a:t>, subsequent changes to the platform, or current methods and best practices in metagenomic sequencing and analysis</a:t>
            </a:r>
            <a:endParaRPr lang="en-US" sz="2000" b="0" i="0" u="none" strike="noStrike" dirty="0">
              <a:solidFill>
                <a:srgbClr val="595959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05AC3A-D91E-4495-019F-BFBE3D27F0AF}"/>
              </a:ext>
            </a:extLst>
          </p:cNvPr>
          <p:cNvSpPr txBox="1"/>
          <p:nvPr/>
        </p:nvSpPr>
        <p:spPr>
          <a:xfrm>
            <a:off x="598516" y="232756"/>
            <a:ext cx="64091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Disclaimer</a:t>
            </a:r>
          </a:p>
        </p:txBody>
      </p:sp>
    </p:spTree>
    <p:extLst>
      <p:ext uri="{BB962C8B-B14F-4D97-AF65-F5344CB8AC3E}">
        <p14:creationId xmlns:p14="http://schemas.microsoft.com/office/powerpoint/2010/main" val="1293854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5"/>
          <p:cNvSpPr txBox="1"/>
          <p:nvPr/>
        </p:nvSpPr>
        <p:spPr>
          <a:xfrm>
            <a:off x="75575" y="717250"/>
            <a:ext cx="3742500" cy="3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mNGS data analysis</a:t>
            </a:r>
            <a:endParaRPr sz="3600" b="1" i="0" u="none" strike="noStrike" cap="non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1">
                <a:solidFill>
                  <a:srgbClr val="D9D9D9"/>
                </a:solidFill>
              </a:rPr>
              <a:t>using</a:t>
            </a:r>
            <a:endParaRPr sz="3600" b="1" i="0" u="none" strike="noStrike" cap="non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7" name="Google Shape;457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6451" y="3126125"/>
            <a:ext cx="2661062" cy="868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8" name="Google Shape;458;p65"/>
          <p:cNvGrpSpPr/>
          <p:nvPr/>
        </p:nvGrpSpPr>
        <p:grpSpPr>
          <a:xfrm>
            <a:off x="2601117" y="568955"/>
            <a:ext cx="6512275" cy="4115873"/>
            <a:chOff x="261475" y="1372124"/>
            <a:chExt cx="5664326" cy="3257775"/>
          </a:xfrm>
        </p:grpSpPr>
        <p:grpSp>
          <p:nvGrpSpPr>
            <p:cNvPr id="459" name="Google Shape;459;p65"/>
            <p:cNvGrpSpPr/>
            <p:nvPr/>
          </p:nvGrpSpPr>
          <p:grpSpPr>
            <a:xfrm>
              <a:off x="261475" y="1372124"/>
              <a:ext cx="5664326" cy="3257775"/>
              <a:chOff x="789612" y="1255052"/>
              <a:chExt cx="6930534" cy="3986021"/>
            </a:xfrm>
          </p:grpSpPr>
          <p:grpSp>
            <p:nvGrpSpPr>
              <p:cNvPr id="460" name="Google Shape;460;p65"/>
              <p:cNvGrpSpPr/>
              <p:nvPr/>
            </p:nvGrpSpPr>
            <p:grpSpPr>
              <a:xfrm>
                <a:off x="789612" y="1255052"/>
                <a:ext cx="6930534" cy="3986021"/>
                <a:chOff x="448959" y="887523"/>
                <a:chExt cx="7795877" cy="4483713"/>
              </a:xfrm>
            </p:grpSpPr>
            <p:pic>
              <p:nvPicPr>
                <p:cNvPr id="461" name="Google Shape;461;p65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r="9173"/>
                <a:stretch/>
              </p:blipFill>
              <p:spPr>
                <a:xfrm>
                  <a:off x="1836421" y="1141755"/>
                  <a:ext cx="5547360" cy="350247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62" name="Google Shape;462;p65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r="5006" b="9181"/>
                <a:stretch/>
              </p:blipFill>
              <p:spPr>
                <a:xfrm>
                  <a:off x="448959" y="887523"/>
                  <a:ext cx="7795877" cy="448371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463" name="Google Shape;463;p65"/>
              <p:cNvSpPr/>
              <p:nvPr/>
            </p:nvSpPr>
            <p:spPr>
              <a:xfrm>
                <a:off x="4123944" y="4548834"/>
                <a:ext cx="713100" cy="141000"/>
              </a:xfrm>
              <a:prstGeom prst="rect">
                <a:avLst/>
              </a:prstGeom>
              <a:solidFill>
                <a:srgbClr val="D3D4D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64" name="Google Shape;464;p65"/>
            <p:cNvPicPr preferRelativeResize="0"/>
            <p:nvPr/>
          </p:nvPicPr>
          <p:blipFill rotWithShape="1">
            <a:blip r:embed="rId6">
              <a:alphaModFix/>
            </a:blip>
            <a:srcRect t="586"/>
            <a:stretch/>
          </p:blipFill>
          <p:spPr>
            <a:xfrm>
              <a:off x="1415675" y="1690275"/>
              <a:ext cx="3637949" cy="1898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65"/>
            <p:cNvSpPr/>
            <p:nvPr/>
          </p:nvSpPr>
          <p:spPr>
            <a:xfrm>
              <a:off x="1427650" y="1888350"/>
              <a:ext cx="3153600" cy="66300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65"/>
            <p:cNvSpPr/>
            <p:nvPr/>
          </p:nvSpPr>
          <p:spPr>
            <a:xfrm>
              <a:off x="2168425" y="1804950"/>
              <a:ext cx="2019600" cy="663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65"/>
            <p:cNvSpPr/>
            <p:nvPr/>
          </p:nvSpPr>
          <p:spPr>
            <a:xfrm>
              <a:off x="4534825" y="1804950"/>
              <a:ext cx="435600" cy="74400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68" name="Google Shape;468;p6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31580" y="1316489"/>
            <a:ext cx="4177741" cy="2409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65"/>
          <p:cNvPicPr preferRelativeResize="0"/>
          <p:nvPr/>
        </p:nvPicPr>
        <p:blipFill rotWithShape="1">
          <a:blip r:embed="rId8">
            <a:alphaModFix/>
          </a:blip>
          <a:srcRect l="11520" t="30138" b="57300"/>
          <a:stretch/>
        </p:blipFill>
        <p:spPr>
          <a:xfrm>
            <a:off x="4412967" y="2616439"/>
            <a:ext cx="3696353" cy="302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65"/>
          <p:cNvPicPr preferRelativeResize="0"/>
          <p:nvPr/>
        </p:nvPicPr>
        <p:blipFill rotWithShape="1">
          <a:blip r:embed="rId8">
            <a:alphaModFix/>
          </a:blip>
          <a:srcRect l="11520" t="42560" b="44878"/>
          <a:stretch/>
        </p:blipFill>
        <p:spPr>
          <a:xfrm>
            <a:off x="4412967" y="2919117"/>
            <a:ext cx="3696353" cy="302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65"/>
          <p:cNvPicPr preferRelativeResize="0"/>
          <p:nvPr/>
        </p:nvPicPr>
        <p:blipFill rotWithShape="1">
          <a:blip r:embed="rId9">
            <a:alphaModFix/>
          </a:blip>
          <a:srcRect t="82047" b="6295"/>
          <a:stretch/>
        </p:blipFill>
        <p:spPr>
          <a:xfrm>
            <a:off x="3931581" y="3445112"/>
            <a:ext cx="4177741" cy="280892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65"/>
          <p:cNvSpPr/>
          <p:nvPr/>
        </p:nvSpPr>
        <p:spPr>
          <a:xfrm>
            <a:off x="7131565" y="1348677"/>
            <a:ext cx="189600" cy="60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3" name="Google Shape;473;p65"/>
          <p:cNvPicPr preferRelativeResize="0"/>
          <p:nvPr/>
        </p:nvPicPr>
        <p:blipFill rotWithShape="1">
          <a:blip r:embed="rId10">
            <a:alphaModFix/>
          </a:blip>
          <a:srcRect r="1380" b="10554"/>
          <a:stretch/>
        </p:blipFill>
        <p:spPr>
          <a:xfrm>
            <a:off x="3931581" y="1316490"/>
            <a:ext cx="4177747" cy="2409526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65"/>
          <p:cNvSpPr/>
          <p:nvPr/>
        </p:nvSpPr>
        <p:spPr>
          <a:xfrm>
            <a:off x="7252136" y="1348677"/>
            <a:ext cx="189600" cy="60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9" name="Google Shape;479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8563" y="2504425"/>
            <a:ext cx="343901" cy="343901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66"/>
          <p:cNvSpPr txBox="1"/>
          <p:nvPr/>
        </p:nvSpPr>
        <p:spPr>
          <a:xfrm>
            <a:off x="7087063" y="1640650"/>
            <a:ext cx="13074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 source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66"/>
          <p:cNvSpPr txBox="1"/>
          <p:nvPr/>
        </p:nvSpPr>
        <p:spPr>
          <a:xfrm>
            <a:off x="4513888" y="2524575"/>
            <a:ext cx="13074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Cloud-based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66"/>
          <p:cNvSpPr txBox="1"/>
          <p:nvPr/>
        </p:nvSpPr>
        <p:spPr>
          <a:xfrm>
            <a:off x="4567138" y="1640652"/>
            <a:ext cx="13074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cost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3" name="Google Shape;483;p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3925" y="1568702"/>
            <a:ext cx="576800" cy="5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6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46226" y="1568700"/>
            <a:ext cx="576799" cy="5768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0"/>
              </a:srgbClr>
            </a:outerShdw>
          </a:effectLst>
        </p:spPr>
      </p:pic>
      <p:pic>
        <p:nvPicPr>
          <p:cNvPr id="485" name="Google Shape;485;p6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68077" y="2519986"/>
            <a:ext cx="785582" cy="432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6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34739" y="2455537"/>
            <a:ext cx="785574" cy="525358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66"/>
          <p:cNvSpPr txBox="1"/>
          <p:nvPr/>
        </p:nvSpPr>
        <p:spPr>
          <a:xfrm>
            <a:off x="7087063" y="2426175"/>
            <a:ext cx="18594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Wet lab scientist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friendly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66"/>
          <p:cNvSpPr/>
          <p:nvPr/>
        </p:nvSpPr>
        <p:spPr>
          <a:xfrm>
            <a:off x="6232963" y="2418800"/>
            <a:ext cx="608100" cy="629700"/>
          </a:xfrm>
          <a:prstGeom prst="noSmoking">
            <a:avLst>
              <a:gd name="adj" fmla="val 5728"/>
            </a:avLst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0" name="Google Shape;490;p6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7538" y="1734225"/>
            <a:ext cx="2661062" cy="86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7"/>
          <p:cNvSpPr/>
          <p:nvPr/>
        </p:nvSpPr>
        <p:spPr>
          <a:xfrm>
            <a:off x="6213075" y="1168075"/>
            <a:ext cx="2614800" cy="430800"/>
          </a:xfrm>
          <a:prstGeom prst="round2DiagRect">
            <a:avLst>
              <a:gd name="adj1" fmla="val 45282"/>
              <a:gd name="adj2" fmla="val 0"/>
            </a:avLst>
          </a:prstGeom>
          <a:solidFill>
            <a:srgbClr val="00BB1B">
              <a:alpha val="458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67"/>
          <p:cNvSpPr/>
          <p:nvPr/>
        </p:nvSpPr>
        <p:spPr>
          <a:xfrm>
            <a:off x="3300488" y="1168075"/>
            <a:ext cx="2614800" cy="430800"/>
          </a:xfrm>
          <a:prstGeom prst="round2DiagRect">
            <a:avLst>
              <a:gd name="adj1" fmla="val 45282"/>
              <a:gd name="adj2" fmla="val 0"/>
            </a:avLst>
          </a:prstGeom>
          <a:solidFill>
            <a:srgbClr val="FF414B">
              <a:alpha val="625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67"/>
          <p:cNvSpPr/>
          <p:nvPr/>
        </p:nvSpPr>
        <p:spPr>
          <a:xfrm>
            <a:off x="387900" y="1168075"/>
            <a:ext cx="2614800" cy="430800"/>
          </a:xfrm>
          <a:prstGeom prst="round2DiagRect">
            <a:avLst>
              <a:gd name="adj1" fmla="val 45282"/>
              <a:gd name="adj2" fmla="val 0"/>
            </a:avLst>
          </a:prstGeom>
          <a:solidFill>
            <a:srgbClr val="00BFC4">
              <a:alpha val="541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67"/>
          <p:cNvSpPr txBox="1"/>
          <p:nvPr/>
        </p:nvSpPr>
        <p:spPr>
          <a:xfrm>
            <a:off x="316125" y="1168075"/>
            <a:ext cx="2614800" cy="14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Metagenomics (mNGS)</a:t>
            </a:r>
            <a:endParaRPr sz="17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Identify microbes present in mNGS samples and their relative abundance.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99" name="Google Shape;499;p67"/>
          <p:cNvSpPr txBox="1">
            <a:spLocks noGrp="1"/>
          </p:cNvSpPr>
          <p:nvPr>
            <p:ph type="title"/>
          </p:nvPr>
        </p:nvSpPr>
        <p:spPr>
          <a:xfrm>
            <a:off x="50" y="120675"/>
            <a:ext cx="9144000" cy="6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>
                <a:solidFill>
                  <a:schemeClr val="dk2"/>
                </a:solidFill>
              </a:rPr>
              <a:t>Core Analysis Workflows</a:t>
            </a:r>
            <a:endParaRPr sz="2520">
              <a:solidFill>
                <a:schemeClr val="dk2"/>
              </a:solidFill>
            </a:endParaRPr>
          </a:p>
        </p:txBody>
      </p:sp>
      <p:pic>
        <p:nvPicPr>
          <p:cNvPr id="500" name="Google Shape;50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50" y="44475"/>
            <a:ext cx="1319417" cy="43080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67"/>
          <p:cNvSpPr txBox="1"/>
          <p:nvPr/>
        </p:nvSpPr>
        <p:spPr>
          <a:xfrm>
            <a:off x="6213073" y="1168075"/>
            <a:ext cx="2614800" cy="14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Antimicrobial Resistance</a:t>
            </a:r>
            <a:endParaRPr sz="17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Detect the presence and abundance of AMR genes in mNGS or WGS samples.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02" name="Google Shape;502;p67"/>
          <p:cNvSpPr txBox="1"/>
          <p:nvPr/>
        </p:nvSpPr>
        <p:spPr>
          <a:xfrm>
            <a:off x="3264599" y="1168075"/>
            <a:ext cx="2614800" cy="14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Consensus Genomes</a:t>
            </a:r>
            <a:endParaRPr sz="17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Generate virus consensus genomes from mNGS or WGS data.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03" name="Google Shape;503;p67"/>
          <p:cNvSpPr txBox="1"/>
          <p:nvPr/>
        </p:nvSpPr>
        <p:spPr>
          <a:xfrm>
            <a:off x="1339100" y="4568950"/>
            <a:ext cx="6545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Workflow code is available on GitHub at </a:t>
            </a:r>
            <a:r>
              <a:rPr lang="en" sz="1200" u="sng">
                <a:solidFill>
                  <a:schemeClr val="hlink"/>
                </a:solidFill>
                <a:hlinkClick r:id="rId4"/>
              </a:rPr>
              <a:t>https://github.com/chanzuckerberg/czid-workflows/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504" name="Google Shape;504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900" y="2561775"/>
            <a:ext cx="2614799" cy="161637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505" name="Google Shape;505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8749" y="2551975"/>
            <a:ext cx="2646508" cy="16359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506" name="Google Shape;506;p6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41307" y="2551975"/>
            <a:ext cx="2646508" cy="16359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8"/>
          <p:cNvSpPr txBox="1">
            <a:spLocks noGrp="1"/>
          </p:cNvSpPr>
          <p:nvPr>
            <p:ph type="title"/>
          </p:nvPr>
        </p:nvSpPr>
        <p:spPr>
          <a:xfrm>
            <a:off x="176213" y="-190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>
                <a:solidFill>
                  <a:srgbClr val="666666"/>
                </a:solidFill>
              </a:rPr>
              <a:t>What types of analysis can CZ ID help with?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512" name="Google Shape;512;p68"/>
          <p:cNvSpPr txBox="1">
            <a:spLocks noGrp="1"/>
          </p:cNvSpPr>
          <p:nvPr>
            <p:ph type="body" idx="1"/>
          </p:nvPr>
        </p:nvSpPr>
        <p:spPr>
          <a:xfrm>
            <a:off x="481025" y="1485900"/>
            <a:ext cx="8196900" cy="28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457200" lvl="0" indent="-374650" algn="l" rtl="0">
              <a:lnSpc>
                <a:spcPct val="150000"/>
              </a:lnSpc>
              <a:spcBef>
                <a:spcPts val="220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Determining the infecting microbe in cases of unidentified disease</a:t>
            </a:r>
            <a:endParaRPr>
              <a:solidFill>
                <a:srgbClr val="000000"/>
              </a:solidFill>
            </a:endParaRPr>
          </a:p>
          <a:p>
            <a:pPr marL="45720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Identifying novel pathogens</a:t>
            </a:r>
            <a:endParaRPr>
              <a:solidFill>
                <a:srgbClr val="000000"/>
              </a:solidFill>
            </a:endParaRPr>
          </a:p>
          <a:p>
            <a:pPr marL="45720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Surveillance of pathogens in a particular region</a:t>
            </a:r>
            <a:endParaRPr>
              <a:solidFill>
                <a:srgbClr val="000000"/>
              </a:solidFill>
            </a:endParaRPr>
          </a:p>
          <a:p>
            <a:pPr marL="45720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Understanding the microbial communities in a particular tissue, i.e. respiratory or gut microbiota</a:t>
            </a:r>
            <a:endParaRPr>
              <a:solidFill>
                <a:srgbClr val="000000"/>
              </a:solidFill>
            </a:endParaRPr>
          </a:p>
          <a:p>
            <a:pPr marL="45720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Evaluating phylogenetic relationships between samples</a:t>
            </a:r>
            <a:endParaRPr>
              <a:solidFill>
                <a:srgbClr val="000000"/>
              </a:solidFill>
            </a:endParaRPr>
          </a:p>
          <a:p>
            <a:pPr marL="45720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Detecting antimicrobial resistance genes in samples</a:t>
            </a:r>
            <a:endParaRPr>
              <a:solidFill>
                <a:srgbClr val="000000"/>
              </a:solidFill>
            </a:endParaRPr>
          </a:p>
          <a:p>
            <a:pPr marL="45720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●"/>
            </a:pPr>
            <a:r>
              <a:rPr lang="en">
                <a:solidFill>
                  <a:srgbClr val="000000"/>
                </a:solidFill>
              </a:rPr>
              <a:t>Viral genome assembly (pipelines for SARS-CoV-2 and any other virus)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9"/>
          <p:cNvSpPr txBox="1"/>
          <p:nvPr/>
        </p:nvSpPr>
        <p:spPr>
          <a:xfrm>
            <a:off x="6632275" y="1202350"/>
            <a:ext cx="15102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Identified Taxa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69"/>
          <p:cNvSpPr txBox="1">
            <a:spLocks noGrp="1"/>
          </p:cNvSpPr>
          <p:nvPr>
            <p:ph type="subTitle" idx="1"/>
          </p:nvPr>
        </p:nvSpPr>
        <p:spPr>
          <a:xfrm>
            <a:off x="234600" y="108675"/>
            <a:ext cx="81633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rgbClr val="666666"/>
                </a:solidFill>
              </a:rPr>
              <a:t>Metagenomic data analysis using CZ ID</a:t>
            </a:r>
            <a:endParaRPr>
              <a:solidFill>
                <a:srgbClr val="666666"/>
              </a:solidFill>
            </a:endParaRPr>
          </a:p>
        </p:txBody>
      </p:sp>
      <p:cxnSp>
        <p:nvCxnSpPr>
          <p:cNvPr id="519" name="Google Shape;519;p69"/>
          <p:cNvCxnSpPr/>
          <p:nvPr/>
        </p:nvCxnSpPr>
        <p:spPr>
          <a:xfrm>
            <a:off x="2519100" y="2314938"/>
            <a:ext cx="36393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20" name="Google Shape;520;p69"/>
          <p:cNvGrpSpPr/>
          <p:nvPr/>
        </p:nvGrpSpPr>
        <p:grpSpPr>
          <a:xfrm>
            <a:off x="3563600" y="1105250"/>
            <a:ext cx="1770300" cy="1519000"/>
            <a:chOff x="3563600" y="1181450"/>
            <a:chExt cx="1770300" cy="1519000"/>
          </a:xfrm>
        </p:grpSpPr>
        <p:grpSp>
          <p:nvGrpSpPr>
            <p:cNvPr id="521" name="Google Shape;521;p69"/>
            <p:cNvGrpSpPr/>
            <p:nvPr/>
          </p:nvGrpSpPr>
          <p:grpSpPr>
            <a:xfrm>
              <a:off x="3563600" y="1181450"/>
              <a:ext cx="1770300" cy="1267525"/>
              <a:chOff x="3563600" y="1181450"/>
              <a:chExt cx="1770300" cy="1267525"/>
            </a:xfrm>
          </p:grpSpPr>
          <p:sp>
            <p:nvSpPr>
              <p:cNvPr id="522" name="Google Shape;522;p69"/>
              <p:cNvSpPr txBox="1"/>
              <p:nvPr/>
            </p:nvSpPr>
            <p:spPr>
              <a:xfrm>
                <a:off x="3792200" y="1960575"/>
                <a:ext cx="892800" cy="48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000"/>
                  <a:buFont typeface="Arial"/>
                  <a:buNone/>
                </a:pPr>
                <a:r>
                  <a:rPr lang="en" sz="40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⚙️</a:t>
                </a:r>
                <a:endParaRPr sz="4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69"/>
              <p:cNvSpPr txBox="1"/>
              <p:nvPr/>
            </p:nvSpPr>
            <p:spPr>
              <a:xfrm flipH="1">
                <a:off x="4257576" y="1693700"/>
                <a:ext cx="817500" cy="48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000"/>
                  <a:buFont typeface="Arial"/>
                  <a:buNone/>
                </a:pPr>
                <a:r>
                  <a:rPr lang="en" sz="40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⚙️</a:t>
                </a:r>
                <a:endParaRPr sz="4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69"/>
              <p:cNvSpPr txBox="1"/>
              <p:nvPr/>
            </p:nvSpPr>
            <p:spPr>
              <a:xfrm>
                <a:off x="3563600" y="1181450"/>
                <a:ext cx="1770300" cy="39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rPr lang="en" sz="19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mNGS Pipeline</a:t>
                </a:r>
                <a:endParaRPr sz="19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25" name="Google Shape;525;p69"/>
            <p:cNvSpPr txBox="1"/>
            <p:nvPr/>
          </p:nvSpPr>
          <p:spPr>
            <a:xfrm flipH="1">
              <a:off x="4199789" y="2212050"/>
              <a:ext cx="817500" cy="48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lang="en" sz="4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⚙️</a:t>
              </a:r>
              <a:endParaRPr sz="4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6" name="Google Shape;526;p69"/>
          <p:cNvSpPr txBox="1"/>
          <p:nvPr/>
        </p:nvSpPr>
        <p:spPr>
          <a:xfrm>
            <a:off x="1130600" y="1202350"/>
            <a:ext cx="11907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AST</a:t>
            </a:r>
            <a:r>
              <a:rPr lang="en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 Files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69"/>
          <p:cNvSpPr txBox="1"/>
          <p:nvPr/>
        </p:nvSpPr>
        <p:spPr>
          <a:xfrm>
            <a:off x="733825" y="1948338"/>
            <a:ext cx="1434600" cy="16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Arial"/>
              <a:buNone/>
            </a:pPr>
            <a:r>
              <a:rPr lang="en" sz="10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📄</a:t>
            </a:r>
            <a:endParaRPr sz="10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69"/>
          <p:cNvSpPr txBox="1"/>
          <p:nvPr/>
        </p:nvSpPr>
        <p:spPr>
          <a:xfrm>
            <a:off x="886775" y="1871763"/>
            <a:ext cx="1434600" cy="16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Arial"/>
              <a:buNone/>
            </a:pPr>
            <a:r>
              <a:rPr lang="en" sz="10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📄</a:t>
            </a:r>
            <a:endParaRPr sz="10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69"/>
          <p:cNvSpPr txBox="1"/>
          <p:nvPr/>
        </p:nvSpPr>
        <p:spPr>
          <a:xfrm>
            <a:off x="1069575" y="1769063"/>
            <a:ext cx="1434600" cy="16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Arial"/>
              <a:buNone/>
            </a:pPr>
            <a:r>
              <a:rPr lang="en" sz="10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📄</a:t>
            </a:r>
            <a:endParaRPr sz="10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69"/>
          <p:cNvSpPr/>
          <p:nvPr/>
        </p:nvSpPr>
        <p:spPr>
          <a:xfrm>
            <a:off x="2922450" y="2880675"/>
            <a:ext cx="2734500" cy="4764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 Filtering and Quality Control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69"/>
          <p:cNvSpPr/>
          <p:nvPr/>
        </p:nvSpPr>
        <p:spPr>
          <a:xfrm>
            <a:off x="2922450" y="3501575"/>
            <a:ext cx="2734500" cy="476400"/>
          </a:xfrm>
          <a:prstGeom prst="rect">
            <a:avLst/>
          </a:prstGeom>
          <a:solidFill>
            <a:srgbClr val="9FC5E8"/>
          </a:solidFill>
          <a:ln w="19050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Alignment to NCBI Database of All Organisms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69"/>
          <p:cNvSpPr/>
          <p:nvPr/>
        </p:nvSpPr>
        <p:spPr>
          <a:xfrm>
            <a:off x="2922450" y="4122475"/>
            <a:ext cx="2734500" cy="476400"/>
          </a:xfrm>
          <a:prstGeom prst="rect">
            <a:avLst/>
          </a:prstGeom>
          <a:solidFill>
            <a:srgbClr val="B4A7D6"/>
          </a:solidFill>
          <a:ln w="19050" cap="flat" cmpd="sng">
            <a:solidFill>
              <a:srgbClr val="674E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Taxonomic Reporting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3" name="Google Shape;533;p69" descr="A screenshot of a cell phon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79137" t="54061" b="6523"/>
          <a:stretch/>
        </p:blipFill>
        <p:spPr>
          <a:xfrm>
            <a:off x="6630925" y="1599250"/>
            <a:ext cx="1320750" cy="1746751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69"/>
          <p:cNvSpPr/>
          <p:nvPr/>
        </p:nvSpPr>
        <p:spPr>
          <a:xfrm>
            <a:off x="3575100" y="1191700"/>
            <a:ext cx="1758900" cy="396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5" name="Google Shape;535;p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9861" y="1055100"/>
            <a:ext cx="1633850" cy="5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70"/>
          <p:cNvSpPr/>
          <p:nvPr/>
        </p:nvSpPr>
        <p:spPr>
          <a:xfrm>
            <a:off x="349750" y="2691273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41" name="Google Shape;541;p70"/>
          <p:cNvSpPr/>
          <p:nvPr/>
        </p:nvSpPr>
        <p:spPr>
          <a:xfrm>
            <a:off x="349750" y="2337365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42" name="Google Shape;542;p70"/>
          <p:cNvSpPr/>
          <p:nvPr/>
        </p:nvSpPr>
        <p:spPr>
          <a:xfrm>
            <a:off x="349750" y="3045180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43" name="Google Shape;543;p70"/>
          <p:cNvSpPr/>
          <p:nvPr/>
        </p:nvSpPr>
        <p:spPr>
          <a:xfrm>
            <a:off x="349750" y="322213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44" name="Google Shape;544;p70"/>
          <p:cNvSpPr/>
          <p:nvPr/>
        </p:nvSpPr>
        <p:spPr>
          <a:xfrm>
            <a:off x="349750" y="198345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45" name="Google Shape;545;p70"/>
          <p:cNvSpPr/>
          <p:nvPr/>
        </p:nvSpPr>
        <p:spPr>
          <a:xfrm>
            <a:off x="349750" y="2425842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46" name="Google Shape;546;p70"/>
          <p:cNvSpPr/>
          <p:nvPr/>
        </p:nvSpPr>
        <p:spPr>
          <a:xfrm>
            <a:off x="349750" y="1894981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47" name="Google Shape;547;p70"/>
          <p:cNvSpPr/>
          <p:nvPr/>
        </p:nvSpPr>
        <p:spPr>
          <a:xfrm>
            <a:off x="349750" y="2602796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48" name="Google Shape;548;p70"/>
          <p:cNvSpPr/>
          <p:nvPr/>
        </p:nvSpPr>
        <p:spPr>
          <a:xfrm>
            <a:off x="349750" y="2868226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49" name="Google Shape;549;p70"/>
          <p:cNvSpPr/>
          <p:nvPr/>
        </p:nvSpPr>
        <p:spPr>
          <a:xfrm>
            <a:off x="349750" y="295670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50" name="Google Shape;550;p70"/>
          <p:cNvSpPr/>
          <p:nvPr/>
        </p:nvSpPr>
        <p:spPr>
          <a:xfrm>
            <a:off x="349750" y="3133657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51" name="Google Shape;551;p70"/>
          <p:cNvSpPr/>
          <p:nvPr/>
        </p:nvSpPr>
        <p:spPr>
          <a:xfrm>
            <a:off x="349750" y="2514319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52" name="Google Shape;552;p70"/>
          <p:cNvSpPr/>
          <p:nvPr/>
        </p:nvSpPr>
        <p:spPr>
          <a:xfrm>
            <a:off x="349750" y="207193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53" name="Google Shape;553;p70"/>
          <p:cNvSpPr/>
          <p:nvPr/>
        </p:nvSpPr>
        <p:spPr>
          <a:xfrm>
            <a:off x="349750" y="2160411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54" name="Google Shape;554;p70"/>
          <p:cNvSpPr/>
          <p:nvPr/>
        </p:nvSpPr>
        <p:spPr>
          <a:xfrm>
            <a:off x="349750" y="3310592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55" name="Google Shape;555;p70"/>
          <p:cNvSpPr/>
          <p:nvPr/>
        </p:nvSpPr>
        <p:spPr>
          <a:xfrm>
            <a:off x="349750" y="1718027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56" name="Google Shape;556;p70"/>
          <p:cNvSpPr/>
          <p:nvPr/>
        </p:nvSpPr>
        <p:spPr>
          <a:xfrm>
            <a:off x="349750" y="1629550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57" name="Google Shape;557;p70"/>
          <p:cNvSpPr/>
          <p:nvPr/>
        </p:nvSpPr>
        <p:spPr>
          <a:xfrm>
            <a:off x="349750" y="3399069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58" name="Google Shape;558;p70"/>
          <p:cNvSpPr/>
          <p:nvPr/>
        </p:nvSpPr>
        <p:spPr>
          <a:xfrm>
            <a:off x="349750" y="224888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59" name="Google Shape;559;p70"/>
          <p:cNvSpPr/>
          <p:nvPr/>
        </p:nvSpPr>
        <p:spPr>
          <a:xfrm>
            <a:off x="349750" y="180650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60" name="Google Shape;560;p70"/>
          <p:cNvSpPr/>
          <p:nvPr/>
        </p:nvSpPr>
        <p:spPr>
          <a:xfrm>
            <a:off x="349750" y="2779750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61" name="Google Shape;561;p70"/>
          <p:cNvSpPr/>
          <p:nvPr/>
        </p:nvSpPr>
        <p:spPr>
          <a:xfrm>
            <a:off x="349750" y="3487546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62" name="Google Shape;562;p70"/>
          <p:cNvSpPr/>
          <p:nvPr/>
        </p:nvSpPr>
        <p:spPr>
          <a:xfrm>
            <a:off x="349750" y="3576023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63" name="Google Shape;563;p70"/>
          <p:cNvSpPr/>
          <p:nvPr/>
        </p:nvSpPr>
        <p:spPr>
          <a:xfrm>
            <a:off x="185288" y="423400"/>
            <a:ext cx="2530500" cy="4764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 Filtering and QC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70"/>
          <p:cNvSpPr/>
          <p:nvPr/>
        </p:nvSpPr>
        <p:spPr>
          <a:xfrm>
            <a:off x="2824038" y="426925"/>
            <a:ext cx="4614900" cy="476400"/>
          </a:xfrm>
          <a:prstGeom prst="rect">
            <a:avLst/>
          </a:prstGeom>
          <a:solidFill>
            <a:srgbClr val="9FC5E8"/>
          </a:solidFill>
          <a:ln w="19050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Assembly-based Alignment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70"/>
          <p:cNvSpPr/>
          <p:nvPr/>
        </p:nvSpPr>
        <p:spPr>
          <a:xfrm>
            <a:off x="7541513" y="423400"/>
            <a:ext cx="1417200" cy="476400"/>
          </a:xfrm>
          <a:prstGeom prst="rect">
            <a:avLst/>
          </a:prstGeom>
          <a:solidFill>
            <a:srgbClr val="B4A7D6"/>
          </a:solidFill>
          <a:ln w="19050" cap="flat" cmpd="sng">
            <a:solidFill>
              <a:srgbClr val="674E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Taxonomic Reporting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70"/>
          <p:cNvSpPr/>
          <p:nvPr/>
        </p:nvSpPr>
        <p:spPr>
          <a:xfrm>
            <a:off x="349750" y="3752976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67" name="Google Shape;567;p70"/>
          <p:cNvSpPr/>
          <p:nvPr/>
        </p:nvSpPr>
        <p:spPr>
          <a:xfrm>
            <a:off x="349750" y="3664499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68" name="Google Shape;568;p70"/>
          <p:cNvSpPr/>
          <p:nvPr/>
        </p:nvSpPr>
        <p:spPr>
          <a:xfrm>
            <a:off x="349750" y="384143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69" name="Google Shape;569;p70"/>
          <p:cNvSpPr/>
          <p:nvPr/>
        </p:nvSpPr>
        <p:spPr>
          <a:xfrm>
            <a:off x="349750" y="3929915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70" name="Google Shape;570;p70"/>
          <p:cNvSpPr/>
          <p:nvPr/>
        </p:nvSpPr>
        <p:spPr>
          <a:xfrm>
            <a:off x="349750" y="4018392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71" name="Google Shape;571;p70"/>
          <p:cNvSpPr/>
          <p:nvPr/>
        </p:nvSpPr>
        <p:spPr>
          <a:xfrm>
            <a:off x="349750" y="4106869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72" name="Google Shape;572;p70"/>
          <p:cNvSpPr/>
          <p:nvPr/>
        </p:nvSpPr>
        <p:spPr>
          <a:xfrm>
            <a:off x="349750" y="4283825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73" name="Google Shape;573;p70"/>
          <p:cNvSpPr/>
          <p:nvPr/>
        </p:nvSpPr>
        <p:spPr>
          <a:xfrm>
            <a:off x="349750" y="4195349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74" name="Google Shape;574;p70"/>
          <p:cNvSpPr/>
          <p:nvPr/>
        </p:nvSpPr>
        <p:spPr>
          <a:xfrm>
            <a:off x="349750" y="4372300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75" name="Google Shape;575;p70"/>
          <p:cNvSpPr/>
          <p:nvPr/>
        </p:nvSpPr>
        <p:spPr>
          <a:xfrm>
            <a:off x="1649675" y="2691273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76" name="Google Shape;576;p70"/>
          <p:cNvSpPr/>
          <p:nvPr/>
        </p:nvSpPr>
        <p:spPr>
          <a:xfrm>
            <a:off x="1649675" y="2337365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77" name="Google Shape;577;p70"/>
          <p:cNvSpPr/>
          <p:nvPr/>
        </p:nvSpPr>
        <p:spPr>
          <a:xfrm>
            <a:off x="1649675" y="3045180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78" name="Google Shape;578;p70"/>
          <p:cNvSpPr/>
          <p:nvPr/>
        </p:nvSpPr>
        <p:spPr>
          <a:xfrm>
            <a:off x="1649675" y="322213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79" name="Google Shape;579;p70"/>
          <p:cNvSpPr/>
          <p:nvPr/>
        </p:nvSpPr>
        <p:spPr>
          <a:xfrm>
            <a:off x="1649675" y="198345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80" name="Google Shape;580;p70"/>
          <p:cNvSpPr/>
          <p:nvPr/>
        </p:nvSpPr>
        <p:spPr>
          <a:xfrm>
            <a:off x="1649675" y="1894981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81" name="Google Shape;581;p70"/>
          <p:cNvSpPr/>
          <p:nvPr/>
        </p:nvSpPr>
        <p:spPr>
          <a:xfrm>
            <a:off x="1649675" y="2602796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82" name="Google Shape;582;p70"/>
          <p:cNvSpPr/>
          <p:nvPr/>
        </p:nvSpPr>
        <p:spPr>
          <a:xfrm>
            <a:off x="1649675" y="295670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83" name="Google Shape;583;p70"/>
          <p:cNvSpPr/>
          <p:nvPr/>
        </p:nvSpPr>
        <p:spPr>
          <a:xfrm>
            <a:off x="1649675" y="3133657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84" name="Google Shape;584;p70"/>
          <p:cNvSpPr/>
          <p:nvPr/>
        </p:nvSpPr>
        <p:spPr>
          <a:xfrm>
            <a:off x="1649675" y="2514319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85" name="Google Shape;585;p70"/>
          <p:cNvSpPr/>
          <p:nvPr/>
        </p:nvSpPr>
        <p:spPr>
          <a:xfrm>
            <a:off x="1649675" y="207193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86" name="Google Shape;586;p70"/>
          <p:cNvSpPr/>
          <p:nvPr/>
        </p:nvSpPr>
        <p:spPr>
          <a:xfrm>
            <a:off x="1649675" y="2160411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87" name="Google Shape;587;p70"/>
          <p:cNvSpPr/>
          <p:nvPr/>
        </p:nvSpPr>
        <p:spPr>
          <a:xfrm>
            <a:off x="1649675" y="3310592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88" name="Google Shape;588;p70"/>
          <p:cNvSpPr/>
          <p:nvPr/>
        </p:nvSpPr>
        <p:spPr>
          <a:xfrm>
            <a:off x="1649675" y="1629550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89" name="Google Shape;589;p70"/>
          <p:cNvSpPr/>
          <p:nvPr/>
        </p:nvSpPr>
        <p:spPr>
          <a:xfrm>
            <a:off x="1649675" y="3399069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90" name="Google Shape;590;p70"/>
          <p:cNvSpPr/>
          <p:nvPr/>
        </p:nvSpPr>
        <p:spPr>
          <a:xfrm>
            <a:off x="1649675" y="224888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91" name="Google Shape;591;p70"/>
          <p:cNvSpPr/>
          <p:nvPr/>
        </p:nvSpPr>
        <p:spPr>
          <a:xfrm>
            <a:off x="1649675" y="180650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92" name="Google Shape;592;p70"/>
          <p:cNvSpPr/>
          <p:nvPr/>
        </p:nvSpPr>
        <p:spPr>
          <a:xfrm>
            <a:off x="1649675" y="3487546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93" name="Google Shape;593;p70"/>
          <p:cNvSpPr/>
          <p:nvPr/>
        </p:nvSpPr>
        <p:spPr>
          <a:xfrm>
            <a:off x="1649675" y="3576023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94" name="Google Shape;594;p70"/>
          <p:cNvSpPr/>
          <p:nvPr/>
        </p:nvSpPr>
        <p:spPr>
          <a:xfrm>
            <a:off x="1649675" y="384143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95" name="Google Shape;595;p70"/>
          <p:cNvSpPr/>
          <p:nvPr/>
        </p:nvSpPr>
        <p:spPr>
          <a:xfrm>
            <a:off x="1649675" y="3929915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96" name="Google Shape;596;p70"/>
          <p:cNvSpPr/>
          <p:nvPr/>
        </p:nvSpPr>
        <p:spPr>
          <a:xfrm>
            <a:off x="1649675" y="4018392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97" name="Google Shape;597;p70"/>
          <p:cNvSpPr/>
          <p:nvPr/>
        </p:nvSpPr>
        <p:spPr>
          <a:xfrm>
            <a:off x="1649675" y="4106869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98" name="Google Shape;598;p70"/>
          <p:cNvSpPr/>
          <p:nvPr/>
        </p:nvSpPr>
        <p:spPr>
          <a:xfrm>
            <a:off x="5744266" y="2504235"/>
            <a:ext cx="846900" cy="1182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599" name="Google Shape;599;p70"/>
          <p:cNvSpPr/>
          <p:nvPr/>
        </p:nvSpPr>
        <p:spPr>
          <a:xfrm>
            <a:off x="5744266" y="2223100"/>
            <a:ext cx="846900" cy="118200"/>
          </a:xfrm>
          <a:prstGeom prst="rect">
            <a:avLst/>
          </a:prstGeom>
          <a:solidFill>
            <a:srgbClr val="ED475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00" name="Google Shape;600;p70"/>
          <p:cNvSpPr/>
          <p:nvPr/>
        </p:nvSpPr>
        <p:spPr>
          <a:xfrm>
            <a:off x="5744266" y="3066505"/>
            <a:ext cx="846900" cy="1182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pic>
        <p:nvPicPr>
          <p:cNvPr id="601" name="Google Shape;601;p70" descr="A screenshot of a cell phon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79137" t="85279" r="10885" b="6523"/>
          <a:stretch/>
        </p:blipFill>
        <p:spPr>
          <a:xfrm>
            <a:off x="6591175" y="2973512"/>
            <a:ext cx="528874" cy="304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70" descr="A screenshot of a cell phon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91272" t="55112" r="2407" b="34137"/>
          <a:stretch/>
        </p:blipFill>
        <p:spPr>
          <a:xfrm>
            <a:off x="6684733" y="2015899"/>
            <a:ext cx="334998" cy="398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70" descr="A screenshot of a cell phon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78015" t="61592" r="17430" b="26290"/>
          <a:stretch/>
        </p:blipFill>
        <p:spPr>
          <a:xfrm rot="-4622404">
            <a:off x="6682676" y="2636854"/>
            <a:ext cx="241360" cy="449638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70"/>
          <p:cNvSpPr/>
          <p:nvPr/>
        </p:nvSpPr>
        <p:spPr>
          <a:xfrm>
            <a:off x="2966475" y="1983450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05" name="Google Shape;605;p70"/>
          <p:cNvSpPr/>
          <p:nvPr/>
        </p:nvSpPr>
        <p:spPr>
          <a:xfrm>
            <a:off x="3398975" y="1873100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06" name="Google Shape;606;p70"/>
          <p:cNvSpPr/>
          <p:nvPr/>
        </p:nvSpPr>
        <p:spPr>
          <a:xfrm>
            <a:off x="3696438" y="2071925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07" name="Google Shape;607;p70"/>
          <p:cNvSpPr/>
          <p:nvPr/>
        </p:nvSpPr>
        <p:spPr>
          <a:xfrm>
            <a:off x="4367375" y="1983450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08" name="Google Shape;608;p70"/>
          <p:cNvSpPr/>
          <p:nvPr/>
        </p:nvSpPr>
        <p:spPr>
          <a:xfrm>
            <a:off x="2960850" y="261068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09" name="Google Shape;609;p70"/>
          <p:cNvSpPr/>
          <p:nvPr/>
        </p:nvSpPr>
        <p:spPr>
          <a:xfrm>
            <a:off x="3393350" y="250033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10" name="Google Shape;610;p70"/>
          <p:cNvSpPr/>
          <p:nvPr/>
        </p:nvSpPr>
        <p:spPr>
          <a:xfrm>
            <a:off x="3946100" y="261068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11" name="Google Shape;611;p70"/>
          <p:cNvSpPr/>
          <p:nvPr/>
        </p:nvSpPr>
        <p:spPr>
          <a:xfrm>
            <a:off x="2949600" y="3130163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12" name="Google Shape;612;p70"/>
          <p:cNvSpPr/>
          <p:nvPr/>
        </p:nvSpPr>
        <p:spPr>
          <a:xfrm>
            <a:off x="3746350" y="3019827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13" name="Google Shape;613;p70"/>
          <p:cNvSpPr/>
          <p:nvPr/>
        </p:nvSpPr>
        <p:spPr>
          <a:xfrm>
            <a:off x="2949600" y="352788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14" name="Google Shape;614;p70"/>
          <p:cNvSpPr/>
          <p:nvPr/>
        </p:nvSpPr>
        <p:spPr>
          <a:xfrm>
            <a:off x="3409225" y="362778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15" name="Google Shape;615;p70"/>
          <p:cNvSpPr/>
          <p:nvPr/>
        </p:nvSpPr>
        <p:spPr>
          <a:xfrm>
            <a:off x="3934850" y="352788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16" name="Google Shape;616;p70"/>
          <p:cNvSpPr/>
          <p:nvPr/>
        </p:nvSpPr>
        <p:spPr>
          <a:xfrm>
            <a:off x="2949603" y="2186725"/>
            <a:ext cx="2286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17" name="Google Shape;617;p70"/>
          <p:cNvSpPr/>
          <p:nvPr/>
        </p:nvSpPr>
        <p:spPr>
          <a:xfrm>
            <a:off x="2960850" y="2732450"/>
            <a:ext cx="18711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18" name="Google Shape;618;p70"/>
          <p:cNvSpPr/>
          <p:nvPr/>
        </p:nvSpPr>
        <p:spPr>
          <a:xfrm>
            <a:off x="2949600" y="3240525"/>
            <a:ext cx="16827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19" name="Google Shape;619;p70"/>
          <p:cNvSpPr/>
          <p:nvPr/>
        </p:nvSpPr>
        <p:spPr>
          <a:xfrm>
            <a:off x="2949600" y="3727700"/>
            <a:ext cx="18711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pic>
        <p:nvPicPr>
          <p:cNvPr id="620" name="Google Shape;620;p70" descr="A screenshot of a cell phon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92557" t="65586" b="23662"/>
          <a:stretch/>
        </p:blipFill>
        <p:spPr>
          <a:xfrm>
            <a:off x="6654974" y="2356621"/>
            <a:ext cx="394517" cy="398939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70"/>
          <p:cNvSpPr/>
          <p:nvPr/>
        </p:nvSpPr>
        <p:spPr>
          <a:xfrm>
            <a:off x="5744266" y="2785370"/>
            <a:ext cx="846900" cy="1182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22" name="Google Shape;622;p70"/>
          <p:cNvSpPr txBox="1"/>
          <p:nvPr/>
        </p:nvSpPr>
        <p:spPr>
          <a:xfrm>
            <a:off x="378700" y="1147856"/>
            <a:ext cx="8280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Raw Sequences</a:t>
            </a:r>
            <a:endParaRPr sz="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70"/>
          <p:cNvSpPr txBox="1"/>
          <p:nvPr/>
        </p:nvSpPr>
        <p:spPr>
          <a:xfrm>
            <a:off x="1678625" y="1147856"/>
            <a:ext cx="8280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Filtered Sequences</a:t>
            </a:r>
            <a:endParaRPr sz="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70"/>
          <p:cNvSpPr txBox="1"/>
          <p:nvPr/>
        </p:nvSpPr>
        <p:spPr>
          <a:xfrm>
            <a:off x="3123750" y="1109225"/>
            <a:ext cx="17511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Assemble short sequences into longer sequences (contigs)</a:t>
            </a:r>
            <a:endParaRPr sz="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70"/>
          <p:cNvSpPr txBox="1"/>
          <p:nvPr/>
        </p:nvSpPr>
        <p:spPr>
          <a:xfrm>
            <a:off x="5452125" y="1098900"/>
            <a:ext cx="16827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Match sequences to a database of known organisms</a:t>
            </a:r>
            <a:endParaRPr sz="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70"/>
          <p:cNvSpPr/>
          <p:nvPr/>
        </p:nvSpPr>
        <p:spPr>
          <a:xfrm>
            <a:off x="2928925" y="1041075"/>
            <a:ext cx="4392300" cy="316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70"/>
          <p:cNvSpPr/>
          <p:nvPr/>
        </p:nvSpPr>
        <p:spPr>
          <a:xfrm>
            <a:off x="1334363" y="1272950"/>
            <a:ext cx="216600" cy="148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70"/>
          <p:cNvSpPr txBox="1"/>
          <p:nvPr/>
        </p:nvSpPr>
        <p:spPr>
          <a:xfrm>
            <a:off x="288850" y="1525275"/>
            <a:ext cx="1007700" cy="2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ACGTACGTACT</a:t>
            </a:r>
            <a:r>
              <a:rPr lang="en"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ACTTTCATC</a:t>
            </a:r>
            <a:endParaRPr sz="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9" name="Google Shape;629;p7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3326" y="4283825"/>
            <a:ext cx="258993" cy="5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70"/>
          <p:cNvSpPr/>
          <p:nvPr/>
        </p:nvSpPr>
        <p:spPr>
          <a:xfrm>
            <a:off x="8227300" y="80200"/>
            <a:ext cx="859500" cy="286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71"/>
          <p:cNvSpPr/>
          <p:nvPr/>
        </p:nvSpPr>
        <p:spPr>
          <a:xfrm>
            <a:off x="185288" y="423400"/>
            <a:ext cx="2530500" cy="4764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 Filtering and QC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71"/>
          <p:cNvSpPr/>
          <p:nvPr/>
        </p:nvSpPr>
        <p:spPr>
          <a:xfrm>
            <a:off x="2824038" y="426925"/>
            <a:ext cx="4614900" cy="476400"/>
          </a:xfrm>
          <a:prstGeom prst="rect">
            <a:avLst/>
          </a:prstGeom>
          <a:solidFill>
            <a:srgbClr val="9FC5E8"/>
          </a:solidFill>
          <a:ln w="19050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Assembly-based Alignment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71"/>
          <p:cNvSpPr/>
          <p:nvPr/>
        </p:nvSpPr>
        <p:spPr>
          <a:xfrm>
            <a:off x="7541513" y="423400"/>
            <a:ext cx="1417200" cy="476400"/>
          </a:xfrm>
          <a:prstGeom prst="rect">
            <a:avLst/>
          </a:prstGeom>
          <a:solidFill>
            <a:srgbClr val="B4A7D6"/>
          </a:solidFill>
          <a:ln w="19050" cap="flat" cmpd="sng">
            <a:solidFill>
              <a:srgbClr val="674E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Taxonomic Reporting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71"/>
          <p:cNvSpPr/>
          <p:nvPr/>
        </p:nvSpPr>
        <p:spPr>
          <a:xfrm>
            <a:off x="1649675" y="2691273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39" name="Google Shape;639;p71"/>
          <p:cNvSpPr/>
          <p:nvPr/>
        </p:nvSpPr>
        <p:spPr>
          <a:xfrm>
            <a:off x="1649675" y="2337365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40" name="Google Shape;640;p71"/>
          <p:cNvSpPr/>
          <p:nvPr/>
        </p:nvSpPr>
        <p:spPr>
          <a:xfrm>
            <a:off x="1649675" y="3045180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41" name="Google Shape;641;p71"/>
          <p:cNvSpPr/>
          <p:nvPr/>
        </p:nvSpPr>
        <p:spPr>
          <a:xfrm>
            <a:off x="1649675" y="322213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42" name="Google Shape;642;p71"/>
          <p:cNvSpPr/>
          <p:nvPr/>
        </p:nvSpPr>
        <p:spPr>
          <a:xfrm>
            <a:off x="1649675" y="198345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43" name="Google Shape;643;p71"/>
          <p:cNvSpPr/>
          <p:nvPr/>
        </p:nvSpPr>
        <p:spPr>
          <a:xfrm>
            <a:off x="1649675" y="1894981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44" name="Google Shape;644;p71"/>
          <p:cNvSpPr/>
          <p:nvPr/>
        </p:nvSpPr>
        <p:spPr>
          <a:xfrm>
            <a:off x="1649675" y="2602796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45" name="Google Shape;645;p71"/>
          <p:cNvSpPr/>
          <p:nvPr/>
        </p:nvSpPr>
        <p:spPr>
          <a:xfrm>
            <a:off x="1649675" y="295670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46" name="Google Shape;646;p71"/>
          <p:cNvSpPr/>
          <p:nvPr/>
        </p:nvSpPr>
        <p:spPr>
          <a:xfrm>
            <a:off x="1649675" y="3133657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47" name="Google Shape;647;p71"/>
          <p:cNvSpPr/>
          <p:nvPr/>
        </p:nvSpPr>
        <p:spPr>
          <a:xfrm>
            <a:off x="1649675" y="2514319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48" name="Google Shape;648;p71"/>
          <p:cNvSpPr/>
          <p:nvPr/>
        </p:nvSpPr>
        <p:spPr>
          <a:xfrm>
            <a:off x="1649675" y="207193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49" name="Google Shape;649;p71"/>
          <p:cNvSpPr/>
          <p:nvPr/>
        </p:nvSpPr>
        <p:spPr>
          <a:xfrm>
            <a:off x="1649675" y="2160411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50" name="Google Shape;650;p71"/>
          <p:cNvSpPr/>
          <p:nvPr/>
        </p:nvSpPr>
        <p:spPr>
          <a:xfrm>
            <a:off x="1649675" y="3310592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51" name="Google Shape;651;p71"/>
          <p:cNvSpPr/>
          <p:nvPr/>
        </p:nvSpPr>
        <p:spPr>
          <a:xfrm>
            <a:off x="1649675" y="1629550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52" name="Google Shape;652;p71"/>
          <p:cNvSpPr/>
          <p:nvPr/>
        </p:nvSpPr>
        <p:spPr>
          <a:xfrm>
            <a:off x="1649675" y="3399069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53" name="Google Shape;653;p71"/>
          <p:cNvSpPr/>
          <p:nvPr/>
        </p:nvSpPr>
        <p:spPr>
          <a:xfrm>
            <a:off x="1649675" y="224888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54" name="Google Shape;654;p71"/>
          <p:cNvSpPr/>
          <p:nvPr/>
        </p:nvSpPr>
        <p:spPr>
          <a:xfrm>
            <a:off x="1649675" y="180650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55" name="Google Shape;655;p71"/>
          <p:cNvSpPr/>
          <p:nvPr/>
        </p:nvSpPr>
        <p:spPr>
          <a:xfrm>
            <a:off x="1649675" y="3487546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56" name="Google Shape;656;p71"/>
          <p:cNvSpPr/>
          <p:nvPr/>
        </p:nvSpPr>
        <p:spPr>
          <a:xfrm>
            <a:off x="1649675" y="3576023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57" name="Google Shape;657;p71"/>
          <p:cNvSpPr/>
          <p:nvPr/>
        </p:nvSpPr>
        <p:spPr>
          <a:xfrm>
            <a:off x="1649675" y="384143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58" name="Google Shape;658;p71"/>
          <p:cNvSpPr/>
          <p:nvPr/>
        </p:nvSpPr>
        <p:spPr>
          <a:xfrm>
            <a:off x="1649675" y="3929915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59" name="Google Shape;659;p71"/>
          <p:cNvSpPr/>
          <p:nvPr/>
        </p:nvSpPr>
        <p:spPr>
          <a:xfrm>
            <a:off x="1649675" y="4018392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60" name="Google Shape;660;p71"/>
          <p:cNvSpPr/>
          <p:nvPr/>
        </p:nvSpPr>
        <p:spPr>
          <a:xfrm>
            <a:off x="1649675" y="4106869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61" name="Google Shape;661;p71"/>
          <p:cNvSpPr/>
          <p:nvPr/>
        </p:nvSpPr>
        <p:spPr>
          <a:xfrm>
            <a:off x="5744266" y="2504235"/>
            <a:ext cx="846900" cy="1182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62" name="Google Shape;662;p71"/>
          <p:cNvSpPr/>
          <p:nvPr/>
        </p:nvSpPr>
        <p:spPr>
          <a:xfrm>
            <a:off x="5744266" y="2223100"/>
            <a:ext cx="846900" cy="118200"/>
          </a:xfrm>
          <a:prstGeom prst="rect">
            <a:avLst/>
          </a:prstGeom>
          <a:solidFill>
            <a:srgbClr val="ED475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63" name="Google Shape;663;p71"/>
          <p:cNvSpPr/>
          <p:nvPr/>
        </p:nvSpPr>
        <p:spPr>
          <a:xfrm>
            <a:off x="5744266" y="3066505"/>
            <a:ext cx="846900" cy="1182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pic>
        <p:nvPicPr>
          <p:cNvPr id="664" name="Google Shape;664;p71" descr="A screenshot of a cell phon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79137" t="85279" r="10885" b="6523"/>
          <a:stretch/>
        </p:blipFill>
        <p:spPr>
          <a:xfrm>
            <a:off x="6591175" y="2973512"/>
            <a:ext cx="528874" cy="304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71" descr="A screenshot of a cell phon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91272" t="55112" r="2407" b="34137"/>
          <a:stretch/>
        </p:blipFill>
        <p:spPr>
          <a:xfrm>
            <a:off x="6684733" y="2015899"/>
            <a:ext cx="334998" cy="398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71" descr="A screenshot of a cell phon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78015" t="61592" r="17430" b="26290"/>
          <a:stretch/>
        </p:blipFill>
        <p:spPr>
          <a:xfrm rot="-4622404">
            <a:off x="6682676" y="2636854"/>
            <a:ext cx="241360" cy="449638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71"/>
          <p:cNvSpPr/>
          <p:nvPr/>
        </p:nvSpPr>
        <p:spPr>
          <a:xfrm>
            <a:off x="2966475" y="1983450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68" name="Google Shape;668;p71"/>
          <p:cNvSpPr/>
          <p:nvPr/>
        </p:nvSpPr>
        <p:spPr>
          <a:xfrm>
            <a:off x="3398975" y="1873100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69" name="Google Shape;669;p71"/>
          <p:cNvSpPr/>
          <p:nvPr/>
        </p:nvSpPr>
        <p:spPr>
          <a:xfrm>
            <a:off x="3696438" y="2071925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70" name="Google Shape;670;p71"/>
          <p:cNvSpPr/>
          <p:nvPr/>
        </p:nvSpPr>
        <p:spPr>
          <a:xfrm>
            <a:off x="4367375" y="1983450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71" name="Google Shape;671;p71"/>
          <p:cNvSpPr/>
          <p:nvPr/>
        </p:nvSpPr>
        <p:spPr>
          <a:xfrm>
            <a:off x="2960850" y="261068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72" name="Google Shape;672;p71"/>
          <p:cNvSpPr/>
          <p:nvPr/>
        </p:nvSpPr>
        <p:spPr>
          <a:xfrm>
            <a:off x="3393350" y="250033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73" name="Google Shape;673;p71"/>
          <p:cNvSpPr/>
          <p:nvPr/>
        </p:nvSpPr>
        <p:spPr>
          <a:xfrm>
            <a:off x="3946100" y="261068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74" name="Google Shape;674;p71"/>
          <p:cNvSpPr/>
          <p:nvPr/>
        </p:nvSpPr>
        <p:spPr>
          <a:xfrm>
            <a:off x="2949600" y="3130163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75" name="Google Shape;675;p71"/>
          <p:cNvSpPr/>
          <p:nvPr/>
        </p:nvSpPr>
        <p:spPr>
          <a:xfrm>
            <a:off x="3746350" y="3019827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76" name="Google Shape;676;p71"/>
          <p:cNvSpPr/>
          <p:nvPr/>
        </p:nvSpPr>
        <p:spPr>
          <a:xfrm>
            <a:off x="2949600" y="352788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77" name="Google Shape;677;p71"/>
          <p:cNvSpPr/>
          <p:nvPr/>
        </p:nvSpPr>
        <p:spPr>
          <a:xfrm>
            <a:off x="3409225" y="362778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78" name="Google Shape;678;p71"/>
          <p:cNvSpPr/>
          <p:nvPr/>
        </p:nvSpPr>
        <p:spPr>
          <a:xfrm>
            <a:off x="3934850" y="352788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79" name="Google Shape;679;p71"/>
          <p:cNvSpPr/>
          <p:nvPr/>
        </p:nvSpPr>
        <p:spPr>
          <a:xfrm>
            <a:off x="2949603" y="2186725"/>
            <a:ext cx="2286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80" name="Google Shape;680;p71"/>
          <p:cNvSpPr/>
          <p:nvPr/>
        </p:nvSpPr>
        <p:spPr>
          <a:xfrm>
            <a:off x="2960850" y="2732450"/>
            <a:ext cx="18711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81" name="Google Shape;681;p71"/>
          <p:cNvSpPr/>
          <p:nvPr/>
        </p:nvSpPr>
        <p:spPr>
          <a:xfrm>
            <a:off x="2949600" y="3240525"/>
            <a:ext cx="16827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82" name="Google Shape;682;p71"/>
          <p:cNvSpPr/>
          <p:nvPr/>
        </p:nvSpPr>
        <p:spPr>
          <a:xfrm>
            <a:off x="2949600" y="3727700"/>
            <a:ext cx="18711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pic>
        <p:nvPicPr>
          <p:cNvPr id="683" name="Google Shape;683;p71" descr="A screenshot of a cell phon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92557" t="65586" b="23662"/>
          <a:stretch/>
        </p:blipFill>
        <p:spPr>
          <a:xfrm>
            <a:off x="6654974" y="2356621"/>
            <a:ext cx="394517" cy="398939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71"/>
          <p:cNvSpPr/>
          <p:nvPr/>
        </p:nvSpPr>
        <p:spPr>
          <a:xfrm>
            <a:off x="5744266" y="2785370"/>
            <a:ext cx="846900" cy="1182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85" name="Google Shape;685;p71"/>
          <p:cNvSpPr txBox="1"/>
          <p:nvPr/>
        </p:nvSpPr>
        <p:spPr>
          <a:xfrm>
            <a:off x="378700" y="1147856"/>
            <a:ext cx="8280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Raw Sequences</a:t>
            </a:r>
            <a:endParaRPr sz="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71"/>
          <p:cNvSpPr txBox="1"/>
          <p:nvPr/>
        </p:nvSpPr>
        <p:spPr>
          <a:xfrm>
            <a:off x="1678625" y="1147856"/>
            <a:ext cx="8280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Filtered Sequences</a:t>
            </a:r>
            <a:endParaRPr sz="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71"/>
          <p:cNvSpPr txBox="1"/>
          <p:nvPr/>
        </p:nvSpPr>
        <p:spPr>
          <a:xfrm>
            <a:off x="3123750" y="1109225"/>
            <a:ext cx="17511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Assemble short sequences into longer sequences (contigs)</a:t>
            </a:r>
            <a:endParaRPr sz="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71"/>
          <p:cNvSpPr txBox="1"/>
          <p:nvPr/>
        </p:nvSpPr>
        <p:spPr>
          <a:xfrm>
            <a:off x="5452125" y="1098900"/>
            <a:ext cx="16827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Match sequences to a database of known organisms</a:t>
            </a:r>
            <a:endParaRPr sz="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71"/>
          <p:cNvSpPr/>
          <p:nvPr/>
        </p:nvSpPr>
        <p:spPr>
          <a:xfrm>
            <a:off x="5399175" y="1041075"/>
            <a:ext cx="1922100" cy="316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71"/>
          <p:cNvSpPr/>
          <p:nvPr/>
        </p:nvSpPr>
        <p:spPr>
          <a:xfrm>
            <a:off x="1334363" y="1272950"/>
            <a:ext cx="216600" cy="148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71"/>
          <p:cNvSpPr/>
          <p:nvPr/>
        </p:nvSpPr>
        <p:spPr>
          <a:xfrm>
            <a:off x="2706875" y="1272950"/>
            <a:ext cx="216600" cy="148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71"/>
          <p:cNvSpPr/>
          <p:nvPr/>
        </p:nvSpPr>
        <p:spPr>
          <a:xfrm>
            <a:off x="349750" y="2691273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93" name="Google Shape;693;p71"/>
          <p:cNvSpPr/>
          <p:nvPr/>
        </p:nvSpPr>
        <p:spPr>
          <a:xfrm>
            <a:off x="349750" y="2337365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94" name="Google Shape;694;p71"/>
          <p:cNvSpPr/>
          <p:nvPr/>
        </p:nvSpPr>
        <p:spPr>
          <a:xfrm>
            <a:off x="349750" y="3045180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95" name="Google Shape;695;p71"/>
          <p:cNvSpPr/>
          <p:nvPr/>
        </p:nvSpPr>
        <p:spPr>
          <a:xfrm>
            <a:off x="349750" y="322213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96" name="Google Shape;696;p71"/>
          <p:cNvSpPr/>
          <p:nvPr/>
        </p:nvSpPr>
        <p:spPr>
          <a:xfrm>
            <a:off x="349750" y="198345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97" name="Google Shape;697;p71"/>
          <p:cNvSpPr/>
          <p:nvPr/>
        </p:nvSpPr>
        <p:spPr>
          <a:xfrm>
            <a:off x="349750" y="2425842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98" name="Google Shape;698;p71"/>
          <p:cNvSpPr/>
          <p:nvPr/>
        </p:nvSpPr>
        <p:spPr>
          <a:xfrm>
            <a:off x="349750" y="1894981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699" name="Google Shape;699;p71"/>
          <p:cNvSpPr/>
          <p:nvPr/>
        </p:nvSpPr>
        <p:spPr>
          <a:xfrm>
            <a:off x="349750" y="2602796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00" name="Google Shape;700;p71"/>
          <p:cNvSpPr/>
          <p:nvPr/>
        </p:nvSpPr>
        <p:spPr>
          <a:xfrm>
            <a:off x="349750" y="2868226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01" name="Google Shape;701;p71"/>
          <p:cNvSpPr/>
          <p:nvPr/>
        </p:nvSpPr>
        <p:spPr>
          <a:xfrm>
            <a:off x="349750" y="295670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02" name="Google Shape;702;p71"/>
          <p:cNvSpPr/>
          <p:nvPr/>
        </p:nvSpPr>
        <p:spPr>
          <a:xfrm>
            <a:off x="349750" y="3133657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03" name="Google Shape;703;p71"/>
          <p:cNvSpPr/>
          <p:nvPr/>
        </p:nvSpPr>
        <p:spPr>
          <a:xfrm>
            <a:off x="349750" y="2514319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04" name="Google Shape;704;p71"/>
          <p:cNvSpPr/>
          <p:nvPr/>
        </p:nvSpPr>
        <p:spPr>
          <a:xfrm>
            <a:off x="349750" y="207193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05" name="Google Shape;705;p71"/>
          <p:cNvSpPr/>
          <p:nvPr/>
        </p:nvSpPr>
        <p:spPr>
          <a:xfrm>
            <a:off x="349750" y="2160411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06" name="Google Shape;706;p71"/>
          <p:cNvSpPr/>
          <p:nvPr/>
        </p:nvSpPr>
        <p:spPr>
          <a:xfrm>
            <a:off x="349750" y="3310592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07" name="Google Shape;707;p71"/>
          <p:cNvSpPr/>
          <p:nvPr/>
        </p:nvSpPr>
        <p:spPr>
          <a:xfrm>
            <a:off x="349750" y="1718027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08" name="Google Shape;708;p71"/>
          <p:cNvSpPr/>
          <p:nvPr/>
        </p:nvSpPr>
        <p:spPr>
          <a:xfrm>
            <a:off x="349750" y="1629550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09" name="Google Shape;709;p71"/>
          <p:cNvSpPr/>
          <p:nvPr/>
        </p:nvSpPr>
        <p:spPr>
          <a:xfrm>
            <a:off x="349750" y="3399069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10" name="Google Shape;710;p71"/>
          <p:cNvSpPr/>
          <p:nvPr/>
        </p:nvSpPr>
        <p:spPr>
          <a:xfrm>
            <a:off x="349750" y="224888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11" name="Google Shape;711;p71"/>
          <p:cNvSpPr/>
          <p:nvPr/>
        </p:nvSpPr>
        <p:spPr>
          <a:xfrm>
            <a:off x="349750" y="180650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12" name="Google Shape;712;p71"/>
          <p:cNvSpPr/>
          <p:nvPr/>
        </p:nvSpPr>
        <p:spPr>
          <a:xfrm>
            <a:off x="349750" y="2779750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13" name="Google Shape;713;p71"/>
          <p:cNvSpPr/>
          <p:nvPr/>
        </p:nvSpPr>
        <p:spPr>
          <a:xfrm>
            <a:off x="349750" y="3487546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14" name="Google Shape;714;p71"/>
          <p:cNvSpPr/>
          <p:nvPr/>
        </p:nvSpPr>
        <p:spPr>
          <a:xfrm>
            <a:off x="349750" y="3576023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15" name="Google Shape;715;p71"/>
          <p:cNvSpPr/>
          <p:nvPr/>
        </p:nvSpPr>
        <p:spPr>
          <a:xfrm>
            <a:off x="349750" y="3752976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16" name="Google Shape;716;p71"/>
          <p:cNvSpPr/>
          <p:nvPr/>
        </p:nvSpPr>
        <p:spPr>
          <a:xfrm>
            <a:off x="349750" y="3664499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17" name="Google Shape;717;p71"/>
          <p:cNvSpPr/>
          <p:nvPr/>
        </p:nvSpPr>
        <p:spPr>
          <a:xfrm>
            <a:off x="349750" y="384143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18" name="Google Shape;718;p71"/>
          <p:cNvSpPr/>
          <p:nvPr/>
        </p:nvSpPr>
        <p:spPr>
          <a:xfrm>
            <a:off x="349750" y="3929915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19" name="Google Shape;719;p71"/>
          <p:cNvSpPr/>
          <p:nvPr/>
        </p:nvSpPr>
        <p:spPr>
          <a:xfrm>
            <a:off x="349750" y="4018392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20" name="Google Shape;720;p71"/>
          <p:cNvSpPr/>
          <p:nvPr/>
        </p:nvSpPr>
        <p:spPr>
          <a:xfrm>
            <a:off x="349750" y="4106869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21" name="Google Shape;721;p71"/>
          <p:cNvSpPr/>
          <p:nvPr/>
        </p:nvSpPr>
        <p:spPr>
          <a:xfrm>
            <a:off x="349750" y="4283825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22" name="Google Shape;722;p71"/>
          <p:cNvSpPr/>
          <p:nvPr/>
        </p:nvSpPr>
        <p:spPr>
          <a:xfrm>
            <a:off x="349750" y="4195349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23" name="Google Shape;723;p71"/>
          <p:cNvSpPr/>
          <p:nvPr/>
        </p:nvSpPr>
        <p:spPr>
          <a:xfrm>
            <a:off x="349750" y="4372300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24" name="Google Shape;724;p71"/>
          <p:cNvSpPr txBox="1"/>
          <p:nvPr/>
        </p:nvSpPr>
        <p:spPr>
          <a:xfrm>
            <a:off x="288850" y="1525275"/>
            <a:ext cx="1007700" cy="2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ACGTACGTACT</a:t>
            </a:r>
            <a:r>
              <a:rPr lang="en"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ACTTTCATC</a:t>
            </a:r>
            <a:endParaRPr sz="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5" name="Google Shape;725;p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3326" y="4283825"/>
            <a:ext cx="258993" cy="5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71"/>
          <p:cNvSpPr/>
          <p:nvPr/>
        </p:nvSpPr>
        <p:spPr>
          <a:xfrm>
            <a:off x="8227300" y="80200"/>
            <a:ext cx="859500" cy="286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72"/>
          <p:cNvSpPr/>
          <p:nvPr/>
        </p:nvSpPr>
        <p:spPr>
          <a:xfrm>
            <a:off x="185288" y="423400"/>
            <a:ext cx="2530500" cy="4764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 Filtering and QC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72"/>
          <p:cNvSpPr/>
          <p:nvPr/>
        </p:nvSpPr>
        <p:spPr>
          <a:xfrm>
            <a:off x="2824038" y="426925"/>
            <a:ext cx="4614900" cy="476400"/>
          </a:xfrm>
          <a:prstGeom prst="rect">
            <a:avLst/>
          </a:prstGeom>
          <a:solidFill>
            <a:srgbClr val="9FC5E8"/>
          </a:solidFill>
          <a:ln w="19050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Assembly-based Alignment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72"/>
          <p:cNvSpPr/>
          <p:nvPr/>
        </p:nvSpPr>
        <p:spPr>
          <a:xfrm>
            <a:off x="7541513" y="423400"/>
            <a:ext cx="1417200" cy="476400"/>
          </a:xfrm>
          <a:prstGeom prst="rect">
            <a:avLst/>
          </a:prstGeom>
          <a:solidFill>
            <a:srgbClr val="B4A7D6"/>
          </a:solidFill>
          <a:ln w="19050" cap="flat" cmpd="sng">
            <a:solidFill>
              <a:srgbClr val="674E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Taxonomic Reporting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72"/>
          <p:cNvSpPr/>
          <p:nvPr/>
        </p:nvSpPr>
        <p:spPr>
          <a:xfrm>
            <a:off x="1649675" y="2691273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35" name="Google Shape;735;p72"/>
          <p:cNvSpPr/>
          <p:nvPr/>
        </p:nvSpPr>
        <p:spPr>
          <a:xfrm>
            <a:off x="1649675" y="2337365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36" name="Google Shape;736;p72"/>
          <p:cNvSpPr/>
          <p:nvPr/>
        </p:nvSpPr>
        <p:spPr>
          <a:xfrm>
            <a:off x="1649675" y="3045180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37" name="Google Shape;737;p72"/>
          <p:cNvSpPr/>
          <p:nvPr/>
        </p:nvSpPr>
        <p:spPr>
          <a:xfrm>
            <a:off x="1649675" y="322213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38" name="Google Shape;738;p72"/>
          <p:cNvSpPr/>
          <p:nvPr/>
        </p:nvSpPr>
        <p:spPr>
          <a:xfrm>
            <a:off x="1649675" y="198345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39" name="Google Shape;739;p72"/>
          <p:cNvSpPr/>
          <p:nvPr/>
        </p:nvSpPr>
        <p:spPr>
          <a:xfrm>
            <a:off x="1649675" y="1894981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40" name="Google Shape;740;p72"/>
          <p:cNvSpPr/>
          <p:nvPr/>
        </p:nvSpPr>
        <p:spPr>
          <a:xfrm>
            <a:off x="1649675" y="2602796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41" name="Google Shape;741;p72"/>
          <p:cNvSpPr/>
          <p:nvPr/>
        </p:nvSpPr>
        <p:spPr>
          <a:xfrm>
            <a:off x="1649675" y="295670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42" name="Google Shape;742;p72"/>
          <p:cNvSpPr/>
          <p:nvPr/>
        </p:nvSpPr>
        <p:spPr>
          <a:xfrm>
            <a:off x="1649675" y="3133657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43" name="Google Shape;743;p72"/>
          <p:cNvSpPr/>
          <p:nvPr/>
        </p:nvSpPr>
        <p:spPr>
          <a:xfrm>
            <a:off x="1649675" y="2514319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44" name="Google Shape;744;p72"/>
          <p:cNvSpPr/>
          <p:nvPr/>
        </p:nvSpPr>
        <p:spPr>
          <a:xfrm>
            <a:off x="1649675" y="207193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45" name="Google Shape;745;p72"/>
          <p:cNvSpPr/>
          <p:nvPr/>
        </p:nvSpPr>
        <p:spPr>
          <a:xfrm>
            <a:off x="1649675" y="2160411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46" name="Google Shape;746;p72"/>
          <p:cNvSpPr/>
          <p:nvPr/>
        </p:nvSpPr>
        <p:spPr>
          <a:xfrm>
            <a:off x="1649675" y="3310592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47" name="Google Shape;747;p72"/>
          <p:cNvSpPr/>
          <p:nvPr/>
        </p:nvSpPr>
        <p:spPr>
          <a:xfrm>
            <a:off x="1649675" y="1629550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48" name="Google Shape;748;p72"/>
          <p:cNvSpPr/>
          <p:nvPr/>
        </p:nvSpPr>
        <p:spPr>
          <a:xfrm>
            <a:off x="1649675" y="3399069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49" name="Google Shape;749;p72"/>
          <p:cNvSpPr/>
          <p:nvPr/>
        </p:nvSpPr>
        <p:spPr>
          <a:xfrm>
            <a:off x="1649675" y="224888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50" name="Google Shape;750;p72"/>
          <p:cNvSpPr/>
          <p:nvPr/>
        </p:nvSpPr>
        <p:spPr>
          <a:xfrm>
            <a:off x="1649675" y="180650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51" name="Google Shape;751;p72"/>
          <p:cNvSpPr/>
          <p:nvPr/>
        </p:nvSpPr>
        <p:spPr>
          <a:xfrm>
            <a:off x="1649675" y="3487546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52" name="Google Shape;752;p72"/>
          <p:cNvSpPr/>
          <p:nvPr/>
        </p:nvSpPr>
        <p:spPr>
          <a:xfrm>
            <a:off x="1649675" y="3576023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53" name="Google Shape;753;p72"/>
          <p:cNvSpPr/>
          <p:nvPr/>
        </p:nvSpPr>
        <p:spPr>
          <a:xfrm>
            <a:off x="1649675" y="384143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54" name="Google Shape;754;p72"/>
          <p:cNvSpPr/>
          <p:nvPr/>
        </p:nvSpPr>
        <p:spPr>
          <a:xfrm>
            <a:off x="1649675" y="3929915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55" name="Google Shape;755;p72"/>
          <p:cNvSpPr/>
          <p:nvPr/>
        </p:nvSpPr>
        <p:spPr>
          <a:xfrm>
            <a:off x="1649675" y="4018392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56" name="Google Shape;756;p72"/>
          <p:cNvSpPr/>
          <p:nvPr/>
        </p:nvSpPr>
        <p:spPr>
          <a:xfrm>
            <a:off x="1649675" y="4106869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57" name="Google Shape;757;p72"/>
          <p:cNvSpPr/>
          <p:nvPr/>
        </p:nvSpPr>
        <p:spPr>
          <a:xfrm>
            <a:off x="5744266" y="2504235"/>
            <a:ext cx="846900" cy="1182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58" name="Google Shape;758;p72"/>
          <p:cNvSpPr/>
          <p:nvPr/>
        </p:nvSpPr>
        <p:spPr>
          <a:xfrm>
            <a:off x="5744266" y="2223100"/>
            <a:ext cx="846900" cy="118200"/>
          </a:xfrm>
          <a:prstGeom prst="rect">
            <a:avLst/>
          </a:prstGeom>
          <a:solidFill>
            <a:srgbClr val="ED475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59" name="Google Shape;759;p72"/>
          <p:cNvSpPr/>
          <p:nvPr/>
        </p:nvSpPr>
        <p:spPr>
          <a:xfrm>
            <a:off x="5744266" y="3066505"/>
            <a:ext cx="846900" cy="1182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pic>
        <p:nvPicPr>
          <p:cNvPr id="760" name="Google Shape;760;p72" descr="A screenshot of a cell phon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79137" t="85279" r="10885" b="6523"/>
          <a:stretch/>
        </p:blipFill>
        <p:spPr>
          <a:xfrm>
            <a:off x="6591175" y="2973512"/>
            <a:ext cx="528874" cy="304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1" name="Google Shape;761;p72" descr="A screenshot of a cell phon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91272" t="55112" r="2407" b="34137"/>
          <a:stretch/>
        </p:blipFill>
        <p:spPr>
          <a:xfrm>
            <a:off x="6684733" y="2015899"/>
            <a:ext cx="334998" cy="398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2" name="Google Shape;762;p72" descr="A screenshot of a cell phon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78015" t="61592" r="17430" b="26290"/>
          <a:stretch/>
        </p:blipFill>
        <p:spPr>
          <a:xfrm rot="-4622404">
            <a:off x="6682676" y="2636854"/>
            <a:ext cx="241360" cy="449638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72"/>
          <p:cNvSpPr/>
          <p:nvPr/>
        </p:nvSpPr>
        <p:spPr>
          <a:xfrm>
            <a:off x="2966475" y="1983450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64" name="Google Shape;764;p72"/>
          <p:cNvSpPr/>
          <p:nvPr/>
        </p:nvSpPr>
        <p:spPr>
          <a:xfrm>
            <a:off x="3398975" y="1873100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65" name="Google Shape;765;p72"/>
          <p:cNvSpPr/>
          <p:nvPr/>
        </p:nvSpPr>
        <p:spPr>
          <a:xfrm>
            <a:off x="3696438" y="2071925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66" name="Google Shape;766;p72"/>
          <p:cNvSpPr/>
          <p:nvPr/>
        </p:nvSpPr>
        <p:spPr>
          <a:xfrm>
            <a:off x="4367375" y="1983450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67" name="Google Shape;767;p72"/>
          <p:cNvSpPr/>
          <p:nvPr/>
        </p:nvSpPr>
        <p:spPr>
          <a:xfrm>
            <a:off x="2960850" y="261068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68" name="Google Shape;768;p72"/>
          <p:cNvSpPr/>
          <p:nvPr/>
        </p:nvSpPr>
        <p:spPr>
          <a:xfrm>
            <a:off x="3393350" y="250033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69" name="Google Shape;769;p72"/>
          <p:cNvSpPr/>
          <p:nvPr/>
        </p:nvSpPr>
        <p:spPr>
          <a:xfrm>
            <a:off x="3946100" y="261068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70" name="Google Shape;770;p72"/>
          <p:cNvSpPr/>
          <p:nvPr/>
        </p:nvSpPr>
        <p:spPr>
          <a:xfrm>
            <a:off x="2949600" y="3130163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71" name="Google Shape;771;p72"/>
          <p:cNvSpPr/>
          <p:nvPr/>
        </p:nvSpPr>
        <p:spPr>
          <a:xfrm>
            <a:off x="3746350" y="3019827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72" name="Google Shape;772;p72"/>
          <p:cNvSpPr/>
          <p:nvPr/>
        </p:nvSpPr>
        <p:spPr>
          <a:xfrm>
            <a:off x="2949600" y="352788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73" name="Google Shape;773;p72"/>
          <p:cNvSpPr/>
          <p:nvPr/>
        </p:nvSpPr>
        <p:spPr>
          <a:xfrm>
            <a:off x="3409225" y="362778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74" name="Google Shape;774;p72"/>
          <p:cNvSpPr/>
          <p:nvPr/>
        </p:nvSpPr>
        <p:spPr>
          <a:xfrm>
            <a:off x="3934850" y="352788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75" name="Google Shape;775;p72"/>
          <p:cNvSpPr/>
          <p:nvPr/>
        </p:nvSpPr>
        <p:spPr>
          <a:xfrm>
            <a:off x="2949603" y="2186725"/>
            <a:ext cx="2286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76" name="Google Shape;776;p72"/>
          <p:cNvSpPr/>
          <p:nvPr/>
        </p:nvSpPr>
        <p:spPr>
          <a:xfrm>
            <a:off x="2960850" y="2732450"/>
            <a:ext cx="18711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77" name="Google Shape;777;p72"/>
          <p:cNvSpPr/>
          <p:nvPr/>
        </p:nvSpPr>
        <p:spPr>
          <a:xfrm>
            <a:off x="2949600" y="3240525"/>
            <a:ext cx="16827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78" name="Google Shape;778;p72"/>
          <p:cNvSpPr/>
          <p:nvPr/>
        </p:nvSpPr>
        <p:spPr>
          <a:xfrm>
            <a:off x="2949600" y="3727700"/>
            <a:ext cx="18711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pic>
        <p:nvPicPr>
          <p:cNvPr id="779" name="Google Shape;779;p72" descr="A screenshot of a cell phon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92557" t="65586" b="23662"/>
          <a:stretch/>
        </p:blipFill>
        <p:spPr>
          <a:xfrm>
            <a:off x="6654974" y="2356621"/>
            <a:ext cx="394517" cy="398939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72"/>
          <p:cNvSpPr/>
          <p:nvPr/>
        </p:nvSpPr>
        <p:spPr>
          <a:xfrm>
            <a:off x="5744266" y="2785370"/>
            <a:ext cx="846900" cy="1182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81" name="Google Shape;781;p72"/>
          <p:cNvSpPr txBox="1"/>
          <p:nvPr/>
        </p:nvSpPr>
        <p:spPr>
          <a:xfrm>
            <a:off x="378700" y="1147856"/>
            <a:ext cx="8280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Raw Sequences</a:t>
            </a:r>
            <a:endParaRPr sz="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72"/>
          <p:cNvSpPr txBox="1"/>
          <p:nvPr/>
        </p:nvSpPr>
        <p:spPr>
          <a:xfrm>
            <a:off x="1678625" y="1147856"/>
            <a:ext cx="8280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Filtered Sequences</a:t>
            </a:r>
            <a:endParaRPr sz="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72"/>
          <p:cNvSpPr txBox="1"/>
          <p:nvPr/>
        </p:nvSpPr>
        <p:spPr>
          <a:xfrm>
            <a:off x="3123750" y="1109225"/>
            <a:ext cx="17511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Assemble short sequences into longer sequences (contigs)</a:t>
            </a:r>
            <a:endParaRPr sz="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72"/>
          <p:cNvSpPr txBox="1"/>
          <p:nvPr/>
        </p:nvSpPr>
        <p:spPr>
          <a:xfrm>
            <a:off x="5452125" y="1098900"/>
            <a:ext cx="16827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Match sequences to a database of known organisms</a:t>
            </a:r>
            <a:endParaRPr sz="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72"/>
          <p:cNvSpPr/>
          <p:nvPr/>
        </p:nvSpPr>
        <p:spPr>
          <a:xfrm>
            <a:off x="1334363" y="1272950"/>
            <a:ext cx="216600" cy="148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72"/>
          <p:cNvSpPr/>
          <p:nvPr/>
        </p:nvSpPr>
        <p:spPr>
          <a:xfrm>
            <a:off x="2706875" y="1272950"/>
            <a:ext cx="216600" cy="148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72"/>
          <p:cNvSpPr/>
          <p:nvPr/>
        </p:nvSpPr>
        <p:spPr>
          <a:xfrm>
            <a:off x="5102650" y="1272950"/>
            <a:ext cx="216600" cy="148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72"/>
          <p:cNvSpPr/>
          <p:nvPr/>
        </p:nvSpPr>
        <p:spPr>
          <a:xfrm>
            <a:off x="349750" y="2691273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89" name="Google Shape;789;p72"/>
          <p:cNvSpPr/>
          <p:nvPr/>
        </p:nvSpPr>
        <p:spPr>
          <a:xfrm>
            <a:off x="349750" y="2337365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90" name="Google Shape;790;p72"/>
          <p:cNvSpPr/>
          <p:nvPr/>
        </p:nvSpPr>
        <p:spPr>
          <a:xfrm>
            <a:off x="349750" y="3045180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91" name="Google Shape;791;p72"/>
          <p:cNvSpPr/>
          <p:nvPr/>
        </p:nvSpPr>
        <p:spPr>
          <a:xfrm>
            <a:off x="349750" y="322213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92" name="Google Shape;792;p72"/>
          <p:cNvSpPr/>
          <p:nvPr/>
        </p:nvSpPr>
        <p:spPr>
          <a:xfrm>
            <a:off x="349750" y="198345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93" name="Google Shape;793;p72"/>
          <p:cNvSpPr/>
          <p:nvPr/>
        </p:nvSpPr>
        <p:spPr>
          <a:xfrm>
            <a:off x="349750" y="2425842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94" name="Google Shape;794;p72"/>
          <p:cNvSpPr/>
          <p:nvPr/>
        </p:nvSpPr>
        <p:spPr>
          <a:xfrm>
            <a:off x="349750" y="1894981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95" name="Google Shape;795;p72"/>
          <p:cNvSpPr/>
          <p:nvPr/>
        </p:nvSpPr>
        <p:spPr>
          <a:xfrm>
            <a:off x="349750" y="2602796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96" name="Google Shape;796;p72"/>
          <p:cNvSpPr/>
          <p:nvPr/>
        </p:nvSpPr>
        <p:spPr>
          <a:xfrm>
            <a:off x="349750" y="2868226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97" name="Google Shape;797;p72"/>
          <p:cNvSpPr/>
          <p:nvPr/>
        </p:nvSpPr>
        <p:spPr>
          <a:xfrm>
            <a:off x="349750" y="295670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98" name="Google Shape;798;p72"/>
          <p:cNvSpPr/>
          <p:nvPr/>
        </p:nvSpPr>
        <p:spPr>
          <a:xfrm>
            <a:off x="349750" y="3133657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99" name="Google Shape;799;p72"/>
          <p:cNvSpPr/>
          <p:nvPr/>
        </p:nvSpPr>
        <p:spPr>
          <a:xfrm>
            <a:off x="349750" y="2514319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00" name="Google Shape;800;p72"/>
          <p:cNvSpPr/>
          <p:nvPr/>
        </p:nvSpPr>
        <p:spPr>
          <a:xfrm>
            <a:off x="349750" y="207193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01" name="Google Shape;801;p72"/>
          <p:cNvSpPr/>
          <p:nvPr/>
        </p:nvSpPr>
        <p:spPr>
          <a:xfrm>
            <a:off x="349750" y="2160411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02" name="Google Shape;802;p72"/>
          <p:cNvSpPr/>
          <p:nvPr/>
        </p:nvSpPr>
        <p:spPr>
          <a:xfrm>
            <a:off x="349750" y="3310592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03" name="Google Shape;803;p72"/>
          <p:cNvSpPr/>
          <p:nvPr/>
        </p:nvSpPr>
        <p:spPr>
          <a:xfrm>
            <a:off x="349750" y="1718027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04" name="Google Shape;804;p72"/>
          <p:cNvSpPr/>
          <p:nvPr/>
        </p:nvSpPr>
        <p:spPr>
          <a:xfrm>
            <a:off x="349750" y="1629550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05" name="Google Shape;805;p72"/>
          <p:cNvSpPr/>
          <p:nvPr/>
        </p:nvSpPr>
        <p:spPr>
          <a:xfrm>
            <a:off x="349750" y="3399069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06" name="Google Shape;806;p72"/>
          <p:cNvSpPr/>
          <p:nvPr/>
        </p:nvSpPr>
        <p:spPr>
          <a:xfrm>
            <a:off x="349750" y="224888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07" name="Google Shape;807;p72"/>
          <p:cNvSpPr/>
          <p:nvPr/>
        </p:nvSpPr>
        <p:spPr>
          <a:xfrm>
            <a:off x="349750" y="180650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08" name="Google Shape;808;p72"/>
          <p:cNvSpPr/>
          <p:nvPr/>
        </p:nvSpPr>
        <p:spPr>
          <a:xfrm>
            <a:off x="349750" y="2779750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09" name="Google Shape;809;p72"/>
          <p:cNvSpPr/>
          <p:nvPr/>
        </p:nvSpPr>
        <p:spPr>
          <a:xfrm>
            <a:off x="349750" y="3487546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10" name="Google Shape;810;p72"/>
          <p:cNvSpPr/>
          <p:nvPr/>
        </p:nvSpPr>
        <p:spPr>
          <a:xfrm>
            <a:off x="349750" y="3576023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11" name="Google Shape;811;p72"/>
          <p:cNvSpPr/>
          <p:nvPr/>
        </p:nvSpPr>
        <p:spPr>
          <a:xfrm>
            <a:off x="349750" y="3752976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12" name="Google Shape;812;p72"/>
          <p:cNvSpPr/>
          <p:nvPr/>
        </p:nvSpPr>
        <p:spPr>
          <a:xfrm>
            <a:off x="349750" y="3664499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13" name="Google Shape;813;p72"/>
          <p:cNvSpPr/>
          <p:nvPr/>
        </p:nvSpPr>
        <p:spPr>
          <a:xfrm>
            <a:off x="349750" y="384143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14" name="Google Shape;814;p72"/>
          <p:cNvSpPr/>
          <p:nvPr/>
        </p:nvSpPr>
        <p:spPr>
          <a:xfrm>
            <a:off x="349750" y="3929915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15" name="Google Shape;815;p72"/>
          <p:cNvSpPr/>
          <p:nvPr/>
        </p:nvSpPr>
        <p:spPr>
          <a:xfrm>
            <a:off x="349750" y="4018392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16" name="Google Shape;816;p72"/>
          <p:cNvSpPr/>
          <p:nvPr/>
        </p:nvSpPr>
        <p:spPr>
          <a:xfrm>
            <a:off x="349750" y="4106869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17" name="Google Shape;817;p72"/>
          <p:cNvSpPr/>
          <p:nvPr/>
        </p:nvSpPr>
        <p:spPr>
          <a:xfrm>
            <a:off x="349750" y="4283825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18" name="Google Shape;818;p72"/>
          <p:cNvSpPr/>
          <p:nvPr/>
        </p:nvSpPr>
        <p:spPr>
          <a:xfrm>
            <a:off x="349750" y="4195349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19" name="Google Shape;819;p72"/>
          <p:cNvSpPr/>
          <p:nvPr/>
        </p:nvSpPr>
        <p:spPr>
          <a:xfrm>
            <a:off x="349750" y="4372300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20" name="Google Shape;820;p72"/>
          <p:cNvSpPr txBox="1"/>
          <p:nvPr/>
        </p:nvSpPr>
        <p:spPr>
          <a:xfrm>
            <a:off x="288850" y="1525275"/>
            <a:ext cx="1007700" cy="2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ACGTACGTACT</a:t>
            </a:r>
            <a:r>
              <a:rPr lang="en"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ACTTTCATC</a:t>
            </a:r>
            <a:endParaRPr sz="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1" name="Google Shape;821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3326" y="4283825"/>
            <a:ext cx="258993" cy="5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72"/>
          <p:cNvSpPr/>
          <p:nvPr/>
        </p:nvSpPr>
        <p:spPr>
          <a:xfrm>
            <a:off x="8227300" y="80200"/>
            <a:ext cx="859500" cy="286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73"/>
          <p:cNvSpPr/>
          <p:nvPr/>
        </p:nvSpPr>
        <p:spPr>
          <a:xfrm>
            <a:off x="185288" y="423400"/>
            <a:ext cx="2530500" cy="4764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 Filtering and QC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73"/>
          <p:cNvSpPr/>
          <p:nvPr/>
        </p:nvSpPr>
        <p:spPr>
          <a:xfrm>
            <a:off x="2824038" y="426925"/>
            <a:ext cx="4614900" cy="476400"/>
          </a:xfrm>
          <a:prstGeom prst="rect">
            <a:avLst/>
          </a:prstGeom>
          <a:solidFill>
            <a:srgbClr val="9FC5E8"/>
          </a:solidFill>
          <a:ln w="19050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Assembly-based Alignment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73"/>
          <p:cNvSpPr/>
          <p:nvPr/>
        </p:nvSpPr>
        <p:spPr>
          <a:xfrm>
            <a:off x="7541513" y="423400"/>
            <a:ext cx="1417200" cy="476400"/>
          </a:xfrm>
          <a:prstGeom prst="rect">
            <a:avLst/>
          </a:prstGeom>
          <a:solidFill>
            <a:srgbClr val="B4A7D6"/>
          </a:solidFill>
          <a:ln w="19050" cap="flat" cmpd="sng">
            <a:solidFill>
              <a:srgbClr val="674E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Taxonomic Reporting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73"/>
          <p:cNvSpPr/>
          <p:nvPr/>
        </p:nvSpPr>
        <p:spPr>
          <a:xfrm>
            <a:off x="1649675" y="2691273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31" name="Google Shape;831;p73"/>
          <p:cNvSpPr/>
          <p:nvPr/>
        </p:nvSpPr>
        <p:spPr>
          <a:xfrm>
            <a:off x="1649675" y="2337365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32" name="Google Shape;832;p73"/>
          <p:cNvSpPr/>
          <p:nvPr/>
        </p:nvSpPr>
        <p:spPr>
          <a:xfrm>
            <a:off x="1649675" y="3045180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33" name="Google Shape;833;p73"/>
          <p:cNvSpPr/>
          <p:nvPr/>
        </p:nvSpPr>
        <p:spPr>
          <a:xfrm>
            <a:off x="1649675" y="322213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34" name="Google Shape;834;p73"/>
          <p:cNvSpPr/>
          <p:nvPr/>
        </p:nvSpPr>
        <p:spPr>
          <a:xfrm>
            <a:off x="1649675" y="198345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35" name="Google Shape;835;p73"/>
          <p:cNvSpPr/>
          <p:nvPr/>
        </p:nvSpPr>
        <p:spPr>
          <a:xfrm>
            <a:off x="1649675" y="1894981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36" name="Google Shape;836;p73"/>
          <p:cNvSpPr/>
          <p:nvPr/>
        </p:nvSpPr>
        <p:spPr>
          <a:xfrm>
            <a:off x="1649675" y="2602796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37" name="Google Shape;837;p73"/>
          <p:cNvSpPr/>
          <p:nvPr/>
        </p:nvSpPr>
        <p:spPr>
          <a:xfrm>
            <a:off x="1649675" y="295670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38" name="Google Shape;838;p73"/>
          <p:cNvSpPr/>
          <p:nvPr/>
        </p:nvSpPr>
        <p:spPr>
          <a:xfrm>
            <a:off x="1649675" y="3133657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39" name="Google Shape;839;p73"/>
          <p:cNvSpPr/>
          <p:nvPr/>
        </p:nvSpPr>
        <p:spPr>
          <a:xfrm>
            <a:off x="1649675" y="2514319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40" name="Google Shape;840;p73"/>
          <p:cNvSpPr/>
          <p:nvPr/>
        </p:nvSpPr>
        <p:spPr>
          <a:xfrm>
            <a:off x="1649675" y="207193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41" name="Google Shape;841;p73"/>
          <p:cNvSpPr/>
          <p:nvPr/>
        </p:nvSpPr>
        <p:spPr>
          <a:xfrm>
            <a:off x="1649675" y="2160411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42" name="Google Shape;842;p73"/>
          <p:cNvSpPr/>
          <p:nvPr/>
        </p:nvSpPr>
        <p:spPr>
          <a:xfrm>
            <a:off x="1649675" y="3310592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43" name="Google Shape;843;p73"/>
          <p:cNvSpPr/>
          <p:nvPr/>
        </p:nvSpPr>
        <p:spPr>
          <a:xfrm>
            <a:off x="1649675" y="1629550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44" name="Google Shape;844;p73"/>
          <p:cNvSpPr/>
          <p:nvPr/>
        </p:nvSpPr>
        <p:spPr>
          <a:xfrm>
            <a:off x="1649675" y="3399069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45" name="Google Shape;845;p73"/>
          <p:cNvSpPr/>
          <p:nvPr/>
        </p:nvSpPr>
        <p:spPr>
          <a:xfrm>
            <a:off x="1649675" y="224888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46" name="Google Shape;846;p73"/>
          <p:cNvSpPr/>
          <p:nvPr/>
        </p:nvSpPr>
        <p:spPr>
          <a:xfrm>
            <a:off x="1649675" y="180650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47" name="Google Shape;847;p73"/>
          <p:cNvSpPr/>
          <p:nvPr/>
        </p:nvSpPr>
        <p:spPr>
          <a:xfrm>
            <a:off x="1649675" y="3487546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48" name="Google Shape;848;p73"/>
          <p:cNvSpPr/>
          <p:nvPr/>
        </p:nvSpPr>
        <p:spPr>
          <a:xfrm>
            <a:off x="1649675" y="3576023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49" name="Google Shape;849;p73"/>
          <p:cNvSpPr/>
          <p:nvPr/>
        </p:nvSpPr>
        <p:spPr>
          <a:xfrm>
            <a:off x="1649675" y="384143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50" name="Google Shape;850;p73"/>
          <p:cNvSpPr/>
          <p:nvPr/>
        </p:nvSpPr>
        <p:spPr>
          <a:xfrm>
            <a:off x="1649675" y="3929915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51" name="Google Shape;851;p73"/>
          <p:cNvSpPr/>
          <p:nvPr/>
        </p:nvSpPr>
        <p:spPr>
          <a:xfrm>
            <a:off x="1649675" y="4018392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52" name="Google Shape;852;p73"/>
          <p:cNvSpPr/>
          <p:nvPr/>
        </p:nvSpPr>
        <p:spPr>
          <a:xfrm>
            <a:off x="1649675" y="4106869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53" name="Google Shape;853;p73"/>
          <p:cNvSpPr/>
          <p:nvPr/>
        </p:nvSpPr>
        <p:spPr>
          <a:xfrm>
            <a:off x="5744266" y="2504235"/>
            <a:ext cx="846900" cy="1182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54" name="Google Shape;854;p73"/>
          <p:cNvSpPr/>
          <p:nvPr/>
        </p:nvSpPr>
        <p:spPr>
          <a:xfrm>
            <a:off x="5744266" y="2223100"/>
            <a:ext cx="846900" cy="118200"/>
          </a:xfrm>
          <a:prstGeom prst="rect">
            <a:avLst/>
          </a:prstGeom>
          <a:solidFill>
            <a:srgbClr val="ED475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55" name="Google Shape;855;p73"/>
          <p:cNvSpPr/>
          <p:nvPr/>
        </p:nvSpPr>
        <p:spPr>
          <a:xfrm>
            <a:off x="5744266" y="3066505"/>
            <a:ext cx="846900" cy="1182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pic>
        <p:nvPicPr>
          <p:cNvPr id="856" name="Google Shape;856;p73" descr="A screenshot of a cell phon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79137" t="85279" r="10885" b="6523"/>
          <a:stretch/>
        </p:blipFill>
        <p:spPr>
          <a:xfrm>
            <a:off x="6591175" y="2973512"/>
            <a:ext cx="528874" cy="304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" name="Google Shape;857;p73" descr="A screenshot of a cell phon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91272" t="55112" r="2407" b="34137"/>
          <a:stretch/>
        </p:blipFill>
        <p:spPr>
          <a:xfrm>
            <a:off x="6684733" y="2015899"/>
            <a:ext cx="334998" cy="398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Google Shape;858;p73" descr="A screenshot of a cell phon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78015" t="61592" r="17430" b="26290"/>
          <a:stretch/>
        </p:blipFill>
        <p:spPr>
          <a:xfrm rot="-4622404">
            <a:off x="6682676" y="2636854"/>
            <a:ext cx="241360" cy="449638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73"/>
          <p:cNvSpPr/>
          <p:nvPr/>
        </p:nvSpPr>
        <p:spPr>
          <a:xfrm>
            <a:off x="2966475" y="1983450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60" name="Google Shape;860;p73"/>
          <p:cNvSpPr/>
          <p:nvPr/>
        </p:nvSpPr>
        <p:spPr>
          <a:xfrm>
            <a:off x="3398975" y="1873100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61" name="Google Shape;861;p73"/>
          <p:cNvSpPr/>
          <p:nvPr/>
        </p:nvSpPr>
        <p:spPr>
          <a:xfrm>
            <a:off x="3696438" y="2071925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62" name="Google Shape;862;p73"/>
          <p:cNvSpPr/>
          <p:nvPr/>
        </p:nvSpPr>
        <p:spPr>
          <a:xfrm>
            <a:off x="4367375" y="1983450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63" name="Google Shape;863;p73"/>
          <p:cNvSpPr/>
          <p:nvPr/>
        </p:nvSpPr>
        <p:spPr>
          <a:xfrm>
            <a:off x="2960850" y="261068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64" name="Google Shape;864;p73"/>
          <p:cNvSpPr/>
          <p:nvPr/>
        </p:nvSpPr>
        <p:spPr>
          <a:xfrm>
            <a:off x="3393350" y="250033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65" name="Google Shape;865;p73"/>
          <p:cNvSpPr/>
          <p:nvPr/>
        </p:nvSpPr>
        <p:spPr>
          <a:xfrm>
            <a:off x="3946100" y="261068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66" name="Google Shape;866;p73"/>
          <p:cNvSpPr/>
          <p:nvPr/>
        </p:nvSpPr>
        <p:spPr>
          <a:xfrm>
            <a:off x="2949600" y="3130163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67" name="Google Shape;867;p73"/>
          <p:cNvSpPr/>
          <p:nvPr/>
        </p:nvSpPr>
        <p:spPr>
          <a:xfrm>
            <a:off x="3746350" y="3019827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68" name="Google Shape;868;p73"/>
          <p:cNvSpPr/>
          <p:nvPr/>
        </p:nvSpPr>
        <p:spPr>
          <a:xfrm>
            <a:off x="2949600" y="352788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69" name="Google Shape;869;p73"/>
          <p:cNvSpPr/>
          <p:nvPr/>
        </p:nvSpPr>
        <p:spPr>
          <a:xfrm>
            <a:off x="3409225" y="362778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70" name="Google Shape;870;p73"/>
          <p:cNvSpPr/>
          <p:nvPr/>
        </p:nvSpPr>
        <p:spPr>
          <a:xfrm>
            <a:off x="3934850" y="352788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71" name="Google Shape;871;p73"/>
          <p:cNvSpPr/>
          <p:nvPr/>
        </p:nvSpPr>
        <p:spPr>
          <a:xfrm>
            <a:off x="2949603" y="2186725"/>
            <a:ext cx="2286900" cy="66600"/>
          </a:xfrm>
          <a:prstGeom prst="rect">
            <a:avLst/>
          </a:prstGeom>
          <a:solidFill>
            <a:srgbClr val="ED475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72" name="Google Shape;872;p73"/>
          <p:cNvSpPr/>
          <p:nvPr/>
        </p:nvSpPr>
        <p:spPr>
          <a:xfrm>
            <a:off x="2960850" y="2732450"/>
            <a:ext cx="1871100" cy="666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73" name="Google Shape;873;p73"/>
          <p:cNvSpPr/>
          <p:nvPr/>
        </p:nvSpPr>
        <p:spPr>
          <a:xfrm>
            <a:off x="2949600" y="3240525"/>
            <a:ext cx="1682700" cy="66600"/>
          </a:xfrm>
          <a:prstGeom prst="rect">
            <a:avLst/>
          </a:prstGeom>
          <a:solidFill>
            <a:srgbClr val="ED475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74" name="Google Shape;874;p73"/>
          <p:cNvSpPr/>
          <p:nvPr/>
        </p:nvSpPr>
        <p:spPr>
          <a:xfrm>
            <a:off x="2949600" y="3727700"/>
            <a:ext cx="1871100" cy="666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pic>
        <p:nvPicPr>
          <p:cNvPr id="875" name="Google Shape;875;p73" descr="A screenshot of a cell phon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92557" t="65586" b="23662"/>
          <a:stretch/>
        </p:blipFill>
        <p:spPr>
          <a:xfrm>
            <a:off x="6654974" y="2356621"/>
            <a:ext cx="394517" cy="398939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73"/>
          <p:cNvSpPr/>
          <p:nvPr/>
        </p:nvSpPr>
        <p:spPr>
          <a:xfrm>
            <a:off x="5744266" y="2785370"/>
            <a:ext cx="846900" cy="1182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77" name="Google Shape;877;p73"/>
          <p:cNvSpPr txBox="1"/>
          <p:nvPr/>
        </p:nvSpPr>
        <p:spPr>
          <a:xfrm>
            <a:off x="378700" y="1147856"/>
            <a:ext cx="8280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Raw Sequences</a:t>
            </a:r>
            <a:endParaRPr sz="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73"/>
          <p:cNvSpPr txBox="1"/>
          <p:nvPr/>
        </p:nvSpPr>
        <p:spPr>
          <a:xfrm>
            <a:off x="1678625" y="1147856"/>
            <a:ext cx="8280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Filtered Sequences</a:t>
            </a:r>
            <a:endParaRPr sz="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73"/>
          <p:cNvSpPr txBox="1"/>
          <p:nvPr/>
        </p:nvSpPr>
        <p:spPr>
          <a:xfrm>
            <a:off x="3123750" y="1109225"/>
            <a:ext cx="17511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Assemble short sequences into longer sequences (contigs)</a:t>
            </a:r>
            <a:endParaRPr sz="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73"/>
          <p:cNvSpPr txBox="1"/>
          <p:nvPr/>
        </p:nvSpPr>
        <p:spPr>
          <a:xfrm>
            <a:off x="5452125" y="1098900"/>
            <a:ext cx="16827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Match sequences to a database of known organisms</a:t>
            </a:r>
            <a:endParaRPr sz="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73"/>
          <p:cNvSpPr/>
          <p:nvPr/>
        </p:nvSpPr>
        <p:spPr>
          <a:xfrm>
            <a:off x="1334363" y="1272950"/>
            <a:ext cx="216600" cy="148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73"/>
          <p:cNvSpPr/>
          <p:nvPr/>
        </p:nvSpPr>
        <p:spPr>
          <a:xfrm>
            <a:off x="2706875" y="1272950"/>
            <a:ext cx="216600" cy="148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73"/>
          <p:cNvSpPr/>
          <p:nvPr/>
        </p:nvSpPr>
        <p:spPr>
          <a:xfrm>
            <a:off x="5102650" y="1272950"/>
            <a:ext cx="216600" cy="148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73"/>
          <p:cNvSpPr/>
          <p:nvPr/>
        </p:nvSpPr>
        <p:spPr>
          <a:xfrm>
            <a:off x="349750" y="2691273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85" name="Google Shape;885;p73"/>
          <p:cNvSpPr/>
          <p:nvPr/>
        </p:nvSpPr>
        <p:spPr>
          <a:xfrm>
            <a:off x="349750" y="2337365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86" name="Google Shape;886;p73"/>
          <p:cNvSpPr/>
          <p:nvPr/>
        </p:nvSpPr>
        <p:spPr>
          <a:xfrm>
            <a:off x="349750" y="3045180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87" name="Google Shape;887;p73"/>
          <p:cNvSpPr/>
          <p:nvPr/>
        </p:nvSpPr>
        <p:spPr>
          <a:xfrm>
            <a:off x="349750" y="322213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88" name="Google Shape;888;p73"/>
          <p:cNvSpPr/>
          <p:nvPr/>
        </p:nvSpPr>
        <p:spPr>
          <a:xfrm>
            <a:off x="349750" y="198345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89" name="Google Shape;889;p73"/>
          <p:cNvSpPr/>
          <p:nvPr/>
        </p:nvSpPr>
        <p:spPr>
          <a:xfrm>
            <a:off x="349750" y="2425842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90" name="Google Shape;890;p73"/>
          <p:cNvSpPr/>
          <p:nvPr/>
        </p:nvSpPr>
        <p:spPr>
          <a:xfrm>
            <a:off x="349750" y="1894981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91" name="Google Shape;891;p73"/>
          <p:cNvSpPr/>
          <p:nvPr/>
        </p:nvSpPr>
        <p:spPr>
          <a:xfrm>
            <a:off x="349750" y="2602796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92" name="Google Shape;892;p73"/>
          <p:cNvSpPr/>
          <p:nvPr/>
        </p:nvSpPr>
        <p:spPr>
          <a:xfrm>
            <a:off x="349750" y="2868226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93" name="Google Shape;893;p73"/>
          <p:cNvSpPr/>
          <p:nvPr/>
        </p:nvSpPr>
        <p:spPr>
          <a:xfrm>
            <a:off x="349750" y="295670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94" name="Google Shape;894;p73"/>
          <p:cNvSpPr/>
          <p:nvPr/>
        </p:nvSpPr>
        <p:spPr>
          <a:xfrm>
            <a:off x="349750" y="3133657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95" name="Google Shape;895;p73"/>
          <p:cNvSpPr/>
          <p:nvPr/>
        </p:nvSpPr>
        <p:spPr>
          <a:xfrm>
            <a:off x="349750" y="2514319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96" name="Google Shape;896;p73"/>
          <p:cNvSpPr/>
          <p:nvPr/>
        </p:nvSpPr>
        <p:spPr>
          <a:xfrm>
            <a:off x="349750" y="207193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97" name="Google Shape;897;p73"/>
          <p:cNvSpPr/>
          <p:nvPr/>
        </p:nvSpPr>
        <p:spPr>
          <a:xfrm>
            <a:off x="349750" y="2160411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98" name="Google Shape;898;p73"/>
          <p:cNvSpPr/>
          <p:nvPr/>
        </p:nvSpPr>
        <p:spPr>
          <a:xfrm>
            <a:off x="349750" y="3310592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99" name="Google Shape;899;p73"/>
          <p:cNvSpPr/>
          <p:nvPr/>
        </p:nvSpPr>
        <p:spPr>
          <a:xfrm>
            <a:off x="349750" y="1718027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00" name="Google Shape;900;p73"/>
          <p:cNvSpPr/>
          <p:nvPr/>
        </p:nvSpPr>
        <p:spPr>
          <a:xfrm>
            <a:off x="349750" y="1629550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01" name="Google Shape;901;p73"/>
          <p:cNvSpPr/>
          <p:nvPr/>
        </p:nvSpPr>
        <p:spPr>
          <a:xfrm>
            <a:off x="349750" y="3399069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02" name="Google Shape;902;p73"/>
          <p:cNvSpPr/>
          <p:nvPr/>
        </p:nvSpPr>
        <p:spPr>
          <a:xfrm>
            <a:off x="349750" y="224888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03" name="Google Shape;903;p73"/>
          <p:cNvSpPr/>
          <p:nvPr/>
        </p:nvSpPr>
        <p:spPr>
          <a:xfrm>
            <a:off x="349750" y="180650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04" name="Google Shape;904;p73"/>
          <p:cNvSpPr/>
          <p:nvPr/>
        </p:nvSpPr>
        <p:spPr>
          <a:xfrm>
            <a:off x="349750" y="2779750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05" name="Google Shape;905;p73"/>
          <p:cNvSpPr/>
          <p:nvPr/>
        </p:nvSpPr>
        <p:spPr>
          <a:xfrm>
            <a:off x="349750" y="3487546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06" name="Google Shape;906;p73"/>
          <p:cNvSpPr/>
          <p:nvPr/>
        </p:nvSpPr>
        <p:spPr>
          <a:xfrm>
            <a:off x="349750" y="3576023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07" name="Google Shape;907;p73"/>
          <p:cNvSpPr/>
          <p:nvPr/>
        </p:nvSpPr>
        <p:spPr>
          <a:xfrm>
            <a:off x="349750" y="3752976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08" name="Google Shape;908;p73"/>
          <p:cNvSpPr/>
          <p:nvPr/>
        </p:nvSpPr>
        <p:spPr>
          <a:xfrm>
            <a:off x="349750" y="3664499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09" name="Google Shape;909;p73"/>
          <p:cNvSpPr/>
          <p:nvPr/>
        </p:nvSpPr>
        <p:spPr>
          <a:xfrm>
            <a:off x="349750" y="384143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10" name="Google Shape;910;p73"/>
          <p:cNvSpPr/>
          <p:nvPr/>
        </p:nvSpPr>
        <p:spPr>
          <a:xfrm>
            <a:off x="349750" y="3929915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11" name="Google Shape;911;p73"/>
          <p:cNvSpPr/>
          <p:nvPr/>
        </p:nvSpPr>
        <p:spPr>
          <a:xfrm>
            <a:off x="349750" y="4018392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12" name="Google Shape;912;p73"/>
          <p:cNvSpPr/>
          <p:nvPr/>
        </p:nvSpPr>
        <p:spPr>
          <a:xfrm>
            <a:off x="349750" y="4106869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13" name="Google Shape;913;p73"/>
          <p:cNvSpPr/>
          <p:nvPr/>
        </p:nvSpPr>
        <p:spPr>
          <a:xfrm>
            <a:off x="349750" y="4283825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14" name="Google Shape;914;p73"/>
          <p:cNvSpPr/>
          <p:nvPr/>
        </p:nvSpPr>
        <p:spPr>
          <a:xfrm>
            <a:off x="349750" y="4195349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15" name="Google Shape;915;p73"/>
          <p:cNvSpPr/>
          <p:nvPr/>
        </p:nvSpPr>
        <p:spPr>
          <a:xfrm>
            <a:off x="349750" y="4372300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16" name="Google Shape;916;p73"/>
          <p:cNvSpPr txBox="1"/>
          <p:nvPr/>
        </p:nvSpPr>
        <p:spPr>
          <a:xfrm>
            <a:off x="288850" y="1525275"/>
            <a:ext cx="1007700" cy="2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ACGTACGTACT</a:t>
            </a:r>
            <a:r>
              <a:rPr lang="en"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ACTTTCATC</a:t>
            </a:r>
            <a:endParaRPr sz="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7" name="Google Shape;917;p7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3326" y="4283825"/>
            <a:ext cx="258993" cy="5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p73"/>
          <p:cNvSpPr/>
          <p:nvPr/>
        </p:nvSpPr>
        <p:spPr>
          <a:xfrm>
            <a:off x="8227300" y="80200"/>
            <a:ext cx="859500" cy="286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74"/>
          <p:cNvSpPr/>
          <p:nvPr/>
        </p:nvSpPr>
        <p:spPr>
          <a:xfrm>
            <a:off x="185288" y="423400"/>
            <a:ext cx="2530500" cy="4764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 Filtering and QC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74"/>
          <p:cNvSpPr/>
          <p:nvPr/>
        </p:nvSpPr>
        <p:spPr>
          <a:xfrm>
            <a:off x="2824038" y="426925"/>
            <a:ext cx="4614900" cy="476400"/>
          </a:xfrm>
          <a:prstGeom prst="rect">
            <a:avLst/>
          </a:prstGeom>
          <a:solidFill>
            <a:srgbClr val="9FC5E8"/>
          </a:solidFill>
          <a:ln w="19050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Assembly-based Alignment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74"/>
          <p:cNvSpPr/>
          <p:nvPr/>
        </p:nvSpPr>
        <p:spPr>
          <a:xfrm>
            <a:off x="7541513" y="423400"/>
            <a:ext cx="1417200" cy="476400"/>
          </a:xfrm>
          <a:prstGeom prst="rect">
            <a:avLst/>
          </a:prstGeom>
          <a:solidFill>
            <a:srgbClr val="B4A7D6"/>
          </a:solidFill>
          <a:ln w="19050" cap="flat" cmpd="sng">
            <a:solidFill>
              <a:srgbClr val="674E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Taxonomic Reporting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74"/>
          <p:cNvSpPr/>
          <p:nvPr/>
        </p:nvSpPr>
        <p:spPr>
          <a:xfrm>
            <a:off x="1649675" y="2691273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27" name="Google Shape;927;p74"/>
          <p:cNvSpPr/>
          <p:nvPr/>
        </p:nvSpPr>
        <p:spPr>
          <a:xfrm>
            <a:off x="1649675" y="2337365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28" name="Google Shape;928;p74"/>
          <p:cNvSpPr/>
          <p:nvPr/>
        </p:nvSpPr>
        <p:spPr>
          <a:xfrm>
            <a:off x="1649675" y="3045180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29" name="Google Shape;929;p74"/>
          <p:cNvSpPr/>
          <p:nvPr/>
        </p:nvSpPr>
        <p:spPr>
          <a:xfrm>
            <a:off x="1649675" y="322213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30" name="Google Shape;930;p74"/>
          <p:cNvSpPr/>
          <p:nvPr/>
        </p:nvSpPr>
        <p:spPr>
          <a:xfrm>
            <a:off x="1649675" y="198345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31" name="Google Shape;931;p74"/>
          <p:cNvSpPr/>
          <p:nvPr/>
        </p:nvSpPr>
        <p:spPr>
          <a:xfrm>
            <a:off x="1649675" y="1894981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32" name="Google Shape;932;p74"/>
          <p:cNvSpPr/>
          <p:nvPr/>
        </p:nvSpPr>
        <p:spPr>
          <a:xfrm>
            <a:off x="1649675" y="2602796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33" name="Google Shape;933;p74"/>
          <p:cNvSpPr/>
          <p:nvPr/>
        </p:nvSpPr>
        <p:spPr>
          <a:xfrm>
            <a:off x="1649675" y="295670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34" name="Google Shape;934;p74"/>
          <p:cNvSpPr/>
          <p:nvPr/>
        </p:nvSpPr>
        <p:spPr>
          <a:xfrm>
            <a:off x="1649675" y="3133657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35" name="Google Shape;935;p74"/>
          <p:cNvSpPr/>
          <p:nvPr/>
        </p:nvSpPr>
        <p:spPr>
          <a:xfrm>
            <a:off x="1649675" y="2514319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36" name="Google Shape;936;p74"/>
          <p:cNvSpPr/>
          <p:nvPr/>
        </p:nvSpPr>
        <p:spPr>
          <a:xfrm>
            <a:off x="1649675" y="207193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37" name="Google Shape;937;p74"/>
          <p:cNvSpPr/>
          <p:nvPr/>
        </p:nvSpPr>
        <p:spPr>
          <a:xfrm>
            <a:off x="1649675" y="2160411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38" name="Google Shape;938;p74"/>
          <p:cNvSpPr/>
          <p:nvPr/>
        </p:nvSpPr>
        <p:spPr>
          <a:xfrm>
            <a:off x="1649675" y="3310592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39" name="Google Shape;939;p74"/>
          <p:cNvSpPr/>
          <p:nvPr/>
        </p:nvSpPr>
        <p:spPr>
          <a:xfrm>
            <a:off x="1649675" y="1629550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40" name="Google Shape;940;p74"/>
          <p:cNvSpPr/>
          <p:nvPr/>
        </p:nvSpPr>
        <p:spPr>
          <a:xfrm>
            <a:off x="1649675" y="3399069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41" name="Google Shape;941;p74"/>
          <p:cNvSpPr/>
          <p:nvPr/>
        </p:nvSpPr>
        <p:spPr>
          <a:xfrm>
            <a:off x="1649675" y="224888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42" name="Google Shape;942;p74"/>
          <p:cNvSpPr/>
          <p:nvPr/>
        </p:nvSpPr>
        <p:spPr>
          <a:xfrm>
            <a:off x="1649675" y="180650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43" name="Google Shape;943;p74"/>
          <p:cNvSpPr/>
          <p:nvPr/>
        </p:nvSpPr>
        <p:spPr>
          <a:xfrm>
            <a:off x="1649675" y="3487546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44" name="Google Shape;944;p74"/>
          <p:cNvSpPr/>
          <p:nvPr/>
        </p:nvSpPr>
        <p:spPr>
          <a:xfrm>
            <a:off x="1649675" y="3576023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45" name="Google Shape;945;p74"/>
          <p:cNvSpPr/>
          <p:nvPr/>
        </p:nvSpPr>
        <p:spPr>
          <a:xfrm>
            <a:off x="1649675" y="384143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46" name="Google Shape;946;p74"/>
          <p:cNvSpPr/>
          <p:nvPr/>
        </p:nvSpPr>
        <p:spPr>
          <a:xfrm>
            <a:off x="1649675" y="3929915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47" name="Google Shape;947;p74"/>
          <p:cNvSpPr/>
          <p:nvPr/>
        </p:nvSpPr>
        <p:spPr>
          <a:xfrm>
            <a:off x="1649675" y="4018392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48" name="Google Shape;948;p74"/>
          <p:cNvSpPr/>
          <p:nvPr/>
        </p:nvSpPr>
        <p:spPr>
          <a:xfrm>
            <a:off x="1649675" y="4106869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49" name="Google Shape;949;p74"/>
          <p:cNvSpPr/>
          <p:nvPr/>
        </p:nvSpPr>
        <p:spPr>
          <a:xfrm>
            <a:off x="5744266" y="2504235"/>
            <a:ext cx="846900" cy="1182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50" name="Google Shape;950;p74"/>
          <p:cNvSpPr/>
          <p:nvPr/>
        </p:nvSpPr>
        <p:spPr>
          <a:xfrm>
            <a:off x="5744266" y="2223100"/>
            <a:ext cx="846900" cy="118200"/>
          </a:xfrm>
          <a:prstGeom prst="rect">
            <a:avLst/>
          </a:prstGeom>
          <a:solidFill>
            <a:srgbClr val="ED475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51" name="Google Shape;951;p74"/>
          <p:cNvSpPr/>
          <p:nvPr/>
        </p:nvSpPr>
        <p:spPr>
          <a:xfrm>
            <a:off x="5744266" y="3066505"/>
            <a:ext cx="846900" cy="1182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pic>
        <p:nvPicPr>
          <p:cNvPr id="952" name="Google Shape;952;p74" descr="A screenshot of a cell phon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79137" t="85279" r="10885" b="6523"/>
          <a:stretch/>
        </p:blipFill>
        <p:spPr>
          <a:xfrm>
            <a:off x="6591175" y="2973512"/>
            <a:ext cx="528874" cy="304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3" name="Google Shape;953;p74" descr="A screenshot of a cell phon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91272" t="55112" r="2407" b="34137"/>
          <a:stretch/>
        </p:blipFill>
        <p:spPr>
          <a:xfrm>
            <a:off x="6684733" y="2015899"/>
            <a:ext cx="334998" cy="398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" name="Google Shape;954;p74" descr="A screenshot of a cell phon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78015" t="61592" r="17430" b="26290"/>
          <a:stretch/>
        </p:blipFill>
        <p:spPr>
          <a:xfrm rot="-4622404">
            <a:off x="6682676" y="2636854"/>
            <a:ext cx="241360" cy="449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74" descr="A screenshot of a cell phon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92557" t="65586" b="23662"/>
          <a:stretch/>
        </p:blipFill>
        <p:spPr>
          <a:xfrm>
            <a:off x="6654974" y="2356621"/>
            <a:ext cx="394517" cy="398939"/>
          </a:xfrm>
          <a:prstGeom prst="rect">
            <a:avLst/>
          </a:prstGeom>
          <a:noFill/>
          <a:ln>
            <a:noFill/>
          </a:ln>
        </p:spPr>
      </p:pic>
      <p:sp>
        <p:nvSpPr>
          <p:cNvPr id="956" name="Google Shape;956;p74"/>
          <p:cNvSpPr/>
          <p:nvPr/>
        </p:nvSpPr>
        <p:spPr>
          <a:xfrm>
            <a:off x="5744266" y="2785370"/>
            <a:ext cx="846900" cy="1182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57" name="Google Shape;957;p74"/>
          <p:cNvSpPr txBox="1"/>
          <p:nvPr/>
        </p:nvSpPr>
        <p:spPr>
          <a:xfrm>
            <a:off x="378700" y="1147856"/>
            <a:ext cx="8280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Raw Sequences</a:t>
            </a:r>
            <a:endParaRPr sz="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74"/>
          <p:cNvSpPr txBox="1"/>
          <p:nvPr/>
        </p:nvSpPr>
        <p:spPr>
          <a:xfrm>
            <a:off x="1678625" y="1147856"/>
            <a:ext cx="8280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Filtered Sequences</a:t>
            </a:r>
            <a:endParaRPr sz="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74"/>
          <p:cNvSpPr txBox="1"/>
          <p:nvPr/>
        </p:nvSpPr>
        <p:spPr>
          <a:xfrm>
            <a:off x="3123750" y="1109225"/>
            <a:ext cx="17511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Assemble short sequences into longer sequences (contigs)</a:t>
            </a:r>
            <a:endParaRPr sz="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74"/>
          <p:cNvSpPr txBox="1"/>
          <p:nvPr/>
        </p:nvSpPr>
        <p:spPr>
          <a:xfrm>
            <a:off x="5452125" y="1098900"/>
            <a:ext cx="16827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Match sequences to a database of known organisms</a:t>
            </a:r>
            <a:endParaRPr sz="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1" name="Google Shape;961;p74" descr="A screenshot of a cell phon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91272" t="55112" r="2407" b="34137"/>
          <a:stretch/>
        </p:blipFill>
        <p:spPr>
          <a:xfrm>
            <a:off x="7947058" y="2015899"/>
            <a:ext cx="334998" cy="398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74" descr="A screenshot of a cell phon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91272" t="55112" r="2407" b="34137"/>
          <a:stretch/>
        </p:blipFill>
        <p:spPr>
          <a:xfrm>
            <a:off x="8282058" y="2020561"/>
            <a:ext cx="334998" cy="398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74" descr="A screenshot of a cell phon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79137" t="85279" r="10885" b="6523"/>
          <a:stretch/>
        </p:blipFill>
        <p:spPr>
          <a:xfrm>
            <a:off x="7894075" y="2872912"/>
            <a:ext cx="528874" cy="304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p74" descr="A screenshot of a cell phon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92557" t="65586" b="23662"/>
          <a:stretch/>
        </p:blipFill>
        <p:spPr>
          <a:xfrm>
            <a:off x="7961249" y="2444533"/>
            <a:ext cx="394517" cy="398939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74"/>
          <p:cNvSpPr/>
          <p:nvPr/>
        </p:nvSpPr>
        <p:spPr>
          <a:xfrm>
            <a:off x="1334363" y="1272950"/>
            <a:ext cx="216600" cy="148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74"/>
          <p:cNvSpPr/>
          <p:nvPr/>
        </p:nvSpPr>
        <p:spPr>
          <a:xfrm>
            <a:off x="2706875" y="1272950"/>
            <a:ext cx="216600" cy="148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74"/>
          <p:cNvSpPr/>
          <p:nvPr/>
        </p:nvSpPr>
        <p:spPr>
          <a:xfrm>
            <a:off x="5102650" y="1272950"/>
            <a:ext cx="216600" cy="148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74"/>
          <p:cNvSpPr/>
          <p:nvPr/>
        </p:nvSpPr>
        <p:spPr>
          <a:xfrm>
            <a:off x="7267700" y="1272950"/>
            <a:ext cx="216600" cy="148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74"/>
          <p:cNvSpPr txBox="1"/>
          <p:nvPr/>
        </p:nvSpPr>
        <p:spPr>
          <a:xfrm>
            <a:off x="7744513" y="1147856"/>
            <a:ext cx="8280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Count </a:t>
            </a:r>
            <a:r>
              <a:rPr lang="en" sz="1100" u="none" strike="noStrike" cap="none" dirty="0" err="1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Taxons</a:t>
            </a:r>
            <a:endParaRPr sz="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74"/>
          <p:cNvSpPr/>
          <p:nvPr/>
        </p:nvSpPr>
        <p:spPr>
          <a:xfrm>
            <a:off x="349750" y="2691273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71" name="Google Shape;971;p74"/>
          <p:cNvSpPr/>
          <p:nvPr/>
        </p:nvSpPr>
        <p:spPr>
          <a:xfrm>
            <a:off x="349750" y="2337365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72" name="Google Shape;972;p74"/>
          <p:cNvSpPr/>
          <p:nvPr/>
        </p:nvSpPr>
        <p:spPr>
          <a:xfrm>
            <a:off x="349750" y="3045180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73" name="Google Shape;973;p74"/>
          <p:cNvSpPr/>
          <p:nvPr/>
        </p:nvSpPr>
        <p:spPr>
          <a:xfrm>
            <a:off x="349750" y="322213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74" name="Google Shape;974;p74"/>
          <p:cNvSpPr/>
          <p:nvPr/>
        </p:nvSpPr>
        <p:spPr>
          <a:xfrm>
            <a:off x="349750" y="198345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75" name="Google Shape;975;p74"/>
          <p:cNvSpPr/>
          <p:nvPr/>
        </p:nvSpPr>
        <p:spPr>
          <a:xfrm>
            <a:off x="349750" y="2425842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76" name="Google Shape;976;p74"/>
          <p:cNvSpPr/>
          <p:nvPr/>
        </p:nvSpPr>
        <p:spPr>
          <a:xfrm>
            <a:off x="349750" y="1894981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77" name="Google Shape;977;p74"/>
          <p:cNvSpPr/>
          <p:nvPr/>
        </p:nvSpPr>
        <p:spPr>
          <a:xfrm>
            <a:off x="349750" y="2602796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78" name="Google Shape;978;p74"/>
          <p:cNvSpPr/>
          <p:nvPr/>
        </p:nvSpPr>
        <p:spPr>
          <a:xfrm>
            <a:off x="349750" y="2868226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79" name="Google Shape;979;p74"/>
          <p:cNvSpPr/>
          <p:nvPr/>
        </p:nvSpPr>
        <p:spPr>
          <a:xfrm>
            <a:off x="349750" y="295670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80" name="Google Shape;980;p74"/>
          <p:cNvSpPr/>
          <p:nvPr/>
        </p:nvSpPr>
        <p:spPr>
          <a:xfrm>
            <a:off x="349750" y="3133657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81" name="Google Shape;981;p74"/>
          <p:cNvSpPr/>
          <p:nvPr/>
        </p:nvSpPr>
        <p:spPr>
          <a:xfrm>
            <a:off x="349750" y="2514319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82" name="Google Shape;982;p74"/>
          <p:cNvSpPr/>
          <p:nvPr/>
        </p:nvSpPr>
        <p:spPr>
          <a:xfrm>
            <a:off x="349750" y="207193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83" name="Google Shape;983;p74"/>
          <p:cNvSpPr/>
          <p:nvPr/>
        </p:nvSpPr>
        <p:spPr>
          <a:xfrm>
            <a:off x="349750" y="2160411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84" name="Google Shape;984;p74"/>
          <p:cNvSpPr/>
          <p:nvPr/>
        </p:nvSpPr>
        <p:spPr>
          <a:xfrm>
            <a:off x="349750" y="3310592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85" name="Google Shape;985;p74"/>
          <p:cNvSpPr/>
          <p:nvPr/>
        </p:nvSpPr>
        <p:spPr>
          <a:xfrm>
            <a:off x="349750" y="1718027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86" name="Google Shape;986;p74"/>
          <p:cNvSpPr/>
          <p:nvPr/>
        </p:nvSpPr>
        <p:spPr>
          <a:xfrm>
            <a:off x="349750" y="1629550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87" name="Google Shape;987;p74"/>
          <p:cNvSpPr/>
          <p:nvPr/>
        </p:nvSpPr>
        <p:spPr>
          <a:xfrm>
            <a:off x="349750" y="3399069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88" name="Google Shape;988;p74"/>
          <p:cNvSpPr/>
          <p:nvPr/>
        </p:nvSpPr>
        <p:spPr>
          <a:xfrm>
            <a:off x="349750" y="224888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89" name="Google Shape;989;p74"/>
          <p:cNvSpPr/>
          <p:nvPr/>
        </p:nvSpPr>
        <p:spPr>
          <a:xfrm>
            <a:off x="349750" y="1806504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90" name="Google Shape;990;p74"/>
          <p:cNvSpPr/>
          <p:nvPr/>
        </p:nvSpPr>
        <p:spPr>
          <a:xfrm>
            <a:off x="349750" y="2779750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91" name="Google Shape;991;p74"/>
          <p:cNvSpPr/>
          <p:nvPr/>
        </p:nvSpPr>
        <p:spPr>
          <a:xfrm>
            <a:off x="349750" y="3487546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92" name="Google Shape;992;p74"/>
          <p:cNvSpPr/>
          <p:nvPr/>
        </p:nvSpPr>
        <p:spPr>
          <a:xfrm>
            <a:off x="349750" y="3576023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93" name="Google Shape;993;p74"/>
          <p:cNvSpPr/>
          <p:nvPr/>
        </p:nvSpPr>
        <p:spPr>
          <a:xfrm>
            <a:off x="349750" y="3752976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94" name="Google Shape;994;p74"/>
          <p:cNvSpPr/>
          <p:nvPr/>
        </p:nvSpPr>
        <p:spPr>
          <a:xfrm>
            <a:off x="349750" y="3664499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95" name="Google Shape;995;p74"/>
          <p:cNvSpPr/>
          <p:nvPr/>
        </p:nvSpPr>
        <p:spPr>
          <a:xfrm>
            <a:off x="349750" y="384143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96" name="Google Shape;996;p74"/>
          <p:cNvSpPr/>
          <p:nvPr/>
        </p:nvSpPr>
        <p:spPr>
          <a:xfrm>
            <a:off x="349750" y="3929915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97" name="Google Shape;997;p74"/>
          <p:cNvSpPr/>
          <p:nvPr/>
        </p:nvSpPr>
        <p:spPr>
          <a:xfrm>
            <a:off x="349750" y="4018392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98" name="Google Shape;998;p74"/>
          <p:cNvSpPr/>
          <p:nvPr/>
        </p:nvSpPr>
        <p:spPr>
          <a:xfrm>
            <a:off x="349750" y="4106869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99" name="Google Shape;999;p74"/>
          <p:cNvSpPr/>
          <p:nvPr/>
        </p:nvSpPr>
        <p:spPr>
          <a:xfrm>
            <a:off x="349750" y="4283825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000" name="Google Shape;1000;p74"/>
          <p:cNvSpPr/>
          <p:nvPr/>
        </p:nvSpPr>
        <p:spPr>
          <a:xfrm>
            <a:off x="349750" y="4195349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001" name="Google Shape;1001;p74"/>
          <p:cNvSpPr/>
          <p:nvPr/>
        </p:nvSpPr>
        <p:spPr>
          <a:xfrm>
            <a:off x="349750" y="4372300"/>
            <a:ext cx="885900" cy="666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002" name="Google Shape;1002;p74"/>
          <p:cNvSpPr txBox="1"/>
          <p:nvPr/>
        </p:nvSpPr>
        <p:spPr>
          <a:xfrm>
            <a:off x="288850" y="1525275"/>
            <a:ext cx="1007700" cy="2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ACGTACGTACT</a:t>
            </a:r>
            <a:r>
              <a:rPr lang="en"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ACTTTCATC</a:t>
            </a:r>
            <a:endParaRPr sz="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3" name="Google Shape;1003;p7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3326" y="4283825"/>
            <a:ext cx="258993" cy="5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74"/>
          <p:cNvSpPr/>
          <p:nvPr/>
        </p:nvSpPr>
        <p:spPr>
          <a:xfrm>
            <a:off x="2966475" y="1983450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005" name="Google Shape;1005;p74"/>
          <p:cNvSpPr/>
          <p:nvPr/>
        </p:nvSpPr>
        <p:spPr>
          <a:xfrm>
            <a:off x="3398975" y="1873100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006" name="Google Shape;1006;p74"/>
          <p:cNvSpPr/>
          <p:nvPr/>
        </p:nvSpPr>
        <p:spPr>
          <a:xfrm>
            <a:off x="3696438" y="2071925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007" name="Google Shape;1007;p74"/>
          <p:cNvSpPr/>
          <p:nvPr/>
        </p:nvSpPr>
        <p:spPr>
          <a:xfrm>
            <a:off x="4367375" y="1983450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008" name="Google Shape;1008;p74"/>
          <p:cNvSpPr/>
          <p:nvPr/>
        </p:nvSpPr>
        <p:spPr>
          <a:xfrm>
            <a:off x="2960850" y="261068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009" name="Google Shape;1009;p74"/>
          <p:cNvSpPr/>
          <p:nvPr/>
        </p:nvSpPr>
        <p:spPr>
          <a:xfrm>
            <a:off x="3393350" y="250033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010" name="Google Shape;1010;p74"/>
          <p:cNvSpPr/>
          <p:nvPr/>
        </p:nvSpPr>
        <p:spPr>
          <a:xfrm>
            <a:off x="3946100" y="261068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011" name="Google Shape;1011;p74"/>
          <p:cNvSpPr/>
          <p:nvPr/>
        </p:nvSpPr>
        <p:spPr>
          <a:xfrm>
            <a:off x="2949600" y="3130163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012" name="Google Shape;1012;p74"/>
          <p:cNvSpPr/>
          <p:nvPr/>
        </p:nvSpPr>
        <p:spPr>
          <a:xfrm>
            <a:off x="3746350" y="3019827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013" name="Google Shape;1013;p74"/>
          <p:cNvSpPr/>
          <p:nvPr/>
        </p:nvSpPr>
        <p:spPr>
          <a:xfrm>
            <a:off x="2949600" y="352788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014" name="Google Shape;1014;p74"/>
          <p:cNvSpPr/>
          <p:nvPr/>
        </p:nvSpPr>
        <p:spPr>
          <a:xfrm>
            <a:off x="3409225" y="362778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015" name="Google Shape;1015;p74"/>
          <p:cNvSpPr/>
          <p:nvPr/>
        </p:nvSpPr>
        <p:spPr>
          <a:xfrm>
            <a:off x="3934850" y="3527888"/>
            <a:ext cx="8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016" name="Google Shape;1016;p74"/>
          <p:cNvSpPr/>
          <p:nvPr/>
        </p:nvSpPr>
        <p:spPr>
          <a:xfrm>
            <a:off x="2949603" y="2186725"/>
            <a:ext cx="2286900" cy="66600"/>
          </a:xfrm>
          <a:prstGeom prst="rect">
            <a:avLst/>
          </a:prstGeom>
          <a:solidFill>
            <a:srgbClr val="ED475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017" name="Google Shape;1017;p74"/>
          <p:cNvSpPr/>
          <p:nvPr/>
        </p:nvSpPr>
        <p:spPr>
          <a:xfrm>
            <a:off x="2960850" y="2732450"/>
            <a:ext cx="1871100" cy="666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018" name="Google Shape;1018;p74"/>
          <p:cNvSpPr/>
          <p:nvPr/>
        </p:nvSpPr>
        <p:spPr>
          <a:xfrm>
            <a:off x="2949600" y="3240525"/>
            <a:ext cx="1682700" cy="66600"/>
          </a:xfrm>
          <a:prstGeom prst="rect">
            <a:avLst/>
          </a:prstGeom>
          <a:solidFill>
            <a:srgbClr val="ED475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019" name="Google Shape;1019;p74"/>
          <p:cNvSpPr/>
          <p:nvPr/>
        </p:nvSpPr>
        <p:spPr>
          <a:xfrm>
            <a:off x="2949600" y="3727700"/>
            <a:ext cx="1871100" cy="666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020" name="Google Shape;1020;p74"/>
          <p:cNvSpPr/>
          <p:nvPr/>
        </p:nvSpPr>
        <p:spPr>
          <a:xfrm>
            <a:off x="8227300" y="80200"/>
            <a:ext cx="859500" cy="286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Google Shape;1025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762000"/>
            <a:ext cx="8839200" cy="4371732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p75"/>
          <p:cNvSpPr/>
          <p:nvPr/>
        </p:nvSpPr>
        <p:spPr>
          <a:xfrm>
            <a:off x="8227300" y="80200"/>
            <a:ext cx="859500" cy="286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7" name="Google Shape;1027;p75"/>
          <p:cNvSpPr txBox="1">
            <a:spLocks noGrp="1"/>
          </p:cNvSpPr>
          <p:nvPr>
            <p:ph type="title"/>
          </p:nvPr>
        </p:nvSpPr>
        <p:spPr>
          <a:xfrm>
            <a:off x="100013" y="-1714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 sz="2600">
                <a:solidFill>
                  <a:srgbClr val="666666"/>
                </a:solidFill>
              </a:rPr>
              <a:t>Sample Report: Table View</a:t>
            </a:r>
            <a:endParaRPr sz="26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Google Shape;1032;p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762000"/>
            <a:ext cx="8839200" cy="4371732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p76"/>
          <p:cNvSpPr/>
          <p:nvPr/>
        </p:nvSpPr>
        <p:spPr>
          <a:xfrm>
            <a:off x="8227300" y="80200"/>
            <a:ext cx="859500" cy="286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4" name="Google Shape;1034;p76"/>
          <p:cNvSpPr txBox="1">
            <a:spLocks noGrp="1"/>
          </p:cNvSpPr>
          <p:nvPr>
            <p:ph type="title"/>
          </p:nvPr>
        </p:nvSpPr>
        <p:spPr>
          <a:xfrm>
            <a:off x="100013" y="-952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 sz="2600">
                <a:solidFill>
                  <a:srgbClr val="666666"/>
                </a:solidFill>
              </a:rPr>
              <a:t>Coverage Visualization</a:t>
            </a:r>
            <a:endParaRPr sz="26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9" name="Google Shape;1039;p77"/>
          <p:cNvPicPr preferRelativeResize="0"/>
          <p:nvPr/>
        </p:nvPicPr>
        <p:blipFill rotWithShape="1">
          <a:blip r:embed="rId3">
            <a:alphaModFix/>
          </a:blip>
          <a:srcRect t="4150" r="1584"/>
          <a:stretch/>
        </p:blipFill>
        <p:spPr>
          <a:xfrm>
            <a:off x="545325" y="581975"/>
            <a:ext cx="8075450" cy="4637724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77"/>
          <p:cNvSpPr/>
          <p:nvPr/>
        </p:nvSpPr>
        <p:spPr>
          <a:xfrm>
            <a:off x="8227300" y="80200"/>
            <a:ext cx="859500" cy="286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1" name="Google Shape;1041;p77"/>
          <p:cNvSpPr txBox="1">
            <a:spLocks noGrp="1"/>
          </p:cNvSpPr>
          <p:nvPr>
            <p:ph type="title"/>
          </p:nvPr>
        </p:nvSpPr>
        <p:spPr>
          <a:xfrm>
            <a:off x="100013" y="-1714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 sz="2600">
                <a:solidFill>
                  <a:srgbClr val="666666"/>
                </a:solidFill>
              </a:rPr>
              <a:t>Sample Report: Tree View</a:t>
            </a:r>
            <a:endParaRPr sz="26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6" name="Google Shape;1046;p78"/>
          <p:cNvPicPr preferRelativeResize="0"/>
          <p:nvPr/>
        </p:nvPicPr>
        <p:blipFill rotWithShape="1">
          <a:blip r:embed="rId3">
            <a:alphaModFix/>
          </a:blip>
          <a:srcRect l="13391" r="35321"/>
          <a:stretch/>
        </p:blipFill>
        <p:spPr>
          <a:xfrm>
            <a:off x="431325" y="1183300"/>
            <a:ext cx="2563825" cy="162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78"/>
          <p:cNvSpPr/>
          <p:nvPr/>
        </p:nvSpPr>
        <p:spPr>
          <a:xfrm>
            <a:off x="1623475" y="1723700"/>
            <a:ext cx="496500" cy="126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8" name="Google Shape;1048;p78"/>
          <p:cNvGrpSpPr/>
          <p:nvPr/>
        </p:nvGrpSpPr>
        <p:grpSpPr>
          <a:xfrm>
            <a:off x="2841375" y="1665437"/>
            <a:ext cx="6112576" cy="2857125"/>
            <a:chOff x="2841375" y="1665437"/>
            <a:chExt cx="6112576" cy="2857125"/>
          </a:xfrm>
        </p:grpSpPr>
        <p:grpSp>
          <p:nvGrpSpPr>
            <p:cNvPr id="1049" name="Google Shape;1049;p78"/>
            <p:cNvGrpSpPr/>
            <p:nvPr/>
          </p:nvGrpSpPr>
          <p:grpSpPr>
            <a:xfrm>
              <a:off x="3206550" y="1665437"/>
              <a:ext cx="5512900" cy="2857125"/>
              <a:chOff x="3206550" y="1665437"/>
              <a:chExt cx="5512900" cy="2857125"/>
            </a:xfrm>
          </p:grpSpPr>
          <p:pic>
            <p:nvPicPr>
              <p:cNvPr id="1050" name="Google Shape;1050;p78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3206550" y="1665437"/>
                <a:ext cx="5512900" cy="28571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51" name="Google Shape;1051;p78"/>
              <p:cNvSpPr/>
              <p:nvPr/>
            </p:nvSpPr>
            <p:spPr>
              <a:xfrm>
                <a:off x="3824350" y="2142550"/>
                <a:ext cx="558600" cy="97500"/>
              </a:xfrm>
              <a:prstGeom prst="rect">
                <a:avLst/>
              </a:pr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2" name="Google Shape;1052;p78"/>
              <p:cNvSpPr/>
              <p:nvPr/>
            </p:nvSpPr>
            <p:spPr>
              <a:xfrm>
                <a:off x="4392900" y="2142550"/>
                <a:ext cx="558600" cy="97500"/>
              </a:xfrm>
              <a:prstGeom prst="rect">
                <a:avLst/>
              </a:pr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3" name="Google Shape;1053;p78"/>
              <p:cNvSpPr/>
              <p:nvPr/>
            </p:nvSpPr>
            <p:spPr>
              <a:xfrm>
                <a:off x="5530000" y="2142550"/>
                <a:ext cx="558600" cy="97500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4" name="Google Shape;1054;p78"/>
              <p:cNvSpPr/>
              <p:nvPr/>
            </p:nvSpPr>
            <p:spPr>
              <a:xfrm>
                <a:off x="4961450" y="2142550"/>
                <a:ext cx="558600" cy="97500"/>
              </a:xfrm>
              <a:prstGeom prst="rect">
                <a:avLst/>
              </a:pr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055" name="Google Shape;1055;p78"/>
            <p:cNvPicPr preferRelativeResize="0"/>
            <p:nvPr/>
          </p:nvPicPr>
          <p:blipFill rotWithShape="1">
            <a:blip r:embed="rId5">
              <a:alphaModFix/>
            </a:blip>
            <a:srcRect t="25539"/>
            <a:stretch/>
          </p:blipFill>
          <p:spPr>
            <a:xfrm>
              <a:off x="3096925" y="1709600"/>
              <a:ext cx="5857026" cy="2768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6" name="Google Shape;1056;p78"/>
            <p:cNvSpPr/>
            <p:nvPr/>
          </p:nvSpPr>
          <p:spPr>
            <a:xfrm>
              <a:off x="5727275" y="2197800"/>
              <a:ext cx="578100" cy="97500"/>
            </a:xfrm>
            <a:prstGeom prst="rect">
              <a:avLst/>
            </a:prstGeom>
            <a:solidFill>
              <a:srgbClr val="F1C2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78"/>
            <p:cNvSpPr/>
            <p:nvPr/>
          </p:nvSpPr>
          <p:spPr>
            <a:xfrm>
              <a:off x="5131175" y="2197800"/>
              <a:ext cx="578100" cy="97500"/>
            </a:xfrm>
            <a:prstGeom prst="rect">
              <a:avLst/>
            </a:prstGeom>
            <a:solidFill>
              <a:srgbClr val="F1C2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78"/>
            <p:cNvSpPr/>
            <p:nvPr/>
          </p:nvSpPr>
          <p:spPr>
            <a:xfrm>
              <a:off x="3938975" y="2197800"/>
              <a:ext cx="578100" cy="975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78"/>
            <p:cNvSpPr/>
            <p:nvPr/>
          </p:nvSpPr>
          <p:spPr>
            <a:xfrm>
              <a:off x="4535075" y="2197800"/>
              <a:ext cx="578100" cy="97500"/>
            </a:xfrm>
            <a:prstGeom prst="rect">
              <a:avLst/>
            </a:prstGeom>
            <a:solidFill>
              <a:srgbClr val="F1C2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78"/>
            <p:cNvSpPr txBox="1"/>
            <p:nvPr/>
          </p:nvSpPr>
          <p:spPr>
            <a:xfrm>
              <a:off x="2841375" y="2921650"/>
              <a:ext cx="1036200" cy="265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" sz="1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Betacoronavirus</a:t>
              </a:r>
              <a:endParaRPr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61" name="Google Shape;1061;p7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4162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2" name="Google Shape;1062;p7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11498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3" name="Google Shape;1063;p7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88835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4" name="Google Shape;1064;p7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54748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5" name="Google Shape;1065;p7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47662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6" name="Google Shape;1066;p7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4998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7" name="Google Shape;1067;p7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2335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8" name="Google Shape;1068;p7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68248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78"/>
          <p:cNvSpPr/>
          <p:nvPr/>
        </p:nvSpPr>
        <p:spPr>
          <a:xfrm>
            <a:off x="276400" y="908525"/>
            <a:ext cx="182700" cy="46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78"/>
          <p:cNvSpPr/>
          <p:nvPr/>
        </p:nvSpPr>
        <p:spPr>
          <a:xfrm>
            <a:off x="553675" y="908525"/>
            <a:ext cx="182700" cy="462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78"/>
          <p:cNvSpPr/>
          <p:nvPr/>
        </p:nvSpPr>
        <p:spPr>
          <a:xfrm>
            <a:off x="831025" y="908525"/>
            <a:ext cx="182700" cy="462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78"/>
          <p:cNvSpPr/>
          <p:nvPr/>
        </p:nvSpPr>
        <p:spPr>
          <a:xfrm>
            <a:off x="1096925" y="908525"/>
            <a:ext cx="182700" cy="462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78"/>
          <p:cNvSpPr/>
          <p:nvPr/>
        </p:nvSpPr>
        <p:spPr>
          <a:xfrm>
            <a:off x="1359925" y="908525"/>
            <a:ext cx="182700" cy="46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78"/>
          <p:cNvSpPr/>
          <p:nvPr/>
        </p:nvSpPr>
        <p:spPr>
          <a:xfrm>
            <a:off x="1640175" y="908525"/>
            <a:ext cx="182700" cy="46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78"/>
          <p:cNvSpPr/>
          <p:nvPr/>
        </p:nvSpPr>
        <p:spPr>
          <a:xfrm>
            <a:off x="1917525" y="908525"/>
            <a:ext cx="182700" cy="46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78"/>
          <p:cNvSpPr/>
          <p:nvPr/>
        </p:nvSpPr>
        <p:spPr>
          <a:xfrm>
            <a:off x="2183425" y="908525"/>
            <a:ext cx="182700" cy="46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78"/>
          <p:cNvSpPr txBox="1"/>
          <p:nvPr/>
        </p:nvSpPr>
        <p:spPr>
          <a:xfrm>
            <a:off x="0" y="4791300"/>
            <a:ext cx="1667400" cy="4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hlinkClick r:id="rId7"/>
              </a:rPr>
              <a:t>https://public.czid.org/</a:t>
            </a:r>
            <a:r>
              <a:rPr lang="en" sz="1100"/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78"/>
          <p:cNvSpPr txBox="1"/>
          <p:nvPr/>
        </p:nvSpPr>
        <p:spPr>
          <a:xfrm rot="-3771227">
            <a:off x="3909771" y="1464164"/>
            <a:ext cx="793621" cy="2652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Index Case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78"/>
          <p:cNvSpPr txBox="1"/>
          <p:nvPr/>
        </p:nvSpPr>
        <p:spPr>
          <a:xfrm rot="-3770327">
            <a:off x="5631007" y="1335386"/>
            <a:ext cx="1121807" cy="2653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Family Member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78"/>
          <p:cNvSpPr txBox="1"/>
          <p:nvPr/>
        </p:nvSpPr>
        <p:spPr>
          <a:xfrm rot="-3770327">
            <a:off x="5009070" y="1335386"/>
            <a:ext cx="1121807" cy="2653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Family Member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78"/>
          <p:cNvSpPr txBox="1"/>
          <p:nvPr/>
        </p:nvSpPr>
        <p:spPr>
          <a:xfrm rot="-3770327">
            <a:off x="4463332" y="1335386"/>
            <a:ext cx="1121807" cy="2653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Family Member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78"/>
          <p:cNvSpPr txBox="1"/>
          <p:nvPr/>
        </p:nvSpPr>
        <p:spPr>
          <a:xfrm rot="-3771550">
            <a:off x="6346180" y="1383620"/>
            <a:ext cx="974617" cy="2652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Water control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78"/>
          <p:cNvSpPr txBox="1"/>
          <p:nvPr/>
        </p:nvSpPr>
        <p:spPr>
          <a:xfrm rot="-3771550">
            <a:off x="6900618" y="1383620"/>
            <a:ext cx="974617" cy="2652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Water control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78"/>
          <p:cNvSpPr txBox="1"/>
          <p:nvPr/>
        </p:nvSpPr>
        <p:spPr>
          <a:xfrm rot="-3771550">
            <a:off x="7455055" y="1383620"/>
            <a:ext cx="974617" cy="2652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Water control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78"/>
          <p:cNvSpPr txBox="1"/>
          <p:nvPr/>
        </p:nvSpPr>
        <p:spPr>
          <a:xfrm rot="-3771550">
            <a:off x="8009493" y="1383620"/>
            <a:ext cx="974617" cy="2652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Water control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78"/>
          <p:cNvSpPr txBox="1">
            <a:spLocks noGrp="1"/>
          </p:cNvSpPr>
          <p:nvPr>
            <p:ph type="subTitle" idx="1"/>
          </p:nvPr>
        </p:nvSpPr>
        <p:spPr>
          <a:xfrm>
            <a:off x="200050" y="39275"/>
            <a:ext cx="8885100" cy="5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600"/>
              <a:t>Application: mNGS for SARS-CoV-2 detection in Cambodia</a:t>
            </a:r>
            <a:endParaRPr sz="2600"/>
          </a:p>
        </p:txBody>
      </p:sp>
      <p:sp>
        <p:nvSpPr>
          <p:cNvPr id="1087" name="Google Shape;1087;p78"/>
          <p:cNvSpPr txBox="1"/>
          <p:nvPr/>
        </p:nvSpPr>
        <p:spPr>
          <a:xfrm>
            <a:off x="98375" y="2987350"/>
            <a:ext cx="3294900" cy="16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traveller to Cambodia from Wuhan, China was determined by PCR to have SARS-CoV-2.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NGS was used to evaluate whether the family members also had SARS-CoV-2.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2" name="Google Shape;1092;p79"/>
          <p:cNvPicPr preferRelativeResize="0"/>
          <p:nvPr/>
        </p:nvPicPr>
        <p:blipFill rotWithShape="1">
          <a:blip r:embed="rId3">
            <a:alphaModFix/>
          </a:blip>
          <a:srcRect l="13391" r="35321"/>
          <a:stretch/>
        </p:blipFill>
        <p:spPr>
          <a:xfrm>
            <a:off x="431325" y="1183300"/>
            <a:ext cx="2563825" cy="162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79"/>
          <p:cNvSpPr/>
          <p:nvPr/>
        </p:nvSpPr>
        <p:spPr>
          <a:xfrm>
            <a:off x="1623475" y="1723700"/>
            <a:ext cx="496500" cy="126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4" name="Google Shape;1094;p79"/>
          <p:cNvGrpSpPr/>
          <p:nvPr/>
        </p:nvGrpSpPr>
        <p:grpSpPr>
          <a:xfrm>
            <a:off x="2841375" y="1665437"/>
            <a:ext cx="6112576" cy="2857125"/>
            <a:chOff x="2841375" y="1665437"/>
            <a:chExt cx="6112576" cy="2857125"/>
          </a:xfrm>
        </p:grpSpPr>
        <p:grpSp>
          <p:nvGrpSpPr>
            <p:cNvPr id="1095" name="Google Shape;1095;p79"/>
            <p:cNvGrpSpPr/>
            <p:nvPr/>
          </p:nvGrpSpPr>
          <p:grpSpPr>
            <a:xfrm>
              <a:off x="3206550" y="1665437"/>
              <a:ext cx="5512900" cy="2857125"/>
              <a:chOff x="3206550" y="1665437"/>
              <a:chExt cx="5512900" cy="2857125"/>
            </a:xfrm>
          </p:grpSpPr>
          <p:pic>
            <p:nvPicPr>
              <p:cNvPr id="1096" name="Google Shape;1096;p79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3206550" y="1665437"/>
                <a:ext cx="5512900" cy="28571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97" name="Google Shape;1097;p79"/>
              <p:cNvSpPr/>
              <p:nvPr/>
            </p:nvSpPr>
            <p:spPr>
              <a:xfrm>
                <a:off x="3824350" y="2142550"/>
                <a:ext cx="558600" cy="97500"/>
              </a:xfrm>
              <a:prstGeom prst="rect">
                <a:avLst/>
              </a:pr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8" name="Google Shape;1098;p79"/>
              <p:cNvSpPr/>
              <p:nvPr/>
            </p:nvSpPr>
            <p:spPr>
              <a:xfrm>
                <a:off x="4392900" y="2142550"/>
                <a:ext cx="558600" cy="97500"/>
              </a:xfrm>
              <a:prstGeom prst="rect">
                <a:avLst/>
              </a:pr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9" name="Google Shape;1099;p79"/>
              <p:cNvSpPr/>
              <p:nvPr/>
            </p:nvSpPr>
            <p:spPr>
              <a:xfrm>
                <a:off x="5530000" y="2142550"/>
                <a:ext cx="558600" cy="97500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0" name="Google Shape;1100;p79"/>
              <p:cNvSpPr/>
              <p:nvPr/>
            </p:nvSpPr>
            <p:spPr>
              <a:xfrm>
                <a:off x="4961450" y="2142550"/>
                <a:ext cx="558600" cy="97500"/>
              </a:xfrm>
              <a:prstGeom prst="rect">
                <a:avLst/>
              </a:pr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101" name="Google Shape;1101;p79"/>
            <p:cNvPicPr preferRelativeResize="0"/>
            <p:nvPr/>
          </p:nvPicPr>
          <p:blipFill rotWithShape="1">
            <a:blip r:embed="rId5">
              <a:alphaModFix/>
            </a:blip>
            <a:srcRect t="25539"/>
            <a:stretch/>
          </p:blipFill>
          <p:spPr>
            <a:xfrm>
              <a:off x="3096925" y="1709600"/>
              <a:ext cx="5857026" cy="2768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2" name="Google Shape;1102;p79"/>
            <p:cNvSpPr/>
            <p:nvPr/>
          </p:nvSpPr>
          <p:spPr>
            <a:xfrm>
              <a:off x="5727275" y="2197800"/>
              <a:ext cx="578100" cy="97500"/>
            </a:xfrm>
            <a:prstGeom prst="rect">
              <a:avLst/>
            </a:prstGeom>
            <a:solidFill>
              <a:srgbClr val="F1C2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79"/>
            <p:cNvSpPr/>
            <p:nvPr/>
          </p:nvSpPr>
          <p:spPr>
            <a:xfrm>
              <a:off x="5131175" y="2197800"/>
              <a:ext cx="578100" cy="97500"/>
            </a:xfrm>
            <a:prstGeom prst="rect">
              <a:avLst/>
            </a:prstGeom>
            <a:solidFill>
              <a:srgbClr val="F1C2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79"/>
            <p:cNvSpPr/>
            <p:nvPr/>
          </p:nvSpPr>
          <p:spPr>
            <a:xfrm>
              <a:off x="3938975" y="2197800"/>
              <a:ext cx="578100" cy="975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79"/>
            <p:cNvSpPr/>
            <p:nvPr/>
          </p:nvSpPr>
          <p:spPr>
            <a:xfrm>
              <a:off x="4535075" y="2197800"/>
              <a:ext cx="578100" cy="97500"/>
            </a:xfrm>
            <a:prstGeom prst="rect">
              <a:avLst/>
            </a:prstGeom>
            <a:solidFill>
              <a:srgbClr val="F1C2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79"/>
            <p:cNvSpPr txBox="1"/>
            <p:nvPr/>
          </p:nvSpPr>
          <p:spPr>
            <a:xfrm>
              <a:off x="2841375" y="2921650"/>
              <a:ext cx="1036200" cy="265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" sz="1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Betacoronavirus</a:t>
              </a:r>
              <a:endParaRPr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7" name="Google Shape;1107;p79"/>
          <p:cNvPicPr preferRelativeResize="0"/>
          <p:nvPr/>
        </p:nvPicPr>
        <p:blipFill rotWithShape="1">
          <a:blip r:embed="rId6">
            <a:alphaModFix/>
          </a:blip>
          <a:srcRect b="8113"/>
          <a:stretch/>
        </p:blipFill>
        <p:spPr>
          <a:xfrm>
            <a:off x="2688975" y="848375"/>
            <a:ext cx="6197449" cy="4078949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0"/>
              </a:srgbClr>
            </a:outerShdw>
          </a:effectLst>
        </p:spPr>
      </p:pic>
      <p:pic>
        <p:nvPicPr>
          <p:cNvPr id="1108" name="Google Shape;1108;p7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34162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9" name="Google Shape;1109;p7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498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0" name="Google Shape;1110;p7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88835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1" name="Google Shape;1111;p7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54748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2" name="Google Shape;1112;p7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47662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3" name="Google Shape;1113;p7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4998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4" name="Google Shape;1114;p7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2335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5" name="Google Shape;1115;p7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68248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79"/>
          <p:cNvSpPr/>
          <p:nvPr/>
        </p:nvSpPr>
        <p:spPr>
          <a:xfrm>
            <a:off x="276400" y="908525"/>
            <a:ext cx="182700" cy="46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79"/>
          <p:cNvSpPr/>
          <p:nvPr/>
        </p:nvSpPr>
        <p:spPr>
          <a:xfrm>
            <a:off x="553675" y="908525"/>
            <a:ext cx="182700" cy="462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79"/>
          <p:cNvSpPr/>
          <p:nvPr/>
        </p:nvSpPr>
        <p:spPr>
          <a:xfrm>
            <a:off x="831025" y="908525"/>
            <a:ext cx="182700" cy="462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79"/>
          <p:cNvSpPr/>
          <p:nvPr/>
        </p:nvSpPr>
        <p:spPr>
          <a:xfrm>
            <a:off x="1096925" y="908525"/>
            <a:ext cx="182700" cy="462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79"/>
          <p:cNvSpPr/>
          <p:nvPr/>
        </p:nvSpPr>
        <p:spPr>
          <a:xfrm>
            <a:off x="1359925" y="908525"/>
            <a:ext cx="182700" cy="46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79"/>
          <p:cNvSpPr/>
          <p:nvPr/>
        </p:nvSpPr>
        <p:spPr>
          <a:xfrm>
            <a:off x="1640175" y="908525"/>
            <a:ext cx="182700" cy="46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79"/>
          <p:cNvSpPr/>
          <p:nvPr/>
        </p:nvSpPr>
        <p:spPr>
          <a:xfrm>
            <a:off x="1917525" y="908525"/>
            <a:ext cx="182700" cy="46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79"/>
          <p:cNvSpPr/>
          <p:nvPr/>
        </p:nvSpPr>
        <p:spPr>
          <a:xfrm>
            <a:off x="2183425" y="908525"/>
            <a:ext cx="182700" cy="46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p79"/>
          <p:cNvSpPr txBox="1"/>
          <p:nvPr/>
        </p:nvSpPr>
        <p:spPr>
          <a:xfrm>
            <a:off x="0" y="4791300"/>
            <a:ext cx="1667400" cy="4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hlinkClick r:id="rId8"/>
              </a:rPr>
              <a:t>https://public.czid.org/</a:t>
            </a:r>
            <a:r>
              <a:rPr lang="en" sz="1100"/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79"/>
          <p:cNvSpPr txBox="1">
            <a:spLocks noGrp="1"/>
          </p:cNvSpPr>
          <p:nvPr>
            <p:ph type="subTitle" idx="1"/>
          </p:nvPr>
        </p:nvSpPr>
        <p:spPr>
          <a:xfrm>
            <a:off x="200050" y="39275"/>
            <a:ext cx="8885100" cy="5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600"/>
              <a:t>Application: mNGS for SARS-CoV-2 detection in Cambodia</a:t>
            </a:r>
            <a:endParaRPr sz="26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0" name="Google Shape;1130;p80"/>
          <p:cNvPicPr preferRelativeResize="0"/>
          <p:nvPr/>
        </p:nvPicPr>
        <p:blipFill rotWithShape="1">
          <a:blip r:embed="rId3">
            <a:alphaModFix/>
          </a:blip>
          <a:srcRect l="13391" r="35321"/>
          <a:stretch/>
        </p:blipFill>
        <p:spPr>
          <a:xfrm>
            <a:off x="431325" y="1183300"/>
            <a:ext cx="2563825" cy="162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1" name="Google Shape;1131;p80"/>
          <p:cNvSpPr txBox="1"/>
          <p:nvPr/>
        </p:nvSpPr>
        <p:spPr>
          <a:xfrm>
            <a:off x="0" y="4791300"/>
            <a:ext cx="1667400" cy="4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https://public.czid.org/</a:t>
            </a:r>
            <a:r>
              <a:rPr lang="en" sz="1100"/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80"/>
          <p:cNvSpPr/>
          <p:nvPr/>
        </p:nvSpPr>
        <p:spPr>
          <a:xfrm>
            <a:off x="1623475" y="1723700"/>
            <a:ext cx="496500" cy="126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3" name="Google Shape;1133;p80"/>
          <p:cNvGrpSpPr/>
          <p:nvPr/>
        </p:nvGrpSpPr>
        <p:grpSpPr>
          <a:xfrm>
            <a:off x="2841375" y="1665437"/>
            <a:ext cx="6112576" cy="2857125"/>
            <a:chOff x="2841375" y="1665437"/>
            <a:chExt cx="6112576" cy="2857125"/>
          </a:xfrm>
        </p:grpSpPr>
        <p:grpSp>
          <p:nvGrpSpPr>
            <p:cNvPr id="1134" name="Google Shape;1134;p80"/>
            <p:cNvGrpSpPr/>
            <p:nvPr/>
          </p:nvGrpSpPr>
          <p:grpSpPr>
            <a:xfrm>
              <a:off x="3206550" y="1665437"/>
              <a:ext cx="5512900" cy="2857125"/>
              <a:chOff x="3206550" y="1665437"/>
              <a:chExt cx="5512900" cy="2857125"/>
            </a:xfrm>
          </p:grpSpPr>
          <p:pic>
            <p:nvPicPr>
              <p:cNvPr id="1135" name="Google Shape;1135;p80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3206550" y="1665437"/>
                <a:ext cx="5512900" cy="28571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36" name="Google Shape;1136;p80"/>
              <p:cNvSpPr/>
              <p:nvPr/>
            </p:nvSpPr>
            <p:spPr>
              <a:xfrm>
                <a:off x="3824350" y="2142550"/>
                <a:ext cx="558600" cy="97500"/>
              </a:xfrm>
              <a:prstGeom prst="rect">
                <a:avLst/>
              </a:pr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7" name="Google Shape;1137;p80"/>
              <p:cNvSpPr/>
              <p:nvPr/>
            </p:nvSpPr>
            <p:spPr>
              <a:xfrm>
                <a:off x="4392900" y="2142550"/>
                <a:ext cx="558600" cy="97500"/>
              </a:xfrm>
              <a:prstGeom prst="rect">
                <a:avLst/>
              </a:pr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8" name="Google Shape;1138;p80"/>
              <p:cNvSpPr/>
              <p:nvPr/>
            </p:nvSpPr>
            <p:spPr>
              <a:xfrm>
                <a:off x="5530000" y="2142550"/>
                <a:ext cx="558600" cy="97500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9" name="Google Shape;1139;p80"/>
              <p:cNvSpPr/>
              <p:nvPr/>
            </p:nvSpPr>
            <p:spPr>
              <a:xfrm>
                <a:off x="4961450" y="2142550"/>
                <a:ext cx="558600" cy="97500"/>
              </a:xfrm>
              <a:prstGeom prst="rect">
                <a:avLst/>
              </a:pr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140" name="Google Shape;1140;p80"/>
            <p:cNvPicPr preferRelativeResize="0"/>
            <p:nvPr/>
          </p:nvPicPr>
          <p:blipFill rotWithShape="1">
            <a:blip r:embed="rId6">
              <a:alphaModFix/>
            </a:blip>
            <a:srcRect t="25539"/>
            <a:stretch/>
          </p:blipFill>
          <p:spPr>
            <a:xfrm>
              <a:off x="3096925" y="1709600"/>
              <a:ext cx="5857026" cy="2768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1" name="Google Shape;1141;p80"/>
            <p:cNvSpPr/>
            <p:nvPr/>
          </p:nvSpPr>
          <p:spPr>
            <a:xfrm>
              <a:off x="5727275" y="2197800"/>
              <a:ext cx="578100" cy="97500"/>
            </a:xfrm>
            <a:prstGeom prst="rect">
              <a:avLst/>
            </a:prstGeom>
            <a:solidFill>
              <a:srgbClr val="F1C2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80"/>
            <p:cNvSpPr/>
            <p:nvPr/>
          </p:nvSpPr>
          <p:spPr>
            <a:xfrm>
              <a:off x="5131175" y="2197800"/>
              <a:ext cx="578100" cy="97500"/>
            </a:xfrm>
            <a:prstGeom prst="rect">
              <a:avLst/>
            </a:prstGeom>
            <a:solidFill>
              <a:srgbClr val="F1C2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80"/>
            <p:cNvSpPr/>
            <p:nvPr/>
          </p:nvSpPr>
          <p:spPr>
            <a:xfrm>
              <a:off x="3938975" y="2197800"/>
              <a:ext cx="578100" cy="975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80"/>
            <p:cNvSpPr/>
            <p:nvPr/>
          </p:nvSpPr>
          <p:spPr>
            <a:xfrm>
              <a:off x="4535075" y="2197800"/>
              <a:ext cx="578100" cy="97500"/>
            </a:xfrm>
            <a:prstGeom prst="rect">
              <a:avLst/>
            </a:prstGeom>
            <a:solidFill>
              <a:srgbClr val="F1C2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80"/>
            <p:cNvSpPr txBox="1"/>
            <p:nvPr/>
          </p:nvSpPr>
          <p:spPr>
            <a:xfrm>
              <a:off x="2841375" y="2921650"/>
              <a:ext cx="1036200" cy="265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" sz="1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Betacoronavirus</a:t>
              </a:r>
              <a:endParaRPr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46" name="Google Shape;1146;p8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34162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7" name="Google Shape;1147;p8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498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8" name="Google Shape;1148;p8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88835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9" name="Google Shape;1149;p8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54748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0" name="Google Shape;1150;p8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47662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1" name="Google Shape;1151;p8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4998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2" name="Google Shape;1152;p8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2335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3" name="Google Shape;1153;p8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68248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80"/>
          <p:cNvSpPr/>
          <p:nvPr/>
        </p:nvSpPr>
        <p:spPr>
          <a:xfrm>
            <a:off x="276400" y="908525"/>
            <a:ext cx="182700" cy="46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80"/>
          <p:cNvSpPr/>
          <p:nvPr/>
        </p:nvSpPr>
        <p:spPr>
          <a:xfrm>
            <a:off x="553675" y="908525"/>
            <a:ext cx="182700" cy="462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80"/>
          <p:cNvSpPr/>
          <p:nvPr/>
        </p:nvSpPr>
        <p:spPr>
          <a:xfrm>
            <a:off x="831025" y="908525"/>
            <a:ext cx="182700" cy="462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80"/>
          <p:cNvSpPr/>
          <p:nvPr/>
        </p:nvSpPr>
        <p:spPr>
          <a:xfrm>
            <a:off x="1096925" y="908525"/>
            <a:ext cx="182700" cy="462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80"/>
          <p:cNvSpPr/>
          <p:nvPr/>
        </p:nvSpPr>
        <p:spPr>
          <a:xfrm>
            <a:off x="1359925" y="908525"/>
            <a:ext cx="182700" cy="46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80"/>
          <p:cNvSpPr/>
          <p:nvPr/>
        </p:nvSpPr>
        <p:spPr>
          <a:xfrm>
            <a:off x="1640175" y="908525"/>
            <a:ext cx="182700" cy="46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80"/>
          <p:cNvSpPr/>
          <p:nvPr/>
        </p:nvSpPr>
        <p:spPr>
          <a:xfrm>
            <a:off x="1917525" y="908525"/>
            <a:ext cx="182700" cy="46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80"/>
          <p:cNvSpPr/>
          <p:nvPr/>
        </p:nvSpPr>
        <p:spPr>
          <a:xfrm>
            <a:off x="2183425" y="908525"/>
            <a:ext cx="182700" cy="46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2" name="Google Shape;1162;p80"/>
          <p:cNvPicPr preferRelativeResize="0"/>
          <p:nvPr/>
        </p:nvPicPr>
        <p:blipFill rotWithShape="1">
          <a:blip r:embed="rId8">
            <a:alphaModFix/>
          </a:blip>
          <a:srcRect b="8113"/>
          <a:stretch/>
        </p:blipFill>
        <p:spPr>
          <a:xfrm>
            <a:off x="2688975" y="848375"/>
            <a:ext cx="6197449" cy="4078949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0"/>
              </a:srgbClr>
            </a:outerShdw>
          </a:effectLst>
        </p:spPr>
      </p:pic>
      <p:pic>
        <p:nvPicPr>
          <p:cNvPr id="1163" name="Google Shape;1163;p8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688975" y="3138625"/>
            <a:ext cx="6197449" cy="17887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0"/>
              </a:srgbClr>
            </a:outerShdw>
          </a:effectLst>
        </p:spPr>
      </p:pic>
      <p:sp>
        <p:nvSpPr>
          <p:cNvPr id="1164" name="Google Shape;1164;p80"/>
          <p:cNvSpPr txBox="1">
            <a:spLocks noGrp="1"/>
          </p:cNvSpPr>
          <p:nvPr>
            <p:ph type="subTitle" idx="1"/>
          </p:nvPr>
        </p:nvSpPr>
        <p:spPr>
          <a:xfrm>
            <a:off x="200050" y="39275"/>
            <a:ext cx="8885100" cy="5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600"/>
              <a:t>Application: mNGS for SARS-CoV-2 detection in Cambodia</a:t>
            </a:r>
            <a:endParaRPr sz="26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9" name="Google Shape;1169;p81"/>
          <p:cNvPicPr preferRelativeResize="0"/>
          <p:nvPr/>
        </p:nvPicPr>
        <p:blipFill rotWithShape="1">
          <a:blip r:embed="rId3">
            <a:alphaModFix/>
          </a:blip>
          <a:srcRect l="2362" t="34606"/>
          <a:stretch/>
        </p:blipFill>
        <p:spPr>
          <a:xfrm>
            <a:off x="2603100" y="1643750"/>
            <a:ext cx="6371424" cy="310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0" name="Google Shape;1170;p81"/>
          <p:cNvPicPr preferRelativeResize="0"/>
          <p:nvPr/>
        </p:nvPicPr>
        <p:blipFill rotWithShape="1">
          <a:blip r:embed="rId4">
            <a:alphaModFix/>
          </a:blip>
          <a:srcRect l="13391" r="35321"/>
          <a:stretch/>
        </p:blipFill>
        <p:spPr>
          <a:xfrm>
            <a:off x="431325" y="1183300"/>
            <a:ext cx="2563825" cy="162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1" name="Google Shape;1171;p81"/>
          <p:cNvSpPr/>
          <p:nvPr/>
        </p:nvSpPr>
        <p:spPr>
          <a:xfrm>
            <a:off x="1623475" y="1723700"/>
            <a:ext cx="496500" cy="126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2" name="Google Shape;1172;p8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4162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3" name="Google Shape;1173;p8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498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4" name="Google Shape;1174;p8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88835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p8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54748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6" name="Google Shape;1176;p8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7662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7" name="Google Shape;1177;p8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4998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8" name="Google Shape;1178;p8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2335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9" name="Google Shape;1179;p8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8248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81"/>
          <p:cNvSpPr/>
          <p:nvPr/>
        </p:nvSpPr>
        <p:spPr>
          <a:xfrm>
            <a:off x="276400" y="908525"/>
            <a:ext cx="182700" cy="46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81"/>
          <p:cNvSpPr/>
          <p:nvPr/>
        </p:nvSpPr>
        <p:spPr>
          <a:xfrm>
            <a:off x="553675" y="908525"/>
            <a:ext cx="182700" cy="462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p81"/>
          <p:cNvSpPr/>
          <p:nvPr/>
        </p:nvSpPr>
        <p:spPr>
          <a:xfrm>
            <a:off x="831025" y="908525"/>
            <a:ext cx="182700" cy="462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81"/>
          <p:cNvSpPr/>
          <p:nvPr/>
        </p:nvSpPr>
        <p:spPr>
          <a:xfrm>
            <a:off x="1096925" y="908525"/>
            <a:ext cx="182700" cy="462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81"/>
          <p:cNvSpPr/>
          <p:nvPr/>
        </p:nvSpPr>
        <p:spPr>
          <a:xfrm>
            <a:off x="1359925" y="908525"/>
            <a:ext cx="182700" cy="46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81"/>
          <p:cNvSpPr/>
          <p:nvPr/>
        </p:nvSpPr>
        <p:spPr>
          <a:xfrm>
            <a:off x="1640175" y="908525"/>
            <a:ext cx="182700" cy="46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81"/>
          <p:cNvSpPr/>
          <p:nvPr/>
        </p:nvSpPr>
        <p:spPr>
          <a:xfrm>
            <a:off x="1917525" y="908525"/>
            <a:ext cx="182700" cy="46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81"/>
          <p:cNvSpPr/>
          <p:nvPr/>
        </p:nvSpPr>
        <p:spPr>
          <a:xfrm>
            <a:off x="2183425" y="908525"/>
            <a:ext cx="182700" cy="46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81"/>
          <p:cNvSpPr txBox="1"/>
          <p:nvPr/>
        </p:nvSpPr>
        <p:spPr>
          <a:xfrm>
            <a:off x="1511025" y="2803700"/>
            <a:ext cx="2724300" cy="26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Severe acute respiratory syndrome coronavirus 2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81"/>
          <p:cNvSpPr/>
          <p:nvPr/>
        </p:nvSpPr>
        <p:spPr>
          <a:xfrm>
            <a:off x="4235325" y="2587550"/>
            <a:ext cx="603900" cy="126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0" name="Google Shape;1190;p81"/>
          <p:cNvSpPr/>
          <p:nvPr/>
        </p:nvSpPr>
        <p:spPr>
          <a:xfrm>
            <a:off x="4855175" y="2587550"/>
            <a:ext cx="603900" cy="126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81"/>
          <p:cNvSpPr/>
          <p:nvPr/>
        </p:nvSpPr>
        <p:spPr>
          <a:xfrm>
            <a:off x="5475025" y="2587550"/>
            <a:ext cx="603900" cy="126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81"/>
          <p:cNvSpPr/>
          <p:nvPr/>
        </p:nvSpPr>
        <p:spPr>
          <a:xfrm>
            <a:off x="3654700" y="2757500"/>
            <a:ext cx="556800" cy="6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81"/>
          <p:cNvSpPr txBox="1"/>
          <p:nvPr/>
        </p:nvSpPr>
        <p:spPr>
          <a:xfrm rot="-3771227">
            <a:off x="4821895" y="1873114"/>
            <a:ext cx="793621" cy="2652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Index Case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81"/>
          <p:cNvSpPr txBox="1"/>
          <p:nvPr/>
        </p:nvSpPr>
        <p:spPr>
          <a:xfrm rot="-3771439">
            <a:off x="3979373" y="1530741"/>
            <a:ext cx="1623602" cy="2652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Index Case, resequenced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81"/>
          <p:cNvSpPr txBox="1"/>
          <p:nvPr/>
        </p:nvSpPr>
        <p:spPr>
          <a:xfrm rot="-3771439">
            <a:off x="5222127" y="1498533"/>
            <a:ext cx="1623602" cy="2652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Index Case, enriched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81"/>
          <p:cNvSpPr txBox="1"/>
          <p:nvPr/>
        </p:nvSpPr>
        <p:spPr>
          <a:xfrm>
            <a:off x="0" y="4791300"/>
            <a:ext cx="1667400" cy="4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hlinkClick r:id="rId6"/>
              </a:rPr>
              <a:t>https://public.czid.org/</a:t>
            </a:r>
            <a:r>
              <a:rPr lang="en" sz="1100"/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81"/>
          <p:cNvSpPr txBox="1">
            <a:spLocks noGrp="1"/>
          </p:cNvSpPr>
          <p:nvPr>
            <p:ph type="subTitle" idx="1"/>
          </p:nvPr>
        </p:nvSpPr>
        <p:spPr>
          <a:xfrm>
            <a:off x="200050" y="39275"/>
            <a:ext cx="8885100" cy="5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600"/>
              <a:t>Application: mNGS for SARS-CoV-2 detection in Cambodia</a:t>
            </a:r>
            <a:endParaRPr sz="2600"/>
          </a:p>
        </p:txBody>
      </p:sp>
      <p:sp>
        <p:nvSpPr>
          <p:cNvPr id="1198" name="Google Shape;1198;p81"/>
          <p:cNvSpPr txBox="1"/>
          <p:nvPr/>
        </p:nvSpPr>
        <p:spPr>
          <a:xfrm>
            <a:off x="6078925" y="727325"/>
            <a:ext cx="894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MSSPE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9" name="Google Shape;1199;p81"/>
          <p:cNvCxnSpPr/>
          <p:nvPr/>
        </p:nvCxnSpPr>
        <p:spPr>
          <a:xfrm flipH="1">
            <a:off x="6271100" y="1049425"/>
            <a:ext cx="137400" cy="224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4" name="Google Shape;1204;p82"/>
          <p:cNvPicPr preferRelativeResize="0"/>
          <p:nvPr/>
        </p:nvPicPr>
        <p:blipFill rotWithShape="1">
          <a:blip r:embed="rId3">
            <a:alphaModFix/>
          </a:blip>
          <a:srcRect l="2362" t="34606"/>
          <a:stretch/>
        </p:blipFill>
        <p:spPr>
          <a:xfrm>
            <a:off x="2603100" y="1643750"/>
            <a:ext cx="6371424" cy="310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5" name="Google Shape;1205;p82"/>
          <p:cNvPicPr preferRelativeResize="0"/>
          <p:nvPr/>
        </p:nvPicPr>
        <p:blipFill rotWithShape="1">
          <a:blip r:embed="rId4">
            <a:alphaModFix/>
          </a:blip>
          <a:srcRect l="13391" r="35321"/>
          <a:stretch/>
        </p:blipFill>
        <p:spPr>
          <a:xfrm>
            <a:off x="431325" y="1183300"/>
            <a:ext cx="2563825" cy="162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6" name="Google Shape;1206;p82"/>
          <p:cNvSpPr/>
          <p:nvPr/>
        </p:nvSpPr>
        <p:spPr>
          <a:xfrm>
            <a:off x="1623475" y="1723700"/>
            <a:ext cx="496500" cy="126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7" name="Google Shape;1207;p8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4162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8" name="Google Shape;1208;p8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498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9" name="Google Shape;1209;p8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88835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0" name="Google Shape;1210;p8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54748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1" name="Google Shape;1211;p8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7662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2" name="Google Shape;1212;p8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4998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3" name="Google Shape;1213;p8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2335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4" name="Google Shape;1214;p8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8248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p82"/>
          <p:cNvSpPr/>
          <p:nvPr/>
        </p:nvSpPr>
        <p:spPr>
          <a:xfrm>
            <a:off x="276400" y="908525"/>
            <a:ext cx="182700" cy="46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82"/>
          <p:cNvSpPr/>
          <p:nvPr/>
        </p:nvSpPr>
        <p:spPr>
          <a:xfrm>
            <a:off x="553675" y="908525"/>
            <a:ext cx="182700" cy="462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7" name="Google Shape;1217;p82"/>
          <p:cNvSpPr/>
          <p:nvPr/>
        </p:nvSpPr>
        <p:spPr>
          <a:xfrm>
            <a:off x="831025" y="908525"/>
            <a:ext cx="182700" cy="462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p82"/>
          <p:cNvSpPr/>
          <p:nvPr/>
        </p:nvSpPr>
        <p:spPr>
          <a:xfrm>
            <a:off x="1096925" y="908525"/>
            <a:ext cx="182700" cy="462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82"/>
          <p:cNvSpPr/>
          <p:nvPr/>
        </p:nvSpPr>
        <p:spPr>
          <a:xfrm>
            <a:off x="1359925" y="908525"/>
            <a:ext cx="182700" cy="46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p82"/>
          <p:cNvSpPr/>
          <p:nvPr/>
        </p:nvSpPr>
        <p:spPr>
          <a:xfrm>
            <a:off x="1640175" y="908525"/>
            <a:ext cx="182700" cy="46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82"/>
          <p:cNvSpPr/>
          <p:nvPr/>
        </p:nvSpPr>
        <p:spPr>
          <a:xfrm>
            <a:off x="1917525" y="908525"/>
            <a:ext cx="182700" cy="46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82"/>
          <p:cNvSpPr/>
          <p:nvPr/>
        </p:nvSpPr>
        <p:spPr>
          <a:xfrm>
            <a:off x="2183425" y="908525"/>
            <a:ext cx="182700" cy="46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82"/>
          <p:cNvSpPr txBox="1"/>
          <p:nvPr/>
        </p:nvSpPr>
        <p:spPr>
          <a:xfrm>
            <a:off x="1511025" y="2803700"/>
            <a:ext cx="2724300" cy="26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Severe acute respiratory syndrome coronavirus 2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82"/>
          <p:cNvSpPr/>
          <p:nvPr/>
        </p:nvSpPr>
        <p:spPr>
          <a:xfrm>
            <a:off x="4235325" y="2587550"/>
            <a:ext cx="603900" cy="126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p82"/>
          <p:cNvSpPr/>
          <p:nvPr/>
        </p:nvSpPr>
        <p:spPr>
          <a:xfrm>
            <a:off x="4855175" y="2587550"/>
            <a:ext cx="603900" cy="126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6" name="Google Shape;1226;p82"/>
          <p:cNvSpPr/>
          <p:nvPr/>
        </p:nvSpPr>
        <p:spPr>
          <a:xfrm>
            <a:off x="5475025" y="2587550"/>
            <a:ext cx="603900" cy="126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p82"/>
          <p:cNvSpPr/>
          <p:nvPr/>
        </p:nvSpPr>
        <p:spPr>
          <a:xfrm>
            <a:off x="3654700" y="2757500"/>
            <a:ext cx="556800" cy="6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82"/>
          <p:cNvSpPr txBox="1"/>
          <p:nvPr/>
        </p:nvSpPr>
        <p:spPr>
          <a:xfrm rot="-3771227">
            <a:off x="4821895" y="1873114"/>
            <a:ext cx="793621" cy="2652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Index Case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82"/>
          <p:cNvSpPr txBox="1"/>
          <p:nvPr/>
        </p:nvSpPr>
        <p:spPr>
          <a:xfrm rot="-3771439">
            <a:off x="3979373" y="1530741"/>
            <a:ext cx="1623602" cy="2652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Index Case, resequenced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82"/>
          <p:cNvSpPr txBox="1"/>
          <p:nvPr/>
        </p:nvSpPr>
        <p:spPr>
          <a:xfrm rot="-3771439">
            <a:off x="5222127" y="1498533"/>
            <a:ext cx="1623602" cy="2652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Index Case, enriched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1" name="Google Shape;1231;p8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04638" y="2347399"/>
            <a:ext cx="7704966" cy="2185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0"/>
              </a:srgbClr>
            </a:outerShdw>
          </a:effectLst>
        </p:spPr>
      </p:pic>
      <p:sp>
        <p:nvSpPr>
          <p:cNvPr id="1232" name="Google Shape;1232;p82"/>
          <p:cNvSpPr txBox="1"/>
          <p:nvPr/>
        </p:nvSpPr>
        <p:spPr>
          <a:xfrm>
            <a:off x="0" y="4791300"/>
            <a:ext cx="1667400" cy="4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hlinkClick r:id="rId7"/>
              </a:rPr>
              <a:t>https://public.czid.org/</a:t>
            </a:r>
            <a:r>
              <a:rPr lang="en" sz="1100"/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82"/>
          <p:cNvSpPr txBox="1">
            <a:spLocks noGrp="1"/>
          </p:cNvSpPr>
          <p:nvPr>
            <p:ph type="subTitle" idx="1"/>
          </p:nvPr>
        </p:nvSpPr>
        <p:spPr>
          <a:xfrm>
            <a:off x="200050" y="39275"/>
            <a:ext cx="8885100" cy="5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600"/>
              <a:t>Application: mNGS for SARS-CoV-2 detection in Cambodia</a:t>
            </a:r>
            <a:endParaRPr sz="26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8" name="Google Shape;1238;p83"/>
          <p:cNvPicPr preferRelativeResize="0"/>
          <p:nvPr/>
        </p:nvPicPr>
        <p:blipFill rotWithShape="1">
          <a:blip r:embed="rId3">
            <a:alphaModFix/>
          </a:blip>
          <a:srcRect l="13391" r="35321"/>
          <a:stretch/>
        </p:blipFill>
        <p:spPr>
          <a:xfrm>
            <a:off x="431325" y="1183300"/>
            <a:ext cx="2563825" cy="162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9" name="Google Shape;1239;p83"/>
          <p:cNvSpPr/>
          <p:nvPr/>
        </p:nvSpPr>
        <p:spPr>
          <a:xfrm>
            <a:off x="1623475" y="1723700"/>
            <a:ext cx="496500" cy="126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0" name="Google Shape;1240;p8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4162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1" name="Google Shape;1241;p8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11498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2" name="Google Shape;1242;p8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88835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3" name="Google Shape;1243;p8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54748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4" name="Google Shape;1244;p8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7662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5" name="Google Shape;1245;p8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4998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6" name="Google Shape;1246;p8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2335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7" name="Google Shape;1247;p8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8248" y="954700"/>
            <a:ext cx="211381" cy="408574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83"/>
          <p:cNvSpPr/>
          <p:nvPr/>
        </p:nvSpPr>
        <p:spPr>
          <a:xfrm>
            <a:off x="276400" y="908525"/>
            <a:ext cx="182700" cy="46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p83"/>
          <p:cNvSpPr/>
          <p:nvPr/>
        </p:nvSpPr>
        <p:spPr>
          <a:xfrm>
            <a:off x="553675" y="908525"/>
            <a:ext cx="182700" cy="462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0" name="Google Shape;1250;p83"/>
          <p:cNvSpPr/>
          <p:nvPr/>
        </p:nvSpPr>
        <p:spPr>
          <a:xfrm>
            <a:off x="831025" y="908525"/>
            <a:ext cx="182700" cy="462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1" name="Google Shape;1251;p83"/>
          <p:cNvSpPr/>
          <p:nvPr/>
        </p:nvSpPr>
        <p:spPr>
          <a:xfrm>
            <a:off x="1096925" y="908525"/>
            <a:ext cx="182700" cy="462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p83"/>
          <p:cNvSpPr/>
          <p:nvPr/>
        </p:nvSpPr>
        <p:spPr>
          <a:xfrm>
            <a:off x="1359925" y="908525"/>
            <a:ext cx="182700" cy="46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p83"/>
          <p:cNvSpPr/>
          <p:nvPr/>
        </p:nvSpPr>
        <p:spPr>
          <a:xfrm>
            <a:off x="1640175" y="908525"/>
            <a:ext cx="182700" cy="46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p83"/>
          <p:cNvSpPr/>
          <p:nvPr/>
        </p:nvSpPr>
        <p:spPr>
          <a:xfrm>
            <a:off x="1917525" y="908525"/>
            <a:ext cx="182700" cy="46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p83"/>
          <p:cNvSpPr/>
          <p:nvPr/>
        </p:nvSpPr>
        <p:spPr>
          <a:xfrm>
            <a:off x="2183425" y="908525"/>
            <a:ext cx="182700" cy="46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83"/>
          <p:cNvSpPr txBox="1"/>
          <p:nvPr/>
        </p:nvSpPr>
        <p:spPr>
          <a:xfrm>
            <a:off x="3321050" y="755650"/>
            <a:ext cx="543870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Cambodian scientists were able to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Confirm the presence of SARS-CoV-2 in the index sample using mNGS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Pivot their laboratory methods to more specific NGS enriching for SARS-CoV-2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Obtained full-length genome sequences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Contribute sequences to global databases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Established a relationship with the Cambodian Government and the Pasteur Institute.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bridging of organizations means they’re working together towards a common goal of public health!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83"/>
          <p:cNvSpPr txBox="1"/>
          <p:nvPr/>
        </p:nvSpPr>
        <p:spPr>
          <a:xfrm>
            <a:off x="0" y="4791300"/>
            <a:ext cx="1667400" cy="4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hlinkClick r:id="rId5"/>
              </a:rPr>
              <a:t>https://public.czid.org/</a:t>
            </a:r>
            <a:r>
              <a:rPr lang="en" sz="1100"/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83"/>
          <p:cNvSpPr txBox="1">
            <a:spLocks noGrp="1"/>
          </p:cNvSpPr>
          <p:nvPr>
            <p:ph type="subTitle" idx="1"/>
          </p:nvPr>
        </p:nvSpPr>
        <p:spPr>
          <a:xfrm>
            <a:off x="200050" y="39275"/>
            <a:ext cx="8885100" cy="5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600"/>
              <a:t>Application: mNGS for SARS-CoV-2 detection in Cambodia</a:t>
            </a:r>
            <a:endParaRPr sz="26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84"/>
          <p:cNvSpPr txBox="1"/>
          <p:nvPr/>
        </p:nvSpPr>
        <p:spPr>
          <a:xfrm>
            <a:off x="6770500" y="1202350"/>
            <a:ext cx="17589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Assembled Genome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84"/>
          <p:cNvSpPr txBox="1">
            <a:spLocks noGrp="1"/>
          </p:cNvSpPr>
          <p:nvPr>
            <p:ph type="subTitle" idx="1"/>
          </p:nvPr>
        </p:nvSpPr>
        <p:spPr>
          <a:xfrm>
            <a:off x="234600" y="32475"/>
            <a:ext cx="81633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rgbClr val="666666"/>
                </a:solidFill>
              </a:rPr>
              <a:t>Viral genome assembly using CZ ID</a:t>
            </a:r>
            <a:endParaRPr>
              <a:solidFill>
                <a:srgbClr val="666666"/>
              </a:solidFill>
            </a:endParaRPr>
          </a:p>
        </p:txBody>
      </p:sp>
      <p:cxnSp>
        <p:nvCxnSpPr>
          <p:cNvPr id="1265" name="Google Shape;1265;p84"/>
          <p:cNvCxnSpPr/>
          <p:nvPr/>
        </p:nvCxnSpPr>
        <p:spPr>
          <a:xfrm>
            <a:off x="2519100" y="2314938"/>
            <a:ext cx="36393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266" name="Google Shape;1266;p84"/>
          <p:cNvGrpSpPr/>
          <p:nvPr/>
        </p:nvGrpSpPr>
        <p:grpSpPr>
          <a:xfrm>
            <a:off x="3563600" y="1105250"/>
            <a:ext cx="1770300" cy="1519000"/>
            <a:chOff x="3563600" y="1181450"/>
            <a:chExt cx="1770300" cy="1519000"/>
          </a:xfrm>
        </p:grpSpPr>
        <p:grpSp>
          <p:nvGrpSpPr>
            <p:cNvPr id="1267" name="Google Shape;1267;p84"/>
            <p:cNvGrpSpPr/>
            <p:nvPr/>
          </p:nvGrpSpPr>
          <p:grpSpPr>
            <a:xfrm>
              <a:off x="3563600" y="1181450"/>
              <a:ext cx="1770300" cy="1267525"/>
              <a:chOff x="3563600" y="1181450"/>
              <a:chExt cx="1770300" cy="1267525"/>
            </a:xfrm>
          </p:grpSpPr>
          <p:sp>
            <p:nvSpPr>
              <p:cNvPr id="1268" name="Google Shape;1268;p84"/>
              <p:cNvSpPr txBox="1"/>
              <p:nvPr/>
            </p:nvSpPr>
            <p:spPr>
              <a:xfrm>
                <a:off x="3792200" y="1960575"/>
                <a:ext cx="892800" cy="48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000"/>
                  <a:buFont typeface="Arial"/>
                  <a:buNone/>
                </a:pPr>
                <a:r>
                  <a:rPr lang="en" sz="40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⚙️</a:t>
                </a:r>
                <a:endParaRPr sz="4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9" name="Google Shape;1269;p84"/>
              <p:cNvSpPr txBox="1"/>
              <p:nvPr/>
            </p:nvSpPr>
            <p:spPr>
              <a:xfrm flipH="1">
                <a:off x="4257576" y="1693700"/>
                <a:ext cx="817500" cy="48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000"/>
                  <a:buFont typeface="Arial"/>
                  <a:buNone/>
                </a:pPr>
                <a:r>
                  <a:rPr lang="en" sz="40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⚙️</a:t>
                </a:r>
                <a:endParaRPr sz="4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0" name="Google Shape;1270;p84"/>
              <p:cNvSpPr txBox="1"/>
              <p:nvPr/>
            </p:nvSpPr>
            <p:spPr>
              <a:xfrm>
                <a:off x="3563600" y="1181450"/>
                <a:ext cx="1770300" cy="39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rPr lang="en" sz="19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mNGS Pipeline</a:t>
                </a:r>
                <a:endParaRPr sz="19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71" name="Google Shape;1271;p84"/>
            <p:cNvSpPr txBox="1"/>
            <p:nvPr/>
          </p:nvSpPr>
          <p:spPr>
            <a:xfrm flipH="1">
              <a:off x="4199789" y="2212050"/>
              <a:ext cx="817500" cy="48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lang="en" sz="4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⚙️</a:t>
              </a:r>
              <a:endParaRPr sz="4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2" name="Google Shape;1272;p84"/>
          <p:cNvSpPr txBox="1"/>
          <p:nvPr/>
        </p:nvSpPr>
        <p:spPr>
          <a:xfrm>
            <a:off x="1130600" y="1202350"/>
            <a:ext cx="11907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AST</a:t>
            </a:r>
            <a:r>
              <a:rPr lang="en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 Files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84"/>
          <p:cNvSpPr txBox="1"/>
          <p:nvPr/>
        </p:nvSpPr>
        <p:spPr>
          <a:xfrm>
            <a:off x="733825" y="1948338"/>
            <a:ext cx="1434600" cy="16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Arial"/>
              <a:buNone/>
            </a:pPr>
            <a:r>
              <a:rPr lang="en" sz="10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📄</a:t>
            </a:r>
            <a:endParaRPr sz="10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84"/>
          <p:cNvSpPr txBox="1"/>
          <p:nvPr/>
        </p:nvSpPr>
        <p:spPr>
          <a:xfrm>
            <a:off x="886775" y="1871763"/>
            <a:ext cx="1434600" cy="16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Arial"/>
              <a:buNone/>
            </a:pPr>
            <a:r>
              <a:rPr lang="en" sz="10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📄</a:t>
            </a:r>
            <a:endParaRPr sz="10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84"/>
          <p:cNvSpPr txBox="1"/>
          <p:nvPr/>
        </p:nvSpPr>
        <p:spPr>
          <a:xfrm>
            <a:off x="1069575" y="1769063"/>
            <a:ext cx="1434600" cy="16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Arial"/>
              <a:buNone/>
            </a:pPr>
            <a:r>
              <a:rPr lang="en" sz="10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📄</a:t>
            </a:r>
            <a:endParaRPr sz="10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84"/>
          <p:cNvSpPr/>
          <p:nvPr/>
        </p:nvSpPr>
        <p:spPr>
          <a:xfrm>
            <a:off x="2922450" y="2880675"/>
            <a:ext cx="2734500" cy="4764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 Filtering and Quality Control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84"/>
          <p:cNvSpPr/>
          <p:nvPr/>
        </p:nvSpPr>
        <p:spPr>
          <a:xfrm>
            <a:off x="2922450" y="3501575"/>
            <a:ext cx="2734500" cy="476400"/>
          </a:xfrm>
          <a:prstGeom prst="rect">
            <a:avLst/>
          </a:prstGeom>
          <a:solidFill>
            <a:srgbClr val="9FC5E8"/>
          </a:solidFill>
          <a:ln w="19050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/>
              <a:t>Read </a:t>
            </a: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Alignment to </a:t>
            </a:r>
            <a:r>
              <a:rPr lang="en" sz="1200"/>
              <a:t>Reference Genome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84"/>
          <p:cNvSpPr/>
          <p:nvPr/>
        </p:nvSpPr>
        <p:spPr>
          <a:xfrm>
            <a:off x="2922450" y="4122475"/>
            <a:ext cx="2734500" cy="476400"/>
          </a:xfrm>
          <a:prstGeom prst="rect">
            <a:avLst/>
          </a:prstGeom>
          <a:solidFill>
            <a:srgbClr val="B4A7D6"/>
          </a:solidFill>
          <a:ln w="19050" cap="flat" cmpd="sng">
            <a:solidFill>
              <a:srgbClr val="674E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/>
              <a:t>Genome</a:t>
            </a: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Report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84"/>
          <p:cNvSpPr/>
          <p:nvPr/>
        </p:nvSpPr>
        <p:spPr>
          <a:xfrm>
            <a:off x="3575100" y="1191700"/>
            <a:ext cx="1758900" cy="396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80" name="Google Shape;1280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9861" y="1055100"/>
            <a:ext cx="1633850" cy="5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1" name="Google Shape;1281;p84" descr="Monitor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0975" y="1769084"/>
            <a:ext cx="2460639" cy="2460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2" name="Google Shape;1282;p84" descr="DNA with solid fil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3346503">
            <a:off x="6771461" y="2600276"/>
            <a:ext cx="566355" cy="566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3" name="Google Shape;1283;p84" descr="Bar graph with upward trend with solid fil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17904" y="2302059"/>
            <a:ext cx="595423" cy="595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4" name="Google Shape;1284;p84" descr="Pie chart with solid fill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17904" y="2841384"/>
            <a:ext cx="515453" cy="515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5" name="Google Shape;1285;p84" descr="Virus genome assembly and consensus sequence from reads - YouTube"/>
          <p:cNvPicPr preferRelativeResize="0"/>
          <p:nvPr/>
        </p:nvPicPr>
        <p:blipFill rotWithShape="1">
          <a:blip r:embed="rId8">
            <a:alphaModFix/>
          </a:blip>
          <a:srcRect l="1750" t="31155" r="34583" b="15694"/>
          <a:stretch/>
        </p:blipFill>
        <p:spPr>
          <a:xfrm>
            <a:off x="6683924" y="2226066"/>
            <a:ext cx="1921672" cy="1203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85"/>
          <p:cNvSpPr/>
          <p:nvPr/>
        </p:nvSpPr>
        <p:spPr>
          <a:xfrm>
            <a:off x="770625" y="2459125"/>
            <a:ext cx="5826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90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Remove Host</a:t>
            </a:r>
            <a:endParaRPr sz="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85"/>
          <p:cNvSpPr/>
          <p:nvPr/>
        </p:nvSpPr>
        <p:spPr>
          <a:xfrm>
            <a:off x="1918500" y="2459125"/>
            <a:ext cx="6543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90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Alignment</a:t>
            </a:r>
            <a:endParaRPr sz="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92" name="Google Shape;1292;p85"/>
          <p:cNvGrpSpPr/>
          <p:nvPr/>
        </p:nvGrpSpPr>
        <p:grpSpPr>
          <a:xfrm>
            <a:off x="1457325" y="1602181"/>
            <a:ext cx="285900" cy="2278521"/>
            <a:chOff x="1381125" y="1373581"/>
            <a:chExt cx="285900" cy="2278521"/>
          </a:xfrm>
        </p:grpSpPr>
        <p:sp>
          <p:nvSpPr>
            <p:cNvPr id="1293" name="Google Shape;1293;p85"/>
            <p:cNvSpPr/>
            <p:nvPr/>
          </p:nvSpPr>
          <p:spPr>
            <a:xfrm>
              <a:off x="1381125" y="2435303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294" name="Google Shape;1294;p85"/>
            <p:cNvSpPr/>
            <p:nvPr/>
          </p:nvSpPr>
          <p:spPr>
            <a:xfrm>
              <a:off x="1381125" y="2081396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295" name="Google Shape;1295;p85"/>
            <p:cNvSpPr/>
            <p:nvPr/>
          </p:nvSpPr>
          <p:spPr>
            <a:xfrm>
              <a:off x="1381125" y="2789211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296" name="Google Shape;1296;p85"/>
            <p:cNvSpPr/>
            <p:nvPr/>
          </p:nvSpPr>
          <p:spPr>
            <a:xfrm>
              <a:off x="1381125" y="2966164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297" name="Google Shape;1297;p85"/>
            <p:cNvSpPr/>
            <p:nvPr/>
          </p:nvSpPr>
          <p:spPr>
            <a:xfrm>
              <a:off x="1381125" y="1727488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298" name="Google Shape;1298;p85"/>
            <p:cNvSpPr/>
            <p:nvPr/>
          </p:nvSpPr>
          <p:spPr>
            <a:xfrm>
              <a:off x="1381125" y="163901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299" name="Google Shape;1299;p85"/>
            <p:cNvSpPr/>
            <p:nvPr/>
          </p:nvSpPr>
          <p:spPr>
            <a:xfrm>
              <a:off x="1381125" y="2346826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00" name="Google Shape;1300;p85"/>
            <p:cNvSpPr/>
            <p:nvPr/>
          </p:nvSpPr>
          <p:spPr>
            <a:xfrm>
              <a:off x="1381125" y="2700734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01" name="Google Shape;1301;p85"/>
            <p:cNvSpPr/>
            <p:nvPr/>
          </p:nvSpPr>
          <p:spPr>
            <a:xfrm>
              <a:off x="1381125" y="2877687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02" name="Google Shape;1302;p85"/>
            <p:cNvSpPr/>
            <p:nvPr/>
          </p:nvSpPr>
          <p:spPr>
            <a:xfrm>
              <a:off x="1381125" y="2258350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03" name="Google Shape;1303;p85"/>
            <p:cNvSpPr/>
            <p:nvPr/>
          </p:nvSpPr>
          <p:spPr>
            <a:xfrm>
              <a:off x="1381125" y="3054641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04" name="Google Shape;1304;p85"/>
            <p:cNvSpPr/>
            <p:nvPr/>
          </p:nvSpPr>
          <p:spPr>
            <a:xfrm>
              <a:off x="1381125" y="3143118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05" name="Google Shape;1305;p85"/>
            <p:cNvSpPr/>
            <p:nvPr/>
          </p:nvSpPr>
          <p:spPr>
            <a:xfrm>
              <a:off x="1381125" y="1815965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06" name="Google Shape;1306;p85"/>
            <p:cNvSpPr/>
            <p:nvPr/>
          </p:nvSpPr>
          <p:spPr>
            <a:xfrm>
              <a:off x="1381125" y="190444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07" name="Google Shape;1307;p85"/>
            <p:cNvSpPr/>
            <p:nvPr/>
          </p:nvSpPr>
          <p:spPr>
            <a:xfrm>
              <a:off x="1381125" y="3231595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08" name="Google Shape;1308;p85"/>
            <p:cNvSpPr/>
            <p:nvPr/>
          </p:nvSpPr>
          <p:spPr>
            <a:xfrm>
              <a:off x="1381125" y="332007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09" name="Google Shape;1309;p85"/>
            <p:cNvSpPr/>
            <p:nvPr/>
          </p:nvSpPr>
          <p:spPr>
            <a:xfrm>
              <a:off x="1381125" y="1373581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10" name="Google Shape;1310;p85"/>
            <p:cNvSpPr/>
            <p:nvPr/>
          </p:nvSpPr>
          <p:spPr>
            <a:xfrm>
              <a:off x="1381125" y="3408549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11" name="Google Shape;1311;p85"/>
            <p:cNvSpPr/>
            <p:nvPr/>
          </p:nvSpPr>
          <p:spPr>
            <a:xfrm>
              <a:off x="1381125" y="1992919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12" name="Google Shape;1312;p85"/>
            <p:cNvSpPr/>
            <p:nvPr/>
          </p:nvSpPr>
          <p:spPr>
            <a:xfrm>
              <a:off x="1381125" y="1550535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13" name="Google Shape;1313;p85"/>
            <p:cNvSpPr/>
            <p:nvPr/>
          </p:nvSpPr>
          <p:spPr>
            <a:xfrm>
              <a:off x="1381125" y="3497026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14" name="Google Shape;1314;p85"/>
            <p:cNvSpPr/>
            <p:nvPr/>
          </p:nvSpPr>
          <p:spPr>
            <a:xfrm>
              <a:off x="1381125" y="358550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</p:grpSp>
      <p:sp>
        <p:nvSpPr>
          <p:cNvPr id="1315" name="Google Shape;1315;p85"/>
          <p:cNvSpPr txBox="1"/>
          <p:nvPr/>
        </p:nvSpPr>
        <p:spPr>
          <a:xfrm>
            <a:off x="2942763" y="1767750"/>
            <a:ext cx="18765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Reads mapped to reference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6" name="Google Shape;1316;p85"/>
          <p:cNvGrpSpPr/>
          <p:nvPr/>
        </p:nvGrpSpPr>
        <p:grpSpPr>
          <a:xfrm>
            <a:off x="167021" y="1208367"/>
            <a:ext cx="828000" cy="2672335"/>
            <a:chOff x="167021" y="979767"/>
            <a:chExt cx="828000" cy="2672335"/>
          </a:xfrm>
        </p:grpSpPr>
        <p:sp>
          <p:nvSpPr>
            <p:cNvPr id="1317" name="Google Shape;1317;p85"/>
            <p:cNvSpPr/>
            <p:nvPr/>
          </p:nvSpPr>
          <p:spPr>
            <a:xfrm>
              <a:off x="400050" y="2435303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18" name="Google Shape;1318;p85"/>
            <p:cNvSpPr/>
            <p:nvPr/>
          </p:nvSpPr>
          <p:spPr>
            <a:xfrm>
              <a:off x="400050" y="2081396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19" name="Google Shape;1319;p85"/>
            <p:cNvSpPr/>
            <p:nvPr/>
          </p:nvSpPr>
          <p:spPr>
            <a:xfrm>
              <a:off x="400050" y="2789211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20" name="Google Shape;1320;p85"/>
            <p:cNvSpPr/>
            <p:nvPr/>
          </p:nvSpPr>
          <p:spPr>
            <a:xfrm>
              <a:off x="400050" y="2966164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21" name="Google Shape;1321;p85"/>
            <p:cNvSpPr/>
            <p:nvPr/>
          </p:nvSpPr>
          <p:spPr>
            <a:xfrm>
              <a:off x="400050" y="1727488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22" name="Google Shape;1322;p85"/>
            <p:cNvSpPr/>
            <p:nvPr/>
          </p:nvSpPr>
          <p:spPr>
            <a:xfrm>
              <a:off x="400050" y="2169873"/>
              <a:ext cx="285900" cy="666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23" name="Google Shape;1323;p85"/>
            <p:cNvSpPr/>
            <p:nvPr/>
          </p:nvSpPr>
          <p:spPr>
            <a:xfrm>
              <a:off x="400050" y="163901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24" name="Google Shape;1324;p85"/>
            <p:cNvSpPr/>
            <p:nvPr/>
          </p:nvSpPr>
          <p:spPr>
            <a:xfrm>
              <a:off x="400050" y="2346826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25" name="Google Shape;1325;p85"/>
            <p:cNvSpPr/>
            <p:nvPr/>
          </p:nvSpPr>
          <p:spPr>
            <a:xfrm>
              <a:off x="400050" y="2612257"/>
              <a:ext cx="285900" cy="666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26" name="Google Shape;1326;p85"/>
            <p:cNvSpPr/>
            <p:nvPr/>
          </p:nvSpPr>
          <p:spPr>
            <a:xfrm>
              <a:off x="400050" y="2700734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27" name="Google Shape;1327;p85"/>
            <p:cNvSpPr/>
            <p:nvPr/>
          </p:nvSpPr>
          <p:spPr>
            <a:xfrm>
              <a:off x="400050" y="2877687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28" name="Google Shape;1328;p85"/>
            <p:cNvSpPr/>
            <p:nvPr/>
          </p:nvSpPr>
          <p:spPr>
            <a:xfrm>
              <a:off x="400050" y="2258350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29" name="Google Shape;1329;p85"/>
            <p:cNvSpPr/>
            <p:nvPr/>
          </p:nvSpPr>
          <p:spPr>
            <a:xfrm>
              <a:off x="400050" y="3054641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30" name="Google Shape;1330;p85"/>
            <p:cNvSpPr/>
            <p:nvPr/>
          </p:nvSpPr>
          <p:spPr>
            <a:xfrm>
              <a:off x="400050" y="3143118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31" name="Google Shape;1331;p85"/>
            <p:cNvSpPr/>
            <p:nvPr/>
          </p:nvSpPr>
          <p:spPr>
            <a:xfrm>
              <a:off x="400050" y="1815965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32" name="Google Shape;1332;p85"/>
            <p:cNvSpPr/>
            <p:nvPr/>
          </p:nvSpPr>
          <p:spPr>
            <a:xfrm>
              <a:off x="400050" y="190444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33" name="Google Shape;1333;p85"/>
            <p:cNvSpPr/>
            <p:nvPr/>
          </p:nvSpPr>
          <p:spPr>
            <a:xfrm>
              <a:off x="400050" y="3231595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34" name="Google Shape;1334;p85"/>
            <p:cNvSpPr/>
            <p:nvPr/>
          </p:nvSpPr>
          <p:spPr>
            <a:xfrm>
              <a:off x="400050" y="332007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35" name="Google Shape;1335;p85"/>
            <p:cNvSpPr/>
            <p:nvPr/>
          </p:nvSpPr>
          <p:spPr>
            <a:xfrm>
              <a:off x="400050" y="1462058"/>
              <a:ext cx="285900" cy="666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36" name="Google Shape;1336;p85"/>
            <p:cNvSpPr/>
            <p:nvPr/>
          </p:nvSpPr>
          <p:spPr>
            <a:xfrm>
              <a:off x="400050" y="1373581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37" name="Google Shape;1337;p85"/>
            <p:cNvSpPr/>
            <p:nvPr/>
          </p:nvSpPr>
          <p:spPr>
            <a:xfrm>
              <a:off x="400050" y="3408549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38" name="Google Shape;1338;p85"/>
            <p:cNvSpPr/>
            <p:nvPr/>
          </p:nvSpPr>
          <p:spPr>
            <a:xfrm>
              <a:off x="400050" y="1992919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39" name="Google Shape;1339;p85"/>
            <p:cNvSpPr/>
            <p:nvPr/>
          </p:nvSpPr>
          <p:spPr>
            <a:xfrm>
              <a:off x="400050" y="1550535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40" name="Google Shape;1340;p85"/>
            <p:cNvSpPr/>
            <p:nvPr/>
          </p:nvSpPr>
          <p:spPr>
            <a:xfrm>
              <a:off x="400050" y="2523780"/>
              <a:ext cx="285900" cy="666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41" name="Google Shape;1341;p85"/>
            <p:cNvSpPr/>
            <p:nvPr/>
          </p:nvSpPr>
          <p:spPr>
            <a:xfrm>
              <a:off x="400050" y="3497026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42" name="Google Shape;1342;p85"/>
            <p:cNvSpPr/>
            <p:nvPr/>
          </p:nvSpPr>
          <p:spPr>
            <a:xfrm>
              <a:off x="400050" y="358550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43" name="Google Shape;1343;p85"/>
            <p:cNvSpPr txBox="1"/>
            <p:nvPr/>
          </p:nvSpPr>
          <p:spPr>
            <a:xfrm>
              <a:off x="167021" y="979767"/>
              <a:ext cx="828000" cy="21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Helvetica Neue"/>
                <a:buNone/>
              </a:pPr>
              <a:r>
                <a:rPr lang="en" sz="1100" u="none" strike="noStrike" cap="none" dirty="0">
                  <a:solidFill>
                    <a:srgbClr val="000000"/>
                  </a:solidFill>
                  <a:latin typeface="Arial" panose="020B0604020202020204" pitchFamily="34" charset="0"/>
                  <a:ea typeface="Helvetica Neue"/>
                  <a:cs typeface="Arial" panose="020B0604020202020204" pitchFamily="34" charset="0"/>
                  <a:sym typeface="Helvetica Neue"/>
                </a:rPr>
                <a:t>Raw reads</a:t>
              </a:r>
              <a:endParaRPr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4" name="Google Shape;1344;p85"/>
          <p:cNvSpPr txBox="1"/>
          <p:nvPr/>
        </p:nvSpPr>
        <p:spPr>
          <a:xfrm>
            <a:off x="3001875" y="2927575"/>
            <a:ext cx="21867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 Reference Genome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45" name="Google Shape;1345;p85"/>
          <p:cNvGrpSpPr/>
          <p:nvPr/>
        </p:nvGrpSpPr>
        <p:grpSpPr>
          <a:xfrm>
            <a:off x="3013283" y="2309663"/>
            <a:ext cx="2186789" cy="594569"/>
            <a:chOff x="2557375" y="1471481"/>
            <a:chExt cx="2476825" cy="594569"/>
          </a:xfrm>
        </p:grpSpPr>
        <p:sp>
          <p:nvSpPr>
            <p:cNvPr id="1346" name="Google Shape;1346;p85"/>
            <p:cNvSpPr/>
            <p:nvPr/>
          </p:nvSpPr>
          <p:spPr>
            <a:xfrm>
              <a:off x="2709800" y="15877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47" name="Google Shape;1347;p85"/>
            <p:cNvSpPr/>
            <p:nvPr/>
          </p:nvSpPr>
          <p:spPr>
            <a:xfrm>
              <a:off x="2557375" y="18735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48" name="Google Shape;1348;p85"/>
            <p:cNvSpPr/>
            <p:nvPr/>
          </p:nvSpPr>
          <p:spPr>
            <a:xfrm>
              <a:off x="2685150" y="17782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49" name="Google Shape;1349;p85"/>
            <p:cNvSpPr/>
            <p:nvPr/>
          </p:nvSpPr>
          <p:spPr>
            <a:xfrm>
              <a:off x="2620850" y="16830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50" name="Google Shape;1350;p85"/>
            <p:cNvSpPr/>
            <p:nvPr/>
          </p:nvSpPr>
          <p:spPr>
            <a:xfrm>
              <a:off x="2557375" y="1999450"/>
              <a:ext cx="2476800" cy="66600"/>
            </a:xfrm>
            <a:prstGeom prst="rect">
              <a:avLst/>
            </a:prstGeom>
            <a:solidFill>
              <a:srgbClr val="0076B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51" name="Google Shape;1351;p85"/>
            <p:cNvSpPr/>
            <p:nvPr/>
          </p:nvSpPr>
          <p:spPr>
            <a:xfrm>
              <a:off x="3096063" y="16823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52" name="Google Shape;1352;p85"/>
            <p:cNvSpPr/>
            <p:nvPr/>
          </p:nvSpPr>
          <p:spPr>
            <a:xfrm>
              <a:off x="2881075" y="18742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53" name="Google Shape;1353;p85"/>
            <p:cNvSpPr/>
            <p:nvPr/>
          </p:nvSpPr>
          <p:spPr>
            <a:xfrm>
              <a:off x="3719275" y="14714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54" name="Google Shape;1354;p85"/>
            <p:cNvSpPr/>
            <p:nvPr/>
          </p:nvSpPr>
          <p:spPr>
            <a:xfrm>
              <a:off x="3723675" y="1768106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55" name="Google Shape;1355;p85"/>
            <p:cNvSpPr/>
            <p:nvPr/>
          </p:nvSpPr>
          <p:spPr>
            <a:xfrm>
              <a:off x="3653300" y="16619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56" name="Google Shape;1356;p85"/>
            <p:cNvSpPr/>
            <p:nvPr/>
          </p:nvSpPr>
          <p:spPr>
            <a:xfrm>
              <a:off x="3775700" y="15667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57" name="Google Shape;1357;p85"/>
            <p:cNvSpPr/>
            <p:nvPr/>
          </p:nvSpPr>
          <p:spPr>
            <a:xfrm>
              <a:off x="3202500" y="18742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58" name="Google Shape;1358;p85"/>
            <p:cNvSpPr/>
            <p:nvPr/>
          </p:nvSpPr>
          <p:spPr>
            <a:xfrm>
              <a:off x="3540775" y="18742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59" name="Google Shape;1359;p85"/>
            <p:cNvSpPr/>
            <p:nvPr/>
          </p:nvSpPr>
          <p:spPr>
            <a:xfrm>
              <a:off x="4203375" y="18742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60" name="Google Shape;1360;p85"/>
            <p:cNvSpPr/>
            <p:nvPr/>
          </p:nvSpPr>
          <p:spPr>
            <a:xfrm>
              <a:off x="3005225" y="17782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61" name="Google Shape;1361;p85"/>
            <p:cNvSpPr/>
            <p:nvPr/>
          </p:nvSpPr>
          <p:spPr>
            <a:xfrm>
              <a:off x="3381975" y="17782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62" name="Google Shape;1362;p85"/>
            <p:cNvSpPr/>
            <p:nvPr/>
          </p:nvSpPr>
          <p:spPr>
            <a:xfrm>
              <a:off x="4065375" y="1768106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63" name="Google Shape;1363;p85"/>
            <p:cNvSpPr/>
            <p:nvPr/>
          </p:nvSpPr>
          <p:spPr>
            <a:xfrm>
              <a:off x="4748300" y="17782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64" name="Google Shape;1364;p85"/>
            <p:cNvSpPr/>
            <p:nvPr/>
          </p:nvSpPr>
          <p:spPr>
            <a:xfrm>
              <a:off x="4528775" y="18742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65" name="Google Shape;1365;p85"/>
            <p:cNvSpPr/>
            <p:nvPr/>
          </p:nvSpPr>
          <p:spPr>
            <a:xfrm>
              <a:off x="4674100" y="16823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66" name="Google Shape;1366;p85"/>
            <p:cNvSpPr/>
            <p:nvPr/>
          </p:nvSpPr>
          <p:spPr>
            <a:xfrm>
              <a:off x="4748300" y="15863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67" name="Google Shape;1367;p85"/>
            <p:cNvSpPr/>
            <p:nvPr/>
          </p:nvSpPr>
          <p:spPr>
            <a:xfrm>
              <a:off x="4443975" y="17782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68" name="Google Shape;1368;p85"/>
            <p:cNvSpPr/>
            <p:nvPr/>
          </p:nvSpPr>
          <p:spPr>
            <a:xfrm>
              <a:off x="3995000" y="1658306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</p:grpSp>
      <p:grpSp>
        <p:nvGrpSpPr>
          <p:cNvPr id="1369" name="Google Shape;1369;p85"/>
          <p:cNvGrpSpPr/>
          <p:nvPr/>
        </p:nvGrpSpPr>
        <p:grpSpPr>
          <a:xfrm>
            <a:off x="3241872" y="4334350"/>
            <a:ext cx="2186767" cy="225525"/>
            <a:chOff x="6125625" y="2784200"/>
            <a:chExt cx="2476800" cy="225525"/>
          </a:xfrm>
        </p:grpSpPr>
        <p:sp>
          <p:nvSpPr>
            <p:cNvPr id="1370" name="Google Shape;1370;p85"/>
            <p:cNvSpPr/>
            <p:nvPr/>
          </p:nvSpPr>
          <p:spPr>
            <a:xfrm>
              <a:off x="6125625" y="2943125"/>
              <a:ext cx="2476800" cy="66600"/>
            </a:xfrm>
            <a:prstGeom prst="rect">
              <a:avLst/>
            </a:prstGeom>
            <a:solidFill>
              <a:srgbClr val="0076B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71" name="Google Shape;1371;p85"/>
            <p:cNvSpPr/>
            <p:nvPr/>
          </p:nvSpPr>
          <p:spPr>
            <a:xfrm>
              <a:off x="6125625" y="2784200"/>
              <a:ext cx="24768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</p:grpSp>
      <p:sp>
        <p:nvSpPr>
          <p:cNvPr id="1372" name="Google Shape;1372;p85"/>
          <p:cNvSpPr/>
          <p:nvPr/>
        </p:nvSpPr>
        <p:spPr>
          <a:xfrm rot="5400000">
            <a:off x="5705998" y="4151325"/>
            <a:ext cx="357000" cy="643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85"/>
          <p:cNvSpPr txBox="1"/>
          <p:nvPr/>
        </p:nvSpPr>
        <p:spPr>
          <a:xfrm>
            <a:off x="5492575" y="4242800"/>
            <a:ext cx="8280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Call Consensus</a:t>
            </a:r>
            <a:endParaRPr sz="90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grpSp>
        <p:nvGrpSpPr>
          <p:cNvPr id="1374" name="Google Shape;1374;p85"/>
          <p:cNvGrpSpPr/>
          <p:nvPr/>
        </p:nvGrpSpPr>
        <p:grpSpPr>
          <a:xfrm>
            <a:off x="6407498" y="2221525"/>
            <a:ext cx="2186789" cy="698700"/>
            <a:chOff x="2623813" y="3128950"/>
            <a:chExt cx="2476825" cy="698700"/>
          </a:xfrm>
        </p:grpSpPr>
        <p:sp>
          <p:nvSpPr>
            <p:cNvPr id="1375" name="Google Shape;1375;p85"/>
            <p:cNvSpPr/>
            <p:nvPr/>
          </p:nvSpPr>
          <p:spPr>
            <a:xfrm>
              <a:off x="2763738" y="33335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76" name="Google Shape;1376;p85"/>
            <p:cNvSpPr/>
            <p:nvPr/>
          </p:nvSpPr>
          <p:spPr>
            <a:xfrm>
              <a:off x="2623813" y="36192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77" name="Google Shape;1377;p85"/>
            <p:cNvSpPr/>
            <p:nvPr/>
          </p:nvSpPr>
          <p:spPr>
            <a:xfrm>
              <a:off x="2751588" y="35240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78" name="Google Shape;1378;p85"/>
            <p:cNvSpPr/>
            <p:nvPr/>
          </p:nvSpPr>
          <p:spPr>
            <a:xfrm>
              <a:off x="2687288" y="34287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79" name="Google Shape;1379;p85"/>
            <p:cNvSpPr/>
            <p:nvPr/>
          </p:nvSpPr>
          <p:spPr>
            <a:xfrm>
              <a:off x="2623813" y="3745200"/>
              <a:ext cx="2476800" cy="66600"/>
            </a:xfrm>
            <a:prstGeom prst="rect">
              <a:avLst/>
            </a:prstGeom>
            <a:solidFill>
              <a:srgbClr val="0076B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80" name="Google Shape;1380;p85"/>
            <p:cNvSpPr/>
            <p:nvPr/>
          </p:nvSpPr>
          <p:spPr>
            <a:xfrm>
              <a:off x="3162500" y="34280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81" name="Google Shape;1381;p85"/>
            <p:cNvSpPr/>
            <p:nvPr/>
          </p:nvSpPr>
          <p:spPr>
            <a:xfrm>
              <a:off x="2947513" y="36199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82" name="Google Shape;1382;p85"/>
            <p:cNvSpPr/>
            <p:nvPr/>
          </p:nvSpPr>
          <p:spPr>
            <a:xfrm>
              <a:off x="3785713" y="32172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83" name="Google Shape;1383;p85"/>
            <p:cNvSpPr/>
            <p:nvPr/>
          </p:nvSpPr>
          <p:spPr>
            <a:xfrm>
              <a:off x="3790113" y="3513856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84" name="Google Shape;1384;p85"/>
            <p:cNvSpPr/>
            <p:nvPr/>
          </p:nvSpPr>
          <p:spPr>
            <a:xfrm>
              <a:off x="3719738" y="34077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85" name="Google Shape;1385;p85"/>
            <p:cNvSpPr/>
            <p:nvPr/>
          </p:nvSpPr>
          <p:spPr>
            <a:xfrm>
              <a:off x="3842138" y="33124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86" name="Google Shape;1386;p85"/>
            <p:cNvSpPr/>
            <p:nvPr/>
          </p:nvSpPr>
          <p:spPr>
            <a:xfrm>
              <a:off x="3268938" y="36199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87" name="Google Shape;1387;p85"/>
            <p:cNvSpPr/>
            <p:nvPr/>
          </p:nvSpPr>
          <p:spPr>
            <a:xfrm>
              <a:off x="3607213" y="36199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88" name="Google Shape;1388;p85"/>
            <p:cNvSpPr/>
            <p:nvPr/>
          </p:nvSpPr>
          <p:spPr>
            <a:xfrm>
              <a:off x="4269813" y="36199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89" name="Google Shape;1389;p85"/>
            <p:cNvSpPr/>
            <p:nvPr/>
          </p:nvSpPr>
          <p:spPr>
            <a:xfrm>
              <a:off x="3071663" y="35240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90" name="Google Shape;1390;p85"/>
            <p:cNvSpPr/>
            <p:nvPr/>
          </p:nvSpPr>
          <p:spPr>
            <a:xfrm>
              <a:off x="3448413" y="35240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91" name="Google Shape;1391;p85"/>
            <p:cNvSpPr/>
            <p:nvPr/>
          </p:nvSpPr>
          <p:spPr>
            <a:xfrm>
              <a:off x="4131813" y="3513856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92" name="Google Shape;1392;p85"/>
            <p:cNvSpPr/>
            <p:nvPr/>
          </p:nvSpPr>
          <p:spPr>
            <a:xfrm>
              <a:off x="4814738" y="35240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93" name="Google Shape;1393;p85"/>
            <p:cNvSpPr/>
            <p:nvPr/>
          </p:nvSpPr>
          <p:spPr>
            <a:xfrm>
              <a:off x="4595213" y="36199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94" name="Google Shape;1394;p85"/>
            <p:cNvSpPr/>
            <p:nvPr/>
          </p:nvSpPr>
          <p:spPr>
            <a:xfrm>
              <a:off x="4740538" y="34280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95" name="Google Shape;1395;p85"/>
            <p:cNvSpPr/>
            <p:nvPr/>
          </p:nvSpPr>
          <p:spPr>
            <a:xfrm>
              <a:off x="4814738" y="33321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96" name="Google Shape;1396;p85"/>
            <p:cNvSpPr/>
            <p:nvPr/>
          </p:nvSpPr>
          <p:spPr>
            <a:xfrm>
              <a:off x="4510413" y="35240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97" name="Google Shape;1397;p85"/>
            <p:cNvSpPr/>
            <p:nvPr/>
          </p:nvSpPr>
          <p:spPr>
            <a:xfrm>
              <a:off x="4061438" y="3404056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98" name="Google Shape;1398;p85"/>
            <p:cNvSpPr/>
            <p:nvPr/>
          </p:nvSpPr>
          <p:spPr>
            <a:xfrm>
              <a:off x="2750842" y="3745200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399" name="Google Shape;1399;p85"/>
            <p:cNvSpPr/>
            <p:nvPr/>
          </p:nvSpPr>
          <p:spPr>
            <a:xfrm>
              <a:off x="3272255" y="3745200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400" name="Google Shape;1400;p85"/>
            <p:cNvSpPr/>
            <p:nvPr/>
          </p:nvSpPr>
          <p:spPr>
            <a:xfrm>
              <a:off x="3615330" y="3745200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401" name="Google Shape;1401;p85"/>
            <p:cNvSpPr/>
            <p:nvPr/>
          </p:nvSpPr>
          <p:spPr>
            <a:xfrm>
              <a:off x="4265180" y="3745200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402" name="Google Shape;1402;p85"/>
            <p:cNvSpPr/>
            <p:nvPr/>
          </p:nvSpPr>
          <p:spPr>
            <a:xfrm>
              <a:off x="4816152" y="3745200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cxnSp>
          <p:nvCxnSpPr>
            <p:cNvPr id="1403" name="Google Shape;1403;p85"/>
            <p:cNvCxnSpPr/>
            <p:nvPr/>
          </p:nvCxnSpPr>
          <p:spPr>
            <a:xfrm rot="10800000">
              <a:off x="2754275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404" name="Google Shape;1404;p85"/>
            <p:cNvCxnSpPr/>
            <p:nvPr/>
          </p:nvCxnSpPr>
          <p:spPr>
            <a:xfrm rot="10800000">
              <a:off x="2858350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405" name="Google Shape;1405;p85"/>
            <p:cNvCxnSpPr/>
            <p:nvPr/>
          </p:nvCxnSpPr>
          <p:spPr>
            <a:xfrm rot="10800000">
              <a:off x="3268063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406" name="Google Shape;1406;p85"/>
            <p:cNvCxnSpPr/>
            <p:nvPr/>
          </p:nvCxnSpPr>
          <p:spPr>
            <a:xfrm rot="10800000">
              <a:off x="3373013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407" name="Google Shape;1407;p85"/>
            <p:cNvCxnSpPr/>
            <p:nvPr/>
          </p:nvCxnSpPr>
          <p:spPr>
            <a:xfrm rot="10800000">
              <a:off x="3613913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408" name="Google Shape;1408;p85"/>
            <p:cNvCxnSpPr/>
            <p:nvPr/>
          </p:nvCxnSpPr>
          <p:spPr>
            <a:xfrm rot="10800000">
              <a:off x="3726663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409" name="Google Shape;1409;p85"/>
            <p:cNvCxnSpPr/>
            <p:nvPr/>
          </p:nvCxnSpPr>
          <p:spPr>
            <a:xfrm rot="10800000">
              <a:off x="4269213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410" name="Google Shape;1410;p85"/>
            <p:cNvCxnSpPr/>
            <p:nvPr/>
          </p:nvCxnSpPr>
          <p:spPr>
            <a:xfrm rot="10800000">
              <a:off x="4373288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411" name="Google Shape;1411;p85"/>
            <p:cNvCxnSpPr/>
            <p:nvPr/>
          </p:nvCxnSpPr>
          <p:spPr>
            <a:xfrm rot="10800000">
              <a:off x="4815225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412" name="Google Shape;1412;p85"/>
            <p:cNvCxnSpPr/>
            <p:nvPr/>
          </p:nvCxnSpPr>
          <p:spPr>
            <a:xfrm rot="10800000">
              <a:off x="4920550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sp>
          <p:nvSpPr>
            <p:cNvPr id="1413" name="Google Shape;1413;p85"/>
            <p:cNvSpPr/>
            <p:nvPr/>
          </p:nvSpPr>
          <p:spPr>
            <a:xfrm>
              <a:off x="4816152" y="3524025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414" name="Google Shape;1414;p85"/>
            <p:cNvSpPr/>
            <p:nvPr/>
          </p:nvSpPr>
          <p:spPr>
            <a:xfrm>
              <a:off x="4816152" y="3332125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415" name="Google Shape;1415;p85"/>
            <p:cNvSpPr/>
            <p:nvPr/>
          </p:nvSpPr>
          <p:spPr>
            <a:xfrm>
              <a:off x="4265180" y="3623650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416" name="Google Shape;1416;p85"/>
            <p:cNvSpPr/>
            <p:nvPr/>
          </p:nvSpPr>
          <p:spPr>
            <a:xfrm>
              <a:off x="3615330" y="3619975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417" name="Google Shape;1417;p85"/>
            <p:cNvSpPr/>
            <p:nvPr/>
          </p:nvSpPr>
          <p:spPr>
            <a:xfrm>
              <a:off x="3272255" y="3619975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418" name="Google Shape;1418;p85"/>
            <p:cNvSpPr/>
            <p:nvPr/>
          </p:nvSpPr>
          <p:spPr>
            <a:xfrm>
              <a:off x="2750842" y="3524025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419" name="Google Shape;1419;p85"/>
            <p:cNvSpPr/>
            <p:nvPr/>
          </p:nvSpPr>
          <p:spPr>
            <a:xfrm>
              <a:off x="2750842" y="3333525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</p:grpSp>
      <p:grpSp>
        <p:nvGrpSpPr>
          <p:cNvPr id="1420" name="Google Shape;1420;p85"/>
          <p:cNvGrpSpPr/>
          <p:nvPr/>
        </p:nvGrpSpPr>
        <p:grpSpPr>
          <a:xfrm>
            <a:off x="6384533" y="3821113"/>
            <a:ext cx="2307855" cy="914400"/>
            <a:chOff x="5102488" y="2899700"/>
            <a:chExt cx="2600400" cy="914400"/>
          </a:xfrm>
        </p:grpSpPr>
        <p:sp>
          <p:nvSpPr>
            <p:cNvPr id="1421" name="Google Shape;1421;p85"/>
            <p:cNvSpPr/>
            <p:nvPr/>
          </p:nvSpPr>
          <p:spPr>
            <a:xfrm>
              <a:off x="5102488" y="2899700"/>
              <a:ext cx="2600400" cy="91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22" name="Google Shape;1422;p85"/>
            <p:cNvGrpSpPr/>
            <p:nvPr/>
          </p:nvGrpSpPr>
          <p:grpSpPr>
            <a:xfrm>
              <a:off x="5164263" y="3031369"/>
              <a:ext cx="2476832" cy="594569"/>
              <a:chOff x="5452738" y="3217231"/>
              <a:chExt cx="2476832" cy="594569"/>
            </a:xfrm>
          </p:grpSpPr>
          <p:sp>
            <p:nvSpPr>
              <p:cNvPr id="1423" name="Google Shape;1423;p85"/>
              <p:cNvSpPr/>
              <p:nvPr/>
            </p:nvSpPr>
            <p:spPr>
              <a:xfrm>
                <a:off x="5687271" y="3333525"/>
                <a:ext cx="1914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u="none" strike="noStrike" cap="none" dirty="0">
                  <a:solidFill>
                    <a:srgbClr val="FFFFFF"/>
                  </a:solidFill>
                  <a:latin typeface="Arial" panose="020B0604020202020204" pitchFamily="34" charset="0"/>
                  <a:ea typeface="Helvetica Neue"/>
                  <a:cs typeface="Arial" panose="020B0604020202020204" pitchFamily="34" charset="0"/>
                  <a:sym typeface="Helvetica Neue"/>
                </a:endParaRPr>
              </a:p>
            </p:txBody>
          </p:sp>
          <p:sp>
            <p:nvSpPr>
              <p:cNvPr id="1424" name="Google Shape;1424;p85"/>
              <p:cNvSpPr/>
              <p:nvPr/>
            </p:nvSpPr>
            <p:spPr>
              <a:xfrm>
                <a:off x="5452738" y="36192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u="none" strike="noStrike" cap="none" dirty="0">
                  <a:solidFill>
                    <a:srgbClr val="FFFFFF"/>
                  </a:solidFill>
                  <a:latin typeface="Arial" panose="020B0604020202020204" pitchFamily="34" charset="0"/>
                  <a:ea typeface="Helvetica Neue"/>
                  <a:cs typeface="Arial" panose="020B0604020202020204" pitchFamily="34" charset="0"/>
                  <a:sym typeface="Helvetica Neue"/>
                </a:endParaRPr>
              </a:p>
            </p:txBody>
          </p:sp>
          <p:sp>
            <p:nvSpPr>
              <p:cNvPr id="1425" name="Google Shape;1425;p85"/>
              <p:cNvSpPr/>
              <p:nvPr/>
            </p:nvSpPr>
            <p:spPr>
              <a:xfrm>
                <a:off x="5687270" y="3524025"/>
                <a:ext cx="1791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u="none" strike="noStrike" cap="none" dirty="0">
                  <a:solidFill>
                    <a:srgbClr val="FFFFFF"/>
                  </a:solidFill>
                  <a:latin typeface="Arial" panose="020B0604020202020204" pitchFamily="34" charset="0"/>
                  <a:ea typeface="Helvetica Neue"/>
                  <a:cs typeface="Arial" panose="020B0604020202020204" pitchFamily="34" charset="0"/>
                  <a:sym typeface="Helvetica Neue"/>
                </a:endParaRPr>
              </a:p>
            </p:txBody>
          </p:sp>
          <p:sp>
            <p:nvSpPr>
              <p:cNvPr id="1426" name="Google Shape;1426;p85"/>
              <p:cNvSpPr/>
              <p:nvPr/>
            </p:nvSpPr>
            <p:spPr>
              <a:xfrm>
                <a:off x="5516213" y="34287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u="none" strike="noStrike" cap="none" dirty="0">
                  <a:solidFill>
                    <a:srgbClr val="FFFFFF"/>
                  </a:solidFill>
                  <a:latin typeface="Arial" panose="020B0604020202020204" pitchFamily="34" charset="0"/>
                  <a:ea typeface="Helvetica Neue"/>
                  <a:cs typeface="Arial" panose="020B0604020202020204" pitchFamily="34" charset="0"/>
                  <a:sym typeface="Helvetica Neue"/>
                </a:endParaRPr>
              </a:p>
            </p:txBody>
          </p:sp>
          <p:sp>
            <p:nvSpPr>
              <p:cNvPr id="1427" name="Google Shape;1427;p85"/>
              <p:cNvSpPr/>
              <p:nvPr/>
            </p:nvSpPr>
            <p:spPr>
              <a:xfrm>
                <a:off x="5452738" y="3745200"/>
                <a:ext cx="2476800" cy="66600"/>
              </a:xfrm>
              <a:prstGeom prst="rect">
                <a:avLst/>
              </a:prstGeom>
              <a:solidFill>
                <a:srgbClr val="0076B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u="none" strike="noStrike" cap="none" dirty="0">
                  <a:solidFill>
                    <a:srgbClr val="FFFFFF"/>
                  </a:solidFill>
                  <a:latin typeface="Arial" panose="020B0604020202020204" pitchFamily="34" charset="0"/>
                  <a:ea typeface="Helvetica Neue"/>
                  <a:cs typeface="Arial" panose="020B0604020202020204" pitchFamily="34" charset="0"/>
                  <a:sym typeface="Helvetica Neue"/>
                </a:endParaRPr>
              </a:p>
            </p:txBody>
          </p:sp>
          <p:sp>
            <p:nvSpPr>
              <p:cNvPr id="1428" name="Google Shape;1428;p85"/>
              <p:cNvSpPr/>
              <p:nvPr/>
            </p:nvSpPr>
            <p:spPr>
              <a:xfrm>
                <a:off x="5991425" y="34280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u="none" strike="noStrike" cap="none" dirty="0">
                  <a:solidFill>
                    <a:srgbClr val="FFFFFF"/>
                  </a:solidFill>
                  <a:latin typeface="Arial" panose="020B0604020202020204" pitchFamily="34" charset="0"/>
                  <a:ea typeface="Helvetica Neue"/>
                  <a:cs typeface="Arial" panose="020B0604020202020204" pitchFamily="34" charset="0"/>
                  <a:sym typeface="Helvetica Neue"/>
                </a:endParaRPr>
              </a:p>
            </p:txBody>
          </p:sp>
          <p:sp>
            <p:nvSpPr>
              <p:cNvPr id="1429" name="Google Shape;1429;p85"/>
              <p:cNvSpPr/>
              <p:nvPr/>
            </p:nvSpPr>
            <p:spPr>
              <a:xfrm>
                <a:off x="5776438" y="36199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u="none" strike="noStrike" cap="none" dirty="0">
                  <a:solidFill>
                    <a:srgbClr val="FFFFFF"/>
                  </a:solidFill>
                  <a:latin typeface="Arial" panose="020B0604020202020204" pitchFamily="34" charset="0"/>
                  <a:ea typeface="Helvetica Neue"/>
                  <a:cs typeface="Arial" panose="020B0604020202020204" pitchFamily="34" charset="0"/>
                  <a:sym typeface="Helvetica Neue"/>
                </a:endParaRPr>
              </a:p>
            </p:txBody>
          </p:sp>
          <p:sp>
            <p:nvSpPr>
              <p:cNvPr id="1430" name="Google Shape;1430;p85"/>
              <p:cNvSpPr/>
              <p:nvPr/>
            </p:nvSpPr>
            <p:spPr>
              <a:xfrm>
                <a:off x="6614638" y="321723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u="none" strike="noStrike" cap="none" dirty="0">
                  <a:solidFill>
                    <a:srgbClr val="FFFFFF"/>
                  </a:solidFill>
                  <a:latin typeface="Arial" panose="020B0604020202020204" pitchFamily="34" charset="0"/>
                  <a:ea typeface="Helvetica Neue"/>
                  <a:cs typeface="Arial" panose="020B0604020202020204" pitchFamily="34" charset="0"/>
                  <a:sym typeface="Helvetica Neue"/>
                </a:endParaRPr>
              </a:p>
            </p:txBody>
          </p:sp>
          <p:sp>
            <p:nvSpPr>
              <p:cNvPr id="1431" name="Google Shape;1431;p85"/>
              <p:cNvSpPr/>
              <p:nvPr/>
            </p:nvSpPr>
            <p:spPr>
              <a:xfrm>
                <a:off x="6619038" y="3513856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u="none" strike="noStrike" cap="none" dirty="0">
                  <a:solidFill>
                    <a:srgbClr val="FFFFFF"/>
                  </a:solidFill>
                  <a:latin typeface="Arial" panose="020B0604020202020204" pitchFamily="34" charset="0"/>
                  <a:ea typeface="Helvetica Neue"/>
                  <a:cs typeface="Arial" panose="020B0604020202020204" pitchFamily="34" charset="0"/>
                  <a:sym typeface="Helvetica Neue"/>
                </a:endParaRPr>
              </a:p>
            </p:txBody>
          </p:sp>
          <p:sp>
            <p:nvSpPr>
              <p:cNvPr id="1432" name="Google Shape;1432;p85"/>
              <p:cNvSpPr/>
              <p:nvPr/>
            </p:nvSpPr>
            <p:spPr>
              <a:xfrm>
                <a:off x="6548663" y="340773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u="none" strike="noStrike" cap="none" dirty="0">
                  <a:solidFill>
                    <a:srgbClr val="FFFFFF"/>
                  </a:solidFill>
                  <a:latin typeface="Arial" panose="020B0604020202020204" pitchFamily="34" charset="0"/>
                  <a:ea typeface="Helvetica Neue"/>
                  <a:cs typeface="Arial" panose="020B0604020202020204" pitchFamily="34" charset="0"/>
                  <a:sym typeface="Helvetica Neue"/>
                </a:endParaRPr>
              </a:p>
            </p:txBody>
          </p:sp>
          <p:sp>
            <p:nvSpPr>
              <p:cNvPr id="1433" name="Google Shape;1433;p85"/>
              <p:cNvSpPr/>
              <p:nvPr/>
            </p:nvSpPr>
            <p:spPr>
              <a:xfrm>
                <a:off x="6671063" y="33124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u="none" strike="noStrike" cap="none" dirty="0">
                  <a:solidFill>
                    <a:srgbClr val="FFFFFF"/>
                  </a:solidFill>
                  <a:latin typeface="Arial" panose="020B0604020202020204" pitchFamily="34" charset="0"/>
                  <a:ea typeface="Helvetica Neue"/>
                  <a:cs typeface="Arial" panose="020B0604020202020204" pitchFamily="34" charset="0"/>
                  <a:sym typeface="Helvetica Neue"/>
                </a:endParaRPr>
              </a:p>
            </p:txBody>
          </p:sp>
          <p:sp>
            <p:nvSpPr>
              <p:cNvPr id="1434" name="Google Shape;1434;p85"/>
              <p:cNvSpPr/>
              <p:nvPr/>
            </p:nvSpPr>
            <p:spPr>
              <a:xfrm>
                <a:off x="6204670" y="3619975"/>
                <a:ext cx="1791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u="none" strike="noStrike" cap="none" dirty="0">
                  <a:solidFill>
                    <a:srgbClr val="FFFFFF"/>
                  </a:solidFill>
                  <a:latin typeface="Arial" panose="020B0604020202020204" pitchFamily="34" charset="0"/>
                  <a:ea typeface="Helvetica Neue"/>
                  <a:cs typeface="Arial" panose="020B0604020202020204" pitchFamily="34" charset="0"/>
                  <a:sym typeface="Helvetica Neue"/>
                </a:endParaRPr>
              </a:p>
            </p:txBody>
          </p:sp>
          <p:sp>
            <p:nvSpPr>
              <p:cNvPr id="1435" name="Google Shape;1435;p85"/>
              <p:cNvSpPr/>
              <p:nvPr/>
            </p:nvSpPr>
            <p:spPr>
              <a:xfrm>
                <a:off x="6563244" y="3619975"/>
                <a:ext cx="1587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u="none" strike="noStrike" cap="none" dirty="0">
                  <a:solidFill>
                    <a:srgbClr val="FFFFFF"/>
                  </a:solidFill>
                  <a:latin typeface="Arial" panose="020B0604020202020204" pitchFamily="34" charset="0"/>
                  <a:ea typeface="Helvetica Neue"/>
                  <a:cs typeface="Arial" panose="020B0604020202020204" pitchFamily="34" charset="0"/>
                  <a:sym typeface="Helvetica Neue"/>
                </a:endParaRPr>
              </a:p>
            </p:txBody>
          </p:sp>
          <p:sp>
            <p:nvSpPr>
              <p:cNvPr id="1436" name="Google Shape;1436;p85"/>
              <p:cNvSpPr/>
              <p:nvPr/>
            </p:nvSpPr>
            <p:spPr>
              <a:xfrm>
                <a:off x="7205545" y="3619975"/>
                <a:ext cx="1791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u="none" strike="noStrike" cap="none" dirty="0">
                  <a:solidFill>
                    <a:srgbClr val="FFFFFF"/>
                  </a:solidFill>
                  <a:latin typeface="Arial" panose="020B0604020202020204" pitchFamily="34" charset="0"/>
                  <a:ea typeface="Helvetica Neue"/>
                  <a:cs typeface="Arial" panose="020B0604020202020204" pitchFamily="34" charset="0"/>
                  <a:sym typeface="Helvetica Neue"/>
                </a:endParaRPr>
              </a:p>
            </p:txBody>
          </p:sp>
          <p:sp>
            <p:nvSpPr>
              <p:cNvPr id="1437" name="Google Shape;1437;p85"/>
              <p:cNvSpPr/>
              <p:nvPr/>
            </p:nvSpPr>
            <p:spPr>
              <a:xfrm>
                <a:off x="5900588" y="352403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u="none" strike="noStrike" cap="none" dirty="0">
                  <a:solidFill>
                    <a:srgbClr val="FFFFFF"/>
                  </a:solidFill>
                  <a:latin typeface="Arial" panose="020B0604020202020204" pitchFamily="34" charset="0"/>
                  <a:ea typeface="Helvetica Neue"/>
                  <a:cs typeface="Arial" panose="020B0604020202020204" pitchFamily="34" charset="0"/>
                  <a:sym typeface="Helvetica Neue"/>
                </a:endParaRPr>
              </a:p>
            </p:txBody>
          </p:sp>
          <p:sp>
            <p:nvSpPr>
              <p:cNvPr id="1438" name="Google Shape;1438;p85"/>
              <p:cNvSpPr/>
              <p:nvPr/>
            </p:nvSpPr>
            <p:spPr>
              <a:xfrm>
                <a:off x="6277338" y="352403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u="none" strike="noStrike" cap="none" dirty="0">
                  <a:solidFill>
                    <a:srgbClr val="FFFFFF"/>
                  </a:solidFill>
                  <a:latin typeface="Arial" panose="020B0604020202020204" pitchFamily="34" charset="0"/>
                  <a:ea typeface="Helvetica Neue"/>
                  <a:cs typeface="Arial" panose="020B0604020202020204" pitchFamily="34" charset="0"/>
                  <a:sym typeface="Helvetica Neue"/>
                </a:endParaRPr>
              </a:p>
            </p:txBody>
          </p:sp>
          <p:sp>
            <p:nvSpPr>
              <p:cNvPr id="1439" name="Google Shape;1439;p85"/>
              <p:cNvSpPr/>
              <p:nvPr/>
            </p:nvSpPr>
            <p:spPr>
              <a:xfrm>
                <a:off x="6960738" y="3513856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u="none" strike="noStrike" cap="none" dirty="0">
                  <a:solidFill>
                    <a:srgbClr val="FFFFFF"/>
                  </a:solidFill>
                  <a:latin typeface="Arial" panose="020B0604020202020204" pitchFamily="34" charset="0"/>
                  <a:ea typeface="Helvetica Neue"/>
                  <a:cs typeface="Arial" panose="020B0604020202020204" pitchFamily="34" charset="0"/>
                  <a:sym typeface="Helvetica Neue"/>
                </a:endParaRPr>
              </a:p>
            </p:txBody>
          </p:sp>
          <p:sp>
            <p:nvSpPr>
              <p:cNvPr id="1440" name="Google Shape;1440;p85"/>
              <p:cNvSpPr/>
              <p:nvPr/>
            </p:nvSpPr>
            <p:spPr>
              <a:xfrm>
                <a:off x="7750470" y="3524025"/>
                <a:ext cx="1791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u="none" strike="noStrike" cap="none" dirty="0">
                  <a:solidFill>
                    <a:srgbClr val="FFFFFF"/>
                  </a:solidFill>
                  <a:latin typeface="Arial" panose="020B0604020202020204" pitchFamily="34" charset="0"/>
                  <a:ea typeface="Helvetica Neue"/>
                  <a:cs typeface="Arial" panose="020B0604020202020204" pitchFamily="34" charset="0"/>
                  <a:sym typeface="Helvetica Neue"/>
                </a:endParaRPr>
              </a:p>
            </p:txBody>
          </p:sp>
          <p:sp>
            <p:nvSpPr>
              <p:cNvPr id="1441" name="Google Shape;1441;p85"/>
              <p:cNvSpPr/>
              <p:nvPr/>
            </p:nvSpPr>
            <p:spPr>
              <a:xfrm>
                <a:off x="7424138" y="36199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u="none" strike="noStrike" cap="none" dirty="0">
                  <a:solidFill>
                    <a:srgbClr val="FFFFFF"/>
                  </a:solidFill>
                  <a:latin typeface="Arial" panose="020B0604020202020204" pitchFamily="34" charset="0"/>
                  <a:ea typeface="Helvetica Neue"/>
                  <a:cs typeface="Arial" panose="020B0604020202020204" pitchFamily="34" charset="0"/>
                  <a:sym typeface="Helvetica Neue"/>
                </a:endParaRPr>
              </a:p>
            </p:txBody>
          </p:sp>
          <p:sp>
            <p:nvSpPr>
              <p:cNvPr id="1442" name="Google Shape;1442;p85"/>
              <p:cNvSpPr/>
              <p:nvPr/>
            </p:nvSpPr>
            <p:spPr>
              <a:xfrm>
                <a:off x="7569463" y="34280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u="none" strike="noStrike" cap="none" dirty="0">
                  <a:solidFill>
                    <a:srgbClr val="FFFFFF"/>
                  </a:solidFill>
                  <a:latin typeface="Arial" panose="020B0604020202020204" pitchFamily="34" charset="0"/>
                  <a:ea typeface="Helvetica Neue"/>
                  <a:cs typeface="Arial" panose="020B0604020202020204" pitchFamily="34" charset="0"/>
                  <a:sym typeface="Helvetica Neue"/>
                </a:endParaRPr>
              </a:p>
            </p:txBody>
          </p:sp>
          <p:sp>
            <p:nvSpPr>
              <p:cNvPr id="1443" name="Google Shape;1443;p85"/>
              <p:cNvSpPr/>
              <p:nvPr/>
            </p:nvSpPr>
            <p:spPr>
              <a:xfrm>
                <a:off x="7750470" y="3332125"/>
                <a:ext cx="1791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u="none" strike="noStrike" cap="none" dirty="0">
                  <a:solidFill>
                    <a:srgbClr val="FFFFFF"/>
                  </a:solidFill>
                  <a:latin typeface="Arial" panose="020B0604020202020204" pitchFamily="34" charset="0"/>
                  <a:ea typeface="Helvetica Neue"/>
                  <a:cs typeface="Arial" panose="020B0604020202020204" pitchFamily="34" charset="0"/>
                  <a:sym typeface="Helvetica Neue"/>
                </a:endParaRPr>
              </a:p>
            </p:txBody>
          </p:sp>
          <p:sp>
            <p:nvSpPr>
              <p:cNvPr id="1444" name="Google Shape;1444;p85"/>
              <p:cNvSpPr/>
              <p:nvPr/>
            </p:nvSpPr>
            <p:spPr>
              <a:xfrm>
                <a:off x="7339338" y="352403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u="none" strike="noStrike" cap="none" dirty="0">
                  <a:solidFill>
                    <a:srgbClr val="FFFFFF"/>
                  </a:solidFill>
                  <a:latin typeface="Arial" panose="020B0604020202020204" pitchFamily="34" charset="0"/>
                  <a:ea typeface="Helvetica Neue"/>
                  <a:cs typeface="Arial" panose="020B0604020202020204" pitchFamily="34" charset="0"/>
                  <a:sym typeface="Helvetica Neue"/>
                </a:endParaRPr>
              </a:p>
            </p:txBody>
          </p:sp>
          <p:sp>
            <p:nvSpPr>
              <p:cNvPr id="1445" name="Google Shape;1445;p85"/>
              <p:cNvSpPr/>
              <p:nvPr/>
            </p:nvSpPr>
            <p:spPr>
              <a:xfrm>
                <a:off x="6890363" y="3404056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u="none" strike="noStrike" cap="none" dirty="0">
                  <a:solidFill>
                    <a:srgbClr val="FFFFFF"/>
                  </a:solidFill>
                  <a:latin typeface="Arial" panose="020B0604020202020204" pitchFamily="34" charset="0"/>
                  <a:ea typeface="Helvetica Neue"/>
                  <a:cs typeface="Arial" panose="020B0604020202020204" pitchFamily="34" charset="0"/>
                  <a:sym typeface="Helvetica Neue"/>
                </a:endParaRPr>
              </a:p>
            </p:txBody>
          </p:sp>
        </p:grpSp>
      </p:grpSp>
      <p:sp>
        <p:nvSpPr>
          <p:cNvPr id="1446" name="Google Shape;1446;p85"/>
          <p:cNvSpPr/>
          <p:nvPr/>
        </p:nvSpPr>
        <p:spPr>
          <a:xfrm>
            <a:off x="7418625" y="3137863"/>
            <a:ext cx="357000" cy="5445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47" name="Google Shape;1447;p85"/>
          <p:cNvGrpSpPr/>
          <p:nvPr/>
        </p:nvGrpSpPr>
        <p:grpSpPr>
          <a:xfrm>
            <a:off x="261415" y="4334338"/>
            <a:ext cx="2186767" cy="225525"/>
            <a:chOff x="6125625" y="1600925"/>
            <a:chExt cx="2476800" cy="225525"/>
          </a:xfrm>
        </p:grpSpPr>
        <p:sp>
          <p:nvSpPr>
            <p:cNvPr id="1448" name="Google Shape;1448;p85"/>
            <p:cNvSpPr/>
            <p:nvPr/>
          </p:nvSpPr>
          <p:spPr>
            <a:xfrm>
              <a:off x="6125625" y="1759850"/>
              <a:ext cx="2476800" cy="66600"/>
            </a:xfrm>
            <a:prstGeom prst="rect">
              <a:avLst/>
            </a:prstGeom>
            <a:solidFill>
              <a:srgbClr val="0076B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449" name="Google Shape;1449;p85"/>
            <p:cNvSpPr/>
            <p:nvPr/>
          </p:nvSpPr>
          <p:spPr>
            <a:xfrm>
              <a:off x="6125625" y="1600925"/>
              <a:ext cx="24768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450" name="Google Shape;1450;p85"/>
            <p:cNvSpPr/>
            <p:nvPr/>
          </p:nvSpPr>
          <p:spPr>
            <a:xfrm>
              <a:off x="6515761" y="1600938"/>
              <a:ext cx="53400" cy="66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451" name="Google Shape;1451;p85"/>
            <p:cNvSpPr/>
            <p:nvPr/>
          </p:nvSpPr>
          <p:spPr>
            <a:xfrm>
              <a:off x="6631297" y="1600938"/>
              <a:ext cx="53400" cy="66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  <p:sp>
          <p:nvSpPr>
            <p:cNvPr id="1452" name="Google Shape;1452;p85"/>
            <p:cNvSpPr/>
            <p:nvPr/>
          </p:nvSpPr>
          <p:spPr>
            <a:xfrm>
              <a:off x="7826641" y="1600938"/>
              <a:ext cx="53400" cy="666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endParaRPr>
            </a:p>
          </p:txBody>
        </p:sp>
      </p:grpSp>
      <p:sp>
        <p:nvSpPr>
          <p:cNvPr id="1453" name="Google Shape;1453;p85"/>
          <p:cNvSpPr txBox="1"/>
          <p:nvPr/>
        </p:nvSpPr>
        <p:spPr>
          <a:xfrm>
            <a:off x="3066375" y="3977350"/>
            <a:ext cx="17529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Consensus Sequence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4" name="Google Shape;1454;p85"/>
          <p:cNvSpPr/>
          <p:nvPr/>
        </p:nvSpPr>
        <p:spPr>
          <a:xfrm>
            <a:off x="5551050" y="2459125"/>
            <a:ext cx="6543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90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Trim Primers</a:t>
            </a:r>
            <a:endParaRPr sz="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5" name="Google Shape;1455;p85"/>
          <p:cNvSpPr/>
          <p:nvPr/>
        </p:nvSpPr>
        <p:spPr>
          <a:xfrm rot="5400000">
            <a:off x="2661598" y="4151325"/>
            <a:ext cx="357000" cy="643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6" name="Google Shape;1456;p85"/>
          <p:cNvSpPr txBox="1"/>
          <p:nvPr/>
        </p:nvSpPr>
        <p:spPr>
          <a:xfrm>
            <a:off x="2524375" y="4242800"/>
            <a:ext cx="6543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Call Variants</a:t>
            </a:r>
            <a:endParaRPr sz="90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457" name="Google Shape;1457;p85"/>
          <p:cNvSpPr txBox="1">
            <a:spLocks noGrp="1"/>
          </p:cNvSpPr>
          <p:nvPr>
            <p:ph type="body" idx="1"/>
          </p:nvPr>
        </p:nvSpPr>
        <p:spPr>
          <a:xfrm>
            <a:off x="200050" y="39275"/>
            <a:ext cx="8885100" cy="5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en"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Generation of viral consensus genomes</a:t>
            </a:r>
            <a:endParaRPr sz="2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8" name="Google Shape;1458;p85"/>
          <p:cNvSpPr/>
          <p:nvPr/>
        </p:nvSpPr>
        <p:spPr>
          <a:xfrm>
            <a:off x="7979100" y="0"/>
            <a:ext cx="1164900" cy="69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9" name="Google Shape;1459;p85"/>
          <p:cNvSpPr txBox="1"/>
          <p:nvPr/>
        </p:nvSpPr>
        <p:spPr>
          <a:xfrm>
            <a:off x="4267200" y="1164663"/>
            <a:ext cx="3218100" cy="6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P</a:t>
            </a:r>
            <a:r>
              <a:rPr lang="en" sz="14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rovide primers used for amplification/enrichment (o</a:t>
            </a:r>
            <a:r>
              <a:rPr lang="en">
                <a:solidFill>
                  <a:srgbClr val="B7B7B7"/>
                </a:solidFill>
              </a:rPr>
              <a:t>ptional)</a:t>
            </a:r>
            <a:endParaRPr sz="14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0" name="Google Shape;1460;p85"/>
          <p:cNvCxnSpPr/>
          <p:nvPr/>
        </p:nvCxnSpPr>
        <p:spPr>
          <a:xfrm rot="10800000">
            <a:off x="5839050" y="1741863"/>
            <a:ext cx="0" cy="71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5" name="Google Shape;1465;p86"/>
          <p:cNvPicPr preferRelativeResize="0"/>
          <p:nvPr/>
        </p:nvPicPr>
        <p:blipFill rotWithShape="1">
          <a:blip r:embed="rId3">
            <a:alphaModFix/>
          </a:blip>
          <a:srcRect l="13958" t="22058" r="13979" b="13425"/>
          <a:stretch/>
        </p:blipFill>
        <p:spPr>
          <a:xfrm>
            <a:off x="247475" y="625000"/>
            <a:ext cx="8708075" cy="4385353"/>
          </a:xfrm>
          <a:prstGeom prst="rect">
            <a:avLst/>
          </a:prstGeom>
          <a:noFill/>
          <a:ln>
            <a:noFill/>
          </a:ln>
        </p:spPr>
      </p:pic>
      <p:sp>
        <p:nvSpPr>
          <p:cNvPr id="1466" name="Google Shape;1466;p86"/>
          <p:cNvSpPr txBox="1"/>
          <p:nvPr/>
        </p:nvSpPr>
        <p:spPr>
          <a:xfrm>
            <a:off x="904650" y="62511"/>
            <a:ext cx="7334700" cy="8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>
                <a:solidFill>
                  <a:schemeClr val="dk2"/>
                </a:solidFill>
              </a:rPr>
              <a:t>Genome Report</a:t>
            </a:r>
            <a:endParaRPr sz="2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7" name="Google Shape;1467;p8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510" y="59667"/>
            <a:ext cx="995022" cy="324936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86"/>
          <p:cNvSpPr/>
          <p:nvPr/>
        </p:nvSpPr>
        <p:spPr>
          <a:xfrm>
            <a:off x="3002325" y="1936975"/>
            <a:ext cx="5748600" cy="733200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9" name="Google Shape;1469;p86"/>
          <p:cNvSpPr/>
          <p:nvPr/>
        </p:nvSpPr>
        <p:spPr>
          <a:xfrm>
            <a:off x="454975" y="3171600"/>
            <a:ext cx="8295900" cy="1646100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0" name="Google Shape;1470;p86"/>
          <p:cNvSpPr txBox="1"/>
          <p:nvPr/>
        </p:nvSpPr>
        <p:spPr>
          <a:xfrm>
            <a:off x="4680275" y="1577375"/>
            <a:ext cx="21063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Assembly Metrics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471" name="Google Shape;1471;p86"/>
          <p:cNvSpPr txBox="1"/>
          <p:nvPr/>
        </p:nvSpPr>
        <p:spPr>
          <a:xfrm>
            <a:off x="3436250" y="2799300"/>
            <a:ext cx="21063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Coverage Stats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6" name="Google Shape;1476;p87"/>
          <p:cNvPicPr preferRelativeResize="0"/>
          <p:nvPr/>
        </p:nvPicPr>
        <p:blipFill rotWithShape="1">
          <a:blip r:embed="rId3">
            <a:alphaModFix/>
          </a:blip>
          <a:srcRect l="8303" t="7793" r="36267" b="25078"/>
          <a:stretch/>
        </p:blipFill>
        <p:spPr>
          <a:xfrm>
            <a:off x="335700" y="1401025"/>
            <a:ext cx="3930624" cy="324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7" name="Google Shape;1477;p87"/>
          <p:cNvSpPr txBox="1"/>
          <p:nvPr/>
        </p:nvSpPr>
        <p:spPr>
          <a:xfrm>
            <a:off x="1035600" y="923375"/>
            <a:ext cx="2518500" cy="4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Download analyzed data</a:t>
            </a:r>
            <a:endParaRPr sz="140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478" name="Google Shape;1478;p87"/>
          <p:cNvSpPr txBox="1"/>
          <p:nvPr/>
        </p:nvSpPr>
        <p:spPr>
          <a:xfrm>
            <a:off x="5136050" y="1823700"/>
            <a:ext cx="38595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SARS-CoV-2 genome data:</a:t>
            </a:r>
            <a:endParaRPr dirty="0"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</a:pPr>
            <a:r>
              <a:rPr lang="en" sz="140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Upload consensus genome to </a:t>
            </a:r>
            <a:r>
              <a:rPr lang="en" sz="1400" u="sng" strike="noStrike" cap="none" dirty="0" err="1">
                <a:solidFill>
                  <a:schemeClr val="hlink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  <a:hlinkClick r:id="rId4"/>
              </a:rPr>
              <a:t>Next</a:t>
            </a:r>
            <a:r>
              <a:rPr lang="en" u="sng" dirty="0" err="1">
                <a:solidFill>
                  <a:schemeClr val="hlink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  <a:hlinkClick r:id="rId4"/>
              </a:rPr>
              <a:t>c</a:t>
            </a:r>
            <a:r>
              <a:rPr lang="en" sz="1400" u="sng" strike="noStrike" cap="none" dirty="0" err="1">
                <a:solidFill>
                  <a:schemeClr val="hlink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  <a:hlinkClick r:id="rId4"/>
              </a:rPr>
              <a:t>lade</a:t>
            </a:r>
            <a:r>
              <a:rPr lang="en" dirty="0"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 </a:t>
            </a:r>
            <a:r>
              <a:rPr lang="en" sz="140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for extra QC and visualizing sequence in global/local context</a:t>
            </a:r>
            <a:endParaRPr sz="140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</a:pPr>
            <a:r>
              <a:rPr lang="en" sz="140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Upload to genome sequ</a:t>
            </a:r>
            <a:r>
              <a:rPr lang="en" dirty="0"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ence to </a:t>
            </a:r>
            <a:r>
              <a:rPr lang="en" sz="140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GISAID </a:t>
            </a:r>
            <a:r>
              <a:rPr lang="en" sz="1400" u="none" strike="noStrike" cap="none" dirty="0" err="1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nad</a:t>
            </a:r>
            <a:r>
              <a:rPr lang="en" sz="140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/or GenBank to share sequence </a:t>
            </a:r>
            <a:r>
              <a:rPr lang="en" sz="1400" u="none" strike="noStrike" cap="none" dirty="0" err="1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publically</a:t>
            </a:r>
            <a:endParaRPr sz="140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cxnSp>
        <p:nvCxnSpPr>
          <p:cNvPr id="1479" name="Google Shape;1479;p87"/>
          <p:cNvCxnSpPr/>
          <p:nvPr/>
        </p:nvCxnSpPr>
        <p:spPr>
          <a:xfrm>
            <a:off x="4524050" y="2671425"/>
            <a:ext cx="612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80" name="Google Shape;1480;p87"/>
          <p:cNvSpPr txBox="1">
            <a:spLocks noGrp="1"/>
          </p:cNvSpPr>
          <p:nvPr>
            <p:ph type="subTitle" idx="4294967295"/>
          </p:nvPr>
        </p:nvSpPr>
        <p:spPr>
          <a:xfrm>
            <a:off x="258763" y="39688"/>
            <a:ext cx="8885237" cy="57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en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Generated genome data available for download</a:t>
            </a:r>
            <a:endParaRPr sz="2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88"/>
          <p:cNvSpPr txBox="1">
            <a:spLocks noGrp="1"/>
          </p:cNvSpPr>
          <p:nvPr>
            <p:ph type="subTitle" idx="1"/>
          </p:nvPr>
        </p:nvSpPr>
        <p:spPr>
          <a:xfrm>
            <a:off x="114575" y="39275"/>
            <a:ext cx="8529300" cy="5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200"/>
              <a:t>Complete SARS-CoV-2 genomes can be used to evaluate phylogenetic relationships and inform contact tracing</a:t>
            </a:r>
            <a:endParaRPr sz="2200"/>
          </a:p>
        </p:txBody>
      </p:sp>
      <p:pic>
        <p:nvPicPr>
          <p:cNvPr id="1486" name="Google Shape;1486;p88"/>
          <p:cNvPicPr preferRelativeResize="0"/>
          <p:nvPr/>
        </p:nvPicPr>
        <p:blipFill rotWithShape="1">
          <a:blip r:embed="rId3">
            <a:alphaModFix/>
          </a:blip>
          <a:srcRect t="5793"/>
          <a:stretch/>
        </p:blipFill>
        <p:spPr>
          <a:xfrm>
            <a:off x="398150" y="1155700"/>
            <a:ext cx="8223902" cy="3759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0"/>
              </a:srgbClr>
            </a:outerShdw>
          </a:effec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1" name="Google Shape;1491;p89"/>
          <p:cNvPicPr preferRelativeResize="0"/>
          <p:nvPr/>
        </p:nvPicPr>
        <p:blipFill rotWithShape="1">
          <a:blip r:embed="rId3">
            <a:alphaModFix/>
          </a:blip>
          <a:srcRect t="2685"/>
          <a:stretch/>
        </p:blipFill>
        <p:spPr>
          <a:xfrm>
            <a:off x="438300" y="803275"/>
            <a:ext cx="8267401" cy="4264024"/>
          </a:xfrm>
          <a:prstGeom prst="rect">
            <a:avLst/>
          </a:prstGeom>
          <a:noFill/>
          <a:ln>
            <a:noFill/>
          </a:ln>
        </p:spPr>
      </p:pic>
      <p:sp>
        <p:nvSpPr>
          <p:cNvPr id="1492" name="Google Shape;1492;p89"/>
          <p:cNvSpPr txBox="1">
            <a:spLocks noGrp="1"/>
          </p:cNvSpPr>
          <p:nvPr>
            <p:ph type="subTitle" idx="1"/>
          </p:nvPr>
        </p:nvSpPr>
        <p:spPr>
          <a:xfrm>
            <a:off x="376400" y="39275"/>
            <a:ext cx="8267400" cy="5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200"/>
              <a:t>Cambodian SARS-CoV-2 genome descends from Asian lineage</a:t>
            </a:r>
            <a:endParaRPr sz="2200"/>
          </a:p>
        </p:txBody>
      </p:sp>
      <p:sp>
        <p:nvSpPr>
          <p:cNvPr id="1493" name="Google Shape;1493;p89"/>
          <p:cNvSpPr/>
          <p:nvPr/>
        </p:nvSpPr>
        <p:spPr>
          <a:xfrm>
            <a:off x="2802075" y="4346075"/>
            <a:ext cx="134100" cy="1422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4" name="Google Shape;1494;p89"/>
          <p:cNvCxnSpPr/>
          <p:nvPr/>
        </p:nvCxnSpPr>
        <p:spPr>
          <a:xfrm rot="10800000" flipH="1">
            <a:off x="2494075" y="4445825"/>
            <a:ext cx="346200" cy="204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90"/>
          <p:cNvSpPr txBox="1">
            <a:spLocks noGrp="1"/>
          </p:cNvSpPr>
          <p:nvPr>
            <p:ph type="subTitle" idx="1"/>
          </p:nvPr>
        </p:nvSpPr>
        <p:spPr>
          <a:xfrm>
            <a:off x="-157350" y="76200"/>
            <a:ext cx="9458700" cy="5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200"/>
              <a:t>SARS-CoV-2 genomes from Bangladesh descend from European lineage</a:t>
            </a:r>
            <a:endParaRPr sz="2200"/>
          </a:p>
        </p:txBody>
      </p:sp>
      <p:pic>
        <p:nvPicPr>
          <p:cNvPr id="1500" name="Google Shape;1500;p90"/>
          <p:cNvPicPr preferRelativeResize="0"/>
          <p:nvPr/>
        </p:nvPicPr>
        <p:blipFill rotWithShape="1">
          <a:blip r:embed="rId3">
            <a:alphaModFix/>
          </a:blip>
          <a:srcRect t="3306"/>
          <a:stretch/>
        </p:blipFill>
        <p:spPr>
          <a:xfrm>
            <a:off x="438300" y="830150"/>
            <a:ext cx="8267401" cy="423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1" name="Google Shape;1501;p90"/>
          <p:cNvSpPr/>
          <p:nvPr/>
        </p:nvSpPr>
        <p:spPr>
          <a:xfrm>
            <a:off x="6201300" y="830150"/>
            <a:ext cx="134100" cy="1422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2" name="Google Shape;1502;p90"/>
          <p:cNvCxnSpPr/>
          <p:nvPr/>
        </p:nvCxnSpPr>
        <p:spPr>
          <a:xfrm>
            <a:off x="5915825" y="719925"/>
            <a:ext cx="285600" cy="15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p91"/>
          <p:cNvSpPr txBox="1"/>
          <p:nvPr/>
        </p:nvSpPr>
        <p:spPr>
          <a:xfrm>
            <a:off x="484399" y="137200"/>
            <a:ext cx="7929000" cy="9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500">
                <a:solidFill>
                  <a:schemeClr val="dk2"/>
                </a:solidFill>
              </a:rPr>
              <a:t>Visit CZ ID’s</a:t>
            </a:r>
            <a:r>
              <a:rPr lang="en" sz="2500"/>
              <a:t> </a:t>
            </a:r>
            <a:r>
              <a:rPr lang="en" sz="2500" u="sng">
                <a:solidFill>
                  <a:schemeClr val="hlink"/>
                </a:solidFill>
                <a:hlinkClick r:id="rId3"/>
              </a:rPr>
              <a:t>Help Center</a:t>
            </a:r>
            <a:r>
              <a:rPr lang="en" sz="2500"/>
              <a:t> </a:t>
            </a:r>
            <a:r>
              <a:rPr lang="en" sz="2500">
                <a:solidFill>
                  <a:schemeClr val="dk2"/>
                </a:solidFill>
              </a:rPr>
              <a:t>to learn more about data analysis &amp; interpretation</a:t>
            </a:r>
            <a:endParaRPr sz="2500">
              <a:solidFill>
                <a:schemeClr val="dk2"/>
              </a:solidFill>
            </a:endParaRPr>
          </a:p>
        </p:txBody>
      </p:sp>
      <p:pic>
        <p:nvPicPr>
          <p:cNvPr id="1508" name="Google Shape;1508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3925" y="1141400"/>
            <a:ext cx="6468977" cy="3743024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509" name="Google Shape;1509;p91"/>
          <p:cNvSpPr/>
          <p:nvPr/>
        </p:nvSpPr>
        <p:spPr>
          <a:xfrm>
            <a:off x="5457700" y="4003075"/>
            <a:ext cx="1850400" cy="80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F79471E9-4F1B-344D-9856-F809C63B85B4}" vid="{2FD73ADB-B93C-3142-8107-D94AE41C2BA2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</TotalTime>
  <Words>1384</Words>
  <Application>Microsoft Macintosh PowerPoint</Application>
  <PresentationFormat>On-screen Show (16:9)</PresentationFormat>
  <Paragraphs>292</Paragraphs>
  <Slides>41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Aptos</vt:lpstr>
      <vt:lpstr>Helvetica Neue</vt:lpstr>
      <vt:lpstr>Courier New</vt:lpstr>
      <vt:lpstr>Aptos Display</vt:lpstr>
      <vt:lpstr>Calibri</vt:lpstr>
      <vt:lpstr>Office Theme</vt:lpstr>
      <vt:lpstr>      Introduction to  Illumina sequencing and mNGS data analysis </vt:lpstr>
      <vt:lpstr>mNGS pipeline</vt:lpstr>
      <vt:lpstr>PowerPoint Presentation</vt:lpstr>
      <vt:lpstr>PowerPoint Presentation</vt:lpstr>
      <vt:lpstr>Sequencing library = collection of fragments ready for sequencing </vt:lpstr>
      <vt:lpstr>PowerPoint Presentation</vt:lpstr>
      <vt:lpstr>PowerPoint Presentation</vt:lpstr>
      <vt:lpstr>Sequencing 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Core Analysis Workflows</vt:lpstr>
      <vt:lpstr>What types of analysis can CZ ID help with?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Sample Report: Table View</vt:lpstr>
      <vt:lpstr>Coverage Visualization</vt:lpstr>
      <vt:lpstr>Sample Report: Tree 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Juliana Gil</cp:lastModifiedBy>
  <cp:revision>8</cp:revision>
  <dcterms:modified xsi:type="dcterms:W3CDTF">2026-10-02T08:02:50Z</dcterms:modified>
</cp:coreProperties>
</file>