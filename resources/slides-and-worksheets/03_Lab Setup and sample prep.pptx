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 id="2147483676" r:id="rId2"/>
  </p:sldMasterIdLst>
  <p:notesMasterIdLst>
    <p:notesMasterId r:id="rId24"/>
  </p:notesMasterIdLst>
  <p:sldIdLst>
    <p:sldId id="256" r:id="rId3"/>
    <p:sldId id="257" r:id="rId4"/>
    <p:sldId id="258" r:id="rId5"/>
    <p:sldId id="259" r:id="rId6"/>
    <p:sldId id="260"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8" r:id="rId20"/>
    <p:sldId id="279" r:id="rId21"/>
    <p:sldId id="275" r:id="rId22"/>
    <p:sldId id="276"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155BD4-F74D-1F70-CCBC-237FB302F341}" name="Juliana Gil" initials="JG" userId="S::juliana.gil@czbiohub.org::5f6b24e8-ba98-4699-b143-05c9bc962f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p:restoredTop sz="79041"/>
  </p:normalViewPr>
  <p:slideViewPr>
    <p:cSldViewPr snapToGrid="0" showGuides="1">
      <p:cViewPr varScale="1">
        <p:scale>
          <a:sx n="96" d="100"/>
          <a:sy n="96" d="100"/>
        </p:scale>
        <p:origin x="184" y="6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5" name="Google Shape;1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2a19e09302_2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2" name="Google Shape;132;g22a19e09302_2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2a19e09302_2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9" name="Google Shape;139;g22a19e09302_2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2a19e09302_2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6" name="Google Shape;166;g22a19e09302_2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2a19e09302_2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6" name="Google Shape;196;g22a19e09302_2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2a19e09302_2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52" name="Google Shape;252;g22a19e09302_2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2a19e09302_2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60" name="Google Shape;260;g22a19e09302_2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90000"/>
              </a:lnSpc>
              <a:spcBef>
                <a:spcPts val="800"/>
              </a:spcBef>
              <a:spcAft>
                <a:spcPts val="0"/>
              </a:spcAft>
              <a:buClr>
                <a:schemeClr val="dk1"/>
              </a:buClr>
              <a:buSzPts val="1000"/>
              <a:buChar char="•"/>
            </a:pPr>
            <a:r>
              <a:rPr lang="en" sz="1000">
                <a:solidFill>
                  <a:schemeClr val="dk1"/>
                </a:solidFill>
                <a:latin typeface="Calibri"/>
                <a:ea typeface="Calibri"/>
                <a:cs typeface="Calibri"/>
                <a:sym typeface="Calibri"/>
              </a:rPr>
              <a:t>Metagenomic sequencing of samples with low nucleic acid content (i.e.: CSF, serum, plasma) can be easily contaminated with nucleic acid in the lab environment. </a:t>
            </a:r>
            <a:endParaRPr sz="10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1"/>
              </a:buClr>
              <a:buSzPts val="1000"/>
              <a:buChar char="•"/>
            </a:pPr>
            <a:r>
              <a:rPr lang="en" sz="1000">
                <a:solidFill>
                  <a:schemeClr val="dk1"/>
                </a:solidFill>
                <a:latin typeface="Calibri"/>
                <a:ea typeface="Calibri"/>
                <a:cs typeface="Calibri"/>
                <a:sym typeface="Calibri"/>
              </a:rPr>
              <a:t>PCR amplification produces high abundance of nucleic acid which can be a major source of contamination</a:t>
            </a:r>
            <a:endParaRPr sz="10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1"/>
              </a:buClr>
              <a:buSzPts val="1000"/>
              <a:buChar char="•"/>
            </a:pPr>
            <a:r>
              <a:rPr lang="en" sz="1000">
                <a:solidFill>
                  <a:schemeClr val="dk1"/>
                </a:solidFill>
                <a:latin typeface="Calibri"/>
                <a:ea typeface="Calibri"/>
                <a:cs typeface="Calibri"/>
                <a:sym typeface="Calibri"/>
              </a:rPr>
              <a:t>To prevent this environmental contamination, we separate the physical locations of the lab procedures into 2 spaces: Pre-PCR and Post-PCR. Some institutions refer to them as Pre-amplification and Post-Amplification lab</a:t>
            </a:r>
            <a:endParaRPr sz="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2a19e09302_2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71" name="Google Shape;271;g22a19e09302_2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2100" algn="l" defTabSz="914400" rtl="0" eaLnBrk="1" fontAlgn="auto" latinLnBrk="0" hangingPunct="1">
              <a:lnSpc>
                <a:spcPct val="90000"/>
              </a:lnSpc>
              <a:spcBef>
                <a:spcPts val="800"/>
              </a:spcBef>
              <a:spcAft>
                <a:spcPts val="0"/>
              </a:spcAft>
              <a:buClr>
                <a:schemeClr val="dk1"/>
              </a:buClr>
              <a:buSzPts val="1000"/>
              <a:buFont typeface="Arial"/>
              <a:buChar char="•"/>
              <a:tabLst/>
              <a:defRPr/>
            </a:pPr>
            <a:r>
              <a:rPr lang="en-US" sz="800" dirty="0"/>
              <a:t>If you cannot separate Pre and Post PCRs into two separate rooms, try to make “a room within a room” for the post-PCR. Alternatively, be strict with the assignment and use of PCR workstations/ cabinets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19a84d54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85" name="Google Shape;285;g219a84d54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19a84d546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2" name="Google Shape;292;g219a84d546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19a84d5463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9" name="Google Shape;299;g219a84d546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2a19e09302_2_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08" name="Google Shape;308;g22a19e09302_2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2a19e09302_2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3" name="Google Shape;313;g22a19e09302_2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2a19e09302_2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1" name="Google Shape;341;g22a19e09302_2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89f963b436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7" name="Google Shape;347;g89f963b43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extraction, try to get rid of as much host material as possible, by for example spinning down the material and using the supernatant for extraction.</a:t>
            </a:r>
            <a:endParaRPr/>
          </a:p>
          <a:p>
            <a:pPr marL="0" lvl="0" indent="0" algn="l" rtl="0">
              <a:spcBef>
                <a:spcPts val="0"/>
              </a:spcBef>
              <a:spcAft>
                <a:spcPts val="0"/>
              </a:spcAft>
              <a:buNone/>
            </a:pPr>
            <a:r>
              <a:rPr lang="en"/>
              <a:t>Nucleic acid type depends on your research question since it will affect what you’ll be able to pick up: go for RNA if you are also interested in viruses, provided you have good sample quality. If just interested in bacteria, you can do DNA.</a:t>
            </a:r>
            <a:endParaRPr/>
          </a:p>
          <a:p>
            <a:pPr marL="0" lvl="0" indent="0" algn="l" rtl="0">
              <a:spcBef>
                <a:spcPts val="0"/>
              </a:spcBef>
              <a:spcAft>
                <a:spcPts val="0"/>
              </a:spcAft>
              <a:buNone/>
            </a:pPr>
            <a:r>
              <a:rPr lang="en"/>
              <a:t>TNA: extract both DNA and RNA, and decide later what type of library you’ll prepare.</a:t>
            </a:r>
            <a:endParaRPr/>
          </a:p>
          <a:p>
            <a:pPr marL="0" lvl="0" indent="0" algn="l" rtl="0">
              <a:spcBef>
                <a:spcPts val="0"/>
              </a:spcBef>
              <a:spcAft>
                <a:spcPts val="0"/>
              </a:spcAft>
              <a:buNone/>
            </a:pPr>
            <a:r>
              <a:rPr lang="en"/>
              <a:t>Column vs bead-based extraction: Bead-based extractions are easier to perform, especially when working with larger sample sizes.. You will need magnetic stands though. Whatever type of extraction you do, it will be crucial to avoid cross-contamination as much as possible. You can do this by interspersing samples with water controls during extraction, for example. Also make sure to preserve sample quality, this will be especially important when extracting RNA. Avoid freeze-thaw cycles of RNA and keep it cold at all times.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9fca2f9a9e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55" name="Google Shape;355;g9fca2f9a9e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Amount of pathogen can be very low (eg CSF) -&gt; microkit or Magbead kit.</a:t>
            </a:r>
            <a:endParaRPr/>
          </a:p>
          <a:p>
            <a:pPr marL="0" lvl="0" indent="0" algn="l" rtl="0">
              <a:spcBef>
                <a:spcPts val="0"/>
              </a:spcBef>
              <a:spcAft>
                <a:spcPts val="0"/>
              </a:spcAft>
              <a:buNone/>
            </a:pPr>
            <a:r>
              <a:rPr lang="en"/>
              <a:t>Clogging issue for columns (use Proteinase K! see protocol serum/plasma), but not with magbead (also includes Prot K). BME will also help degrade cell walls, …</a:t>
            </a:r>
            <a:endParaRPr/>
          </a:p>
          <a:p>
            <a:pPr marL="0" lvl="0" indent="0" algn="l" rtl="0">
              <a:spcBef>
                <a:spcPts val="0"/>
              </a:spcBef>
              <a:spcAft>
                <a:spcPts val="0"/>
              </a:spcAft>
              <a:buNone/>
            </a:pPr>
            <a:r>
              <a:rPr lang="en"/>
              <a:t>DNA/RNA kits are more expensive than just the DNA or RNA kit, but worth it coz you’ll have both</a:t>
            </a:r>
            <a:endParaRPr/>
          </a:p>
          <a:p>
            <a:pPr marL="0" lvl="0" indent="0" algn="l" rtl="0">
              <a:spcBef>
                <a:spcPts val="0"/>
              </a:spcBef>
              <a:spcAft>
                <a:spcPts val="0"/>
              </a:spcAft>
              <a:buNone/>
            </a:pPr>
            <a:r>
              <a:rPr lang="en"/>
              <a:t>Note: Pathogen magbead is about 20% cheaper than the regular magbead kit for 96 samples, mainly because Path kit does not include DNAseI while regular kit does have it.</a:t>
            </a:r>
            <a:endParaRPr/>
          </a:p>
        </p:txBody>
      </p:sp>
      <p:sp>
        <p:nvSpPr>
          <p:cNvPr id="356" name="Google Shape;356;g9fca2f9a9e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9f963b436_0_8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78" name="Google Shape;378;g89f963b436_0_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extraction, it’s important to assess sample quality, as that will have a major impact on the downstream steps of library preparation and eventually the quality of your sequencing data. Quality is defined by not only the concentration of nucleic acid, but also the length of your extracted DNA or RNA. The best way to measure concentration is by Qubit fluorometer. This will give you much more accurate values than a UV-absorbance based method, like the Nanodrop.</a:t>
            </a:r>
            <a:endParaRPr/>
          </a:p>
          <a:p>
            <a:pPr marL="0" lvl="0" indent="0" algn="l" rtl="0">
              <a:spcBef>
                <a:spcPts val="0"/>
              </a:spcBef>
              <a:spcAft>
                <a:spcPts val="0"/>
              </a:spcAft>
              <a:buNone/>
            </a:pPr>
            <a:r>
              <a:rPr lang="en"/>
              <a:t>To assess quality or length, capillary electrophoresis is the most sensitive method, using a Tapestation or a Bioanalyzer for example. But you could also do gel electrophoresis but you’ll lose more material with that. The graph on the right shows the profiles you can expect from samples with high to low RNA quality. If high quality, the ribosomal RNA peaks will be very prominent, either 28S and 18S when a lot of human RNA is present, or 23S and 16S when its mostly bacterial RNA. Some machines will automatically assign a RNA Integrity Number or RIN to samples, which are a measure for RNA quality. Knowing the quality of your RNA is important, as it will inform you on how long you you’ll need to fragment your nucleic acid in the first steps of library prep.</a:t>
            </a: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70843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9fca2f9a9e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89" name="Google Shape;389;g9fca2f9a9e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2" name="Google Shape;52;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3" name="Google Shape;53;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p:nvPr/>
        </p:nvSpPr>
        <p:spPr>
          <a:xfrm>
            <a:off x="0" y="-9"/>
            <a:ext cx="9144000" cy="6270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5" name="Google Shape;55;p13" descr=" Biohub Logo V2.pdf"/>
          <p:cNvPicPr preferRelativeResize="0"/>
          <p:nvPr/>
        </p:nvPicPr>
        <p:blipFill rotWithShape="1">
          <a:blip r:embed="rId2">
            <a:alphaModFix/>
          </a:blip>
          <a:srcRect l="24284" t="34386" r="58248" b="34255"/>
          <a:stretch/>
        </p:blipFill>
        <p:spPr>
          <a:xfrm>
            <a:off x="158122" y="48182"/>
            <a:ext cx="826758" cy="834871"/>
          </a:xfrm>
          <a:prstGeom prst="rect">
            <a:avLst/>
          </a:prstGeom>
          <a:noFill/>
          <a:ln>
            <a:noFill/>
          </a:ln>
          <a:effectLst>
            <a:outerShdw blurRad="50800" dist="38100" dir="2700000" algn="tl" rotWithShape="0">
              <a:srgbClr val="000000">
                <a:alpha val="40000"/>
              </a:srgbClr>
            </a:outerShdw>
          </a:effectLst>
        </p:spPr>
      </p:pic>
      <p:sp>
        <p:nvSpPr>
          <p:cNvPr id="56" name="Google Shape;56;p13"/>
          <p:cNvSpPr txBox="1">
            <a:spLocks noGrp="1"/>
          </p:cNvSpPr>
          <p:nvPr>
            <p:ph type="body" idx="1"/>
          </p:nvPr>
        </p:nvSpPr>
        <p:spPr>
          <a:xfrm>
            <a:off x="158353" y="995363"/>
            <a:ext cx="8853600" cy="3660000"/>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7" name="Google Shape;57;p13"/>
          <p:cNvSpPr txBox="1">
            <a:spLocks noGrp="1"/>
          </p:cNvSpPr>
          <p:nvPr>
            <p:ph type="body" idx="2"/>
          </p:nvPr>
        </p:nvSpPr>
        <p:spPr>
          <a:xfrm>
            <a:off x="1197769" y="48183"/>
            <a:ext cx="7003200" cy="550500"/>
          </a:xfrm>
          <a:prstGeom prst="rect">
            <a:avLst/>
          </a:prstGeom>
          <a:noFill/>
          <a:ln>
            <a:noFill/>
          </a:ln>
        </p:spPr>
        <p:txBody>
          <a:bodyPr spcFirstLastPara="1" wrap="square" lIns="68575" tIns="34275" rIns="68575" bIns="34275" anchor="ctr" anchorCtr="1">
            <a:noAutofit/>
          </a:bodyPr>
          <a:lstStyle>
            <a:lvl1pPr marL="457200" marR="0" lvl="0" indent="-228600" algn="l"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58"/>
        <p:cNvGrpSpPr/>
        <p:nvPr/>
      </p:nvGrpSpPr>
      <p:grpSpPr>
        <a:xfrm>
          <a:off x="0" y="0"/>
          <a:ext cx="0" cy="0"/>
          <a:chOff x="0" y="0"/>
          <a:chExt cx="0" cy="0"/>
        </a:xfrm>
      </p:grpSpPr>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Font typeface="Calibri"/>
              <a:buNone/>
              <a:defRPr sz="5200" b="1">
                <a:latin typeface="Calibri"/>
                <a:ea typeface="Calibri"/>
                <a:cs typeface="Calibri"/>
                <a:sym typeface="Calibri"/>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8" name="Google Shape;68;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i="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Font typeface="Calibri"/>
              <a:buNone/>
              <a:defRPr b="1">
                <a:latin typeface="Calibri"/>
                <a:ea typeface="Calibri"/>
                <a:cs typeface="Calibri"/>
                <a:sym typeface="Calibri"/>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p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0" name="Google Shape;80;p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1" name="Google Shape;8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2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8" name="Google Shape;8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 name="Google Shape;95;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6" name="Google Shape;96;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2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00" name="Google Shape;10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1"/>
        <p:cNvGrpSpPr/>
        <p:nvPr/>
      </p:nvGrpSpPr>
      <p:grpSpPr>
        <a:xfrm>
          <a:off x="0" y="0"/>
          <a:ext cx="0" cy="0"/>
          <a:chOff x="0" y="0"/>
          <a:chExt cx="0" cy="0"/>
        </a:xfrm>
      </p:grpSpPr>
      <p:sp>
        <p:nvSpPr>
          <p:cNvPr id="102" name="Google Shape;102;p2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3" name="Google Shape;103;p2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04" name="Google Shape;10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6">
  <p:cSld name="TITLE_AND_BODY_7">
    <p:spTree>
      <p:nvGrpSpPr>
        <p:cNvPr id="1" name="Shape 107"/>
        <p:cNvGrpSpPr/>
        <p:nvPr/>
      </p:nvGrpSpPr>
      <p:grpSpPr>
        <a:xfrm>
          <a:off x="0" y="0"/>
          <a:ext cx="0" cy="0"/>
          <a:chOff x="0" y="0"/>
          <a:chExt cx="0" cy="0"/>
        </a:xfrm>
      </p:grpSpPr>
      <p:sp>
        <p:nvSpPr>
          <p:cNvPr id="108" name="Google Shape;10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9" name="Google Shape;109;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111"/>
        <p:cNvGrpSpPr/>
        <p:nvPr/>
      </p:nvGrpSpPr>
      <p:grpSpPr>
        <a:xfrm>
          <a:off x="0" y="0"/>
          <a:ext cx="0" cy="0"/>
          <a:chOff x="0" y="0"/>
          <a:chExt cx="0" cy="0"/>
        </a:xfrm>
      </p:grpSpPr>
      <p:sp>
        <p:nvSpPr>
          <p:cNvPr id="112" name="Google Shape;112;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15" name="Google Shape;115;p28"/>
          <p:cNvSpPr/>
          <p:nvPr/>
        </p:nvSpPr>
        <p:spPr>
          <a:xfrm>
            <a:off x="0" y="-9"/>
            <a:ext cx="9144000" cy="6270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116" name="Google Shape;116;p28" descr=" Biohub Logo V2.pdf"/>
          <p:cNvPicPr preferRelativeResize="0"/>
          <p:nvPr/>
        </p:nvPicPr>
        <p:blipFill rotWithShape="1">
          <a:blip r:embed="rId2">
            <a:alphaModFix/>
          </a:blip>
          <a:srcRect l="24284" t="34386" r="58248" b="34255"/>
          <a:stretch/>
        </p:blipFill>
        <p:spPr>
          <a:xfrm>
            <a:off x="158122" y="48182"/>
            <a:ext cx="826758" cy="834874"/>
          </a:xfrm>
          <a:prstGeom prst="rect">
            <a:avLst/>
          </a:prstGeom>
          <a:noFill/>
          <a:ln>
            <a:noFill/>
          </a:ln>
          <a:effectLst>
            <a:outerShdw blurRad="50800" dist="38100" dir="2700000" algn="tl" rotWithShape="0">
              <a:srgbClr val="000000">
                <a:alpha val="40000"/>
              </a:srgbClr>
            </a:outerShdw>
          </a:effectLst>
        </p:spPr>
      </p:pic>
      <p:sp>
        <p:nvSpPr>
          <p:cNvPr id="117" name="Google Shape;117;p28"/>
          <p:cNvSpPr txBox="1">
            <a:spLocks noGrp="1"/>
          </p:cNvSpPr>
          <p:nvPr>
            <p:ph type="body" idx="1"/>
          </p:nvPr>
        </p:nvSpPr>
        <p:spPr>
          <a:xfrm>
            <a:off x="158354" y="995363"/>
            <a:ext cx="8853600" cy="3660000"/>
          </a:xfrm>
          <a:prstGeom prst="rect">
            <a:avLst/>
          </a:prstGeom>
          <a:noFill/>
          <a:ln>
            <a:noFill/>
          </a:ln>
        </p:spPr>
        <p:txBody>
          <a:bodyPr spcFirstLastPara="1" wrap="square" lIns="68575" tIns="34275" rIns="68575" bIns="34275" anchor="t" anchorCtr="0">
            <a:norm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2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200"/>
              </a:spcBef>
              <a:spcAft>
                <a:spcPts val="12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8" name="Google Shape;118;p28"/>
          <p:cNvSpPr txBox="1">
            <a:spLocks noGrp="1"/>
          </p:cNvSpPr>
          <p:nvPr>
            <p:ph type="body" idx="2"/>
          </p:nvPr>
        </p:nvSpPr>
        <p:spPr>
          <a:xfrm>
            <a:off x="1197769" y="48183"/>
            <a:ext cx="7003500" cy="550500"/>
          </a:xfrm>
          <a:prstGeom prst="rect">
            <a:avLst/>
          </a:prstGeom>
          <a:noFill/>
          <a:ln>
            <a:noFill/>
          </a:ln>
        </p:spPr>
        <p:txBody>
          <a:bodyPr spcFirstLastPara="1" wrap="square" lIns="68575" tIns="34275" rIns="68575" bIns="34275" anchor="ctr" anchorCtr="1">
            <a:normAutofit/>
          </a:bodyPr>
          <a:lstStyle>
            <a:lvl1pPr marL="457200" marR="0" lvl="0" indent="-228600" algn="l"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200"/>
              </a:spcBef>
              <a:spcAft>
                <a:spcPts val="12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19"/>
        <p:cNvGrpSpPr/>
        <p:nvPr/>
      </p:nvGrpSpPr>
      <p:grpSpPr>
        <a:xfrm>
          <a:off x="0" y="0"/>
          <a:ext cx="0" cy="0"/>
          <a:chOff x="0" y="0"/>
          <a:chExt cx="0" cy="0"/>
        </a:xfrm>
      </p:grpSpPr>
      <p:sp>
        <p:nvSpPr>
          <p:cNvPr id="120" name="Google Shape;120;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1" name="Google Shape;121;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2" name="Google Shape;122;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6.jp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jp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0"/>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9200" b="1" dirty="0" err="1">
                <a:solidFill>
                  <a:schemeClr val="dk2"/>
                </a:solidFill>
              </a:rPr>
              <a:t>mNGS</a:t>
            </a:r>
            <a:endParaRPr sz="9200" b="1" dirty="0">
              <a:solidFill>
                <a:schemeClr val="dk2"/>
              </a:solidFill>
            </a:endParaRPr>
          </a:p>
          <a:p>
            <a:pPr marL="0" lvl="0" indent="0" algn="ctr" rtl="0">
              <a:lnSpc>
                <a:spcPct val="115000"/>
              </a:lnSpc>
              <a:spcBef>
                <a:spcPts val="0"/>
              </a:spcBef>
              <a:spcAft>
                <a:spcPts val="0"/>
              </a:spcAft>
              <a:buNone/>
            </a:pPr>
            <a:r>
              <a:rPr lang="en" sz="3000" b="1" dirty="0">
                <a:solidFill>
                  <a:schemeClr val="dk2"/>
                </a:solidFill>
              </a:rPr>
              <a:t>Lab setup and sample preparation</a:t>
            </a:r>
            <a:endParaRPr sz="3000" b="1" dirty="0">
              <a:solidFill>
                <a:schemeClr val="dk2"/>
              </a:solidFill>
            </a:endParaRPr>
          </a:p>
        </p:txBody>
      </p:sp>
      <p:sp>
        <p:nvSpPr>
          <p:cNvPr id="2" name="TextBox 1">
            <a:extLst>
              <a:ext uri="{FF2B5EF4-FFF2-40B4-BE49-F238E27FC236}">
                <a16:creationId xmlns:a16="http://schemas.microsoft.com/office/drawing/2014/main" id="{D1F8965B-0F5C-8CA5-4BFE-C046753985F1}"/>
              </a:ext>
            </a:extLst>
          </p:cNvPr>
          <p:cNvSpPr txBox="1"/>
          <p:nvPr/>
        </p:nvSpPr>
        <p:spPr>
          <a:xfrm>
            <a:off x="6289040" y="4760362"/>
            <a:ext cx="2854960"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a:t>
            </a:r>
            <a:r>
              <a:rPr lang="en-US" sz="1000">
                <a:solidFill>
                  <a:schemeClr val="tx1">
                    <a:lumMod val="50000"/>
                    <a:lumOff val="50000"/>
                  </a:schemeClr>
                </a:solidFill>
                <a:latin typeface="Arial" panose="020B0604020202020204" pitchFamily="34" charset="0"/>
                <a:cs typeface="Arial" panose="020B0604020202020204" pitchFamily="34" charset="0"/>
              </a:rPr>
              <a:t>– Updated September 2026</a:t>
            </a:r>
            <a:endParaRPr lang="en-US" sz="1000" dirty="0">
              <a:solidFill>
                <a:schemeClr val="tx1">
                  <a:lumMod val="50000"/>
                  <a:lumOff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Key points to learn in this session</a:t>
            </a:r>
            <a:endParaRPr dirty="0"/>
          </a:p>
        </p:txBody>
      </p:sp>
      <p:sp>
        <p:nvSpPr>
          <p:cNvPr id="135" name="Google Shape;135;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Sequencing technologies</a:t>
            </a:r>
            <a:endParaRPr dirty="0"/>
          </a:p>
          <a:p>
            <a:pPr marL="457200" lvl="0" indent="-342900" algn="l" rtl="0">
              <a:spcBef>
                <a:spcPts val="0"/>
              </a:spcBef>
              <a:spcAft>
                <a:spcPts val="0"/>
              </a:spcAft>
              <a:buSzPts val="1800"/>
              <a:buChar char="●"/>
            </a:pPr>
            <a:r>
              <a:rPr lang="en" dirty="0"/>
              <a:t>Lab setup &amp; sample collection </a:t>
            </a:r>
            <a:endParaRPr dirty="0"/>
          </a:p>
          <a:p>
            <a:pPr marL="457200" lvl="0" indent="-342900" algn="l" rtl="0">
              <a:spcBef>
                <a:spcPts val="0"/>
              </a:spcBef>
              <a:spcAft>
                <a:spcPts val="0"/>
              </a:spcAft>
              <a:buSzPts val="1800"/>
              <a:buChar char="●"/>
            </a:pPr>
            <a:r>
              <a:rPr lang="en" dirty="0"/>
              <a:t>Nucleic acid extraction</a:t>
            </a:r>
          </a:p>
          <a:p>
            <a:pPr marL="457200" lvl="0" indent="-342900" algn="l" rtl="0">
              <a:spcBef>
                <a:spcPts val="0"/>
              </a:spcBef>
              <a:spcAft>
                <a:spcPts val="0"/>
              </a:spcAft>
              <a:buSzPts val="1800"/>
              <a:buChar char="●"/>
            </a:pPr>
            <a:r>
              <a:rPr lang="en" dirty="0"/>
              <a:t>Extraction QC</a:t>
            </a:r>
            <a:endParaRPr dirty="0"/>
          </a:p>
          <a:p>
            <a:pPr marL="114300" lvl="0" indent="0" algn="l" rtl="0">
              <a:spcBef>
                <a:spcPts val="0"/>
              </a:spcBef>
              <a:spcAft>
                <a:spcPts val="0"/>
              </a:spcAft>
              <a:buSzPts val="1800"/>
              <a:buNone/>
            </a:pPr>
            <a:endParaRPr lang="en" dirty="0"/>
          </a:p>
          <a:p>
            <a:pPr marL="114300" lvl="0" indent="0" algn="l" rtl="0">
              <a:spcBef>
                <a:spcPts val="0"/>
              </a:spcBef>
              <a:spcAft>
                <a:spcPts val="0"/>
              </a:spcAft>
              <a:buSzPts val="1800"/>
              <a:buNone/>
            </a:pPr>
            <a:endParaRPr dirty="0"/>
          </a:p>
          <a:p>
            <a:pPr marL="0" lvl="0" indent="0" algn="l" rtl="0">
              <a:spcBef>
                <a:spcPts val="1200"/>
              </a:spcBef>
              <a:spcAft>
                <a:spcPts val="12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2"/>
          <p:cNvSpPr/>
          <p:nvPr/>
        </p:nvSpPr>
        <p:spPr>
          <a:xfrm>
            <a:off x="337700" y="9376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2"/>
          <p:cNvSpPr txBox="1">
            <a:spLocks noGrp="1"/>
          </p:cNvSpPr>
          <p:nvPr>
            <p:ph type="title"/>
          </p:nvPr>
        </p:nvSpPr>
        <p:spPr>
          <a:xfrm>
            <a:off x="2065200" y="973675"/>
            <a:ext cx="4755600" cy="88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400" b="1">
                <a:solidFill>
                  <a:schemeClr val="accent1"/>
                </a:solidFill>
              </a:rPr>
              <a:t>mNGS pipeline</a:t>
            </a:r>
            <a:endParaRPr sz="4400" b="1">
              <a:solidFill>
                <a:schemeClr val="accent1"/>
              </a:solidFill>
            </a:endParaRPr>
          </a:p>
        </p:txBody>
      </p:sp>
      <p:sp>
        <p:nvSpPr>
          <p:cNvPr id="143" name="Google Shape;143;p32"/>
          <p:cNvSpPr txBox="1"/>
          <p:nvPr/>
        </p:nvSpPr>
        <p:spPr>
          <a:xfrm>
            <a:off x="250750"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144" name="Google Shape;144;p32"/>
          <p:cNvSpPr txBox="1"/>
          <p:nvPr/>
        </p:nvSpPr>
        <p:spPr>
          <a:xfrm>
            <a:off x="1640775"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Nucleic acid extraction</a:t>
            </a:r>
            <a:endParaRPr/>
          </a:p>
        </p:txBody>
      </p:sp>
      <p:sp>
        <p:nvSpPr>
          <p:cNvPr id="145" name="Google Shape;145;p32"/>
          <p:cNvSpPr txBox="1"/>
          <p:nvPr/>
        </p:nvSpPr>
        <p:spPr>
          <a:xfrm>
            <a:off x="2950075"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146" name="Google Shape;146;p32"/>
          <p:cNvSpPr txBox="1"/>
          <p:nvPr/>
        </p:nvSpPr>
        <p:spPr>
          <a:xfrm>
            <a:off x="4592180"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147" name="Google Shape;147;p32"/>
          <p:cNvSpPr txBox="1"/>
          <p:nvPr/>
        </p:nvSpPr>
        <p:spPr>
          <a:xfrm>
            <a:off x="613261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pic>
        <p:nvPicPr>
          <p:cNvPr id="148" name="Google Shape;148;p32"/>
          <p:cNvPicPr preferRelativeResize="0"/>
          <p:nvPr/>
        </p:nvPicPr>
        <p:blipFill rotWithShape="1">
          <a:blip r:embed="rId3">
            <a:alphaModFix/>
          </a:blip>
          <a:srcRect l="14551" r="17610" b="13941"/>
          <a:stretch/>
        </p:blipFill>
        <p:spPr>
          <a:xfrm>
            <a:off x="4679550" y="2582100"/>
            <a:ext cx="1126125" cy="959049"/>
          </a:xfrm>
          <a:prstGeom prst="rect">
            <a:avLst/>
          </a:prstGeom>
          <a:noFill/>
          <a:ln>
            <a:noFill/>
          </a:ln>
        </p:spPr>
      </p:pic>
      <p:grpSp>
        <p:nvGrpSpPr>
          <p:cNvPr id="149" name="Google Shape;149;p32"/>
          <p:cNvGrpSpPr/>
          <p:nvPr/>
        </p:nvGrpSpPr>
        <p:grpSpPr>
          <a:xfrm>
            <a:off x="6241847" y="2675987"/>
            <a:ext cx="1126132" cy="877745"/>
            <a:chOff x="5059375" y="3618825"/>
            <a:chExt cx="1583426" cy="1234175"/>
          </a:xfrm>
        </p:grpSpPr>
        <p:pic>
          <p:nvPicPr>
            <p:cNvPr id="150" name="Google Shape;150;p32" descr="A screenshot of a cell phone&#10;&#10;Description automatically generated"/>
            <p:cNvPicPr preferRelativeResize="0"/>
            <p:nvPr/>
          </p:nvPicPr>
          <p:blipFill rotWithShape="1">
            <a:blip r:embed="rId4">
              <a:alphaModFix/>
            </a:blip>
            <a:srcRect l="47032" t="64642" r="26637" b="6039"/>
            <a:stretch/>
          </p:blipFill>
          <p:spPr>
            <a:xfrm>
              <a:off x="5059375" y="3618825"/>
              <a:ext cx="1583426" cy="1234175"/>
            </a:xfrm>
            <a:prstGeom prst="rect">
              <a:avLst/>
            </a:prstGeom>
            <a:noFill/>
            <a:ln>
              <a:noFill/>
            </a:ln>
          </p:spPr>
        </p:pic>
        <p:sp>
          <p:nvSpPr>
            <p:cNvPr id="151" name="Google Shape;151;p32"/>
            <p:cNvSpPr/>
            <p:nvPr/>
          </p:nvSpPr>
          <p:spPr>
            <a:xfrm>
              <a:off x="5111211" y="3670860"/>
              <a:ext cx="1459500" cy="8322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2" name="Google Shape;152;p32"/>
          <p:cNvPicPr preferRelativeResize="0"/>
          <p:nvPr/>
        </p:nvPicPr>
        <p:blipFill rotWithShape="1">
          <a:blip r:embed="rId5">
            <a:alphaModFix/>
          </a:blip>
          <a:srcRect l="13069" t="15507" r="15081" b="13226"/>
          <a:stretch/>
        </p:blipFill>
        <p:spPr>
          <a:xfrm>
            <a:off x="379113" y="2600500"/>
            <a:ext cx="871875" cy="1028700"/>
          </a:xfrm>
          <a:prstGeom prst="rect">
            <a:avLst/>
          </a:prstGeom>
          <a:noFill/>
          <a:ln>
            <a:noFill/>
          </a:ln>
        </p:spPr>
      </p:pic>
      <p:pic>
        <p:nvPicPr>
          <p:cNvPr id="153" name="Google Shape;153;p32"/>
          <p:cNvPicPr preferRelativeResize="0"/>
          <p:nvPr/>
        </p:nvPicPr>
        <p:blipFill>
          <a:blip r:embed="rId6">
            <a:alphaModFix/>
          </a:blip>
          <a:stretch>
            <a:fillRect/>
          </a:stretch>
        </p:blipFill>
        <p:spPr>
          <a:xfrm rot="1149689">
            <a:off x="1852263" y="2799463"/>
            <a:ext cx="607525" cy="727926"/>
          </a:xfrm>
          <a:prstGeom prst="rect">
            <a:avLst/>
          </a:prstGeom>
          <a:noFill/>
          <a:ln>
            <a:noFill/>
          </a:ln>
        </p:spPr>
      </p:pic>
      <p:pic>
        <p:nvPicPr>
          <p:cNvPr id="154" name="Google Shape;154;p32"/>
          <p:cNvPicPr preferRelativeResize="0"/>
          <p:nvPr/>
        </p:nvPicPr>
        <p:blipFill rotWithShape="1">
          <a:blip r:embed="rId7">
            <a:alphaModFix/>
          </a:blip>
          <a:srcRect b="50614"/>
          <a:stretch/>
        </p:blipFill>
        <p:spPr>
          <a:xfrm>
            <a:off x="2884550" y="2751866"/>
            <a:ext cx="1344551" cy="725959"/>
          </a:xfrm>
          <a:prstGeom prst="rect">
            <a:avLst/>
          </a:prstGeom>
          <a:noFill/>
          <a:ln>
            <a:noFill/>
          </a:ln>
        </p:spPr>
      </p:pic>
      <p:cxnSp>
        <p:nvCxnSpPr>
          <p:cNvPr id="155" name="Google Shape;155;p32"/>
          <p:cNvCxnSpPr/>
          <p:nvPr/>
        </p:nvCxnSpPr>
        <p:spPr>
          <a:xfrm rot="10800000" flipH="1">
            <a:off x="7638150" y="31051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156" name="Google Shape;156;p32"/>
          <p:cNvGrpSpPr/>
          <p:nvPr/>
        </p:nvGrpSpPr>
        <p:grpSpPr>
          <a:xfrm>
            <a:off x="7765375" y="2437625"/>
            <a:ext cx="1252725" cy="1357550"/>
            <a:chOff x="7841575" y="1370825"/>
            <a:chExt cx="1252725" cy="1357550"/>
          </a:xfrm>
        </p:grpSpPr>
        <p:sp>
          <p:nvSpPr>
            <p:cNvPr id="157" name="Google Shape;157;p32"/>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32"/>
            <p:cNvPicPr preferRelativeResize="0"/>
            <p:nvPr/>
          </p:nvPicPr>
          <p:blipFill>
            <a:blip r:embed="rId8">
              <a:alphaModFix/>
            </a:blip>
            <a:stretch>
              <a:fillRect/>
            </a:stretch>
          </p:blipFill>
          <p:spPr>
            <a:xfrm>
              <a:off x="8147262" y="1685076"/>
              <a:ext cx="502137" cy="725949"/>
            </a:xfrm>
            <a:prstGeom prst="rect">
              <a:avLst/>
            </a:prstGeom>
            <a:noFill/>
            <a:ln>
              <a:noFill/>
            </a:ln>
          </p:spPr>
        </p:pic>
        <p:sp>
          <p:nvSpPr>
            <p:cNvPr id="159" name="Google Shape;159;p32"/>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0" name="Google Shape;160;p32"/>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61" name="Google Shape;161;p32"/>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62" name="Google Shape;162;p32"/>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163" name="Google Shape;163;p32"/>
          <p:cNvSpPr txBox="1"/>
          <p:nvPr/>
        </p:nvSpPr>
        <p:spPr>
          <a:xfrm>
            <a:off x="765036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3"/>
          <p:cNvSpPr/>
          <p:nvPr/>
        </p:nvSpPr>
        <p:spPr>
          <a:xfrm>
            <a:off x="337700" y="9376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3"/>
          <p:cNvSpPr txBox="1">
            <a:spLocks noGrp="1"/>
          </p:cNvSpPr>
          <p:nvPr>
            <p:ph type="title"/>
          </p:nvPr>
        </p:nvSpPr>
        <p:spPr>
          <a:xfrm>
            <a:off x="2065200" y="973675"/>
            <a:ext cx="4755600" cy="88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400" b="1">
                <a:solidFill>
                  <a:schemeClr val="accent1"/>
                </a:solidFill>
              </a:rPr>
              <a:t>mNGS pipeline</a:t>
            </a:r>
            <a:endParaRPr sz="4400" b="1">
              <a:solidFill>
                <a:schemeClr val="accent1"/>
              </a:solidFill>
            </a:endParaRPr>
          </a:p>
        </p:txBody>
      </p:sp>
      <p:sp>
        <p:nvSpPr>
          <p:cNvPr id="170" name="Google Shape;170;p33"/>
          <p:cNvSpPr txBox="1"/>
          <p:nvPr/>
        </p:nvSpPr>
        <p:spPr>
          <a:xfrm>
            <a:off x="250750"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171" name="Google Shape;171;p33"/>
          <p:cNvSpPr txBox="1"/>
          <p:nvPr/>
        </p:nvSpPr>
        <p:spPr>
          <a:xfrm>
            <a:off x="1640775"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Nucleic acid extraction</a:t>
            </a:r>
            <a:endParaRPr/>
          </a:p>
        </p:txBody>
      </p:sp>
      <p:sp>
        <p:nvSpPr>
          <p:cNvPr id="172" name="Google Shape;172;p33"/>
          <p:cNvSpPr txBox="1"/>
          <p:nvPr/>
        </p:nvSpPr>
        <p:spPr>
          <a:xfrm>
            <a:off x="2950075"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173" name="Google Shape;173;p33"/>
          <p:cNvSpPr txBox="1"/>
          <p:nvPr/>
        </p:nvSpPr>
        <p:spPr>
          <a:xfrm>
            <a:off x="4592180"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174" name="Google Shape;174;p33"/>
          <p:cNvSpPr txBox="1"/>
          <p:nvPr/>
        </p:nvSpPr>
        <p:spPr>
          <a:xfrm>
            <a:off x="613261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pic>
        <p:nvPicPr>
          <p:cNvPr id="175" name="Google Shape;175;p33"/>
          <p:cNvPicPr preferRelativeResize="0"/>
          <p:nvPr/>
        </p:nvPicPr>
        <p:blipFill rotWithShape="1">
          <a:blip r:embed="rId3">
            <a:alphaModFix/>
          </a:blip>
          <a:srcRect l="14551" r="17610" b="13941"/>
          <a:stretch/>
        </p:blipFill>
        <p:spPr>
          <a:xfrm>
            <a:off x="4679550" y="2582100"/>
            <a:ext cx="1126125" cy="959049"/>
          </a:xfrm>
          <a:prstGeom prst="rect">
            <a:avLst/>
          </a:prstGeom>
          <a:noFill/>
          <a:ln>
            <a:noFill/>
          </a:ln>
        </p:spPr>
      </p:pic>
      <p:grpSp>
        <p:nvGrpSpPr>
          <p:cNvPr id="176" name="Google Shape;176;p33"/>
          <p:cNvGrpSpPr/>
          <p:nvPr/>
        </p:nvGrpSpPr>
        <p:grpSpPr>
          <a:xfrm>
            <a:off x="6241847" y="2675987"/>
            <a:ext cx="1126132" cy="877745"/>
            <a:chOff x="5059375" y="3618825"/>
            <a:chExt cx="1583426" cy="1234175"/>
          </a:xfrm>
        </p:grpSpPr>
        <p:pic>
          <p:nvPicPr>
            <p:cNvPr id="177" name="Google Shape;177;p33" descr="A screenshot of a cell phone&#10;&#10;Description automatically generated"/>
            <p:cNvPicPr preferRelativeResize="0"/>
            <p:nvPr/>
          </p:nvPicPr>
          <p:blipFill rotWithShape="1">
            <a:blip r:embed="rId4">
              <a:alphaModFix/>
            </a:blip>
            <a:srcRect l="47032" t="64642" r="26637" b="6039"/>
            <a:stretch/>
          </p:blipFill>
          <p:spPr>
            <a:xfrm>
              <a:off x="5059375" y="3618825"/>
              <a:ext cx="1583426" cy="1234175"/>
            </a:xfrm>
            <a:prstGeom prst="rect">
              <a:avLst/>
            </a:prstGeom>
            <a:noFill/>
            <a:ln>
              <a:noFill/>
            </a:ln>
          </p:spPr>
        </p:pic>
        <p:sp>
          <p:nvSpPr>
            <p:cNvPr id="178" name="Google Shape;178;p33"/>
            <p:cNvSpPr/>
            <p:nvPr/>
          </p:nvSpPr>
          <p:spPr>
            <a:xfrm>
              <a:off x="5111211" y="3670860"/>
              <a:ext cx="1459500" cy="8322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9" name="Google Shape;179;p33"/>
          <p:cNvPicPr preferRelativeResize="0"/>
          <p:nvPr/>
        </p:nvPicPr>
        <p:blipFill rotWithShape="1">
          <a:blip r:embed="rId5">
            <a:alphaModFix/>
          </a:blip>
          <a:srcRect l="13069" t="15507" r="15081" b="13226"/>
          <a:stretch/>
        </p:blipFill>
        <p:spPr>
          <a:xfrm>
            <a:off x="379113" y="2600500"/>
            <a:ext cx="871875" cy="1028700"/>
          </a:xfrm>
          <a:prstGeom prst="rect">
            <a:avLst/>
          </a:prstGeom>
          <a:noFill/>
          <a:ln>
            <a:noFill/>
          </a:ln>
        </p:spPr>
      </p:pic>
      <p:pic>
        <p:nvPicPr>
          <p:cNvPr id="180" name="Google Shape;180;p33"/>
          <p:cNvPicPr preferRelativeResize="0"/>
          <p:nvPr/>
        </p:nvPicPr>
        <p:blipFill>
          <a:blip r:embed="rId6">
            <a:alphaModFix/>
          </a:blip>
          <a:stretch>
            <a:fillRect/>
          </a:stretch>
        </p:blipFill>
        <p:spPr>
          <a:xfrm rot="1149689">
            <a:off x="1852263" y="2799463"/>
            <a:ext cx="607525" cy="727926"/>
          </a:xfrm>
          <a:prstGeom prst="rect">
            <a:avLst/>
          </a:prstGeom>
          <a:noFill/>
          <a:ln>
            <a:noFill/>
          </a:ln>
        </p:spPr>
      </p:pic>
      <p:pic>
        <p:nvPicPr>
          <p:cNvPr id="181" name="Google Shape;181;p33"/>
          <p:cNvPicPr preferRelativeResize="0"/>
          <p:nvPr/>
        </p:nvPicPr>
        <p:blipFill rotWithShape="1">
          <a:blip r:embed="rId7">
            <a:alphaModFix/>
          </a:blip>
          <a:srcRect b="50614"/>
          <a:stretch/>
        </p:blipFill>
        <p:spPr>
          <a:xfrm>
            <a:off x="2884550" y="2751866"/>
            <a:ext cx="1344551" cy="725959"/>
          </a:xfrm>
          <a:prstGeom prst="rect">
            <a:avLst/>
          </a:prstGeom>
          <a:noFill/>
          <a:ln>
            <a:noFill/>
          </a:ln>
        </p:spPr>
      </p:pic>
      <p:cxnSp>
        <p:nvCxnSpPr>
          <p:cNvPr id="182" name="Google Shape;182;p33"/>
          <p:cNvCxnSpPr/>
          <p:nvPr/>
        </p:nvCxnSpPr>
        <p:spPr>
          <a:xfrm rot="10800000" flipH="1">
            <a:off x="7638150" y="31051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183" name="Google Shape;183;p33"/>
          <p:cNvGrpSpPr/>
          <p:nvPr/>
        </p:nvGrpSpPr>
        <p:grpSpPr>
          <a:xfrm>
            <a:off x="7765375" y="2437625"/>
            <a:ext cx="1252725" cy="1357550"/>
            <a:chOff x="7841575" y="1370825"/>
            <a:chExt cx="1252725" cy="1357550"/>
          </a:xfrm>
        </p:grpSpPr>
        <p:sp>
          <p:nvSpPr>
            <p:cNvPr id="184" name="Google Shape;184;p33"/>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5" name="Google Shape;185;p33"/>
            <p:cNvPicPr preferRelativeResize="0"/>
            <p:nvPr/>
          </p:nvPicPr>
          <p:blipFill>
            <a:blip r:embed="rId8">
              <a:alphaModFix/>
            </a:blip>
            <a:stretch>
              <a:fillRect/>
            </a:stretch>
          </p:blipFill>
          <p:spPr>
            <a:xfrm>
              <a:off x="8147262" y="1685076"/>
              <a:ext cx="502137" cy="725949"/>
            </a:xfrm>
            <a:prstGeom prst="rect">
              <a:avLst/>
            </a:prstGeom>
            <a:noFill/>
            <a:ln>
              <a:noFill/>
            </a:ln>
          </p:spPr>
        </p:pic>
        <p:sp>
          <p:nvSpPr>
            <p:cNvPr id="186" name="Google Shape;186;p33"/>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33"/>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88" name="Google Shape;188;p33"/>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89" name="Google Shape;189;p33"/>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190" name="Google Shape;190;p33"/>
          <p:cNvSpPr txBox="1"/>
          <p:nvPr/>
        </p:nvSpPr>
        <p:spPr>
          <a:xfrm>
            <a:off x="765036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191" name="Google Shape;191;p33"/>
          <p:cNvSpPr/>
          <p:nvPr/>
        </p:nvSpPr>
        <p:spPr>
          <a:xfrm>
            <a:off x="1599450" y="1997100"/>
            <a:ext cx="4255200" cy="16845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2" name="Google Shape;192;p33"/>
          <p:cNvCxnSpPr/>
          <p:nvPr/>
        </p:nvCxnSpPr>
        <p:spPr>
          <a:xfrm>
            <a:off x="3611325" y="3681600"/>
            <a:ext cx="9000" cy="432600"/>
          </a:xfrm>
          <a:prstGeom prst="straightConnector1">
            <a:avLst/>
          </a:prstGeom>
          <a:noFill/>
          <a:ln w="19050" cap="flat" cmpd="sng">
            <a:solidFill>
              <a:schemeClr val="dk2"/>
            </a:solidFill>
            <a:prstDash val="solid"/>
            <a:round/>
            <a:headEnd type="none" w="med" len="med"/>
            <a:tailEnd type="triangle" w="med" len="med"/>
          </a:ln>
        </p:spPr>
      </p:cxnSp>
      <p:sp>
        <p:nvSpPr>
          <p:cNvPr id="193" name="Google Shape;193;p33"/>
          <p:cNvSpPr txBox="1"/>
          <p:nvPr/>
        </p:nvSpPr>
        <p:spPr>
          <a:xfrm>
            <a:off x="1924425" y="4114200"/>
            <a:ext cx="33828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Depends on sequencing platform</a:t>
            </a:r>
            <a:endParaRPr/>
          </a:p>
          <a:p>
            <a:pPr marL="0" lvl="0" indent="0" algn="ctr" rtl="0">
              <a:spcBef>
                <a:spcPts val="0"/>
              </a:spcBef>
              <a:spcAft>
                <a:spcPts val="0"/>
              </a:spcAft>
              <a:buNone/>
            </a:pPr>
            <a:r>
              <a:rPr lang="en"/>
              <a:t>Happens in lab space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4"/>
          <p:cNvSpPr/>
          <p:nvPr/>
        </p:nvSpPr>
        <p:spPr>
          <a:xfrm>
            <a:off x="337700" y="9376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4"/>
          <p:cNvSpPr txBox="1">
            <a:spLocks noGrp="1"/>
          </p:cNvSpPr>
          <p:nvPr>
            <p:ph type="title"/>
          </p:nvPr>
        </p:nvSpPr>
        <p:spPr>
          <a:xfrm>
            <a:off x="2065200" y="973675"/>
            <a:ext cx="4755600" cy="88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400" b="1">
                <a:solidFill>
                  <a:schemeClr val="accent1"/>
                </a:solidFill>
              </a:rPr>
              <a:t>mNGS pipeline</a:t>
            </a:r>
            <a:endParaRPr sz="4400" b="1">
              <a:solidFill>
                <a:schemeClr val="accent1"/>
              </a:solidFill>
            </a:endParaRPr>
          </a:p>
        </p:txBody>
      </p:sp>
      <p:sp>
        <p:nvSpPr>
          <p:cNvPr id="200" name="Google Shape;200;p34"/>
          <p:cNvSpPr txBox="1"/>
          <p:nvPr/>
        </p:nvSpPr>
        <p:spPr>
          <a:xfrm>
            <a:off x="1640775"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Nucleic acid extraction</a:t>
            </a:r>
            <a:endParaRPr/>
          </a:p>
        </p:txBody>
      </p:sp>
      <p:sp>
        <p:nvSpPr>
          <p:cNvPr id="201" name="Google Shape;201;p34"/>
          <p:cNvSpPr txBox="1"/>
          <p:nvPr/>
        </p:nvSpPr>
        <p:spPr>
          <a:xfrm>
            <a:off x="2950075"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202" name="Google Shape;202;p34"/>
          <p:cNvSpPr txBox="1"/>
          <p:nvPr/>
        </p:nvSpPr>
        <p:spPr>
          <a:xfrm>
            <a:off x="4592180"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pic>
        <p:nvPicPr>
          <p:cNvPr id="203" name="Google Shape;203;p34"/>
          <p:cNvPicPr preferRelativeResize="0"/>
          <p:nvPr/>
        </p:nvPicPr>
        <p:blipFill rotWithShape="1">
          <a:blip r:embed="rId3">
            <a:alphaModFix/>
          </a:blip>
          <a:srcRect l="14551" r="17610" b="13941"/>
          <a:stretch/>
        </p:blipFill>
        <p:spPr>
          <a:xfrm>
            <a:off x="4679550" y="2582100"/>
            <a:ext cx="1126125" cy="959049"/>
          </a:xfrm>
          <a:prstGeom prst="rect">
            <a:avLst/>
          </a:prstGeom>
          <a:noFill/>
          <a:ln>
            <a:noFill/>
          </a:ln>
        </p:spPr>
      </p:pic>
      <p:pic>
        <p:nvPicPr>
          <p:cNvPr id="204" name="Google Shape;204;p34"/>
          <p:cNvPicPr preferRelativeResize="0"/>
          <p:nvPr/>
        </p:nvPicPr>
        <p:blipFill>
          <a:blip r:embed="rId4">
            <a:alphaModFix/>
          </a:blip>
          <a:stretch>
            <a:fillRect/>
          </a:stretch>
        </p:blipFill>
        <p:spPr>
          <a:xfrm rot="1149689">
            <a:off x="1852263" y="2799463"/>
            <a:ext cx="607525" cy="727926"/>
          </a:xfrm>
          <a:prstGeom prst="rect">
            <a:avLst/>
          </a:prstGeom>
          <a:noFill/>
          <a:ln>
            <a:noFill/>
          </a:ln>
        </p:spPr>
      </p:pic>
      <p:pic>
        <p:nvPicPr>
          <p:cNvPr id="205" name="Google Shape;205;p34"/>
          <p:cNvPicPr preferRelativeResize="0"/>
          <p:nvPr/>
        </p:nvPicPr>
        <p:blipFill rotWithShape="1">
          <a:blip r:embed="rId5">
            <a:alphaModFix/>
          </a:blip>
          <a:srcRect b="50614"/>
          <a:stretch/>
        </p:blipFill>
        <p:spPr>
          <a:xfrm>
            <a:off x="2884550" y="2751866"/>
            <a:ext cx="1344551" cy="725959"/>
          </a:xfrm>
          <a:prstGeom prst="rect">
            <a:avLst/>
          </a:prstGeom>
          <a:noFill/>
          <a:ln>
            <a:noFill/>
          </a:ln>
        </p:spPr>
      </p:pic>
      <p:sp>
        <p:nvSpPr>
          <p:cNvPr id="206" name="Google Shape;206;p34"/>
          <p:cNvSpPr/>
          <p:nvPr/>
        </p:nvSpPr>
        <p:spPr>
          <a:xfrm>
            <a:off x="1599450" y="1997100"/>
            <a:ext cx="4255200" cy="1684500"/>
          </a:xfrm>
          <a:prstGeom prst="rect">
            <a:avLst/>
          </a:prstGeom>
          <a:solidFill>
            <a:srgbClr val="FFFFFF">
              <a:alpha val="85710"/>
            </a:srgbClr>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7" name="Google Shape;207;p34"/>
          <p:cNvCxnSpPr/>
          <p:nvPr/>
        </p:nvCxnSpPr>
        <p:spPr>
          <a:xfrm>
            <a:off x="3611325" y="3681600"/>
            <a:ext cx="9000" cy="432600"/>
          </a:xfrm>
          <a:prstGeom prst="straightConnector1">
            <a:avLst/>
          </a:prstGeom>
          <a:noFill/>
          <a:ln w="19050" cap="flat" cmpd="sng">
            <a:solidFill>
              <a:schemeClr val="dk2"/>
            </a:solidFill>
            <a:prstDash val="solid"/>
            <a:round/>
            <a:headEnd type="none" w="med" len="med"/>
            <a:tailEnd type="triangle" w="med" len="med"/>
          </a:ln>
        </p:spPr>
      </p:cxnSp>
      <p:sp>
        <p:nvSpPr>
          <p:cNvPr id="208" name="Google Shape;208;p34"/>
          <p:cNvSpPr txBox="1"/>
          <p:nvPr/>
        </p:nvSpPr>
        <p:spPr>
          <a:xfrm>
            <a:off x="1924425" y="4114200"/>
            <a:ext cx="33828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Let’s talk about sequencing platforms and lab spaces!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7"/>
          <p:cNvSpPr txBox="1">
            <a:spLocks noGrp="1"/>
          </p:cNvSpPr>
          <p:nvPr>
            <p:ph type="title"/>
          </p:nvPr>
        </p:nvSpPr>
        <p:spPr>
          <a:xfrm>
            <a:off x="311700" y="8350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020">
                <a:solidFill>
                  <a:schemeClr val="accent1"/>
                </a:solidFill>
              </a:rPr>
              <a:t>Important considerations for setting up a lab &amp; collecting samples for mNGS</a:t>
            </a:r>
            <a:endParaRPr sz="2020">
              <a:solidFill>
                <a:schemeClr val="accent1"/>
              </a:solidFill>
            </a:endParaRPr>
          </a:p>
        </p:txBody>
      </p:sp>
      <p:sp>
        <p:nvSpPr>
          <p:cNvPr id="255" name="Google Shape;255;p37"/>
          <p:cNvSpPr txBox="1">
            <a:spLocks noGrp="1"/>
          </p:cNvSpPr>
          <p:nvPr>
            <p:ph type="body" idx="1"/>
          </p:nvPr>
        </p:nvSpPr>
        <p:spPr>
          <a:xfrm>
            <a:off x="311700" y="1556325"/>
            <a:ext cx="83418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b="1" dirty="0"/>
              <a:t>Concern: </a:t>
            </a:r>
            <a:r>
              <a:rPr lang="en" dirty="0"/>
              <a:t>Working with infectious agents</a:t>
            </a:r>
            <a:endParaRPr dirty="0"/>
          </a:p>
          <a:p>
            <a:pPr marL="0" lvl="0" indent="0" algn="l" rtl="0">
              <a:spcBef>
                <a:spcPts val="1200"/>
              </a:spcBef>
              <a:spcAft>
                <a:spcPts val="0"/>
              </a:spcAft>
              <a:buNone/>
            </a:pPr>
            <a:r>
              <a:rPr lang="en" dirty="0"/>
              <a:t>	</a:t>
            </a:r>
            <a:r>
              <a:rPr lang="en" b="1" dirty="0"/>
              <a:t>Solution: </a:t>
            </a:r>
            <a:r>
              <a:rPr lang="en" dirty="0"/>
              <a:t>inactivate with DNA/RNA shield</a:t>
            </a:r>
            <a:endParaRPr dirty="0"/>
          </a:p>
          <a:p>
            <a:pPr marL="0" lvl="0" indent="0" algn="l" rtl="0">
              <a:spcBef>
                <a:spcPts val="1200"/>
              </a:spcBef>
              <a:spcAft>
                <a:spcPts val="0"/>
              </a:spcAft>
              <a:buNone/>
            </a:pPr>
            <a:r>
              <a:rPr lang="en" b="1" dirty="0"/>
              <a:t>Concern: </a:t>
            </a:r>
            <a:r>
              <a:rPr lang="en" dirty="0"/>
              <a:t>Preserving sample/nucleic acid integrity</a:t>
            </a:r>
            <a:endParaRPr dirty="0"/>
          </a:p>
          <a:p>
            <a:pPr marL="457200" lvl="0" indent="0" algn="l" rtl="0">
              <a:spcBef>
                <a:spcPts val="1200"/>
              </a:spcBef>
              <a:spcAft>
                <a:spcPts val="0"/>
              </a:spcAft>
              <a:buNone/>
            </a:pPr>
            <a:r>
              <a:rPr lang="en" b="1" dirty="0"/>
              <a:t>Solution: </a:t>
            </a:r>
            <a:r>
              <a:rPr lang="en" dirty="0"/>
              <a:t>Maintain cold chain or use DNA/RNA shield, minimize freeze-thaws, prevent </a:t>
            </a:r>
            <a:r>
              <a:rPr lang="en" dirty="0" err="1"/>
              <a:t>RNAse</a:t>
            </a:r>
            <a:r>
              <a:rPr lang="en" dirty="0"/>
              <a:t> contamination</a:t>
            </a:r>
            <a:endParaRPr dirty="0"/>
          </a:p>
          <a:p>
            <a:pPr marL="0" lvl="0" indent="0" algn="l" rtl="0">
              <a:spcBef>
                <a:spcPts val="1200"/>
              </a:spcBef>
              <a:spcAft>
                <a:spcPts val="0"/>
              </a:spcAft>
              <a:buNone/>
            </a:pPr>
            <a:r>
              <a:rPr lang="en" b="1" dirty="0"/>
              <a:t>Concern: </a:t>
            </a:r>
            <a:r>
              <a:rPr lang="en" dirty="0"/>
              <a:t>Cross contamination - </a:t>
            </a:r>
            <a:r>
              <a:rPr lang="en" b="1" dirty="0"/>
              <a:t>avoid PCR amplicon contamination at all cost</a:t>
            </a:r>
            <a:endParaRPr b="1" dirty="0"/>
          </a:p>
          <a:p>
            <a:pPr marL="0" lvl="0" indent="0" algn="l" rtl="0">
              <a:spcBef>
                <a:spcPts val="1200"/>
              </a:spcBef>
              <a:spcAft>
                <a:spcPts val="0"/>
              </a:spcAft>
              <a:buNone/>
            </a:pPr>
            <a:r>
              <a:rPr lang="en" dirty="0"/>
              <a:t>	</a:t>
            </a:r>
            <a:r>
              <a:rPr lang="en" b="1" dirty="0"/>
              <a:t>Solution:</a:t>
            </a:r>
            <a:r>
              <a:rPr lang="en" dirty="0"/>
              <a:t> Physical separation of rooms (Pre-PCR &amp; Post-PCR)</a:t>
            </a:r>
            <a:endParaRPr dirty="0"/>
          </a:p>
          <a:p>
            <a:pPr marL="0" lvl="0" indent="0" algn="l" rtl="0">
              <a:spcBef>
                <a:spcPts val="1200"/>
              </a:spcBef>
              <a:spcAft>
                <a:spcPts val="0"/>
              </a:spcAft>
              <a:buNone/>
            </a:pPr>
            <a:r>
              <a:rPr lang="en" b="1" dirty="0"/>
              <a:t>Concern: </a:t>
            </a:r>
            <a:r>
              <a:rPr lang="en" dirty="0"/>
              <a:t>Environmental conditions (humidity, temperature, power, internet) </a:t>
            </a:r>
            <a:endParaRPr dirty="0"/>
          </a:p>
          <a:p>
            <a:pPr marL="0" lvl="0" indent="0" algn="l" rtl="0">
              <a:spcBef>
                <a:spcPts val="1200"/>
              </a:spcBef>
              <a:spcAft>
                <a:spcPts val="1200"/>
              </a:spcAft>
              <a:buNone/>
            </a:pPr>
            <a:r>
              <a:rPr lang="en" dirty="0"/>
              <a:t>	</a:t>
            </a:r>
            <a:r>
              <a:rPr lang="en" b="1" dirty="0"/>
              <a:t>Solution: </a:t>
            </a:r>
            <a:r>
              <a:rPr lang="en" dirty="0"/>
              <a:t>Air conditioning &amp; air filter units in the lab, UPS, running overnight</a:t>
            </a:r>
            <a:endParaRPr dirty="0"/>
          </a:p>
        </p:txBody>
      </p:sp>
      <p:sp>
        <p:nvSpPr>
          <p:cNvPr id="256" name="Google Shape;256;p37"/>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a:t>Lab setup</a:t>
            </a:r>
            <a:endParaRPr sz="2800"/>
          </a:p>
        </p:txBody>
      </p:sp>
      <p:pic>
        <p:nvPicPr>
          <p:cNvPr id="257" name="Google Shape;257;p37"/>
          <p:cNvPicPr preferRelativeResize="0"/>
          <p:nvPr/>
        </p:nvPicPr>
        <p:blipFill rotWithShape="1">
          <a:blip r:embed="rId3">
            <a:alphaModFix/>
          </a:blip>
          <a:srcRect t="9156"/>
          <a:stretch/>
        </p:blipFill>
        <p:spPr>
          <a:xfrm>
            <a:off x="62125" y="391624"/>
            <a:ext cx="930352" cy="294900"/>
          </a:xfrm>
          <a:prstGeom prst="rect">
            <a:avLst/>
          </a:prstGeom>
          <a:noFill/>
          <a:ln>
            <a:noFill/>
          </a:ln>
        </p:spPr>
      </p:pic>
      <p:pic>
        <p:nvPicPr>
          <p:cNvPr id="3" name="Picture 2">
            <a:extLst>
              <a:ext uri="{FF2B5EF4-FFF2-40B4-BE49-F238E27FC236}">
                <a16:creationId xmlns:a16="http://schemas.microsoft.com/office/drawing/2014/main" id="{D604A774-2E00-5AE6-818A-ADA3CD847A54}"/>
              </a:ext>
            </a:extLst>
          </p:cNvPr>
          <p:cNvPicPr>
            <a:picLocks noChangeAspect="1"/>
          </p:cNvPicPr>
          <p:nvPr/>
        </p:nvPicPr>
        <p:blipFill>
          <a:blip r:embed="rId4"/>
          <a:srcRect l="6401" r="19207"/>
          <a:stretch>
            <a:fillRect/>
          </a:stretch>
        </p:blipFill>
        <p:spPr>
          <a:xfrm>
            <a:off x="6321963" y="1407775"/>
            <a:ext cx="556356" cy="1154325"/>
          </a:xfrm>
          <a:prstGeom prst="rect">
            <a:avLst/>
          </a:prstGeom>
          <a:ln>
            <a:solidFill>
              <a:schemeClr val="accent1"/>
            </a:solidFill>
          </a:ln>
        </p:spPr>
      </p:pic>
      <p:cxnSp>
        <p:nvCxnSpPr>
          <p:cNvPr id="5" name="Straight Arrow Connector 4">
            <a:extLst>
              <a:ext uri="{FF2B5EF4-FFF2-40B4-BE49-F238E27FC236}">
                <a16:creationId xmlns:a16="http://schemas.microsoft.com/office/drawing/2014/main" id="{C33FE72C-AB32-9B01-9B1B-52890156FA11}"/>
              </a:ext>
            </a:extLst>
          </p:cNvPr>
          <p:cNvCxnSpPr/>
          <p:nvPr/>
        </p:nvCxnSpPr>
        <p:spPr>
          <a:xfrm>
            <a:off x="4907280" y="2113280"/>
            <a:ext cx="1036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654B1AB-2297-28C5-B189-C7917EEF634B}"/>
              </a:ext>
            </a:extLst>
          </p:cNvPr>
          <p:cNvCxnSpPr>
            <a:cxnSpLocks/>
          </p:cNvCxnSpPr>
          <p:nvPr/>
        </p:nvCxnSpPr>
        <p:spPr>
          <a:xfrm flipV="1">
            <a:off x="5157422" y="2393632"/>
            <a:ext cx="975360" cy="295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8"/>
          <p:cNvSpPr txBox="1">
            <a:spLocks noGrp="1"/>
          </p:cNvSpPr>
          <p:nvPr>
            <p:ph type="title" idx="4294967295"/>
          </p:nvPr>
        </p:nvSpPr>
        <p:spPr>
          <a:xfrm>
            <a:off x="362150" y="252725"/>
            <a:ext cx="385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b="1">
                <a:latin typeface="Calibri"/>
                <a:ea typeface="Calibri"/>
                <a:cs typeface="Calibri"/>
                <a:sym typeface="Calibri"/>
              </a:rPr>
              <a:t>Lab setup</a:t>
            </a:r>
            <a:endParaRPr sz="2800" b="1">
              <a:latin typeface="Calibri"/>
              <a:ea typeface="Calibri"/>
              <a:cs typeface="Calibri"/>
              <a:sym typeface="Calibri"/>
            </a:endParaRPr>
          </a:p>
        </p:txBody>
      </p:sp>
      <p:sp>
        <p:nvSpPr>
          <p:cNvPr id="263" name="Google Shape;263;p38"/>
          <p:cNvSpPr/>
          <p:nvPr/>
        </p:nvSpPr>
        <p:spPr>
          <a:xfrm>
            <a:off x="2233200" y="1475250"/>
            <a:ext cx="2243100" cy="2193000"/>
          </a:xfrm>
          <a:prstGeom prst="rect">
            <a:avLst/>
          </a:prstGeom>
          <a:solidFill>
            <a:srgbClr val="FFFFFF">
              <a:alpha val="8571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8"/>
          <p:cNvSpPr/>
          <p:nvPr/>
        </p:nvSpPr>
        <p:spPr>
          <a:xfrm>
            <a:off x="4476300" y="1475250"/>
            <a:ext cx="2243100" cy="2193000"/>
          </a:xfrm>
          <a:prstGeom prst="rect">
            <a:avLst/>
          </a:prstGeom>
          <a:solidFill>
            <a:srgbClr val="FFFFFF">
              <a:alpha val="8571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5" name="Google Shape;265;p38"/>
          <p:cNvCxnSpPr/>
          <p:nvPr/>
        </p:nvCxnSpPr>
        <p:spPr>
          <a:xfrm>
            <a:off x="4476425" y="1468675"/>
            <a:ext cx="0" cy="2223000"/>
          </a:xfrm>
          <a:prstGeom prst="straightConnector1">
            <a:avLst/>
          </a:prstGeom>
          <a:noFill/>
          <a:ln w="76200" cap="flat" cmpd="sng">
            <a:solidFill>
              <a:schemeClr val="dk2"/>
            </a:solidFill>
            <a:prstDash val="solid"/>
            <a:round/>
            <a:headEnd type="none" w="med" len="med"/>
            <a:tailEnd type="none" w="med" len="med"/>
          </a:ln>
        </p:spPr>
      </p:cxnSp>
      <p:sp>
        <p:nvSpPr>
          <p:cNvPr id="266" name="Google Shape;266;p38"/>
          <p:cNvSpPr txBox="1"/>
          <p:nvPr/>
        </p:nvSpPr>
        <p:spPr>
          <a:xfrm>
            <a:off x="2736150" y="2380075"/>
            <a:ext cx="135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Pre-PCR lab</a:t>
            </a:r>
            <a:endParaRPr>
              <a:latin typeface="Calibri"/>
              <a:ea typeface="Calibri"/>
              <a:cs typeface="Calibri"/>
              <a:sym typeface="Calibri"/>
            </a:endParaRPr>
          </a:p>
        </p:txBody>
      </p:sp>
      <p:sp>
        <p:nvSpPr>
          <p:cNvPr id="267" name="Google Shape;267;p38"/>
          <p:cNvSpPr txBox="1"/>
          <p:nvPr/>
        </p:nvSpPr>
        <p:spPr>
          <a:xfrm>
            <a:off x="5001025" y="2380075"/>
            <a:ext cx="135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Post-PCR lab</a:t>
            </a:r>
            <a:endParaRPr>
              <a:latin typeface="Calibri"/>
              <a:ea typeface="Calibri"/>
              <a:cs typeface="Calibri"/>
              <a:sym typeface="Calibri"/>
            </a:endParaRPr>
          </a:p>
        </p:txBody>
      </p:sp>
      <p:sp>
        <p:nvSpPr>
          <p:cNvPr id="268" name="Google Shape;268;p38"/>
          <p:cNvSpPr txBox="1"/>
          <p:nvPr/>
        </p:nvSpPr>
        <p:spPr>
          <a:xfrm>
            <a:off x="524600" y="4141975"/>
            <a:ext cx="7985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i="1">
                <a:latin typeface="Calibri"/>
                <a:ea typeface="Calibri"/>
                <a:cs typeface="Calibri"/>
                <a:sym typeface="Calibri"/>
              </a:rPr>
              <a:t>It is </a:t>
            </a:r>
            <a:r>
              <a:rPr lang="en" sz="2200" b="1" i="1" u="sng">
                <a:latin typeface="Calibri"/>
                <a:ea typeface="Calibri"/>
                <a:cs typeface="Calibri"/>
                <a:sym typeface="Calibri"/>
              </a:rPr>
              <a:t>critical</a:t>
            </a:r>
            <a:r>
              <a:rPr lang="en" sz="2200" i="1">
                <a:latin typeface="Calibri"/>
                <a:ea typeface="Calibri"/>
                <a:cs typeface="Calibri"/>
                <a:sym typeface="Calibri"/>
              </a:rPr>
              <a:t> to have separate pre- and post-PCR lab spaces!</a:t>
            </a:r>
            <a:endParaRPr sz="2200" i="1">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9"/>
          <p:cNvSpPr txBox="1"/>
          <p:nvPr/>
        </p:nvSpPr>
        <p:spPr>
          <a:xfrm>
            <a:off x="2539650" y="4050150"/>
            <a:ext cx="31779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a:t>No PCR allowed</a:t>
            </a:r>
            <a:endParaRPr b="1"/>
          </a:p>
          <a:p>
            <a:pPr marL="342900" lvl="0" indent="-174625" algn="l" rtl="0">
              <a:lnSpc>
                <a:spcPct val="115000"/>
              </a:lnSpc>
              <a:spcBef>
                <a:spcPts val="0"/>
              </a:spcBef>
              <a:spcAft>
                <a:spcPts val="0"/>
              </a:spcAft>
              <a:buSzPts val="1400"/>
              <a:buChar char="●"/>
            </a:pPr>
            <a:r>
              <a:rPr lang="en"/>
              <a:t>xNA extractions</a:t>
            </a:r>
            <a:endParaRPr/>
          </a:p>
          <a:p>
            <a:pPr marL="342900" lvl="0" indent="-174625" algn="l" rtl="0">
              <a:lnSpc>
                <a:spcPct val="115000"/>
              </a:lnSpc>
              <a:spcBef>
                <a:spcPts val="0"/>
              </a:spcBef>
              <a:spcAft>
                <a:spcPts val="0"/>
              </a:spcAft>
              <a:buSzPts val="1400"/>
              <a:buChar char="●"/>
            </a:pPr>
            <a:r>
              <a:rPr lang="en"/>
              <a:t>Lib prep up to setting up the USER/Q5 mastermix (no PCR)</a:t>
            </a:r>
            <a:endParaRPr/>
          </a:p>
        </p:txBody>
      </p:sp>
      <p:sp>
        <p:nvSpPr>
          <p:cNvPr id="274" name="Google Shape;274;p39"/>
          <p:cNvSpPr txBox="1">
            <a:spLocks noGrp="1"/>
          </p:cNvSpPr>
          <p:nvPr>
            <p:ph type="title" idx="4294967295"/>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b="1">
                <a:latin typeface="Calibri"/>
                <a:ea typeface="Calibri"/>
                <a:cs typeface="Calibri"/>
                <a:sym typeface="Calibri"/>
              </a:rPr>
              <a:t>Lab setup</a:t>
            </a:r>
            <a:endParaRPr sz="2800" b="1">
              <a:latin typeface="Calibri"/>
              <a:ea typeface="Calibri"/>
              <a:cs typeface="Calibri"/>
              <a:sym typeface="Calibri"/>
            </a:endParaRPr>
          </a:p>
        </p:txBody>
      </p:sp>
      <p:sp>
        <p:nvSpPr>
          <p:cNvPr id="275" name="Google Shape;275;p39"/>
          <p:cNvSpPr txBox="1"/>
          <p:nvPr/>
        </p:nvSpPr>
        <p:spPr>
          <a:xfrm>
            <a:off x="152400" y="4050150"/>
            <a:ext cx="21060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a:t>No PCR allowed</a:t>
            </a:r>
            <a:endParaRPr b="1"/>
          </a:p>
          <a:p>
            <a:pPr marL="342900" lvl="0" indent="-174625" algn="l" rtl="0">
              <a:lnSpc>
                <a:spcPct val="115000"/>
              </a:lnSpc>
              <a:spcBef>
                <a:spcPts val="0"/>
              </a:spcBef>
              <a:spcAft>
                <a:spcPts val="0"/>
              </a:spcAft>
              <a:buSzPts val="1400"/>
              <a:buChar char="●"/>
            </a:pPr>
            <a:r>
              <a:rPr lang="en"/>
              <a:t>xNA extractions of infectious samples</a:t>
            </a:r>
            <a:endParaRPr/>
          </a:p>
        </p:txBody>
      </p:sp>
      <p:sp>
        <p:nvSpPr>
          <p:cNvPr id="276" name="Google Shape;276;p39"/>
          <p:cNvSpPr txBox="1"/>
          <p:nvPr/>
        </p:nvSpPr>
        <p:spPr>
          <a:xfrm>
            <a:off x="195800" y="3689175"/>
            <a:ext cx="20625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BSL-2 Pre-PCR</a:t>
            </a:r>
            <a:endParaRPr sz="1700" b="1"/>
          </a:p>
        </p:txBody>
      </p:sp>
      <p:sp>
        <p:nvSpPr>
          <p:cNvPr id="277" name="Google Shape;277;p39"/>
          <p:cNvSpPr txBox="1"/>
          <p:nvPr/>
        </p:nvSpPr>
        <p:spPr>
          <a:xfrm>
            <a:off x="3106300" y="3689175"/>
            <a:ext cx="18759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BSL-1 Pre-PCR</a:t>
            </a:r>
            <a:endParaRPr sz="1700" b="1"/>
          </a:p>
        </p:txBody>
      </p:sp>
      <p:sp>
        <p:nvSpPr>
          <p:cNvPr id="278" name="Google Shape;278;p39"/>
          <p:cNvSpPr txBox="1"/>
          <p:nvPr/>
        </p:nvSpPr>
        <p:spPr>
          <a:xfrm>
            <a:off x="6382425" y="3689163"/>
            <a:ext cx="18759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BSL-1 Post-PCR</a:t>
            </a:r>
            <a:endParaRPr sz="1700" b="1"/>
          </a:p>
        </p:txBody>
      </p:sp>
      <p:cxnSp>
        <p:nvCxnSpPr>
          <p:cNvPr id="279" name="Google Shape;279;p39"/>
          <p:cNvCxnSpPr/>
          <p:nvPr/>
        </p:nvCxnSpPr>
        <p:spPr>
          <a:xfrm>
            <a:off x="2373000" y="3709000"/>
            <a:ext cx="0" cy="1362900"/>
          </a:xfrm>
          <a:prstGeom prst="straightConnector1">
            <a:avLst/>
          </a:prstGeom>
          <a:noFill/>
          <a:ln w="9525" cap="flat" cmpd="sng">
            <a:solidFill>
              <a:schemeClr val="dk2"/>
            </a:solidFill>
            <a:prstDash val="dash"/>
            <a:round/>
            <a:headEnd type="none" w="med" len="med"/>
            <a:tailEnd type="none" w="med" len="med"/>
          </a:ln>
        </p:spPr>
      </p:cxnSp>
      <p:cxnSp>
        <p:nvCxnSpPr>
          <p:cNvPr id="280" name="Google Shape;280;p39"/>
          <p:cNvCxnSpPr/>
          <p:nvPr/>
        </p:nvCxnSpPr>
        <p:spPr>
          <a:xfrm>
            <a:off x="5710775" y="3709000"/>
            <a:ext cx="0" cy="1362900"/>
          </a:xfrm>
          <a:prstGeom prst="straightConnector1">
            <a:avLst/>
          </a:prstGeom>
          <a:noFill/>
          <a:ln w="9525" cap="flat" cmpd="sng">
            <a:solidFill>
              <a:schemeClr val="dk2"/>
            </a:solidFill>
            <a:prstDash val="dash"/>
            <a:round/>
            <a:headEnd type="none" w="med" len="med"/>
            <a:tailEnd type="none" w="med" len="med"/>
          </a:ln>
        </p:spPr>
      </p:cxnSp>
      <p:sp>
        <p:nvSpPr>
          <p:cNvPr id="281" name="Google Shape;281;p39"/>
          <p:cNvSpPr txBox="1"/>
          <p:nvPr/>
        </p:nvSpPr>
        <p:spPr>
          <a:xfrm>
            <a:off x="5884200" y="4050150"/>
            <a:ext cx="31779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a:t>Lib prep from barcoding PCR</a:t>
            </a:r>
            <a:endParaRPr b="1"/>
          </a:p>
          <a:p>
            <a:pPr marL="342900" lvl="0" indent="-174625" algn="l" rtl="0">
              <a:lnSpc>
                <a:spcPct val="115000"/>
              </a:lnSpc>
              <a:spcBef>
                <a:spcPts val="0"/>
              </a:spcBef>
              <a:spcAft>
                <a:spcPts val="0"/>
              </a:spcAft>
              <a:buSzPts val="1400"/>
              <a:buChar char="●"/>
            </a:pPr>
            <a:r>
              <a:rPr lang="en"/>
              <a:t>Lib QC</a:t>
            </a:r>
            <a:endParaRPr/>
          </a:p>
          <a:p>
            <a:pPr marL="342900" lvl="0" indent="-174625" algn="l" rtl="0">
              <a:lnSpc>
                <a:spcPct val="115000"/>
              </a:lnSpc>
              <a:spcBef>
                <a:spcPts val="0"/>
              </a:spcBef>
              <a:spcAft>
                <a:spcPts val="0"/>
              </a:spcAft>
              <a:buSzPts val="1400"/>
              <a:buChar char="●"/>
            </a:pPr>
            <a:r>
              <a:rPr lang="en"/>
              <a:t>Lib amplification if needed</a:t>
            </a:r>
            <a:endParaRPr/>
          </a:p>
          <a:p>
            <a:pPr marL="342900" lvl="0" indent="-174625" algn="l" rtl="0">
              <a:lnSpc>
                <a:spcPct val="115000"/>
              </a:lnSpc>
              <a:spcBef>
                <a:spcPts val="0"/>
              </a:spcBef>
              <a:spcAft>
                <a:spcPts val="0"/>
              </a:spcAft>
              <a:buSzPts val="1400"/>
              <a:buChar char="●"/>
            </a:pPr>
            <a:r>
              <a:rPr lang="en"/>
              <a:t>Sequencing</a:t>
            </a:r>
            <a:endParaRPr/>
          </a:p>
        </p:txBody>
      </p:sp>
      <p:pic>
        <p:nvPicPr>
          <p:cNvPr id="282" name="Google Shape;282;p39"/>
          <p:cNvPicPr preferRelativeResize="0"/>
          <p:nvPr/>
        </p:nvPicPr>
        <p:blipFill rotWithShape="1">
          <a:blip r:embed="rId3">
            <a:alphaModFix/>
          </a:blip>
          <a:srcRect t="9099"/>
          <a:stretch/>
        </p:blipFill>
        <p:spPr>
          <a:xfrm>
            <a:off x="152400" y="862900"/>
            <a:ext cx="8861652" cy="281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0"/>
          <p:cNvSpPr txBox="1">
            <a:spLocks noGrp="1"/>
          </p:cNvSpPr>
          <p:nvPr>
            <p:ph type="body" idx="4294967295"/>
          </p:nvPr>
        </p:nvSpPr>
        <p:spPr>
          <a:xfrm>
            <a:off x="145200" y="964325"/>
            <a:ext cx="8853600" cy="34650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sz="1700" b="1"/>
              <a:t>Extra lab precautions:</a:t>
            </a:r>
            <a:endParaRPr sz="1700" b="1"/>
          </a:p>
          <a:p>
            <a:pPr marL="114300" lvl="0" indent="0" algn="l" rtl="0">
              <a:spcBef>
                <a:spcPts val="1200"/>
              </a:spcBef>
              <a:spcAft>
                <a:spcPts val="0"/>
              </a:spcAft>
              <a:buNone/>
            </a:pPr>
            <a:endParaRPr sz="1500"/>
          </a:p>
          <a:p>
            <a:pPr marL="457200" lvl="0" indent="-316706" algn="l" rtl="0">
              <a:lnSpc>
                <a:spcPct val="150000"/>
              </a:lnSpc>
              <a:spcBef>
                <a:spcPts val="1200"/>
              </a:spcBef>
              <a:spcAft>
                <a:spcPts val="0"/>
              </a:spcAft>
              <a:buSzPct val="100000"/>
              <a:buChar char="●"/>
            </a:pPr>
            <a:r>
              <a:rPr lang="en" sz="1500"/>
              <a:t>Sticky floor pads at the entrance of Pre-PCR rooms, changed weekly</a:t>
            </a:r>
            <a:endParaRPr sz="1500"/>
          </a:p>
          <a:p>
            <a:pPr marL="457200" lvl="0" indent="-316706" algn="l" rtl="0">
              <a:lnSpc>
                <a:spcPct val="150000"/>
              </a:lnSpc>
              <a:spcBef>
                <a:spcPts val="0"/>
              </a:spcBef>
              <a:spcAft>
                <a:spcPts val="0"/>
              </a:spcAft>
              <a:buSzPct val="100000"/>
              <a:buChar char="●"/>
            </a:pPr>
            <a:r>
              <a:rPr lang="en" sz="1500"/>
              <a:t>Ice buckets color coded to the lab spaces - either Pre-PCR or Post-PCR only - no mixing</a:t>
            </a:r>
            <a:endParaRPr sz="1500"/>
          </a:p>
          <a:p>
            <a:pPr marL="457200" lvl="0" indent="-316706" algn="l" rtl="0">
              <a:lnSpc>
                <a:spcPct val="150000"/>
              </a:lnSpc>
              <a:spcBef>
                <a:spcPts val="0"/>
              </a:spcBef>
              <a:spcAft>
                <a:spcPts val="0"/>
              </a:spcAft>
              <a:buSzPct val="100000"/>
              <a:buChar char="●"/>
            </a:pPr>
            <a:r>
              <a:rPr lang="en" sz="1500"/>
              <a:t>Rotation of index primers so the same indices are never used in the same month </a:t>
            </a:r>
            <a:endParaRPr sz="1500"/>
          </a:p>
          <a:p>
            <a:pPr marL="457200" lvl="0" indent="-316706" algn="l" rtl="0">
              <a:lnSpc>
                <a:spcPct val="150000"/>
              </a:lnSpc>
              <a:spcBef>
                <a:spcPts val="0"/>
              </a:spcBef>
              <a:spcAft>
                <a:spcPts val="0"/>
              </a:spcAft>
              <a:buSzPct val="100000"/>
              <a:buChar char="●"/>
            </a:pPr>
            <a:r>
              <a:rPr lang="en" sz="1500"/>
              <a:t>Reagents like H</a:t>
            </a:r>
            <a:r>
              <a:rPr lang="en" sz="1500" baseline="-25000"/>
              <a:t>2</a:t>
            </a:r>
            <a:r>
              <a:rPr lang="en" sz="1500"/>
              <a:t>O, SPRI beads, DNAse, Proteinase K, etc are aliquoted into single-use tubes</a:t>
            </a:r>
            <a:endParaRPr sz="1500"/>
          </a:p>
          <a:p>
            <a:pPr marL="457200" lvl="0" indent="-316706" algn="l" rtl="0">
              <a:lnSpc>
                <a:spcPct val="150000"/>
              </a:lnSpc>
              <a:spcBef>
                <a:spcPts val="0"/>
              </a:spcBef>
              <a:spcAft>
                <a:spcPts val="0"/>
              </a:spcAft>
              <a:buSzPct val="100000"/>
              <a:buChar char="●"/>
            </a:pPr>
            <a:r>
              <a:rPr lang="en" sz="1500"/>
              <a:t>Pipets inside the PCR hoods are never taken out. All hoods are sprayed down before and after use with 70% ethanol and RNAseZap</a:t>
            </a:r>
            <a:endParaRPr sz="1500"/>
          </a:p>
          <a:p>
            <a:pPr marL="457200" lvl="0" indent="-316706" algn="l" rtl="0">
              <a:lnSpc>
                <a:spcPct val="150000"/>
              </a:lnSpc>
              <a:spcBef>
                <a:spcPts val="0"/>
              </a:spcBef>
              <a:spcAft>
                <a:spcPts val="0"/>
              </a:spcAft>
              <a:buSzPct val="100000"/>
              <a:buChar char="●"/>
            </a:pPr>
            <a:r>
              <a:rPr lang="en" sz="1500"/>
              <a:t>Reagents are not shared between the different rooms</a:t>
            </a:r>
            <a:endParaRPr sz="1500"/>
          </a:p>
          <a:p>
            <a:pPr marL="457200" lvl="0" indent="-316706" algn="l" rtl="0">
              <a:lnSpc>
                <a:spcPct val="150000"/>
              </a:lnSpc>
              <a:spcBef>
                <a:spcPts val="0"/>
              </a:spcBef>
              <a:spcAft>
                <a:spcPts val="0"/>
              </a:spcAft>
              <a:buSzPct val="100000"/>
              <a:buChar char="●"/>
            </a:pPr>
            <a:r>
              <a:rPr lang="en" sz="1500"/>
              <a:t>PCR products never enter the Pre-PCR rooms nor samples with high nucleic acid quantities (i.e.: stool, tissues, bacterial cultures, bacterial colonies)</a:t>
            </a:r>
            <a:endParaRPr sz="1500"/>
          </a:p>
        </p:txBody>
      </p:sp>
      <p:sp>
        <p:nvSpPr>
          <p:cNvPr id="288" name="Google Shape;288;p40"/>
          <p:cNvSpPr txBox="1">
            <a:spLocks noGrp="1"/>
          </p:cNvSpPr>
          <p:nvPr>
            <p:ph type="title" idx="4294967295"/>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a:t>Lab setup</a:t>
            </a:r>
            <a:endParaRPr sz="2800"/>
          </a:p>
        </p:txBody>
      </p:sp>
      <p:pic>
        <p:nvPicPr>
          <p:cNvPr id="289" name="Google Shape;289;p40"/>
          <p:cNvPicPr preferRelativeResize="0"/>
          <p:nvPr/>
        </p:nvPicPr>
        <p:blipFill rotWithShape="1">
          <a:blip r:embed="rId3">
            <a:alphaModFix/>
          </a:blip>
          <a:srcRect t="9156"/>
          <a:stretch/>
        </p:blipFill>
        <p:spPr>
          <a:xfrm>
            <a:off x="62125" y="391624"/>
            <a:ext cx="930352" cy="29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1"/>
          <p:cNvSpPr txBox="1">
            <a:spLocks noGrp="1"/>
          </p:cNvSpPr>
          <p:nvPr>
            <p:ph type="body" idx="4294967295"/>
          </p:nvPr>
        </p:nvSpPr>
        <p:spPr>
          <a:xfrm>
            <a:off x="158353" y="995363"/>
            <a:ext cx="8853600" cy="36600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1700" b="1"/>
              <a:t>Other considerations:</a:t>
            </a:r>
            <a:endParaRPr sz="1700" b="1"/>
          </a:p>
          <a:p>
            <a:pPr marL="457200" lvl="0" indent="-323850" algn="l" rtl="0">
              <a:lnSpc>
                <a:spcPct val="150000"/>
              </a:lnSpc>
              <a:spcBef>
                <a:spcPts val="1200"/>
              </a:spcBef>
              <a:spcAft>
                <a:spcPts val="0"/>
              </a:spcAft>
              <a:buSzPts val="1500"/>
              <a:buChar char="●"/>
            </a:pPr>
            <a:r>
              <a:rPr lang="en" sz="1500"/>
              <a:t>Power: Uninterruptible power supply (UPS) or surge protector</a:t>
            </a:r>
            <a:endParaRPr sz="1500"/>
          </a:p>
          <a:p>
            <a:pPr marL="457200" lvl="0" indent="-323850" algn="l" rtl="0">
              <a:lnSpc>
                <a:spcPct val="150000"/>
              </a:lnSpc>
              <a:spcBef>
                <a:spcPts val="0"/>
              </a:spcBef>
              <a:spcAft>
                <a:spcPts val="0"/>
              </a:spcAft>
              <a:buSzPts val="1500"/>
              <a:buChar char="●"/>
            </a:pPr>
            <a:r>
              <a:rPr lang="en" sz="1500"/>
              <a:t>Internet connection</a:t>
            </a:r>
            <a:endParaRPr sz="1500"/>
          </a:p>
          <a:p>
            <a:pPr marL="457200" lvl="0" indent="-323850" algn="l" rtl="0">
              <a:lnSpc>
                <a:spcPct val="150000"/>
              </a:lnSpc>
              <a:spcBef>
                <a:spcPts val="0"/>
              </a:spcBef>
              <a:spcAft>
                <a:spcPts val="0"/>
              </a:spcAft>
              <a:buSzPts val="1500"/>
              <a:buChar char="●"/>
            </a:pPr>
            <a:r>
              <a:rPr lang="en" sz="1500"/>
              <a:t>Environmental conditions, e.g. for iSeq:</a:t>
            </a:r>
            <a:endParaRPr sz="1500"/>
          </a:p>
          <a:p>
            <a:pPr marL="914400" lvl="1" indent="-311150" algn="l" rtl="0">
              <a:lnSpc>
                <a:spcPct val="150000"/>
              </a:lnSpc>
              <a:spcBef>
                <a:spcPts val="0"/>
              </a:spcBef>
              <a:spcAft>
                <a:spcPts val="0"/>
              </a:spcAft>
              <a:buSzPts val="1300"/>
              <a:buChar char="○"/>
            </a:pPr>
            <a:r>
              <a:rPr lang="en" sz="1300"/>
              <a:t>Dust issues: Pollution degree rating of II (non-conductive pollution only, rare conductive pollution)</a:t>
            </a:r>
            <a:endParaRPr sz="1300"/>
          </a:p>
          <a:p>
            <a:pPr marL="914400" lvl="1" indent="-311150" algn="l" rtl="0">
              <a:lnSpc>
                <a:spcPct val="150000"/>
              </a:lnSpc>
              <a:spcBef>
                <a:spcPts val="0"/>
              </a:spcBef>
              <a:spcAft>
                <a:spcPts val="0"/>
              </a:spcAft>
              <a:buSzPts val="1300"/>
              <a:buChar char="○"/>
            </a:pPr>
            <a:r>
              <a:rPr lang="en" sz="1300"/>
              <a:t>Ventilation: Up to 2048 BTU/hr @ 600W. Buy extra air filters for the iSeq. </a:t>
            </a:r>
            <a:endParaRPr sz="1300"/>
          </a:p>
          <a:p>
            <a:pPr marL="914400" lvl="1" indent="-311150" algn="l" rtl="0">
              <a:lnSpc>
                <a:spcPct val="150000"/>
              </a:lnSpc>
              <a:spcBef>
                <a:spcPts val="0"/>
              </a:spcBef>
              <a:spcAft>
                <a:spcPts val="0"/>
              </a:spcAft>
              <a:buSzPts val="1300"/>
              <a:buChar char="○"/>
            </a:pPr>
            <a:r>
              <a:rPr lang="en" sz="1300"/>
              <a:t>Humidity: Non-condensing 20-80% Relative Humidity</a:t>
            </a:r>
            <a:endParaRPr sz="1300"/>
          </a:p>
          <a:p>
            <a:pPr marL="914400" lvl="1" indent="-311150" algn="l" rtl="0">
              <a:lnSpc>
                <a:spcPct val="150000"/>
              </a:lnSpc>
              <a:spcBef>
                <a:spcPts val="0"/>
              </a:spcBef>
              <a:spcAft>
                <a:spcPts val="0"/>
              </a:spcAft>
              <a:buSzPts val="1300"/>
              <a:buChar char="○"/>
            </a:pPr>
            <a:r>
              <a:rPr lang="en" sz="1300"/>
              <a:t>Temperature: 15°C to 30°C (22.5°C ± 7.5°C) </a:t>
            </a:r>
            <a:endParaRPr sz="1300"/>
          </a:p>
        </p:txBody>
      </p:sp>
      <p:sp>
        <p:nvSpPr>
          <p:cNvPr id="295" name="Google Shape;295;p41"/>
          <p:cNvSpPr txBox="1">
            <a:spLocks noGrp="1"/>
          </p:cNvSpPr>
          <p:nvPr>
            <p:ph type="title" idx="4294967295"/>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a:t>Lab setup</a:t>
            </a:r>
            <a:endParaRPr sz="2800"/>
          </a:p>
        </p:txBody>
      </p:sp>
      <p:pic>
        <p:nvPicPr>
          <p:cNvPr id="296" name="Google Shape;296;p41"/>
          <p:cNvPicPr preferRelativeResize="0"/>
          <p:nvPr/>
        </p:nvPicPr>
        <p:blipFill rotWithShape="1">
          <a:blip r:embed="rId3">
            <a:alphaModFix/>
          </a:blip>
          <a:srcRect t="9156"/>
          <a:stretch/>
        </p:blipFill>
        <p:spPr>
          <a:xfrm>
            <a:off x="62125" y="391624"/>
            <a:ext cx="930352" cy="29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2"/>
          <p:cNvSpPr txBox="1">
            <a:spLocks noGrp="1"/>
          </p:cNvSpPr>
          <p:nvPr>
            <p:ph type="body" idx="4294967295"/>
          </p:nvPr>
        </p:nvSpPr>
        <p:spPr>
          <a:xfrm>
            <a:off x="158350" y="766775"/>
            <a:ext cx="3110100" cy="380700"/>
          </a:xfrm>
          <a:prstGeom prst="rect">
            <a:avLst/>
          </a:prstGeom>
        </p:spPr>
        <p:txBody>
          <a:bodyPr spcFirstLastPara="1" wrap="square" lIns="91425" tIns="91425" rIns="91425" bIns="91425" anchor="t" anchorCtr="0">
            <a:normAutofit fontScale="55000" lnSpcReduction="20000"/>
          </a:bodyPr>
          <a:lstStyle/>
          <a:p>
            <a:pPr marL="0" lvl="0" indent="0" algn="l" rtl="0">
              <a:lnSpc>
                <a:spcPct val="150000"/>
              </a:lnSpc>
              <a:spcBef>
                <a:spcPts val="0"/>
              </a:spcBef>
              <a:spcAft>
                <a:spcPts val="0"/>
              </a:spcAft>
              <a:buNone/>
            </a:pPr>
            <a:r>
              <a:rPr lang="en" sz="1700" b="1"/>
              <a:t>Lab procedures by location</a:t>
            </a:r>
            <a:endParaRPr sz="1700" b="1"/>
          </a:p>
          <a:p>
            <a:pPr marL="457200" lvl="0" indent="0" algn="l" rtl="0">
              <a:lnSpc>
                <a:spcPct val="150000"/>
              </a:lnSpc>
              <a:spcBef>
                <a:spcPts val="1200"/>
              </a:spcBef>
              <a:spcAft>
                <a:spcPts val="1200"/>
              </a:spcAft>
              <a:buNone/>
            </a:pPr>
            <a:endParaRPr sz="1300"/>
          </a:p>
        </p:txBody>
      </p:sp>
      <p:sp>
        <p:nvSpPr>
          <p:cNvPr id="302" name="Google Shape;302;p42"/>
          <p:cNvSpPr txBox="1">
            <a:spLocks noGrp="1"/>
          </p:cNvSpPr>
          <p:nvPr>
            <p:ph type="title" idx="4294967295"/>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a:t>Lab setup</a:t>
            </a:r>
            <a:endParaRPr sz="2800"/>
          </a:p>
        </p:txBody>
      </p:sp>
      <p:pic>
        <p:nvPicPr>
          <p:cNvPr id="303" name="Google Shape;303;p42"/>
          <p:cNvPicPr preferRelativeResize="0"/>
          <p:nvPr/>
        </p:nvPicPr>
        <p:blipFill rotWithShape="1">
          <a:blip r:embed="rId3">
            <a:alphaModFix/>
          </a:blip>
          <a:srcRect t="9156"/>
          <a:stretch/>
        </p:blipFill>
        <p:spPr>
          <a:xfrm>
            <a:off x="62125" y="391624"/>
            <a:ext cx="930352" cy="294900"/>
          </a:xfrm>
          <a:prstGeom prst="rect">
            <a:avLst/>
          </a:prstGeom>
          <a:noFill/>
          <a:ln>
            <a:noFill/>
          </a:ln>
        </p:spPr>
      </p:pic>
      <p:sp>
        <p:nvSpPr>
          <p:cNvPr id="304" name="Google Shape;304;p42"/>
          <p:cNvSpPr txBox="1"/>
          <p:nvPr/>
        </p:nvSpPr>
        <p:spPr>
          <a:xfrm>
            <a:off x="158350" y="1285300"/>
            <a:ext cx="4232400" cy="15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BSL2 Pre-PCR Biosafety Cabinet</a:t>
            </a:r>
            <a:endParaRPr sz="1200" b="1"/>
          </a:p>
          <a:p>
            <a:pPr marL="457200" lvl="0" indent="-304800" algn="l" rtl="0">
              <a:spcBef>
                <a:spcPts val="0"/>
              </a:spcBef>
              <a:spcAft>
                <a:spcPts val="0"/>
              </a:spcAft>
              <a:buSzPts val="1200"/>
              <a:buChar char="●"/>
            </a:pPr>
            <a:r>
              <a:rPr lang="en" sz="1200"/>
              <a:t>Sample inactivation in DNA/RNA Shield</a:t>
            </a:r>
            <a:endParaRPr sz="1200"/>
          </a:p>
          <a:p>
            <a:pPr marL="457200" lvl="0" indent="-304800" algn="l" rtl="0">
              <a:spcBef>
                <a:spcPts val="0"/>
              </a:spcBef>
              <a:spcAft>
                <a:spcPts val="0"/>
              </a:spcAft>
              <a:buSzPts val="1200"/>
              <a:buChar char="●"/>
            </a:pPr>
            <a:r>
              <a:rPr lang="en" sz="1200"/>
              <a:t>Nucleic acid extraction (if sample is not deactivated)</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b="1"/>
              <a:t>BLS2-Pre-PCR Room</a:t>
            </a:r>
            <a:endParaRPr sz="1200" b="1"/>
          </a:p>
          <a:p>
            <a:pPr marL="457200" lvl="0" indent="-304800" algn="l" rtl="0">
              <a:spcBef>
                <a:spcPts val="0"/>
              </a:spcBef>
              <a:spcAft>
                <a:spcPts val="0"/>
              </a:spcAft>
              <a:buSzPts val="1200"/>
              <a:buChar char="●"/>
            </a:pPr>
            <a:r>
              <a:rPr lang="en" sz="1200"/>
              <a:t>Storage of original samples at -80C</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b="1"/>
              <a:t>BSL1 Pre-PCR PCR hood</a:t>
            </a:r>
            <a:endParaRPr sz="1200" b="1"/>
          </a:p>
          <a:p>
            <a:pPr marL="457200" lvl="0" indent="-304800" algn="l" rtl="0">
              <a:spcBef>
                <a:spcPts val="0"/>
              </a:spcBef>
              <a:spcAft>
                <a:spcPts val="0"/>
              </a:spcAft>
              <a:buSzPts val="1200"/>
              <a:buChar char="●"/>
            </a:pPr>
            <a:r>
              <a:rPr lang="en" sz="1200"/>
              <a:t>Nucleic acid extraction (if sample </a:t>
            </a:r>
            <a:r>
              <a:rPr lang="en" sz="1200" u="sng"/>
              <a:t>is</a:t>
            </a:r>
            <a:r>
              <a:rPr lang="en" sz="1200"/>
              <a:t> deactivated)</a:t>
            </a:r>
            <a:endParaRPr sz="1200"/>
          </a:p>
          <a:p>
            <a:pPr marL="457200" lvl="0" indent="-304800" algn="l" rtl="0">
              <a:spcBef>
                <a:spcPts val="0"/>
              </a:spcBef>
              <a:spcAft>
                <a:spcPts val="0"/>
              </a:spcAft>
              <a:buSzPts val="1200"/>
              <a:buChar char="●"/>
            </a:pPr>
            <a:r>
              <a:rPr lang="en" sz="1200"/>
              <a:t>Nucleic acid quantification/quality control:</a:t>
            </a:r>
            <a:endParaRPr sz="1200"/>
          </a:p>
          <a:p>
            <a:pPr marL="914400" lvl="1" indent="-304800" algn="l" rtl="0">
              <a:spcBef>
                <a:spcPts val="0"/>
              </a:spcBef>
              <a:spcAft>
                <a:spcPts val="0"/>
              </a:spcAft>
              <a:buSzPts val="1200"/>
              <a:buChar char="○"/>
            </a:pPr>
            <a:r>
              <a:rPr lang="en" sz="1200"/>
              <a:t>Aliquots can be made in Pre-PCR and run in Post-PCR</a:t>
            </a:r>
            <a:endParaRPr sz="1200"/>
          </a:p>
          <a:p>
            <a:pPr marL="457200" lvl="0" indent="-304800" algn="l" rtl="0">
              <a:spcBef>
                <a:spcPts val="0"/>
              </a:spcBef>
              <a:spcAft>
                <a:spcPts val="0"/>
              </a:spcAft>
              <a:buSzPts val="1200"/>
              <a:buChar char="●"/>
            </a:pPr>
            <a:r>
              <a:rPr lang="en" sz="1200"/>
              <a:t>DNA/RNA library prep: Fragmentation to setting up the USER/Q5 master mix</a:t>
            </a:r>
            <a:endParaRPr sz="1200"/>
          </a:p>
          <a:p>
            <a:pPr marL="457200" lvl="0" indent="0" algn="l" rtl="0">
              <a:spcBef>
                <a:spcPts val="0"/>
              </a:spcBef>
              <a:spcAft>
                <a:spcPts val="0"/>
              </a:spcAft>
              <a:buNone/>
            </a:pPr>
            <a:endParaRPr sz="1200"/>
          </a:p>
        </p:txBody>
      </p:sp>
      <p:sp>
        <p:nvSpPr>
          <p:cNvPr id="305" name="Google Shape;305;p42"/>
          <p:cNvSpPr txBox="1"/>
          <p:nvPr/>
        </p:nvSpPr>
        <p:spPr>
          <a:xfrm>
            <a:off x="4680775" y="1285300"/>
            <a:ext cx="4232400" cy="15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BSL1 Post-PCR PCR hood</a:t>
            </a:r>
            <a:endParaRPr sz="1200" b="1"/>
          </a:p>
          <a:p>
            <a:pPr marL="457200" lvl="0" indent="-304800" algn="l" rtl="0">
              <a:spcBef>
                <a:spcPts val="0"/>
              </a:spcBef>
              <a:spcAft>
                <a:spcPts val="0"/>
              </a:spcAft>
              <a:buSzPts val="1200"/>
              <a:buChar char="●"/>
            </a:pPr>
            <a:r>
              <a:rPr lang="en" sz="1200"/>
              <a:t>Post-PCR SPRI clean-up</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BSL1 Post-PCR Bench</a:t>
            </a:r>
            <a:endParaRPr sz="1200"/>
          </a:p>
          <a:p>
            <a:pPr marL="457200" lvl="0" indent="-304800" algn="l" rtl="0">
              <a:spcBef>
                <a:spcPts val="0"/>
              </a:spcBef>
              <a:spcAft>
                <a:spcPts val="0"/>
              </a:spcAft>
              <a:buSzPts val="1200"/>
              <a:buChar char="●"/>
            </a:pPr>
            <a:r>
              <a:rPr lang="en" sz="1200"/>
              <a:t>PCR reaction using USER/Q5 master mix</a:t>
            </a:r>
            <a:endParaRPr sz="1200"/>
          </a:p>
          <a:p>
            <a:pPr marL="457200" lvl="0" indent="-304800" algn="l" rtl="0">
              <a:spcBef>
                <a:spcPts val="0"/>
              </a:spcBef>
              <a:spcAft>
                <a:spcPts val="0"/>
              </a:spcAft>
              <a:buSzPts val="1200"/>
              <a:buChar char="●"/>
            </a:pPr>
            <a:r>
              <a:rPr lang="en" sz="1200"/>
              <a:t>Library quantification &amp; quality control</a:t>
            </a:r>
            <a:endParaRPr sz="1200"/>
          </a:p>
          <a:p>
            <a:pPr marL="457200" lvl="0" indent="-304800" algn="l" rtl="0">
              <a:spcBef>
                <a:spcPts val="0"/>
              </a:spcBef>
              <a:spcAft>
                <a:spcPts val="0"/>
              </a:spcAft>
              <a:buSzPts val="1200"/>
              <a:buChar char="●"/>
            </a:pPr>
            <a:r>
              <a:rPr lang="en" sz="1200"/>
              <a:t>Library pooling</a:t>
            </a:r>
            <a:endParaRPr sz="1200"/>
          </a:p>
          <a:p>
            <a:pPr marL="457200" lvl="0" indent="-304800" algn="l" rtl="0">
              <a:spcBef>
                <a:spcPts val="0"/>
              </a:spcBef>
              <a:spcAft>
                <a:spcPts val="0"/>
              </a:spcAft>
              <a:buSzPts val="1200"/>
              <a:buChar char="●"/>
            </a:pPr>
            <a:r>
              <a:rPr lang="en" sz="1200"/>
              <a:t>qPCR Machine for additional library amplification</a:t>
            </a:r>
            <a:endParaRPr sz="1200"/>
          </a:p>
          <a:p>
            <a:pPr marL="457200" lvl="0" indent="-304800" algn="l" rtl="0">
              <a:spcBef>
                <a:spcPts val="0"/>
              </a:spcBef>
              <a:spcAft>
                <a:spcPts val="0"/>
              </a:spcAft>
              <a:buSzPts val="1200"/>
              <a:buChar char="●"/>
            </a:pPr>
            <a:r>
              <a:rPr lang="en" sz="1200"/>
              <a:t>Illumina sequencing</a:t>
            </a:r>
            <a:endParaRPr sz="1200"/>
          </a:p>
          <a:p>
            <a:pPr marL="457200" lvl="0" indent="-304800" algn="l" rtl="0">
              <a:spcBef>
                <a:spcPts val="0"/>
              </a:spcBef>
              <a:spcAft>
                <a:spcPts val="0"/>
              </a:spcAft>
              <a:buSzPts val="1200"/>
              <a:buChar char="●"/>
            </a:pPr>
            <a:r>
              <a:rPr lang="en" sz="1200"/>
              <a:t>Storage of NGS libraries -20C</a:t>
            </a:r>
            <a:endParaRPr sz="1200"/>
          </a:p>
          <a:p>
            <a:pPr marL="0" lvl="0" indent="0" algn="l" rtl="0">
              <a:spcBef>
                <a:spcPts val="0"/>
              </a:spcBef>
              <a:spcAft>
                <a:spcPts val="0"/>
              </a:spcAft>
              <a:buNone/>
            </a:pPr>
            <a:endParaRPr sz="1200"/>
          </a:p>
          <a:p>
            <a:pPr marL="457200" lvl="0" indent="0" algn="l" rtl="0">
              <a:spcBef>
                <a:spcPts val="0"/>
              </a:spcBef>
              <a:spcAft>
                <a:spcPts val="0"/>
              </a:spcAft>
              <a:buNone/>
            </a:pP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Questions?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4"/>
          <p:cNvSpPr/>
          <p:nvPr/>
        </p:nvSpPr>
        <p:spPr>
          <a:xfrm>
            <a:off x="337700" y="9376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4"/>
          <p:cNvSpPr txBox="1">
            <a:spLocks noGrp="1"/>
          </p:cNvSpPr>
          <p:nvPr>
            <p:ph type="title"/>
          </p:nvPr>
        </p:nvSpPr>
        <p:spPr>
          <a:xfrm>
            <a:off x="2065200" y="973675"/>
            <a:ext cx="4755600" cy="88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400" b="1">
                <a:solidFill>
                  <a:schemeClr val="accent1"/>
                </a:solidFill>
              </a:rPr>
              <a:t>mNGS pipeline</a:t>
            </a:r>
            <a:endParaRPr sz="4400" b="1">
              <a:solidFill>
                <a:schemeClr val="accent1"/>
              </a:solidFill>
            </a:endParaRPr>
          </a:p>
        </p:txBody>
      </p:sp>
      <p:sp>
        <p:nvSpPr>
          <p:cNvPr id="317" name="Google Shape;317;p44"/>
          <p:cNvSpPr txBox="1"/>
          <p:nvPr/>
        </p:nvSpPr>
        <p:spPr>
          <a:xfrm>
            <a:off x="250750"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318" name="Google Shape;318;p44"/>
          <p:cNvSpPr txBox="1"/>
          <p:nvPr/>
        </p:nvSpPr>
        <p:spPr>
          <a:xfrm>
            <a:off x="1640775" y="19971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Nucleic acid extraction</a:t>
            </a:r>
            <a:endParaRPr/>
          </a:p>
        </p:txBody>
      </p:sp>
      <p:sp>
        <p:nvSpPr>
          <p:cNvPr id="319" name="Google Shape;319;p44"/>
          <p:cNvSpPr txBox="1"/>
          <p:nvPr/>
        </p:nvSpPr>
        <p:spPr>
          <a:xfrm>
            <a:off x="2950075"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320" name="Google Shape;320;p44"/>
          <p:cNvSpPr txBox="1"/>
          <p:nvPr/>
        </p:nvSpPr>
        <p:spPr>
          <a:xfrm>
            <a:off x="4592180" y="20733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321" name="Google Shape;321;p44"/>
          <p:cNvSpPr txBox="1"/>
          <p:nvPr/>
        </p:nvSpPr>
        <p:spPr>
          <a:xfrm>
            <a:off x="613261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pic>
        <p:nvPicPr>
          <p:cNvPr id="322" name="Google Shape;322;p44"/>
          <p:cNvPicPr preferRelativeResize="0"/>
          <p:nvPr/>
        </p:nvPicPr>
        <p:blipFill rotWithShape="1">
          <a:blip r:embed="rId3">
            <a:alphaModFix/>
          </a:blip>
          <a:srcRect l="14551" r="17610" b="13941"/>
          <a:stretch/>
        </p:blipFill>
        <p:spPr>
          <a:xfrm>
            <a:off x="4679550" y="2582100"/>
            <a:ext cx="1126125" cy="959049"/>
          </a:xfrm>
          <a:prstGeom prst="rect">
            <a:avLst/>
          </a:prstGeom>
          <a:noFill/>
          <a:ln>
            <a:noFill/>
          </a:ln>
        </p:spPr>
      </p:pic>
      <p:grpSp>
        <p:nvGrpSpPr>
          <p:cNvPr id="323" name="Google Shape;323;p44"/>
          <p:cNvGrpSpPr/>
          <p:nvPr/>
        </p:nvGrpSpPr>
        <p:grpSpPr>
          <a:xfrm>
            <a:off x="6241847" y="2675987"/>
            <a:ext cx="1126132" cy="877745"/>
            <a:chOff x="5059375" y="3618825"/>
            <a:chExt cx="1583426" cy="1234175"/>
          </a:xfrm>
        </p:grpSpPr>
        <p:pic>
          <p:nvPicPr>
            <p:cNvPr id="324" name="Google Shape;324;p44" descr="A screenshot of a cell phone&#10;&#10;Description automatically generated"/>
            <p:cNvPicPr preferRelativeResize="0"/>
            <p:nvPr/>
          </p:nvPicPr>
          <p:blipFill rotWithShape="1">
            <a:blip r:embed="rId4">
              <a:alphaModFix/>
            </a:blip>
            <a:srcRect l="47032" t="64642" r="26637" b="6039"/>
            <a:stretch/>
          </p:blipFill>
          <p:spPr>
            <a:xfrm>
              <a:off x="5059375" y="3618825"/>
              <a:ext cx="1583426" cy="1234175"/>
            </a:xfrm>
            <a:prstGeom prst="rect">
              <a:avLst/>
            </a:prstGeom>
            <a:noFill/>
            <a:ln>
              <a:noFill/>
            </a:ln>
          </p:spPr>
        </p:pic>
        <p:sp>
          <p:nvSpPr>
            <p:cNvPr id="325" name="Google Shape;325;p44"/>
            <p:cNvSpPr/>
            <p:nvPr/>
          </p:nvSpPr>
          <p:spPr>
            <a:xfrm>
              <a:off x="5111211" y="3670860"/>
              <a:ext cx="1459500" cy="8322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6" name="Google Shape;326;p44"/>
          <p:cNvPicPr preferRelativeResize="0"/>
          <p:nvPr/>
        </p:nvPicPr>
        <p:blipFill rotWithShape="1">
          <a:blip r:embed="rId5">
            <a:alphaModFix/>
          </a:blip>
          <a:srcRect l="13069" t="15507" r="15081" b="13226"/>
          <a:stretch/>
        </p:blipFill>
        <p:spPr>
          <a:xfrm>
            <a:off x="379113" y="2600500"/>
            <a:ext cx="871875" cy="1028700"/>
          </a:xfrm>
          <a:prstGeom prst="rect">
            <a:avLst/>
          </a:prstGeom>
          <a:noFill/>
          <a:ln>
            <a:noFill/>
          </a:ln>
        </p:spPr>
      </p:pic>
      <p:pic>
        <p:nvPicPr>
          <p:cNvPr id="327" name="Google Shape;327;p44"/>
          <p:cNvPicPr preferRelativeResize="0"/>
          <p:nvPr/>
        </p:nvPicPr>
        <p:blipFill>
          <a:blip r:embed="rId6">
            <a:alphaModFix/>
          </a:blip>
          <a:stretch>
            <a:fillRect/>
          </a:stretch>
        </p:blipFill>
        <p:spPr>
          <a:xfrm rot="1149689">
            <a:off x="1852263" y="2799463"/>
            <a:ext cx="607525" cy="727926"/>
          </a:xfrm>
          <a:prstGeom prst="rect">
            <a:avLst/>
          </a:prstGeom>
          <a:noFill/>
          <a:ln>
            <a:noFill/>
          </a:ln>
        </p:spPr>
      </p:pic>
      <p:pic>
        <p:nvPicPr>
          <p:cNvPr id="328" name="Google Shape;328;p44"/>
          <p:cNvPicPr preferRelativeResize="0"/>
          <p:nvPr/>
        </p:nvPicPr>
        <p:blipFill rotWithShape="1">
          <a:blip r:embed="rId7">
            <a:alphaModFix/>
          </a:blip>
          <a:srcRect b="50614"/>
          <a:stretch/>
        </p:blipFill>
        <p:spPr>
          <a:xfrm>
            <a:off x="2884550" y="2751866"/>
            <a:ext cx="1344551" cy="725959"/>
          </a:xfrm>
          <a:prstGeom prst="rect">
            <a:avLst/>
          </a:prstGeom>
          <a:noFill/>
          <a:ln>
            <a:noFill/>
          </a:ln>
        </p:spPr>
      </p:pic>
      <p:cxnSp>
        <p:nvCxnSpPr>
          <p:cNvPr id="329" name="Google Shape;329;p44"/>
          <p:cNvCxnSpPr/>
          <p:nvPr/>
        </p:nvCxnSpPr>
        <p:spPr>
          <a:xfrm rot="10800000" flipH="1">
            <a:off x="7638150" y="31051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330" name="Google Shape;330;p44"/>
          <p:cNvGrpSpPr/>
          <p:nvPr/>
        </p:nvGrpSpPr>
        <p:grpSpPr>
          <a:xfrm>
            <a:off x="7765375" y="2437625"/>
            <a:ext cx="1252725" cy="1357550"/>
            <a:chOff x="7841575" y="1370825"/>
            <a:chExt cx="1252725" cy="1357550"/>
          </a:xfrm>
        </p:grpSpPr>
        <p:sp>
          <p:nvSpPr>
            <p:cNvPr id="331" name="Google Shape;331;p44"/>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2" name="Google Shape;332;p44"/>
            <p:cNvPicPr preferRelativeResize="0"/>
            <p:nvPr/>
          </p:nvPicPr>
          <p:blipFill>
            <a:blip r:embed="rId8">
              <a:alphaModFix/>
            </a:blip>
            <a:stretch>
              <a:fillRect/>
            </a:stretch>
          </p:blipFill>
          <p:spPr>
            <a:xfrm>
              <a:off x="8147262" y="1685076"/>
              <a:ext cx="502137" cy="725949"/>
            </a:xfrm>
            <a:prstGeom prst="rect">
              <a:avLst/>
            </a:prstGeom>
            <a:noFill/>
            <a:ln>
              <a:noFill/>
            </a:ln>
          </p:spPr>
        </p:pic>
        <p:sp>
          <p:nvSpPr>
            <p:cNvPr id="333" name="Google Shape;333;p44"/>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4" name="Google Shape;334;p44"/>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335" name="Google Shape;335;p44"/>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336" name="Google Shape;336;p44"/>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337" name="Google Shape;337;p44"/>
          <p:cNvSpPr txBox="1"/>
          <p:nvPr/>
        </p:nvSpPr>
        <p:spPr>
          <a:xfrm>
            <a:off x="7650363" y="20733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338" name="Google Shape;338;p44"/>
          <p:cNvSpPr/>
          <p:nvPr/>
        </p:nvSpPr>
        <p:spPr>
          <a:xfrm>
            <a:off x="1599450" y="1997100"/>
            <a:ext cx="1126200" cy="16845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3" name="Google Shape;343;p45"/>
          <p:cNvPicPr preferRelativeResize="0"/>
          <p:nvPr/>
        </p:nvPicPr>
        <p:blipFill>
          <a:blip r:embed="rId3">
            <a:alphaModFix/>
          </a:blip>
          <a:stretch>
            <a:fillRect/>
          </a:stretch>
        </p:blipFill>
        <p:spPr>
          <a:xfrm rot="1149694">
            <a:off x="3773999" y="2192784"/>
            <a:ext cx="1596001" cy="1912307"/>
          </a:xfrm>
          <a:prstGeom prst="rect">
            <a:avLst/>
          </a:prstGeom>
          <a:noFill/>
          <a:ln>
            <a:noFill/>
          </a:ln>
        </p:spPr>
      </p:pic>
      <p:sp>
        <p:nvSpPr>
          <p:cNvPr id="344" name="Google Shape;344;p45"/>
          <p:cNvSpPr txBox="1"/>
          <p:nvPr/>
        </p:nvSpPr>
        <p:spPr>
          <a:xfrm>
            <a:off x="948900" y="661200"/>
            <a:ext cx="72462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000" b="1">
                <a:solidFill>
                  <a:srgbClr val="D9D9D9"/>
                </a:solidFill>
              </a:rPr>
              <a:t>Nucleic acid extraction</a:t>
            </a:r>
            <a:endParaRPr sz="5000" b="1">
              <a:solidFill>
                <a:srgbClr val="D9D9D9"/>
              </a:solidFill>
            </a:endParaRPr>
          </a:p>
          <a:p>
            <a:pPr marL="0" lvl="0" indent="0" algn="ctr"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6"/>
          <p:cNvSpPr txBox="1">
            <a:spLocks noGrp="1"/>
          </p:cNvSpPr>
          <p:nvPr>
            <p:ph type="body" idx="1"/>
          </p:nvPr>
        </p:nvSpPr>
        <p:spPr>
          <a:xfrm>
            <a:off x="83100" y="10000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rgbClr val="000000"/>
              </a:buClr>
              <a:buSzPts val="1700"/>
              <a:buChar char="●"/>
            </a:pPr>
            <a:r>
              <a:rPr lang="en" sz="1700">
                <a:solidFill>
                  <a:srgbClr val="000000"/>
                </a:solidFill>
              </a:rPr>
              <a:t>Before extraction: </a:t>
            </a:r>
            <a:endParaRPr sz="1700">
              <a:solidFill>
                <a:srgbClr val="000000"/>
              </a:solidFill>
            </a:endParaRPr>
          </a:p>
          <a:p>
            <a:pPr marL="914400" lvl="1" indent="-311150" algn="l" rtl="0">
              <a:lnSpc>
                <a:spcPct val="200000"/>
              </a:lnSpc>
              <a:spcBef>
                <a:spcPts val="0"/>
              </a:spcBef>
              <a:spcAft>
                <a:spcPts val="0"/>
              </a:spcAft>
              <a:buClr>
                <a:srgbClr val="000000"/>
              </a:buClr>
              <a:buSzPts val="1300"/>
              <a:buChar char="○"/>
            </a:pPr>
            <a:r>
              <a:rPr lang="en" sz="1300">
                <a:solidFill>
                  <a:srgbClr val="000000"/>
                </a:solidFill>
              </a:rPr>
              <a:t>Spin down to remove host cells (extract supernatant)</a:t>
            </a:r>
            <a:endParaRPr sz="1300">
              <a:solidFill>
                <a:srgbClr val="000000"/>
              </a:solidFill>
            </a:endParaRPr>
          </a:p>
          <a:p>
            <a:pPr marL="457200" lvl="0" indent="-336550" algn="l" rtl="0">
              <a:spcBef>
                <a:spcPts val="0"/>
              </a:spcBef>
              <a:spcAft>
                <a:spcPts val="0"/>
              </a:spcAft>
              <a:buClr>
                <a:srgbClr val="000000"/>
              </a:buClr>
              <a:buSzPts val="1700"/>
              <a:buChar char="●"/>
            </a:pPr>
            <a:r>
              <a:rPr lang="en" sz="1700">
                <a:solidFill>
                  <a:srgbClr val="000000"/>
                </a:solidFill>
              </a:rPr>
              <a:t>Choose type:</a:t>
            </a:r>
            <a:endParaRPr sz="17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DNA:</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Detect bacteria, parasites, fungi, DNA viruses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RNA:</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All the above + RNA viruses (!)</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Requires optimal sample quality, degrades very fast</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Keep cold at all times!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TNA (total nucleic acid):</a:t>
            </a:r>
            <a:endParaRPr sz="1300">
              <a:solidFill>
                <a:srgbClr val="000000"/>
              </a:solidFill>
            </a:endParaRPr>
          </a:p>
          <a:p>
            <a:pPr marL="1371600" lvl="2" indent="-311150" algn="l" rtl="0">
              <a:spcBef>
                <a:spcPts val="0"/>
              </a:spcBef>
              <a:spcAft>
                <a:spcPts val="0"/>
              </a:spcAft>
              <a:buClr>
                <a:srgbClr val="000000"/>
              </a:buClr>
              <a:buSzPts val="1300"/>
              <a:buChar char="■"/>
            </a:pPr>
            <a:r>
              <a:rPr lang="en" sz="1300">
                <a:solidFill>
                  <a:srgbClr val="000000"/>
                </a:solidFill>
              </a:rPr>
              <a:t>DNA + RNA</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Requires DNAse I step for RNA-mNGS</a:t>
            </a:r>
            <a:endParaRPr sz="1300">
              <a:solidFill>
                <a:srgbClr val="000000"/>
              </a:solidFill>
            </a:endParaRPr>
          </a:p>
          <a:p>
            <a:pPr marL="457200" lvl="0" indent="-336550" algn="l" rtl="0">
              <a:lnSpc>
                <a:spcPct val="200000"/>
              </a:lnSpc>
              <a:spcBef>
                <a:spcPts val="0"/>
              </a:spcBef>
              <a:spcAft>
                <a:spcPts val="0"/>
              </a:spcAft>
              <a:buClr>
                <a:srgbClr val="000000"/>
              </a:buClr>
              <a:buSzPts val="1700"/>
              <a:buChar char="●"/>
            </a:pPr>
            <a:r>
              <a:rPr lang="en" sz="1700">
                <a:solidFill>
                  <a:srgbClr val="000000"/>
                </a:solidFill>
              </a:rPr>
              <a:t>Column vs bead-based extraction</a:t>
            </a:r>
            <a:endParaRPr sz="1700">
              <a:solidFill>
                <a:srgbClr val="000000"/>
              </a:solidFill>
            </a:endParaRPr>
          </a:p>
          <a:p>
            <a:pPr marL="457200" lvl="0" indent="0" algn="l" rtl="0">
              <a:spcBef>
                <a:spcPts val="1600"/>
              </a:spcBef>
              <a:spcAft>
                <a:spcPts val="1600"/>
              </a:spcAft>
              <a:buNone/>
            </a:pPr>
            <a:endParaRPr sz="1700">
              <a:solidFill>
                <a:srgbClr val="000000"/>
              </a:solidFill>
            </a:endParaRPr>
          </a:p>
        </p:txBody>
      </p:sp>
      <p:pic>
        <p:nvPicPr>
          <p:cNvPr id="350" name="Google Shape;350;p46"/>
          <p:cNvPicPr preferRelativeResize="0"/>
          <p:nvPr/>
        </p:nvPicPr>
        <p:blipFill>
          <a:blip r:embed="rId3">
            <a:alphaModFix/>
          </a:blip>
          <a:stretch>
            <a:fillRect/>
          </a:stretch>
        </p:blipFill>
        <p:spPr>
          <a:xfrm rot="1149625">
            <a:off x="303810" y="289397"/>
            <a:ext cx="477581" cy="572204"/>
          </a:xfrm>
          <a:prstGeom prst="rect">
            <a:avLst/>
          </a:prstGeom>
          <a:noFill/>
          <a:ln>
            <a:noFill/>
          </a:ln>
        </p:spPr>
      </p:pic>
      <p:sp>
        <p:nvSpPr>
          <p:cNvPr id="351" name="Google Shape;351;p46"/>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
        <p:nvSpPr>
          <p:cNvPr id="352" name="Google Shape;352;p46"/>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points:</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Minimize cross-contamination</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Preserve sample quality</a:t>
            </a:r>
            <a:endParaRPr sz="16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47"/>
          <p:cNvPicPr preferRelativeResize="0"/>
          <p:nvPr/>
        </p:nvPicPr>
        <p:blipFill rotWithShape="1">
          <a:blip r:embed="rId3">
            <a:alphaModFix/>
          </a:blip>
          <a:srcRect/>
          <a:stretch/>
        </p:blipFill>
        <p:spPr>
          <a:xfrm>
            <a:off x="6627693" y="697356"/>
            <a:ext cx="2000250" cy="1750219"/>
          </a:xfrm>
          <a:prstGeom prst="rect">
            <a:avLst/>
          </a:prstGeom>
          <a:noFill/>
          <a:ln>
            <a:noFill/>
          </a:ln>
        </p:spPr>
      </p:pic>
      <p:sp>
        <p:nvSpPr>
          <p:cNvPr id="359" name="Google Shape;359;p47"/>
          <p:cNvSpPr/>
          <p:nvPr/>
        </p:nvSpPr>
        <p:spPr>
          <a:xfrm>
            <a:off x="6042826" y="971300"/>
            <a:ext cx="2988000" cy="3085200"/>
          </a:xfrm>
          <a:prstGeom prst="roundRect">
            <a:avLst>
              <a:gd name="adj" fmla="val 8590"/>
            </a:avLst>
          </a:prstGeom>
          <a:noFill/>
          <a:ln w="2540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360" name="Google Shape;360;p47"/>
          <p:cNvPicPr preferRelativeResize="0"/>
          <p:nvPr/>
        </p:nvPicPr>
        <p:blipFill rotWithShape="1">
          <a:blip r:embed="rId4">
            <a:alphaModFix/>
          </a:blip>
          <a:srcRect/>
          <a:stretch/>
        </p:blipFill>
        <p:spPr>
          <a:xfrm>
            <a:off x="439857" y="697356"/>
            <a:ext cx="2000250" cy="1750219"/>
          </a:xfrm>
          <a:prstGeom prst="rect">
            <a:avLst/>
          </a:prstGeom>
          <a:noFill/>
          <a:ln>
            <a:noFill/>
          </a:ln>
        </p:spPr>
      </p:pic>
      <p:pic>
        <p:nvPicPr>
          <p:cNvPr id="361" name="Google Shape;361;p47"/>
          <p:cNvPicPr preferRelativeResize="0"/>
          <p:nvPr/>
        </p:nvPicPr>
        <p:blipFill rotWithShape="1">
          <a:blip r:embed="rId5">
            <a:alphaModFix/>
          </a:blip>
          <a:srcRect/>
          <a:stretch/>
        </p:blipFill>
        <p:spPr>
          <a:xfrm>
            <a:off x="3440818" y="697356"/>
            <a:ext cx="2000250" cy="1750219"/>
          </a:xfrm>
          <a:prstGeom prst="rect">
            <a:avLst/>
          </a:prstGeom>
          <a:noFill/>
          <a:ln>
            <a:noFill/>
          </a:ln>
        </p:spPr>
      </p:pic>
      <p:sp>
        <p:nvSpPr>
          <p:cNvPr id="362" name="Google Shape;362;p47"/>
          <p:cNvSpPr txBox="1"/>
          <p:nvPr/>
        </p:nvSpPr>
        <p:spPr>
          <a:xfrm>
            <a:off x="205099" y="2147200"/>
            <a:ext cx="2641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Microprep Plus</a:t>
            </a:r>
            <a:endParaRPr sz="1100"/>
          </a:p>
        </p:txBody>
      </p:sp>
      <p:sp>
        <p:nvSpPr>
          <p:cNvPr id="363" name="Google Shape;363;p47"/>
          <p:cNvSpPr txBox="1"/>
          <p:nvPr/>
        </p:nvSpPr>
        <p:spPr>
          <a:xfrm>
            <a:off x="3225962" y="2149775"/>
            <a:ext cx="2445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Miniprep Plus</a:t>
            </a:r>
            <a:endParaRPr sz="1100"/>
          </a:p>
        </p:txBody>
      </p:sp>
      <p:sp>
        <p:nvSpPr>
          <p:cNvPr id="364" name="Google Shape;364;p47"/>
          <p:cNvSpPr txBox="1"/>
          <p:nvPr/>
        </p:nvSpPr>
        <p:spPr>
          <a:xfrm>
            <a:off x="6207850" y="2147200"/>
            <a:ext cx="2763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Pathogen Magbead</a:t>
            </a:r>
            <a:endParaRPr sz="1400">
              <a:solidFill>
                <a:schemeClr val="dk1"/>
              </a:solidFill>
              <a:latin typeface="Calibri"/>
              <a:ea typeface="Calibri"/>
              <a:cs typeface="Calibri"/>
              <a:sym typeface="Calibri"/>
            </a:endParaRPr>
          </a:p>
        </p:txBody>
      </p:sp>
      <p:sp>
        <p:nvSpPr>
          <p:cNvPr id="365" name="Google Shape;365;p47"/>
          <p:cNvSpPr txBox="1"/>
          <p:nvPr/>
        </p:nvSpPr>
        <p:spPr>
          <a:xfrm>
            <a:off x="657326" y="2482400"/>
            <a:ext cx="16893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66" name="Google Shape;366;p47"/>
          <p:cNvSpPr txBox="1"/>
          <p:nvPr/>
        </p:nvSpPr>
        <p:spPr>
          <a:xfrm>
            <a:off x="3636751" y="2482400"/>
            <a:ext cx="1579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67" name="Google Shape;367;p47"/>
          <p:cNvSpPr txBox="1"/>
          <p:nvPr/>
        </p:nvSpPr>
        <p:spPr>
          <a:xfrm>
            <a:off x="6744850" y="2482400"/>
            <a:ext cx="1689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96 preps for $293</a:t>
            </a:r>
            <a:endParaRPr sz="1100"/>
          </a:p>
        </p:txBody>
      </p:sp>
      <p:sp>
        <p:nvSpPr>
          <p:cNvPr id="368" name="Google Shape;368;p47"/>
          <p:cNvSpPr txBox="1"/>
          <p:nvPr/>
        </p:nvSpPr>
        <p:spPr>
          <a:xfrm>
            <a:off x="7011700" y="2794225"/>
            <a:ext cx="11556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Bead-based</a:t>
            </a:r>
            <a:endParaRPr sz="1100"/>
          </a:p>
        </p:txBody>
      </p:sp>
      <p:sp>
        <p:nvSpPr>
          <p:cNvPr id="369" name="Google Shape;369;p47"/>
          <p:cNvSpPr txBox="1"/>
          <p:nvPr/>
        </p:nvSpPr>
        <p:spPr>
          <a:xfrm>
            <a:off x="3716452" y="2794225"/>
            <a:ext cx="1378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0" name="Google Shape;370;p47"/>
          <p:cNvSpPr txBox="1"/>
          <p:nvPr/>
        </p:nvSpPr>
        <p:spPr>
          <a:xfrm>
            <a:off x="765226" y="2794225"/>
            <a:ext cx="1470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1" name="Google Shape;371;p47"/>
          <p:cNvSpPr txBox="1"/>
          <p:nvPr/>
        </p:nvSpPr>
        <p:spPr>
          <a:xfrm>
            <a:off x="6271600" y="3106050"/>
            <a:ext cx="2699700" cy="829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Requires extra:</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Magnet stand (CZB Engineers)</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β-mercaptoethanol</a:t>
            </a:r>
            <a:endParaRPr sz="1400">
              <a:solidFill>
                <a:schemeClr val="dk1"/>
              </a:solidFill>
              <a:latin typeface="Calibri"/>
              <a:ea typeface="Calibri"/>
              <a:cs typeface="Calibri"/>
              <a:sym typeface="Calibri"/>
            </a:endParaRPr>
          </a:p>
        </p:txBody>
      </p:sp>
      <p:sp>
        <p:nvSpPr>
          <p:cNvPr id="372" name="Google Shape;372;p47"/>
          <p:cNvSpPr txBox="1"/>
          <p:nvPr/>
        </p:nvSpPr>
        <p:spPr>
          <a:xfrm>
            <a:off x="211250" y="3623650"/>
            <a:ext cx="6780900" cy="1327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Extra reagents to buy:</a:t>
            </a:r>
            <a:endParaRPr sz="1400">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Molecular grade ethanol (200 proof) for washes</a:t>
            </a:r>
            <a:endParaRPr sz="1400">
              <a:solidFill>
                <a:schemeClr val="dk1"/>
              </a:solidFill>
              <a:latin typeface="Calibri"/>
              <a:ea typeface="Calibri"/>
              <a:cs typeface="Calibri"/>
              <a:sym typeface="Calibri"/>
            </a:endParaRPr>
          </a:p>
          <a:p>
            <a:pPr marL="215900" marR="0" lvl="0" indent="-196850" algn="l" rtl="0">
              <a:lnSpc>
                <a:spcPct val="12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Isopropanol to add to concentrated wash buffers</a:t>
            </a:r>
            <a:endParaRPr>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DNase I included in regular quick-DNA/RNA kits, but not in Pathogen kits</a:t>
            </a:r>
            <a:endParaRPr sz="1100"/>
          </a:p>
          <a:p>
            <a:pPr marL="558800" marR="0" lvl="1" indent="-215900" algn="l" rtl="0">
              <a:lnSpc>
                <a:spcPct val="125000"/>
              </a:lnSpc>
              <a:spcBef>
                <a:spcPts val="0"/>
              </a:spcBef>
              <a:spcAft>
                <a:spcPts val="0"/>
              </a:spcAft>
              <a:buClr>
                <a:schemeClr val="dk1"/>
              </a:buClr>
              <a:buSzPts val="1400"/>
              <a:buFont typeface="Courier New"/>
              <a:buChar char="o"/>
            </a:pPr>
            <a:r>
              <a:rPr lang="en" sz="1400" b="0" i="0" u="none" strike="noStrike" cap="none">
                <a:solidFill>
                  <a:schemeClr val="dk1"/>
                </a:solidFill>
                <a:latin typeface="Calibri"/>
                <a:ea typeface="Calibri"/>
                <a:cs typeface="Calibri"/>
                <a:sym typeface="Calibri"/>
              </a:rPr>
              <a:t>Available separately from Qiagen: RNase-Free DNase Set, $512 for 250 samples</a:t>
            </a:r>
            <a:endParaRPr sz="1100"/>
          </a:p>
        </p:txBody>
      </p:sp>
      <p:sp>
        <p:nvSpPr>
          <p:cNvPr id="373" name="Google Shape;373;p47"/>
          <p:cNvSpPr txBox="1"/>
          <p:nvPr/>
        </p:nvSpPr>
        <p:spPr>
          <a:xfrm>
            <a:off x="3636750" y="310050"/>
            <a:ext cx="5205600" cy="387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2500" b="1">
                <a:solidFill>
                  <a:srgbClr val="999999"/>
                </a:solidFill>
              </a:rPr>
              <a:t>Zymo DNA+RNA extraction kits</a:t>
            </a:r>
            <a:endParaRPr sz="2200">
              <a:solidFill>
                <a:srgbClr val="999999"/>
              </a:solidFill>
            </a:endParaRPr>
          </a:p>
        </p:txBody>
      </p:sp>
      <p:pic>
        <p:nvPicPr>
          <p:cNvPr id="374" name="Google Shape;374;p47"/>
          <p:cNvPicPr preferRelativeResize="0"/>
          <p:nvPr/>
        </p:nvPicPr>
        <p:blipFill>
          <a:blip r:embed="rId6">
            <a:alphaModFix/>
          </a:blip>
          <a:stretch>
            <a:fillRect/>
          </a:stretch>
        </p:blipFill>
        <p:spPr>
          <a:xfrm rot="1149625">
            <a:off x="303810" y="289397"/>
            <a:ext cx="477581" cy="572204"/>
          </a:xfrm>
          <a:prstGeom prst="rect">
            <a:avLst/>
          </a:prstGeom>
          <a:noFill/>
          <a:ln>
            <a:noFill/>
          </a:ln>
        </p:spPr>
      </p:pic>
      <p:sp>
        <p:nvSpPr>
          <p:cNvPr id="375" name="Google Shape;375;p47"/>
          <p:cNvSpPr txBox="1">
            <a:spLocks noGrp="1"/>
          </p:cNvSpPr>
          <p:nvPr>
            <p:ph type="title" idx="4294967295"/>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48"/>
          <p:cNvPicPr preferRelativeResize="0"/>
          <p:nvPr/>
        </p:nvPicPr>
        <p:blipFill rotWithShape="1">
          <a:blip r:embed="rId3">
            <a:alphaModFix/>
          </a:blip>
          <a:srcRect/>
          <a:stretch/>
        </p:blipFill>
        <p:spPr>
          <a:xfrm>
            <a:off x="6856321" y="1296478"/>
            <a:ext cx="2262253" cy="1375875"/>
          </a:xfrm>
          <a:prstGeom prst="rect">
            <a:avLst/>
          </a:prstGeom>
          <a:noFill/>
          <a:ln>
            <a:noFill/>
          </a:ln>
        </p:spPr>
      </p:pic>
      <p:sp>
        <p:nvSpPr>
          <p:cNvPr id="381" name="Google Shape;381;p48"/>
          <p:cNvSpPr txBox="1">
            <a:spLocks noGrp="1"/>
          </p:cNvSpPr>
          <p:nvPr>
            <p:ph type="body" idx="1"/>
          </p:nvPr>
        </p:nvSpPr>
        <p:spPr>
          <a:xfrm>
            <a:off x="83100" y="1152475"/>
            <a:ext cx="8520600" cy="34164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dirty="0">
                <a:solidFill>
                  <a:srgbClr val="000000"/>
                </a:solidFill>
              </a:rPr>
              <a:t>Quality control:</a:t>
            </a:r>
            <a:endParaRPr sz="1700" dirty="0">
              <a:solidFill>
                <a:srgbClr val="000000"/>
              </a:solidFill>
            </a:endParaRPr>
          </a:p>
          <a:p>
            <a:pPr marL="914400" lvl="1" indent="-311150" algn="l" rtl="0">
              <a:spcBef>
                <a:spcPts val="0"/>
              </a:spcBef>
              <a:spcAft>
                <a:spcPts val="0"/>
              </a:spcAft>
              <a:buClr>
                <a:srgbClr val="000000"/>
              </a:buClr>
              <a:buSzPts val="1300"/>
              <a:buChar char="○"/>
            </a:pPr>
            <a:r>
              <a:rPr lang="en" sz="1300" dirty="0">
                <a:solidFill>
                  <a:srgbClr val="000000"/>
                </a:solidFill>
              </a:rPr>
              <a:t>Quantity (ng/</a:t>
            </a:r>
            <a:r>
              <a:rPr lang="en" sz="1300" dirty="0" err="1">
                <a:solidFill>
                  <a:srgbClr val="000000"/>
                </a:solidFill>
              </a:rPr>
              <a:t>μl</a:t>
            </a:r>
            <a:r>
              <a:rPr lang="en" sz="1300" dirty="0">
                <a:solidFill>
                  <a:srgbClr val="000000"/>
                </a:solidFill>
              </a:rPr>
              <a:t>):</a:t>
            </a:r>
            <a:endParaRPr sz="1300" dirty="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dirty="0">
                <a:solidFill>
                  <a:srgbClr val="000000"/>
                </a:solidFill>
              </a:rPr>
              <a:t>Qubit: RNA or DNA High Sensitivity (HS) Assay Kit (</a:t>
            </a:r>
            <a:r>
              <a:rPr lang="en" sz="1300" dirty="0" err="1">
                <a:solidFill>
                  <a:srgbClr val="000000"/>
                </a:solidFill>
              </a:rPr>
              <a:t>ThermoFisher</a:t>
            </a:r>
            <a:r>
              <a:rPr lang="en" sz="1300" dirty="0">
                <a:solidFill>
                  <a:srgbClr val="000000"/>
                </a:solidFill>
              </a:rPr>
              <a:t>)</a:t>
            </a:r>
            <a:endParaRPr sz="1300" dirty="0">
              <a:solidFill>
                <a:srgbClr val="000000"/>
              </a:solidFill>
            </a:endParaRPr>
          </a:p>
          <a:p>
            <a:pPr marL="914400" lvl="1" indent="-311150" algn="l" rtl="0">
              <a:lnSpc>
                <a:spcPct val="150000"/>
              </a:lnSpc>
              <a:spcBef>
                <a:spcPts val="0"/>
              </a:spcBef>
              <a:spcAft>
                <a:spcPts val="0"/>
              </a:spcAft>
              <a:buClr>
                <a:srgbClr val="000000"/>
              </a:buClr>
              <a:buSzPts val="1300"/>
              <a:buChar char="○"/>
            </a:pPr>
            <a:r>
              <a:rPr lang="en" sz="1300" dirty="0">
                <a:solidFill>
                  <a:srgbClr val="000000"/>
                </a:solidFill>
              </a:rPr>
              <a:t>Quality/ Integrity (length):</a:t>
            </a:r>
            <a:endParaRPr sz="1300" dirty="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dirty="0">
                <a:solidFill>
                  <a:srgbClr val="000000"/>
                </a:solidFill>
              </a:rPr>
              <a:t>Capillary electrophoresis</a:t>
            </a:r>
            <a:endParaRPr sz="1300" dirty="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dirty="0" err="1">
                <a:solidFill>
                  <a:srgbClr val="000000"/>
                </a:solidFill>
              </a:rPr>
              <a:t>Tapestation</a:t>
            </a:r>
            <a:r>
              <a:rPr lang="en" sz="1300" dirty="0">
                <a:solidFill>
                  <a:srgbClr val="000000"/>
                </a:solidFill>
              </a:rPr>
              <a:t> (Agilent)</a:t>
            </a:r>
            <a:endParaRPr sz="1300" dirty="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dirty="0">
                <a:solidFill>
                  <a:srgbClr val="000000"/>
                </a:solidFill>
              </a:rPr>
              <a:t>High Sensitivity DNA or RNA </a:t>
            </a:r>
            <a:r>
              <a:rPr lang="en" sz="1300" dirty="0" err="1">
                <a:solidFill>
                  <a:srgbClr val="000000"/>
                </a:solidFill>
              </a:rPr>
              <a:t>ScreenTape</a:t>
            </a:r>
            <a:endParaRPr sz="1300" dirty="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dirty="0">
                <a:solidFill>
                  <a:srgbClr val="000000"/>
                </a:solidFill>
              </a:rPr>
              <a:t>Gel electrophoresis</a:t>
            </a:r>
            <a:endParaRPr sz="1300" dirty="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dirty="0">
                <a:solidFill>
                  <a:srgbClr val="000000"/>
                </a:solidFill>
              </a:rPr>
              <a:t>Regular agarose gel for DNA</a:t>
            </a:r>
            <a:endParaRPr sz="1300" dirty="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dirty="0">
                <a:solidFill>
                  <a:srgbClr val="000000"/>
                </a:solidFill>
              </a:rPr>
              <a:t>TBE-urea gel for RNA</a:t>
            </a:r>
            <a:endParaRPr sz="1300" dirty="0">
              <a:solidFill>
                <a:srgbClr val="000000"/>
              </a:solidFill>
            </a:endParaRPr>
          </a:p>
        </p:txBody>
      </p:sp>
      <p:pic>
        <p:nvPicPr>
          <p:cNvPr id="382" name="Google Shape;382;p48"/>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383" name="Google Shape;383;p4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pic>
        <p:nvPicPr>
          <p:cNvPr id="384" name="Google Shape;384;p48"/>
          <p:cNvPicPr preferRelativeResize="0"/>
          <p:nvPr/>
        </p:nvPicPr>
        <p:blipFill rotWithShape="1">
          <a:blip r:embed="rId5">
            <a:alphaModFix/>
          </a:blip>
          <a:srcRect/>
          <a:stretch/>
        </p:blipFill>
        <p:spPr>
          <a:xfrm>
            <a:off x="5992250" y="3066525"/>
            <a:ext cx="3056173" cy="2025124"/>
          </a:xfrm>
          <a:prstGeom prst="rect">
            <a:avLst/>
          </a:prstGeom>
          <a:noFill/>
          <a:ln>
            <a:noFill/>
          </a:ln>
        </p:spPr>
      </p:pic>
      <p:pic>
        <p:nvPicPr>
          <p:cNvPr id="385" name="Google Shape;385;p48"/>
          <p:cNvPicPr preferRelativeResize="0"/>
          <p:nvPr/>
        </p:nvPicPr>
        <p:blipFill rotWithShape="1">
          <a:blip r:embed="rId6">
            <a:alphaModFix/>
          </a:blip>
          <a:srcRect/>
          <a:stretch/>
        </p:blipFill>
        <p:spPr>
          <a:xfrm>
            <a:off x="5559475" y="2571750"/>
            <a:ext cx="768075" cy="940724"/>
          </a:xfrm>
          <a:prstGeom prst="rect">
            <a:avLst/>
          </a:prstGeom>
          <a:noFill/>
          <a:ln>
            <a:noFill/>
          </a:ln>
        </p:spPr>
      </p:pic>
      <p:sp>
        <p:nvSpPr>
          <p:cNvPr id="386" name="Google Shape;386;p48"/>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xNA quality is crucial</a:t>
            </a:r>
            <a:endParaRPr sz="160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11725-13A2-1228-B3E9-04F9E9956EC5}"/>
              </a:ext>
            </a:extLst>
          </p:cNvPr>
          <p:cNvSpPr>
            <a:spLocks noGrp="1"/>
          </p:cNvSpPr>
          <p:nvPr>
            <p:ph type="title"/>
          </p:nvPr>
        </p:nvSpPr>
        <p:spPr>
          <a:xfrm>
            <a:off x="311700" y="150581"/>
            <a:ext cx="8520600" cy="572700"/>
          </a:xfrm>
        </p:spPr>
        <p:txBody>
          <a:bodyPr/>
          <a:lstStyle/>
          <a:p>
            <a:pPr algn="ctr"/>
            <a:r>
              <a:rPr lang="en-US" dirty="0"/>
              <a:t>Quality control of extraction: Integrity </a:t>
            </a:r>
          </a:p>
        </p:txBody>
      </p:sp>
      <p:pic>
        <p:nvPicPr>
          <p:cNvPr id="4" name="Google Shape;382;p48">
            <a:extLst>
              <a:ext uri="{FF2B5EF4-FFF2-40B4-BE49-F238E27FC236}">
                <a16:creationId xmlns:a16="http://schemas.microsoft.com/office/drawing/2014/main" id="{FC04A7B6-A1BC-F126-E1F8-F868AAED1E65}"/>
              </a:ext>
            </a:extLst>
          </p:cNvPr>
          <p:cNvPicPr preferRelativeResize="0"/>
          <p:nvPr/>
        </p:nvPicPr>
        <p:blipFill>
          <a:blip r:embed="rId2">
            <a:alphaModFix/>
          </a:blip>
          <a:stretch>
            <a:fillRect/>
          </a:stretch>
        </p:blipFill>
        <p:spPr>
          <a:xfrm rot="1149625">
            <a:off x="608610" y="372800"/>
            <a:ext cx="477581" cy="572204"/>
          </a:xfrm>
          <a:prstGeom prst="rect">
            <a:avLst/>
          </a:prstGeom>
          <a:noFill/>
          <a:ln>
            <a:noFill/>
          </a:ln>
        </p:spPr>
      </p:pic>
      <p:pic>
        <p:nvPicPr>
          <p:cNvPr id="8" name="Picture 7">
            <a:extLst>
              <a:ext uri="{FF2B5EF4-FFF2-40B4-BE49-F238E27FC236}">
                <a16:creationId xmlns:a16="http://schemas.microsoft.com/office/drawing/2014/main" id="{36ED544D-350D-5A74-FC47-885F06D29EDD}"/>
              </a:ext>
            </a:extLst>
          </p:cNvPr>
          <p:cNvPicPr>
            <a:picLocks noChangeAspect="1"/>
          </p:cNvPicPr>
          <p:nvPr/>
        </p:nvPicPr>
        <p:blipFill>
          <a:blip r:embed="rId3"/>
          <a:stretch>
            <a:fillRect/>
          </a:stretch>
        </p:blipFill>
        <p:spPr>
          <a:xfrm>
            <a:off x="3070457" y="2846880"/>
            <a:ext cx="1061986" cy="1962270"/>
          </a:xfrm>
          <a:prstGeom prst="rect">
            <a:avLst/>
          </a:prstGeom>
        </p:spPr>
      </p:pic>
      <p:pic>
        <p:nvPicPr>
          <p:cNvPr id="10" name="Picture 9">
            <a:extLst>
              <a:ext uri="{FF2B5EF4-FFF2-40B4-BE49-F238E27FC236}">
                <a16:creationId xmlns:a16="http://schemas.microsoft.com/office/drawing/2014/main" id="{48BFD586-127C-CCC3-5FAD-7DF9467D5799}"/>
              </a:ext>
            </a:extLst>
          </p:cNvPr>
          <p:cNvPicPr>
            <a:picLocks noChangeAspect="1"/>
          </p:cNvPicPr>
          <p:nvPr/>
        </p:nvPicPr>
        <p:blipFill>
          <a:blip r:embed="rId4"/>
          <a:srcRect l="11235" r="14668"/>
          <a:stretch>
            <a:fillRect/>
          </a:stretch>
        </p:blipFill>
        <p:spPr>
          <a:xfrm>
            <a:off x="406401" y="2237351"/>
            <a:ext cx="2245359" cy="1753673"/>
          </a:xfrm>
          <a:prstGeom prst="rect">
            <a:avLst/>
          </a:prstGeom>
        </p:spPr>
      </p:pic>
      <p:sp>
        <p:nvSpPr>
          <p:cNvPr id="15" name="TextBox 14">
            <a:extLst>
              <a:ext uri="{FF2B5EF4-FFF2-40B4-BE49-F238E27FC236}">
                <a16:creationId xmlns:a16="http://schemas.microsoft.com/office/drawing/2014/main" id="{59F228B6-06BD-51EA-E6AC-690CF5F3408D}"/>
              </a:ext>
            </a:extLst>
          </p:cNvPr>
          <p:cNvSpPr txBox="1"/>
          <p:nvPr/>
        </p:nvSpPr>
        <p:spPr>
          <a:xfrm>
            <a:off x="311700" y="1152476"/>
            <a:ext cx="4122123" cy="738664"/>
          </a:xfrm>
          <a:prstGeom prst="rect">
            <a:avLst/>
          </a:prstGeom>
          <a:noFill/>
        </p:spPr>
        <p:txBody>
          <a:bodyPr wrap="square" rtlCol="0">
            <a:spAutoFit/>
          </a:bodyPr>
          <a:lstStyle/>
          <a:p>
            <a:r>
              <a:rPr lang="en-US" dirty="0"/>
              <a:t>Capillary electrophoresis gives a value to assess integrity: a DIN (DNA integrity number) and a RIN (RNA integrity number)</a:t>
            </a:r>
          </a:p>
        </p:txBody>
      </p:sp>
      <p:sp>
        <p:nvSpPr>
          <p:cNvPr id="16" name="TextBox 15">
            <a:extLst>
              <a:ext uri="{FF2B5EF4-FFF2-40B4-BE49-F238E27FC236}">
                <a16:creationId xmlns:a16="http://schemas.microsoft.com/office/drawing/2014/main" id="{A609D80E-2F0E-36BD-B7A2-70A06F1D4362}"/>
              </a:ext>
            </a:extLst>
          </p:cNvPr>
          <p:cNvSpPr txBox="1"/>
          <p:nvPr/>
        </p:nvSpPr>
        <p:spPr>
          <a:xfrm>
            <a:off x="847400" y="4318000"/>
            <a:ext cx="1804360" cy="335280"/>
          </a:xfrm>
          <a:prstGeom prst="rect">
            <a:avLst/>
          </a:prstGeom>
          <a:noFill/>
        </p:spPr>
        <p:txBody>
          <a:bodyPr wrap="square" rtlCol="0">
            <a:spAutoFit/>
          </a:bodyPr>
          <a:lstStyle/>
          <a:p>
            <a:endParaRPr lang="en-US" dirty="0"/>
          </a:p>
        </p:txBody>
      </p:sp>
      <p:grpSp>
        <p:nvGrpSpPr>
          <p:cNvPr id="27" name="Group 26">
            <a:extLst>
              <a:ext uri="{FF2B5EF4-FFF2-40B4-BE49-F238E27FC236}">
                <a16:creationId xmlns:a16="http://schemas.microsoft.com/office/drawing/2014/main" id="{B179D332-C126-124F-7215-FEA1E373AA90}"/>
              </a:ext>
            </a:extLst>
          </p:cNvPr>
          <p:cNvGrpSpPr/>
          <p:nvPr/>
        </p:nvGrpSpPr>
        <p:grpSpPr>
          <a:xfrm>
            <a:off x="3048000" y="2882440"/>
            <a:ext cx="1301897" cy="277320"/>
            <a:chOff x="3048000" y="2882440"/>
            <a:chExt cx="1301897" cy="277320"/>
          </a:xfrm>
        </p:grpSpPr>
        <p:sp>
          <p:nvSpPr>
            <p:cNvPr id="17" name="Right Arrow 16">
              <a:extLst>
                <a:ext uri="{FF2B5EF4-FFF2-40B4-BE49-F238E27FC236}">
                  <a16:creationId xmlns:a16="http://schemas.microsoft.com/office/drawing/2014/main" id="{8EE17468-C15C-E6EE-C1C5-E9A5C28CD175}"/>
                </a:ext>
              </a:extLst>
            </p:cNvPr>
            <p:cNvSpPr/>
            <p:nvPr/>
          </p:nvSpPr>
          <p:spPr>
            <a:xfrm>
              <a:off x="3108960" y="2885440"/>
              <a:ext cx="1148080" cy="274320"/>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A070B10-0ECC-124B-E80B-F33DFAB326A2}"/>
                </a:ext>
              </a:extLst>
            </p:cNvPr>
            <p:cNvSpPr txBox="1"/>
            <p:nvPr/>
          </p:nvSpPr>
          <p:spPr>
            <a:xfrm>
              <a:off x="3048000" y="2882440"/>
              <a:ext cx="1301897" cy="215444"/>
            </a:xfrm>
            <a:prstGeom prst="rect">
              <a:avLst/>
            </a:prstGeom>
            <a:noFill/>
          </p:spPr>
          <p:txBody>
            <a:bodyPr wrap="square" rtlCol="0">
              <a:spAutoFit/>
            </a:bodyPr>
            <a:lstStyle/>
            <a:p>
              <a:r>
                <a:rPr lang="en-US" sz="800" dirty="0">
                  <a:solidFill>
                    <a:schemeClr val="bg1"/>
                  </a:solidFill>
                </a:rPr>
                <a:t>Increasing degradation</a:t>
              </a:r>
            </a:p>
          </p:txBody>
        </p:sp>
      </p:grpSp>
      <p:sp>
        <p:nvSpPr>
          <p:cNvPr id="19" name="TextBox 18">
            <a:extLst>
              <a:ext uri="{FF2B5EF4-FFF2-40B4-BE49-F238E27FC236}">
                <a16:creationId xmlns:a16="http://schemas.microsoft.com/office/drawing/2014/main" id="{5C18AB8B-58B7-9BEE-B039-A496EB6A76D8}"/>
              </a:ext>
            </a:extLst>
          </p:cNvPr>
          <p:cNvSpPr txBox="1"/>
          <p:nvPr/>
        </p:nvSpPr>
        <p:spPr>
          <a:xfrm>
            <a:off x="3364992" y="2628331"/>
            <a:ext cx="599440" cy="307777"/>
          </a:xfrm>
          <a:prstGeom prst="rect">
            <a:avLst/>
          </a:prstGeom>
          <a:noFill/>
        </p:spPr>
        <p:txBody>
          <a:bodyPr wrap="square" rtlCol="0">
            <a:spAutoFit/>
          </a:bodyPr>
          <a:lstStyle/>
          <a:p>
            <a:r>
              <a:rPr lang="en-US" dirty="0"/>
              <a:t>RNA</a:t>
            </a:r>
          </a:p>
        </p:txBody>
      </p:sp>
      <p:sp>
        <p:nvSpPr>
          <p:cNvPr id="20" name="TextBox 19">
            <a:extLst>
              <a:ext uri="{FF2B5EF4-FFF2-40B4-BE49-F238E27FC236}">
                <a16:creationId xmlns:a16="http://schemas.microsoft.com/office/drawing/2014/main" id="{1529195F-3A5D-3F3F-0D7A-30D1C17217E3}"/>
              </a:ext>
            </a:extLst>
          </p:cNvPr>
          <p:cNvSpPr txBox="1"/>
          <p:nvPr/>
        </p:nvSpPr>
        <p:spPr>
          <a:xfrm>
            <a:off x="1463041" y="2043540"/>
            <a:ext cx="599440" cy="307777"/>
          </a:xfrm>
          <a:prstGeom prst="rect">
            <a:avLst/>
          </a:prstGeom>
          <a:noFill/>
        </p:spPr>
        <p:txBody>
          <a:bodyPr wrap="square" rtlCol="0">
            <a:spAutoFit/>
          </a:bodyPr>
          <a:lstStyle/>
          <a:p>
            <a:r>
              <a:rPr lang="en-US" dirty="0"/>
              <a:t>DNA</a:t>
            </a:r>
          </a:p>
        </p:txBody>
      </p:sp>
      <p:sp>
        <p:nvSpPr>
          <p:cNvPr id="21" name="TextBox 20">
            <a:extLst>
              <a:ext uri="{FF2B5EF4-FFF2-40B4-BE49-F238E27FC236}">
                <a16:creationId xmlns:a16="http://schemas.microsoft.com/office/drawing/2014/main" id="{8079721F-6339-CBB1-FC88-3B17B3A5FC9F}"/>
              </a:ext>
            </a:extLst>
          </p:cNvPr>
          <p:cNvSpPr txBox="1"/>
          <p:nvPr/>
        </p:nvSpPr>
        <p:spPr>
          <a:xfrm>
            <a:off x="1266097" y="4219453"/>
            <a:ext cx="1676400" cy="738664"/>
          </a:xfrm>
          <a:prstGeom prst="rect">
            <a:avLst/>
          </a:prstGeom>
          <a:noFill/>
        </p:spPr>
        <p:txBody>
          <a:bodyPr wrap="square" rtlCol="0">
            <a:spAutoFit/>
          </a:bodyPr>
          <a:lstStyle/>
          <a:p>
            <a:r>
              <a:rPr lang="en-US" dirty="0"/>
              <a:t>As RNA degrades the 28S and 18S start to </a:t>
            </a:r>
            <a:r>
              <a:rPr lang="en-US" dirty="0" err="1"/>
              <a:t>disappea</a:t>
            </a:r>
            <a:endParaRPr lang="en-US" dirty="0"/>
          </a:p>
        </p:txBody>
      </p:sp>
      <p:pic>
        <p:nvPicPr>
          <p:cNvPr id="24" name="Picture 23">
            <a:extLst>
              <a:ext uri="{FF2B5EF4-FFF2-40B4-BE49-F238E27FC236}">
                <a16:creationId xmlns:a16="http://schemas.microsoft.com/office/drawing/2014/main" id="{9D0D0182-5E75-6972-ADB0-C0B32486FD50}"/>
              </a:ext>
            </a:extLst>
          </p:cNvPr>
          <p:cNvPicPr>
            <a:picLocks noChangeAspect="1"/>
          </p:cNvPicPr>
          <p:nvPr/>
        </p:nvPicPr>
        <p:blipFill>
          <a:blip r:embed="rId5"/>
          <a:stretch>
            <a:fillRect/>
          </a:stretch>
        </p:blipFill>
        <p:spPr>
          <a:xfrm>
            <a:off x="5031525" y="3569060"/>
            <a:ext cx="1241100" cy="1497879"/>
          </a:xfrm>
          <a:prstGeom prst="rect">
            <a:avLst/>
          </a:prstGeom>
        </p:spPr>
      </p:pic>
      <p:pic>
        <p:nvPicPr>
          <p:cNvPr id="25" name="Picture 24">
            <a:extLst>
              <a:ext uri="{FF2B5EF4-FFF2-40B4-BE49-F238E27FC236}">
                <a16:creationId xmlns:a16="http://schemas.microsoft.com/office/drawing/2014/main" id="{5573B5BA-9E89-9CC1-AFF3-70815BD456B3}"/>
              </a:ext>
            </a:extLst>
          </p:cNvPr>
          <p:cNvPicPr>
            <a:picLocks noChangeAspect="1"/>
          </p:cNvPicPr>
          <p:nvPr/>
        </p:nvPicPr>
        <p:blipFill>
          <a:blip r:embed="rId6"/>
          <a:stretch>
            <a:fillRect/>
          </a:stretch>
        </p:blipFill>
        <p:spPr>
          <a:xfrm>
            <a:off x="4970272" y="1702853"/>
            <a:ext cx="1455871" cy="1243377"/>
          </a:xfrm>
          <a:prstGeom prst="rect">
            <a:avLst/>
          </a:prstGeom>
        </p:spPr>
      </p:pic>
      <p:sp>
        <p:nvSpPr>
          <p:cNvPr id="26" name="TextBox 25">
            <a:extLst>
              <a:ext uri="{FF2B5EF4-FFF2-40B4-BE49-F238E27FC236}">
                <a16:creationId xmlns:a16="http://schemas.microsoft.com/office/drawing/2014/main" id="{DBA0390B-4A53-1174-D9C6-22233B124A5E}"/>
              </a:ext>
            </a:extLst>
          </p:cNvPr>
          <p:cNvSpPr txBox="1"/>
          <p:nvPr/>
        </p:nvSpPr>
        <p:spPr>
          <a:xfrm>
            <a:off x="4572000" y="1152476"/>
            <a:ext cx="2570480" cy="307777"/>
          </a:xfrm>
          <a:prstGeom prst="rect">
            <a:avLst/>
          </a:prstGeom>
          <a:noFill/>
        </p:spPr>
        <p:txBody>
          <a:bodyPr wrap="square" rtlCol="0">
            <a:spAutoFit/>
          </a:bodyPr>
          <a:lstStyle/>
          <a:p>
            <a:r>
              <a:rPr lang="en-US" dirty="0"/>
              <a:t>Agarose gel visualization</a:t>
            </a:r>
          </a:p>
        </p:txBody>
      </p:sp>
      <p:grpSp>
        <p:nvGrpSpPr>
          <p:cNvPr id="28" name="Group 27">
            <a:extLst>
              <a:ext uri="{FF2B5EF4-FFF2-40B4-BE49-F238E27FC236}">
                <a16:creationId xmlns:a16="http://schemas.microsoft.com/office/drawing/2014/main" id="{31B599F6-5D0D-AFCA-A99B-D58C2F350E70}"/>
              </a:ext>
            </a:extLst>
          </p:cNvPr>
          <p:cNvGrpSpPr/>
          <p:nvPr/>
        </p:nvGrpSpPr>
        <p:grpSpPr>
          <a:xfrm>
            <a:off x="5016860" y="2975527"/>
            <a:ext cx="1301897" cy="277320"/>
            <a:chOff x="3048000" y="2882440"/>
            <a:chExt cx="1301897" cy="277320"/>
          </a:xfrm>
        </p:grpSpPr>
        <p:sp>
          <p:nvSpPr>
            <p:cNvPr id="29" name="Right Arrow 28">
              <a:extLst>
                <a:ext uri="{FF2B5EF4-FFF2-40B4-BE49-F238E27FC236}">
                  <a16:creationId xmlns:a16="http://schemas.microsoft.com/office/drawing/2014/main" id="{838CDDB8-59BC-9AEE-9959-99177522AB8C}"/>
                </a:ext>
              </a:extLst>
            </p:cNvPr>
            <p:cNvSpPr/>
            <p:nvPr/>
          </p:nvSpPr>
          <p:spPr>
            <a:xfrm>
              <a:off x="3108960" y="2885440"/>
              <a:ext cx="1148080" cy="274320"/>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6EF2E10-940A-1B2D-8174-786B8E3653EB}"/>
                </a:ext>
              </a:extLst>
            </p:cNvPr>
            <p:cNvSpPr txBox="1"/>
            <p:nvPr/>
          </p:nvSpPr>
          <p:spPr>
            <a:xfrm>
              <a:off x="3048000" y="2882440"/>
              <a:ext cx="1301897" cy="215444"/>
            </a:xfrm>
            <a:prstGeom prst="rect">
              <a:avLst/>
            </a:prstGeom>
            <a:noFill/>
          </p:spPr>
          <p:txBody>
            <a:bodyPr wrap="square" rtlCol="0">
              <a:spAutoFit/>
            </a:bodyPr>
            <a:lstStyle/>
            <a:p>
              <a:r>
                <a:rPr lang="en-US" sz="800" dirty="0">
                  <a:solidFill>
                    <a:schemeClr val="bg1"/>
                  </a:solidFill>
                </a:rPr>
                <a:t>Increasing degradation</a:t>
              </a:r>
            </a:p>
          </p:txBody>
        </p:sp>
      </p:grpSp>
      <p:sp>
        <p:nvSpPr>
          <p:cNvPr id="31" name="TextBox 30">
            <a:extLst>
              <a:ext uri="{FF2B5EF4-FFF2-40B4-BE49-F238E27FC236}">
                <a16:creationId xmlns:a16="http://schemas.microsoft.com/office/drawing/2014/main" id="{F421652A-A715-A16D-6FAF-519849652880}"/>
              </a:ext>
            </a:extLst>
          </p:cNvPr>
          <p:cNvSpPr txBox="1"/>
          <p:nvPr/>
        </p:nvSpPr>
        <p:spPr>
          <a:xfrm>
            <a:off x="5398487" y="1487088"/>
            <a:ext cx="599440" cy="307777"/>
          </a:xfrm>
          <a:prstGeom prst="rect">
            <a:avLst/>
          </a:prstGeom>
          <a:noFill/>
        </p:spPr>
        <p:txBody>
          <a:bodyPr wrap="square" rtlCol="0">
            <a:spAutoFit/>
          </a:bodyPr>
          <a:lstStyle/>
          <a:p>
            <a:r>
              <a:rPr lang="en-US" dirty="0"/>
              <a:t>DNA</a:t>
            </a:r>
          </a:p>
        </p:txBody>
      </p:sp>
      <p:sp>
        <p:nvSpPr>
          <p:cNvPr id="32" name="TextBox 31">
            <a:extLst>
              <a:ext uri="{FF2B5EF4-FFF2-40B4-BE49-F238E27FC236}">
                <a16:creationId xmlns:a16="http://schemas.microsoft.com/office/drawing/2014/main" id="{4583C205-A7A7-B5FA-B77B-DEC8C620E1B7}"/>
              </a:ext>
            </a:extLst>
          </p:cNvPr>
          <p:cNvSpPr txBox="1"/>
          <p:nvPr/>
        </p:nvSpPr>
        <p:spPr>
          <a:xfrm>
            <a:off x="5352140" y="3227389"/>
            <a:ext cx="599440" cy="307777"/>
          </a:xfrm>
          <a:prstGeom prst="rect">
            <a:avLst/>
          </a:prstGeom>
          <a:noFill/>
        </p:spPr>
        <p:txBody>
          <a:bodyPr wrap="square" rtlCol="0">
            <a:spAutoFit/>
          </a:bodyPr>
          <a:lstStyle/>
          <a:p>
            <a:r>
              <a:rPr lang="en-US" dirty="0"/>
              <a:t>RNA</a:t>
            </a:r>
          </a:p>
        </p:txBody>
      </p:sp>
      <p:sp>
        <p:nvSpPr>
          <p:cNvPr id="33" name="Snip Diagonal Corner Rectangle 32">
            <a:extLst>
              <a:ext uri="{FF2B5EF4-FFF2-40B4-BE49-F238E27FC236}">
                <a16:creationId xmlns:a16="http://schemas.microsoft.com/office/drawing/2014/main" id="{ADB0555E-984D-AB6D-CBE3-C5587A54FBFE}"/>
              </a:ext>
            </a:extLst>
          </p:cNvPr>
          <p:cNvSpPr/>
          <p:nvPr/>
        </p:nvSpPr>
        <p:spPr>
          <a:xfrm>
            <a:off x="6701980" y="2043540"/>
            <a:ext cx="2059126" cy="1728218"/>
          </a:xfrm>
          <a:prstGeom prst="snip2DiagRect">
            <a:avLst/>
          </a:prstGeom>
          <a:solidFill>
            <a:schemeClr val="accent5">
              <a:lumMod val="75000"/>
              <a:alpha val="2781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C8FBB9C-1BBD-C1D5-4815-898CF66707E8}"/>
              </a:ext>
            </a:extLst>
          </p:cNvPr>
          <p:cNvSpPr txBox="1"/>
          <p:nvPr/>
        </p:nvSpPr>
        <p:spPr>
          <a:xfrm>
            <a:off x="6919434" y="2169995"/>
            <a:ext cx="1876003" cy="1384995"/>
          </a:xfrm>
          <a:prstGeom prst="rect">
            <a:avLst/>
          </a:prstGeom>
          <a:noFill/>
        </p:spPr>
        <p:txBody>
          <a:bodyPr wrap="square" rtlCol="0">
            <a:spAutoFit/>
          </a:bodyPr>
          <a:lstStyle/>
          <a:p>
            <a:r>
              <a:rPr lang="en-US" dirty="0"/>
              <a:t>Often low-input samples such as plasma or CSF are below  quantification and visualization thresholds</a:t>
            </a:r>
          </a:p>
        </p:txBody>
      </p:sp>
    </p:spTree>
    <p:extLst>
      <p:ext uri="{BB962C8B-B14F-4D97-AF65-F5344CB8AC3E}">
        <p14:creationId xmlns:p14="http://schemas.microsoft.com/office/powerpoint/2010/main" val="224244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59B3-450B-C9D5-FF02-385AB10831FC}"/>
              </a:ext>
            </a:extLst>
          </p:cNvPr>
          <p:cNvSpPr>
            <a:spLocks noGrp="1"/>
          </p:cNvSpPr>
          <p:nvPr>
            <p:ph type="title"/>
          </p:nvPr>
        </p:nvSpPr>
        <p:spPr/>
        <p:txBody>
          <a:bodyPr/>
          <a:lstStyle/>
          <a:p>
            <a:r>
              <a:rPr lang="en-US" dirty="0"/>
              <a:t>Capillary electrophoresis also separates </a:t>
            </a:r>
            <a:r>
              <a:rPr lang="en-US" dirty="0" err="1"/>
              <a:t>xNA</a:t>
            </a:r>
            <a:r>
              <a:rPr lang="en-US" dirty="0"/>
              <a:t> by size</a:t>
            </a:r>
          </a:p>
        </p:txBody>
      </p:sp>
      <p:pic>
        <p:nvPicPr>
          <p:cNvPr id="5" name="Picture 4">
            <a:extLst>
              <a:ext uri="{FF2B5EF4-FFF2-40B4-BE49-F238E27FC236}">
                <a16:creationId xmlns:a16="http://schemas.microsoft.com/office/drawing/2014/main" id="{09F797E5-B13F-E180-B3AC-1D5C0D5A7141}"/>
              </a:ext>
            </a:extLst>
          </p:cNvPr>
          <p:cNvPicPr>
            <a:picLocks noChangeAspect="1"/>
          </p:cNvPicPr>
          <p:nvPr/>
        </p:nvPicPr>
        <p:blipFill>
          <a:blip r:embed="rId3"/>
          <a:srcRect l="63637" t="58792" r="2574" b="11353"/>
          <a:stretch>
            <a:fillRect/>
          </a:stretch>
        </p:blipFill>
        <p:spPr>
          <a:xfrm>
            <a:off x="5501514" y="2415849"/>
            <a:ext cx="3162039" cy="1572425"/>
          </a:xfrm>
          <a:prstGeom prst="rect">
            <a:avLst/>
          </a:prstGeom>
        </p:spPr>
      </p:pic>
      <p:pic>
        <p:nvPicPr>
          <p:cNvPr id="7" name="Picture 6">
            <a:extLst>
              <a:ext uri="{FF2B5EF4-FFF2-40B4-BE49-F238E27FC236}">
                <a16:creationId xmlns:a16="http://schemas.microsoft.com/office/drawing/2014/main" id="{8C34E486-CF0D-68E6-784A-87F6CBABA4CF}"/>
              </a:ext>
            </a:extLst>
          </p:cNvPr>
          <p:cNvPicPr>
            <a:picLocks noChangeAspect="1"/>
          </p:cNvPicPr>
          <p:nvPr/>
        </p:nvPicPr>
        <p:blipFill>
          <a:blip r:embed="rId4"/>
          <a:srcRect l="1218" t="58890" r="40149" b="11131"/>
          <a:stretch>
            <a:fillRect/>
          </a:stretch>
        </p:blipFill>
        <p:spPr>
          <a:xfrm>
            <a:off x="480447" y="3202062"/>
            <a:ext cx="4695986" cy="1351342"/>
          </a:xfrm>
          <a:prstGeom prst="rect">
            <a:avLst/>
          </a:prstGeom>
        </p:spPr>
      </p:pic>
      <p:pic>
        <p:nvPicPr>
          <p:cNvPr id="10" name="Picture 9">
            <a:extLst>
              <a:ext uri="{FF2B5EF4-FFF2-40B4-BE49-F238E27FC236}">
                <a16:creationId xmlns:a16="http://schemas.microsoft.com/office/drawing/2014/main" id="{B44C8F6A-D5AC-A49B-13FC-68140E18D4D2}"/>
              </a:ext>
            </a:extLst>
          </p:cNvPr>
          <p:cNvPicPr>
            <a:picLocks noChangeAspect="1"/>
          </p:cNvPicPr>
          <p:nvPr/>
        </p:nvPicPr>
        <p:blipFill>
          <a:blip r:embed="rId4"/>
          <a:srcRect t="13092" b="42589"/>
          <a:stretch>
            <a:fillRect/>
          </a:stretch>
        </p:blipFill>
        <p:spPr>
          <a:xfrm>
            <a:off x="371766" y="1497139"/>
            <a:ext cx="4913347" cy="1225508"/>
          </a:xfrm>
          <a:prstGeom prst="rect">
            <a:avLst/>
          </a:prstGeom>
        </p:spPr>
      </p:pic>
      <p:sp>
        <p:nvSpPr>
          <p:cNvPr id="11" name="TextBox 10">
            <a:extLst>
              <a:ext uri="{FF2B5EF4-FFF2-40B4-BE49-F238E27FC236}">
                <a16:creationId xmlns:a16="http://schemas.microsoft.com/office/drawing/2014/main" id="{1BCB9B33-D9ED-DA1C-326E-A6E4F0F422F0}"/>
              </a:ext>
            </a:extLst>
          </p:cNvPr>
          <p:cNvSpPr txBox="1"/>
          <p:nvPr/>
        </p:nvSpPr>
        <p:spPr>
          <a:xfrm>
            <a:off x="480447" y="4664990"/>
            <a:ext cx="7237709" cy="307777"/>
          </a:xfrm>
          <a:prstGeom prst="rect">
            <a:avLst/>
          </a:prstGeom>
          <a:noFill/>
        </p:spPr>
        <p:txBody>
          <a:bodyPr wrap="square" rtlCol="0">
            <a:spAutoFit/>
          </a:bodyPr>
          <a:lstStyle/>
          <a:p>
            <a:r>
              <a:rPr lang="en-US" dirty="0"/>
              <a:t>Smaller fragments arrive first and fluorescence produces </a:t>
            </a:r>
            <a:r>
              <a:rPr lang="en-US" dirty="0" err="1"/>
              <a:t>peacks</a:t>
            </a:r>
            <a:endParaRPr lang="en-US" dirty="0"/>
          </a:p>
        </p:txBody>
      </p:sp>
    </p:spTree>
    <p:extLst>
      <p:ext uri="{BB962C8B-B14F-4D97-AF65-F5344CB8AC3E}">
        <p14:creationId xmlns:p14="http://schemas.microsoft.com/office/powerpoint/2010/main" val="848549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9"/>
          <p:cNvSpPr txBox="1">
            <a:spLocks noGrp="1"/>
          </p:cNvSpPr>
          <p:nvPr>
            <p:ph type="body" idx="1"/>
          </p:nvPr>
        </p:nvSpPr>
        <p:spPr>
          <a:xfrm>
            <a:off x="172900" y="1019325"/>
            <a:ext cx="8520600" cy="572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chemeClr val="dk1"/>
                </a:solidFill>
              </a:rPr>
              <a:t>Keep in mind:</a:t>
            </a:r>
            <a:endParaRPr sz="1400">
              <a:solidFill>
                <a:schemeClr val="dk1"/>
              </a:solidFill>
            </a:endParaRPr>
          </a:p>
          <a:p>
            <a:pPr marL="0" lvl="0" indent="0" algn="l" rtl="0">
              <a:lnSpc>
                <a:spcPct val="150000"/>
              </a:lnSpc>
              <a:spcBef>
                <a:spcPts val="0"/>
              </a:spcBef>
              <a:spcAft>
                <a:spcPts val="0"/>
              </a:spcAft>
              <a:buNone/>
            </a:pPr>
            <a:endParaRPr sz="7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Magnetic stands for 1.5 ml tubes usually accommodate only 8 tubes at a time</a:t>
            </a:r>
            <a:endParaRPr sz="14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Cross-contamination should be avoided as much as possible!!</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Process samples with high pathogen content separately from samples with low pathogen content (if you can)</a:t>
            </a:r>
            <a:endParaRPr sz="1400">
              <a:solidFill>
                <a:schemeClr val="dk1"/>
              </a:solidFill>
            </a:endParaRPr>
          </a:p>
          <a:p>
            <a:pPr marL="457200" lvl="0" indent="0" algn="l" rtl="0">
              <a:lnSpc>
                <a:spcPct val="150000"/>
              </a:lnSpc>
              <a:spcBef>
                <a:spcPts val="0"/>
              </a:spcBef>
              <a:spcAft>
                <a:spcPts val="0"/>
              </a:spcAft>
              <a:buNone/>
            </a:pPr>
            <a:endParaRPr sz="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Use water controls to estimate the level of cross-contamination</a:t>
            </a:r>
            <a:endParaRPr sz="1400">
              <a:solidFill>
                <a:schemeClr val="dk1"/>
              </a:solidFill>
            </a:endParaRPr>
          </a:p>
          <a:p>
            <a:pPr marL="1371600" marR="0" lvl="2" indent="-317500" algn="l" rtl="0">
              <a:lnSpc>
                <a:spcPct val="150000"/>
              </a:lnSpc>
              <a:spcBef>
                <a:spcPts val="0"/>
              </a:spcBef>
              <a:spcAft>
                <a:spcPts val="0"/>
              </a:spcAft>
              <a:buClr>
                <a:schemeClr val="dk1"/>
              </a:buClr>
              <a:buSzPts val="1400"/>
              <a:buChar char="■"/>
            </a:pPr>
            <a:r>
              <a:rPr lang="en">
                <a:solidFill>
                  <a:schemeClr val="dk1"/>
                </a:solidFill>
              </a:rPr>
              <a:t>Space out samples with water controls, and/or empty spots in the magnetic rack</a:t>
            </a:r>
            <a:endParaRPr>
              <a:solidFill>
                <a:schemeClr val="dk1"/>
              </a:solidFill>
            </a:endParaRPr>
          </a:p>
          <a:p>
            <a:pPr marL="1371600" lvl="2" indent="-317500" algn="l" rtl="0">
              <a:lnSpc>
                <a:spcPct val="150000"/>
              </a:lnSpc>
              <a:spcBef>
                <a:spcPts val="0"/>
              </a:spcBef>
              <a:spcAft>
                <a:spcPts val="0"/>
              </a:spcAft>
              <a:buClr>
                <a:schemeClr val="dk1"/>
              </a:buClr>
              <a:buSzPts val="1400"/>
              <a:buChar char="■"/>
            </a:pPr>
            <a:r>
              <a:rPr lang="en">
                <a:solidFill>
                  <a:schemeClr val="dk1"/>
                </a:solidFill>
              </a:rPr>
              <a:t>E.g. for 4 samples:</a:t>
            </a:r>
            <a:endParaRPr>
              <a:solidFill>
                <a:schemeClr val="dk1"/>
              </a:solidFill>
            </a:endParaRPr>
          </a:p>
          <a:p>
            <a:pPr marL="1371600" lvl="0" indent="0" algn="l" rtl="0">
              <a:lnSpc>
                <a:spcPct val="150000"/>
              </a:lnSpc>
              <a:spcBef>
                <a:spcPts val="0"/>
              </a:spcBef>
              <a:spcAft>
                <a:spcPts val="0"/>
              </a:spcAft>
              <a:buNone/>
            </a:pPr>
            <a:endParaRPr>
              <a:solidFill>
                <a:schemeClr val="dk1"/>
              </a:solidFill>
            </a:endParaRPr>
          </a:p>
          <a:p>
            <a:pPr marL="0" lvl="0" indent="0" algn="l" rtl="0">
              <a:lnSpc>
                <a:spcPct val="150000"/>
              </a:lnSpc>
              <a:spcBef>
                <a:spcPts val="0"/>
              </a:spcBef>
              <a:spcAft>
                <a:spcPts val="0"/>
              </a:spcAft>
              <a:buNone/>
            </a:pPr>
            <a:endParaRPr sz="1400">
              <a:solidFill>
                <a:schemeClr val="dk1"/>
              </a:solidFill>
            </a:endParaRPr>
          </a:p>
          <a:p>
            <a:pPr marL="1371600" lvl="0" indent="0" algn="l" rtl="0">
              <a:lnSpc>
                <a:spcPct val="150000"/>
              </a:lnSpc>
              <a:spcBef>
                <a:spcPts val="0"/>
              </a:spcBef>
              <a:spcAft>
                <a:spcPts val="0"/>
              </a:spcAft>
              <a:buNone/>
            </a:pPr>
            <a:endParaRPr>
              <a:solidFill>
                <a:schemeClr val="dk1"/>
              </a:solidFill>
            </a:endParaRPr>
          </a:p>
        </p:txBody>
      </p:sp>
      <p:pic>
        <p:nvPicPr>
          <p:cNvPr id="392" name="Google Shape;392;p49"/>
          <p:cNvPicPr preferRelativeResize="0"/>
          <p:nvPr/>
        </p:nvPicPr>
        <p:blipFill>
          <a:blip r:embed="rId3">
            <a:alphaModFix/>
          </a:blip>
          <a:stretch>
            <a:fillRect/>
          </a:stretch>
        </p:blipFill>
        <p:spPr>
          <a:xfrm>
            <a:off x="3492436" y="3964147"/>
            <a:ext cx="473250" cy="792774"/>
          </a:xfrm>
          <a:prstGeom prst="rect">
            <a:avLst/>
          </a:prstGeom>
          <a:noFill/>
          <a:ln>
            <a:noFill/>
          </a:ln>
        </p:spPr>
      </p:pic>
      <p:pic>
        <p:nvPicPr>
          <p:cNvPr id="393" name="Google Shape;393;p49"/>
          <p:cNvPicPr preferRelativeResize="0"/>
          <p:nvPr/>
        </p:nvPicPr>
        <p:blipFill>
          <a:blip r:embed="rId3">
            <a:alphaModFix/>
          </a:blip>
          <a:stretch>
            <a:fillRect/>
          </a:stretch>
        </p:blipFill>
        <p:spPr>
          <a:xfrm>
            <a:off x="4073672" y="3964147"/>
            <a:ext cx="473250" cy="792774"/>
          </a:xfrm>
          <a:prstGeom prst="rect">
            <a:avLst/>
          </a:prstGeom>
          <a:noFill/>
          <a:ln>
            <a:noFill/>
          </a:ln>
        </p:spPr>
      </p:pic>
      <p:pic>
        <p:nvPicPr>
          <p:cNvPr id="394" name="Google Shape;394;p49"/>
          <p:cNvPicPr preferRelativeResize="0"/>
          <p:nvPr/>
        </p:nvPicPr>
        <p:blipFill>
          <a:blip r:embed="rId3">
            <a:alphaModFix/>
          </a:blip>
          <a:stretch>
            <a:fillRect/>
          </a:stretch>
        </p:blipFill>
        <p:spPr>
          <a:xfrm>
            <a:off x="4654909" y="3964147"/>
            <a:ext cx="473250" cy="792774"/>
          </a:xfrm>
          <a:prstGeom prst="rect">
            <a:avLst/>
          </a:prstGeom>
          <a:noFill/>
          <a:ln>
            <a:noFill/>
          </a:ln>
        </p:spPr>
      </p:pic>
      <p:pic>
        <p:nvPicPr>
          <p:cNvPr id="395" name="Google Shape;395;p49"/>
          <p:cNvPicPr preferRelativeResize="0"/>
          <p:nvPr/>
        </p:nvPicPr>
        <p:blipFill>
          <a:blip r:embed="rId3">
            <a:alphaModFix/>
          </a:blip>
          <a:stretch>
            <a:fillRect/>
          </a:stretch>
        </p:blipFill>
        <p:spPr>
          <a:xfrm>
            <a:off x="5236145" y="3964147"/>
            <a:ext cx="473250" cy="792774"/>
          </a:xfrm>
          <a:prstGeom prst="rect">
            <a:avLst/>
          </a:prstGeom>
          <a:noFill/>
          <a:ln>
            <a:noFill/>
          </a:ln>
        </p:spPr>
      </p:pic>
      <p:pic>
        <p:nvPicPr>
          <p:cNvPr id="396" name="Google Shape;396;p49"/>
          <p:cNvPicPr preferRelativeResize="0"/>
          <p:nvPr/>
        </p:nvPicPr>
        <p:blipFill>
          <a:blip r:embed="rId3">
            <a:alphaModFix/>
          </a:blip>
          <a:stretch>
            <a:fillRect/>
          </a:stretch>
        </p:blipFill>
        <p:spPr>
          <a:xfrm>
            <a:off x="5817382" y="3964147"/>
            <a:ext cx="473250" cy="792774"/>
          </a:xfrm>
          <a:prstGeom prst="rect">
            <a:avLst/>
          </a:prstGeom>
          <a:noFill/>
          <a:ln>
            <a:noFill/>
          </a:ln>
        </p:spPr>
      </p:pic>
      <p:sp>
        <p:nvSpPr>
          <p:cNvPr id="397" name="Google Shape;397;p49"/>
          <p:cNvSpPr txBox="1"/>
          <p:nvPr/>
        </p:nvSpPr>
        <p:spPr>
          <a:xfrm>
            <a:off x="35686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398" name="Google Shape;398;p49"/>
          <p:cNvSpPr txBox="1"/>
          <p:nvPr/>
        </p:nvSpPr>
        <p:spPr>
          <a:xfrm>
            <a:off x="471897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399" name="Google Shape;399;p49"/>
          <p:cNvSpPr txBox="1"/>
          <p:nvPr/>
        </p:nvSpPr>
        <p:spPr>
          <a:xfrm>
            <a:off x="58693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00" name="Google Shape;400;p49"/>
          <p:cNvSpPr txBox="1"/>
          <p:nvPr/>
        </p:nvSpPr>
        <p:spPr>
          <a:xfrm>
            <a:off x="41057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01" name="Google Shape;401;p49"/>
          <p:cNvSpPr txBox="1"/>
          <p:nvPr/>
        </p:nvSpPr>
        <p:spPr>
          <a:xfrm>
            <a:off x="52560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pic>
        <p:nvPicPr>
          <p:cNvPr id="402" name="Google Shape;402;p49"/>
          <p:cNvPicPr preferRelativeResize="0"/>
          <p:nvPr/>
        </p:nvPicPr>
        <p:blipFill>
          <a:blip r:embed="rId3">
            <a:alphaModFix/>
          </a:blip>
          <a:stretch>
            <a:fillRect/>
          </a:stretch>
        </p:blipFill>
        <p:spPr>
          <a:xfrm>
            <a:off x="6398618" y="3964147"/>
            <a:ext cx="473250" cy="792774"/>
          </a:xfrm>
          <a:prstGeom prst="rect">
            <a:avLst/>
          </a:prstGeom>
          <a:noFill/>
          <a:ln>
            <a:noFill/>
          </a:ln>
        </p:spPr>
      </p:pic>
      <p:pic>
        <p:nvPicPr>
          <p:cNvPr id="403" name="Google Shape;403;p49"/>
          <p:cNvPicPr preferRelativeResize="0"/>
          <p:nvPr/>
        </p:nvPicPr>
        <p:blipFill>
          <a:blip r:embed="rId3">
            <a:alphaModFix/>
          </a:blip>
          <a:stretch>
            <a:fillRect/>
          </a:stretch>
        </p:blipFill>
        <p:spPr>
          <a:xfrm>
            <a:off x="6979855" y="3964147"/>
            <a:ext cx="473250" cy="792774"/>
          </a:xfrm>
          <a:prstGeom prst="rect">
            <a:avLst/>
          </a:prstGeom>
          <a:noFill/>
          <a:ln>
            <a:noFill/>
          </a:ln>
        </p:spPr>
      </p:pic>
      <p:pic>
        <p:nvPicPr>
          <p:cNvPr id="404" name="Google Shape;404;p49"/>
          <p:cNvPicPr preferRelativeResize="0"/>
          <p:nvPr/>
        </p:nvPicPr>
        <p:blipFill>
          <a:blip r:embed="rId3">
            <a:alphaModFix/>
          </a:blip>
          <a:stretch>
            <a:fillRect/>
          </a:stretch>
        </p:blipFill>
        <p:spPr>
          <a:xfrm>
            <a:off x="7561091" y="3964147"/>
            <a:ext cx="473250" cy="792774"/>
          </a:xfrm>
          <a:prstGeom prst="rect">
            <a:avLst/>
          </a:prstGeom>
          <a:noFill/>
          <a:ln>
            <a:noFill/>
          </a:ln>
        </p:spPr>
      </p:pic>
      <p:sp>
        <p:nvSpPr>
          <p:cNvPr id="405" name="Google Shape;405;p49"/>
          <p:cNvSpPr txBox="1"/>
          <p:nvPr/>
        </p:nvSpPr>
        <p:spPr>
          <a:xfrm>
            <a:off x="6406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06" name="Google Shape;406;p49"/>
          <p:cNvSpPr txBox="1"/>
          <p:nvPr/>
        </p:nvSpPr>
        <p:spPr>
          <a:xfrm>
            <a:off x="75567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empty</a:t>
            </a:r>
            <a:endParaRPr sz="1200"/>
          </a:p>
        </p:txBody>
      </p:sp>
      <p:sp>
        <p:nvSpPr>
          <p:cNvPr id="407" name="Google Shape;407;p49"/>
          <p:cNvSpPr txBox="1"/>
          <p:nvPr/>
        </p:nvSpPr>
        <p:spPr>
          <a:xfrm>
            <a:off x="6969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pic>
        <p:nvPicPr>
          <p:cNvPr id="408" name="Google Shape;408;p49"/>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409" name="Google Shape;409;p49"/>
          <p:cNvSpPr txBox="1">
            <a:spLocks noGrp="1"/>
          </p:cNvSpPr>
          <p:nvPr>
            <p:ph type="title"/>
          </p:nvPr>
        </p:nvSpPr>
        <p:spPr>
          <a:xfrm>
            <a:off x="939400" y="252725"/>
            <a:ext cx="262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lvl="0" algn="ctr"/>
            <a:r>
              <a:rPr lang="en" sz="2000" b="1" dirty="0">
                <a:solidFill>
                  <a:srgbClr val="D9D9D9"/>
                </a:solidFill>
              </a:rPr>
              <a:t>Next: 04-I_Library prep for Illumina / 04-O_Library prep for ONT</a:t>
            </a:r>
            <a:r>
              <a:rPr lang="en" sz="6100" b="1" dirty="0">
                <a:solidFill>
                  <a:srgbClr val="D9D9D9"/>
                </a:solidFill>
              </a:rPr>
              <a:t> </a:t>
            </a:r>
            <a:endParaRPr sz="6100" b="1" dirty="0">
              <a:solidFill>
                <a:srgbClr val="D9D9D9"/>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1697</Words>
  <Application>Microsoft Macintosh PowerPoint</Application>
  <PresentationFormat>On-screen Show (16:9)</PresentationFormat>
  <Paragraphs>207</Paragraphs>
  <Slides>21</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Courier New</vt:lpstr>
      <vt:lpstr>Noto Sans Symbols</vt:lpstr>
      <vt:lpstr>Simple Light</vt:lpstr>
      <vt:lpstr>Simple Light</vt:lpstr>
      <vt:lpstr>mNGS Lab setup and sample preparation</vt:lpstr>
      <vt:lpstr>Key points to learn in this session</vt:lpstr>
      <vt:lpstr>mNGS pipeline</vt:lpstr>
      <vt:lpstr>mNGS pipeline</vt:lpstr>
      <vt:lpstr>mNGS pipeline</vt:lpstr>
      <vt:lpstr>Important considerations for setting up a lab &amp; collecting samples for mNGS</vt:lpstr>
      <vt:lpstr>Lab setup</vt:lpstr>
      <vt:lpstr>Lab setup</vt:lpstr>
      <vt:lpstr>Lab setup</vt:lpstr>
      <vt:lpstr>Lab setup</vt:lpstr>
      <vt:lpstr>Lab setup</vt:lpstr>
      <vt:lpstr>Questions?</vt:lpstr>
      <vt:lpstr>mNGS pipeline</vt:lpstr>
      <vt:lpstr>PowerPoint Presentation</vt:lpstr>
      <vt:lpstr>xNA extraction</vt:lpstr>
      <vt:lpstr>xNA extraction</vt:lpstr>
      <vt:lpstr>xNA extraction</vt:lpstr>
      <vt:lpstr>Quality control of extraction: Integrity </vt:lpstr>
      <vt:lpstr>Capillary electrophoresis also separates xNA by size</vt:lpstr>
      <vt:lpstr>xNA extraction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10</cp:revision>
  <dcterms:modified xsi:type="dcterms:W3CDTF">2026-10-08T23:33:38Z</dcterms:modified>
</cp:coreProperties>
</file>