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h5CtBjUSiiFVS0LTjbxPpaMSp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1E6587-575E-4002-BBC1-B68D7DEDE265}">
  <a:tblStyle styleId="{471E6587-575E-4002-BBC1-B68D7DEDE2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32C9CD5-0983-4F66-87FC-8E090F406F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75"/>
  </p:normalViewPr>
  <p:slideViewPr>
    <p:cSldViewPr snapToGrid="0">
      <p:cViewPr varScale="1">
        <p:scale>
          <a:sx n="143" d="100"/>
          <a:sy n="143" d="100"/>
        </p:scale>
        <p:origin x="85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High abundance doesn’t mean pathogen, but is a good place to start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CZ ID only requires a 36 bp alignment to include taxa in the report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Consider NT contigs and scale.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Applies to all taxonomic groups.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this taxon interesting to our study?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Look at total reads for this sample -&gt; low total, not surprising to have low coverage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BLAST -&gt; specificity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360036305973-Filte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Sample Report Metrics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5F5F73-F46F-3D9E-C4CE-2B17E574690F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57525"/>
            <a:ext cx="8839204" cy="41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Reading the sample report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3"/>
          <p:cNvGraphicFramePr/>
          <p:nvPr/>
        </p:nvGraphicFramePr>
        <p:xfrm>
          <a:off x="417250" y="856300"/>
          <a:ext cx="8376325" cy="4054300"/>
        </p:xfrm>
        <a:graphic>
          <a:graphicData uri="http://schemas.openxmlformats.org/drawingml/2006/table">
            <a:tbl>
              <a:tblPr>
                <a:noFill/>
                <a:tableStyleId>{471E6587-575E-4002-BBC1-B68D7DEDE265}</a:tableStyleId>
              </a:tblPr>
              <a:tblGrid>
                <a:gridCol w="13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6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Metric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Definition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Interpretation</a:t>
                      </a:r>
                      <a:endParaRPr sz="1200" b="1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rPM</a:t>
                      </a: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taxon per million reads sequenced (normalized metric)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rPM = more confidence in the hit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0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taxon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 r = more confidence in the hit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2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assembled contigs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Longer contig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 r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assembled contigs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Contig 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id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% identity of alignment to accession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Should be taken into account with other metrics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length of alignment of contigs and reads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Longer alignment = more confidence (if it’s divergent, L may not be high)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8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 value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expect value of alignment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Lower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Google Shape;72;p3"/>
          <p:cNvSpPr txBox="1"/>
          <p:nvPr/>
        </p:nvSpPr>
        <p:spPr>
          <a:xfrm>
            <a:off x="800250" y="161050"/>
            <a:ext cx="772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Gaining confidence in species calls using report metrics</a:t>
            </a:r>
            <a:endParaRPr sz="2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t="7570"/>
          <a:stretch/>
        </p:blipFill>
        <p:spPr>
          <a:xfrm>
            <a:off x="152400" y="1926325"/>
            <a:ext cx="8839198" cy="10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7025400" y="1297600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nucleotide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protein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9" name="Google Shape;79;p4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Each metric shows 2 results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t="7570"/>
          <a:stretch/>
        </p:blipFill>
        <p:spPr>
          <a:xfrm>
            <a:off x="152400" y="1926325"/>
            <a:ext cx="8839198" cy="10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7025400" y="1297600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nucleotide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protein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6" name="Google Shape;86;p5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Each metric shows 2 results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64375" y="3151325"/>
            <a:ext cx="77343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Interpretation Notes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Reads aligning to both databases: Good sign that the hit is true (more to it than that)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If a read is viral and only has a hit to the NR database: Hit could represent a divergent virus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If a hit is bacterial and it only has a hit to the NT database: Sequences may be aligning to the 16S rRNA region, which is not in the NR databases (should not be trusted)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Filters are helpful at removing false hits, but not perfect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571550" y="1107050"/>
            <a:ext cx="76485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Using the following filters is a good place to start:</a:t>
            </a: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 L &gt;= 50 </a:t>
            </a:r>
            <a:endParaRPr sz="1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○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only want to see taxa with at least 50 bp that align to the nucleotide database in NCBI</a:t>
            </a: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rPM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&gt;= 10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○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only want to see taxa with at least 10 reads per million that align to the nucleotide database. Reads per million is a normalized value that takes into account total reads. </a:t>
            </a: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rPM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&gt;= 1</a:t>
            </a:r>
            <a:endParaRPr sz="1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○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only want to see taxa with at least 1 read that aligns to the protein database in NCBI. Having at least 1 hit to the protein database ensures that you are not hitting a conserved region. </a:t>
            </a: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Read more about filtering </a:t>
            </a:r>
            <a:r>
              <a:rPr lang="en" sz="1400" b="0" i="0" u="sng" strike="noStrike" cap="none" dirty="0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3"/>
              </a:rPr>
              <a:t>here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95775"/>
            <a:ext cx="8839200" cy="25117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The coverage visualization is valuable for evaluating hits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l="10159" t="54735" r="1266" b="10973"/>
          <a:stretch/>
        </p:blipFill>
        <p:spPr>
          <a:xfrm>
            <a:off x="865525" y="2343950"/>
            <a:ext cx="7828973" cy="86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 rot="-5400000">
            <a:off x="47425" y="24207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3907800" y="3210425"/>
            <a:ext cx="131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8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Take into consideration the depth and breadth of the coverage (the higher, the better)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Taking into account coverage breadth and depth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98250" y="1162250"/>
          <a:ext cx="8911450" cy="342225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{332C9CD5-0983-4F66-87FC-8E090F406FB0}</a:tableStyleId>
              </a:tblPr>
              <a:tblGrid>
                <a:gridCol w="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Breadth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How to Interpret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Provides you with confidence that this is a true hit!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If there is coverage across multiple regions of the genome, this is likely a real hit. Evaluate the assembled contigs (NT L) and ensure the alignment is good (% identity).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Depends on whether the small portion that has high coverage is unique to that particular taxon and on the quality of the alignment and assembly. 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be a result of genomic similarity at the 16S rRNA region (for bacteria)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t="2591"/>
          <a:stretch/>
        </p:blipFill>
        <p:spPr>
          <a:xfrm>
            <a:off x="152400" y="1705375"/>
            <a:ext cx="8839199" cy="2156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9" name="Google Shape;119;p10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viral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t="2505"/>
          <a:stretch/>
        </p:blipFill>
        <p:spPr>
          <a:xfrm>
            <a:off x="152400" y="1477400"/>
            <a:ext cx="8839199" cy="2166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49525"/>
            <a:ext cx="8839201" cy="25514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BLAST can be used for hit confirmation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100" y="1090750"/>
            <a:ext cx="3310192" cy="38209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do our own analysis!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D639F3-6688-5A0E-1188-F0344EFA4783}"/>
              </a:ext>
            </a:extLst>
          </p:cNvPr>
          <p:cNvSpPr txBox="1"/>
          <p:nvPr/>
        </p:nvSpPr>
        <p:spPr>
          <a:xfrm>
            <a:off x="81027" y="3352800"/>
            <a:ext cx="89819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Current Activity</a:t>
            </a:r>
            <a:r>
              <a:rPr lang="en-US" sz="1800" dirty="0"/>
              <a:t>:</a:t>
            </a:r>
            <a:r>
              <a:rPr lang="en-US" sz="1800" b="1" dirty="0"/>
              <a:t> </a:t>
            </a:r>
            <a:r>
              <a:rPr lang="en-US" sz="1800" dirty="0"/>
              <a:t>CZ ID Training Reference Tables &amp; </a:t>
            </a:r>
            <a:r>
              <a:rPr lang="en-US" sz="1800" dirty="0" err="1"/>
              <a:t>Worksheets_Illumina</a:t>
            </a:r>
            <a:r>
              <a:rPr lang="en-US" sz="1800" dirty="0"/>
              <a:t> (</a:t>
            </a:r>
            <a:r>
              <a:rPr lang="en-US" sz="1800" dirty="0" err="1"/>
              <a:t>pg</a:t>
            </a:r>
            <a:r>
              <a:rPr lang="en-US" sz="1800" dirty="0"/>
              <a:t> 12-13)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Next Slides</a:t>
            </a:r>
            <a:r>
              <a:rPr lang="en-US" dirty="0"/>
              <a:t>: DL7-I_Background models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720</Words>
  <Application>Microsoft Macintosh PowerPoint</Application>
  <PresentationFormat>On-screen Show (16:9)</PresentationFormat>
  <Paragraphs>96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Open Sans</vt:lpstr>
      <vt:lpstr>Poppins</vt:lpstr>
      <vt:lpstr>Helvetica Neue Light</vt:lpstr>
      <vt:lpstr>Arial</vt:lpstr>
      <vt:lpstr>Helvetica Neue</vt:lpstr>
      <vt:lpstr>Simple Light</vt:lpstr>
      <vt:lpstr>Disclaimer</vt:lpstr>
      <vt:lpstr>PowerPoint Presentation</vt:lpstr>
      <vt:lpstr>Reading the sample report</vt:lpstr>
      <vt:lpstr>PowerPoint Presentation</vt:lpstr>
      <vt:lpstr>Each metric shows 2 results </vt:lpstr>
      <vt:lpstr>Each metric shows 2 results </vt:lpstr>
      <vt:lpstr>Filters are helpful at removing false hits, but not perfect</vt:lpstr>
      <vt:lpstr>The coverage visualization is valuable for evaluating hits</vt:lpstr>
      <vt:lpstr>Take into consideration the depth and breadth of the coverage (the higher, the better)</vt:lpstr>
      <vt:lpstr>Taking into account coverage breadth and depth</vt:lpstr>
      <vt:lpstr>What do we think about this viral hit?</vt:lpstr>
      <vt:lpstr>What do we think about this bacterial hit?</vt:lpstr>
      <vt:lpstr>What do we think about this bacterial hit?</vt:lpstr>
      <vt:lpstr>BLAST can be used for hit confirmation </vt:lpstr>
      <vt:lpstr>Let’s do our own analysis!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4</cp:revision>
  <dcterms:modified xsi:type="dcterms:W3CDTF">2026-09-29T00:28:11Z</dcterms:modified>
</cp:coreProperties>
</file>