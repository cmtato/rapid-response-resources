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311" r:id="rId2"/>
    <p:sldId id="256" r:id="rId3"/>
    <p:sldId id="264" r:id="rId4"/>
    <p:sldId id="265" r:id="rId5"/>
    <p:sldId id="266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313" r:id="rId17"/>
    <p:sldId id="308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0" roundtripDataSignature="AMtx7mhd9VYD3NL8QyADonfjY+3WzZlq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F97E3D-FE87-4444-BE23-F000EFC736B7}">
  <a:tblStyle styleId="{83F97E3D-FE87-4444-BE23-F000EFC736B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49"/>
    <p:restoredTop sz="94428"/>
  </p:normalViewPr>
  <p:slideViewPr>
    <p:cSldViewPr snapToGrid="0">
      <p:cViewPr varScale="1">
        <p:scale>
          <a:sx n="132" d="100"/>
          <a:sy n="132" d="100"/>
        </p:scale>
        <p:origin x="176" y="3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80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f51ae4fd8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6f51ae4fd8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f51ae4fd8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6f51ae4fd8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f51ae4fd8_1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6f51ae4fd8_1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f51ae4fd8_1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What’s what</a:t>
            </a:r>
            <a:endParaRPr/>
          </a:p>
        </p:txBody>
      </p:sp>
      <p:sp>
        <p:nvSpPr>
          <p:cNvPr id="192" name="Google Shape;192;g36f51ae4fd8_1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f51ae4fd8_1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6f51ae4fd8_1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f51ae4fd8_1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6f51ae4fd8_1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POD5 is analyzed in parallel any column can be accessed at any time, while FAST5 is hierarchical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2afa72b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02afa72b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2afa72b2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02afa72b2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2afa72b2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02afa72b2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2afa72b2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02afa72b2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 if something doesn’t have an NR hot it is probably because is less than 1Kb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https://github.com/gowtham-thakku/ont-heatmap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https://ont-heatmap.streamlit.app/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02afa72b26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g302afa72b26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360034790414-Upload-mNGS-Data-Using-Command-Lin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nzuckerberg.zendesk.com/hc/en-us/articles/360051806072" TargetMode="External"/><Relationship Id="rId4" Type="http://schemas.openxmlformats.org/officeDocument/2006/relationships/hyperlink" Target="https://chanzuckerberg.zendesk.com/hc/en-us/articles/360051806072-Concatenate-Sequence-Files#automatic-concatenation-nanopor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wtham-thakku/ont-heatma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owtham-thakku/barcode-trimmer" TargetMode="External"/><Relationship Id="rId3" Type="http://schemas.openxmlformats.org/officeDocument/2006/relationships/hyperlink" Target="https://www.biorxiv.org/content/10.1101/2024.02.29.579666v1" TargetMode="External"/><Relationship Id="rId7" Type="http://schemas.openxmlformats.org/officeDocument/2006/relationships/hyperlink" Target="https://github.com/chanzuckerberg/czid-workflows/blob/main/workflows/long-read-mngs/README.m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anzuckerberg.zendesk.com/hc/en-us/articles/13895641006100-mNGS-Nanopore-Initial-Pipeline-Validation" TargetMode="External"/><Relationship Id="rId5" Type="http://schemas.openxmlformats.org/officeDocument/2006/relationships/hyperlink" Target="https://chanzuckerberg.zendesk.com/hc/en-us/articles/13832912199188" TargetMode="External"/><Relationship Id="rId4" Type="http://schemas.openxmlformats.org/officeDocument/2006/relationships/hyperlink" Target="https://chanzuckerberg.zendesk.com/hc/en-us/articles/13830756964372" TargetMode="External"/><Relationship Id="rId9" Type="http://schemas.openxmlformats.org/officeDocument/2006/relationships/hyperlink" Target="https://github.com/gowtham-thakku/ont-heatma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4" name="Google Shape;74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CZ ID mNGS Nanopore Pipeline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91AA8C-459B-796D-7D8B-C66D479E0480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f51ae4fd8_1_122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mNGS Nanopore Pipeline Highlights</a:t>
            </a:r>
            <a:endParaRPr/>
          </a:p>
        </p:txBody>
      </p:sp>
      <p:sp>
        <p:nvSpPr>
          <p:cNvPr id="141" name="Google Shape;141;g36f51ae4fd8_1_122"/>
          <p:cNvSpPr txBox="1">
            <a:spLocks noGrp="1"/>
          </p:cNvSpPr>
          <p:nvPr>
            <p:ph type="body" idx="1"/>
          </p:nvPr>
        </p:nvSpPr>
        <p:spPr>
          <a:xfrm>
            <a:off x="586250" y="960125"/>
            <a:ext cx="85578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highlight>
                  <a:srgbClr val="FFFFFF"/>
                </a:highlight>
              </a:rPr>
              <a:t>Developed in collaboration with bioinformatics team from Oxford Nanopore Technologies (ONT)</a:t>
            </a:r>
            <a:endParaRPr sz="2000"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highlight>
                <a:srgbClr val="FFFFFF"/>
              </a:highlight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highlight>
                  <a:srgbClr val="FFFFFF"/>
                </a:highlight>
              </a:rPr>
              <a:t>Pipeline accurately identifies microbes from a range of samples: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Mock microbial communities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Cell culture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Humans (stool, nasal samples)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Insects (mosquitos)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highlight>
                  <a:srgbClr val="FFFFFF"/>
                </a:highlight>
              </a:rPr>
              <a:t>Environmental (hot springs)</a:t>
            </a:r>
            <a:endParaRPr sz="20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f51ae4fd8_1_192"/>
          <p:cNvSpPr txBox="1"/>
          <p:nvPr/>
        </p:nvSpPr>
        <p:spPr>
          <a:xfrm>
            <a:off x="645325" y="1174450"/>
            <a:ext cx="1179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Collection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7" name="Google Shape;147;g36f51ae4fd8_1_192"/>
          <p:cNvSpPr txBox="1"/>
          <p:nvPr/>
        </p:nvSpPr>
        <p:spPr>
          <a:xfrm>
            <a:off x="2058256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DNA or RNA Extraction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8" name="Google Shape;148;g36f51ae4fd8_1_192"/>
          <p:cNvSpPr txBox="1"/>
          <p:nvPr/>
        </p:nvSpPr>
        <p:spPr>
          <a:xfrm>
            <a:off x="3894413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Library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Preparation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9" name="Google Shape;149;g36f51ae4fd8_1_192"/>
          <p:cNvSpPr txBox="1"/>
          <p:nvPr/>
        </p:nvSpPr>
        <p:spPr>
          <a:xfrm>
            <a:off x="5607869" y="125630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0" name="Google Shape;150;g36f51ae4fd8_1_192"/>
          <p:cNvSpPr txBox="1"/>
          <p:nvPr/>
        </p:nvSpPr>
        <p:spPr>
          <a:xfrm>
            <a:off x="7321325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 Analysis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1" name="Google Shape;151;g36f51ae4fd8_1_192"/>
          <p:cNvSpPr txBox="1"/>
          <p:nvPr/>
        </p:nvSpPr>
        <p:spPr>
          <a:xfrm>
            <a:off x="504675" y="274951"/>
            <a:ext cx="8134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mNGS Workflow Overview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52" name="Google Shape;152;g36f51ae4fd8_1_192"/>
          <p:cNvGrpSpPr/>
          <p:nvPr/>
        </p:nvGrpSpPr>
        <p:grpSpPr>
          <a:xfrm>
            <a:off x="0" y="1955862"/>
            <a:ext cx="9082325" cy="1231787"/>
            <a:chOff x="7350" y="3361562"/>
            <a:chExt cx="9082325" cy="1231787"/>
          </a:xfrm>
        </p:grpSpPr>
        <p:pic>
          <p:nvPicPr>
            <p:cNvPr id="153" name="Google Shape;153;g36f51ae4fd8_1_192"/>
            <p:cNvPicPr preferRelativeResize="0"/>
            <p:nvPr/>
          </p:nvPicPr>
          <p:blipFill rotWithShape="1">
            <a:blip r:embed="rId3">
              <a:alphaModFix/>
            </a:blip>
            <a:srcRect l="6073" t="3307" r="55416" b="53683"/>
            <a:stretch/>
          </p:blipFill>
          <p:spPr>
            <a:xfrm>
              <a:off x="2274119" y="3361562"/>
              <a:ext cx="1373281" cy="1073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g36f51ae4fd8_1_192"/>
            <p:cNvPicPr preferRelativeResize="0"/>
            <p:nvPr/>
          </p:nvPicPr>
          <p:blipFill rotWithShape="1">
            <a:blip r:embed="rId4">
              <a:alphaModFix/>
            </a:blip>
            <a:srcRect l="50768" t="7839" r="7584" b="41155"/>
            <a:stretch/>
          </p:blipFill>
          <p:spPr>
            <a:xfrm rot="4379005">
              <a:off x="841945" y="3632265"/>
              <a:ext cx="931084" cy="7982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" name="Google Shape;155;g36f51ae4fd8_1_192"/>
            <p:cNvGrpSpPr/>
            <p:nvPr/>
          </p:nvGrpSpPr>
          <p:grpSpPr>
            <a:xfrm>
              <a:off x="4115988" y="3758189"/>
              <a:ext cx="1268962" cy="492861"/>
              <a:chOff x="3963588" y="3758189"/>
              <a:chExt cx="1268962" cy="492861"/>
            </a:xfrm>
          </p:grpSpPr>
          <p:sp>
            <p:nvSpPr>
              <p:cNvPr id="156" name="Google Shape;156;g36f51ae4fd8_1_192"/>
              <p:cNvSpPr/>
              <p:nvPr/>
            </p:nvSpPr>
            <p:spPr>
              <a:xfrm>
                <a:off x="4316650" y="418445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57" name="Google Shape;157;g36f51ae4fd8_1_192"/>
              <p:cNvSpPr/>
              <p:nvPr/>
            </p:nvSpPr>
            <p:spPr>
              <a:xfrm>
                <a:off x="4458129" y="418445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58" name="Google Shape;158;g36f51ae4fd8_1_192"/>
              <p:cNvSpPr/>
              <p:nvPr/>
            </p:nvSpPr>
            <p:spPr>
              <a:xfrm>
                <a:off x="4536088" y="4184439"/>
                <a:ext cx="477000" cy="66600"/>
              </a:xfrm>
              <a:prstGeom prst="rect">
                <a:avLst/>
              </a:prstGeom>
              <a:solidFill>
                <a:srgbClr val="EB220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59" name="Google Shape;159;g36f51ae4fd8_1_192"/>
              <p:cNvSpPr/>
              <p:nvPr/>
            </p:nvSpPr>
            <p:spPr>
              <a:xfrm>
                <a:off x="3963588" y="406300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0" name="Google Shape;160;g36f51ae4fd8_1_192"/>
              <p:cNvSpPr/>
              <p:nvPr/>
            </p:nvSpPr>
            <p:spPr>
              <a:xfrm>
                <a:off x="4105066" y="406300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1" name="Google Shape;161;g36f51ae4fd8_1_192"/>
              <p:cNvSpPr/>
              <p:nvPr/>
            </p:nvSpPr>
            <p:spPr>
              <a:xfrm>
                <a:off x="4183025" y="4062989"/>
                <a:ext cx="477000" cy="66600"/>
              </a:xfrm>
              <a:prstGeom prst="rect">
                <a:avLst/>
              </a:prstGeom>
              <a:solidFill>
                <a:srgbClr val="1DAD0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2" name="Google Shape;162;g36f51ae4fd8_1_192"/>
              <p:cNvSpPr/>
              <p:nvPr/>
            </p:nvSpPr>
            <p:spPr>
              <a:xfrm>
                <a:off x="4299338" y="3971325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3" name="Google Shape;163;g36f51ae4fd8_1_192"/>
              <p:cNvSpPr/>
              <p:nvPr/>
            </p:nvSpPr>
            <p:spPr>
              <a:xfrm>
                <a:off x="4440816" y="3971325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4" name="Google Shape;164;g36f51ae4fd8_1_192"/>
              <p:cNvSpPr/>
              <p:nvPr/>
            </p:nvSpPr>
            <p:spPr>
              <a:xfrm>
                <a:off x="4518775" y="3971314"/>
                <a:ext cx="477000" cy="66600"/>
              </a:xfrm>
              <a:prstGeom prst="rect">
                <a:avLst/>
              </a:prstGeom>
              <a:solidFill>
                <a:srgbClr val="5E5E5E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5" name="Google Shape;165;g36f51ae4fd8_1_192"/>
              <p:cNvSpPr/>
              <p:nvPr/>
            </p:nvSpPr>
            <p:spPr>
              <a:xfrm>
                <a:off x="3963588" y="387965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6" name="Google Shape;166;g36f51ae4fd8_1_192"/>
              <p:cNvSpPr/>
              <p:nvPr/>
            </p:nvSpPr>
            <p:spPr>
              <a:xfrm>
                <a:off x="4105066" y="387965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7" name="Google Shape;167;g36f51ae4fd8_1_192"/>
              <p:cNvSpPr/>
              <p:nvPr/>
            </p:nvSpPr>
            <p:spPr>
              <a:xfrm>
                <a:off x="4183025" y="3879639"/>
                <a:ext cx="477000" cy="66600"/>
              </a:xfrm>
              <a:prstGeom prst="rect">
                <a:avLst/>
              </a:prstGeom>
              <a:solidFill>
                <a:srgbClr val="EB220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8" name="Google Shape;168;g36f51ae4fd8_1_192"/>
              <p:cNvSpPr/>
              <p:nvPr/>
            </p:nvSpPr>
            <p:spPr>
              <a:xfrm>
                <a:off x="4206463" y="3758200"/>
                <a:ext cx="915900" cy="66600"/>
              </a:xfrm>
              <a:prstGeom prst="rect">
                <a:avLst/>
              </a:prstGeom>
              <a:solidFill>
                <a:srgbClr val="A64D7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69" name="Google Shape;169;g36f51ae4fd8_1_192"/>
              <p:cNvSpPr/>
              <p:nvPr/>
            </p:nvSpPr>
            <p:spPr>
              <a:xfrm>
                <a:off x="4347941" y="3758200"/>
                <a:ext cx="628500" cy="66600"/>
              </a:xfrm>
              <a:prstGeom prst="rect">
                <a:avLst/>
              </a:prstGeom>
              <a:solidFill>
                <a:srgbClr val="3D85C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70" name="Google Shape;170;g36f51ae4fd8_1_192"/>
              <p:cNvSpPr/>
              <p:nvPr/>
            </p:nvSpPr>
            <p:spPr>
              <a:xfrm>
                <a:off x="4425900" y="3758189"/>
                <a:ext cx="477000" cy="66600"/>
              </a:xfrm>
              <a:prstGeom prst="rect">
                <a:avLst/>
              </a:prstGeom>
              <a:solidFill>
                <a:srgbClr val="00A2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cxnSp>
          <p:nvCxnSpPr>
            <p:cNvPr id="171" name="Google Shape;171;g36f51ae4fd8_1_192"/>
            <p:cNvCxnSpPr/>
            <p:nvPr/>
          </p:nvCxnSpPr>
          <p:spPr>
            <a:xfrm>
              <a:off x="1791378" y="4004625"/>
              <a:ext cx="336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2" name="Google Shape;172;g36f51ae4fd8_1_192"/>
            <p:cNvCxnSpPr/>
            <p:nvPr/>
          </p:nvCxnSpPr>
          <p:spPr>
            <a:xfrm>
              <a:off x="3651928" y="4004625"/>
              <a:ext cx="336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3" name="Google Shape;173;g36f51ae4fd8_1_192"/>
            <p:cNvCxnSpPr/>
            <p:nvPr/>
          </p:nvCxnSpPr>
          <p:spPr>
            <a:xfrm>
              <a:off x="5535928" y="4004625"/>
              <a:ext cx="336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74" name="Google Shape;174;g36f51ae4fd8_1_192"/>
            <p:cNvSpPr txBox="1"/>
            <p:nvPr/>
          </p:nvSpPr>
          <p:spPr>
            <a:xfrm>
              <a:off x="7350" y="3817125"/>
              <a:ext cx="7824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mNGS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75" name="Google Shape;175;g36f51ae4fd8_1_192"/>
            <p:cNvSpPr txBox="1"/>
            <p:nvPr/>
          </p:nvSpPr>
          <p:spPr>
            <a:xfrm>
              <a:off x="7112675" y="3688425"/>
              <a:ext cx="1977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Char char="●"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Taxonomic Identification</a:t>
              </a:r>
              <a:endParaRPr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 Light"/>
                <a:buChar char="●"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Microbiome analysis</a:t>
              </a:r>
              <a:endPara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 Light"/>
                <a:buChar char="●"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Discovery</a:t>
              </a:r>
              <a:endPara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pic>
          <p:nvPicPr>
            <p:cNvPr id="176" name="Google Shape;176;g36f51ae4fd8_1_19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23800" y="3687745"/>
              <a:ext cx="1030500" cy="7597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77" name="Google Shape;177;g36f51ae4fd8_1_192"/>
          <p:cNvCxnSpPr/>
          <p:nvPr/>
        </p:nvCxnSpPr>
        <p:spPr>
          <a:xfrm>
            <a:off x="3574726" y="2145226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f51ae4fd8_1_3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Focus for this workshop</a:t>
            </a:r>
            <a:endParaRPr/>
          </a:p>
        </p:txBody>
      </p:sp>
      <p:sp>
        <p:nvSpPr>
          <p:cNvPr id="183" name="Google Shape;183;g36f51ae4fd8_1_316"/>
          <p:cNvSpPr txBox="1">
            <a:spLocks noGrp="1"/>
          </p:cNvSpPr>
          <p:nvPr>
            <p:ph type="body" idx="1"/>
          </p:nvPr>
        </p:nvSpPr>
        <p:spPr>
          <a:xfrm>
            <a:off x="1125475" y="1311600"/>
            <a:ext cx="7021800" cy="5142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Pathogen identification in stool samples and nasopharyngeal swabs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f51ae4fd8_1_391"/>
          <p:cNvSpPr txBox="1">
            <a:spLocks noGrp="1"/>
          </p:cNvSpPr>
          <p:nvPr>
            <p:ph type="title"/>
          </p:nvPr>
        </p:nvSpPr>
        <p:spPr>
          <a:xfrm>
            <a:off x="311700" y="11336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Sequence File Formats: FASTA vs FASTQ </a:t>
            </a:r>
            <a:endParaRPr/>
          </a:p>
        </p:txBody>
      </p:sp>
      <p:sp>
        <p:nvSpPr>
          <p:cNvPr id="195" name="Google Shape;195;g36f51ae4fd8_1_3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96" name="Google Shape;196;g36f51ae4fd8_1_391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7603" y="1520043"/>
            <a:ext cx="6168800" cy="1195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6f51ae4fd8_1_391" descr="A white rectangular object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996" y="3235789"/>
            <a:ext cx="7074019" cy="909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f51ae4fd8_1_4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Sequence File Formats</a:t>
            </a:r>
            <a:endParaRPr/>
          </a:p>
        </p:txBody>
      </p:sp>
      <p:sp>
        <p:nvSpPr>
          <p:cNvPr id="215" name="Google Shape;215;g36f51ae4fd8_1_463"/>
          <p:cNvSpPr txBox="1">
            <a:spLocks noGrp="1"/>
          </p:cNvSpPr>
          <p:nvPr>
            <p:ph type="body" idx="1"/>
          </p:nvPr>
        </p:nvSpPr>
        <p:spPr>
          <a:xfrm>
            <a:off x="122725" y="960125"/>
            <a:ext cx="88770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tx1"/>
                </a:solidFill>
              </a:rPr>
              <a:t>General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FASTA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FASTQ (</a:t>
            </a:r>
            <a:r>
              <a:rPr lang="en" sz="1600">
                <a:solidFill>
                  <a:schemeClr val="tx1"/>
                </a:solidFill>
              </a:rPr>
              <a:t>Includes sequence identifier, sequence, and </a:t>
            </a:r>
            <a:r>
              <a:rPr lang="en" sz="1600" b="1">
                <a:solidFill>
                  <a:schemeClr val="tx1"/>
                </a:solidFill>
              </a:rPr>
              <a:t>quality scores </a:t>
            </a:r>
            <a:r>
              <a:rPr lang="en" sz="1600">
                <a:solidFill>
                  <a:schemeClr val="tx1"/>
                </a:solidFill>
              </a:rPr>
              <a:t>for base calls)</a:t>
            </a:r>
            <a:endParaRPr sz="2000">
              <a:solidFill>
                <a:schemeClr val="tx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>
              <a:solidFill>
                <a:schemeClr val="tx1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tx1"/>
                </a:solidFill>
              </a:rPr>
              <a:t>Nanopore-specific formats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FAST5</a:t>
            </a:r>
            <a:endParaRPr sz="2000">
              <a:solidFill>
                <a:schemeClr val="tx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chemeClr val="tx1"/>
                </a:solidFill>
              </a:rPr>
              <a:t>POD5</a:t>
            </a:r>
            <a:endParaRPr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f51ae4fd8_1_47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Nanopore Specific formats</a:t>
            </a:r>
            <a:endParaRPr/>
          </a:p>
        </p:txBody>
      </p:sp>
      <p:graphicFrame>
        <p:nvGraphicFramePr>
          <p:cNvPr id="221" name="Google Shape;221;g36f51ae4fd8_1_470"/>
          <p:cNvGraphicFramePr/>
          <p:nvPr/>
        </p:nvGraphicFramePr>
        <p:xfrm>
          <a:off x="335000" y="1369800"/>
          <a:ext cx="8351800" cy="2420440"/>
        </p:xfrm>
        <a:graphic>
          <a:graphicData uri="http://schemas.openxmlformats.org/drawingml/2006/table">
            <a:tbl>
              <a:tblPr>
                <a:noFill/>
                <a:tableStyleId>{83F97E3D-FE87-4444-BE23-F000EFC736B7}</a:tableStyleId>
              </a:tblPr>
              <a:tblGrid>
                <a:gridCol w="187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u="none" strike="noStrike" cap="none">
                          <a:solidFill>
                            <a:schemeClr val="lt1"/>
                          </a:solidFill>
                        </a:rPr>
                        <a:t>Feature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u="none" strike="noStrike" cap="none">
                          <a:solidFill>
                            <a:schemeClr val="lt1"/>
                          </a:solidFill>
                        </a:rPr>
                        <a:t>POD5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u="none" strike="noStrike" cap="none">
                          <a:solidFill>
                            <a:schemeClr val="lt1"/>
                          </a:solidFill>
                        </a:rPr>
                        <a:t>Older FAST5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File format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Binary (Apache Arrow-style, columnar)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HDF5-based (hierarchical)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Speed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High (parallel I/O optimized)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Slower with random access issues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Size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Smaller (less overhead)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Larger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Basecaller support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Dorado, Guppy (via pod5-api)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Guppy, older tools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Ecosystem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Actively maintained by ONT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Being phased out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2afa72b26_0_0"/>
          <p:cNvSpPr/>
          <p:nvPr/>
        </p:nvSpPr>
        <p:spPr>
          <a:xfrm>
            <a:off x="126675" y="1289625"/>
            <a:ext cx="13236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g302afa72b26_0_0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28" name="Google Shape;228;g302afa72b26_0_0"/>
          <p:cNvSpPr/>
          <p:nvPr/>
        </p:nvSpPr>
        <p:spPr>
          <a:xfrm>
            <a:off x="2064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02afa72b26_0_0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02afa72b26_0_0"/>
          <p:cNvSpPr/>
          <p:nvPr/>
        </p:nvSpPr>
        <p:spPr>
          <a:xfrm>
            <a:off x="3899100" y="2009475"/>
            <a:ext cx="590100" cy="38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02afa72b26_0_0"/>
          <p:cNvSpPr txBox="1"/>
          <p:nvPr/>
        </p:nvSpPr>
        <p:spPr>
          <a:xfrm>
            <a:off x="1810499" y="738150"/>
            <a:ext cx="6509400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only accepts 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FASTQ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files (FAST5 files must be converted)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upload files through the web app or </a:t>
            </a:r>
            <a:r>
              <a:rPr lang="en" sz="1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command line interface (CLI)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ONT pipeline does not complete adapter/barcode trimming, so FASTQ files must be trimmed prior to upload</a:t>
            </a:r>
          </a:p>
          <a:p>
            <a:pPr marL="28575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one file per sample:</a:t>
            </a:r>
          </a:p>
          <a:p>
            <a:pPr marL="457200" lvl="8">
              <a:buSzPts val="1400"/>
            </a:pPr>
            <a:r>
              <a:rPr lang="en-US" dirty="0"/>
              <a:t>Multiple FASTQ files for a given sample will be automatically concatenated </a:t>
            </a:r>
            <a:r>
              <a:rPr lang="en-US" u="sng" dirty="0"/>
              <a:t>if filenames follow a certain format</a:t>
            </a:r>
            <a:r>
              <a:rPr lang="en-US" dirty="0"/>
              <a:t> and are associated with the same barcode (see </a:t>
            </a:r>
            <a:r>
              <a:rPr lang="en-US" u="sng" dirty="0">
                <a:solidFill>
                  <a:srgbClr val="3867F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Automatic Concatenation of Nanopore Files</a:t>
            </a:r>
            <a:r>
              <a:rPr lang="en-US" dirty="0"/>
              <a:t> for details)</a:t>
            </a:r>
          </a:p>
          <a:p>
            <a:pPr lvl="8">
              <a:buSzPts val="1400"/>
            </a:pPr>
            <a:endParaRPr lang="en-US" dirty="0"/>
          </a:p>
          <a:p>
            <a:pPr marL="457200" lvl="8">
              <a:buSzPts val="1400"/>
            </a:pPr>
            <a:r>
              <a:rPr lang="en-US" dirty="0"/>
              <a:t>If filenames do not follow the format recognized by the platform, you need to </a:t>
            </a:r>
            <a:r>
              <a:rPr lang="en-US" u="sng" dirty="0">
                <a:solidFill>
                  <a:srgbClr val="3867F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concatenate</a:t>
            </a:r>
            <a:r>
              <a:rPr lang="en-US" dirty="0"/>
              <a:t> (or combine) them into a 	single file before upload</a:t>
            </a:r>
          </a:p>
          <a:p>
            <a: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6" indent="-285750"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 with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midread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barcodes detected should be filtered prior to upload (see more </a:t>
            </a:r>
            <a:r>
              <a:rPr lang="en-US" dirty="0"/>
              <a:t>on the Prepare ONT </a:t>
            </a:r>
            <a:r>
              <a:rPr lang="en-US" dirty="0" err="1"/>
              <a:t>fastqs</a:t>
            </a:r>
            <a:r>
              <a:rPr lang="en-US" dirty="0"/>
              <a:t> for upload to CZ ID slide deck)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02afa72b26_0_9"/>
          <p:cNvSpPr/>
          <p:nvPr/>
        </p:nvSpPr>
        <p:spPr>
          <a:xfrm>
            <a:off x="126675" y="1289625"/>
            <a:ext cx="13236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g302afa72b26_0_9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38" name="Google Shape;238;g302afa72b26_0_9"/>
          <p:cNvSpPr/>
          <p:nvPr/>
        </p:nvSpPr>
        <p:spPr>
          <a:xfrm>
            <a:off x="2064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02afa72b26_0_9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02afa72b26_0_9"/>
          <p:cNvSpPr/>
          <p:nvPr/>
        </p:nvSpPr>
        <p:spPr>
          <a:xfrm>
            <a:off x="206450" y="22493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Quality, Host &amp; Human Filtering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g302afa72b26_0_9"/>
          <p:cNvCxnSpPr>
            <a:stCxn id="238" idx="2"/>
            <a:endCxn id="240" idx="0"/>
          </p:cNvCxnSpPr>
          <p:nvPr/>
        </p:nvCxnSpPr>
        <p:spPr>
          <a:xfrm>
            <a:off x="776288" y="21118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2" name="Google Shape;242;g302afa72b26_0_9"/>
          <p:cNvSpPr/>
          <p:nvPr/>
        </p:nvSpPr>
        <p:spPr>
          <a:xfrm>
            <a:off x="206438" y="31992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g302afa72b26_0_9"/>
          <p:cNvCxnSpPr>
            <a:stCxn id="240" idx="2"/>
          </p:cNvCxnSpPr>
          <p:nvPr/>
        </p:nvCxnSpPr>
        <p:spPr>
          <a:xfrm>
            <a:off x="776300" y="30104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44" name="Google Shape;244;g302afa72b26_0_9"/>
          <p:cNvPicPr preferRelativeResize="0"/>
          <p:nvPr/>
        </p:nvPicPr>
        <p:blipFill rotWithShape="1">
          <a:blip r:embed="rId3">
            <a:alphaModFix/>
          </a:blip>
          <a:srcRect t="33506" r="72566"/>
          <a:stretch/>
        </p:blipFill>
        <p:spPr>
          <a:xfrm>
            <a:off x="2650375" y="893775"/>
            <a:ext cx="2769649" cy="2956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02afa72b26_0_9"/>
          <p:cNvSpPr/>
          <p:nvPr/>
        </p:nvSpPr>
        <p:spPr>
          <a:xfrm>
            <a:off x="3899100" y="2009475"/>
            <a:ext cx="590100" cy="38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02afa72b26_0_9"/>
          <p:cNvSpPr txBox="1"/>
          <p:nvPr/>
        </p:nvSpPr>
        <p:spPr>
          <a:xfrm>
            <a:off x="5636700" y="1088375"/>
            <a:ext cx="3195600" cy="3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Adapter trimming occurred on the </a:t>
            </a:r>
            <a:r>
              <a:rPr lang="en" sz="16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basecaller</a:t>
            </a: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software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Minimum Q ⩾ 9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Length ⩾ 100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Complexity &gt; 30%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Host filtering is splice aware if input is RNA</a:t>
            </a:r>
            <a:endParaRPr sz="16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2afa72b26_0_22"/>
          <p:cNvSpPr/>
          <p:nvPr/>
        </p:nvSpPr>
        <p:spPr>
          <a:xfrm>
            <a:off x="126675" y="1289625"/>
            <a:ext cx="13236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g302afa72b26_0_22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53" name="Google Shape;253;g302afa72b26_0_22"/>
          <p:cNvSpPr/>
          <p:nvPr/>
        </p:nvSpPr>
        <p:spPr>
          <a:xfrm>
            <a:off x="206438" y="14269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02afa72b26_0_22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02afa72b26_0_22"/>
          <p:cNvSpPr/>
          <p:nvPr/>
        </p:nvSpPr>
        <p:spPr>
          <a:xfrm>
            <a:off x="206450" y="23255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Quality, Host &amp; Human Filtering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g302afa72b26_0_22"/>
          <p:cNvCxnSpPr>
            <a:stCxn id="253" idx="2"/>
            <a:endCxn id="255" idx="0"/>
          </p:cNvCxnSpPr>
          <p:nvPr/>
        </p:nvCxnSpPr>
        <p:spPr>
          <a:xfrm>
            <a:off x="776288" y="21880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7" name="Google Shape;257;g302afa72b26_0_22"/>
          <p:cNvSpPr/>
          <p:nvPr/>
        </p:nvSpPr>
        <p:spPr>
          <a:xfrm>
            <a:off x="206438" y="32754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302afa72b26_0_22"/>
          <p:cNvCxnSpPr>
            <a:stCxn id="255" idx="2"/>
          </p:cNvCxnSpPr>
          <p:nvPr/>
        </p:nvCxnSpPr>
        <p:spPr>
          <a:xfrm>
            <a:off x="776300" y="30866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9" name="Google Shape;259;g302afa72b26_0_22"/>
          <p:cNvSpPr/>
          <p:nvPr/>
        </p:nvSpPr>
        <p:spPr>
          <a:xfrm>
            <a:off x="1502575" y="1289625"/>
            <a:ext cx="25935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g302afa72b26_0_22"/>
          <p:cNvSpPr/>
          <p:nvPr/>
        </p:nvSpPr>
        <p:spPr>
          <a:xfrm>
            <a:off x="1619238" y="14191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g302afa72b26_0_22"/>
          <p:cNvCxnSpPr>
            <a:stCxn id="260" idx="3"/>
            <a:endCxn id="262" idx="1"/>
          </p:cNvCxnSpPr>
          <p:nvPr/>
        </p:nvCxnSpPr>
        <p:spPr>
          <a:xfrm>
            <a:off x="2758938" y="1730425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2" name="Google Shape;262;g302afa72b26_0_22"/>
          <p:cNvSpPr/>
          <p:nvPr/>
        </p:nvSpPr>
        <p:spPr>
          <a:xfrm>
            <a:off x="3094866" y="15001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02afa72b26_0_22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333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02afa72b26_0_22"/>
          <p:cNvPicPr preferRelativeResize="0"/>
          <p:nvPr/>
        </p:nvPicPr>
        <p:blipFill rotWithShape="1">
          <a:blip r:embed="rId3">
            <a:alphaModFix/>
          </a:blip>
          <a:srcRect l="35406" t="33505" r="45289" b="20702"/>
          <a:stretch/>
        </p:blipFill>
        <p:spPr>
          <a:xfrm>
            <a:off x="5244875" y="663388"/>
            <a:ext cx="2319299" cy="242328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02afa72b26_0_22"/>
          <p:cNvSpPr txBox="1"/>
          <p:nvPr/>
        </p:nvSpPr>
        <p:spPr>
          <a:xfrm>
            <a:off x="1450275" y="4162411"/>
            <a:ext cx="623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metaFlye only assembles reads &gt; 1kb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(in many cases we don’t see contigs)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02afa72b26_0_90"/>
          <p:cNvSpPr/>
          <p:nvPr/>
        </p:nvSpPr>
        <p:spPr>
          <a:xfrm>
            <a:off x="126675" y="1289625"/>
            <a:ext cx="13236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g302afa72b26_0_90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72" name="Google Shape;272;g302afa72b26_0_90"/>
          <p:cNvSpPr/>
          <p:nvPr/>
        </p:nvSpPr>
        <p:spPr>
          <a:xfrm>
            <a:off x="206438" y="14269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02afa72b26_0_90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02afa72b26_0_90"/>
          <p:cNvSpPr/>
          <p:nvPr/>
        </p:nvSpPr>
        <p:spPr>
          <a:xfrm>
            <a:off x="206450" y="23255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Quality, Host &amp; Human Filtering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g302afa72b26_0_90"/>
          <p:cNvCxnSpPr>
            <a:stCxn id="272" idx="2"/>
            <a:endCxn id="274" idx="0"/>
          </p:cNvCxnSpPr>
          <p:nvPr/>
        </p:nvCxnSpPr>
        <p:spPr>
          <a:xfrm>
            <a:off x="776288" y="21880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6" name="Google Shape;276;g302afa72b26_0_90"/>
          <p:cNvSpPr/>
          <p:nvPr/>
        </p:nvSpPr>
        <p:spPr>
          <a:xfrm>
            <a:off x="206438" y="32754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g302afa72b26_0_90"/>
          <p:cNvCxnSpPr>
            <a:stCxn id="274" idx="2"/>
          </p:cNvCxnSpPr>
          <p:nvPr/>
        </p:nvCxnSpPr>
        <p:spPr>
          <a:xfrm>
            <a:off x="776300" y="30866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8" name="Google Shape;278;g302afa72b26_0_90"/>
          <p:cNvSpPr/>
          <p:nvPr/>
        </p:nvSpPr>
        <p:spPr>
          <a:xfrm>
            <a:off x="1502575" y="1289625"/>
            <a:ext cx="2593500" cy="26319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g302afa72b26_0_90"/>
          <p:cNvSpPr/>
          <p:nvPr/>
        </p:nvSpPr>
        <p:spPr>
          <a:xfrm>
            <a:off x="1619238" y="14191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02afa72b26_0_90"/>
          <p:cNvSpPr/>
          <p:nvPr/>
        </p:nvSpPr>
        <p:spPr>
          <a:xfrm>
            <a:off x="1527288" y="2194475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reads to contigs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g302afa72b26_0_90"/>
          <p:cNvCxnSpPr>
            <a:stCxn id="279" idx="2"/>
            <a:endCxn id="280" idx="0"/>
          </p:cNvCxnSpPr>
          <p:nvPr/>
        </p:nvCxnSpPr>
        <p:spPr>
          <a:xfrm>
            <a:off x="2189088" y="20416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2" name="Google Shape;282;g302afa72b26_0_90"/>
          <p:cNvCxnSpPr>
            <a:stCxn id="279" idx="3"/>
            <a:endCxn id="283" idx="1"/>
          </p:cNvCxnSpPr>
          <p:nvPr/>
        </p:nvCxnSpPr>
        <p:spPr>
          <a:xfrm>
            <a:off x="2758938" y="1730425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3" name="Google Shape;283;g302afa72b26_0_90"/>
          <p:cNvSpPr/>
          <p:nvPr/>
        </p:nvSpPr>
        <p:spPr>
          <a:xfrm>
            <a:off x="3094866" y="15001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02afa72b26_0_90"/>
          <p:cNvSpPr/>
          <p:nvPr/>
        </p:nvSpPr>
        <p:spPr>
          <a:xfrm>
            <a:off x="3171162" y="3235038"/>
            <a:ext cx="8352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reads 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02afa72b26_0_90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333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02afa72b26_0_90"/>
          <p:cNvPicPr preferRelativeResize="0"/>
          <p:nvPr/>
        </p:nvPicPr>
        <p:blipFill rotWithShape="1">
          <a:blip r:embed="rId3">
            <a:alphaModFix/>
          </a:blip>
          <a:srcRect l="35406" t="33506" r="45289"/>
          <a:stretch/>
        </p:blipFill>
        <p:spPr>
          <a:xfrm>
            <a:off x="5244875" y="663388"/>
            <a:ext cx="2319299" cy="351887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02afa72b26_0_90"/>
          <p:cNvSpPr/>
          <p:nvPr/>
        </p:nvSpPr>
        <p:spPr>
          <a:xfrm>
            <a:off x="1527288" y="3111800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Subtraction of contig-associated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(Samtools)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g302afa72b26_0_90"/>
          <p:cNvCxnSpPr/>
          <p:nvPr/>
        </p:nvCxnSpPr>
        <p:spPr>
          <a:xfrm>
            <a:off x="2189088" y="29555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g302afa72b26_0_90"/>
          <p:cNvCxnSpPr/>
          <p:nvPr/>
        </p:nvCxnSpPr>
        <p:spPr>
          <a:xfrm>
            <a:off x="2835138" y="3491900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"/>
          <p:cNvSpPr/>
          <p:nvPr/>
        </p:nvSpPr>
        <p:spPr>
          <a:xfrm>
            <a:off x="50475" y="1289625"/>
            <a:ext cx="13236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6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1302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130250" y="224937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+ Host Filtering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(fastp &amp; 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6"/>
          <p:cNvCxnSpPr>
            <a:stCxn id="296" idx="2"/>
            <a:endCxn id="298" idx="0"/>
          </p:cNvCxnSpPr>
          <p:nvPr/>
        </p:nvCxnSpPr>
        <p:spPr>
          <a:xfrm>
            <a:off x="700088" y="2111825"/>
            <a:ext cx="0" cy="137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0" name="Google Shape;300;p6"/>
          <p:cNvSpPr/>
          <p:nvPr/>
        </p:nvSpPr>
        <p:spPr>
          <a:xfrm>
            <a:off x="130238" y="31992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6"/>
          <p:cNvCxnSpPr>
            <a:stCxn id="298" idx="2"/>
          </p:cNvCxnSpPr>
          <p:nvPr/>
        </p:nvCxnSpPr>
        <p:spPr>
          <a:xfrm>
            <a:off x="700100" y="3010475"/>
            <a:ext cx="0" cy="188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2" name="Google Shape;302;p6"/>
          <p:cNvSpPr/>
          <p:nvPr/>
        </p:nvSpPr>
        <p:spPr>
          <a:xfrm>
            <a:off x="1380000" y="1289625"/>
            <a:ext cx="24420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543038" y="17239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1451088" y="2499275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Subtraction of contig-associated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6"/>
          <p:cNvCxnSpPr>
            <a:stCxn id="303" idx="2"/>
            <a:endCxn id="304" idx="0"/>
          </p:cNvCxnSpPr>
          <p:nvPr/>
        </p:nvCxnSpPr>
        <p:spPr>
          <a:xfrm>
            <a:off x="2112888" y="23464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6" name="Google Shape;306;p6"/>
          <p:cNvCxnSpPr>
            <a:stCxn id="303" idx="3"/>
            <a:endCxn id="307" idx="1"/>
          </p:cNvCxnSpPr>
          <p:nvPr/>
        </p:nvCxnSpPr>
        <p:spPr>
          <a:xfrm>
            <a:off x="2682738" y="2035225"/>
            <a:ext cx="2598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8" name="Google Shape;308;p6"/>
          <p:cNvCxnSpPr>
            <a:stCxn id="304" idx="3"/>
            <a:endCxn id="309" idx="1"/>
          </p:cNvCxnSpPr>
          <p:nvPr/>
        </p:nvCxnSpPr>
        <p:spPr>
          <a:xfrm>
            <a:off x="2774688" y="2879825"/>
            <a:ext cx="153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7" name="Google Shape;307;p6"/>
          <p:cNvSpPr/>
          <p:nvPr/>
        </p:nvSpPr>
        <p:spPr>
          <a:xfrm>
            <a:off x="2942466" y="18049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2927927" y="2648675"/>
            <a:ext cx="8445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3869950" y="1289626"/>
            <a:ext cx="2442000" cy="24990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985638" y="1687013"/>
            <a:ext cx="2121300" cy="698100"/>
          </a:xfrm>
          <a:prstGeom prst="rect">
            <a:avLst/>
          </a:prstGeom>
          <a:solidFill>
            <a:srgbClr val="59ABF4">
              <a:alpha val="47058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 and NR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 &amp; DIAMOND)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039875" y="2568575"/>
            <a:ext cx="2121300" cy="622500"/>
          </a:xfrm>
          <a:prstGeom prst="rect">
            <a:avLst/>
          </a:prstGeom>
          <a:solidFill>
            <a:srgbClr val="00BB1B">
              <a:alpha val="44705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3869938" y="738150"/>
            <a:ext cx="3708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 Identification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4041588" y="1224731"/>
            <a:ext cx="20094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6"/>
          <p:cNvPicPr preferRelativeResize="0"/>
          <p:nvPr/>
        </p:nvPicPr>
        <p:blipFill rotWithShape="1">
          <a:blip r:embed="rId3">
            <a:alphaModFix/>
          </a:blip>
          <a:srcRect l="62339" t="33506"/>
          <a:stretch/>
        </p:blipFill>
        <p:spPr>
          <a:xfrm>
            <a:off x="6394925" y="1352850"/>
            <a:ext cx="2702976" cy="210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6"/>
          <p:cNvCxnSpPr>
            <a:stCxn id="307" idx="3"/>
          </p:cNvCxnSpPr>
          <p:nvPr/>
        </p:nvCxnSpPr>
        <p:spPr>
          <a:xfrm>
            <a:off x="3634566" y="2036074"/>
            <a:ext cx="3510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8" name="Google Shape;318;p6"/>
          <p:cNvCxnSpPr/>
          <p:nvPr/>
        </p:nvCxnSpPr>
        <p:spPr>
          <a:xfrm>
            <a:off x="3772416" y="2879825"/>
            <a:ext cx="267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"/>
          <p:cNvSpPr/>
          <p:nvPr/>
        </p:nvSpPr>
        <p:spPr>
          <a:xfrm>
            <a:off x="3869950" y="1289620"/>
            <a:ext cx="2442000" cy="21837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50475" y="1289620"/>
            <a:ext cx="1323600" cy="21837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7"/>
          <p:cNvSpPr txBox="1">
            <a:spLocks noGrp="1"/>
          </p:cNvSpPr>
          <p:nvPr>
            <p:ph type="title"/>
          </p:nvPr>
        </p:nvSpPr>
        <p:spPr>
          <a:xfrm>
            <a:off x="311700" y="95550"/>
            <a:ext cx="8520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mNGS Nanopore Pipeline Workflow </a:t>
            </a:r>
            <a:r>
              <a:rPr lang="en" sz="1920">
                <a:solidFill>
                  <a:schemeClr val="lt1"/>
                </a:solidFill>
              </a:rPr>
              <a:t>CZ ID</a:t>
            </a:r>
            <a:endParaRPr sz="1920">
              <a:solidFill>
                <a:schemeClr val="lt1"/>
              </a:solidFill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426375" y="1289625"/>
            <a:ext cx="2442000" cy="2183700"/>
          </a:xfrm>
          <a:prstGeom prst="rect">
            <a:avLst/>
          </a:prstGeom>
          <a:solidFill>
            <a:srgbClr val="F8F8F8"/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130238" y="1350725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Nanopore 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(FASTQ files)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1543038" y="16477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(metaFlye)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1451088" y="2423075"/>
            <a:ext cx="13236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Subtraction of contig-associated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7"/>
          <p:cNvCxnSpPr>
            <a:stCxn id="328" idx="2"/>
            <a:endCxn id="329" idx="0"/>
          </p:cNvCxnSpPr>
          <p:nvPr/>
        </p:nvCxnSpPr>
        <p:spPr>
          <a:xfrm>
            <a:off x="2112888" y="2270275"/>
            <a:ext cx="0" cy="15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1" name="Google Shape;331;p7"/>
          <p:cNvCxnSpPr>
            <a:stCxn id="328" idx="3"/>
            <a:endCxn id="332" idx="1"/>
          </p:cNvCxnSpPr>
          <p:nvPr/>
        </p:nvCxnSpPr>
        <p:spPr>
          <a:xfrm>
            <a:off x="2682738" y="1959025"/>
            <a:ext cx="336000" cy="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3" name="Google Shape;333;p7"/>
          <p:cNvCxnSpPr>
            <a:stCxn id="329" idx="3"/>
            <a:endCxn id="334" idx="1"/>
          </p:cNvCxnSpPr>
          <p:nvPr/>
        </p:nvCxnSpPr>
        <p:spPr>
          <a:xfrm>
            <a:off x="2774688" y="2803625"/>
            <a:ext cx="1680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2" name="Google Shape;332;p7"/>
          <p:cNvSpPr/>
          <p:nvPr/>
        </p:nvSpPr>
        <p:spPr>
          <a:xfrm>
            <a:off x="3018666" y="1728724"/>
            <a:ext cx="692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7"/>
          <p:cNvCxnSpPr>
            <a:stCxn id="332" idx="3"/>
            <a:endCxn id="336" idx="1"/>
          </p:cNvCxnSpPr>
          <p:nvPr/>
        </p:nvCxnSpPr>
        <p:spPr>
          <a:xfrm>
            <a:off x="3710766" y="1959874"/>
            <a:ext cx="274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4" name="Google Shape;334;p7"/>
          <p:cNvSpPr/>
          <p:nvPr/>
        </p:nvSpPr>
        <p:spPr>
          <a:xfrm>
            <a:off x="2942550" y="2572475"/>
            <a:ext cx="851100" cy="4623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Unassembled reads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7"/>
          <p:cNvCxnSpPr>
            <a:stCxn id="334" idx="3"/>
            <a:endCxn id="338" idx="1"/>
          </p:cNvCxnSpPr>
          <p:nvPr/>
        </p:nvCxnSpPr>
        <p:spPr>
          <a:xfrm>
            <a:off x="3793650" y="2803625"/>
            <a:ext cx="246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6" name="Google Shape;336;p7"/>
          <p:cNvSpPr/>
          <p:nvPr/>
        </p:nvSpPr>
        <p:spPr>
          <a:xfrm>
            <a:off x="3985638" y="1610813"/>
            <a:ext cx="2121300" cy="698100"/>
          </a:xfrm>
          <a:prstGeom prst="rect">
            <a:avLst/>
          </a:prstGeom>
          <a:solidFill>
            <a:srgbClr val="59ABF4">
              <a:alpha val="47058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 and NR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 &amp; DIAMOND)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039875" y="2492375"/>
            <a:ext cx="2121300" cy="622500"/>
          </a:xfrm>
          <a:prstGeom prst="rect">
            <a:avLst/>
          </a:prstGeom>
          <a:solidFill>
            <a:srgbClr val="00BB1B">
              <a:alpha val="44705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Unassembled read alignment against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3869938" y="738150"/>
            <a:ext cx="3708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 Identification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1501313" y="738150"/>
            <a:ext cx="24420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3294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Assembly &amp; Mapping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126663" y="738150"/>
            <a:ext cx="1441500" cy="462300"/>
          </a:xfrm>
          <a:prstGeom prst="homePlate">
            <a:avLst>
              <a:gd name="adj" fmla="val 50000"/>
            </a:avLst>
          </a:prstGeom>
          <a:solidFill>
            <a:srgbClr val="ED4753">
              <a:alpha val="2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&amp; </a:t>
            </a: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Pre-processing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4041588" y="1148531"/>
            <a:ext cx="20094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6428639" y="1627975"/>
            <a:ext cx="948000" cy="1481400"/>
          </a:xfrm>
          <a:prstGeom prst="rect">
            <a:avLst/>
          </a:prstGeom>
          <a:solidFill>
            <a:srgbClr val="2A9D8F">
              <a:alpha val="48235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results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(Aggregate total bases per taxon)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7"/>
          <p:cNvCxnSpPr/>
          <p:nvPr/>
        </p:nvCxnSpPr>
        <p:spPr>
          <a:xfrm>
            <a:off x="6106925" y="1959875"/>
            <a:ext cx="323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5" name="Google Shape;345;p7"/>
          <p:cNvCxnSpPr>
            <a:stCxn id="338" idx="3"/>
          </p:cNvCxnSpPr>
          <p:nvPr/>
        </p:nvCxnSpPr>
        <p:spPr>
          <a:xfrm rot="10800000" flipH="1">
            <a:off x="6161175" y="2800925"/>
            <a:ext cx="282900" cy="2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6" name="Google Shape;346;p7"/>
          <p:cNvSpPr/>
          <p:nvPr/>
        </p:nvSpPr>
        <p:spPr>
          <a:xfrm>
            <a:off x="7494838" y="738750"/>
            <a:ext cx="1522500" cy="461700"/>
          </a:xfrm>
          <a:prstGeom prst="homePlate">
            <a:avLst>
              <a:gd name="adj" fmla="val 50000"/>
            </a:avLst>
          </a:prstGeom>
          <a:solidFill>
            <a:srgbClr val="ED4753">
              <a:alpha val="7058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7458450" y="1289475"/>
            <a:ext cx="1395900" cy="2183700"/>
          </a:xfrm>
          <a:prstGeom prst="rect">
            <a:avLst/>
          </a:prstGeom>
          <a:solidFill>
            <a:srgbClr val="F3F3F3">
              <a:alpha val="50980"/>
            </a:srgbClr>
          </a:solidFill>
          <a:ln w="952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7578363" y="1993377"/>
            <a:ext cx="1139700" cy="761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Report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7"/>
          <p:cNvCxnSpPr>
            <a:stCxn id="343" idx="3"/>
            <a:endCxn id="348" idx="1"/>
          </p:cNvCxnSpPr>
          <p:nvPr/>
        </p:nvCxnSpPr>
        <p:spPr>
          <a:xfrm>
            <a:off x="7376639" y="2368675"/>
            <a:ext cx="201600" cy="5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0" name="Google Shape;350;p7"/>
          <p:cNvSpPr/>
          <p:nvPr/>
        </p:nvSpPr>
        <p:spPr>
          <a:xfrm>
            <a:off x="130238" y="2258375"/>
            <a:ext cx="1139700" cy="622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+ Quality Filtering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(minimap2)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7"/>
          <p:cNvCxnSpPr>
            <a:stCxn id="327" idx="2"/>
            <a:endCxn id="350" idx="0"/>
          </p:cNvCxnSpPr>
          <p:nvPr/>
        </p:nvCxnSpPr>
        <p:spPr>
          <a:xfrm>
            <a:off x="700088" y="2111825"/>
            <a:ext cx="0" cy="146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2" name="Google Shape;352;p7"/>
          <p:cNvSpPr/>
          <p:nvPr/>
        </p:nvSpPr>
        <p:spPr>
          <a:xfrm>
            <a:off x="130238" y="3046800"/>
            <a:ext cx="1139700" cy="381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1M reads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7"/>
          <p:cNvCxnSpPr/>
          <p:nvPr/>
        </p:nvCxnSpPr>
        <p:spPr>
          <a:xfrm>
            <a:off x="774038" y="2882375"/>
            <a:ext cx="4500" cy="146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Things to note</a:t>
            </a:r>
            <a:endParaRPr/>
          </a:p>
        </p:txBody>
      </p:sp>
      <p:sp>
        <p:nvSpPr>
          <p:cNvPr id="359" name="Google Shape;359;p8"/>
          <p:cNvSpPr txBox="1">
            <a:spLocks noGrp="1"/>
          </p:cNvSpPr>
          <p:nvPr>
            <p:ph type="body" idx="1"/>
          </p:nvPr>
        </p:nvSpPr>
        <p:spPr>
          <a:xfrm>
            <a:off x="401900" y="891775"/>
            <a:ext cx="8496300" cy="41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</a:pPr>
            <a:r>
              <a:rPr lang="en" dirty="0" err="1">
                <a:solidFill>
                  <a:schemeClr val="tx1"/>
                </a:solidFill>
              </a:rPr>
              <a:t>mNGS</a:t>
            </a:r>
            <a:r>
              <a:rPr lang="en" dirty="0">
                <a:solidFill>
                  <a:schemeClr val="tx1"/>
                </a:solidFill>
              </a:rPr>
              <a:t> Nanopore pipeline is limited compared to the Illumina pipeline</a:t>
            </a:r>
            <a:endParaRPr dirty="0">
              <a:solidFill>
                <a:schemeClr val="tx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QC visualization on CZ ID</a:t>
            </a:r>
            <a:endParaRPr dirty="0">
              <a:solidFill>
                <a:schemeClr val="tx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background models on CZ ID (more on that later)</a:t>
            </a:r>
            <a:endParaRPr dirty="0">
              <a:solidFill>
                <a:schemeClr val="tx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consensus genomes on CZ ID</a:t>
            </a: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" dirty="0">
                <a:solidFill>
                  <a:schemeClr val="tx1"/>
                </a:solidFill>
              </a:rPr>
              <a:t>No visualization to compare samples (heatmap, trees)</a:t>
            </a: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endParaRPr lang="en" dirty="0">
              <a:solidFill>
                <a:schemeClr val="tx1"/>
              </a:solidFill>
            </a:endParaRPr>
          </a:p>
          <a:p>
            <a:pPr marL="5842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b="1" dirty="0">
                <a:solidFill>
                  <a:schemeClr val="tx1"/>
                </a:solidFill>
              </a:rPr>
              <a:t>Heatmap and background model alternative</a:t>
            </a:r>
            <a:r>
              <a:rPr lang="en" dirty="0">
                <a:solidFill>
                  <a:schemeClr val="tx1"/>
                </a:solidFill>
              </a:rPr>
              <a:t>:</a:t>
            </a:r>
            <a:r>
              <a:rPr lang="en" dirty="0"/>
              <a:t> </a:t>
            </a:r>
            <a:r>
              <a:rPr lang="en" dirty="0">
                <a:hlinkClick r:id="rId3"/>
              </a:rPr>
              <a:t>No-code interactive app accessed via github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BDCF-9A64-1AF4-ACAC-EA010C5C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CZ ID mNGS Pipeline for ONT review complete!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B971B-8E71-156B-9333-41FA88DC9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4934"/>
            <a:ext cx="8229600" cy="2547085"/>
          </a:xfrm>
        </p:spPr>
        <p:txBody>
          <a:bodyPr/>
          <a:lstStyle/>
          <a:p>
            <a:pPr marL="11430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Next Slides</a:t>
            </a:r>
            <a:r>
              <a:rPr lang="en-US" dirty="0">
                <a:solidFill>
                  <a:schemeClr val="tx1"/>
                </a:solidFill>
              </a:rPr>
              <a:t>: DL5-O_QC and interpretation slides for ONT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018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02afa72b26_0_2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594" name="Google Shape;594;g302afa72b26_0_217"/>
          <p:cNvSpPr txBox="1">
            <a:spLocks noGrp="1"/>
          </p:cNvSpPr>
          <p:nvPr>
            <p:ph type="body" idx="1"/>
          </p:nvPr>
        </p:nvSpPr>
        <p:spPr>
          <a:xfrm>
            <a:off x="311700" y="957175"/>
            <a:ext cx="8520600" cy="3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Preprint describing the </a:t>
            </a:r>
            <a:r>
              <a:rPr lang="en" dirty="0" err="1"/>
              <a:t>mNGS</a:t>
            </a:r>
            <a:r>
              <a:rPr lang="en" dirty="0"/>
              <a:t> Nanopore pipeline and its implementation.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CZ ID: a cloud-based, no-code platform enabling advanced long read metagenomic analysis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See “how-to” guides in CZ ID’s Help Center:</a:t>
            </a:r>
            <a:endParaRPr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u="sng" dirty="0">
                <a:solidFill>
                  <a:schemeClr val="hlink"/>
                </a:solidFill>
                <a:hlinkClick r:id="rId4"/>
              </a:rPr>
              <a:t>Upload Nanopore Data</a:t>
            </a:r>
            <a:r>
              <a:rPr lang="en" sz="1800" dirty="0"/>
              <a:t> </a:t>
            </a:r>
            <a:endParaRPr sz="18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u="sng" dirty="0">
                <a:solidFill>
                  <a:schemeClr val="hlink"/>
                </a:solidFill>
                <a:hlinkClick r:id="rId5"/>
              </a:rPr>
              <a:t>Analyze Nanopore Data</a:t>
            </a:r>
            <a:endParaRPr sz="18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 learn more about the pipeline, see </a:t>
            </a:r>
            <a:r>
              <a:rPr lang="en" u="sng" dirty="0">
                <a:solidFill>
                  <a:schemeClr val="hlink"/>
                </a:solidFill>
                <a:hlinkClick r:id="rId6"/>
              </a:rPr>
              <a:t>Nanopore Pipeline Validation</a:t>
            </a:r>
            <a:r>
              <a:rPr lang="en" dirty="0"/>
              <a:t> or click </a:t>
            </a:r>
            <a:r>
              <a:rPr lang="en" u="sng" dirty="0">
                <a:solidFill>
                  <a:schemeClr val="hlink"/>
                </a:solidFill>
                <a:hlinkClick r:id="rId7"/>
              </a:rPr>
              <a:t>here</a:t>
            </a:r>
            <a:r>
              <a:rPr lang="en" dirty="0"/>
              <a:t> to view pipeline changes over time.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“Mid-read” </a:t>
            </a:r>
            <a:r>
              <a:rPr lang="en" u="sng" dirty="0">
                <a:solidFill>
                  <a:schemeClr val="hlink"/>
                </a:solidFill>
                <a:hlinkClick r:id="rId8"/>
              </a:rPr>
              <a:t>barcode trimming tool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 dirty="0">
                <a:solidFill>
                  <a:schemeClr val="hlink"/>
                </a:solidFill>
                <a:hlinkClick r:id="rId9"/>
              </a:rPr>
              <a:t>Heatmap visualization and background subtraction tool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7034</TotalTime>
  <Words>944</Words>
  <Application>Microsoft Macintosh PowerPoint</Application>
  <PresentationFormat>On-screen Show (16:9)</PresentationFormat>
  <Paragraphs>215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Poppins</vt:lpstr>
      <vt:lpstr>Lato</vt:lpstr>
      <vt:lpstr>Helvetica Neue Light</vt:lpstr>
      <vt:lpstr>Arial</vt:lpstr>
      <vt:lpstr>Helvetica Neue</vt:lpstr>
      <vt:lpstr>Simple Light</vt:lpstr>
      <vt:lpstr>Disclaimer</vt:lpstr>
      <vt:lpstr>PowerPoint Presentation</vt:lpstr>
      <vt:lpstr>mNGS Nanopore Pipeline Highlights</vt:lpstr>
      <vt:lpstr>PowerPoint Presentation</vt:lpstr>
      <vt:lpstr>Focus for this workshop</vt:lpstr>
      <vt:lpstr>Sequence File Formats: FASTA vs FASTQ </vt:lpstr>
      <vt:lpstr>Sequence File Formats</vt:lpstr>
      <vt:lpstr>Nanopore Specific formats</vt:lpstr>
      <vt:lpstr>mNGS Nanopore Pipeline Workflow CZ ID</vt:lpstr>
      <vt:lpstr>mNGS Nanopore Pipeline Workflow CZ ID</vt:lpstr>
      <vt:lpstr>mNGS Nanopore Pipeline Workflow CZ ID</vt:lpstr>
      <vt:lpstr>mNGS Nanopore Pipeline Workflow CZ ID</vt:lpstr>
      <vt:lpstr>mNGS Nanopore Pipeline Workflow CZ ID</vt:lpstr>
      <vt:lpstr>mNGS Nanopore Pipeline Workflow CZ ID</vt:lpstr>
      <vt:lpstr>Things to note</vt:lpstr>
      <vt:lpstr>CZ ID mNGS Pipeline for ONT review complete!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8</cp:revision>
  <dcterms:modified xsi:type="dcterms:W3CDTF">2026-09-29T00:34:30Z</dcterms:modified>
</cp:coreProperties>
</file>