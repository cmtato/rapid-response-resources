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6" r:id="rId10"/>
    <p:sldId id="264" r:id="rId11"/>
    <p:sldId id="265" r:id="rId12"/>
    <p:sldId id="267" r:id="rId13"/>
    <p:sldId id="312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ETTxzRf8qRWEqV/xoybHssrf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53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2e78a2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2" name="Google Shape;412;g822e78a2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87-021-01108-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body" idx="2"/>
          </p:nvPr>
        </p:nvSpPr>
        <p:spPr>
          <a:xfrm>
            <a:off x="1418073" y="1422943"/>
            <a:ext cx="66681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Lato"/>
              <a:buNone/>
            </a:pPr>
            <a:r>
              <a:rPr lang="en" sz="4000" b="1" dirty="0">
                <a:latin typeface="Lato"/>
                <a:ea typeface="Lato"/>
                <a:cs typeface="Lato"/>
                <a:sym typeface="Lato"/>
              </a:rPr>
              <a:t>Introduction to Nanopore (ONT) sequencing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67686-8C15-2351-5ACE-867E70493BBC}"/>
              </a:ext>
            </a:extLst>
          </p:cNvPr>
          <p:cNvSpPr txBox="1"/>
          <p:nvPr/>
        </p:nvSpPr>
        <p:spPr>
          <a:xfrm>
            <a:off x="6694150" y="4787531"/>
            <a:ext cx="2530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2778150" y="1269300"/>
            <a:ext cx="6291600" cy="2931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912875" y="287875"/>
            <a:ext cx="59079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ONT 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l="13069" t="15507" r="15080" b="13225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 rotWithShape="1">
          <a:blip r:embed="rId5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2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" name="Google Shape;78;p2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79" name="Google Shape;79;p2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" name="Google Shape;80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82;p2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2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5" name="Google Shape;85;p2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5008075" y="3647125"/>
            <a:ext cx="20049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0225" y="2031195"/>
            <a:ext cx="1030500" cy="75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9000" y="2078858"/>
            <a:ext cx="871850" cy="70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What is nanopore sequencing?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 of nano-scale sensors to detect sequence of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Sensors work by detecting changes in electrical current as DNA/RNA particles flow through a hole (“pore”)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ONT is one of two commercially available nanopore platforms (other is Qitan)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225" y="1229350"/>
            <a:ext cx="2342399" cy="24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5525" y="1549975"/>
            <a:ext cx="2805049" cy="28783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4"/>
          <p:cNvCxnSpPr/>
          <p:nvPr/>
        </p:nvCxnSpPr>
        <p:spPr>
          <a:xfrm>
            <a:off x="4025450" y="1818300"/>
            <a:ext cx="2105100" cy="11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4"/>
          <p:cNvCxnSpPr/>
          <p:nvPr/>
        </p:nvCxnSpPr>
        <p:spPr>
          <a:xfrm rot="10800000" flipH="1">
            <a:off x="4027925" y="3410400"/>
            <a:ext cx="2102700" cy="44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r="61834" b="62167"/>
          <a:stretch/>
        </p:blipFill>
        <p:spPr>
          <a:xfrm>
            <a:off x="757718" y="1816525"/>
            <a:ext cx="3260965" cy="2043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9863" y="830100"/>
            <a:ext cx="604426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5404800" y="4774200"/>
            <a:ext cx="373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https://www.nature.com/articles/s41587-021-01108-x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395" y="1714275"/>
            <a:ext cx="3097901" cy="19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Biological pores and motor proteins used to guide DNA/RNA across electrical gradient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Changes in electrical signal during this passage (due to blocking of electrons) detected electronically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Size of the pore accommodates 5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DNA/RNA translocation typically happens at ~million bases/second, which is too fast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Translocation is slowed down to ~1000 bases/second in ONT to allow for discrimination of signals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3700" y="1311025"/>
            <a:ext cx="1449175" cy="2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Different ONT instruments 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113" y="1120575"/>
            <a:ext cx="737776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D911C7-D828-E061-4D3D-57B243EDF0AE}"/>
              </a:ext>
            </a:extLst>
          </p:cNvPr>
          <p:cNvSpPr txBox="1"/>
          <p:nvPr/>
        </p:nvSpPr>
        <p:spPr>
          <a:xfrm>
            <a:off x="4256116" y="1296786"/>
            <a:ext cx="4497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Except for the </a:t>
            </a:r>
            <a:r>
              <a:rPr lang="en-US" dirty="0" err="1"/>
              <a:t>GridION</a:t>
            </a:r>
            <a:r>
              <a:rPr lang="en-US" dirty="0"/>
              <a:t> these are being deprecated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DB8ACE-FB77-194B-9E77-CEEB0B1A6C79}"/>
              </a:ext>
            </a:extLst>
          </p:cNvPr>
          <p:cNvGrpSpPr/>
          <p:nvPr/>
        </p:nvGrpSpPr>
        <p:grpSpPr>
          <a:xfrm>
            <a:off x="1684495" y="1050810"/>
            <a:ext cx="5775009" cy="1961170"/>
            <a:chOff x="949987" y="1446790"/>
            <a:chExt cx="7196827" cy="26926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6F1E9-7845-1A51-7413-91B339ED0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026" t="37709" r="10588" b="3939"/>
            <a:stretch>
              <a:fillRect/>
            </a:stretch>
          </p:blipFill>
          <p:spPr>
            <a:xfrm>
              <a:off x="6569564" y="1883074"/>
              <a:ext cx="1577250" cy="14173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821CC9-FD5B-0702-D781-3E43A6FD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694" r="49978" b="75721"/>
            <a:stretch>
              <a:fillRect/>
            </a:stretch>
          </p:blipFill>
          <p:spPr>
            <a:xfrm>
              <a:off x="949987" y="3695472"/>
              <a:ext cx="1448441" cy="25144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09C915-449A-2943-98EB-E52D071CE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0439" y="1991850"/>
              <a:ext cx="1597281" cy="119976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E26232D-A656-CCC8-8A98-9B070E2F1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413" r="68235" b="77504"/>
            <a:stretch>
              <a:fillRect/>
            </a:stretch>
          </p:blipFill>
          <p:spPr>
            <a:xfrm>
              <a:off x="6949440" y="3663614"/>
              <a:ext cx="1036320" cy="28330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18994B-3808-6BED-7362-96D30C42A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3855" y="1446790"/>
              <a:ext cx="2237097" cy="17910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795CB-B150-160D-616D-A593EBA36476}"/>
                </a:ext>
              </a:extLst>
            </p:cNvPr>
            <p:cNvSpPr txBox="1"/>
            <p:nvPr/>
          </p:nvSpPr>
          <p:spPr>
            <a:xfrm>
              <a:off x="3309144" y="3632357"/>
              <a:ext cx="2926518" cy="507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>
                  <a:solidFill>
                    <a:schemeClr val="bg2"/>
                  </a:solidFill>
                  <a:latin typeface="Aptos" panose="020B0004020202020204" pitchFamily="34" charset="0"/>
                </a:rPr>
                <a:t>PromethION</a:t>
              </a:r>
              <a:r>
                <a:rPr lang="en-US" sz="1800" dirty="0">
                  <a:solidFill>
                    <a:schemeClr val="bg2"/>
                  </a:solidFill>
                  <a:latin typeface="Aptos" panose="020B0004020202020204" pitchFamily="34" charset="0"/>
                </a:rPr>
                <a:t> Series</a:t>
              </a:r>
            </a:p>
          </p:txBody>
        </p:sp>
      </p:grpSp>
      <p:sp>
        <p:nvSpPr>
          <p:cNvPr id="3" name="Google Shape;130;p8">
            <a:extLst>
              <a:ext uri="{FF2B5EF4-FFF2-40B4-BE49-F238E27FC236}">
                <a16:creationId xmlns:a16="http://schemas.microsoft.com/office/drawing/2014/main" id="{C3577CF5-4BBE-1750-6993-0AF916AAAC4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11111"/>
            </a:pPr>
            <a:r>
              <a:rPr lang="en-US" sz="2400" b="1" dirty="0">
                <a:latin typeface="Lato"/>
                <a:ea typeface="Lato"/>
                <a:cs typeface="Lato"/>
                <a:sym typeface="Lato"/>
              </a:rPr>
              <a:t>Different ONT instruments 2026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30342-A11D-25E1-DF93-8FC1ED8E40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507" b="14227"/>
          <a:stretch>
            <a:fillRect/>
          </a:stretch>
        </p:blipFill>
        <p:spPr>
          <a:xfrm>
            <a:off x="2064890" y="3152260"/>
            <a:ext cx="5014219" cy="1880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b="1" i="1" dirty="0" err="1">
                <a:latin typeface="Lato"/>
                <a:ea typeface="Lato"/>
                <a:cs typeface="Lato"/>
                <a:sym typeface="Lato"/>
              </a:rPr>
              <a:t>MinION</a:t>
            </a:r>
            <a:r>
              <a:rPr lang="en" b="1" i="1" dirty="0">
                <a:latin typeface="Lato"/>
                <a:ea typeface="Lato"/>
                <a:cs typeface="Lato"/>
                <a:sym typeface="Lato"/>
              </a:rPr>
              <a:t> flow cell </a:t>
            </a:r>
            <a:endParaRPr b="1" i="1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7475" y="1812375"/>
            <a:ext cx="3203424" cy="17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Each flow cell has 2048 pores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Typically only ~1200-1600 are actually available on a new flow cell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Signal from 512 pores can be detected simultaneously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metagenomics (mNGS)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304800" y="1147925"/>
            <a:ext cx="50835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 mNGS?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Purpose of study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Pathogen landscape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type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nucleic acid abundance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Proportion of host vs. microbe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0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99" y="1147925"/>
            <a:ext cx="4403973" cy="2471501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Nanopore (ONT) sequencing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828174" y="1156475"/>
            <a:ext cx="72129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with little to no degradation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True for Illumina as well, but even more so for ONT</a:t>
            </a:r>
            <a:endParaRPr sz="17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 dirty="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</a:t>
            </a:r>
            <a:endParaRPr lang="en-US"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lang="en-US"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961950" y="4005225"/>
            <a:ext cx="7126200" cy="44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kit of choice: Rapid PCR barcoding kit (SQK-RPB114.24)</a:t>
            </a:r>
            <a:endParaRPr sz="17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7460050" y="3543525"/>
            <a:ext cx="170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/>
        </p:nvSpPr>
        <p:spPr>
          <a:xfrm>
            <a:off x="252225" y="1888400"/>
            <a:ext cx="87477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D9D9D9"/>
                </a:solidFill>
              </a:rPr>
              <a:t>Next</a:t>
            </a:r>
            <a:r>
              <a:rPr lang="en" sz="2800" b="1">
                <a:solidFill>
                  <a:srgbClr val="D9D9D9"/>
                </a:solidFill>
              </a:rPr>
              <a:t>: 07-O_MinION </a:t>
            </a:r>
            <a:r>
              <a:rPr lang="en" sz="2800" b="1" dirty="0">
                <a:solidFill>
                  <a:srgbClr val="D9D9D9"/>
                </a:solidFill>
              </a:rPr>
              <a:t>loading and sequencing</a:t>
            </a:r>
            <a:endParaRPr sz="2800" b="1" dirty="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328</Words>
  <Application>Microsoft Macintosh PowerPoint</Application>
  <PresentationFormat>On-screen Show (16:9)</PresentationFormat>
  <Paragraphs>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Helvetica Neue</vt:lpstr>
      <vt:lpstr>Aptos</vt:lpstr>
      <vt:lpstr>Helvetica Neue Light</vt:lpstr>
      <vt:lpstr>Lato</vt:lpstr>
      <vt:lpstr>Simple Light</vt:lpstr>
      <vt:lpstr>PowerPoint Presentation</vt:lpstr>
      <vt:lpstr>ONT mNGS pipeline</vt:lpstr>
      <vt:lpstr>What is nanopore sequencing?</vt:lpstr>
      <vt:lpstr>Principles of Oxford Nanopore sequencing</vt:lpstr>
      <vt:lpstr>Principles of Oxford Nanopore sequencing</vt:lpstr>
      <vt:lpstr>Principles of Oxford Nanopore sequencing</vt:lpstr>
      <vt:lpstr>Principles of Oxford Nanopore sequencing</vt:lpstr>
      <vt:lpstr>Different ONT instruments </vt:lpstr>
      <vt:lpstr>PowerPoint Presentation</vt:lpstr>
      <vt:lpstr>The MinION flow cell </vt:lpstr>
      <vt:lpstr>Considerations when doing metagenomics (mNGS)</vt:lpstr>
      <vt:lpstr>Considerations when doing Nanopore (ONT) sequencing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7</cp:revision>
  <dcterms:modified xsi:type="dcterms:W3CDTF">2026-10-08T23:28:34Z</dcterms:modified>
</cp:coreProperties>
</file>