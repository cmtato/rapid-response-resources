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313" r:id="rId2"/>
    <p:sldId id="256" r:id="rId3"/>
    <p:sldId id="286" r:id="rId4"/>
    <p:sldId id="312" r:id="rId5"/>
    <p:sldId id="257" r:id="rId6"/>
    <p:sldId id="258" r:id="rId7"/>
    <p:sldId id="288" r:id="rId8"/>
    <p:sldId id="310" r:id="rId9"/>
    <p:sldId id="287" r:id="rId10"/>
    <p:sldId id="285" r:id="rId11"/>
    <p:sldId id="311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314" r:id="rId3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575"/>
  </p:normalViewPr>
  <p:slideViewPr>
    <p:cSldViewPr snapToGrid="0">
      <p:cViewPr varScale="1">
        <p:scale>
          <a:sx n="143" d="100"/>
          <a:sy n="143" d="100"/>
        </p:scale>
        <p:origin x="7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7379aa95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7379aa95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16d4063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6b16d4063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6DF162E-7924-BC67-42D2-0A17A596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>
            <a:extLst>
              <a:ext uri="{FF2B5EF4-FFF2-40B4-BE49-F238E27FC236}">
                <a16:creationId xmlns:a16="http://schemas.microsoft.com/office/drawing/2014/main" id="{6D064285-79B9-9FAB-866C-E84D4D774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>
            <a:extLst>
              <a:ext uri="{FF2B5EF4-FFF2-40B4-BE49-F238E27FC236}">
                <a16:creationId xmlns:a16="http://schemas.microsoft.com/office/drawing/2014/main" id="{30BFADE6-79F7-FCA7-9E69-D7FA68A45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1389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379aa95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7379aa95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72C7EC-50E9-551F-A6C6-7097D372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7379aa95c_0_0:notes">
            <a:extLst>
              <a:ext uri="{FF2B5EF4-FFF2-40B4-BE49-F238E27FC236}">
                <a16:creationId xmlns:a16="http://schemas.microsoft.com/office/drawing/2014/main" id="{9DBF0F14-41D1-8980-C455-CDFAF10EA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7379aa95c_0_0:notes">
            <a:extLst>
              <a:ext uri="{FF2B5EF4-FFF2-40B4-BE49-F238E27FC236}">
                <a16:creationId xmlns:a16="http://schemas.microsoft.com/office/drawing/2014/main" id="{0CA09A4B-854C-E6C4-F4D2-4247843D1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 this slide up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7667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>
          <a:extLst>
            <a:ext uri="{FF2B5EF4-FFF2-40B4-BE49-F238E27FC236}">
              <a16:creationId xmlns:a16="http://schemas.microsoft.com/office/drawing/2014/main" id="{C3B29DDC-DE89-49EA-543D-D9D15193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8f93afd49_0_279:notes">
            <a:extLst>
              <a:ext uri="{FF2B5EF4-FFF2-40B4-BE49-F238E27FC236}">
                <a16:creationId xmlns:a16="http://schemas.microsoft.com/office/drawing/2014/main" id="{828870E6-D7EC-8F47-5B06-B17351EE7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358f93afd49_0_279:notes">
            <a:extLst>
              <a:ext uri="{FF2B5EF4-FFF2-40B4-BE49-F238E27FC236}">
                <a16:creationId xmlns:a16="http://schemas.microsoft.com/office/drawing/2014/main" id="{57F9DA8B-A0E6-1FEF-0BF9-98AF56872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456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7D038DE-710A-C51A-B54A-AC1EEF046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379aa95c_0_6:notes">
            <a:extLst>
              <a:ext uri="{FF2B5EF4-FFF2-40B4-BE49-F238E27FC236}">
                <a16:creationId xmlns:a16="http://schemas.microsoft.com/office/drawing/2014/main" id="{CFA10542-807A-CFAB-B0F7-F2C352239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37379aa95c_0_6:notes">
            <a:extLst>
              <a:ext uri="{FF2B5EF4-FFF2-40B4-BE49-F238E27FC236}">
                <a16:creationId xmlns:a16="http://schemas.microsoft.com/office/drawing/2014/main" id="{8B563A81-9802-9FD8-4FA9-24E59BBC3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034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7379aa95c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37379aa95c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11aab75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11aab75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7379aa95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7379aa95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7379aa95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7379aa95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37379aa95c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37379aa95c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7379aa95c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7379aa95c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7379aa95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7379aa95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7379aa95c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7379aa95c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78a7a83c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78a7a83c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7379aa95c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7379aa95c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78a7a83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78a7a83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7379aa95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7379aa95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7379aa95c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7379aa95c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7379aa95c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7379aa95c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7379aa95c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7379aa95c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14b01ecb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14b01ecb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78a7a83c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78a7a83c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14b01ecb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14b01ecb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14b01ecb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14b01ecb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78a7a83c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78a7a83c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37379aa95c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37379aa95c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7379aa95c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7379aa95c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78a7a83c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78a7a83c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78a7a83c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78a7a83c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78a7a83c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78a7a83c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7379aa95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7379aa95c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78a7a83c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78a7a83c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0756964372-Upload-Nanopore-D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hyperlink" Target="https://chanzuckerberg.zendesk.com/hc/en-us/articles/360051806072-Concatenate-Sequence-Fil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journals/genetics/articles/10.3389/fgene.2021.711437/ful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wtham-thakku/barcode-trimm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nzuckerberg.zendesk.com/hc/en-us/articles/13830756964372-Upload-Nanopore-Dat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77" b="1" dirty="0">
                <a:solidFill>
                  <a:schemeClr val="tx1"/>
                </a:solidFill>
              </a:rPr>
              <a:t>Prepare ONT </a:t>
            </a:r>
            <a:r>
              <a:rPr lang="en" sz="4877" b="1" dirty="0" err="1">
                <a:solidFill>
                  <a:schemeClr val="tx1"/>
                </a:solidFill>
              </a:rPr>
              <a:t>fastq</a:t>
            </a:r>
            <a:r>
              <a:rPr lang="en" sz="4877" b="1" dirty="0">
                <a:solidFill>
                  <a:schemeClr val="tx1"/>
                </a:solidFill>
              </a:rPr>
              <a:t> files for upload to CZID</a:t>
            </a:r>
            <a:endParaRPr sz="40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3CED7-4E6C-4226-9B31-6A15EB3810AE}"/>
              </a:ext>
            </a:extLst>
          </p:cNvPr>
          <p:cNvSpPr txBox="1"/>
          <p:nvPr/>
        </p:nvSpPr>
        <p:spPr>
          <a:xfrm>
            <a:off x="1422399" y="3254375"/>
            <a:ext cx="6917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600" dirty="0">
                <a:solidFill>
                  <a:schemeClr val="tx1"/>
                </a:solidFill>
              </a:rPr>
              <a:t>(Concatenate and barcode filter)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A1352-B409-67D1-2CCB-4F092FFDEEEA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Updated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b16d4063d_0_6"/>
          <p:cNvSpPr txBox="1">
            <a:spLocks noGrp="1"/>
          </p:cNvSpPr>
          <p:nvPr>
            <p:ph type="title"/>
          </p:nvPr>
        </p:nvSpPr>
        <p:spPr>
          <a:xfrm>
            <a:off x="379713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What is covered in this section?</a:t>
            </a:r>
            <a:endParaRPr dirty="0"/>
          </a:p>
        </p:txBody>
      </p:sp>
      <p:sp>
        <p:nvSpPr>
          <p:cNvPr id="65" name="Google Shape;65;g36b16d4063d_0_6"/>
          <p:cNvSpPr txBox="1">
            <a:spLocks noGrp="1"/>
          </p:cNvSpPr>
          <p:nvPr>
            <p:ph type="body" idx="1"/>
          </p:nvPr>
        </p:nvSpPr>
        <p:spPr>
          <a:xfrm>
            <a:off x="379713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Barcode trimming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FASTQ concatenation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 err="1">
                <a:solidFill>
                  <a:schemeClr val="tx1"/>
                </a:solidFill>
              </a:rPr>
              <a:t>Midread</a:t>
            </a:r>
            <a:r>
              <a:rPr lang="en-US" dirty="0">
                <a:solidFill>
                  <a:schemeClr val="tx1"/>
                </a:solidFill>
              </a:rPr>
              <a:t> barcode trimming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FASTQ upload to CZ ID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Appendix: FASTQ concatenation aid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25961E5-4452-A8B6-6AB4-3CE525AF7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EE324B8-5C7F-47B9-1F64-8BE2E1DDB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Barcodes need to be trimmed </a:t>
            </a:r>
            <a:r>
              <a:rPr lang="en" dirty="0"/>
              <a:t>from all FASTQ’s prior to analysis</a:t>
            </a:r>
            <a:endParaRPr dirty="0"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6B0525-2475-5EC1-97EF-D35CC3A67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15562"/>
            <a:ext cx="8520599" cy="3153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" dirty="0">
                <a:solidFill>
                  <a:schemeClr val="tx1"/>
                </a:solidFill>
              </a:rPr>
              <a:t>Barcodes are synthetic sequences that aid in the generation, </a:t>
            </a:r>
            <a:r>
              <a:rPr lang="en" dirty="0" err="1">
                <a:solidFill>
                  <a:schemeClr val="tx1"/>
                </a:solidFill>
              </a:rPr>
              <a:t>sequ</a:t>
            </a:r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" dirty="0" err="1">
                <a:solidFill>
                  <a:schemeClr val="tx1"/>
                </a:solidFill>
              </a:rPr>
              <a:t>ncing</a:t>
            </a:r>
            <a:r>
              <a:rPr lang="en" dirty="0">
                <a:solidFill>
                  <a:schemeClr val="tx1"/>
                </a:solidFill>
              </a:rPr>
              <a:t>, and demultiplexing of libraries. They are not part of your real sample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Therefore, we do not want to include barcode sequences in our data used for analysis</a:t>
            </a:r>
          </a:p>
          <a:p>
            <a:pPr marL="11430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How is this done?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After demultiplexing is completed, barcodes should be trimmed. Some versions of </a:t>
            </a:r>
            <a:r>
              <a:rPr lang="en-US" dirty="0" err="1">
                <a:solidFill>
                  <a:schemeClr val="tx1"/>
                </a:solidFill>
              </a:rPr>
              <a:t>MinKNOW</a:t>
            </a:r>
            <a:r>
              <a:rPr lang="en-US" dirty="0">
                <a:solidFill>
                  <a:schemeClr val="tx1"/>
                </a:solidFill>
              </a:rPr>
              <a:t> have options to perform barcode trimming. Other tools like Dorado and </a:t>
            </a:r>
            <a:r>
              <a:rPr lang="en-US" dirty="0" err="1">
                <a:solidFill>
                  <a:schemeClr val="tx1"/>
                </a:solidFill>
              </a:rPr>
              <a:t>Porechop</a:t>
            </a:r>
            <a:r>
              <a:rPr lang="en-US" dirty="0">
                <a:solidFill>
                  <a:schemeClr val="tx1"/>
                </a:solidFill>
              </a:rPr>
              <a:t> used on the command line are also available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41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FASTQ file concatenation </a:t>
            </a:r>
            <a:r>
              <a:rPr lang="en" dirty="0"/>
              <a:t>needs to be completed before CZID because…</a:t>
            </a:r>
            <a:endParaRPr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448750"/>
            <a:ext cx="3788700" cy="31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spcBef>
                <a:spcPts val="1200"/>
              </a:spcBef>
            </a:pPr>
            <a:r>
              <a:rPr lang="en" dirty="0">
                <a:solidFill>
                  <a:schemeClr val="tx1"/>
                </a:solidFill>
              </a:rPr>
              <a:t>FASTQ’s are generated every 10min per sample in most ONT runs</a:t>
            </a:r>
          </a:p>
          <a:p>
            <a:pPr marL="114300" indent="0">
              <a:spcBef>
                <a:spcPts val="1200"/>
              </a:spcBef>
              <a:buNone/>
            </a:pPr>
            <a:endParaRPr lang="en"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CZID has a limit on the number of FASTQ files that can be uploaded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l="3504" t="2164" r="29619" b="9496"/>
          <a:stretch/>
        </p:blipFill>
        <p:spPr>
          <a:xfrm>
            <a:off x="4100275" y="1152475"/>
            <a:ext cx="4732027" cy="390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The multiple </a:t>
            </a:r>
            <a:r>
              <a:rPr lang="en" dirty="0" err="1">
                <a:solidFill>
                  <a:schemeClr val="tx1"/>
                </a:solidFill>
              </a:rPr>
              <a:t>fastq</a:t>
            </a:r>
            <a:r>
              <a:rPr lang="en" dirty="0">
                <a:solidFill>
                  <a:schemeClr val="tx1"/>
                </a:solidFill>
              </a:rPr>
              <a:t> files per sample need to be concatenated and renamed according to sample name</a:t>
            </a:r>
            <a:endParaRPr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This is most easily completed on the command line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Note: CZ ID sample names are derived from the FASTQ file names, so it’s important for these to be intentional!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CZ ID help desk: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Upload Nanopore Data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tx1"/>
                </a:solidFill>
              </a:rPr>
              <a:t>CZ ID help desk: 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Concatenate Sequence Files</a:t>
            </a:r>
            <a:endParaRPr lang="en-US" u="sng" dirty="0">
              <a:solidFill>
                <a:schemeClr val="hlink"/>
              </a:solidFill>
            </a:endParaRPr>
          </a:p>
          <a:p>
            <a:pPr marL="571500" lvl="1" indent="0"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	</a:t>
            </a:r>
          </a:p>
          <a:p>
            <a:pPr marL="571500" lvl="1" indent="0">
              <a:buSzPts val="1800"/>
              <a:buNone/>
            </a:pPr>
            <a:r>
              <a:rPr lang="en" dirty="0">
                <a:solidFill>
                  <a:schemeClr val="tx1"/>
                </a:solidFill>
              </a:rPr>
              <a:t>	 A concatenation support workbook is outlined in the appendix of this slide deck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 files for upload to CZ ID: </a:t>
            </a:r>
            <a:r>
              <a:rPr lang="en" b="1" dirty="0"/>
              <a:t>concatenate</a:t>
            </a:r>
            <a:endParaRPr b="1" dirty="0"/>
          </a:p>
        </p:txBody>
      </p:sp>
      <p:pic>
        <p:nvPicPr>
          <p:cNvPr id="3" name="Graphic 2" descr="Lightbulb and gear with solid fill">
            <a:extLst>
              <a:ext uri="{FF2B5EF4-FFF2-40B4-BE49-F238E27FC236}">
                <a16:creationId xmlns:a16="http://schemas.microsoft.com/office/drawing/2014/main" id="{53211E73-38E5-981A-C781-51536B0A65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439" y="4152287"/>
            <a:ext cx="416588" cy="416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A906D3A-ED0B-3BE2-819B-9B3847BC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D228E4C-F24C-D161-3064-72B2DF517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FASTQ files need to be filtered </a:t>
            </a:r>
            <a:r>
              <a:rPr lang="en" dirty="0"/>
              <a:t>to remove reads with \ </a:t>
            </a:r>
            <a:r>
              <a:rPr lang="en" dirty="0" err="1"/>
              <a:t>midread</a:t>
            </a:r>
            <a:r>
              <a:rPr lang="en" dirty="0"/>
              <a:t> barcodes before CZID because…</a:t>
            </a:r>
            <a:endParaRPr dirty="0"/>
          </a:p>
        </p:txBody>
      </p:sp>
      <p:sp>
        <p:nvSpPr>
          <p:cNvPr id="9" name="Google Shape;517;g358f93afd49_0_279">
            <a:extLst>
              <a:ext uri="{FF2B5EF4-FFF2-40B4-BE49-F238E27FC236}">
                <a16:creationId xmlns:a16="http://schemas.microsoft.com/office/drawing/2014/main" id="{9D27E816-037A-5AB1-9C84-0A9BE758A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2439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is barcode bleeding?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Unintended misassignment of reads from one sample to another sample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How does this happen?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“Free barcodes from samples with a low amount of DNA molecules might ligate to non-barcoded DNA from samples with a highly overloaded number of molecules” or “short molecules passing through pore consecutively and interpreted as one read”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will barcode bleeding look like?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False positive signal of a taxa that is present (likely at high levels) in another sample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b="1" dirty="0">
                <a:solidFill>
                  <a:schemeClr val="tx1"/>
                </a:solidFill>
              </a:rPr>
              <a:t>What does this mean for my run?</a:t>
            </a:r>
            <a:endParaRPr b="1" dirty="0"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chemeClr val="tx1"/>
                </a:solidFill>
              </a:rPr>
              <a:t>Include water controls - these should help estimate barcode bleeding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Google Shape;518;g358f93afd49_0_279">
            <a:extLst>
              <a:ext uri="{FF2B5EF4-FFF2-40B4-BE49-F238E27FC236}">
                <a16:creationId xmlns:a16="http://schemas.microsoft.com/office/drawing/2014/main" id="{408D2463-7FD2-6372-19CD-6D2D0D55D097}"/>
              </a:ext>
            </a:extLst>
          </p:cNvPr>
          <p:cNvSpPr txBox="1"/>
          <p:nvPr/>
        </p:nvSpPr>
        <p:spPr>
          <a:xfrm>
            <a:off x="5477825" y="4478168"/>
            <a:ext cx="355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https://www.frontiersin.org/journals/genetics/articles/10.3389/fgene.2021.711437/full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857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>
          <a:extLst>
            <a:ext uri="{FF2B5EF4-FFF2-40B4-BE49-F238E27FC236}">
              <a16:creationId xmlns:a16="http://schemas.microsoft.com/office/drawing/2014/main" id="{8E6E587D-BE46-FDA1-B1AC-1DBCBF26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8f93afd49_0_279">
            <a:extLst>
              <a:ext uri="{FF2B5EF4-FFF2-40B4-BE49-F238E27FC236}">
                <a16:creationId xmlns:a16="http://schemas.microsoft.com/office/drawing/2014/main" id="{C0486036-F28D-9E85-4961-B4CA9F776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5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500" dirty="0"/>
              <a:t>Observed patterns of barcode bleeding</a:t>
            </a:r>
            <a:endParaRPr sz="2500" dirty="0"/>
          </a:p>
        </p:txBody>
      </p:sp>
      <p:sp>
        <p:nvSpPr>
          <p:cNvPr id="517" name="Google Shape;517;g358f93afd49_0_279">
            <a:extLst>
              <a:ext uri="{FF2B5EF4-FFF2-40B4-BE49-F238E27FC236}">
                <a16:creationId xmlns:a16="http://schemas.microsoft.com/office/drawing/2014/main" id="{003488FE-9B3C-E9F6-7227-0DE78719B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898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More likely to happen when one sample in pool has a highly abundant target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More likely to happen when one sample in pool has short library fragments (200-300bp or less)</a:t>
            </a: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Anatomy of a barcode bleed read: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07015C-C47A-8201-5E6B-BAE5C007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49" y="2679050"/>
            <a:ext cx="5892800" cy="17272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8B01923-29E8-E3F5-8F50-DCACC3159EFD}"/>
              </a:ext>
            </a:extLst>
          </p:cNvPr>
          <p:cNvSpPr/>
          <p:nvPr/>
        </p:nvSpPr>
        <p:spPr>
          <a:xfrm>
            <a:off x="2859932" y="3715966"/>
            <a:ext cx="1322962" cy="8529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A026F-CFBB-13FE-8658-814F9DB2A61F}"/>
              </a:ext>
            </a:extLst>
          </p:cNvPr>
          <p:cNvSpPr txBox="1"/>
          <p:nvPr/>
        </p:nvSpPr>
        <p:spPr>
          <a:xfrm>
            <a:off x="3521413" y="4568875"/>
            <a:ext cx="4381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Barcode sequence detected in the middle of the read</a:t>
            </a:r>
          </a:p>
        </p:txBody>
      </p:sp>
    </p:spTree>
    <p:extLst>
      <p:ext uri="{BB962C8B-B14F-4D97-AF65-F5344CB8AC3E}">
        <p14:creationId xmlns:p14="http://schemas.microsoft.com/office/powerpoint/2010/main" val="262224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8F1C083-5204-4486-7B42-27489C99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4CD9298-0B05-7408-3790-81E9D2FA3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 files for upload to CZ ID: </a:t>
            </a:r>
            <a:r>
              <a:rPr lang="en" b="1" dirty="0" err="1"/>
              <a:t>midread</a:t>
            </a:r>
            <a:r>
              <a:rPr lang="en" b="1" dirty="0"/>
              <a:t> barcode filter</a:t>
            </a:r>
            <a:endParaRPr b="1" dirty="0"/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1898E33-C7D4-70AB-B905-3B4293CAB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5899"/>
            <a:ext cx="8520600" cy="3082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dirty="0">
                <a:solidFill>
                  <a:schemeClr val="tx1"/>
                </a:solidFill>
              </a:rPr>
              <a:t>We created an online app to detect and discard reads that have a second barcode detected in the middle of the read</a:t>
            </a:r>
          </a:p>
          <a:p>
            <a:pPr marL="285750" indent="-285750"/>
            <a:endParaRPr lang="en-US" dirty="0">
              <a:solidFill>
                <a:schemeClr val="tx1"/>
              </a:solidFill>
            </a:endParaRP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 err="1">
                <a:solidFill>
                  <a:schemeClr val="tx1"/>
                </a:solidFill>
              </a:rPr>
              <a:t>midread</a:t>
            </a:r>
            <a:r>
              <a:rPr lang="en-US" dirty="0">
                <a:solidFill>
                  <a:schemeClr val="tx1"/>
                </a:solidFill>
              </a:rPr>
              <a:t> barcode filter app is </a:t>
            </a:r>
            <a:r>
              <a:rPr lang="en-US" i="1" dirty="0">
                <a:solidFill>
                  <a:schemeClr val="tx1"/>
                </a:solidFill>
              </a:rPr>
              <a:t>intended for FASTQ files that have already had adapters trimmed</a:t>
            </a:r>
            <a:r>
              <a:rPr lang="en-US" dirty="0">
                <a:solidFill>
                  <a:schemeClr val="tx1"/>
                </a:solidFill>
              </a:rPr>
              <a:t> (usually completed in </a:t>
            </a:r>
            <a:r>
              <a:rPr lang="en-US" dirty="0" err="1">
                <a:solidFill>
                  <a:schemeClr val="tx1"/>
                </a:solidFill>
              </a:rPr>
              <a:t>MinKNOW</a:t>
            </a:r>
            <a:r>
              <a:rPr lang="en-US" dirty="0">
                <a:solidFill>
                  <a:schemeClr val="tx1"/>
                </a:solidFill>
              </a:rPr>
              <a:t> or using Dorado or </a:t>
            </a:r>
            <a:r>
              <a:rPr lang="en-US" dirty="0" err="1">
                <a:solidFill>
                  <a:schemeClr val="tx1"/>
                </a:solidFill>
              </a:rPr>
              <a:t>Porechop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/>
            <a:r>
              <a:rPr lang="en-US" dirty="0">
                <a:solidFill>
                  <a:schemeClr val="tx1"/>
                </a:solidFill>
              </a:rPr>
              <a:t>Access and use here: 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https://</a:t>
            </a:r>
            <a:r>
              <a:rPr lang="en-US" b="1" dirty="0" err="1">
                <a:solidFill>
                  <a:schemeClr val="tx1"/>
                </a:solidFill>
                <a:hlinkClick r:id="rId3"/>
              </a:rPr>
              <a:t>github.com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/</a:t>
            </a:r>
            <a:r>
              <a:rPr lang="en-US" b="1" dirty="0" err="1">
                <a:solidFill>
                  <a:schemeClr val="tx1"/>
                </a:solidFill>
                <a:hlinkClick r:id="rId3"/>
              </a:rPr>
              <a:t>gowtham-thakku</a:t>
            </a:r>
            <a:r>
              <a:rPr lang="en-US" b="1" dirty="0">
                <a:solidFill>
                  <a:schemeClr val="tx1"/>
                </a:solidFill>
                <a:hlinkClick r:id="rId3"/>
              </a:rPr>
              <a:t>/barcode-trimmer</a:t>
            </a:r>
            <a:endParaRPr lang="en-US" dirty="0">
              <a:solidFill>
                <a:schemeClr val="tx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556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Upload your data to CZ ID</a:t>
            </a:r>
            <a:endParaRPr/>
          </a:p>
        </p:txBody>
      </p:sp>
      <p:sp>
        <p:nvSpPr>
          <p:cNvPr id="256" name="Google Shape;256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748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dirty="0">
                <a:solidFill>
                  <a:schemeClr val="tx1"/>
                </a:solidFill>
              </a:rPr>
              <a:t>After these steps are completed, you are ready to upload to CZ ID!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Barcode trimming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FASTQ concatenation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2100" dirty="0">
                <a:solidFill>
                  <a:schemeClr val="tx1"/>
                </a:solidFill>
              </a:rPr>
              <a:t>Midread barcode filtering</a:t>
            </a:r>
            <a:endParaRPr lang="en" u="sng" dirty="0">
              <a:solidFill>
                <a:schemeClr val="tx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3400" u="sng" dirty="0">
              <a:solidFill>
                <a:srgbClr val="0097A7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 u="sng" dirty="0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CZ ID Guide to Upload Nanopore Data</a:t>
            </a:r>
            <a:endParaRPr sz="3400" dirty="0"/>
          </a:p>
        </p:txBody>
      </p:sp>
      <p:pic>
        <p:nvPicPr>
          <p:cNvPr id="257" name="Google Shape;2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375" y="949151"/>
            <a:ext cx="5672125" cy="41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218517-5809-8BB5-0A2C-5DA2B1C3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FASTQ concatenation aid</a:t>
            </a:r>
          </a:p>
        </p:txBody>
      </p:sp>
    </p:spTree>
    <p:extLst>
      <p:ext uri="{BB962C8B-B14F-4D97-AF65-F5344CB8AC3E}">
        <p14:creationId xmlns:p14="http://schemas.microsoft.com/office/powerpoint/2010/main" val="113037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Use worksheet to generate commands that will be needed to concatenate and rename </a:t>
            </a:r>
            <a:r>
              <a:rPr lang="en" dirty="0" err="1"/>
              <a:t>fastq</a:t>
            </a:r>
            <a:r>
              <a:rPr lang="en" dirty="0"/>
              <a:t> files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Download Worksheet: </a:t>
            </a:r>
            <a:r>
              <a:rPr lang="en" b="1" dirty="0"/>
              <a:t>ONT concat fastq worksheet_excelonly.xlsx</a:t>
            </a: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Locate the run output folder containing your data on your computer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Navigate to correct location in Command Prompt (Windows) or Terminal (Mac)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Run concatenation commands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Use worksheet to generate commands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476" y="903875"/>
            <a:ext cx="6316926" cy="46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44650" y="4645475"/>
            <a:ext cx="192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CC0000"/>
                </a:solidFill>
              </a:rPr>
              <a:t>Review instructions</a:t>
            </a:r>
            <a:endParaRPr sz="1500">
              <a:solidFill>
                <a:srgbClr val="CC0000"/>
              </a:solidFill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1973350" y="4853225"/>
            <a:ext cx="659100" cy="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4" name="Google Shape;84;p17"/>
          <p:cNvSpPr txBox="1"/>
          <p:nvPr/>
        </p:nvSpPr>
        <p:spPr>
          <a:xfrm>
            <a:off x="3284110" y="4113980"/>
            <a:ext cx="192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0000"/>
                </a:solidFill>
              </a:rPr>
              <a:t>Choose the tab for your computer type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85" name="Google Shape;85;p17"/>
          <p:cNvSpPr/>
          <p:nvPr/>
        </p:nvSpPr>
        <p:spPr>
          <a:xfrm rot="-5400000">
            <a:off x="4114350" y="3831525"/>
            <a:ext cx="129300" cy="1757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Enter the barcode number matched to the sample ID in the 'barcode #' and 'sample ID' columns.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5" y="1322525"/>
            <a:ext cx="8432497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 flipH="1">
            <a:off x="3241175" y="22202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3" name="Google Shape;93;p18"/>
          <p:cNvCxnSpPr/>
          <p:nvPr/>
        </p:nvCxnSpPr>
        <p:spPr>
          <a:xfrm flipH="1">
            <a:off x="4113675" y="22202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Confirm that the command in the 'Output' column is correct. It should match the example command format.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75" y="1322525"/>
            <a:ext cx="8432497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9"/>
          <p:cNvCxnSpPr/>
          <p:nvPr/>
        </p:nvCxnSpPr>
        <p:spPr>
          <a:xfrm flipH="1">
            <a:off x="4875675" y="2296475"/>
            <a:ext cx="7800" cy="387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Copy the cells in the 'Output' column.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50" y="1184525"/>
            <a:ext cx="8315802" cy="33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25" y="1488225"/>
            <a:ext cx="8662748" cy="3523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4. Click the top cell in the 'Text' column. Right click and select 'paste special' -&gt; values only.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6669400" y="4723450"/>
            <a:ext cx="480000" cy="214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" name="Google Shape;114;p21"/>
          <p:cNvCxnSpPr/>
          <p:nvPr/>
        </p:nvCxnSpPr>
        <p:spPr>
          <a:xfrm flipH="1">
            <a:off x="7275950" y="4830400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5" name="Google Shape;115;p21"/>
          <p:cNvCxnSpPr/>
          <p:nvPr/>
        </p:nvCxnSpPr>
        <p:spPr>
          <a:xfrm flipH="1">
            <a:off x="5542425" y="3576875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6" name="Google Shape;116;p21"/>
          <p:cNvCxnSpPr/>
          <p:nvPr/>
        </p:nvCxnSpPr>
        <p:spPr>
          <a:xfrm flipH="1">
            <a:off x="4511700" y="2563175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Done in excel for now…</a:t>
            </a:r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13"/>
            <a:ext cx="9144003" cy="414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command (windows command prompt)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dk1"/>
                </a:solidFill>
              </a:rPr>
              <a:t>type barcode##\*.fastq.gz &gt; .\samplename.fastq.gz</a:t>
            </a:r>
            <a:endParaRPr sz="3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to the correct ONT run output folder and find the </a:t>
            </a:r>
            <a:r>
              <a:rPr lang="en" b="1"/>
              <a:t>fastq_pass folder</a:t>
            </a:r>
            <a:endParaRPr b="1"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950" y="1345925"/>
            <a:ext cx="7576100" cy="40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9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to the correct ONT run output folder and find the </a:t>
            </a:r>
            <a:r>
              <a:rPr lang="en" b="1"/>
              <a:t>fastq_pass folder</a:t>
            </a:r>
            <a:endParaRPr b="1"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088" y="1454825"/>
            <a:ext cx="6225821" cy="34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 click the fastq_pass folder and select </a:t>
            </a:r>
            <a:r>
              <a:rPr lang="en" b="1"/>
              <a:t>“copy path”</a:t>
            </a:r>
            <a:endParaRPr b="1"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You are copying the path (or directions) to the folder (aka directory)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i="1"/>
              <a:t>It is very important you are in the </a:t>
            </a:r>
            <a:r>
              <a:rPr lang="en" b="1" i="1"/>
              <a:t>correct run folder</a:t>
            </a:r>
            <a:endParaRPr b="1"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 the fastq_pass folder path in the worksheet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5363"/>
            <a:ext cx="9144003" cy="414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311700" y="109246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This is for record-keeping purposes</a:t>
            </a:r>
            <a:endParaRPr i="1"/>
          </a:p>
        </p:txBody>
      </p:sp>
      <p:cxnSp>
        <p:nvCxnSpPr>
          <p:cNvPr id="155" name="Google Shape;155;p27"/>
          <p:cNvCxnSpPr/>
          <p:nvPr/>
        </p:nvCxnSpPr>
        <p:spPr>
          <a:xfrm flipH="1">
            <a:off x="6903425" y="2426025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Command Prompt in Windows</a:t>
            </a:r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You will navigate to the fastq_pass folder using the “path” collected in the previous step</a:t>
            </a:r>
            <a:endParaRPr i="1"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873" y="1648875"/>
            <a:ext cx="3462525" cy="3494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8"/>
          <p:cNvCxnSpPr/>
          <p:nvPr/>
        </p:nvCxnSpPr>
        <p:spPr>
          <a:xfrm flipH="1">
            <a:off x="3039250" y="2265275"/>
            <a:ext cx="525000" cy="3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working directory to run output / fastq_pass</a:t>
            </a: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Paste the fastq_pass “path” from the worksheet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Press “Enter” on your keyboard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/>
              <a:t>In command prompt, you should now be inside the fastq_pass folder. Let’s check!</a:t>
            </a:r>
            <a:endParaRPr i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In Command Prompt, type: cd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Check that the output matches your “path”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If it matches, you are ready to concatenate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2839"/>
          <a:stretch/>
        </p:blipFill>
        <p:spPr>
          <a:xfrm>
            <a:off x="365500" y="1935450"/>
            <a:ext cx="8313375" cy="226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3">
            <a:alphaModFix/>
          </a:blip>
          <a:srcRect b="52839"/>
          <a:stretch/>
        </p:blipFill>
        <p:spPr>
          <a:xfrm>
            <a:off x="365500" y="1935450"/>
            <a:ext cx="8313375" cy="2269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31"/>
          <p:cNvCxnSpPr/>
          <p:nvPr/>
        </p:nvCxnSpPr>
        <p:spPr>
          <a:xfrm flipH="1">
            <a:off x="7874225" y="2211700"/>
            <a:ext cx="3900" cy="431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3" name="Google Shape;183;p31"/>
          <p:cNvCxnSpPr/>
          <p:nvPr/>
        </p:nvCxnSpPr>
        <p:spPr>
          <a:xfrm flipH="1">
            <a:off x="2034450" y="2211700"/>
            <a:ext cx="3900" cy="4314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84" name="Google Shape;184;p31"/>
          <p:cNvSpPr txBox="1"/>
          <p:nvPr/>
        </p:nvSpPr>
        <p:spPr>
          <a:xfrm>
            <a:off x="2038350" y="2854625"/>
            <a:ext cx="8937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✘</a:t>
            </a:r>
            <a:endParaRPr sz="8000">
              <a:solidFill>
                <a:srgbClr val="CC0000"/>
              </a:solidFill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2871775" y="3331775"/>
            <a:ext cx="493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Must remove quotation marks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 Command Prompt, type: cd 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Paste the fastq_pass “path” from the worksheet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Remove the quotation marks from around the path</a:t>
            </a: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 rotWithShape="1">
          <a:blip r:embed="rId3">
            <a:alphaModFix/>
          </a:blip>
          <a:srcRect b="79064"/>
          <a:stretch/>
        </p:blipFill>
        <p:spPr>
          <a:xfrm>
            <a:off x="257650" y="2023100"/>
            <a:ext cx="8628701" cy="104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0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In command prompt, you should now be inside the fastq_pass folder.</a:t>
            </a:r>
            <a:endParaRPr i="1"/>
          </a:p>
        </p:txBody>
      </p:sp>
      <p:pic>
        <p:nvPicPr>
          <p:cNvPr id="197" name="Google Shape;197;p33"/>
          <p:cNvPicPr preferRelativeResize="0"/>
          <p:nvPr/>
        </p:nvPicPr>
        <p:blipFill rotWithShape="1">
          <a:blip r:embed="rId3">
            <a:alphaModFix/>
          </a:blip>
          <a:srcRect b="52123"/>
          <a:stretch/>
        </p:blipFill>
        <p:spPr>
          <a:xfrm>
            <a:off x="257650" y="2023100"/>
            <a:ext cx="8628701" cy="23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In Command Prompt, type: cd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Check that the output matches your “path”</a:t>
            </a:r>
            <a:endParaRPr/>
          </a:p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 startAt="4"/>
            </a:pPr>
            <a:r>
              <a:rPr lang="en"/>
              <a:t>If it matches, you are ready to concatenate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 rotWithShape="1">
          <a:blip r:embed="rId3">
            <a:alphaModFix/>
          </a:blip>
          <a:srcRect b="53165"/>
          <a:stretch/>
        </p:blipFill>
        <p:spPr>
          <a:xfrm>
            <a:off x="129875" y="2066875"/>
            <a:ext cx="8884250" cy="2408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/>
          <p:nvPr/>
        </p:nvSpPr>
        <p:spPr>
          <a:xfrm>
            <a:off x="6996500" y="2434325"/>
            <a:ext cx="9588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✓</a:t>
            </a:r>
            <a:endParaRPr sz="80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8275"/>
            <a:ext cx="8485074" cy="384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Copy the text from 'Text' column.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your commands to concatenate the fastq files by sample.</a:t>
            </a:r>
            <a:endParaRPr/>
          </a:p>
        </p:txBody>
      </p:sp>
      <p:cxnSp>
        <p:nvCxnSpPr>
          <p:cNvPr id="211" name="Google Shape;211;p35"/>
          <p:cNvCxnSpPr/>
          <p:nvPr/>
        </p:nvCxnSpPr>
        <p:spPr>
          <a:xfrm flipH="1">
            <a:off x="6380525" y="2757500"/>
            <a:ext cx="6000" cy="429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each command from the 'Text' column in Command Prompt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1382"/>
            <a:ext cx="9143999" cy="47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 run folder for your newly concatenated files</a:t>
            </a:r>
            <a:endParaRPr/>
          </a:p>
        </p:txBody>
      </p:sp>
      <p:sp>
        <p:nvSpPr>
          <p:cNvPr id="243" name="Google Shape;24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i="1"/>
              <a:t>You should have one file for each sample, named according to the Sample ID input to the concatenation worksheet</a:t>
            </a:r>
            <a:endParaRPr i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70"/>
            <a:ext cx="9144001" cy="5137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8427-9011-9C7B-CBD9-18C4BA3C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proceed to concatenate and barcode filter our own data!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77067-E91C-6798-66A6-CDA47C7C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75011"/>
            <a:ext cx="8520600" cy="2793863"/>
          </a:xfrm>
        </p:spPr>
        <p:txBody>
          <a:bodyPr/>
          <a:lstStyle/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US" b="1" dirty="0">
                <a:solidFill>
                  <a:schemeClr val="tx1"/>
                </a:solidFill>
              </a:rPr>
              <a:t>Associated Worksheet</a:t>
            </a:r>
            <a:r>
              <a:rPr lang="en-US" dirty="0">
                <a:solidFill>
                  <a:schemeClr val="tx1"/>
                </a:solidFill>
              </a:rPr>
              <a:t>: DL3-O_Concat </a:t>
            </a:r>
            <a:r>
              <a:rPr lang="en-US" dirty="0" err="1">
                <a:solidFill>
                  <a:schemeClr val="tx1"/>
                </a:solidFill>
              </a:rPr>
              <a:t>fastq</a:t>
            </a:r>
            <a:r>
              <a:rPr lang="en-US" dirty="0">
                <a:solidFill>
                  <a:schemeClr val="tx1"/>
                </a:solidFill>
              </a:rPr>
              <a:t> worksheet</a:t>
            </a:r>
          </a:p>
          <a:p>
            <a:pPr marL="114300" indent="0" algn="ctr">
              <a:buNone/>
            </a:pPr>
            <a:endParaRPr lang="en-US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Next Slides</a:t>
            </a:r>
            <a:r>
              <a:rPr lang="en-US" sz="1400" dirty="0">
                <a:solidFill>
                  <a:schemeClr val="tx1"/>
                </a:solidFill>
              </a:rPr>
              <a:t>: DL4-O_CZ ID </a:t>
            </a:r>
            <a:r>
              <a:rPr lang="en-US" sz="1400" dirty="0" err="1">
                <a:solidFill>
                  <a:schemeClr val="tx1"/>
                </a:solidFill>
              </a:rPr>
              <a:t>mNGS</a:t>
            </a:r>
            <a:r>
              <a:rPr lang="en-US" sz="1400" dirty="0">
                <a:solidFill>
                  <a:schemeClr val="tx1"/>
                </a:solidFill>
              </a:rPr>
              <a:t> Pipeline for ONT</a:t>
            </a:r>
          </a:p>
        </p:txBody>
      </p:sp>
    </p:spTree>
    <p:extLst>
      <p:ext uri="{BB962C8B-B14F-4D97-AF65-F5344CB8AC3E}">
        <p14:creationId xmlns:p14="http://schemas.microsoft.com/office/powerpoint/2010/main" val="25108186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1214</Words>
  <Application>Microsoft Macintosh PowerPoint</Application>
  <PresentationFormat>On-screen Show (16:9)</PresentationFormat>
  <Paragraphs>125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Roboto</vt:lpstr>
      <vt:lpstr>Arial</vt:lpstr>
      <vt:lpstr>Simple Light</vt:lpstr>
      <vt:lpstr>Disclaimer</vt:lpstr>
      <vt:lpstr>Prepare ONT fastq files for upload to CZID</vt:lpstr>
      <vt:lpstr>What is covered in this section?</vt:lpstr>
      <vt:lpstr>Barcodes need to be trimmed from all FASTQ’s prior to analysis</vt:lpstr>
      <vt:lpstr>FASTQ file concatenation needs to be completed before CZID because…</vt:lpstr>
      <vt:lpstr>Prepare files for upload to CZ ID: concatenate</vt:lpstr>
      <vt:lpstr>FASTQ files need to be filtered to remove reads with \ midread barcodes before CZID because…</vt:lpstr>
      <vt:lpstr>Observed patterns of barcode bleeding</vt:lpstr>
      <vt:lpstr>Prepare files for upload to CZ ID: midread barcode filter</vt:lpstr>
      <vt:lpstr>Upload your data to CZ ID</vt:lpstr>
      <vt:lpstr>FASTQ concatenation aid</vt:lpstr>
      <vt:lpstr>Steps</vt:lpstr>
      <vt:lpstr>Step 1: Use worksheet to generate commands</vt:lpstr>
      <vt:lpstr>1. Enter the barcode number matched to the sample ID in the 'barcode #' and 'sample ID' columns.</vt:lpstr>
      <vt:lpstr>2. Confirm that the command in the 'Output' column is correct. It should match the example command format.</vt:lpstr>
      <vt:lpstr>3. Copy the cells in the 'Output' column.</vt:lpstr>
      <vt:lpstr>4. Click the top cell in the 'Text' column. Right click and select 'paste special' -&gt; values only.  </vt:lpstr>
      <vt:lpstr>Done in excel for now…</vt:lpstr>
      <vt:lpstr>Example command (windows command prompt)</vt:lpstr>
      <vt:lpstr>Navigate to the correct ONT run output folder and find the fastq_pass folder</vt:lpstr>
      <vt:lpstr>Navigate to the correct ONT run output folder and find the fastq_pass folder</vt:lpstr>
      <vt:lpstr>Right click the fastq_pass folder and select “copy path”</vt:lpstr>
      <vt:lpstr>Record the fastq_pass folder path in the worksheet</vt:lpstr>
      <vt:lpstr>Open Command Prompt in Windows</vt:lpstr>
      <vt:lpstr>Change working directory to run output / fastq_pass</vt:lpstr>
      <vt:lpstr>In Command Prompt, type: cd  Paste the fastq_pass “path” from the worksheet</vt:lpstr>
      <vt:lpstr>In Command Prompt, type: cd  Paste the fastq_pass “path” from the worksheet</vt:lpstr>
      <vt:lpstr>In Command Prompt, type: cd  Paste the fastq_pass “path” from the worksheet Remove the quotation marks from around the path</vt:lpstr>
      <vt:lpstr>In command prompt, you should now be inside the fastq_pass folder.</vt:lpstr>
      <vt:lpstr>In Command Prompt, type: cd Check that the output matches your “path” If it matches, you are ready to concatenate </vt:lpstr>
      <vt:lpstr>5. Copy the text from 'Text' column.  These are your commands to concatenate the fastq files by sample.</vt:lpstr>
      <vt:lpstr>Run each command from the 'Text' column in Command Prompt</vt:lpstr>
      <vt:lpstr>PowerPoint Presentation</vt:lpstr>
      <vt:lpstr>PowerPoint Presentation</vt:lpstr>
      <vt:lpstr>PowerPoint Presentation</vt:lpstr>
      <vt:lpstr>Check your run folder for your newly concatenated files</vt:lpstr>
      <vt:lpstr>PowerPoint Presentation</vt:lpstr>
      <vt:lpstr>Let’s proceed to concatenate and barcode filter our own data!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8</cp:revision>
  <dcterms:modified xsi:type="dcterms:W3CDTF">2026-09-29T00:29:40Z</dcterms:modified>
</cp:coreProperties>
</file>