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Lst>
  <p:notesMasterIdLst>
    <p:notesMasterId r:id="rId46"/>
  </p:notesMasterIdLst>
  <p:sldIdLst>
    <p:sldId id="256" r:id="rId3"/>
    <p:sldId id="257" r:id="rId4"/>
    <p:sldId id="258" r:id="rId5"/>
    <p:sldId id="259" r:id="rId6"/>
    <p:sldId id="260" r:id="rId7"/>
    <p:sldId id="261" r:id="rId8"/>
    <p:sldId id="262" r:id="rId9"/>
    <p:sldId id="263" r:id="rId10"/>
    <p:sldId id="264" r:id="rId11"/>
    <p:sldId id="276" r:id="rId12"/>
    <p:sldId id="277" r:id="rId13"/>
    <p:sldId id="265" r:id="rId14"/>
    <p:sldId id="266" r:id="rId15"/>
    <p:sldId id="278" r:id="rId16"/>
    <p:sldId id="267" r:id="rId17"/>
    <p:sldId id="268" r:id="rId18"/>
    <p:sldId id="269" r:id="rId19"/>
    <p:sldId id="270" r:id="rId20"/>
    <p:sldId id="272" r:id="rId21"/>
    <p:sldId id="273" r:id="rId22"/>
    <p:sldId id="279" r:id="rId23"/>
    <p:sldId id="280" r:id="rId24"/>
    <p:sldId id="274" r:id="rId25"/>
    <p:sldId id="284" r:id="rId26"/>
    <p:sldId id="295" r:id="rId27"/>
    <p:sldId id="281"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2980" userDrawn="1">
          <p15:clr>
            <a:srgbClr val="A4A3A4"/>
          </p15:clr>
        </p15:guide>
        <p15:guide id="4" pos="30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C5B7DD-34DA-4ED2-9B87-43BDE41641AC}">
  <a:tblStyle styleId="{51C5B7DD-34DA-4ED2-9B87-43BDE41641A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46"/>
    <p:restoredTop sz="94658"/>
  </p:normalViewPr>
  <p:slideViewPr>
    <p:cSldViewPr snapToGrid="0" showGuides="1">
      <p:cViewPr varScale="1">
        <p:scale>
          <a:sx n="106" d="100"/>
          <a:sy n="106" d="100"/>
        </p:scale>
        <p:origin x="192" y="952"/>
      </p:cViewPr>
      <p:guideLst>
        <p:guide orient="horz" pos="1620"/>
        <p:guide pos="2880"/>
        <p:guide pos="2980"/>
        <p:guide pos="30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895bf12c9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895bf12c9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955f19851_0_3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a955f19851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955f19851_0_3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a955f19851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955f19851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a955f19851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Animation shows how your library is sequenced.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a955f19851_0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a955f19851_0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ddc609ae97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ddc609ae9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955f19851_0_3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a955f19851_0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and DNA library prep steps. We’ll go into detail of RNA library prep since that is the more complicated one. And once you are familiar with RNA library prep, you’ll find DNA library prep to very similar but simpler.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a955f19851_0_4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a955f19851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and DNA library prep steps. We’ll go into detail of RNA library prep since that is the more complicated one. And once you are familiar with RNA library prep, you’ll find DNA library prep to very similar but simpler.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2f458f4e9c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2f458f4e9c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8300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89f963b436_0_8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89f963b436_0_8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extract RNA  you can proceed to the next step. But if you extracted total nucleic acid, you’ll have to remove the DNA first. This can be achieved by DNAse I treatment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a955f19851_0_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a955f19851_0_4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step involves removing as much human host material as possible. The RNA content of a typical host sample will be 95% host rRNA, 2-3% host mRNA and 1% other host RNA. And then less than 1% usually is pathogen RNA. If you prepare a sequencing library from such a sample, all of these types of RNA would be sequenced, and only 1% of your reads would be from pathogens that you are interested in. So it’s important to first remove host rRNA as much as possible, to allow your pathogens take up more of the sequencing data. </a:t>
            </a:r>
            <a:endParaRPr/>
          </a:p>
          <a:p>
            <a:pPr marL="0" lvl="0" indent="0" algn="l" rtl="0">
              <a:spcBef>
                <a:spcPts val="0"/>
              </a:spcBef>
              <a:spcAft>
                <a:spcPts val="0"/>
              </a:spcAft>
              <a:buNone/>
            </a:pPr>
            <a:r>
              <a:rPr lang="en"/>
              <a:t>FastSelect takes host rRNA from 95% to about 30% in our hands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a955f19851_0_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a955f19851_0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FastSelect takes host rRNA from 95% to about 30% in our hands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89f963b436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89f963b436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From </a:t>
            </a:r>
            <a:r>
              <a:rPr lang="en">
                <a:latin typeface="Roboto"/>
                <a:ea typeface="Roboto"/>
                <a:cs typeface="Roboto"/>
                <a:sym typeface="Roboto"/>
              </a:rPr>
              <a:t>NEBNext Ultra II RNA First Strand Synthesis Module E7771 manual</a:t>
            </a:r>
            <a:endParaRPr>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a955f19851_0_4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3a955f19851_0_4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a955f19851_0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a955f19851_0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a955f19851_0_4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a955f19851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latin typeface="Calibri"/>
                <a:ea typeface="Calibri"/>
                <a:cs typeface="Calibri"/>
                <a:sym typeface="Calibri"/>
              </a:rPr>
              <a:t>Enhancer is likely DMSO + PEG8000 for crowding/increase local concentration so adapters and dsDNA find each other more easily</a:t>
            </a:r>
            <a:endParaRPr>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latin typeface="Calibri"/>
                <a:ea typeface="Calibri"/>
                <a:cs typeface="Calibri"/>
                <a:sym typeface="Calibri"/>
              </a:rPr>
              <a:t>Takes 15 minutes, but can do 1hr if really really low input quantity.</a:t>
            </a:r>
            <a:endParaRPr>
              <a:solidFill>
                <a:schemeClr val="dk1"/>
              </a:solidFill>
            </a:endParaRPr>
          </a:p>
          <a:p>
            <a:pPr marL="0" lvl="0" indent="0" algn="l" rtl="0">
              <a:spcBef>
                <a:spcPts val="0"/>
              </a:spcBef>
              <a:spcAft>
                <a:spcPts val="0"/>
              </a:spcAft>
              <a:buClr>
                <a:schemeClr val="dk1"/>
              </a:buClr>
              <a:buFont typeface="Arial"/>
              <a:buNone/>
            </a:pPr>
            <a:r>
              <a:rPr lang="en" sz="1200">
                <a:solidFill>
                  <a:schemeClr val="dk1"/>
                </a:solidFill>
                <a:latin typeface="Calibri"/>
                <a:ea typeface="Calibri"/>
                <a:cs typeface="Calibri"/>
                <a:sym typeface="Calibri"/>
              </a:rPr>
              <a:t>If 5% adapter dimer in library, it will take up 20% of your sequences in the end.</a:t>
            </a:r>
            <a:endParaRPr>
              <a:solidFill>
                <a:schemeClr val="dk1"/>
              </a:solidFill>
            </a:endParaRPr>
          </a:p>
          <a:p>
            <a:pPr marL="0" lvl="0" indent="0" algn="l" rtl="0">
              <a:spcBef>
                <a:spcPts val="0"/>
              </a:spcBef>
              <a:spcAft>
                <a:spcPts val="0"/>
              </a:spcAft>
              <a:buNone/>
            </a:pPr>
            <a:r>
              <a:rPr lang="en" sz="1200">
                <a:solidFill>
                  <a:schemeClr val="dk1"/>
                </a:solidFill>
                <a:latin typeface="Calibri"/>
                <a:ea typeface="Calibri"/>
                <a:cs typeface="Calibri"/>
                <a:sym typeface="Calibri"/>
              </a:rPr>
              <a:t>Adapter dimers at this stage are about 64 bp long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a955f19851_0_4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a955f19851_0_4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Reduce #PCR cycles to the absolute minimum to avoid amplification bias.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a955f19851_0_4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a955f19851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Reduce #PCR cycles to the absolute minimum to avoid amplification bias.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de4375830b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de4375830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Reduce #PCR cycles to the absolute minimum to avoid amplification bias.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8afdb07f9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8afdb07f9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Reduce #PCR cycles to the absolute minimum to avoid amplification bias.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89f963b436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89f963b436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dirty="0">
                <a:solidFill>
                  <a:schemeClr val="dk1"/>
                </a:solidFill>
                <a:latin typeface="Calibri"/>
                <a:ea typeface="Calibri"/>
                <a:cs typeface="Calibri"/>
                <a:sym typeface="Calibri"/>
              </a:rPr>
              <a:t>Enhancer is likely DMSO + PEG8000 for crowding/increase local concentration so adapters and dsDNA find </a:t>
            </a:r>
            <a:r>
              <a:rPr lang="en" sz="1200" dirty="0" err="1">
                <a:solidFill>
                  <a:schemeClr val="dk1"/>
                </a:solidFill>
                <a:latin typeface="Calibri"/>
                <a:ea typeface="Calibri"/>
                <a:cs typeface="Calibri"/>
                <a:sym typeface="Calibri"/>
              </a:rPr>
              <a:t>eachother</a:t>
            </a:r>
            <a:r>
              <a:rPr lang="en" sz="1200" dirty="0">
                <a:solidFill>
                  <a:schemeClr val="dk1"/>
                </a:solidFill>
                <a:latin typeface="Calibri"/>
                <a:ea typeface="Calibri"/>
                <a:cs typeface="Calibri"/>
                <a:sym typeface="Calibri"/>
              </a:rPr>
              <a:t> more easily</a:t>
            </a:r>
            <a:endParaRPr dirty="0">
              <a:solidFill>
                <a:schemeClr val="dk1"/>
              </a:solidFill>
            </a:endParaRPr>
          </a:p>
          <a:p>
            <a:pPr marL="0" lvl="0" indent="0" algn="l" rtl="0">
              <a:spcBef>
                <a:spcPts val="0"/>
              </a:spcBef>
              <a:spcAft>
                <a:spcPts val="0"/>
              </a:spcAft>
              <a:buClr>
                <a:schemeClr val="dk1"/>
              </a:buClr>
              <a:buFont typeface="Arial"/>
              <a:buNone/>
            </a:pPr>
            <a:r>
              <a:rPr lang="en" sz="1200" dirty="0">
                <a:solidFill>
                  <a:schemeClr val="dk1"/>
                </a:solidFill>
                <a:latin typeface="Calibri"/>
                <a:ea typeface="Calibri"/>
                <a:cs typeface="Calibri"/>
                <a:sym typeface="Calibri"/>
              </a:rPr>
              <a:t>Takes 15 minutes, but can do 1hr if really really low input quantity.</a:t>
            </a:r>
            <a:endParaRPr dirty="0">
              <a:solidFill>
                <a:schemeClr val="dk1"/>
              </a:solidFill>
            </a:endParaRPr>
          </a:p>
          <a:p>
            <a:pPr marL="0" lvl="0" indent="0" algn="l" rtl="0">
              <a:spcBef>
                <a:spcPts val="0"/>
              </a:spcBef>
              <a:spcAft>
                <a:spcPts val="0"/>
              </a:spcAft>
              <a:buClr>
                <a:schemeClr val="dk1"/>
              </a:buClr>
              <a:buFont typeface="Arial"/>
              <a:buNone/>
            </a:pPr>
            <a:r>
              <a:rPr lang="en" sz="1200" dirty="0">
                <a:solidFill>
                  <a:schemeClr val="dk1"/>
                </a:solidFill>
                <a:latin typeface="Calibri"/>
                <a:ea typeface="Calibri"/>
                <a:cs typeface="Calibri"/>
                <a:sym typeface="Calibri"/>
              </a:rPr>
              <a:t>If 5% adapter dimer in library, it will take up 20% of your sequences in the end.</a:t>
            </a:r>
            <a:endParaRPr dirty="0">
              <a:solidFill>
                <a:schemeClr val="dk1"/>
              </a:solidFill>
            </a:endParaRPr>
          </a:p>
          <a:p>
            <a:pPr marL="0" lvl="0" indent="0" algn="l" rtl="0">
              <a:spcBef>
                <a:spcPts val="0"/>
              </a:spcBef>
              <a:spcAft>
                <a:spcPts val="0"/>
              </a:spcAft>
              <a:buNone/>
            </a:pPr>
            <a:r>
              <a:rPr lang="en" sz="1200" dirty="0">
                <a:solidFill>
                  <a:schemeClr val="dk1"/>
                </a:solidFill>
                <a:latin typeface="Calibri"/>
                <a:ea typeface="Calibri"/>
                <a:cs typeface="Calibri"/>
                <a:sym typeface="Calibri"/>
              </a:rPr>
              <a:t>Adapter dimers at this stage are about 64 bp long</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a955f19851_0_5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a955f19851_0_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8bb4d59ecb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8bb4d59ecb_2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DNA library prep follows the same steps as RNA library prep, except that the RT step is not required and that fragmentation happens enzymatically or by a transposome (instead of Mg2+ and heat for RNA library prep)</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a:extLst>
            <a:ext uri="{FF2B5EF4-FFF2-40B4-BE49-F238E27FC236}">
              <a16:creationId xmlns:a16="http://schemas.microsoft.com/office/drawing/2014/main" id="{11D833A6-2A70-584D-5300-A2C3706A8897}"/>
            </a:ext>
          </a:extLst>
        </p:cNvPr>
        <p:cNvGrpSpPr/>
        <p:nvPr/>
      </p:nvGrpSpPr>
      <p:grpSpPr>
        <a:xfrm>
          <a:off x="0" y="0"/>
          <a:ext cx="0" cy="0"/>
          <a:chOff x="0" y="0"/>
          <a:chExt cx="0" cy="0"/>
        </a:xfrm>
      </p:grpSpPr>
      <p:sp>
        <p:nvSpPr>
          <p:cNvPr id="290" name="Google Shape;290;g8c4faad5e3_0_88:notes">
            <a:extLst>
              <a:ext uri="{FF2B5EF4-FFF2-40B4-BE49-F238E27FC236}">
                <a16:creationId xmlns:a16="http://schemas.microsoft.com/office/drawing/2014/main" id="{8A5F355D-26BC-ABD9-D3ED-E5FB572CD8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8c4faad5e3_0_88:notes">
            <a:extLst>
              <a:ext uri="{FF2B5EF4-FFF2-40B4-BE49-F238E27FC236}">
                <a16:creationId xmlns:a16="http://schemas.microsoft.com/office/drawing/2014/main" id="{208715E8-2F6B-4A6E-F695-9741CDE214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We’ll use the NEBNextUltra II RNA kit as an example</a:t>
            </a:r>
            <a:endParaRPr/>
          </a:p>
        </p:txBody>
      </p:sp>
    </p:spTree>
    <p:extLst>
      <p:ext uri="{BB962C8B-B14F-4D97-AF65-F5344CB8AC3E}">
        <p14:creationId xmlns:p14="http://schemas.microsoft.com/office/powerpoint/2010/main" val="2563220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2f458f4e9c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2f458f4e9c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2f458f4e9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2f458f4e9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18" name="Google Shape;118;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5" name="Google Shape;125;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
              <a:t>P7: 24 nt p7 + 12 nt barcode + 2 nt + 32 nt adapter compl.</a:t>
            </a:r>
            <a:endParaRPr/>
          </a:p>
          <a:p>
            <a:pPr marL="0" lvl="0" indent="0" algn="l" rtl="0">
              <a:lnSpc>
                <a:spcPct val="100000"/>
              </a:lnSpc>
              <a:spcBef>
                <a:spcPts val="0"/>
              </a:spcBef>
              <a:spcAft>
                <a:spcPts val="0"/>
              </a:spcAft>
              <a:buSzPts val="1100"/>
              <a:buNone/>
            </a:pPr>
            <a:r>
              <a:rPr lang="en"/>
              <a:t>P5: 20 nt p5 + 9 nt +12 nt barcode + 33 nt adapter compl.</a:t>
            </a:r>
            <a:endParaRPr/>
          </a:p>
        </p:txBody>
      </p:sp>
      <p:sp>
        <p:nvSpPr>
          <p:cNvPr id="126" name="Google Shape;126;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822e78a24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2" name="Google Shape;412;g822e78a24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2" name="Google Shape;52;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3" name="Google Shape;53;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13"/>
          <p:cNvSpPr/>
          <p:nvPr/>
        </p:nvSpPr>
        <p:spPr>
          <a:xfrm>
            <a:off x="0" y="-9"/>
            <a:ext cx="9144000" cy="627000"/>
          </a:xfrm>
          <a:prstGeom prst="rect">
            <a:avLst/>
          </a:prstGeom>
          <a:gradFill>
            <a:gsLst>
              <a:gs pos="0">
                <a:srgbClr val="DDEAF6"/>
              </a:gs>
              <a:gs pos="10000">
                <a:srgbClr val="DDEAF6"/>
              </a:gs>
              <a:gs pos="55000">
                <a:srgbClr val="A1C1E4"/>
              </a:gs>
              <a:gs pos="100000">
                <a:srgbClr val="90B8E4"/>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55" name="Google Shape;55;p13" descr=" Biohub Logo V2.pdf"/>
          <p:cNvPicPr preferRelativeResize="0"/>
          <p:nvPr/>
        </p:nvPicPr>
        <p:blipFill rotWithShape="1">
          <a:blip r:embed="rId2">
            <a:alphaModFix/>
          </a:blip>
          <a:srcRect l="24284" t="34387" r="58249" b="34255"/>
          <a:stretch/>
        </p:blipFill>
        <p:spPr>
          <a:xfrm>
            <a:off x="158122" y="48182"/>
            <a:ext cx="826758" cy="834871"/>
          </a:xfrm>
          <a:prstGeom prst="rect">
            <a:avLst/>
          </a:prstGeom>
          <a:noFill/>
          <a:ln>
            <a:noFill/>
          </a:ln>
          <a:effectLst>
            <a:outerShdw blurRad="50800" dist="38100" dir="2700000" algn="tl" rotWithShape="0">
              <a:srgbClr val="000000">
                <a:alpha val="40000"/>
              </a:srgbClr>
            </a:outerShdw>
          </a:effectLst>
        </p:spPr>
      </p:pic>
      <p:sp>
        <p:nvSpPr>
          <p:cNvPr id="56" name="Google Shape;56;p13"/>
          <p:cNvSpPr txBox="1">
            <a:spLocks noGrp="1"/>
          </p:cNvSpPr>
          <p:nvPr>
            <p:ph type="body" idx="1"/>
          </p:nvPr>
        </p:nvSpPr>
        <p:spPr>
          <a:xfrm>
            <a:off x="158353" y="995363"/>
            <a:ext cx="8853600" cy="3660000"/>
          </a:xfrm>
          <a:prstGeom prst="rect">
            <a:avLst/>
          </a:prstGeom>
          <a:noFill/>
          <a:ln>
            <a:noFill/>
          </a:ln>
        </p:spPr>
        <p:txBody>
          <a:bodyPr spcFirstLastPara="1" wrap="square" lIns="68575" tIns="34275" rIns="68575" bIns="34275" anchor="t" anchorCtr="0">
            <a:noAutofit/>
          </a:bodyPr>
          <a:lstStyle>
            <a:lvl1pPr marL="457200" marR="0" lvl="0"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16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7" name="Google Shape;57;p13"/>
          <p:cNvSpPr txBox="1">
            <a:spLocks noGrp="1"/>
          </p:cNvSpPr>
          <p:nvPr>
            <p:ph type="body" idx="2"/>
          </p:nvPr>
        </p:nvSpPr>
        <p:spPr>
          <a:xfrm>
            <a:off x="1197769" y="48183"/>
            <a:ext cx="7003200" cy="550500"/>
          </a:xfrm>
          <a:prstGeom prst="rect">
            <a:avLst/>
          </a:prstGeom>
          <a:noFill/>
          <a:ln>
            <a:noFill/>
          </a:ln>
        </p:spPr>
        <p:txBody>
          <a:bodyPr spcFirstLastPara="1" wrap="square" lIns="68575" tIns="34275" rIns="68575" bIns="34275" anchor="ctr" anchorCtr="1">
            <a:noAutofit/>
          </a:bodyPr>
          <a:lstStyle>
            <a:lvl1pPr marL="457200" marR="0" lvl="0" indent="-228600" algn="l" rtl="0">
              <a:lnSpc>
                <a:spcPct val="90000"/>
              </a:lnSpc>
              <a:spcBef>
                <a:spcPts val="800"/>
              </a:spcBef>
              <a:spcAft>
                <a:spcPts val="0"/>
              </a:spcAft>
              <a:buClr>
                <a:schemeClr val="dk1"/>
              </a:buClr>
              <a:buSzPts val="3000"/>
              <a:buFont typeface="Arial"/>
              <a:buNone/>
              <a:defRPr sz="30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Layout">
  <p:cSld name="Blank Layout">
    <p:spTree>
      <p:nvGrpSpPr>
        <p:cNvPr id="1" name="Shape 58"/>
        <p:cNvGrpSpPr/>
        <p:nvPr/>
      </p:nvGrpSpPr>
      <p:grpSpPr>
        <a:xfrm>
          <a:off x="0" y="0"/>
          <a:ext cx="0" cy="0"/>
          <a:chOff x="0" y="0"/>
          <a:chExt cx="0" cy="0"/>
        </a:xfrm>
      </p:grpSpPr>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8" name="Google Shape;68;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9" name="Google Shape;69;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2" name="Google Shape;72;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5" name="Google Shape;7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6" name="Google Shape;7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1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0" name="Google Shape;80;p19"/>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1" name="Google Shape;81;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4" name="Google Shape;84;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7" name="Google Shape;87;p2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8" name="Google Shape;8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1" name="Google Shape;9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2"/>
        <p:cNvGrpSpPr/>
        <p:nvPr/>
      </p:nvGrpSpPr>
      <p:grpSpPr>
        <a:xfrm>
          <a:off x="0" y="0"/>
          <a:ext cx="0" cy="0"/>
          <a:chOff x="0" y="0"/>
          <a:chExt cx="0" cy="0"/>
        </a:xfrm>
      </p:grpSpPr>
      <p:sp>
        <p:nvSpPr>
          <p:cNvPr id="93" name="Google Shape;93;p2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23"/>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5" name="Google Shape;95;p2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6" name="Google Shape;96;p2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7" name="Google Shape;97;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8"/>
        <p:cNvGrpSpPr/>
        <p:nvPr/>
      </p:nvGrpSpPr>
      <p:grpSpPr>
        <a:xfrm>
          <a:off x="0" y="0"/>
          <a:ext cx="0" cy="0"/>
          <a:chOff x="0" y="0"/>
          <a:chExt cx="0" cy="0"/>
        </a:xfrm>
      </p:grpSpPr>
      <p:sp>
        <p:nvSpPr>
          <p:cNvPr id="99" name="Google Shape;99;p2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00" name="Google Shape;100;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1"/>
        <p:cNvGrpSpPr/>
        <p:nvPr/>
      </p:nvGrpSpPr>
      <p:grpSpPr>
        <a:xfrm>
          <a:off x="0" y="0"/>
          <a:ext cx="0" cy="0"/>
          <a:chOff x="0" y="0"/>
          <a:chExt cx="0" cy="0"/>
        </a:xfrm>
      </p:grpSpPr>
      <p:sp>
        <p:nvSpPr>
          <p:cNvPr id="102" name="Google Shape;102;p25"/>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3" name="Google Shape;103;p2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04" name="Google Shape;104;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5"/>
        <p:cNvGrpSpPr/>
        <p:nvPr/>
      </p:nvGrpSpPr>
      <p:grpSpPr>
        <a:xfrm>
          <a:off x="0" y="0"/>
          <a:ext cx="0" cy="0"/>
          <a:chOff x="0" y="0"/>
          <a:chExt cx="0" cy="0"/>
        </a:xfrm>
      </p:grpSpPr>
      <p:sp>
        <p:nvSpPr>
          <p:cNvPr id="106" name="Google Shape;10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64" name="Google Shape;64;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65" name="Google Shape;6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jpg"/><Relationship Id="rId7"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hyperlink" Target="https://youtu.be/fCd6B5HRaZ8?t=49"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6.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6.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6.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23.png"/><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6.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7"/>
          <p:cNvSpPr txBox="1">
            <a:spLocks noGrp="1"/>
          </p:cNvSpPr>
          <p:nvPr>
            <p:ph type="ctrTitle"/>
          </p:nvPr>
        </p:nvSpPr>
        <p:spPr>
          <a:xfrm>
            <a:off x="311708" y="-246025"/>
            <a:ext cx="8520600" cy="20526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4800" b="1" dirty="0">
                <a:solidFill>
                  <a:schemeClr val="dk2"/>
                </a:solidFill>
              </a:rPr>
              <a:t>Illumina RNA and DNA library prep for </a:t>
            </a:r>
            <a:r>
              <a:rPr lang="en" sz="4800" b="1" dirty="0" err="1">
                <a:solidFill>
                  <a:schemeClr val="dk2"/>
                </a:solidFill>
              </a:rPr>
              <a:t>mNGS</a:t>
            </a:r>
            <a:endParaRPr sz="1500" b="1" dirty="0">
              <a:solidFill>
                <a:schemeClr val="dk2"/>
              </a:solidFill>
            </a:endParaRPr>
          </a:p>
        </p:txBody>
      </p:sp>
      <p:pic>
        <p:nvPicPr>
          <p:cNvPr id="112" name="Google Shape;112;p27"/>
          <p:cNvPicPr preferRelativeResize="0"/>
          <p:nvPr/>
        </p:nvPicPr>
        <p:blipFill rotWithShape="1">
          <a:blip r:embed="rId3">
            <a:alphaModFix/>
          </a:blip>
          <a:srcRect b="50615"/>
          <a:stretch/>
        </p:blipFill>
        <p:spPr>
          <a:xfrm>
            <a:off x="2677238" y="1977865"/>
            <a:ext cx="3608824" cy="1948499"/>
          </a:xfrm>
          <a:prstGeom prst="rect">
            <a:avLst/>
          </a:prstGeom>
          <a:noFill/>
          <a:ln>
            <a:noFill/>
          </a:ln>
        </p:spPr>
      </p:pic>
      <p:sp>
        <p:nvSpPr>
          <p:cNvPr id="2" name="TextBox 1">
            <a:extLst>
              <a:ext uri="{FF2B5EF4-FFF2-40B4-BE49-F238E27FC236}">
                <a16:creationId xmlns:a16="http://schemas.microsoft.com/office/drawing/2014/main" id="{DA56C20A-657C-89CF-8077-403D42FAC466}"/>
              </a:ext>
            </a:extLst>
          </p:cNvPr>
          <p:cNvSpPr txBox="1"/>
          <p:nvPr/>
        </p:nvSpPr>
        <p:spPr>
          <a:xfrm>
            <a:off x="6289040" y="4760362"/>
            <a:ext cx="2854960"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a:t>
            </a:r>
            <a:r>
              <a:rPr lang="en-US" sz="1000">
                <a:solidFill>
                  <a:schemeClr val="tx1">
                    <a:lumMod val="50000"/>
                    <a:lumOff val="50000"/>
                  </a:schemeClr>
                </a:solidFill>
                <a:latin typeface="Arial" panose="020B0604020202020204" pitchFamily="34" charset="0"/>
                <a:cs typeface="Arial" panose="020B0604020202020204" pitchFamily="34" charset="0"/>
              </a:rPr>
              <a:t>– Updated </a:t>
            </a:r>
            <a:r>
              <a:rPr lang="en-US" sz="1000" dirty="0">
                <a:solidFill>
                  <a:schemeClr val="tx1">
                    <a:lumMod val="50000"/>
                    <a:lumOff val="50000"/>
                  </a:schemeClr>
                </a:solidFill>
                <a:latin typeface="Arial" panose="020B0604020202020204" pitchFamily="34" charset="0"/>
                <a:cs typeface="Arial" panose="020B0604020202020204" pitchFamily="34" charset="0"/>
              </a:rPr>
              <a:t>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8"/>
          <p:cNvSpPr/>
          <p:nvPr/>
        </p:nvSpPr>
        <p:spPr>
          <a:xfrm>
            <a:off x="337700" y="251875"/>
            <a:ext cx="8594700" cy="959100"/>
          </a:xfrm>
          <a:prstGeom prst="stripedRightArrow">
            <a:avLst>
              <a:gd name="adj1" fmla="val 67480"/>
              <a:gd name="adj2" fmla="val 147356"/>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8"/>
          <p:cNvSpPr txBox="1">
            <a:spLocks noGrp="1"/>
          </p:cNvSpPr>
          <p:nvPr>
            <p:ph type="title"/>
          </p:nvPr>
        </p:nvSpPr>
        <p:spPr>
          <a:xfrm>
            <a:off x="2065200" y="287875"/>
            <a:ext cx="4755600" cy="88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400" b="1">
                <a:solidFill>
                  <a:srgbClr val="FFFFFF"/>
                </a:solidFill>
              </a:rPr>
              <a:t>mNGS pipeline</a:t>
            </a:r>
            <a:endParaRPr sz="4400" b="1">
              <a:solidFill>
                <a:srgbClr val="FFFFFF"/>
              </a:solidFill>
            </a:endParaRPr>
          </a:p>
        </p:txBody>
      </p:sp>
      <p:sp>
        <p:nvSpPr>
          <p:cNvPr id="119" name="Google Shape;119;p28"/>
          <p:cNvSpPr txBox="1"/>
          <p:nvPr/>
        </p:nvSpPr>
        <p:spPr>
          <a:xfrm>
            <a:off x="250750"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Study design</a:t>
            </a:r>
            <a:endParaRPr/>
          </a:p>
        </p:txBody>
      </p:sp>
      <p:sp>
        <p:nvSpPr>
          <p:cNvPr id="120" name="Google Shape;120;p28"/>
          <p:cNvSpPr txBox="1"/>
          <p:nvPr/>
        </p:nvSpPr>
        <p:spPr>
          <a:xfrm>
            <a:off x="1640775" y="1311300"/>
            <a:ext cx="1030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xNA extraction</a:t>
            </a:r>
            <a:endParaRPr/>
          </a:p>
        </p:txBody>
      </p:sp>
      <p:sp>
        <p:nvSpPr>
          <p:cNvPr id="121" name="Google Shape;121;p28"/>
          <p:cNvSpPr txBox="1"/>
          <p:nvPr/>
        </p:nvSpPr>
        <p:spPr>
          <a:xfrm>
            <a:off x="2950075"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Library prep</a:t>
            </a:r>
            <a:endParaRPr/>
          </a:p>
        </p:txBody>
      </p:sp>
      <p:sp>
        <p:nvSpPr>
          <p:cNvPr id="122" name="Google Shape;122;p28"/>
          <p:cNvSpPr txBox="1"/>
          <p:nvPr/>
        </p:nvSpPr>
        <p:spPr>
          <a:xfrm>
            <a:off x="4592180" y="1387500"/>
            <a:ext cx="12135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Sequencing</a:t>
            </a:r>
            <a:endParaRPr/>
          </a:p>
        </p:txBody>
      </p:sp>
      <p:sp>
        <p:nvSpPr>
          <p:cNvPr id="123" name="Google Shape;123;p28"/>
          <p:cNvSpPr txBox="1"/>
          <p:nvPr/>
        </p:nvSpPr>
        <p:spPr>
          <a:xfrm>
            <a:off x="613261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Data analysis</a:t>
            </a:r>
            <a:endParaRPr/>
          </a:p>
        </p:txBody>
      </p:sp>
      <p:sp>
        <p:nvSpPr>
          <p:cNvPr id="124" name="Google Shape;124;p28"/>
          <p:cNvSpPr txBox="1"/>
          <p:nvPr/>
        </p:nvSpPr>
        <p:spPr>
          <a:xfrm>
            <a:off x="-500" y="3033150"/>
            <a:ext cx="15039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Storage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Lab setup</a:t>
            </a:r>
            <a:endParaRPr sz="1200">
              <a:solidFill>
                <a:schemeClr val="dk2"/>
              </a:solidFill>
            </a:endParaRPr>
          </a:p>
        </p:txBody>
      </p:sp>
      <p:sp>
        <p:nvSpPr>
          <p:cNvPr id="125" name="Google Shape;125;p28"/>
          <p:cNvSpPr txBox="1"/>
          <p:nvPr/>
        </p:nvSpPr>
        <p:spPr>
          <a:xfrm>
            <a:off x="1340475" y="3033150"/>
            <a:ext cx="1344600" cy="4326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Type(s)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Controls</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126" name="Google Shape;126;p28"/>
          <p:cNvSpPr txBox="1"/>
          <p:nvPr/>
        </p:nvSpPr>
        <p:spPr>
          <a:xfrm>
            <a:off x="2546425" y="3033150"/>
            <a:ext cx="2173200" cy="21120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Fragmentation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dsDNA generation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End-repair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Adapter ligation</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Barcoding &amp; PCR</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Clean-up</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Pooling</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QC</a:t>
            </a:r>
            <a:endParaRPr sz="1200">
              <a:solidFill>
                <a:schemeClr val="dk2"/>
              </a:solidFill>
            </a:endParaRPr>
          </a:p>
        </p:txBody>
      </p:sp>
      <p:sp>
        <p:nvSpPr>
          <p:cNvPr id="127" name="Google Shape;127;p28"/>
          <p:cNvSpPr txBox="1"/>
          <p:nvPr/>
        </p:nvSpPr>
        <p:spPr>
          <a:xfrm>
            <a:off x="5846725" y="3033150"/>
            <a:ext cx="2173200" cy="9591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QC data</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Host removal</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Alignment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Blast</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Ranking of hits</a:t>
            </a:r>
            <a:endParaRPr sz="1200">
              <a:solidFill>
                <a:schemeClr val="dk2"/>
              </a:solidFill>
            </a:endParaRPr>
          </a:p>
        </p:txBody>
      </p:sp>
      <p:pic>
        <p:nvPicPr>
          <p:cNvPr id="128" name="Google Shape;128;p28"/>
          <p:cNvPicPr preferRelativeResize="0"/>
          <p:nvPr/>
        </p:nvPicPr>
        <p:blipFill rotWithShape="1">
          <a:blip r:embed="rId3">
            <a:alphaModFix/>
          </a:blip>
          <a:srcRect l="14551" r="17611" b="13941"/>
          <a:stretch/>
        </p:blipFill>
        <p:spPr>
          <a:xfrm>
            <a:off x="4679550" y="1896300"/>
            <a:ext cx="1126125" cy="959049"/>
          </a:xfrm>
          <a:prstGeom prst="rect">
            <a:avLst/>
          </a:prstGeom>
          <a:noFill/>
          <a:ln>
            <a:noFill/>
          </a:ln>
        </p:spPr>
      </p:pic>
      <p:grpSp>
        <p:nvGrpSpPr>
          <p:cNvPr id="129" name="Google Shape;129;p28"/>
          <p:cNvGrpSpPr/>
          <p:nvPr/>
        </p:nvGrpSpPr>
        <p:grpSpPr>
          <a:xfrm>
            <a:off x="6241847" y="1990187"/>
            <a:ext cx="1126132" cy="877745"/>
            <a:chOff x="5059375" y="3618825"/>
            <a:chExt cx="1583426" cy="1234175"/>
          </a:xfrm>
        </p:grpSpPr>
        <p:pic>
          <p:nvPicPr>
            <p:cNvPr id="130" name="Google Shape;130;p28" descr="A screenshot of a cell phone&#10;&#10;Description automatically generated"/>
            <p:cNvPicPr preferRelativeResize="0"/>
            <p:nvPr/>
          </p:nvPicPr>
          <p:blipFill rotWithShape="1">
            <a:blip r:embed="rId4">
              <a:alphaModFix/>
            </a:blip>
            <a:srcRect l="47033" t="64643" r="26638" b="6039"/>
            <a:stretch/>
          </p:blipFill>
          <p:spPr>
            <a:xfrm>
              <a:off x="5059375" y="3618825"/>
              <a:ext cx="1583426" cy="1234175"/>
            </a:xfrm>
            <a:prstGeom prst="rect">
              <a:avLst/>
            </a:prstGeom>
            <a:noFill/>
            <a:ln>
              <a:noFill/>
            </a:ln>
          </p:spPr>
        </p:pic>
        <p:sp>
          <p:nvSpPr>
            <p:cNvPr id="132" name="Google Shape;132;p28"/>
            <p:cNvSpPr/>
            <p:nvPr/>
          </p:nvSpPr>
          <p:spPr>
            <a:xfrm>
              <a:off x="5111211" y="3670860"/>
              <a:ext cx="1459635" cy="832076"/>
            </a:xfrm>
            <a:prstGeom prst="rect">
              <a:avLst/>
            </a:prstGeom>
            <a:solidFill>
              <a:srgbClr val="E7E6E6"/>
            </a:solidFill>
            <a:ln w="9525" cap="flat" cmpd="sng">
              <a:solidFill>
                <a:srgbClr val="4454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4" name="Google Shape;134;p28"/>
          <p:cNvPicPr preferRelativeResize="0"/>
          <p:nvPr/>
        </p:nvPicPr>
        <p:blipFill rotWithShape="1">
          <a:blip r:embed="rId5">
            <a:alphaModFix/>
          </a:blip>
          <a:srcRect l="13069" t="15507" r="15081" b="13227"/>
          <a:stretch/>
        </p:blipFill>
        <p:spPr>
          <a:xfrm>
            <a:off x="379113" y="1914700"/>
            <a:ext cx="871875" cy="1028700"/>
          </a:xfrm>
          <a:prstGeom prst="rect">
            <a:avLst/>
          </a:prstGeom>
          <a:noFill/>
          <a:ln>
            <a:noFill/>
          </a:ln>
        </p:spPr>
      </p:pic>
      <p:sp>
        <p:nvSpPr>
          <p:cNvPr id="135" name="Google Shape;135;p28"/>
          <p:cNvSpPr txBox="1"/>
          <p:nvPr/>
        </p:nvSpPr>
        <p:spPr>
          <a:xfrm>
            <a:off x="4315963" y="3033150"/>
            <a:ext cx="2245200" cy="856500"/>
          </a:xfrm>
          <a:prstGeom prst="rect">
            <a:avLst/>
          </a:prstGeom>
          <a:noFill/>
          <a:ln>
            <a:noFill/>
          </a:ln>
        </p:spPr>
        <p:txBody>
          <a:bodyPr spcFirstLastPara="1" wrap="square" lIns="91425" tIns="91425" rIns="91425" bIns="91425" anchor="t" anchorCtr="0">
            <a:noAutofit/>
          </a:bodyPr>
          <a:lstStyle/>
          <a:p>
            <a:pPr marL="457200" lvl="0" indent="-190500" algn="l" rtl="0">
              <a:spcBef>
                <a:spcPts val="0"/>
              </a:spcBef>
              <a:spcAft>
                <a:spcPts val="0"/>
              </a:spcAft>
              <a:buClr>
                <a:schemeClr val="dk2"/>
              </a:buClr>
              <a:buSzPts val="1200"/>
              <a:buChar char="-"/>
            </a:pPr>
            <a:r>
              <a:rPr lang="en" sz="1200">
                <a:solidFill>
                  <a:schemeClr val="dk2"/>
                </a:solidFill>
              </a:rPr>
              <a:t>Machine</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Read length</a:t>
            </a:r>
            <a:endParaRPr sz="1200">
              <a:solidFill>
                <a:schemeClr val="dk2"/>
              </a:solidFill>
            </a:endParaRPr>
          </a:p>
          <a:p>
            <a:pPr marL="457200" lvl="0" indent="-190500" algn="l" rtl="0">
              <a:spcBef>
                <a:spcPts val="0"/>
              </a:spcBef>
              <a:spcAft>
                <a:spcPts val="0"/>
              </a:spcAft>
              <a:buClr>
                <a:schemeClr val="dk2"/>
              </a:buClr>
              <a:buSzPts val="1200"/>
              <a:buChar char="-"/>
            </a:pPr>
            <a:r>
              <a:rPr lang="en" sz="1200">
                <a:solidFill>
                  <a:schemeClr val="dk2"/>
                </a:solidFill>
              </a:rPr>
              <a:t>Loading conc.</a:t>
            </a:r>
            <a:endParaRPr sz="1200">
              <a:solidFill>
                <a:schemeClr val="dk2"/>
              </a:solidFill>
            </a:endParaRPr>
          </a:p>
        </p:txBody>
      </p:sp>
      <p:pic>
        <p:nvPicPr>
          <p:cNvPr id="136" name="Google Shape;136;p28"/>
          <p:cNvPicPr preferRelativeResize="0"/>
          <p:nvPr/>
        </p:nvPicPr>
        <p:blipFill>
          <a:blip r:embed="rId6">
            <a:alphaModFix/>
          </a:blip>
          <a:stretch>
            <a:fillRect/>
          </a:stretch>
        </p:blipFill>
        <p:spPr>
          <a:xfrm rot="1149689">
            <a:off x="1852263" y="2113663"/>
            <a:ext cx="607525" cy="727926"/>
          </a:xfrm>
          <a:prstGeom prst="rect">
            <a:avLst/>
          </a:prstGeom>
          <a:noFill/>
          <a:ln>
            <a:noFill/>
          </a:ln>
        </p:spPr>
      </p:pic>
      <p:pic>
        <p:nvPicPr>
          <p:cNvPr id="137" name="Google Shape;137;p28"/>
          <p:cNvPicPr preferRelativeResize="0"/>
          <p:nvPr/>
        </p:nvPicPr>
        <p:blipFill rotWithShape="1">
          <a:blip r:embed="rId7">
            <a:alphaModFix/>
          </a:blip>
          <a:srcRect b="50615"/>
          <a:stretch/>
        </p:blipFill>
        <p:spPr>
          <a:xfrm>
            <a:off x="2884550" y="2066066"/>
            <a:ext cx="1344551" cy="725959"/>
          </a:xfrm>
          <a:prstGeom prst="rect">
            <a:avLst/>
          </a:prstGeom>
          <a:noFill/>
          <a:ln>
            <a:noFill/>
          </a:ln>
        </p:spPr>
      </p:pic>
      <p:cxnSp>
        <p:nvCxnSpPr>
          <p:cNvPr id="138" name="Google Shape;138;p28"/>
          <p:cNvCxnSpPr/>
          <p:nvPr/>
        </p:nvCxnSpPr>
        <p:spPr>
          <a:xfrm rot="10800000" flipH="1">
            <a:off x="7638150" y="2419325"/>
            <a:ext cx="309300" cy="1500"/>
          </a:xfrm>
          <a:prstGeom prst="straightConnector1">
            <a:avLst/>
          </a:prstGeom>
          <a:noFill/>
          <a:ln w="19050" cap="flat" cmpd="sng">
            <a:solidFill>
              <a:srgbClr val="FF0000"/>
            </a:solidFill>
            <a:prstDash val="solid"/>
            <a:round/>
            <a:headEnd type="none" w="med" len="med"/>
            <a:tailEnd type="none" w="med" len="med"/>
          </a:ln>
        </p:spPr>
      </p:cxnSp>
      <p:grpSp>
        <p:nvGrpSpPr>
          <p:cNvPr id="139" name="Google Shape;139;p28"/>
          <p:cNvGrpSpPr/>
          <p:nvPr/>
        </p:nvGrpSpPr>
        <p:grpSpPr>
          <a:xfrm>
            <a:off x="7765375" y="1751825"/>
            <a:ext cx="1252725" cy="1357550"/>
            <a:chOff x="7841575" y="1370825"/>
            <a:chExt cx="1252725" cy="1357550"/>
          </a:xfrm>
        </p:grpSpPr>
        <p:sp>
          <p:nvSpPr>
            <p:cNvPr id="140" name="Google Shape;140;p28"/>
            <p:cNvSpPr/>
            <p:nvPr/>
          </p:nvSpPr>
          <p:spPr>
            <a:xfrm>
              <a:off x="7841575" y="1486750"/>
              <a:ext cx="1122600" cy="11226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1" name="Google Shape;141;p28"/>
            <p:cNvPicPr preferRelativeResize="0"/>
            <p:nvPr/>
          </p:nvPicPr>
          <p:blipFill>
            <a:blip r:embed="rId8">
              <a:alphaModFix/>
            </a:blip>
            <a:stretch>
              <a:fillRect/>
            </a:stretch>
          </p:blipFill>
          <p:spPr>
            <a:xfrm>
              <a:off x="8147262" y="1685076"/>
              <a:ext cx="502137" cy="725949"/>
            </a:xfrm>
            <a:prstGeom prst="rect">
              <a:avLst/>
            </a:prstGeom>
            <a:noFill/>
            <a:ln>
              <a:noFill/>
            </a:ln>
          </p:spPr>
        </p:pic>
        <p:sp>
          <p:nvSpPr>
            <p:cNvPr id="142" name="Google Shape;142;p28"/>
            <p:cNvSpPr/>
            <p:nvPr/>
          </p:nvSpPr>
          <p:spPr>
            <a:xfrm>
              <a:off x="7887625" y="1532800"/>
              <a:ext cx="1030500" cy="103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 name="Google Shape;143;p28"/>
            <p:cNvCxnSpPr/>
            <p:nvPr/>
          </p:nvCxnSpPr>
          <p:spPr>
            <a:xfrm>
              <a:off x="8395325" y="244607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44" name="Google Shape;144;p28"/>
            <p:cNvCxnSpPr/>
            <p:nvPr/>
          </p:nvCxnSpPr>
          <p:spPr>
            <a:xfrm>
              <a:off x="8401375" y="1370825"/>
              <a:ext cx="3000" cy="282300"/>
            </a:xfrm>
            <a:prstGeom prst="straightConnector1">
              <a:avLst/>
            </a:prstGeom>
            <a:noFill/>
            <a:ln w="19050" cap="flat" cmpd="sng">
              <a:solidFill>
                <a:srgbClr val="FF0000"/>
              </a:solidFill>
              <a:prstDash val="solid"/>
              <a:round/>
              <a:headEnd type="none" w="med" len="med"/>
              <a:tailEnd type="none" w="med" len="med"/>
            </a:ln>
          </p:spPr>
        </p:cxnSp>
        <p:cxnSp>
          <p:nvCxnSpPr>
            <p:cNvPr id="145" name="Google Shape;145;p28"/>
            <p:cNvCxnSpPr/>
            <p:nvPr/>
          </p:nvCxnSpPr>
          <p:spPr>
            <a:xfrm rot="10800000" flipH="1">
              <a:off x="8785000" y="2038325"/>
              <a:ext cx="309300" cy="1500"/>
            </a:xfrm>
            <a:prstGeom prst="straightConnector1">
              <a:avLst/>
            </a:prstGeom>
            <a:noFill/>
            <a:ln w="19050" cap="flat" cmpd="sng">
              <a:solidFill>
                <a:srgbClr val="FF0000"/>
              </a:solidFill>
              <a:prstDash val="solid"/>
              <a:round/>
              <a:headEnd type="none" w="med" len="med"/>
              <a:tailEnd type="none" w="med" len="med"/>
            </a:ln>
          </p:spPr>
        </p:cxnSp>
      </p:grpSp>
      <p:sp>
        <p:nvSpPr>
          <p:cNvPr id="146" name="Google Shape;146;p28"/>
          <p:cNvSpPr txBox="1"/>
          <p:nvPr/>
        </p:nvSpPr>
        <p:spPr>
          <a:xfrm>
            <a:off x="7650363" y="1387500"/>
            <a:ext cx="1344600" cy="4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Pathogen ID</a:t>
            </a:r>
            <a:endParaRPr/>
          </a:p>
        </p:txBody>
      </p:sp>
      <p:sp>
        <p:nvSpPr>
          <p:cNvPr id="147" name="Google Shape;147;p28"/>
          <p:cNvSpPr/>
          <p:nvPr/>
        </p:nvSpPr>
        <p:spPr>
          <a:xfrm>
            <a:off x="2687250" y="1276500"/>
            <a:ext cx="1783200" cy="37239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29"/>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153" name="Google Shape;153;p29"/>
          <p:cNvSpPr txBox="1">
            <a:spLocks noGrp="1"/>
          </p:cNvSpPr>
          <p:nvPr>
            <p:ph type="title"/>
          </p:nvPr>
        </p:nvSpPr>
        <p:spPr>
          <a:xfrm>
            <a:off x="939400" y="252725"/>
            <a:ext cx="7743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Library prep: RNA or DNA to sequencing library</a:t>
            </a:r>
            <a:endParaRPr/>
          </a:p>
        </p:txBody>
      </p:sp>
      <p:sp>
        <p:nvSpPr>
          <p:cNvPr id="154" name="Google Shape;154;p29"/>
          <p:cNvSpPr txBox="1">
            <a:spLocks noGrp="1"/>
          </p:cNvSpPr>
          <p:nvPr>
            <p:ph type="body" idx="1"/>
          </p:nvPr>
        </p:nvSpPr>
        <p:spPr>
          <a:xfrm>
            <a:off x="83100" y="923875"/>
            <a:ext cx="8520600" cy="1008900"/>
          </a:xfrm>
          <a:prstGeom prst="rect">
            <a:avLst/>
          </a:prstGeom>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Sequencing library = Pool of DNA inserts with sequencing adapters attached</a:t>
            </a:r>
            <a:endParaRPr sz="1700">
              <a:solidFill>
                <a:srgbClr val="000000"/>
              </a:solidFill>
            </a:endParaRPr>
          </a:p>
        </p:txBody>
      </p:sp>
      <p:pic>
        <p:nvPicPr>
          <p:cNvPr id="155" name="Google Shape;155;p29"/>
          <p:cNvPicPr preferRelativeResize="0"/>
          <p:nvPr/>
        </p:nvPicPr>
        <p:blipFill rotWithShape="1">
          <a:blip r:embed="rId4">
            <a:alphaModFix/>
          </a:blip>
          <a:srcRect b="54849"/>
          <a:stretch/>
        </p:blipFill>
        <p:spPr>
          <a:xfrm>
            <a:off x="4613075" y="1748725"/>
            <a:ext cx="3990618" cy="1008899"/>
          </a:xfrm>
          <a:prstGeom prst="rect">
            <a:avLst/>
          </a:prstGeom>
          <a:noFill/>
          <a:ln>
            <a:noFill/>
          </a:ln>
        </p:spPr>
      </p:pic>
      <p:grpSp>
        <p:nvGrpSpPr>
          <p:cNvPr id="156" name="Google Shape;156;p29"/>
          <p:cNvGrpSpPr/>
          <p:nvPr/>
        </p:nvGrpSpPr>
        <p:grpSpPr>
          <a:xfrm>
            <a:off x="1210800" y="2166773"/>
            <a:ext cx="1396599" cy="613277"/>
            <a:chOff x="687725" y="2186148"/>
            <a:chExt cx="1396599" cy="613277"/>
          </a:xfrm>
        </p:grpSpPr>
        <p:pic>
          <p:nvPicPr>
            <p:cNvPr id="157" name="Google Shape;157;p29"/>
            <p:cNvPicPr preferRelativeResize="0"/>
            <p:nvPr/>
          </p:nvPicPr>
          <p:blipFill rotWithShape="1">
            <a:blip r:embed="rId5">
              <a:alphaModFix/>
            </a:blip>
            <a:srcRect l="12215" t="5458" r="67405" b="88571"/>
            <a:stretch/>
          </p:blipFill>
          <p:spPr>
            <a:xfrm>
              <a:off x="687725" y="2186148"/>
              <a:ext cx="1396599" cy="613226"/>
            </a:xfrm>
            <a:prstGeom prst="rect">
              <a:avLst/>
            </a:prstGeom>
            <a:noFill/>
            <a:ln>
              <a:noFill/>
            </a:ln>
          </p:spPr>
        </p:pic>
        <p:sp>
          <p:nvSpPr>
            <p:cNvPr id="158" name="Google Shape;158;p29"/>
            <p:cNvSpPr/>
            <p:nvPr/>
          </p:nvSpPr>
          <p:spPr>
            <a:xfrm>
              <a:off x="1172050" y="2702525"/>
              <a:ext cx="280800" cy="96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 name="Google Shape;159;p29"/>
          <p:cNvSpPr txBox="1"/>
          <p:nvPr/>
        </p:nvSpPr>
        <p:spPr>
          <a:xfrm>
            <a:off x="1386275" y="2915625"/>
            <a:ext cx="9783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Extracted RNA or DNA</a:t>
            </a:r>
            <a:endParaRPr/>
          </a:p>
        </p:txBody>
      </p:sp>
      <p:cxnSp>
        <p:nvCxnSpPr>
          <p:cNvPr id="160" name="Google Shape;160;p29"/>
          <p:cNvCxnSpPr/>
          <p:nvPr/>
        </p:nvCxnSpPr>
        <p:spPr>
          <a:xfrm rot="10800000" flipH="1">
            <a:off x="3206225" y="2625100"/>
            <a:ext cx="678000" cy="9600"/>
          </a:xfrm>
          <a:prstGeom prst="straightConnector1">
            <a:avLst/>
          </a:prstGeom>
          <a:noFill/>
          <a:ln w="28575" cap="flat" cmpd="sng">
            <a:solidFill>
              <a:schemeClr val="dk2"/>
            </a:solidFill>
            <a:prstDash val="solid"/>
            <a:round/>
            <a:headEnd type="none" w="med" len="med"/>
            <a:tailEnd type="triangle" w="med" len="med"/>
          </a:ln>
        </p:spPr>
      </p:cxnSp>
      <p:sp>
        <p:nvSpPr>
          <p:cNvPr id="161" name="Google Shape;161;p29"/>
          <p:cNvSpPr txBox="1"/>
          <p:nvPr/>
        </p:nvSpPr>
        <p:spPr>
          <a:xfrm>
            <a:off x="5829800" y="3944950"/>
            <a:ext cx="1638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Sequencing library</a:t>
            </a:r>
            <a:endParaRPr/>
          </a:p>
        </p:txBody>
      </p:sp>
      <p:pic>
        <p:nvPicPr>
          <p:cNvPr id="162" name="Google Shape;162;p29"/>
          <p:cNvPicPr preferRelativeResize="0"/>
          <p:nvPr/>
        </p:nvPicPr>
        <p:blipFill rotWithShape="1">
          <a:blip r:embed="rId4">
            <a:alphaModFix/>
          </a:blip>
          <a:srcRect l="14263" t="22163" r="9628" b="62931"/>
          <a:stretch/>
        </p:blipFill>
        <p:spPr>
          <a:xfrm>
            <a:off x="4821263" y="2752138"/>
            <a:ext cx="3117042" cy="341826"/>
          </a:xfrm>
          <a:prstGeom prst="rect">
            <a:avLst/>
          </a:prstGeom>
          <a:noFill/>
          <a:ln>
            <a:noFill/>
          </a:ln>
        </p:spPr>
      </p:pic>
      <p:pic>
        <p:nvPicPr>
          <p:cNvPr id="163" name="Google Shape;163;p29"/>
          <p:cNvPicPr preferRelativeResize="0"/>
          <p:nvPr/>
        </p:nvPicPr>
        <p:blipFill rotWithShape="1">
          <a:blip r:embed="rId4">
            <a:alphaModFix/>
          </a:blip>
          <a:srcRect l="14263" t="22163" r="9628" b="62931"/>
          <a:stretch/>
        </p:blipFill>
        <p:spPr>
          <a:xfrm>
            <a:off x="4499038" y="3348550"/>
            <a:ext cx="3117042" cy="3418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0"/>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169" name="Google Shape;169;p30"/>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a sequencing library?</a:t>
            </a:r>
            <a:endParaRPr/>
          </a:p>
        </p:txBody>
      </p:sp>
      <p:sp>
        <p:nvSpPr>
          <p:cNvPr id="170" name="Google Shape;170;p30"/>
          <p:cNvSpPr txBox="1">
            <a:spLocks noGrp="1"/>
          </p:cNvSpPr>
          <p:nvPr>
            <p:ph type="body" idx="1"/>
          </p:nvPr>
        </p:nvSpPr>
        <p:spPr>
          <a:xfrm>
            <a:off x="83100" y="923875"/>
            <a:ext cx="8520600" cy="1008900"/>
          </a:xfrm>
          <a:prstGeom prst="rect">
            <a:avLst/>
          </a:prstGeom>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Sequencing library = Pool of DNA inserts with sequencing adapters attached</a:t>
            </a:r>
            <a:endParaRPr sz="1700">
              <a:solidFill>
                <a:srgbClr val="000000"/>
              </a:solidFill>
            </a:endParaRPr>
          </a:p>
        </p:txBody>
      </p:sp>
      <p:pic>
        <p:nvPicPr>
          <p:cNvPr id="171" name="Google Shape;171;p30"/>
          <p:cNvPicPr preferRelativeResize="0"/>
          <p:nvPr/>
        </p:nvPicPr>
        <p:blipFill>
          <a:blip r:embed="rId4">
            <a:alphaModFix/>
          </a:blip>
          <a:stretch>
            <a:fillRect/>
          </a:stretch>
        </p:blipFill>
        <p:spPr>
          <a:xfrm>
            <a:off x="1246900" y="1717150"/>
            <a:ext cx="6150074" cy="34436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1"/>
          <p:cNvSpPr txBox="1"/>
          <p:nvPr/>
        </p:nvSpPr>
        <p:spPr>
          <a:xfrm>
            <a:off x="1868875" y="2216350"/>
            <a:ext cx="562500" cy="14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O</a:t>
            </a:r>
            <a:endParaRPr sz="1000"/>
          </a:p>
          <a:p>
            <a:pPr marL="0" lvl="0" indent="0" algn="l" rtl="0">
              <a:spcBef>
                <a:spcPts val="0"/>
              </a:spcBef>
              <a:spcAft>
                <a:spcPts val="0"/>
              </a:spcAft>
              <a:buNone/>
            </a:pPr>
            <a:r>
              <a:rPr lang="en" sz="1000"/>
              <a:t>W</a:t>
            </a:r>
            <a:endParaRPr sz="1000"/>
          </a:p>
          <a:p>
            <a:pPr marL="0" lvl="0" indent="0" algn="l" rtl="0">
              <a:spcBef>
                <a:spcPts val="0"/>
              </a:spcBef>
              <a:spcAft>
                <a:spcPts val="0"/>
              </a:spcAft>
              <a:buNone/>
            </a:pPr>
            <a:r>
              <a:rPr lang="en" sz="1000"/>
              <a:t>C</a:t>
            </a:r>
            <a:endParaRPr sz="1000"/>
          </a:p>
          <a:p>
            <a:pPr marL="0" lvl="0" indent="0" algn="l" rtl="0">
              <a:spcBef>
                <a:spcPts val="0"/>
              </a:spcBef>
              <a:spcAft>
                <a:spcPts val="0"/>
              </a:spcAft>
              <a:buNone/>
            </a:pPr>
            <a:r>
              <a:rPr lang="en" sz="1000"/>
              <a:t>E</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L</a:t>
            </a:r>
            <a:endParaRPr sz="1000"/>
          </a:p>
        </p:txBody>
      </p:sp>
      <p:pic>
        <p:nvPicPr>
          <p:cNvPr id="177" name="Google Shape;177;p31"/>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178" name="Google Shape;178;p31"/>
          <p:cNvSpPr txBox="1">
            <a:spLocks noGrp="1"/>
          </p:cNvSpPr>
          <p:nvPr>
            <p:ph type="title"/>
          </p:nvPr>
        </p:nvSpPr>
        <p:spPr>
          <a:xfrm>
            <a:off x="939400" y="252725"/>
            <a:ext cx="5385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a:t>What is a sequencing library?</a:t>
            </a:r>
            <a:endParaRPr/>
          </a:p>
          <a:p>
            <a:pPr marL="0" lvl="0" indent="0" algn="l" rtl="0">
              <a:spcBef>
                <a:spcPts val="0"/>
              </a:spcBef>
              <a:spcAft>
                <a:spcPts val="0"/>
              </a:spcAft>
              <a:buNone/>
            </a:pPr>
            <a:endParaRPr/>
          </a:p>
        </p:txBody>
      </p:sp>
      <p:sp>
        <p:nvSpPr>
          <p:cNvPr id="179" name="Google Shape;179;p31"/>
          <p:cNvSpPr txBox="1"/>
          <p:nvPr/>
        </p:nvSpPr>
        <p:spPr>
          <a:xfrm>
            <a:off x="4975" y="906100"/>
            <a:ext cx="8783700" cy="665700"/>
          </a:xfrm>
          <a:prstGeom prst="rect">
            <a:avLst/>
          </a:prstGeom>
          <a:noFill/>
          <a:ln>
            <a:noFill/>
          </a:ln>
        </p:spPr>
        <p:txBody>
          <a:bodyPr spcFirstLastPara="1" wrap="square" lIns="91425" tIns="45700" rIns="91425" bIns="45700" anchor="t" anchorCtr="0">
            <a:noAutofit/>
          </a:bodyPr>
          <a:lstStyle/>
          <a:p>
            <a:pPr marL="457200" lvl="0" indent="-336550" algn="l" rtl="0">
              <a:lnSpc>
                <a:spcPct val="150000"/>
              </a:lnSpc>
              <a:spcBef>
                <a:spcPts val="0"/>
              </a:spcBef>
              <a:spcAft>
                <a:spcPts val="0"/>
              </a:spcAft>
              <a:buClr>
                <a:schemeClr val="dk1"/>
              </a:buClr>
              <a:buSzPts val="1700"/>
              <a:buChar char="●"/>
            </a:pPr>
            <a:r>
              <a:rPr lang="en" sz="1700" u="sng">
                <a:solidFill>
                  <a:schemeClr val="hlink"/>
                </a:solidFill>
                <a:hlinkClick r:id="rId4"/>
              </a:rPr>
              <a:t>Sequencing process:</a:t>
            </a:r>
            <a:endParaRPr sz="1700"/>
          </a:p>
          <a:p>
            <a:pPr marL="0" marR="0" lvl="0" indent="0" algn="l" rtl="0">
              <a:lnSpc>
                <a:spcPct val="200000"/>
              </a:lnSpc>
              <a:spcBef>
                <a:spcPts val="1600"/>
              </a:spcBef>
              <a:spcAft>
                <a:spcPts val="0"/>
              </a:spcAft>
              <a:buNone/>
            </a:pPr>
            <a:endParaRPr sz="17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2600"/>
          </a:p>
          <a:p>
            <a:pPr marL="19050" lvl="1" indent="438150" algn="l" rtl="0">
              <a:lnSpc>
                <a:spcPct val="150000"/>
              </a:lnSpc>
              <a:spcBef>
                <a:spcPts val="0"/>
              </a:spcBef>
              <a:spcAft>
                <a:spcPts val="0"/>
              </a:spcAft>
              <a:buClr>
                <a:schemeClr val="dk1"/>
              </a:buClr>
              <a:buFont typeface="Arial"/>
              <a:buNone/>
            </a:pPr>
            <a:endParaRPr sz="1300"/>
          </a:p>
        </p:txBody>
      </p:sp>
      <p:pic>
        <p:nvPicPr>
          <p:cNvPr id="180" name="Google Shape;180;p31"/>
          <p:cNvPicPr preferRelativeResize="0"/>
          <p:nvPr/>
        </p:nvPicPr>
        <p:blipFill rotWithShape="1">
          <a:blip r:embed="rId5">
            <a:alphaModFix/>
          </a:blip>
          <a:srcRect t="26010" b="56603"/>
          <a:stretch/>
        </p:blipFill>
        <p:spPr>
          <a:xfrm>
            <a:off x="1246900" y="2590800"/>
            <a:ext cx="6150074" cy="598724"/>
          </a:xfrm>
          <a:prstGeom prst="rect">
            <a:avLst/>
          </a:prstGeom>
          <a:noFill/>
          <a:ln>
            <a:noFill/>
          </a:ln>
        </p:spPr>
      </p:pic>
      <p:cxnSp>
        <p:nvCxnSpPr>
          <p:cNvPr id="181" name="Google Shape;181;p31"/>
          <p:cNvCxnSpPr/>
          <p:nvPr/>
        </p:nvCxnSpPr>
        <p:spPr>
          <a:xfrm>
            <a:off x="3068425" y="2546575"/>
            <a:ext cx="312900" cy="0"/>
          </a:xfrm>
          <a:prstGeom prst="straightConnector1">
            <a:avLst/>
          </a:prstGeom>
          <a:noFill/>
          <a:ln w="19050" cap="flat" cmpd="sng">
            <a:solidFill>
              <a:srgbClr val="C00000"/>
            </a:solidFill>
            <a:prstDash val="solid"/>
            <a:round/>
            <a:headEnd type="none" w="med" len="med"/>
            <a:tailEnd type="triangle" w="med" len="med"/>
          </a:ln>
        </p:spPr>
      </p:cxnSp>
      <p:cxnSp>
        <p:nvCxnSpPr>
          <p:cNvPr id="182" name="Google Shape;182;p31"/>
          <p:cNvCxnSpPr/>
          <p:nvPr/>
        </p:nvCxnSpPr>
        <p:spPr>
          <a:xfrm>
            <a:off x="3386075" y="2546575"/>
            <a:ext cx="1047900" cy="0"/>
          </a:xfrm>
          <a:prstGeom prst="straightConnector1">
            <a:avLst/>
          </a:prstGeom>
          <a:noFill/>
          <a:ln w="19050" cap="flat" cmpd="sng">
            <a:solidFill>
              <a:srgbClr val="999999"/>
            </a:solidFill>
            <a:prstDash val="solid"/>
            <a:round/>
            <a:headEnd type="none" w="med" len="med"/>
            <a:tailEnd type="triangle" w="med" len="med"/>
          </a:ln>
        </p:spPr>
      </p:cxnSp>
      <p:sp>
        <p:nvSpPr>
          <p:cNvPr id="183" name="Google Shape;183;p31"/>
          <p:cNvSpPr txBox="1"/>
          <p:nvPr/>
        </p:nvSpPr>
        <p:spPr>
          <a:xfrm>
            <a:off x="3468800" y="2203675"/>
            <a:ext cx="8028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999999"/>
                </a:solidFill>
              </a:rPr>
              <a:t>Read 1</a:t>
            </a:r>
            <a:endParaRPr>
              <a:solidFill>
                <a:srgbClr val="999999"/>
              </a:solidFill>
            </a:endParaRPr>
          </a:p>
        </p:txBody>
      </p:sp>
      <p:cxnSp>
        <p:nvCxnSpPr>
          <p:cNvPr id="184" name="Google Shape;184;p31"/>
          <p:cNvCxnSpPr/>
          <p:nvPr/>
        </p:nvCxnSpPr>
        <p:spPr>
          <a:xfrm>
            <a:off x="5863025" y="2546575"/>
            <a:ext cx="312900" cy="0"/>
          </a:xfrm>
          <a:prstGeom prst="straightConnector1">
            <a:avLst/>
          </a:prstGeom>
          <a:noFill/>
          <a:ln w="19050" cap="flat" cmpd="sng">
            <a:solidFill>
              <a:srgbClr val="C00000"/>
            </a:solidFill>
            <a:prstDash val="solid"/>
            <a:round/>
            <a:headEnd type="none" w="med" len="med"/>
            <a:tailEnd type="triangle" w="med" len="med"/>
          </a:ln>
        </p:spPr>
      </p:cxnSp>
      <p:cxnSp>
        <p:nvCxnSpPr>
          <p:cNvPr id="185" name="Google Shape;185;p31"/>
          <p:cNvCxnSpPr/>
          <p:nvPr/>
        </p:nvCxnSpPr>
        <p:spPr>
          <a:xfrm>
            <a:off x="6181700" y="2548025"/>
            <a:ext cx="282000" cy="0"/>
          </a:xfrm>
          <a:prstGeom prst="straightConnector1">
            <a:avLst/>
          </a:prstGeom>
          <a:noFill/>
          <a:ln w="19050" cap="flat" cmpd="sng">
            <a:solidFill>
              <a:srgbClr val="999999"/>
            </a:solidFill>
            <a:prstDash val="solid"/>
            <a:round/>
            <a:headEnd type="none" w="med" len="med"/>
            <a:tailEnd type="triangle" w="med" len="med"/>
          </a:ln>
        </p:spPr>
      </p:cxnSp>
      <p:cxnSp>
        <p:nvCxnSpPr>
          <p:cNvPr id="186" name="Google Shape;186;p31"/>
          <p:cNvCxnSpPr/>
          <p:nvPr/>
        </p:nvCxnSpPr>
        <p:spPr>
          <a:xfrm>
            <a:off x="6921200" y="1876500"/>
            <a:ext cx="0" cy="1553700"/>
          </a:xfrm>
          <a:prstGeom prst="straightConnector1">
            <a:avLst/>
          </a:prstGeom>
          <a:noFill/>
          <a:ln w="19050" cap="flat" cmpd="sng">
            <a:solidFill>
              <a:schemeClr val="dk2"/>
            </a:solidFill>
            <a:prstDash val="solid"/>
            <a:round/>
            <a:headEnd type="none" w="med" len="med"/>
            <a:tailEnd type="none" w="med" len="med"/>
          </a:ln>
        </p:spPr>
      </p:cxnSp>
      <p:cxnSp>
        <p:nvCxnSpPr>
          <p:cNvPr id="187" name="Google Shape;187;p31"/>
          <p:cNvCxnSpPr/>
          <p:nvPr/>
        </p:nvCxnSpPr>
        <p:spPr>
          <a:xfrm>
            <a:off x="6742175" y="2653350"/>
            <a:ext cx="176100" cy="0"/>
          </a:xfrm>
          <a:prstGeom prst="straightConnector1">
            <a:avLst/>
          </a:prstGeom>
          <a:noFill/>
          <a:ln w="19050" cap="flat" cmpd="sng">
            <a:solidFill>
              <a:schemeClr val="dk2"/>
            </a:solidFill>
            <a:prstDash val="solid"/>
            <a:round/>
            <a:headEnd type="none" w="med" len="med"/>
            <a:tailEnd type="none" w="med" len="med"/>
          </a:ln>
        </p:spPr>
      </p:cxnSp>
      <p:sp>
        <p:nvSpPr>
          <p:cNvPr id="188" name="Google Shape;188;p31"/>
          <p:cNvSpPr txBox="1"/>
          <p:nvPr/>
        </p:nvSpPr>
        <p:spPr>
          <a:xfrm>
            <a:off x="6890650" y="1984325"/>
            <a:ext cx="562500" cy="14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O</a:t>
            </a:r>
            <a:endParaRPr sz="1000"/>
          </a:p>
          <a:p>
            <a:pPr marL="0" lvl="0" indent="0" algn="l" rtl="0">
              <a:spcBef>
                <a:spcPts val="0"/>
              </a:spcBef>
              <a:spcAft>
                <a:spcPts val="0"/>
              </a:spcAft>
              <a:buNone/>
            </a:pPr>
            <a:r>
              <a:rPr lang="en" sz="1000"/>
              <a:t>W</a:t>
            </a:r>
            <a:endParaRPr sz="1000"/>
          </a:p>
          <a:p>
            <a:pPr marL="0" lvl="0" indent="0" algn="l" rtl="0">
              <a:spcBef>
                <a:spcPts val="0"/>
              </a:spcBef>
              <a:spcAft>
                <a:spcPts val="0"/>
              </a:spcAft>
              <a:buNone/>
            </a:pPr>
            <a:r>
              <a:rPr lang="en" sz="1000"/>
              <a:t>C</a:t>
            </a:r>
            <a:endParaRPr sz="1000"/>
          </a:p>
          <a:p>
            <a:pPr marL="0" lvl="0" indent="0" algn="l" rtl="0">
              <a:spcBef>
                <a:spcPts val="0"/>
              </a:spcBef>
              <a:spcAft>
                <a:spcPts val="0"/>
              </a:spcAft>
              <a:buNone/>
            </a:pPr>
            <a:r>
              <a:rPr lang="en" sz="1000"/>
              <a:t>E</a:t>
            </a:r>
            <a:endParaRPr sz="1000"/>
          </a:p>
          <a:p>
            <a:pPr marL="0" lvl="0" indent="0" algn="l" rtl="0">
              <a:spcBef>
                <a:spcPts val="0"/>
              </a:spcBef>
              <a:spcAft>
                <a:spcPts val="0"/>
              </a:spcAft>
              <a:buNone/>
            </a:pPr>
            <a:r>
              <a:rPr lang="en" sz="1000"/>
              <a:t>L</a:t>
            </a:r>
            <a:endParaRPr sz="1000"/>
          </a:p>
          <a:p>
            <a:pPr marL="0" lvl="0" indent="0" algn="l" rtl="0">
              <a:spcBef>
                <a:spcPts val="0"/>
              </a:spcBef>
              <a:spcAft>
                <a:spcPts val="0"/>
              </a:spcAft>
              <a:buNone/>
            </a:pPr>
            <a:r>
              <a:rPr lang="en" sz="1000"/>
              <a:t>L</a:t>
            </a:r>
            <a:endParaRPr sz="1000"/>
          </a:p>
        </p:txBody>
      </p:sp>
      <p:cxnSp>
        <p:nvCxnSpPr>
          <p:cNvPr id="189" name="Google Shape;189;p31"/>
          <p:cNvCxnSpPr/>
          <p:nvPr/>
        </p:nvCxnSpPr>
        <p:spPr>
          <a:xfrm rot="10800000">
            <a:off x="2147000" y="2108525"/>
            <a:ext cx="0" cy="1553700"/>
          </a:xfrm>
          <a:prstGeom prst="straightConnector1">
            <a:avLst/>
          </a:prstGeom>
          <a:noFill/>
          <a:ln w="19050" cap="flat" cmpd="sng">
            <a:solidFill>
              <a:schemeClr val="dk2"/>
            </a:solidFill>
            <a:prstDash val="solid"/>
            <a:round/>
            <a:headEnd type="none" w="med" len="med"/>
            <a:tailEnd type="none" w="med" len="med"/>
          </a:ln>
        </p:spPr>
      </p:cxnSp>
      <p:cxnSp>
        <p:nvCxnSpPr>
          <p:cNvPr id="190" name="Google Shape;190;p31"/>
          <p:cNvCxnSpPr/>
          <p:nvPr/>
        </p:nvCxnSpPr>
        <p:spPr>
          <a:xfrm rot="10800000">
            <a:off x="2149925" y="2885375"/>
            <a:ext cx="176100" cy="0"/>
          </a:xfrm>
          <a:prstGeom prst="straightConnector1">
            <a:avLst/>
          </a:prstGeom>
          <a:noFill/>
          <a:ln w="19050" cap="flat" cmpd="sng">
            <a:solidFill>
              <a:schemeClr val="dk2"/>
            </a:solidFill>
            <a:prstDash val="solid"/>
            <a:round/>
            <a:headEnd type="none" w="med" len="med"/>
            <a:tailEnd type="none" w="med" len="med"/>
          </a:ln>
        </p:spPr>
      </p:cxnSp>
      <p:cxnSp>
        <p:nvCxnSpPr>
          <p:cNvPr id="191" name="Google Shape;191;p31"/>
          <p:cNvCxnSpPr/>
          <p:nvPr/>
        </p:nvCxnSpPr>
        <p:spPr>
          <a:xfrm>
            <a:off x="2336675" y="2996200"/>
            <a:ext cx="271500" cy="0"/>
          </a:xfrm>
          <a:prstGeom prst="straightConnector1">
            <a:avLst/>
          </a:prstGeom>
          <a:noFill/>
          <a:ln w="19050" cap="flat" cmpd="sng">
            <a:solidFill>
              <a:srgbClr val="C00000"/>
            </a:solidFill>
            <a:prstDash val="solid"/>
            <a:round/>
            <a:headEnd type="none" w="med" len="med"/>
            <a:tailEnd type="triangle" w="med" len="med"/>
          </a:ln>
        </p:spPr>
      </p:cxnSp>
      <p:cxnSp>
        <p:nvCxnSpPr>
          <p:cNvPr id="192" name="Google Shape;192;p31"/>
          <p:cNvCxnSpPr/>
          <p:nvPr/>
        </p:nvCxnSpPr>
        <p:spPr>
          <a:xfrm>
            <a:off x="2608175" y="2996200"/>
            <a:ext cx="282000" cy="0"/>
          </a:xfrm>
          <a:prstGeom prst="straightConnector1">
            <a:avLst/>
          </a:prstGeom>
          <a:noFill/>
          <a:ln w="19050" cap="flat" cmpd="sng">
            <a:solidFill>
              <a:srgbClr val="999999"/>
            </a:solidFill>
            <a:prstDash val="solid"/>
            <a:round/>
            <a:headEnd type="none" w="med" len="med"/>
            <a:tailEnd type="triangle" w="med" len="med"/>
          </a:ln>
        </p:spPr>
      </p:cxnSp>
      <p:cxnSp>
        <p:nvCxnSpPr>
          <p:cNvPr id="193" name="Google Shape;193;p31"/>
          <p:cNvCxnSpPr/>
          <p:nvPr/>
        </p:nvCxnSpPr>
        <p:spPr>
          <a:xfrm rot="10800000">
            <a:off x="5691350" y="2996200"/>
            <a:ext cx="312900" cy="0"/>
          </a:xfrm>
          <a:prstGeom prst="straightConnector1">
            <a:avLst/>
          </a:prstGeom>
          <a:noFill/>
          <a:ln w="19050" cap="flat" cmpd="sng">
            <a:solidFill>
              <a:srgbClr val="C00000"/>
            </a:solidFill>
            <a:prstDash val="solid"/>
            <a:round/>
            <a:headEnd type="none" w="med" len="med"/>
            <a:tailEnd type="triangle" w="med" len="med"/>
          </a:ln>
        </p:spPr>
      </p:cxnSp>
      <p:cxnSp>
        <p:nvCxnSpPr>
          <p:cNvPr id="194" name="Google Shape;194;p31"/>
          <p:cNvCxnSpPr/>
          <p:nvPr/>
        </p:nvCxnSpPr>
        <p:spPr>
          <a:xfrm rot="10800000">
            <a:off x="4643450" y="2996200"/>
            <a:ext cx="1047900" cy="0"/>
          </a:xfrm>
          <a:prstGeom prst="straightConnector1">
            <a:avLst/>
          </a:prstGeom>
          <a:noFill/>
          <a:ln w="19050" cap="flat" cmpd="sng">
            <a:solidFill>
              <a:srgbClr val="999999"/>
            </a:solidFill>
            <a:prstDash val="solid"/>
            <a:round/>
            <a:headEnd type="none" w="med" len="med"/>
            <a:tailEnd type="triangle" w="med" len="med"/>
          </a:ln>
        </p:spPr>
      </p:cxnSp>
      <p:sp>
        <p:nvSpPr>
          <p:cNvPr id="195" name="Google Shape;195;p31"/>
          <p:cNvSpPr txBox="1"/>
          <p:nvPr/>
        </p:nvSpPr>
        <p:spPr>
          <a:xfrm>
            <a:off x="4865250" y="2941975"/>
            <a:ext cx="802800" cy="32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999999"/>
                </a:solidFill>
              </a:rPr>
              <a:t>Read 2</a:t>
            </a:r>
            <a:endParaRPr>
              <a:solidFill>
                <a:srgbClr val="999999"/>
              </a:solidFill>
            </a:endParaRPr>
          </a:p>
        </p:txBody>
      </p:sp>
      <p:pic>
        <p:nvPicPr>
          <p:cNvPr id="196" name="Google Shape;196;p31"/>
          <p:cNvPicPr preferRelativeResize="0"/>
          <p:nvPr/>
        </p:nvPicPr>
        <p:blipFill rotWithShape="1">
          <a:blip r:embed="rId6">
            <a:alphaModFix/>
          </a:blip>
          <a:srcRect b="74630"/>
          <a:stretch/>
        </p:blipFill>
        <p:spPr>
          <a:xfrm>
            <a:off x="1246900" y="1336150"/>
            <a:ext cx="6150074" cy="873651"/>
          </a:xfrm>
          <a:prstGeom prst="rect">
            <a:avLst/>
          </a:prstGeom>
          <a:noFill/>
          <a:ln>
            <a:noFill/>
          </a:ln>
        </p:spPr>
      </p:pic>
      <p:sp>
        <p:nvSpPr>
          <p:cNvPr id="197" name="Google Shape;197;p31"/>
          <p:cNvSpPr/>
          <p:nvPr/>
        </p:nvSpPr>
        <p:spPr>
          <a:xfrm>
            <a:off x="8982400" y="4931525"/>
            <a:ext cx="81300" cy="113700"/>
          </a:xfrm>
          <a:prstGeom prst="star4">
            <a:avLst>
              <a:gd name="adj" fmla="val 1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7"/>
                                        </p:tgtEl>
                                        <p:attrNameLst>
                                          <p:attrName>style.visibility</p:attrName>
                                        </p:attrNameLst>
                                      </p:cBhvr>
                                      <p:to>
                                        <p:strVal val="visible"/>
                                      </p:to>
                                    </p:set>
                                    <p:animEffect transition="in" filter="fade">
                                      <p:cBhvr>
                                        <p:cTn id="7" dur="1000"/>
                                        <p:tgtEl>
                                          <p:spTgt spid="187"/>
                                        </p:tgtEl>
                                      </p:cBhvr>
                                    </p:animEffect>
                                  </p:childTnLst>
                                </p:cTn>
                              </p:par>
                              <p:par>
                                <p:cTn id="8" presetID="10" presetClass="entr" presetSubtype="0" fill="hold" nodeType="withEffect">
                                  <p:stCondLst>
                                    <p:cond delay="0"/>
                                  </p:stCondLst>
                                  <p:childTnLst>
                                    <p:set>
                                      <p:cBhvr>
                                        <p:cTn id="9" dur="1" fill="hold">
                                          <p:stCondLst>
                                            <p:cond delay="0"/>
                                          </p:stCondLst>
                                        </p:cTn>
                                        <p:tgtEl>
                                          <p:spTgt spid="188"/>
                                        </p:tgtEl>
                                        <p:attrNameLst>
                                          <p:attrName>style.visibility</p:attrName>
                                        </p:attrNameLst>
                                      </p:cBhvr>
                                      <p:to>
                                        <p:strVal val="visible"/>
                                      </p:to>
                                    </p:set>
                                    <p:animEffect transition="in" filter="fade">
                                      <p:cBhvr>
                                        <p:cTn id="10" dur="1000"/>
                                        <p:tgtEl>
                                          <p:spTgt spid="188"/>
                                        </p:tgtEl>
                                      </p:cBhvr>
                                    </p:animEffect>
                                  </p:childTnLst>
                                </p:cTn>
                              </p:par>
                              <p:par>
                                <p:cTn id="11" presetID="10" presetClass="entr" presetSubtype="0" fill="hold" nodeType="withEffect">
                                  <p:stCondLst>
                                    <p:cond delay="0"/>
                                  </p:stCondLst>
                                  <p:childTnLst>
                                    <p:set>
                                      <p:cBhvr>
                                        <p:cTn id="12" dur="1" fill="hold">
                                          <p:stCondLst>
                                            <p:cond delay="0"/>
                                          </p:stCondLst>
                                        </p:cTn>
                                        <p:tgtEl>
                                          <p:spTgt spid="186"/>
                                        </p:tgtEl>
                                        <p:attrNameLst>
                                          <p:attrName>style.visibility</p:attrName>
                                        </p:attrNameLst>
                                      </p:cBhvr>
                                      <p:to>
                                        <p:strVal val="visible"/>
                                      </p:to>
                                    </p:set>
                                    <p:animEffect transition="in" filter="fade">
                                      <p:cBhvr>
                                        <p:cTn id="13" dur="1000"/>
                                        <p:tgtEl>
                                          <p:spTgt spid="18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1"/>
                                        </p:tgtEl>
                                        <p:attrNameLst>
                                          <p:attrName>style.visibility</p:attrName>
                                        </p:attrNameLst>
                                      </p:cBhvr>
                                      <p:to>
                                        <p:strVal val="visible"/>
                                      </p:to>
                                    </p:set>
                                    <p:animEffect transition="in" filter="fade">
                                      <p:cBhvr>
                                        <p:cTn id="18" dur="1000"/>
                                        <p:tgtEl>
                                          <p:spTgt spid="18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3"/>
                                        </p:tgtEl>
                                        <p:attrNameLst>
                                          <p:attrName>style.visibility</p:attrName>
                                        </p:attrNameLst>
                                      </p:cBhvr>
                                      <p:to>
                                        <p:strVal val="visible"/>
                                      </p:to>
                                    </p:set>
                                    <p:animEffect transition="in" filter="fade">
                                      <p:cBhvr>
                                        <p:cTn id="23" dur="1000"/>
                                        <p:tgtEl>
                                          <p:spTgt spid="183"/>
                                        </p:tgtEl>
                                      </p:cBhvr>
                                    </p:animEffect>
                                  </p:childTnLst>
                                </p:cTn>
                              </p:par>
                              <p:par>
                                <p:cTn id="24" presetID="10" presetClass="entr" presetSubtype="0" fill="hold" nodeType="withEffect">
                                  <p:stCondLst>
                                    <p:cond delay="0"/>
                                  </p:stCondLst>
                                  <p:childTnLst>
                                    <p:set>
                                      <p:cBhvr>
                                        <p:cTn id="25" dur="1" fill="hold">
                                          <p:stCondLst>
                                            <p:cond delay="0"/>
                                          </p:stCondLst>
                                        </p:cTn>
                                        <p:tgtEl>
                                          <p:spTgt spid="182"/>
                                        </p:tgtEl>
                                        <p:attrNameLst>
                                          <p:attrName>style.visibility</p:attrName>
                                        </p:attrNameLst>
                                      </p:cBhvr>
                                      <p:to>
                                        <p:strVal val="visible"/>
                                      </p:to>
                                    </p:set>
                                    <p:animEffect transition="in" filter="fade">
                                      <p:cBhvr>
                                        <p:cTn id="26" dur="1000"/>
                                        <p:tgtEl>
                                          <p:spTgt spid="18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84"/>
                                        </p:tgtEl>
                                        <p:attrNameLst>
                                          <p:attrName>style.visibility</p:attrName>
                                        </p:attrNameLst>
                                      </p:cBhvr>
                                      <p:to>
                                        <p:strVal val="visible"/>
                                      </p:to>
                                    </p:set>
                                    <p:animEffect transition="in" filter="fade">
                                      <p:cBhvr>
                                        <p:cTn id="31" dur="1000"/>
                                        <p:tgtEl>
                                          <p:spTgt spid="18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85"/>
                                        </p:tgtEl>
                                        <p:attrNameLst>
                                          <p:attrName>style.visibility</p:attrName>
                                        </p:attrNameLst>
                                      </p:cBhvr>
                                      <p:to>
                                        <p:strVal val="visible"/>
                                      </p:to>
                                    </p:set>
                                    <p:animEffect transition="in" filter="fade">
                                      <p:cBhvr>
                                        <p:cTn id="36" dur="1000"/>
                                        <p:tgtEl>
                                          <p:spTgt spid="18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nodeType="clickEffect">
                                  <p:stCondLst>
                                    <p:cond delay="0"/>
                                  </p:stCondLst>
                                  <p:childTnLst>
                                    <p:animEffect transition="out" filter="fade">
                                      <p:cBhvr>
                                        <p:cTn id="40" dur="1000"/>
                                        <p:tgtEl>
                                          <p:spTgt spid="181"/>
                                        </p:tgtEl>
                                      </p:cBhvr>
                                    </p:animEffect>
                                    <p:set>
                                      <p:cBhvr>
                                        <p:cTn id="41" dur="1" fill="hold">
                                          <p:stCondLst>
                                            <p:cond delay="1000"/>
                                          </p:stCondLst>
                                        </p:cTn>
                                        <p:tgtEl>
                                          <p:spTgt spid="181"/>
                                        </p:tgtEl>
                                        <p:attrNameLst>
                                          <p:attrName>style.visibility</p:attrName>
                                        </p:attrNameLst>
                                      </p:cBhvr>
                                      <p:to>
                                        <p:strVal val="hidden"/>
                                      </p:to>
                                    </p:set>
                                  </p:childTnLst>
                                </p:cTn>
                              </p:par>
                              <p:par>
                                <p:cTn id="42" presetID="10" presetClass="exit" presetSubtype="0" fill="hold" nodeType="withEffect">
                                  <p:stCondLst>
                                    <p:cond delay="0"/>
                                  </p:stCondLst>
                                  <p:childTnLst>
                                    <p:animEffect transition="out" filter="fade">
                                      <p:cBhvr>
                                        <p:cTn id="43" dur="1000"/>
                                        <p:tgtEl>
                                          <p:spTgt spid="182"/>
                                        </p:tgtEl>
                                      </p:cBhvr>
                                    </p:animEffect>
                                    <p:set>
                                      <p:cBhvr>
                                        <p:cTn id="44" dur="1" fill="hold">
                                          <p:stCondLst>
                                            <p:cond delay="1000"/>
                                          </p:stCondLst>
                                        </p:cTn>
                                        <p:tgtEl>
                                          <p:spTgt spid="182"/>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1100"/>
                                        <p:tgtEl>
                                          <p:spTgt spid="183"/>
                                        </p:tgtEl>
                                      </p:cBhvr>
                                    </p:animEffect>
                                    <p:set>
                                      <p:cBhvr>
                                        <p:cTn id="47" dur="1" fill="hold">
                                          <p:stCondLst>
                                            <p:cond delay="1100"/>
                                          </p:stCondLst>
                                        </p:cTn>
                                        <p:tgtEl>
                                          <p:spTgt spid="183"/>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1000"/>
                                        <p:tgtEl>
                                          <p:spTgt spid="184"/>
                                        </p:tgtEl>
                                      </p:cBhvr>
                                    </p:animEffect>
                                    <p:set>
                                      <p:cBhvr>
                                        <p:cTn id="50" dur="1" fill="hold">
                                          <p:stCondLst>
                                            <p:cond delay="1000"/>
                                          </p:stCondLst>
                                        </p:cTn>
                                        <p:tgtEl>
                                          <p:spTgt spid="184"/>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1000"/>
                                        <p:tgtEl>
                                          <p:spTgt spid="185"/>
                                        </p:tgtEl>
                                      </p:cBhvr>
                                    </p:animEffect>
                                    <p:set>
                                      <p:cBhvr>
                                        <p:cTn id="53" dur="1" fill="hold">
                                          <p:stCondLst>
                                            <p:cond delay="1000"/>
                                          </p:stCondLst>
                                        </p:cTn>
                                        <p:tgtEl>
                                          <p:spTgt spid="185"/>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1000"/>
                                        <p:tgtEl>
                                          <p:spTgt spid="186"/>
                                        </p:tgtEl>
                                      </p:cBhvr>
                                    </p:animEffect>
                                    <p:set>
                                      <p:cBhvr>
                                        <p:cTn id="56" dur="1" fill="hold">
                                          <p:stCondLst>
                                            <p:cond delay="1000"/>
                                          </p:stCondLst>
                                        </p:cTn>
                                        <p:tgtEl>
                                          <p:spTgt spid="186"/>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1000"/>
                                        <p:tgtEl>
                                          <p:spTgt spid="188"/>
                                        </p:tgtEl>
                                      </p:cBhvr>
                                    </p:animEffect>
                                    <p:set>
                                      <p:cBhvr>
                                        <p:cTn id="59" dur="1" fill="hold">
                                          <p:stCondLst>
                                            <p:cond delay="1000"/>
                                          </p:stCondLst>
                                        </p:cTn>
                                        <p:tgtEl>
                                          <p:spTgt spid="188"/>
                                        </p:tgtEl>
                                        <p:attrNameLst>
                                          <p:attrName>style.visibility</p:attrName>
                                        </p:attrNameLst>
                                      </p:cBhvr>
                                      <p:to>
                                        <p:strVal val="hidden"/>
                                      </p:to>
                                    </p:set>
                                  </p:childTnLst>
                                </p:cTn>
                              </p:par>
                              <p:par>
                                <p:cTn id="60" presetID="10" presetClass="exit" presetSubtype="0" fill="hold" nodeType="withEffect">
                                  <p:stCondLst>
                                    <p:cond delay="0"/>
                                  </p:stCondLst>
                                  <p:childTnLst>
                                    <p:animEffect transition="out" filter="fade">
                                      <p:cBhvr>
                                        <p:cTn id="61" dur="1000"/>
                                        <p:tgtEl>
                                          <p:spTgt spid="187"/>
                                        </p:tgtEl>
                                      </p:cBhvr>
                                    </p:animEffect>
                                    <p:set>
                                      <p:cBhvr>
                                        <p:cTn id="62" dur="1" fill="hold">
                                          <p:stCondLst>
                                            <p:cond delay="1000"/>
                                          </p:stCondLst>
                                        </p:cTn>
                                        <p:tgtEl>
                                          <p:spTgt spid="187"/>
                                        </p:tgtEl>
                                        <p:attrNameLst>
                                          <p:attrName>style.visibility</p:attrName>
                                        </p:attrNameLst>
                                      </p:cBhvr>
                                      <p:to>
                                        <p:strVal val="hidden"/>
                                      </p:to>
                                    </p:set>
                                  </p:childTnLst>
                                </p:cTn>
                              </p:par>
                              <p:par>
                                <p:cTn id="63" presetID="10" presetClass="entr" presetSubtype="0" fill="hold" nodeType="withEffect">
                                  <p:stCondLst>
                                    <p:cond delay="0"/>
                                  </p:stCondLst>
                                  <p:childTnLst>
                                    <p:set>
                                      <p:cBhvr>
                                        <p:cTn id="64" dur="1" fill="hold">
                                          <p:stCondLst>
                                            <p:cond delay="0"/>
                                          </p:stCondLst>
                                        </p:cTn>
                                        <p:tgtEl>
                                          <p:spTgt spid="176"/>
                                        </p:tgtEl>
                                        <p:attrNameLst>
                                          <p:attrName>style.visibility</p:attrName>
                                        </p:attrNameLst>
                                      </p:cBhvr>
                                      <p:to>
                                        <p:strVal val="visible"/>
                                      </p:to>
                                    </p:set>
                                    <p:animEffect transition="in" filter="fade">
                                      <p:cBhvr>
                                        <p:cTn id="65" dur="1000"/>
                                        <p:tgtEl>
                                          <p:spTgt spid="176"/>
                                        </p:tgtEl>
                                      </p:cBhvr>
                                    </p:animEffect>
                                  </p:childTnLst>
                                </p:cTn>
                              </p:par>
                              <p:par>
                                <p:cTn id="66" presetID="10" presetClass="entr" presetSubtype="0" fill="hold" nodeType="withEffect">
                                  <p:stCondLst>
                                    <p:cond delay="0"/>
                                  </p:stCondLst>
                                  <p:childTnLst>
                                    <p:set>
                                      <p:cBhvr>
                                        <p:cTn id="67" dur="1" fill="hold">
                                          <p:stCondLst>
                                            <p:cond delay="0"/>
                                          </p:stCondLst>
                                        </p:cTn>
                                        <p:tgtEl>
                                          <p:spTgt spid="190"/>
                                        </p:tgtEl>
                                        <p:attrNameLst>
                                          <p:attrName>style.visibility</p:attrName>
                                        </p:attrNameLst>
                                      </p:cBhvr>
                                      <p:to>
                                        <p:strVal val="visible"/>
                                      </p:to>
                                    </p:set>
                                    <p:animEffect transition="in" filter="fade">
                                      <p:cBhvr>
                                        <p:cTn id="68" dur="1000"/>
                                        <p:tgtEl>
                                          <p:spTgt spid="190"/>
                                        </p:tgtEl>
                                      </p:cBhvr>
                                    </p:animEffect>
                                  </p:childTnLst>
                                </p:cTn>
                              </p:par>
                              <p:par>
                                <p:cTn id="69" presetID="10" presetClass="entr" presetSubtype="0" fill="hold" nodeType="withEffect">
                                  <p:stCondLst>
                                    <p:cond delay="0"/>
                                  </p:stCondLst>
                                  <p:childTnLst>
                                    <p:set>
                                      <p:cBhvr>
                                        <p:cTn id="70" dur="1" fill="hold">
                                          <p:stCondLst>
                                            <p:cond delay="0"/>
                                          </p:stCondLst>
                                        </p:cTn>
                                        <p:tgtEl>
                                          <p:spTgt spid="189"/>
                                        </p:tgtEl>
                                        <p:attrNameLst>
                                          <p:attrName>style.visibility</p:attrName>
                                        </p:attrNameLst>
                                      </p:cBhvr>
                                      <p:to>
                                        <p:strVal val="visible"/>
                                      </p:to>
                                    </p:set>
                                    <p:animEffect transition="in" filter="fade">
                                      <p:cBhvr>
                                        <p:cTn id="71" dur="1000"/>
                                        <p:tgtEl>
                                          <p:spTgt spid="18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91"/>
                                        </p:tgtEl>
                                        <p:attrNameLst>
                                          <p:attrName>style.visibility</p:attrName>
                                        </p:attrNameLst>
                                      </p:cBhvr>
                                      <p:to>
                                        <p:strVal val="visible"/>
                                      </p:to>
                                    </p:set>
                                    <p:animEffect transition="in" filter="fade">
                                      <p:cBhvr>
                                        <p:cTn id="76" dur="1000"/>
                                        <p:tgtEl>
                                          <p:spTgt spid="19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92"/>
                                        </p:tgtEl>
                                        <p:attrNameLst>
                                          <p:attrName>style.visibility</p:attrName>
                                        </p:attrNameLst>
                                      </p:cBhvr>
                                      <p:to>
                                        <p:strVal val="visible"/>
                                      </p:to>
                                    </p:set>
                                    <p:animEffect transition="in" filter="fade">
                                      <p:cBhvr>
                                        <p:cTn id="81" dur="1000"/>
                                        <p:tgtEl>
                                          <p:spTgt spid="19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93"/>
                                        </p:tgtEl>
                                        <p:attrNameLst>
                                          <p:attrName>style.visibility</p:attrName>
                                        </p:attrNameLst>
                                      </p:cBhvr>
                                      <p:to>
                                        <p:strVal val="visible"/>
                                      </p:to>
                                    </p:set>
                                    <p:animEffect transition="in" filter="fade">
                                      <p:cBhvr>
                                        <p:cTn id="86" dur="1000"/>
                                        <p:tgtEl>
                                          <p:spTgt spid="19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94"/>
                                        </p:tgtEl>
                                        <p:attrNameLst>
                                          <p:attrName>style.visibility</p:attrName>
                                        </p:attrNameLst>
                                      </p:cBhvr>
                                      <p:to>
                                        <p:strVal val="visible"/>
                                      </p:to>
                                    </p:set>
                                    <p:animEffect transition="in" filter="fade">
                                      <p:cBhvr>
                                        <p:cTn id="91" dur="1000"/>
                                        <p:tgtEl>
                                          <p:spTgt spid="194"/>
                                        </p:tgtEl>
                                      </p:cBhvr>
                                    </p:animEffect>
                                  </p:childTnLst>
                                </p:cTn>
                              </p:par>
                              <p:par>
                                <p:cTn id="92" presetID="10" presetClass="entr" presetSubtype="0" fill="hold" nodeType="withEffect">
                                  <p:stCondLst>
                                    <p:cond delay="0"/>
                                  </p:stCondLst>
                                  <p:childTnLst>
                                    <p:set>
                                      <p:cBhvr>
                                        <p:cTn id="93" dur="1" fill="hold">
                                          <p:stCondLst>
                                            <p:cond delay="0"/>
                                          </p:stCondLst>
                                        </p:cTn>
                                        <p:tgtEl>
                                          <p:spTgt spid="195"/>
                                        </p:tgtEl>
                                        <p:attrNameLst>
                                          <p:attrName>style.visibility</p:attrName>
                                        </p:attrNameLst>
                                      </p:cBhvr>
                                      <p:to>
                                        <p:strVal val="visible"/>
                                      </p:to>
                                    </p:set>
                                    <p:animEffect transition="in" filter="fade">
                                      <p:cBhvr>
                                        <p:cTn id="94" dur="1000"/>
                                        <p:tgtEl>
                                          <p:spTgt spid="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32"/>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203" name="Google Shape;203;p32"/>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Two broad approaches to library preparation</a:t>
            </a:r>
            <a:endParaRPr/>
          </a:p>
        </p:txBody>
      </p:sp>
      <p:sp>
        <p:nvSpPr>
          <p:cNvPr id="204" name="Google Shape;204;p32"/>
          <p:cNvSpPr txBox="1"/>
          <p:nvPr/>
        </p:nvSpPr>
        <p:spPr>
          <a:xfrm>
            <a:off x="939400" y="997850"/>
            <a:ext cx="2721000" cy="49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Tagmentation</a:t>
            </a:r>
            <a:endParaRPr sz="1800">
              <a:solidFill>
                <a:schemeClr val="dk2"/>
              </a:solidFill>
            </a:endParaRPr>
          </a:p>
          <a:p>
            <a:pPr marL="0" lvl="0" indent="0" algn="ctr" rtl="0">
              <a:spcBef>
                <a:spcPts val="0"/>
              </a:spcBef>
              <a:spcAft>
                <a:spcPts val="0"/>
              </a:spcAft>
              <a:buNone/>
            </a:pPr>
            <a:r>
              <a:rPr lang="en" sz="1200">
                <a:solidFill>
                  <a:schemeClr val="dk2"/>
                </a:solidFill>
              </a:rPr>
              <a:t>(fragmentation + adapter addition)</a:t>
            </a:r>
            <a:endParaRPr sz="1200">
              <a:solidFill>
                <a:schemeClr val="dk2"/>
              </a:solidFill>
            </a:endParaRPr>
          </a:p>
        </p:txBody>
      </p:sp>
      <p:sp>
        <p:nvSpPr>
          <p:cNvPr id="205" name="Google Shape;205;p32"/>
          <p:cNvSpPr txBox="1"/>
          <p:nvPr/>
        </p:nvSpPr>
        <p:spPr>
          <a:xfrm>
            <a:off x="4948125" y="997850"/>
            <a:ext cx="27210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Fragmentation, then Adapter Ligation</a:t>
            </a:r>
            <a:endParaRPr sz="1800">
              <a:solidFill>
                <a:schemeClr val="dk2"/>
              </a:solidFill>
            </a:endParaRPr>
          </a:p>
        </p:txBody>
      </p:sp>
      <p:pic>
        <p:nvPicPr>
          <p:cNvPr id="206" name="Google Shape;206;p32"/>
          <p:cNvPicPr preferRelativeResize="0"/>
          <p:nvPr/>
        </p:nvPicPr>
        <p:blipFill>
          <a:blip r:embed="rId4">
            <a:alphaModFix/>
          </a:blip>
          <a:stretch>
            <a:fillRect/>
          </a:stretch>
        </p:blipFill>
        <p:spPr>
          <a:xfrm>
            <a:off x="1372275" y="1809725"/>
            <a:ext cx="1855250" cy="2403850"/>
          </a:xfrm>
          <a:prstGeom prst="rect">
            <a:avLst/>
          </a:prstGeom>
          <a:noFill/>
          <a:ln>
            <a:noFill/>
          </a:ln>
        </p:spPr>
      </p:pic>
      <p:pic>
        <p:nvPicPr>
          <p:cNvPr id="207" name="Google Shape;207;p32"/>
          <p:cNvPicPr preferRelativeResize="0"/>
          <p:nvPr/>
        </p:nvPicPr>
        <p:blipFill>
          <a:blip r:embed="rId5">
            <a:alphaModFix/>
          </a:blip>
          <a:stretch>
            <a:fillRect/>
          </a:stretch>
        </p:blipFill>
        <p:spPr>
          <a:xfrm>
            <a:off x="5363250" y="1650725"/>
            <a:ext cx="1890748" cy="3226550"/>
          </a:xfrm>
          <a:prstGeom prst="rect">
            <a:avLst/>
          </a:prstGeom>
          <a:noFill/>
          <a:ln>
            <a:noFill/>
          </a:ln>
        </p:spPr>
      </p:pic>
      <p:sp>
        <p:nvSpPr>
          <p:cNvPr id="208" name="Google Shape;208;p32"/>
          <p:cNvSpPr/>
          <p:nvPr/>
        </p:nvSpPr>
        <p:spPr>
          <a:xfrm>
            <a:off x="5478950" y="2310850"/>
            <a:ext cx="792000" cy="624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 name="Google Shape;209;p32"/>
          <p:cNvSpPr txBox="1"/>
          <p:nvPr/>
        </p:nvSpPr>
        <p:spPr>
          <a:xfrm>
            <a:off x="5197414" y="2378768"/>
            <a:ext cx="978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Fragmentation</a:t>
            </a:r>
            <a:endParaRPr sz="800"/>
          </a:p>
        </p:txBody>
      </p:sp>
      <p:pic>
        <p:nvPicPr>
          <p:cNvPr id="210" name="Google Shape;210;p32"/>
          <p:cNvPicPr preferRelativeResize="0"/>
          <p:nvPr/>
        </p:nvPicPr>
        <p:blipFill rotWithShape="1">
          <a:blip r:embed="rId5">
            <a:alphaModFix/>
          </a:blip>
          <a:srcRect l="44209" t="31637" b="60192"/>
          <a:stretch/>
        </p:blipFill>
        <p:spPr>
          <a:xfrm>
            <a:off x="5216050" y="2575626"/>
            <a:ext cx="1054900" cy="2636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33"/>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216" name="Google Shape;216;p33"/>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Two broad approaches to library preparation</a:t>
            </a:r>
            <a:endParaRPr/>
          </a:p>
        </p:txBody>
      </p:sp>
      <p:sp>
        <p:nvSpPr>
          <p:cNvPr id="217" name="Google Shape;217;p33"/>
          <p:cNvSpPr txBox="1"/>
          <p:nvPr/>
        </p:nvSpPr>
        <p:spPr>
          <a:xfrm>
            <a:off x="939400" y="997850"/>
            <a:ext cx="2721000" cy="493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rPr>
              <a:t>Tagmentation</a:t>
            </a:r>
            <a:endParaRPr sz="1800">
              <a:solidFill>
                <a:schemeClr val="dk2"/>
              </a:solidFill>
            </a:endParaRPr>
          </a:p>
          <a:p>
            <a:pPr marL="0" lvl="0" indent="0" algn="ctr" rtl="0">
              <a:spcBef>
                <a:spcPts val="0"/>
              </a:spcBef>
              <a:spcAft>
                <a:spcPts val="0"/>
              </a:spcAft>
              <a:buNone/>
            </a:pPr>
            <a:r>
              <a:rPr lang="en" sz="1200">
                <a:solidFill>
                  <a:schemeClr val="dk2"/>
                </a:solidFill>
              </a:rPr>
              <a:t>(fragmentation + adapter addition)</a:t>
            </a:r>
            <a:endParaRPr sz="1200">
              <a:solidFill>
                <a:schemeClr val="dk2"/>
              </a:solidFill>
            </a:endParaRPr>
          </a:p>
        </p:txBody>
      </p:sp>
      <p:sp>
        <p:nvSpPr>
          <p:cNvPr id="218" name="Google Shape;218;p33"/>
          <p:cNvSpPr txBox="1"/>
          <p:nvPr/>
        </p:nvSpPr>
        <p:spPr>
          <a:xfrm>
            <a:off x="4948125" y="997850"/>
            <a:ext cx="27210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rPr>
              <a:t>Fragmentation, then Adapter Ligation</a:t>
            </a:r>
            <a:endParaRPr sz="1800">
              <a:solidFill>
                <a:schemeClr val="dk2"/>
              </a:solidFill>
            </a:endParaRPr>
          </a:p>
        </p:txBody>
      </p:sp>
      <p:pic>
        <p:nvPicPr>
          <p:cNvPr id="219" name="Google Shape;219;p33"/>
          <p:cNvPicPr preferRelativeResize="0"/>
          <p:nvPr/>
        </p:nvPicPr>
        <p:blipFill>
          <a:blip r:embed="rId4">
            <a:alphaModFix/>
          </a:blip>
          <a:stretch>
            <a:fillRect/>
          </a:stretch>
        </p:blipFill>
        <p:spPr>
          <a:xfrm>
            <a:off x="1372275" y="1809725"/>
            <a:ext cx="1855250" cy="2403850"/>
          </a:xfrm>
          <a:prstGeom prst="rect">
            <a:avLst/>
          </a:prstGeom>
          <a:noFill/>
          <a:ln>
            <a:noFill/>
          </a:ln>
        </p:spPr>
      </p:pic>
      <p:pic>
        <p:nvPicPr>
          <p:cNvPr id="220" name="Google Shape;220;p33"/>
          <p:cNvPicPr preferRelativeResize="0"/>
          <p:nvPr/>
        </p:nvPicPr>
        <p:blipFill>
          <a:blip r:embed="rId5">
            <a:alphaModFix/>
          </a:blip>
          <a:stretch>
            <a:fillRect/>
          </a:stretch>
        </p:blipFill>
        <p:spPr>
          <a:xfrm>
            <a:off x="5363250" y="1650725"/>
            <a:ext cx="1890748" cy="3226550"/>
          </a:xfrm>
          <a:prstGeom prst="rect">
            <a:avLst/>
          </a:prstGeom>
          <a:noFill/>
          <a:ln>
            <a:noFill/>
          </a:ln>
        </p:spPr>
      </p:pic>
      <p:sp>
        <p:nvSpPr>
          <p:cNvPr id="221" name="Google Shape;221;p33"/>
          <p:cNvSpPr/>
          <p:nvPr/>
        </p:nvSpPr>
        <p:spPr>
          <a:xfrm>
            <a:off x="5478950" y="2310850"/>
            <a:ext cx="792000" cy="624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Google Shape;222;p33"/>
          <p:cNvSpPr txBox="1"/>
          <p:nvPr/>
        </p:nvSpPr>
        <p:spPr>
          <a:xfrm>
            <a:off x="5197414" y="2378768"/>
            <a:ext cx="978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Fragmentation</a:t>
            </a:r>
            <a:endParaRPr sz="800"/>
          </a:p>
        </p:txBody>
      </p:sp>
      <p:pic>
        <p:nvPicPr>
          <p:cNvPr id="223" name="Google Shape;223;p33"/>
          <p:cNvPicPr preferRelativeResize="0"/>
          <p:nvPr/>
        </p:nvPicPr>
        <p:blipFill rotWithShape="1">
          <a:blip r:embed="rId5">
            <a:alphaModFix/>
          </a:blip>
          <a:srcRect l="44209" t="31637" b="60192"/>
          <a:stretch/>
        </p:blipFill>
        <p:spPr>
          <a:xfrm>
            <a:off x="5216050" y="2575626"/>
            <a:ext cx="1054900" cy="263651"/>
          </a:xfrm>
          <a:prstGeom prst="rect">
            <a:avLst/>
          </a:prstGeom>
          <a:noFill/>
          <a:ln>
            <a:noFill/>
          </a:ln>
        </p:spPr>
      </p:pic>
      <p:sp>
        <p:nvSpPr>
          <p:cNvPr id="224" name="Google Shape;224;p33"/>
          <p:cNvSpPr/>
          <p:nvPr/>
        </p:nvSpPr>
        <p:spPr>
          <a:xfrm>
            <a:off x="4869100" y="979075"/>
            <a:ext cx="3022800" cy="39516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4"/>
          <p:cNvPicPr preferRelativeResize="0"/>
          <p:nvPr/>
        </p:nvPicPr>
        <p:blipFill>
          <a:blip r:embed="rId3">
            <a:alphaModFix/>
          </a:blip>
          <a:stretch>
            <a:fillRect/>
          </a:stretch>
        </p:blipFill>
        <p:spPr>
          <a:xfrm>
            <a:off x="3691375" y="511475"/>
            <a:ext cx="4985027" cy="4423774"/>
          </a:xfrm>
          <a:prstGeom prst="rect">
            <a:avLst/>
          </a:prstGeom>
          <a:noFill/>
          <a:ln>
            <a:noFill/>
          </a:ln>
        </p:spPr>
      </p:pic>
      <p:pic>
        <p:nvPicPr>
          <p:cNvPr id="230" name="Google Shape;230;p34"/>
          <p:cNvPicPr preferRelativeResize="0"/>
          <p:nvPr/>
        </p:nvPicPr>
        <p:blipFill rotWithShape="1">
          <a:blip r:embed="rId4">
            <a:alphaModFix/>
          </a:blip>
          <a:srcRect b="50615"/>
          <a:stretch/>
        </p:blipFill>
        <p:spPr>
          <a:xfrm>
            <a:off x="113075" y="336563"/>
            <a:ext cx="750124" cy="405024"/>
          </a:xfrm>
          <a:prstGeom prst="rect">
            <a:avLst/>
          </a:prstGeom>
          <a:noFill/>
          <a:ln>
            <a:noFill/>
          </a:ln>
        </p:spPr>
      </p:pic>
      <p:sp>
        <p:nvSpPr>
          <p:cNvPr id="231" name="Google Shape;231;p34"/>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Library prep</a:t>
            </a:r>
            <a:endParaRPr/>
          </a:p>
        </p:txBody>
      </p:sp>
      <p:sp>
        <p:nvSpPr>
          <p:cNvPr id="232" name="Google Shape;232;p34"/>
          <p:cNvSpPr txBox="1">
            <a:spLocks noGrp="1"/>
          </p:cNvSpPr>
          <p:nvPr>
            <p:ph type="body" idx="1"/>
          </p:nvPr>
        </p:nvSpPr>
        <p:spPr>
          <a:xfrm>
            <a:off x="83100" y="923875"/>
            <a:ext cx="3424200" cy="2261400"/>
          </a:xfrm>
          <a:prstGeom prst="rect">
            <a:avLst/>
          </a:prstGeom>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Clr>
                <a:srgbClr val="000000"/>
              </a:buClr>
              <a:buSzPts val="1700"/>
              <a:buChar char="●"/>
            </a:pPr>
            <a:r>
              <a:rPr lang="en-US" sz="1700" dirty="0">
                <a:solidFill>
                  <a:srgbClr val="000000"/>
                </a:solidFill>
              </a:rPr>
              <a:t>Libraries are dsDNA</a:t>
            </a:r>
            <a:endParaRPr sz="1700" dirty="0">
              <a:solidFill>
                <a:srgbClr val="000000"/>
              </a:solidFill>
            </a:endParaRPr>
          </a:p>
          <a:p>
            <a:pPr marL="457200" lvl="0" indent="0" algn="l" rtl="0">
              <a:lnSpc>
                <a:spcPct val="150000"/>
              </a:lnSpc>
              <a:spcBef>
                <a:spcPts val="1200"/>
              </a:spcBef>
              <a:spcAft>
                <a:spcPts val="1200"/>
              </a:spcAft>
              <a:buNone/>
            </a:pPr>
            <a:endParaRPr sz="1700" dirty="0">
              <a:solidFill>
                <a:srgbClr val="000000"/>
              </a:solidFill>
            </a:endParaRPr>
          </a:p>
        </p:txBody>
      </p:sp>
      <p:sp>
        <p:nvSpPr>
          <p:cNvPr id="233" name="Google Shape;233;p34"/>
          <p:cNvSpPr/>
          <p:nvPr/>
        </p:nvSpPr>
        <p:spPr>
          <a:xfrm>
            <a:off x="5173300" y="387252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 name="Google Shape;234;p34"/>
          <p:cNvSpPr/>
          <p:nvPr/>
        </p:nvSpPr>
        <p:spPr>
          <a:xfrm>
            <a:off x="6835000" y="387252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35"/>
          <p:cNvPicPr preferRelativeResize="0"/>
          <p:nvPr/>
        </p:nvPicPr>
        <p:blipFill>
          <a:blip r:embed="rId3">
            <a:alphaModFix/>
          </a:blip>
          <a:stretch>
            <a:fillRect/>
          </a:stretch>
        </p:blipFill>
        <p:spPr>
          <a:xfrm>
            <a:off x="3691375" y="511475"/>
            <a:ext cx="4985027" cy="4423774"/>
          </a:xfrm>
          <a:prstGeom prst="rect">
            <a:avLst/>
          </a:prstGeom>
          <a:noFill/>
          <a:ln>
            <a:noFill/>
          </a:ln>
        </p:spPr>
      </p:pic>
      <p:pic>
        <p:nvPicPr>
          <p:cNvPr id="240" name="Google Shape;240;p35"/>
          <p:cNvPicPr preferRelativeResize="0"/>
          <p:nvPr/>
        </p:nvPicPr>
        <p:blipFill rotWithShape="1">
          <a:blip r:embed="rId4">
            <a:alphaModFix/>
          </a:blip>
          <a:srcRect b="50615"/>
          <a:stretch/>
        </p:blipFill>
        <p:spPr>
          <a:xfrm>
            <a:off x="113075" y="336563"/>
            <a:ext cx="750124" cy="405024"/>
          </a:xfrm>
          <a:prstGeom prst="rect">
            <a:avLst/>
          </a:prstGeom>
          <a:noFill/>
          <a:ln>
            <a:noFill/>
          </a:ln>
        </p:spPr>
      </p:pic>
      <p:sp>
        <p:nvSpPr>
          <p:cNvPr id="241" name="Google Shape;241;p35"/>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Library prep</a:t>
            </a:r>
            <a:endParaRPr/>
          </a:p>
        </p:txBody>
      </p:sp>
      <p:sp>
        <p:nvSpPr>
          <p:cNvPr id="242" name="Google Shape;242;p35"/>
          <p:cNvSpPr txBox="1">
            <a:spLocks noGrp="1"/>
          </p:cNvSpPr>
          <p:nvPr>
            <p:ph type="body" idx="1"/>
          </p:nvPr>
        </p:nvSpPr>
        <p:spPr>
          <a:xfrm>
            <a:off x="83100" y="923875"/>
            <a:ext cx="3424200" cy="2261400"/>
          </a:xfrm>
          <a:prstGeom prst="rect">
            <a:avLst/>
          </a:prstGeom>
        </p:spPr>
        <p:txBody>
          <a:bodyPr spcFirstLastPara="1" wrap="square" lIns="91425" tIns="91425" rIns="91425" bIns="91425" anchor="t" anchorCtr="0">
            <a:normAutofit/>
          </a:bodyPr>
          <a:lstStyle/>
          <a:p>
            <a:pPr marL="457200" lvl="0" indent="-336550" algn="l" rtl="0">
              <a:lnSpc>
                <a:spcPct val="150000"/>
              </a:lnSpc>
              <a:spcBef>
                <a:spcPts val="0"/>
              </a:spcBef>
              <a:spcAft>
                <a:spcPts val="0"/>
              </a:spcAft>
              <a:buClr>
                <a:srgbClr val="000000"/>
              </a:buClr>
              <a:buSzPts val="1700"/>
              <a:buChar char="●"/>
            </a:pPr>
            <a:r>
              <a:rPr lang="en" sz="1700">
                <a:solidFill>
                  <a:srgbClr val="000000"/>
                </a:solidFill>
              </a:rPr>
              <a:t>Starting with RNA requires additional steps to convert it into dsDNA</a:t>
            </a:r>
            <a:endParaRPr sz="1700">
              <a:solidFill>
                <a:srgbClr val="000000"/>
              </a:solidFill>
            </a:endParaRPr>
          </a:p>
          <a:p>
            <a:pPr marL="457200" lvl="0" indent="0" algn="l" rtl="0">
              <a:lnSpc>
                <a:spcPct val="150000"/>
              </a:lnSpc>
              <a:spcBef>
                <a:spcPts val="1200"/>
              </a:spcBef>
              <a:spcAft>
                <a:spcPts val="1200"/>
              </a:spcAft>
              <a:buNone/>
            </a:pPr>
            <a:endParaRPr sz="1700">
              <a:solidFill>
                <a:srgbClr val="000000"/>
              </a:solidFill>
            </a:endParaRPr>
          </a:p>
        </p:txBody>
      </p:sp>
      <p:sp>
        <p:nvSpPr>
          <p:cNvPr id="243" name="Google Shape;243;p35"/>
          <p:cNvSpPr/>
          <p:nvPr/>
        </p:nvSpPr>
        <p:spPr>
          <a:xfrm>
            <a:off x="4223700" y="504575"/>
            <a:ext cx="1323600" cy="237000"/>
          </a:xfrm>
          <a:prstGeom prst="rect">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35"/>
          <p:cNvSpPr/>
          <p:nvPr/>
        </p:nvSpPr>
        <p:spPr>
          <a:xfrm>
            <a:off x="5173300" y="387252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 name="Google Shape;245;p35"/>
          <p:cNvSpPr/>
          <p:nvPr/>
        </p:nvSpPr>
        <p:spPr>
          <a:xfrm>
            <a:off x="6835000" y="387252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p18"/>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26" name="Google Shape;126;p1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Steps in library preparation:</a:t>
            </a:r>
            <a:endParaRPr/>
          </a:p>
        </p:txBody>
      </p:sp>
      <p:sp>
        <p:nvSpPr>
          <p:cNvPr id="127" name="Google Shape;127;p18"/>
          <p:cNvSpPr txBox="1">
            <a:spLocks noGrp="1"/>
          </p:cNvSpPr>
          <p:nvPr>
            <p:ph type="body" idx="1"/>
          </p:nvPr>
        </p:nvSpPr>
        <p:spPr>
          <a:xfrm>
            <a:off x="560725" y="1272400"/>
            <a:ext cx="8273400" cy="3522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600">
                <a:solidFill>
                  <a:schemeClr val="dk1"/>
                </a:solidFill>
                <a:highlight>
                  <a:srgbClr val="FFFFFF"/>
                </a:highlight>
              </a:rPr>
              <a:t>1. Host depletion, RNA fragmentation + priming</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2. First strand cDNA synthesis</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3. Second strand cDNA synthesis</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4. End Prep</a:t>
            </a:r>
            <a:endParaRPr sz="1600">
              <a:solidFill>
                <a:schemeClr val="dk1"/>
              </a:solidFill>
              <a:highlight>
                <a:srgbClr val="FFFFFF"/>
              </a:highlight>
            </a:endParaRPr>
          </a:p>
          <a:p>
            <a:pPr marL="0" lvl="0" indent="0" algn="l" rtl="0">
              <a:lnSpc>
                <a:spcPct val="100000"/>
              </a:lnSpc>
              <a:spcBef>
                <a:spcPts val="1600"/>
              </a:spcBef>
              <a:spcAft>
                <a:spcPts val="0"/>
              </a:spcAft>
              <a:buNone/>
            </a:pPr>
            <a:r>
              <a:rPr lang="en" sz="1600">
                <a:solidFill>
                  <a:schemeClr val="dk1"/>
                </a:solidFill>
                <a:highlight>
                  <a:srgbClr val="FFFFFF"/>
                </a:highlight>
              </a:rPr>
              <a:t>5. Adapter Ligation</a:t>
            </a:r>
            <a:endParaRPr sz="1600">
              <a:solidFill>
                <a:schemeClr val="dk1"/>
              </a:solidFill>
              <a:highlight>
                <a:srgbClr val="FFFFFF"/>
              </a:highlight>
            </a:endParaRPr>
          </a:p>
          <a:p>
            <a:pPr marL="0" lvl="0" indent="0" algn="l" rtl="0">
              <a:lnSpc>
                <a:spcPct val="100000"/>
              </a:lnSpc>
              <a:spcBef>
                <a:spcPts val="1600"/>
              </a:spcBef>
              <a:spcAft>
                <a:spcPts val="1600"/>
              </a:spcAft>
              <a:buNone/>
            </a:pPr>
            <a:r>
              <a:rPr lang="en" sz="1600">
                <a:solidFill>
                  <a:schemeClr val="dk1"/>
                </a:solidFill>
                <a:highlight>
                  <a:srgbClr val="FFFFFF"/>
                </a:highlight>
              </a:rPr>
              <a:t>6.. USER + Barcoding PCR</a:t>
            </a:r>
            <a:endParaRPr sz="2300">
              <a:solidFill>
                <a:srgbClr val="000000"/>
              </a:solidFill>
            </a:endParaRPr>
          </a:p>
        </p:txBody>
      </p:sp>
    </p:spTree>
    <p:extLst>
      <p:ext uri="{BB962C8B-B14F-4D97-AF65-F5344CB8AC3E}">
        <p14:creationId xmlns:p14="http://schemas.microsoft.com/office/powerpoint/2010/main" val="3612427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22"/>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174" name="Google Shape;174;p22"/>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 </a:t>
            </a:r>
            <a:endParaRPr/>
          </a:p>
        </p:txBody>
      </p:sp>
      <p:sp>
        <p:nvSpPr>
          <p:cNvPr id="175" name="Google Shape;175;p22"/>
          <p:cNvSpPr txBox="1"/>
          <p:nvPr/>
        </p:nvSpPr>
        <p:spPr>
          <a:xfrm>
            <a:off x="233575" y="906100"/>
            <a:ext cx="6181800" cy="27516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0. Starting material: RNA or TNA</a:t>
            </a:r>
            <a:endParaRPr sz="1700" b="1">
              <a:solidFill>
                <a:srgbClr val="000000"/>
              </a:solidFill>
            </a:endParaRPr>
          </a:p>
          <a:p>
            <a:pPr marL="457200" marR="0" lvl="0" indent="-323850" algn="l" rtl="0">
              <a:lnSpc>
                <a:spcPct val="200000"/>
              </a:lnSpc>
              <a:spcBef>
                <a:spcPts val="0"/>
              </a:spcBef>
              <a:spcAft>
                <a:spcPts val="0"/>
              </a:spcAft>
              <a:buClr>
                <a:srgbClr val="000000"/>
              </a:buClr>
              <a:buSzPts val="1500"/>
              <a:buChar char="●"/>
            </a:pPr>
            <a:r>
              <a:rPr lang="en" sz="1500" i="0" u="none" strike="noStrike" cap="none">
                <a:solidFill>
                  <a:srgbClr val="000000"/>
                </a:solidFill>
              </a:rPr>
              <a:t>RNA only: move on to host rRNA depletion</a:t>
            </a:r>
            <a:endParaRPr sz="1500" i="0" u="none" strike="noStrike" cap="none">
              <a:solidFill>
                <a:srgbClr val="000000"/>
              </a:solidFill>
            </a:endParaRPr>
          </a:p>
          <a:p>
            <a:pPr marL="457200" marR="0" lvl="0" indent="-323850" algn="l" rtl="0">
              <a:lnSpc>
                <a:spcPct val="150000"/>
              </a:lnSpc>
              <a:spcBef>
                <a:spcPts val="0"/>
              </a:spcBef>
              <a:spcAft>
                <a:spcPts val="0"/>
              </a:spcAft>
              <a:buClr>
                <a:srgbClr val="000000"/>
              </a:buClr>
              <a:buSzPts val="1500"/>
              <a:buChar char="●"/>
            </a:pPr>
            <a:r>
              <a:rPr lang="en" sz="1500" i="0" u="none" strike="noStrike" cap="none">
                <a:solidFill>
                  <a:srgbClr val="000000"/>
                </a:solidFill>
              </a:rPr>
              <a:t>TNA (total nucleic acid): need to remove DNA</a:t>
            </a:r>
            <a:endParaRPr sz="15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Aliquot sample</a:t>
            </a:r>
            <a:endParaRPr sz="13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DNAse I treatment</a:t>
            </a:r>
            <a:endParaRPr sz="13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SPRI bead clean-up (2x)</a:t>
            </a:r>
            <a:endParaRPr sz="1300"/>
          </a:p>
          <a:p>
            <a:pPr marL="914400" marR="0" lvl="1" indent="-311150" algn="l" rtl="0">
              <a:lnSpc>
                <a:spcPct val="150000"/>
              </a:lnSpc>
              <a:spcBef>
                <a:spcPts val="0"/>
              </a:spcBef>
              <a:spcAft>
                <a:spcPts val="0"/>
              </a:spcAft>
              <a:buClr>
                <a:srgbClr val="000000"/>
              </a:buClr>
              <a:buSzPts val="1300"/>
              <a:buChar char="○"/>
            </a:pPr>
            <a:r>
              <a:rPr lang="en" sz="1300" i="0" u="none" strike="noStrike" cap="none">
                <a:solidFill>
                  <a:srgbClr val="000000"/>
                </a:solidFill>
              </a:rPr>
              <a:t>Qubit quantification</a:t>
            </a:r>
            <a:endParaRPr sz="1700" i="0" u="none" strike="noStrike" cap="none">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6"/>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251" name="Google Shape;251;p36"/>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sp>
        <p:nvSpPr>
          <p:cNvPr id="252" name="Google Shape;252;p36"/>
          <p:cNvSpPr txBox="1"/>
          <p:nvPr/>
        </p:nvSpPr>
        <p:spPr>
          <a:xfrm>
            <a:off x="233575" y="906100"/>
            <a:ext cx="71103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1</a:t>
            </a:r>
            <a:r>
              <a:rPr lang="en" sz="1700" b="1">
                <a:solidFill>
                  <a:srgbClr val="000000"/>
                </a:solidFill>
              </a:rPr>
              <a:t>. </a:t>
            </a:r>
            <a:r>
              <a:rPr lang="en" sz="1700" b="1"/>
              <a:t>Host rRNA depletion</a:t>
            </a:r>
            <a:endParaRPr sz="1700"/>
          </a:p>
          <a:p>
            <a:pPr marL="457200" marR="0" lvl="0" indent="-323850" algn="l" rtl="0">
              <a:lnSpc>
                <a:spcPct val="150000"/>
              </a:lnSpc>
              <a:spcBef>
                <a:spcPts val="0"/>
              </a:spcBef>
              <a:spcAft>
                <a:spcPts val="0"/>
              </a:spcAft>
              <a:buClr>
                <a:srgbClr val="000000"/>
              </a:buClr>
              <a:buSzPts val="1500"/>
              <a:buChar char="●"/>
            </a:pPr>
            <a:r>
              <a:rPr lang="en" sz="1500"/>
              <a:t>Before RNA extraction:</a:t>
            </a:r>
            <a:endParaRPr sz="1500"/>
          </a:p>
          <a:p>
            <a:pPr marL="914400" marR="0" lvl="1" indent="-311150" algn="l" rtl="0">
              <a:lnSpc>
                <a:spcPct val="200000"/>
              </a:lnSpc>
              <a:spcBef>
                <a:spcPts val="0"/>
              </a:spcBef>
              <a:spcAft>
                <a:spcPts val="0"/>
              </a:spcAft>
              <a:buClr>
                <a:srgbClr val="000000"/>
              </a:buClr>
              <a:buSzPts val="1300"/>
              <a:buChar char="○"/>
            </a:pPr>
            <a:r>
              <a:rPr lang="en" sz="1300"/>
              <a:t>Serum or plasma instead of blood </a:t>
            </a:r>
            <a:endParaRPr sz="1300"/>
          </a:p>
          <a:p>
            <a:pPr marL="914400" marR="0" lvl="1" indent="-311150" algn="l" rtl="0">
              <a:lnSpc>
                <a:spcPct val="150000"/>
              </a:lnSpc>
              <a:spcBef>
                <a:spcPts val="0"/>
              </a:spcBef>
              <a:spcAft>
                <a:spcPts val="0"/>
              </a:spcAft>
              <a:buClr>
                <a:srgbClr val="000000"/>
              </a:buClr>
              <a:buSzPts val="1300"/>
              <a:buChar char="○"/>
            </a:pPr>
            <a:r>
              <a:rPr lang="en" sz="1300"/>
              <a:t>Supernatant of CSF to remove WBCs</a:t>
            </a:r>
            <a:endParaRPr sz="1300"/>
          </a:p>
          <a:p>
            <a:pPr marL="457200" marR="0" lvl="0" indent="0" algn="l" rtl="0">
              <a:lnSpc>
                <a:spcPct val="150000"/>
              </a:lnSpc>
              <a:spcBef>
                <a:spcPts val="0"/>
              </a:spcBef>
              <a:spcAft>
                <a:spcPts val="0"/>
              </a:spcAft>
              <a:buNone/>
            </a:pPr>
            <a:endParaRPr sz="1300"/>
          </a:p>
          <a:p>
            <a:pPr marL="457200" marR="0" lvl="0" indent="-323850" algn="l" rtl="0">
              <a:lnSpc>
                <a:spcPct val="150000"/>
              </a:lnSpc>
              <a:spcBef>
                <a:spcPts val="0"/>
              </a:spcBef>
              <a:spcAft>
                <a:spcPts val="0"/>
              </a:spcAft>
              <a:buClr>
                <a:srgbClr val="000000"/>
              </a:buClr>
              <a:buSzPts val="1500"/>
              <a:buChar char="●"/>
            </a:pPr>
            <a:r>
              <a:rPr lang="en" sz="1500"/>
              <a:t>Human RNA depletion kits to use after RNA extraction:</a:t>
            </a:r>
            <a:endParaRPr sz="1300"/>
          </a:p>
          <a:p>
            <a:pPr marL="914400" marR="0" lvl="1" indent="-311150" algn="l" rtl="0">
              <a:lnSpc>
                <a:spcPct val="150000"/>
              </a:lnSpc>
              <a:spcBef>
                <a:spcPts val="0"/>
              </a:spcBef>
              <a:spcAft>
                <a:spcPts val="0"/>
              </a:spcAft>
              <a:buClr>
                <a:srgbClr val="000000"/>
              </a:buClr>
              <a:buSzPts val="1300"/>
              <a:buChar char="○"/>
            </a:pPr>
            <a:r>
              <a:rPr lang="en" sz="1300"/>
              <a:t>FastSelect (Qiagen): $50 for 24 samples when reagent is diluted 1:10</a:t>
            </a:r>
            <a:endParaRPr sz="1300"/>
          </a:p>
          <a:p>
            <a:pPr marL="1371600" marR="0" lvl="2" indent="-311150" algn="l" rtl="0">
              <a:lnSpc>
                <a:spcPct val="150000"/>
              </a:lnSpc>
              <a:spcBef>
                <a:spcPts val="0"/>
              </a:spcBef>
              <a:spcAft>
                <a:spcPts val="0"/>
              </a:spcAft>
              <a:buClr>
                <a:srgbClr val="000000"/>
              </a:buClr>
              <a:buSzPts val="1300"/>
              <a:buChar char="■"/>
            </a:pPr>
            <a:r>
              <a:rPr lang="en" sz="1300"/>
              <a:t>Proprietary technology, presumably with hybridizing probes that make rRNA inaccessible to enzymes in subsequent steps</a:t>
            </a:r>
            <a:endParaRPr sz="1700" i="0" u="none" strike="noStrike" cap="none">
              <a:solidFill>
                <a:srgbClr val="000000"/>
              </a:solidFill>
            </a:endParaRPr>
          </a:p>
        </p:txBody>
      </p:sp>
      <p:graphicFrame>
        <p:nvGraphicFramePr>
          <p:cNvPr id="253" name="Google Shape;253;p36"/>
          <p:cNvGraphicFramePr/>
          <p:nvPr/>
        </p:nvGraphicFramePr>
        <p:xfrm>
          <a:off x="6862775" y="400200"/>
          <a:ext cx="1933575" cy="2072610"/>
        </p:xfrm>
        <a:graphic>
          <a:graphicData uri="http://schemas.openxmlformats.org/drawingml/2006/table">
            <a:tbl>
              <a:tblPr>
                <a:noFill/>
                <a:tableStyleId>{51C5B7DD-34DA-4ED2-9B87-43BDE41641AC}</a:tableStyleId>
              </a:tblPr>
              <a:tblGrid>
                <a:gridCol w="1933575">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200" b="1">
                          <a:solidFill>
                            <a:srgbClr val="FFFFFF"/>
                          </a:solidFill>
                        </a:rPr>
                        <a:t>RNA content of typical host sample</a:t>
                      </a:r>
                      <a:endParaRPr sz="1200" b="1">
                        <a:solidFill>
                          <a:srgbClr val="FFFFFF"/>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200"/>
                        <a:t>95% host rRNA</a:t>
                      </a:r>
                      <a:endParaRPr sz="1200"/>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200"/>
                        <a:t>2-3% host mRNA</a:t>
                      </a:r>
                      <a:endParaRPr sz="1200"/>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sz="1200"/>
                        <a:t>1% other host RNA</a:t>
                      </a:r>
                      <a:endParaRPr sz="1200"/>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sz="1200"/>
                        <a:t>&lt;1% pathogen RNA</a:t>
                      </a:r>
                      <a:endParaRPr sz="1200"/>
                    </a:p>
                  </a:txBody>
                  <a:tcPr marL="91425" marR="91425" marT="91425" marB="91425">
                    <a:lnL w="19050" cap="flat" cmpd="sng">
                      <a:solidFill>
                        <a:srgbClr val="FF0000"/>
                      </a:solidFill>
                      <a:prstDash val="solid"/>
                      <a:round/>
                      <a:headEnd type="none" w="sm" len="sm"/>
                      <a:tailEnd type="none" w="sm" len="sm"/>
                    </a:lnL>
                    <a:lnR w="19050" cap="flat" cmpd="sng">
                      <a:solidFill>
                        <a:srgbClr val="FF0000"/>
                      </a:solidFill>
                      <a:prstDash val="solid"/>
                      <a:round/>
                      <a:headEnd type="none" w="sm" len="sm"/>
                      <a:tailEnd type="none" w="sm" len="sm"/>
                    </a:lnR>
                    <a:lnT w="19050" cap="flat" cmpd="sng">
                      <a:solidFill>
                        <a:srgbClr val="FF0000"/>
                      </a:solidFill>
                      <a:prstDash val="solid"/>
                      <a:round/>
                      <a:headEnd type="none" w="sm" len="sm"/>
                      <a:tailEnd type="none" w="sm" len="sm"/>
                    </a:lnT>
                    <a:lnB w="19050" cap="flat" cmpd="sng">
                      <a:solidFill>
                        <a:srgbClr val="FF0000"/>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bl>
          </a:graphicData>
        </a:graphic>
      </p:graphicFrame>
      <p:sp>
        <p:nvSpPr>
          <p:cNvPr id="254" name="Google Shape;254;p36"/>
          <p:cNvSpPr/>
          <p:nvPr/>
        </p:nvSpPr>
        <p:spPr>
          <a:xfrm>
            <a:off x="8982400" y="4931525"/>
            <a:ext cx="81300" cy="113700"/>
          </a:xfrm>
          <a:prstGeom prst="star4">
            <a:avLst>
              <a:gd name="adj" fmla="val 1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37"/>
          <p:cNvPicPr preferRelativeResize="0"/>
          <p:nvPr/>
        </p:nvPicPr>
        <p:blipFill rotWithShape="1">
          <a:blip r:embed="rId3">
            <a:alphaModFix/>
          </a:blip>
          <a:srcRect l="15816" t="72531" r="40899" b="8004"/>
          <a:stretch/>
        </p:blipFill>
        <p:spPr>
          <a:xfrm>
            <a:off x="6027350" y="939625"/>
            <a:ext cx="3078449" cy="1214176"/>
          </a:xfrm>
          <a:prstGeom prst="rect">
            <a:avLst/>
          </a:prstGeom>
          <a:noFill/>
          <a:ln>
            <a:noFill/>
          </a:ln>
        </p:spPr>
      </p:pic>
      <p:pic>
        <p:nvPicPr>
          <p:cNvPr id="260" name="Google Shape;260;p37"/>
          <p:cNvPicPr preferRelativeResize="0"/>
          <p:nvPr/>
        </p:nvPicPr>
        <p:blipFill rotWithShape="1">
          <a:blip r:embed="rId4">
            <a:alphaModFix/>
          </a:blip>
          <a:srcRect b="50615"/>
          <a:stretch/>
        </p:blipFill>
        <p:spPr>
          <a:xfrm>
            <a:off x="113075" y="336563"/>
            <a:ext cx="750124" cy="405024"/>
          </a:xfrm>
          <a:prstGeom prst="rect">
            <a:avLst/>
          </a:prstGeom>
          <a:noFill/>
          <a:ln>
            <a:noFill/>
          </a:ln>
        </p:spPr>
      </p:pic>
      <p:sp>
        <p:nvSpPr>
          <p:cNvPr id="261" name="Google Shape;261;p37"/>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sp>
        <p:nvSpPr>
          <p:cNvPr id="262" name="Google Shape;262;p37"/>
          <p:cNvSpPr txBox="1"/>
          <p:nvPr/>
        </p:nvSpPr>
        <p:spPr>
          <a:xfrm>
            <a:off x="233575" y="906100"/>
            <a:ext cx="71103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2</a:t>
            </a:r>
            <a:r>
              <a:rPr lang="en" sz="1700" b="1">
                <a:solidFill>
                  <a:srgbClr val="000000"/>
                </a:solidFill>
              </a:rPr>
              <a:t>. Fragmentation</a:t>
            </a:r>
            <a:endParaRPr sz="1700"/>
          </a:p>
          <a:p>
            <a:pPr marL="457200" marR="0" lvl="0" indent="-323850" algn="l" rtl="0">
              <a:lnSpc>
                <a:spcPct val="200000"/>
              </a:lnSpc>
              <a:spcBef>
                <a:spcPts val="0"/>
              </a:spcBef>
              <a:spcAft>
                <a:spcPts val="0"/>
              </a:spcAft>
              <a:buClr>
                <a:srgbClr val="000000"/>
              </a:buClr>
              <a:buSzPts val="1500"/>
              <a:buChar char="●"/>
            </a:pPr>
            <a:r>
              <a:rPr lang="en" sz="1500"/>
              <a:t>Ideal insert size = </a:t>
            </a:r>
            <a:r>
              <a:rPr lang="en" sz="1500">
                <a:solidFill>
                  <a:schemeClr val="dk1"/>
                </a:solidFill>
              </a:rPr>
              <a:t>± 400 nt</a:t>
            </a:r>
            <a:endParaRPr sz="1500"/>
          </a:p>
          <a:p>
            <a:pPr marL="457200" marR="0" lvl="0" indent="-323850" algn="l" rtl="0">
              <a:lnSpc>
                <a:spcPct val="150000"/>
              </a:lnSpc>
              <a:spcBef>
                <a:spcPts val="0"/>
              </a:spcBef>
              <a:spcAft>
                <a:spcPts val="0"/>
              </a:spcAft>
              <a:buClr>
                <a:srgbClr val="000000"/>
              </a:buClr>
              <a:buSzPts val="1500"/>
              <a:buChar char="●"/>
            </a:pPr>
            <a:r>
              <a:rPr lang="en" sz="1500"/>
              <a:t>Several ways to fragment RNA:</a:t>
            </a:r>
            <a:endParaRPr sz="1500"/>
          </a:p>
          <a:p>
            <a:pPr marL="914400" marR="0" lvl="1" indent="-311150" algn="l" rtl="0">
              <a:lnSpc>
                <a:spcPct val="150000"/>
              </a:lnSpc>
              <a:spcBef>
                <a:spcPts val="0"/>
              </a:spcBef>
              <a:spcAft>
                <a:spcPts val="0"/>
              </a:spcAft>
              <a:buClr>
                <a:srgbClr val="000000"/>
              </a:buClr>
              <a:buSzPts val="1300"/>
              <a:buAutoNum type="alphaLcPeriod"/>
            </a:pPr>
            <a:r>
              <a:rPr lang="en" sz="1300"/>
              <a:t>Enzymatic: %GC-dependent -&gt; may bias mNGS results</a:t>
            </a:r>
            <a:endParaRPr sz="1300"/>
          </a:p>
          <a:p>
            <a:pPr marL="914400" marR="0" lvl="1" indent="-311150" algn="l" rtl="0">
              <a:lnSpc>
                <a:spcPct val="150000"/>
              </a:lnSpc>
              <a:spcBef>
                <a:spcPts val="0"/>
              </a:spcBef>
              <a:spcAft>
                <a:spcPts val="0"/>
              </a:spcAft>
              <a:buClr>
                <a:srgbClr val="000000"/>
              </a:buClr>
              <a:buSzPts val="1300"/>
              <a:buAutoNum type="alphaLcPeriod"/>
            </a:pPr>
            <a:r>
              <a:rPr lang="en" sz="1300"/>
              <a:t>Heat cycling: relatively random</a:t>
            </a:r>
            <a:endParaRPr sz="1300"/>
          </a:p>
          <a:p>
            <a:pPr marL="914400" marR="0" lvl="1" indent="-311150" algn="l" rtl="0">
              <a:lnSpc>
                <a:spcPct val="150000"/>
              </a:lnSpc>
              <a:spcBef>
                <a:spcPts val="0"/>
              </a:spcBef>
              <a:spcAft>
                <a:spcPts val="0"/>
              </a:spcAft>
              <a:buClr>
                <a:srgbClr val="000000"/>
              </a:buClr>
              <a:buSzPts val="1300"/>
              <a:buAutoNum type="alphaLcPeriod"/>
            </a:pPr>
            <a:r>
              <a:rPr lang="en" sz="1300"/>
              <a:t>Sonication: larger volume required, expensive machine, contamination risk</a:t>
            </a:r>
            <a:endParaRPr sz="1300"/>
          </a:p>
          <a:p>
            <a:pPr marL="914400" marR="0" lvl="1" indent="-311150" algn="l" rtl="0">
              <a:lnSpc>
                <a:spcPct val="150000"/>
              </a:lnSpc>
              <a:spcBef>
                <a:spcPts val="0"/>
              </a:spcBef>
              <a:spcAft>
                <a:spcPts val="0"/>
              </a:spcAft>
              <a:buClr>
                <a:srgbClr val="000000"/>
              </a:buClr>
              <a:buSzPts val="1300"/>
              <a:buAutoNum type="alphaLcPeriod"/>
            </a:pPr>
            <a:r>
              <a:rPr lang="en" sz="1300"/>
              <a:t>Divalent cations: allow RNA to be self-cleaving (Mg</a:t>
            </a:r>
            <a:r>
              <a:rPr lang="en" sz="1300" baseline="30000"/>
              <a:t>2+</a:t>
            </a:r>
            <a:r>
              <a:rPr lang="en" sz="1300"/>
              <a:t>, Ca</a:t>
            </a:r>
            <a:r>
              <a:rPr lang="en" sz="1300" baseline="30000"/>
              <a:t>2+</a:t>
            </a:r>
            <a:r>
              <a:rPr lang="en" sz="1300"/>
              <a:t>, Zn</a:t>
            </a:r>
            <a:r>
              <a:rPr lang="en" sz="1300" baseline="30000"/>
              <a:t>2+</a:t>
            </a:r>
            <a:r>
              <a:rPr lang="en" sz="1300"/>
              <a:t>, …)</a:t>
            </a:r>
            <a:endParaRPr sz="1300"/>
          </a:p>
          <a:p>
            <a:pPr marL="1371600" marR="0" lvl="2" indent="-311150" algn="l" rtl="0">
              <a:lnSpc>
                <a:spcPct val="150000"/>
              </a:lnSpc>
              <a:spcBef>
                <a:spcPts val="0"/>
              </a:spcBef>
              <a:spcAft>
                <a:spcPts val="0"/>
              </a:spcAft>
              <a:buSzPts val="1300"/>
              <a:buChar char="■"/>
            </a:pPr>
            <a:r>
              <a:rPr lang="en" sz="1300"/>
              <a:t>Mg</a:t>
            </a:r>
            <a:r>
              <a:rPr lang="en" sz="1300" baseline="30000"/>
              <a:t>2+</a:t>
            </a:r>
            <a:r>
              <a:rPr lang="en" sz="1300"/>
              <a:t> and heat (94</a:t>
            </a:r>
            <a:r>
              <a:rPr lang="en" sz="1300" baseline="30000"/>
              <a:t>o</a:t>
            </a:r>
            <a:r>
              <a:rPr lang="en" sz="1300"/>
              <a:t>C) for 2-15 minutes depending on RNA quality</a:t>
            </a:r>
            <a:endParaRPr sz="1300"/>
          </a:p>
          <a:p>
            <a:pPr marL="1828800" marR="0" lvl="3" indent="-311150" algn="l" rtl="0">
              <a:lnSpc>
                <a:spcPct val="150000"/>
              </a:lnSpc>
              <a:spcBef>
                <a:spcPts val="0"/>
              </a:spcBef>
              <a:spcAft>
                <a:spcPts val="0"/>
              </a:spcAft>
              <a:buSzPts val="1300"/>
              <a:buChar char="●"/>
            </a:pPr>
            <a:r>
              <a:rPr lang="en" sz="1300"/>
              <a:t>High quality RNA: long fragmentation time</a:t>
            </a:r>
            <a:endParaRPr sz="1300"/>
          </a:p>
          <a:p>
            <a:pPr marL="1828800" marR="0" lvl="3" indent="-311150" algn="l" rtl="0">
              <a:lnSpc>
                <a:spcPct val="150000"/>
              </a:lnSpc>
              <a:spcBef>
                <a:spcPts val="0"/>
              </a:spcBef>
              <a:spcAft>
                <a:spcPts val="0"/>
              </a:spcAft>
              <a:buSzPts val="1300"/>
              <a:buChar char="●"/>
            </a:pPr>
            <a:r>
              <a:rPr lang="en" sz="1300"/>
              <a:t>Low quality RNA: short fragmentation time</a:t>
            </a:r>
            <a:endParaRPr sz="1300"/>
          </a:p>
        </p:txBody>
      </p:sp>
      <p:sp>
        <p:nvSpPr>
          <p:cNvPr id="263" name="Google Shape;263;p37"/>
          <p:cNvSpPr txBox="1"/>
          <p:nvPr/>
        </p:nvSpPr>
        <p:spPr>
          <a:xfrm>
            <a:off x="7576950" y="1313900"/>
            <a:ext cx="1027800" cy="2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Fragmentation</a:t>
            </a:r>
            <a:endParaRPr sz="1000"/>
          </a:p>
        </p:txBody>
      </p:sp>
      <p:sp>
        <p:nvSpPr>
          <p:cNvPr id="264" name="Google Shape;264;p37"/>
          <p:cNvSpPr txBox="1"/>
          <p:nvPr/>
        </p:nvSpPr>
        <p:spPr>
          <a:xfrm>
            <a:off x="6273475" y="1940800"/>
            <a:ext cx="1027800" cy="2865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000">
                <a:solidFill>
                  <a:schemeClr val="dk1"/>
                </a:solidFill>
              </a:rPr>
              <a:t>± 400 nt</a:t>
            </a:r>
            <a:endParaRPr sz="1000"/>
          </a:p>
        </p:txBody>
      </p:sp>
      <p:sp>
        <p:nvSpPr>
          <p:cNvPr id="265" name="Google Shape;265;p37"/>
          <p:cNvSpPr txBox="1"/>
          <p:nvPr/>
        </p:nvSpPr>
        <p:spPr>
          <a:xfrm>
            <a:off x="7233975" y="1940800"/>
            <a:ext cx="1027800" cy="2865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000">
                <a:solidFill>
                  <a:schemeClr val="dk1"/>
                </a:solidFill>
              </a:rPr>
              <a:t>± 400 nt</a:t>
            </a:r>
            <a:endParaRPr sz="1000"/>
          </a:p>
        </p:txBody>
      </p:sp>
      <p:sp>
        <p:nvSpPr>
          <p:cNvPr id="266" name="Google Shape;266;p37"/>
          <p:cNvSpPr txBox="1"/>
          <p:nvPr/>
        </p:nvSpPr>
        <p:spPr>
          <a:xfrm>
            <a:off x="8215675" y="1940800"/>
            <a:ext cx="1027800" cy="2865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000">
                <a:solidFill>
                  <a:schemeClr val="dk1"/>
                </a:solidFill>
              </a:rPr>
              <a:t>± 400 nt</a:t>
            </a:r>
            <a:endParaRPr sz="1000"/>
          </a:p>
        </p:txBody>
      </p:sp>
      <p:sp>
        <p:nvSpPr>
          <p:cNvPr id="267" name="Google Shape;267;p37"/>
          <p:cNvSpPr/>
          <p:nvPr/>
        </p:nvSpPr>
        <p:spPr>
          <a:xfrm>
            <a:off x="700275" y="3105925"/>
            <a:ext cx="6015000" cy="1214100"/>
          </a:xfrm>
          <a:prstGeom prst="roundRect">
            <a:avLst>
              <a:gd name="adj" fmla="val 16667"/>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7"/>
          <p:cNvSpPr/>
          <p:nvPr/>
        </p:nvSpPr>
        <p:spPr>
          <a:xfrm>
            <a:off x="8982400" y="4931525"/>
            <a:ext cx="81300" cy="113700"/>
          </a:xfrm>
          <a:prstGeom prst="star4">
            <a:avLst>
              <a:gd name="adj" fmla="val 1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10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5"/>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04" name="Google Shape;204;p25"/>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05" name="Google Shape;205;p25"/>
          <p:cNvSpPr txBox="1"/>
          <p:nvPr/>
        </p:nvSpPr>
        <p:spPr>
          <a:xfrm>
            <a:off x="233575" y="906100"/>
            <a:ext cx="71103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2</a:t>
            </a:r>
            <a:r>
              <a:rPr lang="en" sz="1700" b="1">
                <a:solidFill>
                  <a:srgbClr val="000000"/>
                </a:solidFill>
              </a:rPr>
              <a:t>. Fragmentation</a:t>
            </a:r>
            <a:endParaRPr sz="1700"/>
          </a:p>
          <a:p>
            <a:pPr marL="457200" marR="0" lvl="0" indent="0" algn="l" rtl="0">
              <a:lnSpc>
                <a:spcPct val="200000"/>
              </a:lnSpc>
              <a:spcBef>
                <a:spcPts val="0"/>
              </a:spcBef>
              <a:spcAft>
                <a:spcPts val="0"/>
              </a:spcAft>
              <a:buNone/>
            </a:pPr>
            <a:endParaRPr>
              <a:solidFill>
                <a:srgbClr val="FF0000"/>
              </a:solidFill>
              <a:highlight>
                <a:srgbClr val="FFFF00"/>
              </a:highlight>
            </a:endParaRPr>
          </a:p>
        </p:txBody>
      </p:sp>
      <p:pic>
        <p:nvPicPr>
          <p:cNvPr id="206" name="Google Shape;206;p25"/>
          <p:cNvPicPr preferRelativeResize="0"/>
          <p:nvPr/>
        </p:nvPicPr>
        <p:blipFill>
          <a:blip r:embed="rId4">
            <a:alphaModFix/>
          </a:blip>
          <a:stretch>
            <a:fillRect/>
          </a:stretch>
        </p:blipFill>
        <p:spPr>
          <a:xfrm>
            <a:off x="3216812" y="825425"/>
            <a:ext cx="5750038" cy="4167550"/>
          </a:xfrm>
          <a:prstGeom prst="rect">
            <a:avLst/>
          </a:prstGeom>
          <a:noFill/>
          <a:ln>
            <a:noFill/>
          </a:ln>
        </p:spPr>
      </p:pic>
      <p:sp>
        <p:nvSpPr>
          <p:cNvPr id="207" name="Google Shape;207;p25"/>
          <p:cNvSpPr txBox="1"/>
          <p:nvPr/>
        </p:nvSpPr>
        <p:spPr>
          <a:xfrm>
            <a:off x="4352400" y="476125"/>
            <a:ext cx="3631800" cy="45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Fragmentation pattern of </a:t>
            </a:r>
            <a:r>
              <a:rPr lang="en" u="sng"/>
              <a:t>high quality</a:t>
            </a:r>
            <a:r>
              <a:rPr lang="en"/>
              <a:t> RNA</a:t>
            </a:r>
            <a:endParaRPr/>
          </a:p>
        </p:txBody>
      </p:sp>
      <p:sp>
        <p:nvSpPr>
          <p:cNvPr id="208" name="Google Shape;208;p25"/>
          <p:cNvSpPr txBox="1"/>
          <p:nvPr/>
        </p:nvSpPr>
        <p:spPr>
          <a:xfrm>
            <a:off x="265475" y="2967750"/>
            <a:ext cx="2623800" cy="81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t>Use shorter fragmentation times when RNA quality is compromised!</a:t>
            </a:r>
            <a:endParaRPr sz="1500"/>
          </a:p>
        </p:txBody>
      </p:sp>
      <p:sp>
        <p:nvSpPr>
          <p:cNvPr id="209" name="Google Shape;209;p25"/>
          <p:cNvSpPr txBox="1"/>
          <p:nvPr/>
        </p:nvSpPr>
        <p:spPr>
          <a:xfrm>
            <a:off x="7165800" y="3871750"/>
            <a:ext cx="19782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2"/>
                </a:solidFill>
              </a:rPr>
              <a:t>Electropherogram from BioAnalyzer</a:t>
            </a:r>
            <a:endParaRPr>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10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38"/>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274" name="Google Shape;274;p3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pic>
        <p:nvPicPr>
          <p:cNvPr id="275" name="Google Shape;275;p38"/>
          <p:cNvPicPr preferRelativeResize="0"/>
          <p:nvPr/>
        </p:nvPicPr>
        <p:blipFill>
          <a:blip r:embed="rId4">
            <a:alphaModFix/>
          </a:blip>
          <a:stretch>
            <a:fillRect/>
          </a:stretch>
        </p:blipFill>
        <p:spPr>
          <a:xfrm>
            <a:off x="3797448" y="1008875"/>
            <a:ext cx="5275448" cy="3852849"/>
          </a:xfrm>
          <a:prstGeom prst="rect">
            <a:avLst/>
          </a:prstGeom>
          <a:noFill/>
          <a:ln>
            <a:noFill/>
          </a:ln>
        </p:spPr>
      </p:pic>
      <p:sp>
        <p:nvSpPr>
          <p:cNvPr id="276" name="Google Shape;276;p38"/>
          <p:cNvSpPr txBox="1"/>
          <p:nvPr/>
        </p:nvSpPr>
        <p:spPr>
          <a:xfrm>
            <a:off x="1225" y="862500"/>
            <a:ext cx="3298928" cy="31137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700" b="1" dirty="0">
                <a:solidFill>
                  <a:schemeClr val="dk1"/>
                </a:solidFill>
              </a:rPr>
              <a:t>STEP 3. dsDNA synthesis</a:t>
            </a:r>
            <a:endParaRPr sz="1700" dirty="0">
              <a:solidFill>
                <a:schemeClr val="dk1"/>
              </a:solidFill>
            </a:endParaRPr>
          </a:p>
          <a:p>
            <a:pPr marL="457200" lvl="0" indent="-323850" algn="l" rtl="0">
              <a:lnSpc>
                <a:spcPct val="200000"/>
              </a:lnSpc>
              <a:spcBef>
                <a:spcPts val="0"/>
              </a:spcBef>
              <a:spcAft>
                <a:spcPts val="0"/>
              </a:spcAft>
              <a:buSzPts val="1500"/>
              <a:buAutoNum type="arabicPeriod"/>
            </a:pPr>
            <a:r>
              <a:rPr lang="en" sz="1500" dirty="0"/>
              <a:t>First strand synthesis</a:t>
            </a:r>
            <a:endParaRPr sz="1500" dirty="0"/>
          </a:p>
          <a:p>
            <a:pPr marL="457200" lvl="0" indent="-323850" algn="l" rtl="0">
              <a:lnSpc>
                <a:spcPct val="200000"/>
              </a:lnSpc>
              <a:spcBef>
                <a:spcPts val="0"/>
              </a:spcBef>
              <a:spcAft>
                <a:spcPts val="0"/>
              </a:spcAft>
              <a:buSzPts val="1500"/>
              <a:buAutoNum type="arabicPeriod"/>
            </a:pPr>
            <a:r>
              <a:rPr lang="en" sz="1500" dirty="0"/>
              <a:t>Second strand synthesis</a:t>
            </a:r>
          </a:p>
          <a:p>
            <a:pPr marL="133350">
              <a:lnSpc>
                <a:spcPct val="200000"/>
              </a:lnSpc>
              <a:buSzPts val="1500"/>
            </a:pPr>
            <a:r>
              <a:rPr lang="en" sz="1500" dirty="0"/>
              <a:t>3. </a:t>
            </a:r>
            <a:r>
              <a:rPr lang="en-US" sz="1500" dirty="0"/>
              <a:t>Purify dsDNA by                                            SPRI bead clean-up (1.8x)</a:t>
            </a:r>
          </a:p>
          <a:p>
            <a:pPr marL="133350">
              <a:lnSpc>
                <a:spcPct val="200000"/>
              </a:lnSpc>
              <a:buSzPts val="1500"/>
            </a:pPr>
            <a:r>
              <a:rPr lang="en-US" sz="1500" dirty="0">
                <a:solidFill>
                  <a:srgbClr val="C00000"/>
                </a:solidFill>
              </a:rPr>
              <a:t>*</a:t>
            </a:r>
            <a:r>
              <a:rPr lang="en-US" sz="1500" dirty="0"/>
              <a:t>Depending on the kit, dsDNA is already end repaired</a:t>
            </a:r>
          </a:p>
          <a:p>
            <a:pPr marL="133350">
              <a:lnSpc>
                <a:spcPct val="200000"/>
              </a:lnSpc>
              <a:buSzPts val="1500"/>
            </a:pPr>
            <a:endParaRPr lang="en-US" sz="1500" dirty="0"/>
          </a:p>
          <a:p>
            <a:pPr marL="133350" lvl="0" algn="l" rtl="0">
              <a:lnSpc>
                <a:spcPct val="200000"/>
              </a:lnSpc>
              <a:spcBef>
                <a:spcPts val="0"/>
              </a:spcBef>
              <a:spcAft>
                <a:spcPts val="0"/>
              </a:spcAft>
              <a:buSzPts val="1500"/>
            </a:pPr>
            <a:endParaRPr sz="1500" dirty="0"/>
          </a:p>
          <a:p>
            <a:pPr marL="0" lvl="0" indent="0" algn="l" rtl="0">
              <a:lnSpc>
                <a:spcPct val="150000"/>
              </a:lnSpc>
              <a:spcBef>
                <a:spcPts val="0"/>
              </a:spcBef>
              <a:spcAft>
                <a:spcPts val="0"/>
              </a:spcAft>
              <a:buNone/>
            </a:pPr>
            <a:r>
              <a:rPr lang="en" sz="1500" dirty="0"/>
              <a:t>         </a:t>
            </a:r>
            <a:endParaRPr sz="1500" dirty="0"/>
          </a:p>
          <a:p>
            <a:pPr marL="0" lvl="0" indent="457200" algn="l" rtl="0">
              <a:lnSpc>
                <a:spcPct val="150000"/>
              </a:lnSpc>
              <a:spcBef>
                <a:spcPts val="0"/>
              </a:spcBef>
              <a:spcAft>
                <a:spcPts val="0"/>
              </a:spcAft>
              <a:buNone/>
            </a:pPr>
            <a:endParaRPr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39"/>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282" name="Google Shape;282;p39"/>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sp>
        <p:nvSpPr>
          <p:cNvPr id="283" name="Google Shape;283;p39"/>
          <p:cNvSpPr txBox="1"/>
          <p:nvPr/>
        </p:nvSpPr>
        <p:spPr>
          <a:xfrm>
            <a:off x="4975" y="906100"/>
            <a:ext cx="4606200" cy="39135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dirty="0">
                <a:solidFill>
                  <a:srgbClr val="000000"/>
                </a:solidFill>
              </a:rPr>
              <a:t>STEP </a:t>
            </a:r>
            <a:r>
              <a:rPr lang="en" sz="1700" b="1" dirty="0"/>
              <a:t>4</a:t>
            </a:r>
            <a:r>
              <a:rPr lang="en" sz="1700" b="1" dirty="0">
                <a:solidFill>
                  <a:srgbClr val="000000"/>
                </a:solidFill>
              </a:rPr>
              <a:t>. </a:t>
            </a:r>
            <a:r>
              <a:rPr lang="en" sz="1700" b="1" dirty="0"/>
              <a:t>End repair &amp; </a:t>
            </a:r>
            <a:r>
              <a:rPr lang="en" sz="1700" b="1" dirty="0" err="1"/>
              <a:t>dA</a:t>
            </a:r>
            <a:r>
              <a:rPr lang="en" sz="1700" b="1" dirty="0"/>
              <a:t>-tailing</a:t>
            </a:r>
            <a:endParaRPr sz="1700" dirty="0"/>
          </a:p>
          <a:p>
            <a:pPr marL="457200" marR="0" lvl="0" indent="-323850" algn="l" rtl="0">
              <a:lnSpc>
                <a:spcPct val="200000"/>
              </a:lnSpc>
              <a:spcBef>
                <a:spcPts val="0"/>
              </a:spcBef>
              <a:spcAft>
                <a:spcPts val="0"/>
              </a:spcAft>
              <a:buSzPts val="1500"/>
              <a:buAutoNum type="arabicPeriod"/>
            </a:pPr>
            <a:r>
              <a:rPr lang="en" sz="1500" dirty="0"/>
              <a:t>Remove overhangs to get blunt ends</a:t>
            </a:r>
            <a:endParaRPr sz="1500" dirty="0"/>
          </a:p>
          <a:p>
            <a:pPr marL="457200" marR="0" lvl="0" indent="-323850" algn="l" rtl="0">
              <a:lnSpc>
                <a:spcPct val="150000"/>
              </a:lnSpc>
              <a:spcBef>
                <a:spcPts val="0"/>
              </a:spcBef>
              <a:spcAft>
                <a:spcPts val="0"/>
              </a:spcAft>
              <a:buSzPts val="1500"/>
              <a:buAutoNum type="arabicPeriod"/>
            </a:pPr>
            <a:r>
              <a:rPr lang="en" sz="1500" dirty="0"/>
              <a:t>Prep fragment to clone on adapters</a:t>
            </a:r>
            <a:endParaRPr sz="1500" dirty="0"/>
          </a:p>
          <a:p>
            <a:pPr marL="914400" marR="0" lvl="1" indent="-311150" algn="l" rtl="0">
              <a:lnSpc>
                <a:spcPct val="150000"/>
              </a:lnSpc>
              <a:spcBef>
                <a:spcPts val="0"/>
              </a:spcBef>
              <a:spcAft>
                <a:spcPts val="0"/>
              </a:spcAft>
              <a:buSzPts val="1300"/>
              <a:buAutoNum type="alphaLcPeriod"/>
            </a:pPr>
            <a:r>
              <a:rPr lang="en" sz="1300" dirty="0"/>
              <a:t>Add 5’ phosphate (T4 kinase)</a:t>
            </a:r>
            <a:endParaRPr sz="1300" dirty="0"/>
          </a:p>
          <a:p>
            <a:pPr marL="914400" marR="0" lvl="1" indent="-311150" algn="l" rtl="0">
              <a:lnSpc>
                <a:spcPct val="150000"/>
              </a:lnSpc>
              <a:spcBef>
                <a:spcPts val="0"/>
              </a:spcBef>
              <a:spcAft>
                <a:spcPts val="0"/>
              </a:spcAft>
              <a:buSzPts val="1300"/>
              <a:buAutoNum type="alphaLcPeriod"/>
            </a:pPr>
            <a:r>
              <a:rPr lang="en" sz="1300" dirty="0"/>
              <a:t>Add single 3’ A overhang to clone on adapters</a:t>
            </a:r>
            <a:endParaRPr sz="1300" dirty="0"/>
          </a:p>
          <a:p>
            <a:pPr marL="0" marR="0" lvl="0" indent="0" algn="l" rtl="0">
              <a:lnSpc>
                <a:spcPct val="200000"/>
              </a:lnSpc>
              <a:spcBef>
                <a:spcPts val="0"/>
              </a:spcBef>
              <a:spcAft>
                <a:spcPts val="0"/>
              </a:spcAft>
              <a:buNone/>
            </a:pPr>
            <a:r>
              <a:rPr lang="en" sz="1300" dirty="0"/>
              <a:t>		(T4 DNA polymerase)</a:t>
            </a:r>
            <a:endParaRPr sz="1300" dirty="0"/>
          </a:p>
          <a:p>
            <a:pPr marL="0" marR="0" lvl="0" indent="0" algn="l" rtl="0">
              <a:lnSpc>
                <a:spcPct val="115000"/>
              </a:lnSpc>
              <a:spcBef>
                <a:spcPts val="0"/>
              </a:spcBef>
              <a:spcAft>
                <a:spcPts val="0"/>
              </a:spcAft>
              <a:buNone/>
            </a:pPr>
            <a:endParaRPr sz="1700" dirty="0"/>
          </a:p>
          <a:p>
            <a:pPr marL="0" marR="0" lvl="0" indent="0" algn="l" rtl="0">
              <a:lnSpc>
                <a:spcPct val="115000"/>
              </a:lnSpc>
              <a:spcBef>
                <a:spcPts val="0"/>
              </a:spcBef>
              <a:spcAft>
                <a:spcPts val="0"/>
              </a:spcAft>
              <a:buNone/>
            </a:pPr>
            <a:endParaRPr sz="1700" dirty="0"/>
          </a:p>
          <a:p>
            <a:pPr marL="0" marR="0" lvl="0" indent="0" algn="l" rtl="0">
              <a:lnSpc>
                <a:spcPct val="115000"/>
              </a:lnSpc>
              <a:spcBef>
                <a:spcPts val="0"/>
              </a:spcBef>
              <a:spcAft>
                <a:spcPts val="0"/>
              </a:spcAft>
              <a:buNone/>
            </a:pPr>
            <a:endParaRPr sz="1700" dirty="0"/>
          </a:p>
          <a:p>
            <a:pPr marL="19050" lvl="1" indent="0" algn="l" rtl="0">
              <a:lnSpc>
                <a:spcPct val="150000"/>
              </a:lnSpc>
              <a:spcBef>
                <a:spcPts val="0"/>
              </a:spcBef>
              <a:spcAft>
                <a:spcPts val="0"/>
              </a:spcAft>
              <a:buClr>
                <a:schemeClr val="dk1"/>
              </a:buClr>
              <a:buFont typeface="Arial"/>
              <a:buNone/>
            </a:pPr>
            <a:r>
              <a:rPr lang="en" sz="1300" dirty="0">
                <a:solidFill>
                  <a:schemeClr val="dk1"/>
                </a:solidFill>
                <a:latin typeface="Calibri"/>
                <a:ea typeface="Calibri"/>
                <a:cs typeface="Calibri"/>
                <a:sym typeface="Calibri"/>
              </a:rPr>
              <a:t>Note: After end-repair, move on to adapter ligation step ASAP </a:t>
            </a:r>
            <a:endParaRPr sz="1300" dirty="0">
              <a:solidFill>
                <a:schemeClr val="dk1"/>
              </a:solidFill>
              <a:latin typeface="Calibri"/>
              <a:ea typeface="Calibri"/>
              <a:cs typeface="Calibri"/>
              <a:sym typeface="Calibri"/>
            </a:endParaRPr>
          </a:p>
          <a:p>
            <a:pPr marL="19050" lvl="1" indent="408612" algn="l" rtl="0">
              <a:lnSpc>
                <a:spcPct val="150000"/>
              </a:lnSpc>
              <a:spcBef>
                <a:spcPts val="0"/>
              </a:spcBef>
              <a:spcAft>
                <a:spcPts val="0"/>
              </a:spcAft>
              <a:buClr>
                <a:schemeClr val="dk1"/>
              </a:buClr>
              <a:buFont typeface="Arial"/>
              <a:buNone/>
            </a:pPr>
            <a:r>
              <a:rPr lang="en" sz="1300" dirty="0">
                <a:solidFill>
                  <a:schemeClr val="dk1"/>
                </a:solidFill>
                <a:latin typeface="Calibri"/>
                <a:ea typeface="Calibri"/>
                <a:cs typeface="Calibri"/>
                <a:sym typeface="Calibri"/>
              </a:rPr>
              <a:t>(5’ phosphate is fragile)</a:t>
            </a:r>
          </a:p>
        </p:txBody>
      </p:sp>
      <p:pic>
        <p:nvPicPr>
          <p:cNvPr id="284" name="Google Shape;284;p39"/>
          <p:cNvPicPr preferRelativeResize="0"/>
          <p:nvPr/>
        </p:nvPicPr>
        <p:blipFill>
          <a:blip r:embed="rId4">
            <a:alphaModFix/>
          </a:blip>
          <a:stretch>
            <a:fillRect/>
          </a:stretch>
        </p:blipFill>
        <p:spPr>
          <a:xfrm>
            <a:off x="4763575" y="1291555"/>
            <a:ext cx="4228025" cy="2319423"/>
          </a:xfrm>
          <a:prstGeom prst="rect">
            <a:avLst/>
          </a:prstGeom>
          <a:noFill/>
          <a:ln>
            <a:noFill/>
          </a:ln>
        </p:spPr>
      </p:pic>
      <p:sp>
        <p:nvSpPr>
          <p:cNvPr id="2" name="TextBox 1">
            <a:extLst>
              <a:ext uri="{FF2B5EF4-FFF2-40B4-BE49-F238E27FC236}">
                <a16:creationId xmlns:a16="http://schemas.microsoft.com/office/drawing/2014/main" id="{82DA51AD-3E25-AB01-D491-3F638FAC3BC0}"/>
              </a:ext>
            </a:extLst>
          </p:cNvPr>
          <p:cNvSpPr txBox="1"/>
          <p:nvPr/>
        </p:nvSpPr>
        <p:spPr>
          <a:xfrm>
            <a:off x="5098857" y="4746567"/>
            <a:ext cx="4228024" cy="461665"/>
          </a:xfrm>
          <a:prstGeom prst="rect">
            <a:avLst/>
          </a:prstGeom>
          <a:noFill/>
        </p:spPr>
        <p:txBody>
          <a:bodyPr wrap="square" rtlCol="0">
            <a:spAutoFit/>
          </a:bodyPr>
          <a:lstStyle/>
          <a:p>
            <a:r>
              <a:rPr lang="en-US" sz="1000" dirty="0">
                <a:solidFill>
                  <a:schemeClr val="dk1"/>
                </a:solidFill>
                <a:latin typeface="Calibri"/>
                <a:cs typeface="Calibri"/>
                <a:sym typeface="Calibri"/>
              </a:rPr>
              <a:t>*Some kits obviate this step, the repair occurs during dsDNA synthesis</a:t>
            </a:r>
            <a:endParaRPr lang="en-US" sz="1000"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0"/>
          <p:cNvSpPr txBox="1"/>
          <p:nvPr/>
        </p:nvSpPr>
        <p:spPr>
          <a:xfrm>
            <a:off x="4975" y="906100"/>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 sz="1700" b="1">
                <a:solidFill>
                  <a:srgbClr val="000000"/>
                </a:solidFill>
              </a:rPr>
              <a:t>STEP </a:t>
            </a:r>
            <a:r>
              <a:rPr lang="en" sz="1700" b="1"/>
              <a:t>5</a:t>
            </a:r>
            <a:r>
              <a:rPr lang="en" sz="1700" b="1">
                <a:solidFill>
                  <a:srgbClr val="000000"/>
                </a:solidFill>
              </a:rPr>
              <a:t>. </a:t>
            </a:r>
            <a:r>
              <a:rPr lang="en" sz="1700" b="1"/>
              <a:t>Adapter ligation</a:t>
            </a:r>
            <a:endParaRPr sz="1700"/>
          </a:p>
          <a:p>
            <a:pPr marL="457200" marR="0" lvl="0" indent="-323850" algn="l" rtl="0">
              <a:lnSpc>
                <a:spcPct val="200000"/>
              </a:lnSpc>
              <a:spcBef>
                <a:spcPts val="0"/>
              </a:spcBef>
              <a:spcAft>
                <a:spcPts val="0"/>
              </a:spcAft>
              <a:buSzPts val="1500"/>
              <a:buAutoNum type="arabicPeriod"/>
            </a:pPr>
            <a:r>
              <a:rPr lang="en" sz="1500"/>
              <a:t>Adapters are added to allow sequencing</a:t>
            </a:r>
            <a:endParaRPr sz="15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1700"/>
          </a:p>
          <a:p>
            <a:pPr marL="0" marR="0" lvl="0" indent="0" algn="l" rtl="0">
              <a:lnSpc>
                <a:spcPct val="200000"/>
              </a:lnSpc>
              <a:spcBef>
                <a:spcPts val="0"/>
              </a:spcBef>
              <a:spcAft>
                <a:spcPts val="0"/>
              </a:spcAft>
              <a:buNone/>
            </a:pPr>
            <a:endParaRPr sz="2600"/>
          </a:p>
          <a:p>
            <a:pPr marL="457200" marR="0" lvl="0" indent="-323850" algn="l" rtl="0">
              <a:lnSpc>
                <a:spcPct val="150000"/>
              </a:lnSpc>
              <a:spcBef>
                <a:spcPts val="0"/>
              </a:spcBef>
              <a:spcAft>
                <a:spcPts val="0"/>
              </a:spcAft>
              <a:buSzPts val="1500"/>
              <a:buAutoNum type="arabicPeriod"/>
            </a:pPr>
            <a:r>
              <a:rPr lang="en" sz="1500"/>
              <a:t>Remove adapter dimers by SPRI bead clean-up (0.9x)</a:t>
            </a:r>
            <a:endParaRPr sz="1500"/>
          </a:p>
          <a:p>
            <a:pPr marL="19050" lvl="1" indent="438150" algn="l" rtl="0">
              <a:lnSpc>
                <a:spcPct val="150000"/>
              </a:lnSpc>
              <a:spcBef>
                <a:spcPts val="0"/>
              </a:spcBef>
              <a:spcAft>
                <a:spcPts val="0"/>
              </a:spcAft>
              <a:buClr>
                <a:schemeClr val="dk1"/>
              </a:buClr>
              <a:buFont typeface="Arial"/>
              <a:buNone/>
            </a:pPr>
            <a:r>
              <a:rPr lang="en" sz="1300">
                <a:solidFill>
                  <a:schemeClr val="dk1"/>
                </a:solidFill>
              </a:rPr>
              <a:t>Adapter dimers are our enemy #1 after this step (short fragments get preferentially sequenced)</a:t>
            </a:r>
            <a:endParaRPr sz="1300"/>
          </a:p>
        </p:txBody>
      </p:sp>
      <p:pic>
        <p:nvPicPr>
          <p:cNvPr id="290" name="Google Shape;290;p40"/>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291" name="Google Shape;291;p40"/>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pic>
        <p:nvPicPr>
          <p:cNvPr id="292" name="Google Shape;292;p40"/>
          <p:cNvPicPr preferRelativeResize="0"/>
          <p:nvPr/>
        </p:nvPicPr>
        <p:blipFill>
          <a:blip r:embed="rId4">
            <a:alphaModFix/>
          </a:blip>
          <a:stretch>
            <a:fillRect/>
          </a:stretch>
        </p:blipFill>
        <p:spPr>
          <a:xfrm>
            <a:off x="4119925" y="1933989"/>
            <a:ext cx="4539150" cy="1275523"/>
          </a:xfrm>
          <a:prstGeom prst="rect">
            <a:avLst/>
          </a:prstGeom>
          <a:noFill/>
          <a:ln>
            <a:noFill/>
          </a:ln>
        </p:spPr>
      </p:pic>
      <p:pic>
        <p:nvPicPr>
          <p:cNvPr id="293" name="Google Shape;293;p40"/>
          <p:cNvPicPr preferRelativeResize="0"/>
          <p:nvPr/>
        </p:nvPicPr>
        <p:blipFill>
          <a:blip r:embed="rId5">
            <a:alphaModFix/>
          </a:blip>
          <a:stretch>
            <a:fillRect/>
          </a:stretch>
        </p:blipFill>
        <p:spPr>
          <a:xfrm>
            <a:off x="542966" y="4423725"/>
            <a:ext cx="1085508" cy="405000"/>
          </a:xfrm>
          <a:prstGeom prst="rect">
            <a:avLst/>
          </a:prstGeom>
          <a:noFill/>
          <a:ln>
            <a:noFill/>
          </a:ln>
        </p:spPr>
      </p:pic>
      <p:sp>
        <p:nvSpPr>
          <p:cNvPr id="294" name="Google Shape;294;p40"/>
          <p:cNvSpPr/>
          <p:nvPr/>
        </p:nvSpPr>
        <p:spPr>
          <a:xfrm>
            <a:off x="4120525" y="2933425"/>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5" name="Google Shape;295;p40"/>
          <p:cNvSpPr/>
          <p:nvPr/>
        </p:nvSpPr>
        <p:spPr>
          <a:xfrm>
            <a:off x="6514250" y="2897950"/>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6" name="Google Shape;296;p40"/>
          <p:cNvSpPr/>
          <p:nvPr/>
        </p:nvSpPr>
        <p:spPr>
          <a:xfrm>
            <a:off x="8535175" y="2392575"/>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7" name="Google Shape;297;p40"/>
          <p:cNvSpPr/>
          <p:nvPr/>
        </p:nvSpPr>
        <p:spPr>
          <a:xfrm>
            <a:off x="1504575" y="4554075"/>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8" name="Google Shape;298;p40"/>
          <p:cNvSpPr/>
          <p:nvPr/>
        </p:nvSpPr>
        <p:spPr>
          <a:xfrm>
            <a:off x="542975" y="4554075"/>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9" name="Google Shape;299;p40"/>
          <p:cNvSpPr/>
          <p:nvPr/>
        </p:nvSpPr>
        <p:spPr>
          <a:xfrm>
            <a:off x="4139291" y="2711950"/>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0" name="Google Shape;300;p40"/>
          <p:cNvSpPr/>
          <p:nvPr/>
        </p:nvSpPr>
        <p:spPr>
          <a:xfrm>
            <a:off x="6225400" y="272952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40"/>
          <p:cNvSpPr/>
          <p:nvPr/>
        </p:nvSpPr>
        <p:spPr>
          <a:xfrm>
            <a:off x="8281675" y="220657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02;p40"/>
          <p:cNvSpPr/>
          <p:nvPr/>
        </p:nvSpPr>
        <p:spPr>
          <a:xfrm>
            <a:off x="1251075" y="436807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40"/>
          <p:cNvSpPr/>
          <p:nvPr/>
        </p:nvSpPr>
        <p:spPr>
          <a:xfrm>
            <a:off x="515589" y="4368075"/>
            <a:ext cx="377400" cy="516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08" name="Google Shape;308;p41"/>
          <p:cNvPicPr preferRelativeResize="0"/>
          <p:nvPr/>
        </p:nvPicPr>
        <p:blipFill rotWithShape="1">
          <a:blip r:embed="rId3">
            <a:alphaModFix/>
          </a:blip>
          <a:srcRect l="6929" r="77509" b="82378"/>
          <a:stretch/>
        </p:blipFill>
        <p:spPr>
          <a:xfrm>
            <a:off x="5408138" y="485075"/>
            <a:ext cx="1622635" cy="1196601"/>
          </a:xfrm>
          <a:prstGeom prst="rect">
            <a:avLst/>
          </a:prstGeom>
          <a:noFill/>
          <a:ln>
            <a:noFill/>
          </a:ln>
        </p:spPr>
      </p:pic>
      <p:sp>
        <p:nvSpPr>
          <p:cNvPr id="309" name="Google Shape;309;p41"/>
          <p:cNvSpPr txBox="1"/>
          <p:nvPr/>
        </p:nvSpPr>
        <p:spPr>
          <a:xfrm>
            <a:off x="113075" y="936725"/>
            <a:ext cx="4141800" cy="1769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700" b="1">
                <a:solidFill>
                  <a:srgbClr val="000000"/>
                </a:solidFill>
              </a:rPr>
              <a:t>STEP </a:t>
            </a:r>
            <a:r>
              <a:rPr lang="en" sz="1700" b="1"/>
              <a:t>6</a:t>
            </a:r>
            <a:r>
              <a:rPr lang="en" sz="1700" b="1">
                <a:solidFill>
                  <a:srgbClr val="000000"/>
                </a:solidFill>
              </a:rPr>
              <a:t>. </a:t>
            </a:r>
            <a:endParaRPr sz="1700" b="1">
              <a:solidFill>
                <a:srgbClr val="000000"/>
              </a:solidFill>
            </a:endParaRPr>
          </a:p>
          <a:p>
            <a:pPr marL="0" marR="0" lvl="0" indent="0" algn="l" rtl="0">
              <a:lnSpc>
                <a:spcPct val="115000"/>
              </a:lnSpc>
              <a:spcBef>
                <a:spcPts val="0"/>
              </a:spcBef>
              <a:spcAft>
                <a:spcPts val="0"/>
              </a:spcAft>
              <a:buNone/>
            </a:pPr>
            <a:r>
              <a:rPr lang="en" sz="1700" b="1"/>
              <a:t>Barcoding PCR</a:t>
            </a:r>
            <a:endParaRPr sz="1500"/>
          </a:p>
          <a:p>
            <a:pPr marL="457200" marR="0" lvl="0" indent="-323850" algn="l" rtl="0">
              <a:lnSpc>
                <a:spcPct val="115000"/>
              </a:lnSpc>
              <a:spcBef>
                <a:spcPts val="0"/>
              </a:spcBef>
              <a:spcAft>
                <a:spcPts val="0"/>
              </a:spcAft>
              <a:buSzPts val="1500"/>
              <a:buAutoNum type="arabicPeriod"/>
            </a:pPr>
            <a:r>
              <a:rPr lang="en" sz="1500"/>
              <a:t>i5 and i7 oligos are added by PCR, along with unique barcodes per sample</a:t>
            </a:r>
            <a:endParaRPr sz="1300"/>
          </a:p>
          <a:p>
            <a:pPr marL="457200" marR="0" lvl="0" indent="-323850" algn="l" rtl="0">
              <a:lnSpc>
                <a:spcPct val="100000"/>
              </a:lnSpc>
              <a:spcBef>
                <a:spcPts val="0"/>
              </a:spcBef>
              <a:spcAft>
                <a:spcPts val="0"/>
              </a:spcAft>
              <a:buSzPts val="1500"/>
              <a:buAutoNum type="arabicPeriod"/>
            </a:pPr>
            <a:r>
              <a:rPr lang="en" sz="1500"/>
              <a:t>SPRI bead clean-up (0.8x) </a:t>
            </a:r>
            <a:endParaRPr sz="1500"/>
          </a:p>
        </p:txBody>
      </p:sp>
      <p:pic>
        <p:nvPicPr>
          <p:cNvPr id="310" name="Google Shape;310;p41"/>
          <p:cNvPicPr preferRelativeResize="0"/>
          <p:nvPr/>
        </p:nvPicPr>
        <p:blipFill rotWithShape="1">
          <a:blip r:embed="rId4">
            <a:alphaModFix/>
          </a:blip>
          <a:srcRect b="50615"/>
          <a:stretch/>
        </p:blipFill>
        <p:spPr>
          <a:xfrm>
            <a:off x="113075" y="336563"/>
            <a:ext cx="750124" cy="405024"/>
          </a:xfrm>
          <a:prstGeom prst="rect">
            <a:avLst/>
          </a:prstGeom>
          <a:noFill/>
          <a:ln>
            <a:noFill/>
          </a:ln>
        </p:spPr>
      </p:pic>
      <p:sp>
        <p:nvSpPr>
          <p:cNvPr id="311" name="Google Shape;311;p41"/>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sp>
        <p:nvSpPr>
          <p:cNvPr id="312" name="Google Shape;312;p41"/>
          <p:cNvSpPr txBox="1"/>
          <p:nvPr/>
        </p:nvSpPr>
        <p:spPr>
          <a:xfrm>
            <a:off x="7879850" y="4829550"/>
            <a:ext cx="479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313" name="Google Shape;313;p41"/>
          <p:cNvSpPr/>
          <p:nvPr/>
        </p:nvSpPr>
        <p:spPr>
          <a:xfrm>
            <a:off x="8982400" y="4931525"/>
            <a:ext cx="81300" cy="113700"/>
          </a:xfrm>
          <a:prstGeom prst="star4">
            <a:avLst>
              <a:gd name="adj" fmla="val 1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1"/>
          <p:cNvSpPr/>
          <p:nvPr/>
        </p:nvSpPr>
        <p:spPr>
          <a:xfrm>
            <a:off x="6085000" y="2646075"/>
            <a:ext cx="208200" cy="2181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5" name="Google Shape;315;p41"/>
          <p:cNvPicPr preferRelativeResize="0"/>
          <p:nvPr/>
        </p:nvPicPr>
        <p:blipFill rotWithShape="1">
          <a:blip r:embed="rId3">
            <a:alphaModFix/>
          </a:blip>
          <a:srcRect l="1495" t="35554" r="68540" b="34319"/>
          <a:stretch/>
        </p:blipFill>
        <p:spPr>
          <a:xfrm>
            <a:off x="5050400" y="2929225"/>
            <a:ext cx="3124574" cy="2045798"/>
          </a:xfrm>
          <a:prstGeom prst="rect">
            <a:avLst/>
          </a:prstGeom>
          <a:noFill/>
          <a:ln>
            <a:noFill/>
          </a:ln>
        </p:spPr>
      </p:pic>
      <p:sp>
        <p:nvSpPr>
          <p:cNvPr id="316" name="Google Shape;316;p41"/>
          <p:cNvSpPr/>
          <p:nvPr/>
        </p:nvSpPr>
        <p:spPr>
          <a:xfrm>
            <a:off x="6261000" y="1780675"/>
            <a:ext cx="1147200" cy="2520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7" name="Google Shape;317;p41"/>
          <p:cNvPicPr preferRelativeResize="0"/>
          <p:nvPr/>
        </p:nvPicPr>
        <p:blipFill rotWithShape="1">
          <a:blip r:embed="rId3">
            <a:alphaModFix/>
          </a:blip>
          <a:srcRect l="6929" t="10876" r="77509" b="85413"/>
          <a:stretch/>
        </p:blipFill>
        <p:spPr>
          <a:xfrm>
            <a:off x="5408150" y="2214199"/>
            <a:ext cx="1622626" cy="252002"/>
          </a:xfrm>
          <a:prstGeom prst="rect">
            <a:avLst/>
          </a:prstGeom>
          <a:noFill/>
          <a:ln>
            <a:noFill/>
          </a:ln>
        </p:spPr>
      </p:pic>
      <p:pic>
        <p:nvPicPr>
          <p:cNvPr id="318" name="Google Shape;318;p41"/>
          <p:cNvPicPr preferRelativeResize="0"/>
          <p:nvPr/>
        </p:nvPicPr>
        <p:blipFill rotWithShape="1">
          <a:blip r:embed="rId3">
            <a:alphaModFix/>
          </a:blip>
          <a:srcRect l="6929" t="13950" r="77509" b="82339"/>
          <a:stretch/>
        </p:blipFill>
        <p:spPr>
          <a:xfrm>
            <a:off x="5408150" y="2677872"/>
            <a:ext cx="1622626" cy="252002"/>
          </a:xfrm>
          <a:prstGeom prst="rect">
            <a:avLst/>
          </a:prstGeom>
          <a:noFill/>
          <a:ln>
            <a:noFill/>
          </a:ln>
        </p:spPr>
      </p:pic>
      <p:cxnSp>
        <p:nvCxnSpPr>
          <p:cNvPr id="319" name="Google Shape;319;p41"/>
          <p:cNvCxnSpPr>
            <a:stCxn id="308" idx="2"/>
            <a:endCxn id="317" idx="0"/>
          </p:cNvCxnSpPr>
          <p:nvPr/>
        </p:nvCxnSpPr>
        <p:spPr>
          <a:xfrm>
            <a:off x="6219455" y="1681676"/>
            <a:ext cx="0" cy="532500"/>
          </a:xfrm>
          <a:prstGeom prst="straightConnector1">
            <a:avLst/>
          </a:prstGeom>
          <a:noFill/>
          <a:ln w="9525" cap="flat" cmpd="sng">
            <a:solidFill>
              <a:schemeClr val="dk2"/>
            </a:solidFill>
            <a:prstDash val="solid"/>
            <a:round/>
            <a:headEnd type="none" w="med" len="med"/>
            <a:tailEnd type="triangle" w="med" len="med"/>
          </a:ln>
        </p:spPr>
      </p:cxnSp>
      <p:sp>
        <p:nvSpPr>
          <p:cNvPr id="320" name="Google Shape;320;p41"/>
          <p:cNvSpPr txBox="1"/>
          <p:nvPr/>
        </p:nvSpPr>
        <p:spPr>
          <a:xfrm>
            <a:off x="6293200" y="1763288"/>
            <a:ext cx="2839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rPr>
              <a:t>Denaturation</a:t>
            </a:r>
            <a:endParaRPr sz="1200">
              <a:solidFill>
                <a:schemeClr val="dk2"/>
              </a:solidFill>
            </a:endParaRPr>
          </a:p>
        </p:txBody>
      </p:sp>
      <p:sp>
        <p:nvSpPr>
          <p:cNvPr id="321" name="Google Shape;321;p41"/>
          <p:cNvSpPr txBox="1"/>
          <p:nvPr/>
        </p:nvSpPr>
        <p:spPr>
          <a:xfrm>
            <a:off x="5077450" y="2181266"/>
            <a:ext cx="397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rPr>
              <a:t>5’-</a:t>
            </a:r>
            <a:endParaRPr sz="1200">
              <a:solidFill>
                <a:schemeClr val="dk1"/>
              </a:solidFill>
            </a:endParaRPr>
          </a:p>
        </p:txBody>
      </p:sp>
      <p:sp>
        <p:nvSpPr>
          <p:cNvPr id="322" name="Google Shape;322;p41"/>
          <p:cNvSpPr txBox="1"/>
          <p:nvPr/>
        </p:nvSpPr>
        <p:spPr>
          <a:xfrm>
            <a:off x="7009002" y="2588818"/>
            <a:ext cx="397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rPr>
              <a:t>- 5’</a:t>
            </a:r>
            <a:endParaRPr sz="1200">
              <a:solidFill>
                <a:schemeClr val="dk1"/>
              </a:solidFill>
            </a:endParaRPr>
          </a:p>
        </p:txBody>
      </p:sp>
      <p:sp>
        <p:nvSpPr>
          <p:cNvPr id="323" name="Google Shape;323;p41"/>
          <p:cNvSpPr txBox="1"/>
          <p:nvPr/>
        </p:nvSpPr>
        <p:spPr>
          <a:xfrm>
            <a:off x="5077450" y="2562266"/>
            <a:ext cx="397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rPr>
              <a:t>3’-</a:t>
            </a:r>
            <a:endParaRPr sz="1200">
              <a:solidFill>
                <a:schemeClr val="dk1"/>
              </a:solidFill>
            </a:endParaRPr>
          </a:p>
        </p:txBody>
      </p:sp>
      <p:sp>
        <p:nvSpPr>
          <p:cNvPr id="324" name="Google Shape;324;p41"/>
          <p:cNvSpPr txBox="1"/>
          <p:nvPr/>
        </p:nvSpPr>
        <p:spPr>
          <a:xfrm>
            <a:off x="7009002" y="2178030"/>
            <a:ext cx="397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rPr>
              <a:t>- 3’</a:t>
            </a:r>
            <a:endParaRPr sz="1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43"/>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351" name="Google Shape;351;p43"/>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sp>
        <p:nvSpPr>
          <p:cNvPr id="352" name="Google Shape;352;p43"/>
          <p:cNvSpPr txBox="1"/>
          <p:nvPr/>
        </p:nvSpPr>
        <p:spPr>
          <a:xfrm>
            <a:off x="7879850" y="4829550"/>
            <a:ext cx="479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pic>
        <p:nvPicPr>
          <p:cNvPr id="353" name="Google Shape;353;p43"/>
          <p:cNvPicPr preferRelativeResize="0"/>
          <p:nvPr/>
        </p:nvPicPr>
        <p:blipFill rotWithShape="1">
          <a:blip r:embed="rId4">
            <a:alphaModFix/>
          </a:blip>
          <a:srcRect l="1293" r="68207" b="34319"/>
          <a:stretch/>
        </p:blipFill>
        <p:spPr>
          <a:xfrm>
            <a:off x="3948650" y="938200"/>
            <a:ext cx="2484296" cy="3569650"/>
          </a:xfrm>
          <a:prstGeom prst="rect">
            <a:avLst/>
          </a:prstGeom>
          <a:noFill/>
          <a:ln>
            <a:noFill/>
          </a:ln>
        </p:spPr>
      </p:pic>
      <p:sp>
        <p:nvSpPr>
          <p:cNvPr id="354" name="Google Shape;354;p43"/>
          <p:cNvSpPr/>
          <p:nvPr/>
        </p:nvSpPr>
        <p:spPr>
          <a:xfrm>
            <a:off x="8982400" y="4931525"/>
            <a:ext cx="81300" cy="113700"/>
          </a:xfrm>
          <a:prstGeom prst="star4">
            <a:avLst>
              <a:gd name="adj" fmla="val 1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5" name="Google Shape;355;p43"/>
          <p:cNvPicPr preferRelativeResize="0"/>
          <p:nvPr/>
        </p:nvPicPr>
        <p:blipFill rotWithShape="1">
          <a:blip r:embed="rId4">
            <a:alphaModFix/>
          </a:blip>
          <a:srcRect l="35007" t="-2225" r="35600" b="59850"/>
          <a:stretch/>
        </p:blipFill>
        <p:spPr>
          <a:xfrm>
            <a:off x="6405889" y="825425"/>
            <a:ext cx="2454010" cy="2360513"/>
          </a:xfrm>
          <a:prstGeom prst="rect">
            <a:avLst/>
          </a:prstGeom>
          <a:noFill/>
          <a:ln>
            <a:noFill/>
          </a:ln>
        </p:spPr>
      </p:pic>
      <p:pic>
        <p:nvPicPr>
          <p:cNvPr id="356" name="Google Shape;356;p43"/>
          <p:cNvPicPr preferRelativeResize="0"/>
          <p:nvPr/>
        </p:nvPicPr>
        <p:blipFill rotWithShape="1">
          <a:blip r:embed="rId4">
            <a:alphaModFix/>
          </a:blip>
          <a:srcRect l="71255" t="93051"/>
          <a:stretch/>
        </p:blipFill>
        <p:spPr>
          <a:xfrm>
            <a:off x="6316860" y="3476715"/>
            <a:ext cx="2399905" cy="387084"/>
          </a:xfrm>
          <a:prstGeom prst="rect">
            <a:avLst/>
          </a:prstGeom>
          <a:noFill/>
          <a:ln>
            <a:noFill/>
          </a:ln>
        </p:spPr>
      </p:pic>
      <p:cxnSp>
        <p:nvCxnSpPr>
          <p:cNvPr id="357" name="Google Shape;357;p43"/>
          <p:cNvCxnSpPr/>
          <p:nvPr/>
        </p:nvCxnSpPr>
        <p:spPr>
          <a:xfrm>
            <a:off x="7510366" y="3218882"/>
            <a:ext cx="12900" cy="225000"/>
          </a:xfrm>
          <a:prstGeom prst="straightConnector1">
            <a:avLst/>
          </a:prstGeom>
          <a:noFill/>
          <a:ln w="9525" cap="flat" cmpd="sng">
            <a:solidFill>
              <a:schemeClr val="dk2"/>
            </a:solidFill>
            <a:prstDash val="solid"/>
            <a:round/>
            <a:headEnd type="none" w="med" len="med"/>
            <a:tailEnd type="triangle" w="med" len="med"/>
          </a:ln>
        </p:spPr>
      </p:cxnSp>
      <p:sp>
        <p:nvSpPr>
          <p:cNvPr id="358" name="Google Shape;358;p43"/>
          <p:cNvSpPr txBox="1"/>
          <p:nvPr/>
        </p:nvSpPr>
        <p:spPr>
          <a:xfrm>
            <a:off x="113075" y="936725"/>
            <a:ext cx="3746100" cy="1769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700" b="1">
                <a:solidFill>
                  <a:srgbClr val="000000"/>
                </a:solidFill>
              </a:rPr>
              <a:t>STEP </a:t>
            </a:r>
            <a:r>
              <a:rPr lang="en" sz="1700" b="1"/>
              <a:t>6</a:t>
            </a:r>
            <a:r>
              <a:rPr lang="en" sz="1700" b="1">
                <a:solidFill>
                  <a:srgbClr val="000000"/>
                </a:solidFill>
              </a:rPr>
              <a:t>. </a:t>
            </a:r>
            <a:endParaRPr sz="1700" b="1">
              <a:solidFill>
                <a:srgbClr val="000000"/>
              </a:solidFill>
            </a:endParaRPr>
          </a:p>
          <a:p>
            <a:pPr marL="0" marR="0" lvl="0" indent="0" algn="l" rtl="0">
              <a:lnSpc>
                <a:spcPct val="115000"/>
              </a:lnSpc>
              <a:spcBef>
                <a:spcPts val="0"/>
              </a:spcBef>
              <a:spcAft>
                <a:spcPts val="0"/>
              </a:spcAft>
              <a:buNone/>
            </a:pPr>
            <a:r>
              <a:rPr lang="en" sz="1700" b="1"/>
              <a:t>Barcoding PCR</a:t>
            </a:r>
            <a:endParaRPr sz="1500"/>
          </a:p>
          <a:p>
            <a:pPr marL="457200" marR="0" lvl="0" indent="-323850" algn="l" rtl="0">
              <a:lnSpc>
                <a:spcPct val="115000"/>
              </a:lnSpc>
              <a:spcBef>
                <a:spcPts val="0"/>
              </a:spcBef>
              <a:spcAft>
                <a:spcPts val="0"/>
              </a:spcAft>
              <a:buSzPts val="1500"/>
              <a:buAutoNum type="arabicPeriod"/>
            </a:pPr>
            <a:r>
              <a:rPr lang="en" sz="1500"/>
              <a:t>i5 and i7 oligos are added by PCR, along with unique barcodes per sample</a:t>
            </a:r>
            <a:endParaRPr sz="1300"/>
          </a:p>
          <a:p>
            <a:pPr marL="457200" marR="0" lvl="0" indent="-323850" algn="l" rtl="0">
              <a:lnSpc>
                <a:spcPct val="100000"/>
              </a:lnSpc>
              <a:spcBef>
                <a:spcPts val="0"/>
              </a:spcBef>
              <a:spcAft>
                <a:spcPts val="0"/>
              </a:spcAft>
              <a:buSzPts val="1500"/>
              <a:buAutoNum type="arabicPeriod"/>
            </a:pPr>
            <a:r>
              <a:rPr lang="en" sz="1500"/>
              <a:t>SPRI bead clean-up (0.8x) </a:t>
            </a:r>
            <a:endParaRPr sz="1500"/>
          </a:p>
        </p:txBody>
      </p:sp>
      <p:sp>
        <p:nvSpPr>
          <p:cNvPr id="359" name="Google Shape;359;p43"/>
          <p:cNvSpPr/>
          <p:nvPr/>
        </p:nvSpPr>
        <p:spPr>
          <a:xfrm>
            <a:off x="4096000" y="1654625"/>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 name="Google Shape;360;p43"/>
          <p:cNvSpPr/>
          <p:nvPr/>
        </p:nvSpPr>
        <p:spPr>
          <a:xfrm>
            <a:off x="5867975" y="1621400"/>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 name="Google Shape;361;p43"/>
          <p:cNvSpPr/>
          <p:nvPr/>
        </p:nvSpPr>
        <p:spPr>
          <a:xfrm>
            <a:off x="5070681" y="1993825"/>
            <a:ext cx="9213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 name="Google Shape;362;p43"/>
          <p:cNvSpPr/>
          <p:nvPr/>
        </p:nvSpPr>
        <p:spPr>
          <a:xfrm>
            <a:off x="3812950" y="605700"/>
            <a:ext cx="2164500" cy="2134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3" name="Google Shape;363;p43"/>
          <p:cNvPicPr preferRelativeResize="0"/>
          <p:nvPr/>
        </p:nvPicPr>
        <p:blipFill rotWithShape="1">
          <a:blip r:embed="rId5">
            <a:alphaModFix/>
          </a:blip>
          <a:srcRect b="7604"/>
          <a:stretch/>
        </p:blipFill>
        <p:spPr>
          <a:xfrm>
            <a:off x="3722450" y="704326"/>
            <a:ext cx="2345500" cy="1970175"/>
          </a:xfrm>
          <a:prstGeom prst="rect">
            <a:avLst/>
          </a:prstGeom>
          <a:solidFill>
            <a:schemeClr val="lt1"/>
          </a:solid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pic>
        <p:nvPicPr>
          <p:cNvPr id="368" name="Google Shape;368;p44"/>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369" name="Google Shape;369;p44"/>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library prep</a:t>
            </a:r>
            <a:endParaRPr/>
          </a:p>
        </p:txBody>
      </p:sp>
      <p:sp>
        <p:nvSpPr>
          <p:cNvPr id="370" name="Google Shape;370;p44"/>
          <p:cNvSpPr txBox="1"/>
          <p:nvPr/>
        </p:nvSpPr>
        <p:spPr>
          <a:xfrm>
            <a:off x="7879850" y="4829550"/>
            <a:ext cx="479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pic>
        <p:nvPicPr>
          <p:cNvPr id="371" name="Google Shape;371;p44"/>
          <p:cNvPicPr preferRelativeResize="0"/>
          <p:nvPr/>
        </p:nvPicPr>
        <p:blipFill rotWithShape="1">
          <a:blip r:embed="rId4">
            <a:alphaModFix/>
          </a:blip>
          <a:srcRect l="1293" r="68207" b="34319"/>
          <a:stretch/>
        </p:blipFill>
        <p:spPr>
          <a:xfrm>
            <a:off x="3948650" y="938200"/>
            <a:ext cx="2484296" cy="3569650"/>
          </a:xfrm>
          <a:prstGeom prst="rect">
            <a:avLst/>
          </a:prstGeom>
          <a:noFill/>
          <a:ln>
            <a:noFill/>
          </a:ln>
        </p:spPr>
      </p:pic>
      <p:sp>
        <p:nvSpPr>
          <p:cNvPr id="372" name="Google Shape;372;p44"/>
          <p:cNvSpPr/>
          <p:nvPr/>
        </p:nvSpPr>
        <p:spPr>
          <a:xfrm>
            <a:off x="8982400" y="4931525"/>
            <a:ext cx="81300" cy="113700"/>
          </a:xfrm>
          <a:prstGeom prst="star4">
            <a:avLst>
              <a:gd name="adj" fmla="val 1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3" name="Google Shape;373;p44"/>
          <p:cNvPicPr preferRelativeResize="0"/>
          <p:nvPr/>
        </p:nvPicPr>
        <p:blipFill rotWithShape="1">
          <a:blip r:embed="rId4">
            <a:alphaModFix/>
          </a:blip>
          <a:srcRect l="35007" t="-2225" r="35600" b="59850"/>
          <a:stretch/>
        </p:blipFill>
        <p:spPr>
          <a:xfrm>
            <a:off x="6405889" y="825425"/>
            <a:ext cx="2454010" cy="2360513"/>
          </a:xfrm>
          <a:prstGeom prst="rect">
            <a:avLst/>
          </a:prstGeom>
          <a:noFill/>
          <a:ln>
            <a:noFill/>
          </a:ln>
        </p:spPr>
      </p:pic>
      <p:pic>
        <p:nvPicPr>
          <p:cNvPr id="374" name="Google Shape;374;p44"/>
          <p:cNvPicPr preferRelativeResize="0"/>
          <p:nvPr/>
        </p:nvPicPr>
        <p:blipFill rotWithShape="1">
          <a:blip r:embed="rId4">
            <a:alphaModFix/>
          </a:blip>
          <a:srcRect l="71255" t="93051"/>
          <a:stretch/>
        </p:blipFill>
        <p:spPr>
          <a:xfrm>
            <a:off x="6316860" y="3476715"/>
            <a:ext cx="2399905" cy="387084"/>
          </a:xfrm>
          <a:prstGeom prst="rect">
            <a:avLst/>
          </a:prstGeom>
          <a:noFill/>
          <a:ln>
            <a:noFill/>
          </a:ln>
        </p:spPr>
      </p:pic>
      <p:cxnSp>
        <p:nvCxnSpPr>
          <p:cNvPr id="375" name="Google Shape;375;p44"/>
          <p:cNvCxnSpPr/>
          <p:nvPr/>
        </p:nvCxnSpPr>
        <p:spPr>
          <a:xfrm>
            <a:off x="7510366" y="3218882"/>
            <a:ext cx="12900" cy="225000"/>
          </a:xfrm>
          <a:prstGeom prst="straightConnector1">
            <a:avLst/>
          </a:prstGeom>
          <a:noFill/>
          <a:ln w="9525" cap="flat" cmpd="sng">
            <a:solidFill>
              <a:schemeClr val="dk2"/>
            </a:solidFill>
            <a:prstDash val="solid"/>
            <a:round/>
            <a:headEnd type="none" w="med" len="med"/>
            <a:tailEnd type="triangle" w="med" len="med"/>
          </a:ln>
        </p:spPr>
      </p:cxnSp>
      <p:sp>
        <p:nvSpPr>
          <p:cNvPr id="376" name="Google Shape;376;p44"/>
          <p:cNvSpPr txBox="1"/>
          <p:nvPr/>
        </p:nvSpPr>
        <p:spPr>
          <a:xfrm>
            <a:off x="113075" y="936725"/>
            <a:ext cx="3746100" cy="1769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700" b="1">
                <a:solidFill>
                  <a:srgbClr val="000000"/>
                </a:solidFill>
              </a:rPr>
              <a:t>STEP </a:t>
            </a:r>
            <a:r>
              <a:rPr lang="en" sz="1700" b="1"/>
              <a:t>6</a:t>
            </a:r>
            <a:r>
              <a:rPr lang="en" sz="1700" b="1">
                <a:solidFill>
                  <a:srgbClr val="000000"/>
                </a:solidFill>
              </a:rPr>
              <a:t>. </a:t>
            </a:r>
            <a:endParaRPr sz="1700" b="1">
              <a:solidFill>
                <a:srgbClr val="000000"/>
              </a:solidFill>
            </a:endParaRPr>
          </a:p>
          <a:p>
            <a:pPr marL="0" marR="0" lvl="0" indent="0" algn="l" rtl="0">
              <a:lnSpc>
                <a:spcPct val="115000"/>
              </a:lnSpc>
              <a:spcBef>
                <a:spcPts val="0"/>
              </a:spcBef>
              <a:spcAft>
                <a:spcPts val="0"/>
              </a:spcAft>
              <a:buNone/>
            </a:pPr>
            <a:r>
              <a:rPr lang="en" sz="1700" b="1"/>
              <a:t>Barcoding PCR</a:t>
            </a:r>
            <a:endParaRPr sz="1500"/>
          </a:p>
          <a:p>
            <a:pPr marL="457200" marR="0" lvl="0" indent="-323850" algn="l" rtl="0">
              <a:lnSpc>
                <a:spcPct val="115000"/>
              </a:lnSpc>
              <a:spcBef>
                <a:spcPts val="0"/>
              </a:spcBef>
              <a:spcAft>
                <a:spcPts val="0"/>
              </a:spcAft>
              <a:buSzPts val="1500"/>
              <a:buAutoNum type="arabicPeriod"/>
            </a:pPr>
            <a:r>
              <a:rPr lang="en" sz="1500"/>
              <a:t>i5 and i7 oligos are added by PCR, along with unique barcodes per sample</a:t>
            </a:r>
            <a:endParaRPr sz="1300"/>
          </a:p>
          <a:p>
            <a:pPr marL="457200" marR="0" lvl="0" indent="-323850" algn="l" rtl="0">
              <a:lnSpc>
                <a:spcPct val="100000"/>
              </a:lnSpc>
              <a:spcBef>
                <a:spcPts val="0"/>
              </a:spcBef>
              <a:spcAft>
                <a:spcPts val="0"/>
              </a:spcAft>
              <a:buSzPts val="1500"/>
              <a:buAutoNum type="arabicPeriod"/>
            </a:pPr>
            <a:r>
              <a:rPr lang="en" sz="1500"/>
              <a:t>SPRI bead clean-up (0.8x) </a:t>
            </a:r>
            <a:endParaRPr sz="1500"/>
          </a:p>
        </p:txBody>
      </p:sp>
      <p:sp>
        <p:nvSpPr>
          <p:cNvPr id="377" name="Google Shape;377;p44"/>
          <p:cNvSpPr/>
          <p:nvPr/>
        </p:nvSpPr>
        <p:spPr>
          <a:xfrm>
            <a:off x="4096000" y="1654625"/>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 name="Google Shape;378;p44"/>
          <p:cNvSpPr/>
          <p:nvPr/>
        </p:nvSpPr>
        <p:spPr>
          <a:xfrm>
            <a:off x="5867975" y="1621400"/>
            <a:ext cx="1239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 name="Google Shape;379;p44"/>
          <p:cNvSpPr/>
          <p:nvPr/>
        </p:nvSpPr>
        <p:spPr>
          <a:xfrm>
            <a:off x="5070681" y="1993825"/>
            <a:ext cx="921300" cy="144300"/>
          </a:xfrm>
          <a:prstGeom prst="rect">
            <a:avLst/>
          </a:prstGeom>
          <a:solidFill>
            <a:srgbClr val="FFFFFF"/>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 name="Google Shape;380;p44"/>
          <p:cNvSpPr/>
          <p:nvPr/>
        </p:nvSpPr>
        <p:spPr>
          <a:xfrm>
            <a:off x="3812950" y="605700"/>
            <a:ext cx="2164500" cy="2134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81" name="Google Shape;381;p44"/>
          <p:cNvPicPr preferRelativeResize="0"/>
          <p:nvPr/>
        </p:nvPicPr>
        <p:blipFill rotWithShape="1">
          <a:blip r:embed="rId5">
            <a:alphaModFix/>
          </a:blip>
          <a:srcRect b="7604"/>
          <a:stretch/>
        </p:blipFill>
        <p:spPr>
          <a:xfrm>
            <a:off x="3722450" y="704326"/>
            <a:ext cx="2345500" cy="1970175"/>
          </a:xfrm>
          <a:prstGeom prst="rect">
            <a:avLst/>
          </a:prstGeom>
          <a:solidFill>
            <a:schemeClr val="lt1"/>
          </a:solidFill>
          <a:ln>
            <a:noFill/>
          </a:ln>
        </p:spPr>
      </p:pic>
      <p:sp>
        <p:nvSpPr>
          <p:cNvPr id="382" name="Google Shape;382;p44"/>
          <p:cNvSpPr/>
          <p:nvPr/>
        </p:nvSpPr>
        <p:spPr>
          <a:xfrm>
            <a:off x="6243550" y="3421400"/>
            <a:ext cx="2589600" cy="473400"/>
          </a:xfrm>
          <a:prstGeom prst="rect">
            <a:avLst/>
          </a:prstGeom>
          <a:noFill/>
          <a:ln w="28575"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9"/>
          <p:cNvSpPr txBox="1"/>
          <p:nvPr/>
        </p:nvSpPr>
        <p:spPr>
          <a:xfrm>
            <a:off x="113075" y="3533250"/>
            <a:ext cx="4141800" cy="1769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700" b="1" dirty="0">
                <a:solidFill>
                  <a:srgbClr val="000000"/>
                </a:solidFill>
              </a:rPr>
              <a:t>STEP </a:t>
            </a:r>
            <a:r>
              <a:rPr lang="en" sz="1700" b="1" dirty="0"/>
              <a:t>6</a:t>
            </a:r>
            <a:r>
              <a:rPr lang="en" sz="1700" b="1" dirty="0">
                <a:solidFill>
                  <a:srgbClr val="000000"/>
                </a:solidFill>
              </a:rPr>
              <a:t>. </a:t>
            </a:r>
            <a:endParaRPr sz="1700" b="1" dirty="0">
              <a:solidFill>
                <a:srgbClr val="000000"/>
              </a:solidFill>
            </a:endParaRPr>
          </a:p>
          <a:p>
            <a:pPr marL="0" marR="0" lvl="0" indent="0" algn="l" rtl="0">
              <a:lnSpc>
                <a:spcPct val="115000"/>
              </a:lnSpc>
              <a:spcBef>
                <a:spcPts val="0"/>
              </a:spcBef>
              <a:spcAft>
                <a:spcPts val="0"/>
              </a:spcAft>
              <a:buNone/>
            </a:pPr>
            <a:r>
              <a:rPr lang="en" sz="1700" b="1" dirty="0"/>
              <a:t>Barcoding PCR</a:t>
            </a:r>
            <a:endParaRPr sz="1500" dirty="0"/>
          </a:p>
          <a:p>
            <a:pPr marL="457200" marR="0" lvl="0" indent="-323850" algn="l" rtl="0">
              <a:lnSpc>
                <a:spcPct val="115000"/>
              </a:lnSpc>
              <a:spcBef>
                <a:spcPts val="0"/>
              </a:spcBef>
              <a:spcAft>
                <a:spcPts val="0"/>
              </a:spcAft>
              <a:buSzPts val="1500"/>
              <a:buAutoNum type="arabicPeriod"/>
            </a:pPr>
            <a:r>
              <a:rPr lang="en" sz="1500" dirty="0"/>
              <a:t>i5 and i7 oligos are added by PCR</a:t>
            </a:r>
            <a:endParaRPr sz="1300" dirty="0"/>
          </a:p>
          <a:p>
            <a:pPr marL="457200" marR="0" lvl="0" indent="-323850" algn="l" rtl="0">
              <a:lnSpc>
                <a:spcPct val="100000"/>
              </a:lnSpc>
              <a:spcBef>
                <a:spcPts val="0"/>
              </a:spcBef>
              <a:spcAft>
                <a:spcPts val="0"/>
              </a:spcAft>
              <a:buSzPts val="1500"/>
              <a:buAutoNum type="arabicPeriod"/>
            </a:pPr>
            <a:r>
              <a:rPr lang="en" sz="1500" dirty="0"/>
              <a:t>SPRI bead clean-up (0.8x) </a:t>
            </a:r>
            <a:endParaRPr sz="1500" dirty="0"/>
          </a:p>
        </p:txBody>
      </p:sp>
      <p:pic>
        <p:nvPicPr>
          <p:cNvPr id="240" name="Google Shape;240;p29"/>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41" name="Google Shape;241;p29"/>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42" name="Google Shape;242;p29"/>
          <p:cNvSpPr txBox="1"/>
          <p:nvPr/>
        </p:nvSpPr>
        <p:spPr>
          <a:xfrm>
            <a:off x="7879850" y="4829550"/>
            <a:ext cx="4791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t>
            </a:r>
            <a:endParaRPr/>
          </a:p>
        </p:txBody>
      </p:sp>
      <p:sp>
        <p:nvSpPr>
          <p:cNvPr id="244" name="Google Shape;244;p29"/>
          <p:cNvSpPr/>
          <p:nvPr/>
        </p:nvSpPr>
        <p:spPr>
          <a:xfrm>
            <a:off x="6993400" y="4721600"/>
            <a:ext cx="2050200" cy="267300"/>
          </a:xfrm>
          <a:prstGeom prst="roundRect">
            <a:avLst>
              <a:gd name="adj" fmla="val 16667"/>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9"/>
          <p:cNvSpPr/>
          <p:nvPr/>
        </p:nvSpPr>
        <p:spPr>
          <a:xfrm>
            <a:off x="6993400" y="2438100"/>
            <a:ext cx="2050200" cy="267300"/>
          </a:xfrm>
          <a:prstGeom prst="roundRect">
            <a:avLst>
              <a:gd name="adj" fmla="val 16667"/>
            </a:avLst>
          </a:prstGeom>
          <a:noFill/>
          <a:ln w="19050"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 name="Group 4">
            <a:extLst>
              <a:ext uri="{FF2B5EF4-FFF2-40B4-BE49-F238E27FC236}">
                <a16:creationId xmlns:a16="http://schemas.microsoft.com/office/drawing/2014/main" id="{25690A06-8A4C-E6F2-95DA-77BCE03F6D37}"/>
              </a:ext>
            </a:extLst>
          </p:cNvPr>
          <p:cNvGrpSpPr/>
          <p:nvPr/>
        </p:nvGrpSpPr>
        <p:grpSpPr>
          <a:xfrm>
            <a:off x="269201" y="412775"/>
            <a:ext cx="8743529" cy="4627476"/>
            <a:chOff x="269201" y="412775"/>
            <a:chExt cx="8743529" cy="4627476"/>
          </a:xfrm>
        </p:grpSpPr>
        <p:pic>
          <p:nvPicPr>
            <p:cNvPr id="243" name="Google Shape;243;p29"/>
            <p:cNvPicPr preferRelativeResize="0"/>
            <p:nvPr/>
          </p:nvPicPr>
          <p:blipFill>
            <a:blip r:embed="rId4">
              <a:alphaModFix/>
            </a:blip>
            <a:stretch>
              <a:fillRect/>
            </a:stretch>
          </p:blipFill>
          <p:spPr>
            <a:xfrm>
              <a:off x="1906949" y="412775"/>
              <a:ext cx="7105781" cy="4627476"/>
            </a:xfrm>
            <a:prstGeom prst="rect">
              <a:avLst/>
            </a:prstGeom>
            <a:noFill/>
            <a:ln>
              <a:noFill/>
            </a:ln>
          </p:spPr>
        </p:pic>
        <p:sp>
          <p:nvSpPr>
            <p:cNvPr id="2" name="Rectangle 1">
              <a:extLst>
                <a:ext uri="{FF2B5EF4-FFF2-40B4-BE49-F238E27FC236}">
                  <a16:creationId xmlns:a16="http://schemas.microsoft.com/office/drawing/2014/main" id="{DB9E774A-416A-A4D9-81FC-B9968F9D69FC}"/>
                </a:ext>
              </a:extLst>
            </p:cNvPr>
            <p:cNvSpPr/>
            <p:nvPr/>
          </p:nvSpPr>
          <p:spPr>
            <a:xfrm>
              <a:off x="1906949" y="825425"/>
              <a:ext cx="1914774" cy="639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6322868-9D62-8C6C-9486-E274021BCA4B}"/>
                </a:ext>
              </a:extLst>
            </p:cNvPr>
            <p:cNvSpPr/>
            <p:nvPr/>
          </p:nvSpPr>
          <p:spPr>
            <a:xfrm>
              <a:off x="269201" y="1455539"/>
              <a:ext cx="1914774" cy="639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917491C-FD2A-3E1C-8E1B-C4AE26FA9E74}"/>
                </a:ext>
              </a:extLst>
            </p:cNvPr>
            <p:cNvSpPr/>
            <p:nvPr/>
          </p:nvSpPr>
          <p:spPr>
            <a:xfrm>
              <a:off x="2579650" y="1013073"/>
              <a:ext cx="695144" cy="6399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fade">
                                      <p:cBhvr>
                                        <p:cTn id="7"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8"/>
          <p:cNvSpPr txBox="1"/>
          <p:nvPr/>
        </p:nvSpPr>
        <p:spPr>
          <a:xfrm>
            <a:off x="360300" y="762775"/>
            <a:ext cx="8783700" cy="4128000"/>
          </a:xfrm>
          <a:prstGeom prst="rect">
            <a:avLst/>
          </a:prstGeom>
          <a:noFill/>
          <a:ln>
            <a:noFill/>
          </a:ln>
        </p:spPr>
        <p:txBody>
          <a:bodyPr spcFirstLastPara="1" wrap="square" lIns="91425" tIns="45700" rIns="91425" bIns="45700" anchor="t" anchorCtr="0">
            <a:noAutofit/>
          </a:bodyPr>
          <a:lstStyle/>
          <a:p>
            <a:pPr marL="0" marR="0" lvl="0" indent="0" algn="l" rtl="0">
              <a:lnSpc>
                <a:spcPct val="200000"/>
              </a:lnSpc>
              <a:spcBef>
                <a:spcPts val="0"/>
              </a:spcBef>
              <a:spcAft>
                <a:spcPts val="0"/>
              </a:spcAft>
              <a:buNone/>
            </a:pPr>
            <a:r>
              <a:rPr lang="en-US" sz="1700" b="1" dirty="0">
                <a:solidFill>
                  <a:srgbClr val="000000"/>
                </a:solidFill>
              </a:rPr>
              <a:t>Note on alternative adapters, suc</a:t>
            </a:r>
            <a:r>
              <a:rPr lang="en-US" sz="1700" b="1" dirty="0"/>
              <a:t>h as the NEB U shaped </a:t>
            </a:r>
            <a:endParaRPr sz="1700" dirty="0"/>
          </a:p>
          <a:p>
            <a:pPr marL="0" marR="0" lvl="0" indent="0" algn="l" rtl="0">
              <a:lnSpc>
                <a:spcPct val="200000"/>
              </a:lnSpc>
              <a:spcBef>
                <a:spcPts val="0"/>
              </a:spcBef>
              <a:spcAft>
                <a:spcPts val="0"/>
              </a:spcAft>
              <a:buNone/>
            </a:pPr>
            <a:endParaRPr sz="1700" dirty="0"/>
          </a:p>
          <a:p>
            <a:pPr marL="0" marR="0" lvl="0" indent="0" algn="l" rtl="0">
              <a:lnSpc>
                <a:spcPct val="200000"/>
              </a:lnSpc>
              <a:spcBef>
                <a:spcPts val="0"/>
              </a:spcBef>
              <a:spcAft>
                <a:spcPts val="0"/>
              </a:spcAft>
              <a:buNone/>
            </a:pPr>
            <a:endParaRPr sz="1700" dirty="0"/>
          </a:p>
          <a:p>
            <a:pPr marL="0" marR="0" lvl="0" indent="0" algn="l" rtl="0">
              <a:lnSpc>
                <a:spcPct val="200000"/>
              </a:lnSpc>
              <a:spcBef>
                <a:spcPts val="0"/>
              </a:spcBef>
              <a:spcAft>
                <a:spcPts val="0"/>
              </a:spcAft>
              <a:buNone/>
            </a:pPr>
            <a:endParaRPr sz="2600" dirty="0"/>
          </a:p>
        </p:txBody>
      </p:sp>
      <p:pic>
        <p:nvPicPr>
          <p:cNvPr id="236" name="Google Shape;236;p28"/>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37" name="Google Shape;237;p28"/>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pic>
        <p:nvPicPr>
          <p:cNvPr id="238" name="Google Shape;238;p28"/>
          <p:cNvPicPr preferRelativeResize="0"/>
          <p:nvPr/>
        </p:nvPicPr>
        <p:blipFill>
          <a:blip r:embed="rId4">
            <a:alphaModFix/>
          </a:blip>
          <a:stretch>
            <a:fillRect/>
          </a:stretch>
        </p:blipFill>
        <p:spPr>
          <a:xfrm>
            <a:off x="1496291" y="1678724"/>
            <a:ext cx="3646500" cy="885305"/>
          </a:xfrm>
          <a:prstGeom prst="rect">
            <a:avLst/>
          </a:prstGeom>
          <a:noFill/>
          <a:ln>
            <a:noFill/>
          </a:ln>
        </p:spPr>
      </p:pic>
      <p:pic>
        <p:nvPicPr>
          <p:cNvPr id="239" name="Google Shape;239;p28"/>
          <p:cNvPicPr preferRelativeResize="0"/>
          <p:nvPr/>
        </p:nvPicPr>
        <p:blipFill>
          <a:blip r:embed="rId5">
            <a:alphaModFix/>
          </a:blip>
          <a:stretch>
            <a:fillRect/>
          </a:stretch>
        </p:blipFill>
        <p:spPr>
          <a:xfrm>
            <a:off x="4600037" y="2376401"/>
            <a:ext cx="1085508" cy="405000"/>
          </a:xfrm>
          <a:prstGeom prst="rect">
            <a:avLst/>
          </a:prstGeom>
          <a:noFill/>
          <a:ln>
            <a:noFill/>
          </a:ln>
        </p:spPr>
      </p:pic>
      <p:sp>
        <p:nvSpPr>
          <p:cNvPr id="3" name="Plus 2">
            <a:extLst>
              <a:ext uri="{FF2B5EF4-FFF2-40B4-BE49-F238E27FC236}">
                <a16:creationId xmlns:a16="http://schemas.microsoft.com/office/drawing/2014/main" id="{98E35B87-305E-743A-7FF0-E273A130F1B0}"/>
              </a:ext>
            </a:extLst>
          </p:cNvPr>
          <p:cNvSpPr/>
          <p:nvPr/>
        </p:nvSpPr>
        <p:spPr>
          <a:xfrm>
            <a:off x="3919617" y="2236814"/>
            <a:ext cx="341430" cy="390698"/>
          </a:xfrm>
          <a:prstGeom prst="mathPlus">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A4B24399-3D2E-156E-1856-F8EBF9E2D1D5}"/>
              </a:ext>
            </a:extLst>
          </p:cNvPr>
          <p:cNvSpPr txBox="1"/>
          <p:nvPr/>
        </p:nvSpPr>
        <p:spPr>
          <a:xfrm>
            <a:off x="5872487" y="2263973"/>
            <a:ext cx="2829621" cy="307777"/>
          </a:xfrm>
          <a:prstGeom prst="rect">
            <a:avLst/>
          </a:prstGeom>
          <a:noFill/>
        </p:spPr>
        <p:txBody>
          <a:bodyPr wrap="none" rtlCol="0">
            <a:spAutoFit/>
          </a:bodyPr>
          <a:lstStyle/>
          <a:p>
            <a:r>
              <a:rPr lang="en-US" dirty="0"/>
              <a:t>Adapter dimers must be removed</a:t>
            </a:r>
          </a:p>
        </p:txBody>
      </p:sp>
      <p:sp>
        <p:nvSpPr>
          <p:cNvPr id="6" name="TextBox 5">
            <a:extLst>
              <a:ext uri="{FF2B5EF4-FFF2-40B4-BE49-F238E27FC236}">
                <a16:creationId xmlns:a16="http://schemas.microsoft.com/office/drawing/2014/main" id="{662D695F-3512-B988-D6BA-FF4C94F8CDFB}"/>
              </a:ext>
            </a:extLst>
          </p:cNvPr>
          <p:cNvSpPr txBox="1"/>
          <p:nvPr/>
        </p:nvSpPr>
        <p:spPr>
          <a:xfrm>
            <a:off x="360300" y="3109551"/>
            <a:ext cx="3592650" cy="307777"/>
          </a:xfrm>
          <a:prstGeom prst="rect">
            <a:avLst/>
          </a:prstGeom>
          <a:noFill/>
        </p:spPr>
        <p:txBody>
          <a:bodyPr wrap="none" rtlCol="0">
            <a:spAutoFit/>
          </a:bodyPr>
          <a:lstStyle/>
          <a:p>
            <a:r>
              <a:rPr lang="en-US" dirty="0"/>
              <a:t>Barcoding PCR starts with USER digestion</a:t>
            </a:r>
          </a:p>
        </p:txBody>
      </p:sp>
      <p:pic>
        <p:nvPicPr>
          <p:cNvPr id="8" name="Google Shape;248;p29">
            <a:extLst>
              <a:ext uri="{FF2B5EF4-FFF2-40B4-BE49-F238E27FC236}">
                <a16:creationId xmlns:a16="http://schemas.microsoft.com/office/drawing/2014/main" id="{9D948909-EA67-04D6-5E27-5B51788699AD}"/>
              </a:ext>
            </a:extLst>
          </p:cNvPr>
          <p:cNvPicPr preferRelativeResize="0"/>
          <p:nvPr/>
        </p:nvPicPr>
        <p:blipFill>
          <a:blip r:embed="rId6">
            <a:alphaModFix/>
          </a:blip>
          <a:srcRect t="36949" r="73046" b="31974"/>
          <a:stretch>
            <a:fillRect/>
          </a:stretch>
        </p:blipFill>
        <p:spPr>
          <a:xfrm>
            <a:off x="6868416" y="2781401"/>
            <a:ext cx="1915284" cy="1438102"/>
          </a:xfrm>
          <a:prstGeom prst="rect">
            <a:avLst/>
          </a:prstGeom>
          <a:noFill/>
          <a:ln>
            <a:noFill/>
          </a:ln>
        </p:spPr>
      </p:pic>
      <p:pic>
        <p:nvPicPr>
          <p:cNvPr id="9" name="Google Shape;248;p29">
            <a:extLst>
              <a:ext uri="{FF2B5EF4-FFF2-40B4-BE49-F238E27FC236}">
                <a16:creationId xmlns:a16="http://schemas.microsoft.com/office/drawing/2014/main" id="{A5548CCE-EF3E-8AC4-EECD-3F280931F236}"/>
              </a:ext>
            </a:extLst>
          </p:cNvPr>
          <p:cNvPicPr preferRelativeResize="0"/>
          <p:nvPr/>
        </p:nvPicPr>
        <p:blipFill>
          <a:blip r:embed="rId6">
            <a:alphaModFix/>
          </a:blip>
          <a:srcRect r="73162" b="60345"/>
          <a:stretch>
            <a:fillRect/>
          </a:stretch>
        </p:blipFill>
        <p:spPr>
          <a:xfrm>
            <a:off x="939400" y="3164461"/>
            <a:ext cx="1907023" cy="1835000"/>
          </a:xfrm>
          <a:prstGeom prst="rect">
            <a:avLst/>
          </a:prstGeom>
          <a:noFill/>
          <a:ln>
            <a:noFill/>
          </a:ln>
        </p:spPr>
      </p:pic>
      <p:pic>
        <p:nvPicPr>
          <p:cNvPr id="10" name="Google Shape;355;p43">
            <a:extLst>
              <a:ext uri="{FF2B5EF4-FFF2-40B4-BE49-F238E27FC236}">
                <a16:creationId xmlns:a16="http://schemas.microsoft.com/office/drawing/2014/main" id="{3FF9D5CD-E6B4-C173-975B-1D53E946B664}"/>
              </a:ext>
            </a:extLst>
          </p:cNvPr>
          <p:cNvPicPr preferRelativeResize="0"/>
          <p:nvPr/>
        </p:nvPicPr>
        <p:blipFill rotWithShape="1">
          <a:blip r:embed="rId7">
            <a:alphaModFix/>
          </a:blip>
          <a:srcRect l="35007" t="-2225" r="35600" b="59850"/>
          <a:stretch/>
        </p:blipFill>
        <p:spPr>
          <a:xfrm>
            <a:off x="3250276" y="3504594"/>
            <a:ext cx="1769759" cy="1523248"/>
          </a:xfrm>
          <a:prstGeom prst="rect">
            <a:avLst/>
          </a:prstGeom>
          <a:noFill/>
          <a:ln>
            <a:noFill/>
          </a:ln>
        </p:spPr>
      </p:pic>
      <p:pic>
        <p:nvPicPr>
          <p:cNvPr id="11" name="Google Shape;356;p43">
            <a:extLst>
              <a:ext uri="{FF2B5EF4-FFF2-40B4-BE49-F238E27FC236}">
                <a16:creationId xmlns:a16="http://schemas.microsoft.com/office/drawing/2014/main" id="{2FE8BF32-8A10-E001-7EAA-3CCFD978D278}"/>
              </a:ext>
            </a:extLst>
          </p:cNvPr>
          <p:cNvPicPr preferRelativeResize="0"/>
          <p:nvPr/>
        </p:nvPicPr>
        <p:blipFill rotWithShape="1">
          <a:blip r:embed="rId7">
            <a:alphaModFix/>
          </a:blip>
          <a:srcRect l="71255" t="93051"/>
          <a:stretch/>
        </p:blipFill>
        <p:spPr>
          <a:xfrm>
            <a:off x="5501328" y="4650543"/>
            <a:ext cx="1730740" cy="249787"/>
          </a:xfrm>
          <a:prstGeom prst="rect">
            <a:avLst/>
          </a:prstGeom>
          <a:noFill/>
          <a:ln>
            <a:noFill/>
          </a:ln>
        </p:spPr>
      </p:pic>
      <p:cxnSp>
        <p:nvCxnSpPr>
          <p:cNvPr id="12" name="Google Shape;357;p43">
            <a:extLst>
              <a:ext uri="{FF2B5EF4-FFF2-40B4-BE49-F238E27FC236}">
                <a16:creationId xmlns:a16="http://schemas.microsoft.com/office/drawing/2014/main" id="{DA0A29DE-8C32-77EF-623F-F893F72E6460}"/>
              </a:ext>
            </a:extLst>
          </p:cNvPr>
          <p:cNvCxnSpPr>
            <a:cxnSpLocks/>
          </p:cNvCxnSpPr>
          <p:nvPr/>
        </p:nvCxnSpPr>
        <p:spPr>
          <a:xfrm>
            <a:off x="5073045" y="4770004"/>
            <a:ext cx="128296" cy="0"/>
          </a:xfrm>
          <a:prstGeom prst="straightConnector1">
            <a:avLst/>
          </a:prstGeom>
          <a:noFill/>
          <a:ln w="9525" cap="flat" cmpd="sng">
            <a:solidFill>
              <a:schemeClr val="dk2"/>
            </a:solidFill>
            <a:prstDash val="solid"/>
            <a:round/>
            <a:headEnd type="none" w="med" len="med"/>
            <a:tailEnd type="triangle" w="med" len="med"/>
          </a:ln>
        </p:spPr>
      </p:cxnSp>
      <p:cxnSp>
        <p:nvCxnSpPr>
          <p:cNvPr id="15" name="Straight Connector 14">
            <a:extLst>
              <a:ext uri="{FF2B5EF4-FFF2-40B4-BE49-F238E27FC236}">
                <a16:creationId xmlns:a16="http://schemas.microsoft.com/office/drawing/2014/main" id="{DAAA3094-819A-1014-CBB9-89576D94081C}"/>
              </a:ext>
            </a:extLst>
          </p:cNvPr>
          <p:cNvCxnSpPr/>
          <p:nvPr/>
        </p:nvCxnSpPr>
        <p:spPr>
          <a:xfrm flipV="1">
            <a:off x="2846423" y="3582785"/>
            <a:ext cx="0" cy="1187219"/>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9867F2B0-69D9-4621-C174-B65F11D87EE3}"/>
              </a:ext>
            </a:extLst>
          </p:cNvPr>
          <p:cNvCxnSpPr/>
          <p:nvPr/>
        </p:nvCxnSpPr>
        <p:spPr>
          <a:xfrm>
            <a:off x="2846423" y="3582785"/>
            <a:ext cx="403853" cy="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387" name="Google Shape;387;p45"/>
          <p:cNvPicPr preferRelativeResize="0"/>
          <p:nvPr/>
        </p:nvPicPr>
        <p:blipFill rotWithShape="1">
          <a:blip r:embed="rId3">
            <a:alphaModFix/>
          </a:blip>
          <a:srcRect b="50615"/>
          <a:stretch/>
        </p:blipFill>
        <p:spPr>
          <a:xfrm>
            <a:off x="113075" y="336563"/>
            <a:ext cx="750124" cy="405024"/>
          </a:xfrm>
          <a:prstGeom prst="rect">
            <a:avLst/>
          </a:prstGeom>
          <a:noFill/>
          <a:ln>
            <a:noFill/>
          </a:ln>
        </p:spPr>
      </p:pic>
      <p:sp>
        <p:nvSpPr>
          <p:cNvPr id="388" name="Google Shape;388;p45"/>
          <p:cNvSpPr txBox="1">
            <a:spLocks noGrp="1"/>
          </p:cNvSpPr>
          <p:nvPr>
            <p:ph type="title"/>
          </p:nvPr>
        </p:nvSpPr>
        <p:spPr>
          <a:xfrm>
            <a:off x="939400" y="252725"/>
            <a:ext cx="6816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RNA to sequencing library</a:t>
            </a:r>
            <a:endParaRPr/>
          </a:p>
        </p:txBody>
      </p:sp>
      <p:pic>
        <p:nvPicPr>
          <p:cNvPr id="389" name="Google Shape;389;p45"/>
          <p:cNvPicPr preferRelativeResize="0"/>
          <p:nvPr/>
        </p:nvPicPr>
        <p:blipFill rotWithShape="1">
          <a:blip r:embed="rId4">
            <a:alphaModFix/>
          </a:blip>
          <a:srcRect b="54849"/>
          <a:stretch/>
        </p:blipFill>
        <p:spPr>
          <a:xfrm>
            <a:off x="4613075" y="1748725"/>
            <a:ext cx="3990618" cy="1008899"/>
          </a:xfrm>
          <a:prstGeom prst="rect">
            <a:avLst/>
          </a:prstGeom>
          <a:noFill/>
          <a:ln>
            <a:noFill/>
          </a:ln>
        </p:spPr>
      </p:pic>
      <p:grpSp>
        <p:nvGrpSpPr>
          <p:cNvPr id="390" name="Google Shape;390;p45"/>
          <p:cNvGrpSpPr/>
          <p:nvPr/>
        </p:nvGrpSpPr>
        <p:grpSpPr>
          <a:xfrm>
            <a:off x="1210800" y="2166773"/>
            <a:ext cx="1396599" cy="613277"/>
            <a:chOff x="687725" y="2186148"/>
            <a:chExt cx="1396599" cy="613277"/>
          </a:xfrm>
        </p:grpSpPr>
        <p:pic>
          <p:nvPicPr>
            <p:cNvPr id="391" name="Google Shape;391;p45"/>
            <p:cNvPicPr preferRelativeResize="0"/>
            <p:nvPr/>
          </p:nvPicPr>
          <p:blipFill rotWithShape="1">
            <a:blip r:embed="rId5">
              <a:alphaModFix/>
            </a:blip>
            <a:srcRect l="12215" t="5458" r="67405" b="88571"/>
            <a:stretch/>
          </p:blipFill>
          <p:spPr>
            <a:xfrm>
              <a:off x="687725" y="2186148"/>
              <a:ext cx="1396599" cy="613226"/>
            </a:xfrm>
            <a:prstGeom prst="rect">
              <a:avLst/>
            </a:prstGeom>
            <a:noFill/>
            <a:ln>
              <a:noFill/>
            </a:ln>
          </p:spPr>
        </p:pic>
        <p:sp>
          <p:nvSpPr>
            <p:cNvPr id="392" name="Google Shape;392;p45"/>
            <p:cNvSpPr/>
            <p:nvPr/>
          </p:nvSpPr>
          <p:spPr>
            <a:xfrm>
              <a:off x="1172050" y="2702525"/>
              <a:ext cx="280800" cy="96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3" name="Google Shape;393;p45"/>
          <p:cNvSpPr txBox="1"/>
          <p:nvPr/>
        </p:nvSpPr>
        <p:spPr>
          <a:xfrm>
            <a:off x="1386275" y="2915625"/>
            <a:ext cx="9783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Extracted RNA</a:t>
            </a:r>
            <a:endParaRPr/>
          </a:p>
        </p:txBody>
      </p:sp>
      <p:cxnSp>
        <p:nvCxnSpPr>
          <p:cNvPr id="394" name="Google Shape;394;p45"/>
          <p:cNvCxnSpPr/>
          <p:nvPr/>
        </p:nvCxnSpPr>
        <p:spPr>
          <a:xfrm rot="10800000" flipH="1">
            <a:off x="3206225" y="2625100"/>
            <a:ext cx="678000" cy="9600"/>
          </a:xfrm>
          <a:prstGeom prst="straightConnector1">
            <a:avLst/>
          </a:prstGeom>
          <a:noFill/>
          <a:ln w="28575" cap="flat" cmpd="sng">
            <a:solidFill>
              <a:schemeClr val="dk2"/>
            </a:solidFill>
            <a:prstDash val="solid"/>
            <a:round/>
            <a:headEnd type="none" w="med" len="med"/>
            <a:tailEnd type="triangle" w="med" len="med"/>
          </a:ln>
        </p:spPr>
      </p:cxnSp>
      <p:sp>
        <p:nvSpPr>
          <p:cNvPr id="395" name="Google Shape;395;p45"/>
          <p:cNvSpPr txBox="1"/>
          <p:nvPr/>
        </p:nvSpPr>
        <p:spPr>
          <a:xfrm>
            <a:off x="5829800" y="3944950"/>
            <a:ext cx="16386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Sequencing library</a:t>
            </a:r>
            <a:endParaRPr/>
          </a:p>
        </p:txBody>
      </p:sp>
      <p:pic>
        <p:nvPicPr>
          <p:cNvPr id="396" name="Google Shape;396;p45"/>
          <p:cNvPicPr preferRelativeResize="0"/>
          <p:nvPr/>
        </p:nvPicPr>
        <p:blipFill rotWithShape="1">
          <a:blip r:embed="rId4">
            <a:alphaModFix/>
          </a:blip>
          <a:srcRect l="14263" t="22163" r="9628" b="62931"/>
          <a:stretch/>
        </p:blipFill>
        <p:spPr>
          <a:xfrm>
            <a:off x="4821263" y="2752138"/>
            <a:ext cx="3117042" cy="341826"/>
          </a:xfrm>
          <a:prstGeom prst="rect">
            <a:avLst/>
          </a:prstGeom>
          <a:noFill/>
          <a:ln>
            <a:noFill/>
          </a:ln>
        </p:spPr>
      </p:pic>
      <p:pic>
        <p:nvPicPr>
          <p:cNvPr id="397" name="Google Shape;397;p45"/>
          <p:cNvPicPr preferRelativeResize="0"/>
          <p:nvPr/>
        </p:nvPicPr>
        <p:blipFill rotWithShape="1">
          <a:blip r:embed="rId4">
            <a:alphaModFix/>
          </a:blip>
          <a:srcRect l="14263" t="22163" r="9628" b="62931"/>
          <a:stretch/>
        </p:blipFill>
        <p:spPr>
          <a:xfrm>
            <a:off x="4499038" y="3348550"/>
            <a:ext cx="3117042" cy="3418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pic>
        <p:nvPicPr>
          <p:cNvPr id="430" name="Google Shape;430;p43"/>
          <p:cNvPicPr preferRelativeResize="0"/>
          <p:nvPr/>
        </p:nvPicPr>
        <p:blipFill rotWithShape="1">
          <a:blip r:embed="rId3">
            <a:alphaModFix/>
          </a:blip>
          <a:srcRect b="50614"/>
          <a:stretch/>
        </p:blipFill>
        <p:spPr>
          <a:xfrm>
            <a:off x="113075" y="184163"/>
            <a:ext cx="750124" cy="405024"/>
          </a:xfrm>
          <a:prstGeom prst="rect">
            <a:avLst/>
          </a:prstGeom>
          <a:noFill/>
          <a:ln>
            <a:noFill/>
          </a:ln>
        </p:spPr>
      </p:pic>
      <p:sp>
        <p:nvSpPr>
          <p:cNvPr id="431" name="Google Shape;431;p43"/>
          <p:cNvSpPr txBox="1">
            <a:spLocks noGrp="1"/>
          </p:cNvSpPr>
          <p:nvPr>
            <p:ph type="title"/>
          </p:nvPr>
        </p:nvSpPr>
        <p:spPr>
          <a:xfrm>
            <a:off x="939400" y="1003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DNA library prep</a:t>
            </a:r>
            <a:endParaRPr/>
          </a:p>
        </p:txBody>
      </p:sp>
      <p:pic>
        <p:nvPicPr>
          <p:cNvPr id="432" name="Google Shape;432;p43"/>
          <p:cNvPicPr preferRelativeResize="0"/>
          <p:nvPr/>
        </p:nvPicPr>
        <p:blipFill rotWithShape="1">
          <a:blip r:embed="rId4">
            <a:alphaModFix/>
          </a:blip>
          <a:srcRect t="54020"/>
          <a:stretch/>
        </p:blipFill>
        <p:spPr>
          <a:xfrm>
            <a:off x="113075" y="2374300"/>
            <a:ext cx="3619824" cy="2449099"/>
          </a:xfrm>
          <a:prstGeom prst="rect">
            <a:avLst/>
          </a:prstGeom>
          <a:noFill/>
          <a:ln>
            <a:noFill/>
          </a:ln>
        </p:spPr>
      </p:pic>
      <p:sp>
        <p:nvSpPr>
          <p:cNvPr id="433" name="Google Shape;433;p43"/>
          <p:cNvSpPr/>
          <p:nvPr/>
        </p:nvSpPr>
        <p:spPr>
          <a:xfrm>
            <a:off x="238350" y="1010600"/>
            <a:ext cx="26991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3"/>
          <p:cNvSpPr/>
          <p:nvPr/>
        </p:nvSpPr>
        <p:spPr>
          <a:xfrm>
            <a:off x="238350" y="1134425"/>
            <a:ext cx="26991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3"/>
          <p:cNvSpPr txBox="1"/>
          <p:nvPr/>
        </p:nvSpPr>
        <p:spPr>
          <a:xfrm>
            <a:off x="1917900" y="571500"/>
            <a:ext cx="1306200" cy="8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t>gDNA or cDNA</a:t>
            </a:r>
            <a:endParaRPr sz="1100"/>
          </a:p>
        </p:txBody>
      </p:sp>
      <p:cxnSp>
        <p:nvCxnSpPr>
          <p:cNvPr id="436" name="Google Shape;436;p43"/>
          <p:cNvCxnSpPr/>
          <p:nvPr/>
        </p:nvCxnSpPr>
        <p:spPr>
          <a:xfrm flipH="1">
            <a:off x="1664000" y="1455225"/>
            <a:ext cx="4500" cy="485400"/>
          </a:xfrm>
          <a:prstGeom prst="straightConnector1">
            <a:avLst/>
          </a:prstGeom>
          <a:noFill/>
          <a:ln w="9525" cap="flat" cmpd="sng">
            <a:solidFill>
              <a:srgbClr val="000000"/>
            </a:solidFill>
            <a:prstDash val="solid"/>
            <a:round/>
            <a:headEnd type="none" w="med" len="med"/>
            <a:tailEnd type="triangle" w="med" len="med"/>
          </a:ln>
        </p:spPr>
      </p:cxnSp>
      <p:sp>
        <p:nvSpPr>
          <p:cNvPr id="437" name="Google Shape;437;p43"/>
          <p:cNvSpPr txBox="1"/>
          <p:nvPr/>
        </p:nvSpPr>
        <p:spPr>
          <a:xfrm>
            <a:off x="1767350" y="1490695"/>
            <a:ext cx="13062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t>Fragmentation</a:t>
            </a:r>
            <a:endParaRPr sz="1100"/>
          </a:p>
        </p:txBody>
      </p:sp>
      <p:sp>
        <p:nvSpPr>
          <p:cNvPr id="438" name="Google Shape;438;p43"/>
          <p:cNvSpPr/>
          <p:nvPr/>
        </p:nvSpPr>
        <p:spPr>
          <a:xfrm>
            <a:off x="238350" y="2046725"/>
            <a:ext cx="8808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3"/>
          <p:cNvSpPr/>
          <p:nvPr/>
        </p:nvSpPr>
        <p:spPr>
          <a:xfrm>
            <a:off x="238350" y="2175188"/>
            <a:ext cx="9534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3"/>
          <p:cNvSpPr/>
          <p:nvPr/>
        </p:nvSpPr>
        <p:spPr>
          <a:xfrm>
            <a:off x="1213100" y="2046725"/>
            <a:ext cx="10200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3"/>
          <p:cNvSpPr/>
          <p:nvPr/>
        </p:nvSpPr>
        <p:spPr>
          <a:xfrm>
            <a:off x="1279600" y="2175175"/>
            <a:ext cx="7500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3"/>
          <p:cNvSpPr/>
          <p:nvPr/>
        </p:nvSpPr>
        <p:spPr>
          <a:xfrm>
            <a:off x="2320850" y="2046725"/>
            <a:ext cx="9534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3"/>
          <p:cNvSpPr/>
          <p:nvPr/>
        </p:nvSpPr>
        <p:spPr>
          <a:xfrm>
            <a:off x="2076450" y="2175200"/>
            <a:ext cx="1197900" cy="69900"/>
          </a:xfrm>
          <a:prstGeom prst="roundRect">
            <a:avLst>
              <a:gd name="adj" fmla="val 50000"/>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3"/>
          <p:cNvSpPr txBox="1"/>
          <p:nvPr/>
        </p:nvSpPr>
        <p:spPr>
          <a:xfrm>
            <a:off x="3217925"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NEBNext </a:t>
            </a:r>
            <a:endParaRPr b="1"/>
          </a:p>
          <a:p>
            <a:pPr marL="0" lvl="0" indent="0" algn="ctr" rtl="0">
              <a:spcBef>
                <a:spcPts val="0"/>
              </a:spcBef>
              <a:spcAft>
                <a:spcPts val="0"/>
              </a:spcAft>
              <a:buNone/>
            </a:pPr>
            <a:r>
              <a:rPr lang="en" b="1"/>
              <a:t>Ultra II FS DNA</a:t>
            </a:r>
            <a:endParaRPr b="1"/>
          </a:p>
        </p:txBody>
      </p:sp>
      <p:sp>
        <p:nvSpPr>
          <p:cNvPr id="445" name="Google Shape;445;p43"/>
          <p:cNvSpPr txBox="1"/>
          <p:nvPr/>
        </p:nvSpPr>
        <p:spPr>
          <a:xfrm>
            <a:off x="722740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Nextera XT</a:t>
            </a:r>
            <a:endParaRPr b="1"/>
          </a:p>
          <a:p>
            <a:pPr marL="0" lvl="0" indent="0" algn="ctr" rtl="0">
              <a:spcBef>
                <a:spcPts val="0"/>
              </a:spcBef>
              <a:spcAft>
                <a:spcPts val="0"/>
              </a:spcAft>
              <a:buNone/>
            </a:pPr>
            <a:r>
              <a:rPr lang="en"/>
              <a:t>(small genomes, cDNA, amplicons)</a:t>
            </a:r>
            <a:endParaRPr/>
          </a:p>
        </p:txBody>
      </p:sp>
      <p:sp>
        <p:nvSpPr>
          <p:cNvPr id="446" name="Google Shape;446;p43"/>
          <p:cNvSpPr txBox="1"/>
          <p:nvPr/>
        </p:nvSpPr>
        <p:spPr>
          <a:xfrm>
            <a:off x="5345350" y="632575"/>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t>Illumina</a:t>
            </a:r>
            <a:endParaRPr b="1"/>
          </a:p>
          <a:p>
            <a:pPr marL="0" lvl="0" indent="0" algn="ctr" rtl="0">
              <a:spcBef>
                <a:spcPts val="0"/>
              </a:spcBef>
              <a:spcAft>
                <a:spcPts val="0"/>
              </a:spcAft>
              <a:buNone/>
            </a:pPr>
            <a:r>
              <a:rPr lang="en" b="1"/>
              <a:t>DNA Prep</a:t>
            </a:r>
            <a:endParaRPr b="1"/>
          </a:p>
          <a:p>
            <a:pPr marL="0" lvl="0" indent="0" algn="ctr" rtl="0">
              <a:spcBef>
                <a:spcPts val="0"/>
              </a:spcBef>
              <a:spcAft>
                <a:spcPts val="0"/>
              </a:spcAft>
              <a:buNone/>
            </a:pPr>
            <a:r>
              <a:rPr lang="en"/>
              <a:t>WGS, cDNA, amplicons</a:t>
            </a:r>
            <a:endParaRPr/>
          </a:p>
        </p:txBody>
      </p:sp>
      <p:cxnSp>
        <p:nvCxnSpPr>
          <p:cNvPr id="447" name="Google Shape;447;p43"/>
          <p:cNvCxnSpPr/>
          <p:nvPr/>
        </p:nvCxnSpPr>
        <p:spPr>
          <a:xfrm>
            <a:off x="3582275" y="1407300"/>
            <a:ext cx="0" cy="1540800"/>
          </a:xfrm>
          <a:prstGeom prst="straightConnector1">
            <a:avLst/>
          </a:prstGeom>
          <a:noFill/>
          <a:ln w="9525" cap="flat" cmpd="sng">
            <a:solidFill>
              <a:schemeClr val="dk2"/>
            </a:solidFill>
            <a:prstDash val="solid"/>
            <a:round/>
            <a:headEnd type="none" w="med" len="med"/>
            <a:tailEnd type="none" w="med" len="med"/>
          </a:ln>
        </p:spPr>
      </p:cxnSp>
      <p:sp>
        <p:nvSpPr>
          <p:cNvPr id="448" name="Google Shape;448;p43"/>
          <p:cNvSpPr txBox="1"/>
          <p:nvPr/>
        </p:nvSpPr>
        <p:spPr>
          <a:xfrm>
            <a:off x="3582275" y="1771700"/>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dirty="0"/>
              <a:t>1 </a:t>
            </a:r>
            <a:r>
              <a:rPr lang="en" sz="1300" dirty="0" err="1"/>
              <a:t>rxn</a:t>
            </a:r>
            <a:r>
              <a:rPr lang="en" sz="1300" dirty="0"/>
              <a:t>, </a:t>
            </a:r>
            <a:endParaRPr sz="1300" dirty="0"/>
          </a:p>
          <a:p>
            <a:pPr marL="0" lvl="0" indent="0" algn="l" rtl="0">
              <a:spcBef>
                <a:spcPts val="0"/>
              </a:spcBef>
              <a:spcAft>
                <a:spcPts val="0"/>
              </a:spcAft>
              <a:buNone/>
            </a:pPr>
            <a:r>
              <a:rPr lang="en" sz="1300" dirty="0" err="1"/>
              <a:t>Fragm</a:t>
            </a:r>
            <a:r>
              <a:rPr lang="en" sz="1300" dirty="0"/>
              <a:t>. enzyme + repair enzymes</a:t>
            </a:r>
            <a:endParaRPr sz="1300" dirty="0"/>
          </a:p>
        </p:txBody>
      </p:sp>
      <p:sp>
        <p:nvSpPr>
          <p:cNvPr id="449" name="Google Shape;449;p43"/>
          <p:cNvSpPr txBox="1"/>
          <p:nvPr/>
        </p:nvSpPr>
        <p:spPr>
          <a:xfrm>
            <a:off x="3582275" y="3038975"/>
            <a:ext cx="14271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a:t>1 rxn, U shaped adapters </a:t>
            </a:r>
            <a:endParaRPr sz="1300"/>
          </a:p>
        </p:txBody>
      </p:sp>
      <p:sp>
        <p:nvSpPr>
          <p:cNvPr id="450" name="Google Shape;450;p43"/>
          <p:cNvSpPr txBox="1"/>
          <p:nvPr/>
        </p:nvSpPr>
        <p:spPr>
          <a:xfrm>
            <a:off x="3582275"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451" name="Google Shape;451;p43"/>
          <p:cNvSpPr txBox="1"/>
          <p:nvPr/>
        </p:nvSpPr>
        <p:spPr>
          <a:xfrm>
            <a:off x="5586200"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cxnSp>
        <p:nvCxnSpPr>
          <p:cNvPr id="452" name="Google Shape;452;p43"/>
          <p:cNvCxnSpPr/>
          <p:nvPr/>
        </p:nvCxnSpPr>
        <p:spPr>
          <a:xfrm flipH="1">
            <a:off x="5492800" y="1407300"/>
            <a:ext cx="2700" cy="2569500"/>
          </a:xfrm>
          <a:prstGeom prst="straightConnector1">
            <a:avLst/>
          </a:prstGeom>
          <a:noFill/>
          <a:ln w="9525" cap="flat" cmpd="sng">
            <a:solidFill>
              <a:schemeClr val="dk2"/>
            </a:solidFill>
            <a:prstDash val="solid"/>
            <a:round/>
            <a:headEnd type="none" w="med" len="med"/>
            <a:tailEnd type="none" w="med" len="med"/>
          </a:ln>
        </p:spPr>
      </p:cxnSp>
      <p:cxnSp>
        <p:nvCxnSpPr>
          <p:cNvPr id="453" name="Google Shape;453;p43"/>
          <p:cNvCxnSpPr/>
          <p:nvPr/>
        </p:nvCxnSpPr>
        <p:spPr>
          <a:xfrm>
            <a:off x="7389825" y="1407300"/>
            <a:ext cx="0" cy="2582100"/>
          </a:xfrm>
          <a:prstGeom prst="straightConnector1">
            <a:avLst/>
          </a:prstGeom>
          <a:noFill/>
          <a:ln w="9525" cap="flat" cmpd="sng">
            <a:solidFill>
              <a:schemeClr val="dk2"/>
            </a:solidFill>
            <a:prstDash val="solid"/>
            <a:round/>
            <a:headEnd type="none" w="med" len="med"/>
            <a:tailEnd type="none" w="med" len="med"/>
          </a:ln>
        </p:spPr>
      </p:cxnSp>
      <p:sp>
        <p:nvSpPr>
          <p:cNvPr id="454" name="Google Shape;454;p43"/>
          <p:cNvSpPr txBox="1"/>
          <p:nvPr/>
        </p:nvSpPr>
        <p:spPr>
          <a:xfrm>
            <a:off x="5586200" y="1643225"/>
            <a:ext cx="1713000" cy="170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a:t>
            </a:r>
            <a:endParaRPr sz="1300"/>
          </a:p>
          <a:p>
            <a:pPr marL="0" lvl="0" indent="0" algn="l" rtl="0">
              <a:spcBef>
                <a:spcPts val="0"/>
              </a:spcBef>
              <a:spcAft>
                <a:spcPts val="0"/>
              </a:spcAft>
              <a:buNone/>
            </a:pPr>
            <a:r>
              <a:rPr lang="en" sz="1300"/>
              <a:t>Transposome frag. + ligation on bead</a:t>
            </a:r>
            <a:endParaRPr sz="1300"/>
          </a:p>
        </p:txBody>
      </p:sp>
      <p:sp>
        <p:nvSpPr>
          <p:cNvPr id="455" name="Google Shape;455;p43"/>
          <p:cNvSpPr txBox="1"/>
          <p:nvPr/>
        </p:nvSpPr>
        <p:spPr>
          <a:xfrm>
            <a:off x="7466025" y="1643225"/>
            <a:ext cx="1713000" cy="170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a:t>
            </a:r>
            <a:endParaRPr sz="1300"/>
          </a:p>
          <a:p>
            <a:pPr marL="0" lvl="0" indent="0" algn="l" rtl="0">
              <a:spcBef>
                <a:spcPts val="0"/>
              </a:spcBef>
              <a:spcAft>
                <a:spcPts val="0"/>
              </a:spcAft>
              <a:buNone/>
            </a:pPr>
            <a:r>
              <a:rPr lang="en" sz="1300"/>
              <a:t>Transposome frag. + ligation in solution</a:t>
            </a:r>
            <a:endParaRPr sz="1300"/>
          </a:p>
        </p:txBody>
      </p:sp>
      <p:sp>
        <p:nvSpPr>
          <p:cNvPr id="456" name="Google Shape;456;p43"/>
          <p:cNvSpPr txBox="1"/>
          <p:nvPr/>
        </p:nvSpPr>
        <p:spPr>
          <a:xfrm>
            <a:off x="7466025" y="4288175"/>
            <a:ext cx="582600"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t>1 rxn </a:t>
            </a:r>
            <a:endParaRPr sz="1300"/>
          </a:p>
        </p:txBody>
      </p:sp>
      <p:sp>
        <p:nvSpPr>
          <p:cNvPr id="457" name="Google Shape;457;p43"/>
          <p:cNvSpPr txBox="1"/>
          <p:nvPr/>
        </p:nvSpPr>
        <p:spPr>
          <a:xfrm>
            <a:off x="3955825" y="0"/>
            <a:ext cx="4337700" cy="50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a:t>DNA library kit options</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2">
          <a:extLst>
            <a:ext uri="{FF2B5EF4-FFF2-40B4-BE49-F238E27FC236}">
              <a16:creationId xmlns:a16="http://schemas.microsoft.com/office/drawing/2014/main" id="{A52AABC0-BC50-8FE9-BCE4-6210F1E6BD9F}"/>
            </a:ext>
          </a:extLst>
        </p:cNvPr>
        <p:cNvGrpSpPr/>
        <p:nvPr/>
      </p:nvGrpSpPr>
      <p:grpSpPr>
        <a:xfrm>
          <a:off x="0" y="0"/>
          <a:ext cx="0" cy="0"/>
          <a:chOff x="0" y="0"/>
          <a:chExt cx="0" cy="0"/>
        </a:xfrm>
      </p:grpSpPr>
      <p:pic>
        <p:nvPicPr>
          <p:cNvPr id="293" name="Google Shape;293;p35">
            <a:extLst>
              <a:ext uri="{FF2B5EF4-FFF2-40B4-BE49-F238E27FC236}">
                <a16:creationId xmlns:a16="http://schemas.microsoft.com/office/drawing/2014/main" id="{44E8D0D4-BD7C-0FD5-A418-7431EBFAED72}"/>
              </a:ext>
            </a:extLst>
          </p:cNvPr>
          <p:cNvPicPr preferRelativeResize="0"/>
          <p:nvPr/>
        </p:nvPicPr>
        <p:blipFill>
          <a:blip r:embed="rId3">
            <a:alphaModFix/>
          </a:blip>
          <a:stretch>
            <a:fillRect/>
          </a:stretch>
        </p:blipFill>
        <p:spPr>
          <a:xfrm>
            <a:off x="76200" y="76200"/>
            <a:ext cx="3391808" cy="4991101"/>
          </a:xfrm>
          <a:prstGeom prst="rect">
            <a:avLst/>
          </a:prstGeom>
          <a:noFill/>
          <a:ln>
            <a:noFill/>
          </a:ln>
        </p:spPr>
      </p:pic>
      <p:sp>
        <p:nvSpPr>
          <p:cNvPr id="294" name="Google Shape;294;p35">
            <a:extLst>
              <a:ext uri="{FF2B5EF4-FFF2-40B4-BE49-F238E27FC236}">
                <a16:creationId xmlns:a16="http://schemas.microsoft.com/office/drawing/2014/main" id="{3B2ED19C-C425-4B77-6C12-7BB2FF2830C1}"/>
              </a:ext>
            </a:extLst>
          </p:cNvPr>
          <p:cNvSpPr txBox="1"/>
          <p:nvPr/>
        </p:nvSpPr>
        <p:spPr>
          <a:xfrm>
            <a:off x="3216431" y="1243981"/>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t>1 </a:t>
            </a:r>
            <a:r>
              <a:rPr lang="en" sz="1200" dirty="0" err="1"/>
              <a:t>rxn</a:t>
            </a:r>
            <a:r>
              <a:rPr lang="en" sz="1200" dirty="0"/>
              <a:t>, </a:t>
            </a:r>
            <a:endParaRPr sz="1200" dirty="0"/>
          </a:p>
          <a:p>
            <a:pPr marL="0" lvl="0" indent="0" algn="l" rtl="0">
              <a:spcBef>
                <a:spcPts val="0"/>
              </a:spcBef>
              <a:spcAft>
                <a:spcPts val="0"/>
              </a:spcAft>
              <a:buNone/>
            </a:pPr>
            <a:r>
              <a:rPr lang="en" sz="1200" dirty="0" err="1"/>
              <a:t>fragm</a:t>
            </a:r>
            <a:r>
              <a:rPr lang="en" sz="1200" dirty="0"/>
              <a:t>. by Mg</a:t>
            </a:r>
            <a:r>
              <a:rPr lang="en" sz="1200" baseline="30000" dirty="0"/>
              <a:t>2+</a:t>
            </a:r>
            <a:r>
              <a:rPr lang="en" sz="1200" dirty="0"/>
              <a:t> &amp; heat</a:t>
            </a:r>
            <a:endParaRPr sz="1200" dirty="0"/>
          </a:p>
        </p:txBody>
      </p:sp>
      <p:sp>
        <p:nvSpPr>
          <p:cNvPr id="295" name="Google Shape;295;p35">
            <a:extLst>
              <a:ext uri="{FF2B5EF4-FFF2-40B4-BE49-F238E27FC236}">
                <a16:creationId xmlns:a16="http://schemas.microsoft.com/office/drawing/2014/main" id="{1DACAEFE-876F-244E-43C8-312ED8B55BC3}"/>
              </a:ext>
            </a:extLst>
          </p:cNvPr>
          <p:cNvSpPr txBox="1"/>
          <p:nvPr/>
        </p:nvSpPr>
        <p:spPr>
          <a:xfrm>
            <a:off x="3216431" y="1933781"/>
            <a:ext cx="2407344" cy="6017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t>1 </a:t>
            </a:r>
            <a:r>
              <a:rPr lang="en" sz="1200" dirty="0" err="1"/>
              <a:t>rxn</a:t>
            </a:r>
            <a:r>
              <a:rPr lang="en" sz="1200" dirty="0"/>
              <a:t> for 1</a:t>
            </a:r>
            <a:r>
              <a:rPr lang="en" sz="1200" baseline="30000" dirty="0"/>
              <a:t>st</a:t>
            </a:r>
            <a:r>
              <a:rPr lang="en" sz="1200" dirty="0"/>
              <a:t> str. </a:t>
            </a:r>
            <a:r>
              <a:rPr lang="en" sz="1200" dirty="0" err="1"/>
              <a:t>synt</a:t>
            </a:r>
            <a:r>
              <a:rPr lang="en" sz="1200" dirty="0"/>
              <a:t>.</a:t>
            </a:r>
            <a:endParaRPr sz="1200" dirty="0"/>
          </a:p>
          <a:p>
            <a:pPr marL="0" lvl="0" indent="0" algn="l" rtl="0">
              <a:spcBef>
                <a:spcPts val="0"/>
              </a:spcBef>
              <a:spcAft>
                <a:spcPts val="0"/>
              </a:spcAft>
              <a:buNone/>
            </a:pPr>
            <a:r>
              <a:rPr lang="en" sz="1200" dirty="0"/>
              <a:t>1 </a:t>
            </a:r>
            <a:r>
              <a:rPr lang="en" sz="1200" dirty="0" err="1"/>
              <a:t>rxn</a:t>
            </a:r>
            <a:r>
              <a:rPr lang="en" sz="1200" dirty="0"/>
              <a:t> for 2</a:t>
            </a:r>
            <a:r>
              <a:rPr lang="en" sz="1200" baseline="30000" dirty="0"/>
              <a:t>nd</a:t>
            </a:r>
            <a:r>
              <a:rPr lang="en" sz="1200" dirty="0"/>
              <a:t> str. </a:t>
            </a:r>
            <a:r>
              <a:rPr lang="en" sz="1200" dirty="0" err="1"/>
              <a:t>synt</a:t>
            </a:r>
            <a:r>
              <a:rPr lang="en" sz="1200" dirty="0"/>
              <a:t>.</a:t>
            </a:r>
            <a:endParaRPr sz="1200" dirty="0"/>
          </a:p>
        </p:txBody>
      </p:sp>
      <p:sp>
        <p:nvSpPr>
          <p:cNvPr id="296" name="Google Shape;296;p35">
            <a:extLst>
              <a:ext uri="{FF2B5EF4-FFF2-40B4-BE49-F238E27FC236}">
                <a16:creationId xmlns:a16="http://schemas.microsoft.com/office/drawing/2014/main" id="{26614E93-7AA8-C411-F1B3-FD44CC223D7C}"/>
              </a:ext>
            </a:extLst>
          </p:cNvPr>
          <p:cNvSpPr txBox="1"/>
          <p:nvPr/>
        </p:nvSpPr>
        <p:spPr>
          <a:xfrm>
            <a:off x="3216430" y="2785046"/>
            <a:ext cx="1848299"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1 </a:t>
            </a:r>
            <a:r>
              <a:rPr lang="en" sz="1200" dirty="0" err="1"/>
              <a:t>rxn</a:t>
            </a:r>
            <a:r>
              <a:rPr lang="en" sz="1200" dirty="0"/>
              <a:t> </a:t>
            </a:r>
            <a:endParaRPr sz="1200" dirty="0"/>
          </a:p>
        </p:txBody>
      </p:sp>
      <p:sp>
        <p:nvSpPr>
          <p:cNvPr id="297" name="Google Shape;297;p35">
            <a:extLst>
              <a:ext uri="{FF2B5EF4-FFF2-40B4-BE49-F238E27FC236}">
                <a16:creationId xmlns:a16="http://schemas.microsoft.com/office/drawing/2014/main" id="{C305CF9F-D9EE-48C2-33C4-C11B4521F29E}"/>
              </a:ext>
            </a:extLst>
          </p:cNvPr>
          <p:cNvSpPr txBox="1"/>
          <p:nvPr/>
        </p:nvSpPr>
        <p:spPr>
          <a:xfrm>
            <a:off x="3216431" y="3353556"/>
            <a:ext cx="14271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t>1 rxn, U shaped adapters </a:t>
            </a:r>
            <a:endParaRPr sz="1200"/>
          </a:p>
        </p:txBody>
      </p:sp>
      <p:sp>
        <p:nvSpPr>
          <p:cNvPr id="298" name="Google Shape;298;p35">
            <a:extLst>
              <a:ext uri="{FF2B5EF4-FFF2-40B4-BE49-F238E27FC236}">
                <a16:creationId xmlns:a16="http://schemas.microsoft.com/office/drawing/2014/main" id="{28093C71-C60B-B91D-9B9C-EA8FDDDC2936}"/>
              </a:ext>
            </a:extLst>
          </p:cNvPr>
          <p:cNvSpPr txBox="1"/>
          <p:nvPr/>
        </p:nvSpPr>
        <p:spPr>
          <a:xfrm>
            <a:off x="3216431" y="4171219"/>
            <a:ext cx="2616335"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1 </a:t>
            </a:r>
            <a:r>
              <a:rPr lang="en" sz="1200" dirty="0" err="1"/>
              <a:t>rxn</a:t>
            </a:r>
            <a:r>
              <a:rPr lang="en" sz="1200" dirty="0"/>
              <a:t> with an extra enzymatic </a:t>
            </a:r>
          </a:p>
          <a:p>
            <a:pPr marL="0" lvl="0" indent="0" algn="l" rtl="0">
              <a:spcBef>
                <a:spcPts val="0"/>
              </a:spcBef>
              <a:spcAft>
                <a:spcPts val="0"/>
              </a:spcAft>
              <a:buNone/>
            </a:pPr>
            <a:r>
              <a:rPr lang="en" sz="1200" dirty="0"/>
              <a:t>step to digest the “U” </a:t>
            </a:r>
            <a:endParaRPr sz="1200" dirty="0"/>
          </a:p>
        </p:txBody>
      </p:sp>
      <p:sp>
        <p:nvSpPr>
          <p:cNvPr id="300" name="Google Shape;300;p35">
            <a:extLst>
              <a:ext uri="{FF2B5EF4-FFF2-40B4-BE49-F238E27FC236}">
                <a16:creationId xmlns:a16="http://schemas.microsoft.com/office/drawing/2014/main" id="{C16E9588-4CB6-E77D-47CB-BBDCB72173D8}"/>
              </a:ext>
            </a:extLst>
          </p:cNvPr>
          <p:cNvSpPr txBox="1"/>
          <p:nvPr/>
        </p:nvSpPr>
        <p:spPr>
          <a:xfrm>
            <a:off x="3216431" y="596381"/>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err="1"/>
              <a:t>NEBNext</a:t>
            </a:r>
            <a:r>
              <a:rPr lang="en" sz="1200" b="1" dirty="0"/>
              <a:t> </a:t>
            </a:r>
            <a:endParaRPr sz="1200" b="1" dirty="0"/>
          </a:p>
          <a:p>
            <a:pPr marL="0" lvl="0" indent="0" algn="ctr" rtl="0">
              <a:spcBef>
                <a:spcPts val="0"/>
              </a:spcBef>
              <a:spcAft>
                <a:spcPts val="0"/>
              </a:spcAft>
              <a:buNone/>
            </a:pPr>
            <a:r>
              <a:rPr lang="en" sz="1200" b="1" dirty="0"/>
              <a:t>Ultra II RNA</a:t>
            </a:r>
            <a:endParaRPr sz="1200" b="1" dirty="0"/>
          </a:p>
        </p:txBody>
      </p:sp>
      <p:sp>
        <p:nvSpPr>
          <p:cNvPr id="314" name="Google Shape;314;p35">
            <a:extLst>
              <a:ext uri="{FF2B5EF4-FFF2-40B4-BE49-F238E27FC236}">
                <a16:creationId xmlns:a16="http://schemas.microsoft.com/office/drawing/2014/main" id="{1AD261E4-C98D-3D73-33F5-C7FF75F18D6B}"/>
              </a:ext>
            </a:extLst>
          </p:cNvPr>
          <p:cNvSpPr txBox="1"/>
          <p:nvPr/>
        </p:nvSpPr>
        <p:spPr>
          <a:xfrm>
            <a:off x="3955825" y="0"/>
            <a:ext cx="4337700" cy="50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a:t>RNA library kit options</a:t>
            </a:r>
            <a:endParaRPr sz="2800"/>
          </a:p>
        </p:txBody>
      </p:sp>
      <p:sp>
        <p:nvSpPr>
          <p:cNvPr id="2" name="TextBox 1">
            <a:extLst>
              <a:ext uri="{FF2B5EF4-FFF2-40B4-BE49-F238E27FC236}">
                <a16:creationId xmlns:a16="http://schemas.microsoft.com/office/drawing/2014/main" id="{C1629BBE-0FC8-3D5E-D4BB-CF422B4E013B}"/>
              </a:ext>
            </a:extLst>
          </p:cNvPr>
          <p:cNvSpPr txBox="1"/>
          <p:nvPr/>
        </p:nvSpPr>
        <p:spPr>
          <a:xfrm>
            <a:off x="3216431" y="2491456"/>
            <a:ext cx="1848299" cy="276999"/>
          </a:xfrm>
          <a:prstGeom prst="rect">
            <a:avLst/>
          </a:prstGeom>
          <a:noFill/>
        </p:spPr>
        <p:txBody>
          <a:bodyPr wrap="square" rtlCol="0">
            <a:spAutoFit/>
          </a:bodyPr>
          <a:lstStyle/>
          <a:p>
            <a:r>
              <a:rPr lang="en-US" sz="1200" dirty="0">
                <a:solidFill>
                  <a:schemeClr val="bg2">
                    <a:lumMod val="60000"/>
                    <a:lumOff val="40000"/>
                  </a:schemeClr>
                </a:solidFill>
              </a:rPr>
              <a:t>SPRI bead cleanup</a:t>
            </a:r>
          </a:p>
        </p:txBody>
      </p:sp>
      <p:sp>
        <p:nvSpPr>
          <p:cNvPr id="3" name="TextBox 2">
            <a:extLst>
              <a:ext uri="{FF2B5EF4-FFF2-40B4-BE49-F238E27FC236}">
                <a16:creationId xmlns:a16="http://schemas.microsoft.com/office/drawing/2014/main" id="{938C7B66-FC9F-BD22-BE64-57C0D44B159F}"/>
              </a:ext>
            </a:extLst>
          </p:cNvPr>
          <p:cNvSpPr txBox="1"/>
          <p:nvPr/>
        </p:nvSpPr>
        <p:spPr>
          <a:xfrm>
            <a:off x="3216431" y="3910531"/>
            <a:ext cx="1848299" cy="276999"/>
          </a:xfrm>
          <a:prstGeom prst="rect">
            <a:avLst/>
          </a:prstGeom>
          <a:noFill/>
        </p:spPr>
        <p:txBody>
          <a:bodyPr wrap="square" rtlCol="0">
            <a:spAutoFit/>
          </a:bodyPr>
          <a:lstStyle/>
          <a:p>
            <a:r>
              <a:rPr lang="en-US" sz="1200" dirty="0">
                <a:solidFill>
                  <a:schemeClr val="bg2">
                    <a:lumMod val="60000"/>
                    <a:lumOff val="40000"/>
                  </a:schemeClr>
                </a:solidFill>
              </a:rPr>
              <a:t>SPRI bead cleanup</a:t>
            </a:r>
          </a:p>
        </p:txBody>
      </p:sp>
      <p:sp>
        <p:nvSpPr>
          <p:cNvPr id="4" name="TextBox 3">
            <a:extLst>
              <a:ext uri="{FF2B5EF4-FFF2-40B4-BE49-F238E27FC236}">
                <a16:creationId xmlns:a16="http://schemas.microsoft.com/office/drawing/2014/main" id="{596DB3A5-F9E8-9B55-6A37-F5BD4AD17CC4}"/>
              </a:ext>
            </a:extLst>
          </p:cNvPr>
          <p:cNvSpPr txBox="1"/>
          <p:nvPr/>
        </p:nvSpPr>
        <p:spPr>
          <a:xfrm>
            <a:off x="3216431" y="4716669"/>
            <a:ext cx="1848299" cy="276999"/>
          </a:xfrm>
          <a:prstGeom prst="rect">
            <a:avLst/>
          </a:prstGeom>
          <a:noFill/>
        </p:spPr>
        <p:txBody>
          <a:bodyPr wrap="square" rtlCol="0">
            <a:spAutoFit/>
          </a:bodyPr>
          <a:lstStyle/>
          <a:p>
            <a:r>
              <a:rPr lang="en-US" sz="1200" dirty="0">
                <a:solidFill>
                  <a:schemeClr val="bg2">
                    <a:lumMod val="60000"/>
                    <a:lumOff val="40000"/>
                  </a:schemeClr>
                </a:solidFill>
              </a:rPr>
              <a:t>SPRI bead cleanup</a:t>
            </a:r>
          </a:p>
        </p:txBody>
      </p:sp>
      <p:sp>
        <p:nvSpPr>
          <p:cNvPr id="5" name="Google Shape;300;p35">
            <a:extLst>
              <a:ext uri="{FF2B5EF4-FFF2-40B4-BE49-F238E27FC236}">
                <a16:creationId xmlns:a16="http://schemas.microsoft.com/office/drawing/2014/main" id="{8755A8F3-B361-A870-D5EC-E5E4B87EE08C}"/>
              </a:ext>
            </a:extLst>
          </p:cNvPr>
          <p:cNvSpPr txBox="1"/>
          <p:nvPr/>
        </p:nvSpPr>
        <p:spPr>
          <a:xfrm>
            <a:off x="4901053" y="736781"/>
            <a:ext cx="1996500" cy="473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b="1" dirty="0"/>
              <a:t>Watchmaker </a:t>
            </a:r>
            <a:r>
              <a:rPr lang="en" sz="1200" b="1" dirty="0"/>
              <a:t>RNA kit</a:t>
            </a:r>
            <a:endParaRPr sz="1200" b="1" dirty="0"/>
          </a:p>
        </p:txBody>
      </p:sp>
      <p:sp>
        <p:nvSpPr>
          <p:cNvPr id="6" name="Google Shape;294;p35">
            <a:extLst>
              <a:ext uri="{FF2B5EF4-FFF2-40B4-BE49-F238E27FC236}">
                <a16:creationId xmlns:a16="http://schemas.microsoft.com/office/drawing/2014/main" id="{B8C2C8B5-605D-E0F8-46E9-22E4660A9BC6}"/>
              </a:ext>
            </a:extLst>
          </p:cNvPr>
          <p:cNvSpPr txBox="1"/>
          <p:nvPr/>
        </p:nvSpPr>
        <p:spPr>
          <a:xfrm>
            <a:off x="5037771" y="1170708"/>
            <a:ext cx="1848300"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dirty="0"/>
              <a:t>1 </a:t>
            </a:r>
            <a:r>
              <a:rPr lang="en" sz="1300" dirty="0" err="1"/>
              <a:t>rxn</a:t>
            </a:r>
            <a:r>
              <a:rPr lang="en" sz="1300" dirty="0"/>
              <a:t>, </a:t>
            </a:r>
            <a:endParaRPr sz="1300" dirty="0"/>
          </a:p>
          <a:p>
            <a:pPr marL="0" lvl="0" indent="0" algn="l" rtl="0">
              <a:spcBef>
                <a:spcPts val="0"/>
              </a:spcBef>
              <a:spcAft>
                <a:spcPts val="0"/>
              </a:spcAft>
              <a:buNone/>
            </a:pPr>
            <a:r>
              <a:rPr lang="en" sz="1300" dirty="0" err="1"/>
              <a:t>fragm</a:t>
            </a:r>
            <a:r>
              <a:rPr lang="en" sz="1300" dirty="0"/>
              <a:t>. by Mg</a:t>
            </a:r>
            <a:r>
              <a:rPr lang="en" sz="1300" baseline="30000" dirty="0"/>
              <a:t>2+</a:t>
            </a:r>
            <a:r>
              <a:rPr lang="en" sz="1300" dirty="0"/>
              <a:t> &amp; heat</a:t>
            </a:r>
            <a:endParaRPr sz="1300" dirty="0"/>
          </a:p>
        </p:txBody>
      </p:sp>
      <p:sp>
        <p:nvSpPr>
          <p:cNvPr id="9" name="Google Shape;297;p35">
            <a:extLst>
              <a:ext uri="{FF2B5EF4-FFF2-40B4-BE49-F238E27FC236}">
                <a16:creationId xmlns:a16="http://schemas.microsoft.com/office/drawing/2014/main" id="{EEC5229B-5DB1-8090-243B-8070B94084E1}"/>
              </a:ext>
            </a:extLst>
          </p:cNvPr>
          <p:cNvSpPr txBox="1"/>
          <p:nvPr/>
        </p:nvSpPr>
        <p:spPr>
          <a:xfrm>
            <a:off x="5037771" y="2613857"/>
            <a:ext cx="2053522" cy="473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300" dirty="0"/>
              <a:t>1 </a:t>
            </a:r>
            <a:r>
              <a:rPr lang="en" sz="1300" dirty="0" err="1"/>
              <a:t>rxn</a:t>
            </a:r>
            <a:r>
              <a:rPr lang="en" sz="1300" dirty="0"/>
              <a:t>, adapter ligation        (</a:t>
            </a:r>
            <a:r>
              <a:rPr lang="en" sz="1300" dirty="0" err="1"/>
              <a:t>miniadapters</a:t>
            </a:r>
            <a:r>
              <a:rPr lang="en" sz="1300" dirty="0"/>
              <a:t>) </a:t>
            </a:r>
            <a:endParaRPr sz="1300" dirty="0"/>
          </a:p>
        </p:txBody>
      </p:sp>
      <p:sp>
        <p:nvSpPr>
          <p:cNvPr id="10" name="Google Shape;298;p35">
            <a:extLst>
              <a:ext uri="{FF2B5EF4-FFF2-40B4-BE49-F238E27FC236}">
                <a16:creationId xmlns:a16="http://schemas.microsoft.com/office/drawing/2014/main" id="{279BCE76-8DBA-7E4A-1ABA-07C5F13AD543}"/>
              </a:ext>
            </a:extLst>
          </p:cNvPr>
          <p:cNvSpPr txBox="1"/>
          <p:nvPr/>
        </p:nvSpPr>
        <p:spPr>
          <a:xfrm>
            <a:off x="4998705" y="3352942"/>
            <a:ext cx="1780723" cy="47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1 </a:t>
            </a:r>
            <a:r>
              <a:rPr lang="en" sz="1200" dirty="0" err="1"/>
              <a:t>rxn</a:t>
            </a:r>
            <a:r>
              <a:rPr lang="en" sz="1200" dirty="0"/>
              <a:t> Barcoding PCR</a:t>
            </a:r>
            <a:endParaRPr sz="1200" dirty="0"/>
          </a:p>
        </p:txBody>
      </p:sp>
      <p:sp>
        <p:nvSpPr>
          <p:cNvPr id="12" name="TextBox 11">
            <a:extLst>
              <a:ext uri="{FF2B5EF4-FFF2-40B4-BE49-F238E27FC236}">
                <a16:creationId xmlns:a16="http://schemas.microsoft.com/office/drawing/2014/main" id="{B63D316C-5393-169E-23D9-0F9169FA4DC1}"/>
              </a:ext>
            </a:extLst>
          </p:cNvPr>
          <p:cNvSpPr txBox="1"/>
          <p:nvPr/>
        </p:nvSpPr>
        <p:spPr>
          <a:xfrm>
            <a:off x="4998705" y="3047310"/>
            <a:ext cx="1848299" cy="276999"/>
          </a:xfrm>
          <a:prstGeom prst="rect">
            <a:avLst/>
          </a:prstGeom>
          <a:noFill/>
        </p:spPr>
        <p:txBody>
          <a:bodyPr wrap="square" rtlCol="0">
            <a:spAutoFit/>
          </a:bodyPr>
          <a:lstStyle/>
          <a:p>
            <a:r>
              <a:rPr lang="en-US" sz="1200" dirty="0">
                <a:solidFill>
                  <a:schemeClr val="bg2">
                    <a:lumMod val="60000"/>
                    <a:lumOff val="40000"/>
                  </a:schemeClr>
                </a:solidFill>
              </a:rPr>
              <a:t>SPRI bead cleanup</a:t>
            </a:r>
          </a:p>
        </p:txBody>
      </p:sp>
      <p:grpSp>
        <p:nvGrpSpPr>
          <p:cNvPr id="19" name="Group 18">
            <a:extLst>
              <a:ext uri="{FF2B5EF4-FFF2-40B4-BE49-F238E27FC236}">
                <a16:creationId xmlns:a16="http://schemas.microsoft.com/office/drawing/2014/main" id="{91B5F9B1-67A5-D76C-4C45-5357BF2A6249}"/>
              </a:ext>
            </a:extLst>
          </p:cNvPr>
          <p:cNvGrpSpPr/>
          <p:nvPr/>
        </p:nvGrpSpPr>
        <p:grpSpPr>
          <a:xfrm>
            <a:off x="7404685" y="2463658"/>
            <a:ext cx="1600548" cy="2116652"/>
            <a:chOff x="5254752" y="1603237"/>
            <a:chExt cx="1600548" cy="1563896"/>
          </a:xfrm>
          <a:noFill/>
        </p:grpSpPr>
        <p:sp>
          <p:nvSpPr>
            <p:cNvPr id="17" name="Rounded Rectangle 16">
              <a:extLst>
                <a:ext uri="{FF2B5EF4-FFF2-40B4-BE49-F238E27FC236}">
                  <a16:creationId xmlns:a16="http://schemas.microsoft.com/office/drawing/2014/main" id="{954AAF18-1F33-7552-B288-169B436F8E83}"/>
                </a:ext>
              </a:extLst>
            </p:cNvPr>
            <p:cNvSpPr/>
            <p:nvPr/>
          </p:nvSpPr>
          <p:spPr>
            <a:xfrm>
              <a:off x="5254752" y="1603237"/>
              <a:ext cx="1585201" cy="1563896"/>
            </a:xfrm>
            <a:prstGeom prst="roundRect">
              <a:avLst/>
            </a:prstGeom>
            <a:grp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BE04B1C-589D-3E9D-BC7F-93A3C1D87601}"/>
                </a:ext>
              </a:extLst>
            </p:cNvPr>
            <p:cNvSpPr txBox="1"/>
            <p:nvPr/>
          </p:nvSpPr>
          <p:spPr>
            <a:xfrm>
              <a:off x="5304214" y="1650083"/>
              <a:ext cx="1551086" cy="1375805"/>
            </a:xfrm>
            <a:prstGeom prst="rect">
              <a:avLst/>
            </a:prstGeom>
            <a:grpFill/>
          </p:spPr>
          <p:txBody>
            <a:bodyPr wrap="square" rtlCol="0">
              <a:spAutoFit/>
            </a:bodyPr>
            <a:lstStyle/>
            <a:p>
              <a:pPr algn="ctr"/>
              <a:r>
                <a:rPr lang="en-US" sz="1000" b="1" dirty="0"/>
                <a:t>Watchmaker advantages</a:t>
              </a:r>
            </a:p>
            <a:p>
              <a:r>
                <a:rPr lang="en-US" sz="1000" dirty="0"/>
                <a:t>~4x input material</a:t>
              </a:r>
            </a:p>
            <a:p>
              <a:endParaRPr lang="en-US" sz="1000" dirty="0"/>
            </a:p>
            <a:p>
              <a:r>
                <a:rPr lang="en-US" sz="1000" dirty="0"/>
                <a:t>1 Rx less: 2</a:t>
              </a:r>
              <a:r>
                <a:rPr lang="en-US" sz="1000" baseline="30000" dirty="0"/>
                <a:t>ND</a:t>
              </a:r>
              <a:r>
                <a:rPr lang="en-US" sz="1000" dirty="0"/>
                <a:t> SS &amp; End repair are combined</a:t>
              </a:r>
            </a:p>
            <a:p>
              <a:endParaRPr lang="en-US" sz="1000" dirty="0"/>
            </a:p>
            <a:p>
              <a:r>
                <a:rPr lang="en-US" sz="1000" dirty="0"/>
                <a:t>1 less cleanup</a:t>
              </a:r>
            </a:p>
            <a:p>
              <a:endParaRPr lang="en-US" sz="1000" dirty="0"/>
            </a:p>
            <a:p>
              <a:r>
                <a:rPr lang="en-US" sz="1000" dirty="0"/>
                <a:t>The use of </a:t>
              </a:r>
              <a:r>
                <a:rPr lang="en-US" sz="1000" dirty="0" err="1"/>
                <a:t>miniadapters</a:t>
              </a:r>
              <a:r>
                <a:rPr lang="en-US" sz="1000" dirty="0"/>
                <a:t> leads to smaller AD and more efficient clean-ups </a:t>
              </a:r>
            </a:p>
          </p:txBody>
        </p:sp>
      </p:grpSp>
      <p:sp>
        <p:nvSpPr>
          <p:cNvPr id="20" name="TextBox 19">
            <a:extLst>
              <a:ext uri="{FF2B5EF4-FFF2-40B4-BE49-F238E27FC236}">
                <a16:creationId xmlns:a16="http://schemas.microsoft.com/office/drawing/2014/main" id="{B8B15FAC-7CFF-4D58-E2C0-11D515C97DA1}"/>
              </a:ext>
            </a:extLst>
          </p:cNvPr>
          <p:cNvSpPr txBox="1"/>
          <p:nvPr/>
        </p:nvSpPr>
        <p:spPr>
          <a:xfrm>
            <a:off x="4998705" y="3714130"/>
            <a:ext cx="1848299" cy="276999"/>
          </a:xfrm>
          <a:prstGeom prst="rect">
            <a:avLst/>
          </a:prstGeom>
          <a:noFill/>
        </p:spPr>
        <p:txBody>
          <a:bodyPr wrap="square" rtlCol="0">
            <a:spAutoFit/>
          </a:bodyPr>
          <a:lstStyle/>
          <a:p>
            <a:r>
              <a:rPr lang="en-US" sz="1200" dirty="0">
                <a:solidFill>
                  <a:schemeClr val="bg2">
                    <a:lumMod val="60000"/>
                    <a:lumOff val="40000"/>
                  </a:schemeClr>
                </a:solidFill>
              </a:rPr>
              <a:t>SPRI bead cleanup</a:t>
            </a:r>
          </a:p>
        </p:txBody>
      </p:sp>
      <p:cxnSp>
        <p:nvCxnSpPr>
          <p:cNvPr id="22" name="Straight Connector 21">
            <a:extLst>
              <a:ext uri="{FF2B5EF4-FFF2-40B4-BE49-F238E27FC236}">
                <a16:creationId xmlns:a16="http://schemas.microsoft.com/office/drawing/2014/main" id="{68E7583F-350A-9278-96C3-3B67C1F51FF4}"/>
              </a:ext>
            </a:extLst>
          </p:cNvPr>
          <p:cNvCxnSpPr>
            <a:cxnSpLocks/>
          </p:cNvCxnSpPr>
          <p:nvPr/>
        </p:nvCxnSpPr>
        <p:spPr>
          <a:xfrm>
            <a:off x="4889500" y="797801"/>
            <a:ext cx="11553" cy="3418362"/>
          </a:xfrm>
          <a:prstGeom prst="line">
            <a:avLst/>
          </a:prstGeom>
        </p:spPr>
        <p:style>
          <a:lnRef idx="1">
            <a:schemeClr val="accent2"/>
          </a:lnRef>
          <a:fillRef idx="0">
            <a:schemeClr val="accent2"/>
          </a:fillRef>
          <a:effectRef idx="0">
            <a:schemeClr val="accent2"/>
          </a:effectRef>
          <a:fontRef idx="minor">
            <a:schemeClr val="tx1"/>
          </a:fontRef>
        </p:style>
      </p:cxnSp>
      <p:sp>
        <p:nvSpPr>
          <p:cNvPr id="27" name="Google Shape;295;p35">
            <a:extLst>
              <a:ext uri="{FF2B5EF4-FFF2-40B4-BE49-F238E27FC236}">
                <a16:creationId xmlns:a16="http://schemas.microsoft.com/office/drawing/2014/main" id="{D2308417-805D-7711-EEA0-3D3960CACC81}"/>
              </a:ext>
            </a:extLst>
          </p:cNvPr>
          <p:cNvSpPr txBox="1"/>
          <p:nvPr/>
        </p:nvSpPr>
        <p:spPr>
          <a:xfrm>
            <a:off x="5037771" y="1855880"/>
            <a:ext cx="2407344" cy="60177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t>1 </a:t>
            </a:r>
            <a:r>
              <a:rPr lang="en" sz="1200" dirty="0" err="1"/>
              <a:t>rxn</a:t>
            </a:r>
            <a:r>
              <a:rPr lang="en" sz="1200" dirty="0"/>
              <a:t> for 1</a:t>
            </a:r>
            <a:r>
              <a:rPr lang="en" sz="1200" baseline="30000" dirty="0"/>
              <a:t>st</a:t>
            </a:r>
            <a:r>
              <a:rPr lang="en" sz="1200" dirty="0"/>
              <a:t> str. </a:t>
            </a:r>
            <a:r>
              <a:rPr lang="en" sz="1200" dirty="0" err="1"/>
              <a:t>synt</a:t>
            </a:r>
            <a:r>
              <a:rPr lang="en" sz="1200" dirty="0"/>
              <a:t>.</a:t>
            </a:r>
            <a:endParaRPr sz="1200" dirty="0"/>
          </a:p>
          <a:p>
            <a:pPr marL="0" lvl="0" indent="0" algn="l" rtl="0">
              <a:spcBef>
                <a:spcPts val="0"/>
              </a:spcBef>
              <a:spcAft>
                <a:spcPts val="0"/>
              </a:spcAft>
              <a:buNone/>
            </a:pPr>
            <a:r>
              <a:rPr lang="en" sz="1200" dirty="0"/>
              <a:t>1 </a:t>
            </a:r>
            <a:r>
              <a:rPr lang="en" sz="1200" dirty="0" err="1"/>
              <a:t>rxn</a:t>
            </a:r>
            <a:r>
              <a:rPr lang="en" sz="1200" dirty="0"/>
              <a:t> for 2</a:t>
            </a:r>
            <a:r>
              <a:rPr lang="en" sz="1200" baseline="30000" dirty="0"/>
              <a:t>nd</a:t>
            </a:r>
            <a:r>
              <a:rPr lang="en" sz="1200" dirty="0"/>
              <a:t> str. </a:t>
            </a:r>
            <a:r>
              <a:rPr lang="en" sz="1200" dirty="0" err="1"/>
              <a:t>synt</a:t>
            </a:r>
            <a:r>
              <a:rPr lang="en" sz="1200" dirty="0"/>
              <a:t>.</a:t>
            </a:r>
            <a:endParaRPr sz="1200" dirty="0"/>
          </a:p>
        </p:txBody>
      </p:sp>
      <p:sp>
        <p:nvSpPr>
          <p:cNvPr id="28" name="Google Shape;300;p35">
            <a:extLst>
              <a:ext uri="{FF2B5EF4-FFF2-40B4-BE49-F238E27FC236}">
                <a16:creationId xmlns:a16="http://schemas.microsoft.com/office/drawing/2014/main" id="{A4936B33-A7BB-CE7C-0860-CF77AE1CDA53}"/>
              </a:ext>
            </a:extLst>
          </p:cNvPr>
          <p:cNvSpPr txBox="1"/>
          <p:nvPr/>
        </p:nvSpPr>
        <p:spPr>
          <a:xfrm>
            <a:off x="6909106" y="673701"/>
            <a:ext cx="2384238" cy="1269939"/>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b="1" dirty="0"/>
              <a:t>Illumina rapid </a:t>
            </a:r>
          </a:p>
          <a:p>
            <a:pPr marL="0" lvl="0" indent="0" algn="ctr" rtl="0">
              <a:spcBef>
                <a:spcPts val="0"/>
              </a:spcBef>
              <a:spcAft>
                <a:spcPts val="0"/>
              </a:spcAft>
              <a:buNone/>
            </a:pPr>
            <a:r>
              <a:rPr lang="en-US" sz="1200" b="1" dirty="0"/>
              <a:t>total RNA prep</a:t>
            </a:r>
          </a:p>
          <a:p>
            <a:pPr marL="0" lvl="0" indent="0" algn="ctr" rtl="0">
              <a:spcBef>
                <a:spcPts val="0"/>
              </a:spcBef>
              <a:spcAft>
                <a:spcPts val="0"/>
              </a:spcAft>
              <a:buNone/>
            </a:pPr>
            <a:endParaRPr lang="en-US" sz="1200" b="1" dirty="0"/>
          </a:p>
          <a:p>
            <a:pPr marL="0" lvl="0" indent="0" rtl="0">
              <a:spcBef>
                <a:spcPts val="0"/>
              </a:spcBef>
              <a:spcAft>
                <a:spcPts val="0"/>
              </a:spcAft>
              <a:buNone/>
            </a:pPr>
            <a:r>
              <a:rPr lang="en-US" sz="1200" dirty="0"/>
              <a:t>After rRNA depletion cDNA synthesis and </a:t>
            </a:r>
            <a:r>
              <a:rPr lang="en-US" sz="1200" dirty="0" err="1"/>
              <a:t>tagmentation</a:t>
            </a:r>
            <a:r>
              <a:rPr lang="en-US" sz="1200" dirty="0"/>
              <a:t> occur simultaneously ~3.5 </a:t>
            </a:r>
            <a:r>
              <a:rPr lang="en-US" sz="1200" dirty="0" err="1"/>
              <a:t>hr</a:t>
            </a:r>
            <a:r>
              <a:rPr lang="en-US" sz="1200" dirty="0"/>
              <a:t> </a:t>
            </a:r>
            <a:endParaRPr sz="1200" dirty="0"/>
          </a:p>
        </p:txBody>
      </p:sp>
      <p:cxnSp>
        <p:nvCxnSpPr>
          <p:cNvPr id="29" name="Straight Connector 28">
            <a:extLst>
              <a:ext uri="{FF2B5EF4-FFF2-40B4-BE49-F238E27FC236}">
                <a16:creationId xmlns:a16="http://schemas.microsoft.com/office/drawing/2014/main" id="{EA79F3FD-98A9-3FC2-6C51-722061A4FF6B}"/>
              </a:ext>
            </a:extLst>
          </p:cNvPr>
          <p:cNvCxnSpPr>
            <a:cxnSpLocks/>
          </p:cNvCxnSpPr>
          <p:nvPr/>
        </p:nvCxnSpPr>
        <p:spPr>
          <a:xfrm>
            <a:off x="6895796" y="817881"/>
            <a:ext cx="3654" cy="1125759"/>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20217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32"/>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68" name="Google Shape;268;p32"/>
          <p:cNvSpPr txBox="1">
            <a:spLocks noGrp="1"/>
          </p:cNvSpPr>
          <p:nvPr>
            <p:ph type="title"/>
          </p:nvPr>
        </p:nvSpPr>
        <p:spPr>
          <a:xfrm>
            <a:off x="939400" y="252725"/>
            <a:ext cx="3280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library prep</a:t>
            </a:r>
            <a:endParaRPr/>
          </a:p>
        </p:txBody>
      </p:sp>
      <p:sp>
        <p:nvSpPr>
          <p:cNvPr id="270" name="Google Shape;270;p32"/>
          <p:cNvSpPr txBox="1"/>
          <p:nvPr/>
        </p:nvSpPr>
        <p:spPr>
          <a:xfrm>
            <a:off x="366625" y="906100"/>
            <a:ext cx="8421900" cy="3927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Font typeface="Arial"/>
              <a:buNone/>
            </a:pPr>
            <a:r>
              <a:rPr lang="en" sz="1600" b="1">
                <a:solidFill>
                  <a:schemeClr val="dk1"/>
                </a:solidFill>
              </a:rPr>
              <a:t>Goal:</a:t>
            </a:r>
            <a:endParaRPr sz="1600">
              <a:solidFill>
                <a:schemeClr val="dk1"/>
              </a:solidFill>
            </a:endParaRPr>
          </a:p>
          <a:p>
            <a:pPr marL="0" lvl="0" indent="0" algn="l" rtl="0">
              <a:lnSpc>
                <a:spcPct val="90000"/>
              </a:lnSpc>
              <a:spcBef>
                <a:spcPts val="800"/>
              </a:spcBef>
              <a:spcAft>
                <a:spcPts val="0"/>
              </a:spcAft>
              <a:buClr>
                <a:schemeClr val="dk1"/>
              </a:buClr>
              <a:buSzPts val="1800"/>
              <a:buFont typeface="Arial"/>
              <a:buNone/>
            </a:pPr>
            <a:r>
              <a:rPr lang="en" sz="1600">
                <a:solidFill>
                  <a:schemeClr val="dk1"/>
                </a:solidFill>
              </a:rPr>
              <a:t>To make RNA and/or DNA Libraries that are compatible with Illumina sequencers</a:t>
            </a:r>
            <a:endParaRPr sz="2200">
              <a:solidFill>
                <a:schemeClr val="dk1"/>
              </a:solidFill>
            </a:endParaRPr>
          </a:p>
          <a:p>
            <a:pPr marL="0" lvl="0" indent="0" algn="l" rtl="0">
              <a:lnSpc>
                <a:spcPct val="90000"/>
              </a:lnSpc>
              <a:spcBef>
                <a:spcPts val="800"/>
              </a:spcBef>
              <a:spcAft>
                <a:spcPts val="0"/>
              </a:spcAft>
              <a:buClr>
                <a:schemeClr val="dk1"/>
              </a:buClr>
              <a:buSzPts val="1800"/>
              <a:buFont typeface="Arial"/>
              <a:buNone/>
            </a:pPr>
            <a:r>
              <a:rPr lang="en" sz="1600" b="1">
                <a:solidFill>
                  <a:schemeClr val="dk1"/>
                </a:solidFill>
              </a:rPr>
              <a:t>Workflow:</a:t>
            </a:r>
            <a:endParaRPr sz="1600">
              <a:solidFill>
                <a:schemeClr val="dk1"/>
              </a:solidFill>
            </a:endParaRPr>
          </a:p>
          <a:p>
            <a:pPr marL="0" lvl="0" indent="0" algn="l" rtl="0">
              <a:lnSpc>
                <a:spcPct val="90000"/>
              </a:lnSpc>
              <a:spcBef>
                <a:spcPts val="800"/>
              </a:spcBef>
              <a:spcAft>
                <a:spcPts val="0"/>
              </a:spcAft>
              <a:buClr>
                <a:schemeClr val="dk1"/>
              </a:buClr>
              <a:buSzPts val="1800"/>
              <a:buFont typeface="Arial"/>
              <a:buNone/>
            </a:pPr>
            <a:r>
              <a:rPr lang="en" sz="1600">
                <a:solidFill>
                  <a:schemeClr val="dk1"/>
                </a:solidFill>
              </a:rPr>
              <a:t>Very similar preparations between the 2 libraries but multiple steps required to make RNA into double stranded DNA.</a:t>
            </a:r>
            <a:endParaRPr sz="2200">
              <a:solidFill>
                <a:schemeClr val="dk1"/>
              </a:solidFill>
            </a:endParaRPr>
          </a:p>
          <a:p>
            <a:pPr marL="0" lvl="0" indent="0" algn="l" rtl="0">
              <a:lnSpc>
                <a:spcPct val="90000"/>
              </a:lnSpc>
              <a:spcBef>
                <a:spcPts val="800"/>
              </a:spcBef>
              <a:spcAft>
                <a:spcPts val="0"/>
              </a:spcAft>
              <a:buClr>
                <a:schemeClr val="dk1"/>
              </a:buClr>
              <a:buSzPts val="1800"/>
              <a:buFont typeface="Arial"/>
              <a:buNone/>
            </a:pPr>
            <a:r>
              <a:rPr lang="en" sz="1600" b="1">
                <a:solidFill>
                  <a:schemeClr val="dk1"/>
                </a:solidFill>
              </a:rPr>
              <a:t>Considerations:</a:t>
            </a:r>
            <a:endParaRPr sz="2200">
              <a:solidFill>
                <a:schemeClr val="dk1"/>
              </a:solidFill>
            </a:endParaRPr>
          </a:p>
          <a:p>
            <a:pPr marL="177800" lvl="0" indent="-165100" algn="l" rtl="0">
              <a:lnSpc>
                <a:spcPct val="90000"/>
              </a:lnSpc>
              <a:spcBef>
                <a:spcPts val="800"/>
              </a:spcBef>
              <a:spcAft>
                <a:spcPts val="0"/>
              </a:spcAft>
              <a:buClr>
                <a:schemeClr val="dk1"/>
              </a:buClr>
              <a:buSzPts val="1600"/>
              <a:buChar char="•"/>
            </a:pPr>
            <a:r>
              <a:rPr lang="en" sz="1600">
                <a:solidFill>
                  <a:schemeClr val="dk1"/>
                </a:solidFill>
              </a:rPr>
              <a:t>How can we accurately assess composition of a sample of known input? ERCC spike ins</a:t>
            </a:r>
            <a:endParaRPr sz="2200">
              <a:solidFill>
                <a:schemeClr val="dk1"/>
              </a:solidFill>
            </a:endParaRPr>
          </a:p>
          <a:p>
            <a:pPr marL="177800" lvl="0" indent="-165100" algn="l" rtl="0">
              <a:lnSpc>
                <a:spcPct val="90000"/>
              </a:lnSpc>
              <a:spcBef>
                <a:spcPts val="800"/>
              </a:spcBef>
              <a:spcAft>
                <a:spcPts val="0"/>
              </a:spcAft>
              <a:buClr>
                <a:schemeClr val="dk1"/>
              </a:buClr>
              <a:buSzPts val="1600"/>
              <a:buChar char="•"/>
            </a:pPr>
            <a:r>
              <a:rPr lang="en" sz="1600">
                <a:solidFill>
                  <a:schemeClr val="dk1"/>
                </a:solidFill>
              </a:rPr>
              <a:t>How do we sequence many samples at once? Barcoding libraries and then pooling. Careful of mixing barcodes or samples pre-barcoding. </a:t>
            </a:r>
            <a:endParaRPr sz="2200">
              <a:solidFill>
                <a:schemeClr val="dk1"/>
              </a:solidFill>
            </a:endParaRPr>
          </a:p>
          <a:p>
            <a:pPr marL="177800" lvl="0" indent="-165100" algn="l" rtl="0">
              <a:lnSpc>
                <a:spcPct val="90000"/>
              </a:lnSpc>
              <a:spcBef>
                <a:spcPts val="800"/>
              </a:spcBef>
              <a:spcAft>
                <a:spcPts val="0"/>
              </a:spcAft>
              <a:buClr>
                <a:schemeClr val="dk1"/>
              </a:buClr>
              <a:buSzPts val="1600"/>
              <a:buChar char="•"/>
            </a:pPr>
            <a:r>
              <a:rPr lang="en" sz="1600">
                <a:solidFill>
                  <a:schemeClr val="dk1"/>
                </a:solidFill>
              </a:rPr>
              <a:t>Optimal insert length 400-500bp. Fragmentation of RNA/DNA is varied by time. How long for fragmentation to get the optimal insert size? </a:t>
            </a:r>
            <a:endParaRPr sz="2200">
              <a:solidFill>
                <a:schemeClr val="dk1"/>
              </a:solidFill>
            </a:endParaRPr>
          </a:p>
          <a:p>
            <a:pPr marL="177800" lvl="0" indent="-165100" algn="l" rtl="0">
              <a:lnSpc>
                <a:spcPct val="90000"/>
              </a:lnSpc>
              <a:spcBef>
                <a:spcPts val="800"/>
              </a:spcBef>
              <a:spcAft>
                <a:spcPts val="0"/>
              </a:spcAft>
              <a:buClr>
                <a:schemeClr val="dk1"/>
              </a:buClr>
              <a:buSzPts val="1600"/>
              <a:buChar char="•"/>
            </a:pPr>
            <a:r>
              <a:rPr lang="en" sz="1600">
                <a:solidFill>
                  <a:schemeClr val="dk1"/>
                </a:solidFill>
              </a:rPr>
              <a:t>To reduce PCR amplification bias, reduce PCR cycles to the minimal needed for sequencing (6-19 cycles)</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33"/>
          <p:cNvPicPr preferRelativeResize="0"/>
          <p:nvPr/>
        </p:nvPicPr>
        <p:blipFill rotWithShape="1">
          <a:blip r:embed="rId3">
            <a:alphaModFix/>
          </a:blip>
          <a:srcRect b="50614"/>
          <a:stretch/>
        </p:blipFill>
        <p:spPr>
          <a:xfrm>
            <a:off x="113075" y="336563"/>
            <a:ext cx="750124" cy="405024"/>
          </a:xfrm>
          <a:prstGeom prst="rect">
            <a:avLst/>
          </a:prstGeom>
          <a:noFill/>
          <a:ln>
            <a:noFill/>
          </a:ln>
        </p:spPr>
      </p:pic>
      <p:sp>
        <p:nvSpPr>
          <p:cNvPr id="276" name="Google Shape;276;p33"/>
          <p:cNvSpPr txBox="1">
            <a:spLocks noGrp="1"/>
          </p:cNvSpPr>
          <p:nvPr>
            <p:ph type="title"/>
          </p:nvPr>
        </p:nvSpPr>
        <p:spPr>
          <a:xfrm>
            <a:off x="939400" y="252725"/>
            <a:ext cx="7630500" cy="5727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3000"/>
              <a:buFont typeface="Calibri"/>
              <a:buNone/>
            </a:pPr>
            <a:r>
              <a:rPr lang="en" sz="3000">
                <a:latin typeface="Calibri"/>
                <a:ea typeface="Calibri"/>
                <a:cs typeface="Calibri"/>
                <a:sym typeface="Calibri"/>
              </a:rPr>
              <a:t>Synthetic standards for RNA library QC</a:t>
            </a:r>
            <a:endParaRPr sz="3000">
              <a:latin typeface="Calibri"/>
              <a:ea typeface="Calibri"/>
              <a:cs typeface="Calibri"/>
              <a:sym typeface="Calibri"/>
            </a:endParaRPr>
          </a:p>
          <a:p>
            <a:pPr marL="0" lvl="0" indent="0" algn="l" rtl="0">
              <a:spcBef>
                <a:spcPts val="0"/>
              </a:spcBef>
              <a:spcAft>
                <a:spcPts val="0"/>
              </a:spcAft>
              <a:buNone/>
            </a:pPr>
            <a:endParaRPr/>
          </a:p>
        </p:txBody>
      </p:sp>
      <p:sp>
        <p:nvSpPr>
          <p:cNvPr id="278" name="Google Shape;278;p33"/>
          <p:cNvSpPr txBox="1"/>
          <p:nvPr/>
        </p:nvSpPr>
        <p:spPr>
          <a:xfrm>
            <a:off x="185950" y="1356300"/>
            <a:ext cx="4568700" cy="3477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b="1" dirty="0">
                <a:solidFill>
                  <a:schemeClr val="dk1"/>
                </a:solidFill>
              </a:rPr>
              <a:t>ERCCs</a:t>
            </a:r>
            <a:r>
              <a:rPr lang="en" dirty="0">
                <a:solidFill>
                  <a:schemeClr val="dk1"/>
                </a:solidFill>
              </a:rPr>
              <a:t> = External RNA Controls Consortium</a:t>
            </a:r>
            <a:endParaRPr dirty="0">
              <a:solidFill>
                <a:schemeClr val="dk1"/>
              </a:solidFill>
            </a:endParaRPr>
          </a:p>
          <a:p>
            <a:pPr marL="0" lvl="0" indent="0" algn="l" rtl="0">
              <a:spcBef>
                <a:spcPts val="0"/>
              </a:spcBef>
              <a:spcAft>
                <a:spcPts val="0"/>
              </a:spcAft>
              <a:buClr>
                <a:schemeClr val="dk1"/>
              </a:buClr>
              <a:buFont typeface="Arial"/>
              <a:buNone/>
            </a:pP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Pre-mixed, commercially available blend of 92 synthetic RNA transcripts</a:t>
            </a:r>
            <a:endParaRPr sz="1100" dirty="0">
              <a:solidFill>
                <a:schemeClr val="dk1"/>
              </a:solidFill>
            </a:endParaRPr>
          </a:p>
          <a:p>
            <a:pPr marL="0" lvl="0" indent="0" algn="l" rtl="0">
              <a:spcBef>
                <a:spcPts val="0"/>
              </a:spcBef>
              <a:spcAft>
                <a:spcPts val="0"/>
              </a:spcAft>
              <a:buClr>
                <a:schemeClr val="dk1"/>
              </a:buClr>
              <a:buFont typeface="Arial"/>
              <a:buNone/>
            </a:pP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Positive control for library preparation, spiked-in for all samples and water controls</a:t>
            </a:r>
            <a:endParaRPr sz="1100" dirty="0">
              <a:solidFill>
                <a:schemeClr val="dk1"/>
              </a:solidFill>
            </a:endParaRPr>
          </a:p>
          <a:p>
            <a:pPr marL="215900" lvl="0" indent="-127000" algn="l" rtl="0">
              <a:spcBef>
                <a:spcPts val="0"/>
              </a:spcBef>
              <a:spcAft>
                <a:spcPts val="0"/>
              </a:spcAft>
              <a:buClr>
                <a:schemeClr val="dk1"/>
              </a:buClr>
              <a:buSzPts val="1400"/>
              <a:buFont typeface="Calibri"/>
              <a:buNone/>
            </a:pPr>
            <a:endParaRPr dirty="0">
              <a:solidFill>
                <a:schemeClr val="dk1"/>
              </a:solidFill>
            </a:endParaRPr>
          </a:p>
          <a:p>
            <a:pPr marL="457200" lvl="0" indent="-317500" algn="l" rtl="0">
              <a:spcBef>
                <a:spcPts val="0"/>
              </a:spcBef>
              <a:spcAft>
                <a:spcPts val="0"/>
              </a:spcAft>
              <a:buClr>
                <a:schemeClr val="dk1"/>
              </a:buClr>
              <a:buSzPts val="1400"/>
              <a:buChar char="●"/>
            </a:pPr>
            <a:r>
              <a:rPr lang="en" dirty="0">
                <a:solidFill>
                  <a:schemeClr val="dk1"/>
                </a:solidFill>
              </a:rPr>
              <a:t>Can be used to estimate input RNA concentration</a:t>
            </a:r>
            <a:endParaRPr sz="1100" dirty="0">
              <a:solidFill>
                <a:schemeClr val="dk1"/>
              </a:solidFill>
            </a:endParaRPr>
          </a:p>
        </p:txBody>
      </p:sp>
      <p:pic>
        <p:nvPicPr>
          <p:cNvPr id="279" name="Google Shape;279;p33"/>
          <p:cNvPicPr preferRelativeResize="0"/>
          <p:nvPr/>
        </p:nvPicPr>
        <p:blipFill rotWithShape="1">
          <a:blip r:embed="rId4">
            <a:alphaModFix/>
          </a:blip>
          <a:srcRect/>
          <a:stretch/>
        </p:blipFill>
        <p:spPr>
          <a:xfrm>
            <a:off x="1757194" y="3399389"/>
            <a:ext cx="2043254" cy="1744111"/>
          </a:xfrm>
          <a:prstGeom prst="rect">
            <a:avLst/>
          </a:prstGeom>
          <a:noFill/>
          <a:ln>
            <a:noFill/>
          </a:ln>
        </p:spPr>
      </p:pic>
      <p:sp>
        <p:nvSpPr>
          <p:cNvPr id="280" name="Google Shape;280;p33"/>
          <p:cNvSpPr txBox="1"/>
          <p:nvPr/>
        </p:nvSpPr>
        <p:spPr>
          <a:xfrm>
            <a:off x="3894472" y="4182607"/>
            <a:ext cx="22407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Plot generated from CZ ID</a:t>
            </a:r>
            <a:endParaRPr sz="1000" dirty="0"/>
          </a:p>
        </p:txBody>
      </p:sp>
      <p:pic>
        <p:nvPicPr>
          <p:cNvPr id="4" name="Picture 3">
            <a:extLst>
              <a:ext uri="{FF2B5EF4-FFF2-40B4-BE49-F238E27FC236}">
                <a16:creationId xmlns:a16="http://schemas.microsoft.com/office/drawing/2014/main" id="{77621DC0-B96B-9A56-AFE0-9A3FCD189036}"/>
              </a:ext>
            </a:extLst>
          </p:cNvPr>
          <p:cNvPicPr>
            <a:picLocks noChangeAspect="1"/>
          </p:cNvPicPr>
          <p:nvPr/>
        </p:nvPicPr>
        <p:blipFill>
          <a:blip r:embed="rId5"/>
          <a:srcRect t="13746" r="1567" b="47642"/>
          <a:stretch>
            <a:fillRect/>
          </a:stretch>
        </p:blipFill>
        <p:spPr>
          <a:xfrm>
            <a:off x="5014822" y="1287288"/>
            <a:ext cx="3673415" cy="810955"/>
          </a:xfrm>
          <a:prstGeom prst="rect">
            <a:avLst/>
          </a:prstGeom>
        </p:spPr>
      </p:pic>
      <p:pic>
        <p:nvPicPr>
          <p:cNvPr id="5" name="Picture 4">
            <a:extLst>
              <a:ext uri="{FF2B5EF4-FFF2-40B4-BE49-F238E27FC236}">
                <a16:creationId xmlns:a16="http://schemas.microsoft.com/office/drawing/2014/main" id="{9ABE9D07-30E5-BDBB-D29B-701905F799A0}"/>
              </a:ext>
            </a:extLst>
          </p:cNvPr>
          <p:cNvPicPr>
            <a:picLocks noChangeAspect="1"/>
          </p:cNvPicPr>
          <p:nvPr/>
        </p:nvPicPr>
        <p:blipFill>
          <a:blip r:embed="rId5"/>
          <a:srcRect l="9955" t="62679" r="7396" b="9581"/>
          <a:stretch>
            <a:fillRect/>
          </a:stretch>
        </p:blipFill>
        <p:spPr>
          <a:xfrm>
            <a:off x="4889500" y="2602176"/>
            <a:ext cx="3957795" cy="74762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78209" y="1334779"/>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15000"/>
              </a:lnSpc>
              <a:spcBef>
                <a:spcPts val="0"/>
              </a:spcBef>
              <a:spcAft>
                <a:spcPts val="0"/>
              </a:spcAft>
              <a:buClr>
                <a:schemeClr val="dk1"/>
              </a:buClr>
              <a:buSzPts val="1100"/>
              <a:buFont typeface="Arial"/>
              <a:buNone/>
            </a:pPr>
            <a:r>
              <a:rPr lang="en" sz="4000" b="1" dirty="0">
                <a:solidFill>
                  <a:srgbClr val="666666"/>
                </a:solidFill>
              </a:rPr>
              <a:t>Introduction to </a:t>
            </a:r>
            <a:endParaRPr sz="4000" b="1" dirty="0">
              <a:solidFill>
                <a:srgbClr val="666666"/>
              </a:solidFill>
            </a:endParaRPr>
          </a:p>
          <a:p>
            <a:pPr marL="0" lvl="0" indent="0" algn="ctr" rtl="0">
              <a:lnSpc>
                <a:spcPct val="115000"/>
              </a:lnSpc>
              <a:spcBef>
                <a:spcPts val="0"/>
              </a:spcBef>
              <a:spcAft>
                <a:spcPts val="0"/>
              </a:spcAft>
              <a:buSzPts val="5200"/>
              <a:buNone/>
            </a:pPr>
            <a:r>
              <a:rPr lang="en" sz="4000" b="1" dirty="0">
                <a:solidFill>
                  <a:srgbClr val="666666"/>
                </a:solidFill>
              </a:rPr>
              <a:t>SPRI Clean-ups</a:t>
            </a:r>
            <a:endParaRPr sz="4000" dirty="0">
              <a:solidFill>
                <a:srgbClr val="666666"/>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What are SPRI beads?</a:t>
            </a:r>
            <a:endParaRPr/>
          </a:p>
        </p:txBody>
      </p:sp>
      <p:sp>
        <p:nvSpPr>
          <p:cNvPr id="61" name="Google Shape;61;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Clr>
                <a:srgbClr val="000000"/>
              </a:buClr>
              <a:buSzPts val="1600"/>
              <a:buFont typeface="EB Garamond"/>
              <a:buChar char="●"/>
            </a:pPr>
            <a:r>
              <a:rPr lang="en" sz="1600">
                <a:solidFill>
                  <a:srgbClr val="000000"/>
                </a:solidFill>
              </a:rPr>
              <a:t>Solid-phase Reversible Immobilization (SPRI) beads are paramagnetic beads used for </a:t>
            </a:r>
            <a:r>
              <a:rPr lang="en" sz="1600" b="1">
                <a:solidFill>
                  <a:srgbClr val="000000"/>
                </a:solidFill>
              </a:rPr>
              <a:t>purification</a:t>
            </a:r>
            <a:r>
              <a:rPr lang="en" sz="1600">
                <a:solidFill>
                  <a:srgbClr val="000000"/>
                </a:solidFill>
              </a:rPr>
              <a:t> and </a:t>
            </a:r>
            <a:r>
              <a:rPr lang="en" sz="1600" b="1">
                <a:solidFill>
                  <a:srgbClr val="000000"/>
                </a:solidFill>
              </a:rPr>
              <a:t>size selection</a:t>
            </a:r>
            <a:r>
              <a:rPr lang="en" sz="1600">
                <a:solidFill>
                  <a:srgbClr val="000000"/>
                </a:solidFill>
              </a:rPr>
              <a:t> of nucleic acids such as:</a:t>
            </a:r>
            <a:endParaRPr sz="1600">
              <a:solidFill>
                <a:srgbClr val="000000"/>
              </a:solidFill>
            </a:endParaRPr>
          </a:p>
          <a:p>
            <a:pPr marL="914400" lvl="1" indent="-330200" algn="l" rtl="0">
              <a:lnSpc>
                <a:spcPct val="115000"/>
              </a:lnSpc>
              <a:spcBef>
                <a:spcPts val="0"/>
              </a:spcBef>
              <a:spcAft>
                <a:spcPts val="0"/>
              </a:spcAft>
              <a:buClr>
                <a:srgbClr val="000000"/>
              </a:buClr>
              <a:buSzPts val="1600"/>
              <a:buChar char="○"/>
            </a:pPr>
            <a:r>
              <a:rPr lang="en" sz="1600">
                <a:solidFill>
                  <a:srgbClr val="000000"/>
                </a:solidFill>
              </a:rPr>
              <a:t>PCR amplicons</a:t>
            </a:r>
            <a:endParaRPr sz="1600">
              <a:solidFill>
                <a:srgbClr val="000000"/>
              </a:solidFill>
            </a:endParaRPr>
          </a:p>
          <a:p>
            <a:pPr marL="914400" lvl="1" indent="-330200" algn="l" rtl="0">
              <a:lnSpc>
                <a:spcPct val="115000"/>
              </a:lnSpc>
              <a:spcBef>
                <a:spcPts val="0"/>
              </a:spcBef>
              <a:spcAft>
                <a:spcPts val="0"/>
              </a:spcAft>
              <a:buClr>
                <a:srgbClr val="000000"/>
              </a:buClr>
              <a:buSzPts val="1600"/>
              <a:buChar char="○"/>
            </a:pPr>
            <a:r>
              <a:rPr lang="en" sz="1600" b="1">
                <a:solidFill>
                  <a:srgbClr val="000000"/>
                </a:solidFill>
              </a:rPr>
              <a:t>NGS libraries</a:t>
            </a:r>
            <a:endParaRPr sz="1600" b="1">
              <a:solidFill>
                <a:srgbClr val="000000"/>
              </a:solidFill>
            </a:endParaRPr>
          </a:p>
          <a:p>
            <a:pPr marL="914400" lvl="1" indent="-330200" algn="l" rtl="0">
              <a:lnSpc>
                <a:spcPct val="115000"/>
              </a:lnSpc>
              <a:spcBef>
                <a:spcPts val="0"/>
              </a:spcBef>
              <a:spcAft>
                <a:spcPts val="0"/>
              </a:spcAft>
              <a:buClr>
                <a:srgbClr val="000000"/>
              </a:buClr>
              <a:buSzPts val="1600"/>
              <a:buChar char="○"/>
            </a:pPr>
            <a:r>
              <a:rPr lang="en" sz="1600" b="1">
                <a:solidFill>
                  <a:srgbClr val="000000"/>
                </a:solidFill>
              </a:rPr>
              <a:t>RNA/DNA</a:t>
            </a:r>
            <a:endParaRPr sz="1600">
              <a:solidFill>
                <a:srgbClr val="000000"/>
              </a:solidFill>
            </a:endParaRPr>
          </a:p>
          <a:p>
            <a:pPr marL="457200" lvl="0" indent="0" algn="l" rtl="0">
              <a:lnSpc>
                <a:spcPct val="115000"/>
              </a:lnSpc>
              <a:spcBef>
                <a:spcPts val="1200"/>
              </a:spcBef>
              <a:spcAft>
                <a:spcPts val="1200"/>
              </a:spcAft>
              <a:buSzPts val="1800"/>
              <a:buNone/>
            </a:pP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a:spLocks noGrp="1"/>
          </p:cNvSpPr>
          <p:nvPr>
            <p:ph type="title"/>
          </p:nvPr>
        </p:nvSpPr>
        <p:spPr>
          <a:xfrm>
            <a:off x="311700" y="0"/>
            <a:ext cx="85188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solidFill>
                  <a:srgbClr val="000000"/>
                </a:solidFill>
              </a:rPr>
              <a:t>What are SPRI beads?</a:t>
            </a:r>
            <a:endParaRPr>
              <a:solidFill>
                <a:srgbClr val="000000"/>
              </a:solidFill>
            </a:endParaRPr>
          </a:p>
          <a:p>
            <a:pPr marL="0" lvl="0" indent="0" algn="l" rtl="0">
              <a:lnSpc>
                <a:spcPct val="100000"/>
              </a:lnSpc>
              <a:spcBef>
                <a:spcPts val="0"/>
              </a:spcBef>
              <a:spcAft>
                <a:spcPts val="0"/>
              </a:spcAft>
              <a:buSzPct val="111111"/>
              <a:buNone/>
            </a:pPr>
            <a:endParaRPr/>
          </a:p>
        </p:txBody>
      </p:sp>
      <p:pic>
        <p:nvPicPr>
          <p:cNvPr id="67" name="Google Shape;67;p3"/>
          <p:cNvPicPr preferRelativeResize="0"/>
          <p:nvPr/>
        </p:nvPicPr>
        <p:blipFill rotWithShape="1">
          <a:blip r:embed="rId3">
            <a:alphaModFix/>
          </a:blip>
          <a:srcRect l="5953" t="2484" b="2331"/>
          <a:stretch/>
        </p:blipFill>
        <p:spPr>
          <a:xfrm>
            <a:off x="1741700" y="688500"/>
            <a:ext cx="5660602" cy="42166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How do SPRI beads work? </a:t>
            </a:r>
            <a:r>
              <a:rPr lang="en" i="1"/>
              <a:t>Purification</a:t>
            </a:r>
            <a:endParaRPr i="1"/>
          </a:p>
        </p:txBody>
      </p:sp>
      <p:sp>
        <p:nvSpPr>
          <p:cNvPr id="73" name="Google Shape;73;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30200" algn="l" rtl="0">
              <a:lnSpc>
                <a:spcPct val="115000"/>
              </a:lnSpc>
              <a:spcBef>
                <a:spcPts val="0"/>
              </a:spcBef>
              <a:spcAft>
                <a:spcPts val="0"/>
              </a:spcAft>
              <a:buClr>
                <a:srgbClr val="000000"/>
              </a:buClr>
              <a:buSzPts val="1600"/>
              <a:buChar char="●"/>
            </a:pPr>
            <a:r>
              <a:rPr lang="en" sz="1600">
                <a:solidFill>
                  <a:srgbClr val="000000"/>
                </a:solidFill>
              </a:rPr>
              <a:t>Under the right conditions, nucleic acids precipitate on the surface of the beads. The following are required:</a:t>
            </a:r>
            <a:endParaRPr sz="1600">
              <a:solidFill>
                <a:srgbClr val="000000"/>
              </a:solidFill>
            </a:endParaRPr>
          </a:p>
          <a:p>
            <a:pPr marL="914400" lvl="1" indent="-330200" algn="l" rtl="0">
              <a:lnSpc>
                <a:spcPct val="115000"/>
              </a:lnSpc>
              <a:spcBef>
                <a:spcPts val="0"/>
              </a:spcBef>
              <a:spcAft>
                <a:spcPts val="0"/>
              </a:spcAft>
              <a:buClr>
                <a:schemeClr val="dk1"/>
              </a:buClr>
              <a:buSzPts val="1600"/>
              <a:buFont typeface="EB Garamond"/>
              <a:buChar char="○"/>
            </a:pPr>
            <a:r>
              <a:rPr lang="en" sz="1600" b="1">
                <a:solidFill>
                  <a:schemeClr val="dk1"/>
                </a:solidFill>
              </a:rPr>
              <a:t>Crowding agent</a:t>
            </a:r>
            <a:r>
              <a:rPr lang="en" sz="1600">
                <a:solidFill>
                  <a:schemeClr val="dk1"/>
                </a:solidFill>
              </a:rPr>
              <a:t> to force nucleic acids out of solution.</a:t>
            </a:r>
            <a:endParaRPr sz="1600">
              <a:solidFill>
                <a:srgbClr val="000000"/>
              </a:solidFill>
            </a:endParaRPr>
          </a:p>
          <a:p>
            <a:pPr marL="914400" lvl="1" indent="-330200" algn="l" rtl="0">
              <a:lnSpc>
                <a:spcPct val="115000"/>
              </a:lnSpc>
              <a:spcBef>
                <a:spcPts val="0"/>
              </a:spcBef>
              <a:spcAft>
                <a:spcPts val="0"/>
              </a:spcAft>
              <a:buClr>
                <a:srgbClr val="000000"/>
              </a:buClr>
              <a:buSzPts val="1600"/>
              <a:buFont typeface="EB Garamond"/>
              <a:buChar char="○"/>
            </a:pPr>
            <a:r>
              <a:rPr lang="en" sz="1600" b="1">
                <a:solidFill>
                  <a:srgbClr val="000000"/>
                </a:solidFill>
              </a:rPr>
              <a:t>High salt concentration</a:t>
            </a:r>
            <a:r>
              <a:rPr lang="en" sz="1600">
                <a:solidFill>
                  <a:srgbClr val="000000"/>
                </a:solidFill>
              </a:rPr>
              <a:t> to facilitate binding between nucleic acids and beads.</a:t>
            </a:r>
            <a:endParaRPr sz="1600">
              <a:solidFill>
                <a:srgbClr val="000000"/>
              </a:solidFill>
            </a:endParaRPr>
          </a:p>
          <a:p>
            <a:pPr marL="914400" lvl="1" indent="-330200" algn="l" rtl="0">
              <a:lnSpc>
                <a:spcPct val="115000"/>
              </a:lnSpc>
              <a:spcBef>
                <a:spcPts val="0"/>
              </a:spcBef>
              <a:spcAft>
                <a:spcPts val="0"/>
              </a:spcAft>
              <a:buClr>
                <a:srgbClr val="000000"/>
              </a:buClr>
              <a:buSzPts val="1600"/>
              <a:buChar char="○"/>
            </a:pPr>
            <a:r>
              <a:rPr lang="en" sz="1600" b="1">
                <a:solidFill>
                  <a:srgbClr val="000000"/>
                </a:solidFill>
              </a:rPr>
              <a:t>Magnetic field induction </a:t>
            </a:r>
            <a:r>
              <a:rPr lang="en" sz="1600">
                <a:solidFill>
                  <a:srgbClr val="000000"/>
                </a:solidFill>
              </a:rPr>
              <a:t>to control movement of nucleic acids.</a:t>
            </a:r>
            <a:endParaRPr sz="1600">
              <a:solidFill>
                <a:srgbClr val="000000"/>
              </a:solidFill>
            </a:endParaRPr>
          </a:p>
          <a:p>
            <a:pPr marL="0" lvl="0" indent="0" algn="l" rtl="0">
              <a:lnSpc>
                <a:spcPct val="115000"/>
              </a:lnSpc>
              <a:spcBef>
                <a:spcPts val="1200"/>
              </a:spcBef>
              <a:spcAft>
                <a:spcPts val="1200"/>
              </a:spcAft>
              <a:buSzPts val="1800"/>
              <a:buNone/>
            </a:pP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5"/>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Contents of SPRI buffer</a:t>
            </a:r>
            <a:endParaRPr/>
          </a:p>
        </p:txBody>
      </p:sp>
      <p:graphicFrame>
        <p:nvGraphicFramePr>
          <p:cNvPr id="79" name="Google Shape;79;p5"/>
          <p:cNvGraphicFramePr/>
          <p:nvPr/>
        </p:nvGraphicFramePr>
        <p:xfrm>
          <a:off x="485188" y="731325"/>
          <a:ext cx="3000000" cy="3000000"/>
        </p:xfrm>
        <a:graphic>
          <a:graphicData uri="http://schemas.openxmlformats.org/drawingml/2006/table">
            <a:tbl>
              <a:tblPr>
                <a:noFill/>
              </a:tblPr>
              <a:tblGrid>
                <a:gridCol w="1302025">
                  <a:extLst>
                    <a:ext uri="{9D8B030D-6E8A-4147-A177-3AD203B41FA5}">
                      <a16:colId xmlns:a16="http://schemas.microsoft.com/office/drawing/2014/main" val="20000"/>
                    </a:ext>
                  </a:extLst>
                </a:gridCol>
                <a:gridCol w="69572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Content</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Use</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Polyethylene Glycol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(PEG) 8000</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Crowding agent</a:t>
                      </a:r>
                      <a:r>
                        <a:rPr lang="en" sz="1400" u="none" strike="noStrike" cap="none">
                          <a:solidFill>
                            <a:schemeClr val="dk1"/>
                          </a:solidFill>
                        </a:rPr>
                        <a:t> used to minimize space between nucleic acid and beads, favoring their proximity and the nucleic acid precipitating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6"/>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Contents of SPRI buffer</a:t>
            </a:r>
            <a:endParaRPr/>
          </a:p>
        </p:txBody>
      </p:sp>
      <p:graphicFrame>
        <p:nvGraphicFramePr>
          <p:cNvPr id="85" name="Google Shape;85;p6"/>
          <p:cNvGraphicFramePr/>
          <p:nvPr/>
        </p:nvGraphicFramePr>
        <p:xfrm>
          <a:off x="485188" y="731325"/>
          <a:ext cx="8259225" cy="1871827"/>
        </p:xfrm>
        <a:graphic>
          <a:graphicData uri="http://schemas.openxmlformats.org/drawingml/2006/table">
            <a:tbl>
              <a:tblPr>
                <a:noFill/>
              </a:tblPr>
              <a:tblGrid>
                <a:gridCol w="1302025">
                  <a:extLst>
                    <a:ext uri="{9D8B030D-6E8A-4147-A177-3AD203B41FA5}">
                      <a16:colId xmlns:a16="http://schemas.microsoft.com/office/drawing/2014/main" val="20000"/>
                    </a:ext>
                  </a:extLst>
                </a:gridCol>
                <a:gridCol w="69572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Content</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Use</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Polyethylene Glycol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(PEG) 8000</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Crowding agent</a:t>
                      </a:r>
                      <a:r>
                        <a:rPr lang="en" sz="1400" u="none" strike="noStrike" cap="none">
                          <a:solidFill>
                            <a:schemeClr val="dk1"/>
                          </a:solidFill>
                        </a:rPr>
                        <a:t> used to minimize space between nucleic acid and beads, favoring their proximity and the nucleic acid precipitating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NaCl</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Decreases solubility of nucleic acid</a:t>
                      </a:r>
                      <a:r>
                        <a:rPr lang="en" sz="1400" u="none" strike="noStrike" cap="none">
                          <a:solidFill>
                            <a:schemeClr val="dk1"/>
                          </a:solidFill>
                        </a:rPr>
                        <a:t>, thereby promoting precipitation of nucleic acid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7"/>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Contents of SPRI buffer</a:t>
            </a:r>
            <a:endParaRPr/>
          </a:p>
        </p:txBody>
      </p:sp>
      <p:graphicFrame>
        <p:nvGraphicFramePr>
          <p:cNvPr id="91" name="Google Shape;91;p7"/>
          <p:cNvGraphicFramePr/>
          <p:nvPr/>
        </p:nvGraphicFramePr>
        <p:xfrm>
          <a:off x="485188" y="731325"/>
          <a:ext cx="3000000" cy="3000000"/>
        </p:xfrm>
        <a:graphic>
          <a:graphicData uri="http://schemas.openxmlformats.org/drawingml/2006/table">
            <a:tbl>
              <a:tblPr>
                <a:noFill/>
              </a:tblPr>
              <a:tblGrid>
                <a:gridCol w="1302025">
                  <a:extLst>
                    <a:ext uri="{9D8B030D-6E8A-4147-A177-3AD203B41FA5}">
                      <a16:colId xmlns:a16="http://schemas.microsoft.com/office/drawing/2014/main" val="20000"/>
                    </a:ext>
                  </a:extLst>
                </a:gridCol>
                <a:gridCol w="69572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Content</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Use</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Polyethylene Glycol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(PEG) 8000</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Crowding agent</a:t>
                      </a:r>
                      <a:r>
                        <a:rPr lang="en" sz="1400" u="none" strike="noStrike" cap="none">
                          <a:solidFill>
                            <a:schemeClr val="dk1"/>
                          </a:solidFill>
                        </a:rPr>
                        <a:t> used to minimize space between nucleic acid and beads, favoring their proximity and the nucleic acid precipitating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NaCl</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Decreases solubility of nucleic acid</a:t>
                      </a:r>
                      <a:r>
                        <a:rPr lang="en" sz="1400" u="none" strike="noStrike" cap="none">
                          <a:solidFill>
                            <a:schemeClr val="dk1"/>
                          </a:solidFill>
                        </a:rPr>
                        <a:t>, thereby promoting precipitation of nucleic acid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Tris-HCl</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Regulates pH</a:t>
                      </a:r>
                      <a:r>
                        <a:rPr lang="en" sz="1400" u="none" strike="noStrike" cap="none"/>
                        <a:t>.</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8"/>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Contents of SPRI buffer</a:t>
            </a:r>
            <a:endParaRPr/>
          </a:p>
        </p:txBody>
      </p:sp>
      <p:graphicFrame>
        <p:nvGraphicFramePr>
          <p:cNvPr id="97" name="Google Shape;97;p8"/>
          <p:cNvGraphicFramePr/>
          <p:nvPr/>
        </p:nvGraphicFramePr>
        <p:xfrm>
          <a:off x="485188" y="731325"/>
          <a:ext cx="3000000" cy="3000000"/>
        </p:xfrm>
        <a:graphic>
          <a:graphicData uri="http://schemas.openxmlformats.org/drawingml/2006/table">
            <a:tbl>
              <a:tblPr>
                <a:noFill/>
              </a:tblPr>
              <a:tblGrid>
                <a:gridCol w="1302025">
                  <a:extLst>
                    <a:ext uri="{9D8B030D-6E8A-4147-A177-3AD203B41FA5}">
                      <a16:colId xmlns:a16="http://schemas.microsoft.com/office/drawing/2014/main" val="20000"/>
                    </a:ext>
                  </a:extLst>
                </a:gridCol>
                <a:gridCol w="69572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Content</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Use</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Polyethylene Glycol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(PEG) 8000</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Crowding agent</a:t>
                      </a:r>
                      <a:r>
                        <a:rPr lang="en" sz="1400" u="none" strike="noStrike" cap="none">
                          <a:solidFill>
                            <a:schemeClr val="dk1"/>
                          </a:solidFill>
                        </a:rPr>
                        <a:t> used to minimize space between nucleic acid and beads, favoring their proximity and the nucleic acid precipitating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NaCl</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Decreases solubility of nucleic acid</a:t>
                      </a:r>
                      <a:r>
                        <a:rPr lang="en" sz="1400" u="none" strike="noStrike" cap="none">
                          <a:solidFill>
                            <a:schemeClr val="dk1"/>
                          </a:solidFill>
                        </a:rPr>
                        <a:t>, thereby promoting precipitation of nucleic acid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Tris-HCl</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Regulates pH</a:t>
                      </a:r>
                      <a:r>
                        <a:rPr lang="en" sz="1400" u="none" strike="noStrike" cap="none"/>
                        <a:t>.</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EDTA</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Chelating agent</a:t>
                      </a:r>
                      <a:r>
                        <a:rPr lang="en" sz="1400" u="none" strike="noStrike" cap="none">
                          <a:solidFill>
                            <a:schemeClr val="dk1"/>
                          </a:solidFill>
                        </a:rPr>
                        <a:t> which sequesters ions such as Mg2+ and Ca2+ which could fragment/degrade DNA or activate any enzymes (e.g. nucleases) that are present in the sample. Aids in retaining the integrity of the sample.</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9"/>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Contents of SPRI buffer</a:t>
            </a:r>
            <a:endParaRPr/>
          </a:p>
        </p:txBody>
      </p:sp>
      <p:graphicFrame>
        <p:nvGraphicFramePr>
          <p:cNvPr id="103" name="Google Shape;103;p9"/>
          <p:cNvGraphicFramePr/>
          <p:nvPr/>
        </p:nvGraphicFramePr>
        <p:xfrm>
          <a:off x="485188" y="731325"/>
          <a:ext cx="3000000" cy="3000000"/>
        </p:xfrm>
        <a:graphic>
          <a:graphicData uri="http://schemas.openxmlformats.org/drawingml/2006/table">
            <a:tbl>
              <a:tblPr>
                <a:noFill/>
              </a:tblPr>
              <a:tblGrid>
                <a:gridCol w="1302025">
                  <a:extLst>
                    <a:ext uri="{9D8B030D-6E8A-4147-A177-3AD203B41FA5}">
                      <a16:colId xmlns:a16="http://schemas.microsoft.com/office/drawing/2014/main" val="20000"/>
                    </a:ext>
                  </a:extLst>
                </a:gridCol>
                <a:gridCol w="69572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Content</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Use</a:t>
                      </a:r>
                      <a:endParaRPr sz="1400" b="1"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Polyethylene Glycol </a:t>
                      </a: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(PEG) 8000</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Crowding agent</a:t>
                      </a:r>
                      <a:r>
                        <a:rPr lang="en" sz="1400" u="none" strike="noStrike" cap="none">
                          <a:solidFill>
                            <a:schemeClr val="dk1"/>
                          </a:solidFill>
                        </a:rPr>
                        <a:t> used to minimize space between nucleic acid and beads, favoring their proximity and the nucleic acid precipitating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NaCl</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Decreases solubility of nucleic acid</a:t>
                      </a:r>
                      <a:r>
                        <a:rPr lang="en" sz="1400" u="none" strike="noStrike" cap="none">
                          <a:solidFill>
                            <a:schemeClr val="dk1"/>
                          </a:solidFill>
                        </a:rPr>
                        <a:t>, thereby promoting precipitation of nucleic acid on the surface of the beads.</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Tris-HCl</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Regulates pH</a:t>
                      </a:r>
                      <a:r>
                        <a:rPr lang="en" sz="1400" u="none" strike="noStrike" cap="none"/>
                        <a:t>.</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EDTA</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chemeClr val="dk1"/>
                        </a:buClr>
                        <a:buSzPts val="1100"/>
                        <a:buFont typeface="Arial"/>
                        <a:buNone/>
                      </a:pPr>
                      <a:r>
                        <a:rPr lang="en" sz="1400" b="1" u="none" strike="noStrike" cap="none">
                          <a:solidFill>
                            <a:schemeClr val="dk1"/>
                          </a:solidFill>
                        </a:rPr>
                        <a:t>Chelating agent</a:t>
                      </a:r>
                      <a:r>
                        <a:rPr lang="en" sz="1400" u="none" strike="noStrike" cap="none">
                          <a:solidFill>
                            <a:schemeClr val="dk1"/>
                          </a:solidFill>
                        </a:rPr>
                        <a:t> which sequesters ions such as Mg2+ and Ca2+ which could fragment/degrade DNA or activate any enzymes (e.g. nucleases) that are present in the sample. Aids in retaining the integrity of the sample.</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Tween 20</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 sz="1400" b="1" u="none" strike="noStrike" cap="none">
                          <a:solidFill>
                            <a:schemeClr val="dk1"/>
                          </a:solidFill>
                        </a:rPr>
                        <a:t>Detergent</a:t>
                      </a:r>
                      <a:r>
                        <a:rPr lang="en" sz="1400" u="none" strike="noStrike" cap="none">
                          <a:solidFill>
                            <a:schemeClr val="dk1"/>
                          </a:solidFill>
                        </a:rPr>
                        <a:t> which decreases the adhesion of nucleic acids to the plastic walls of the tube by obstructing the ionic attraction.</a:t>
                      </a:r>
                      <a:endParaRPr sz="1400" u="none" strike="noStrike" cap="none"/>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0"/>
          <p:cNvPicPr preferRelativeResize="0"/>
          <p:nvPr/>
        </p:nvPicPr>
        <p:blipFill rotWithShape="1">
          <a:blip r:embed="rId3">
            <a:alphaModFix/>
          </a:blip>
          <a:srcRect/>
          <a:stretch/>
        </p:blipFill>
        <p:spPr>
          <a:xfrm>
            <a:off x="5351849" y="1017725"/>
            <a:ext cx="3540776" cy="3025750"/>
          </a:xfrm>
          <a:prstGeom prst="rect">
            <a:avLst/>
          </a:prstGeom>
          <a:noFill/>
          <a:ln>
            <a:noFill/>
          </a:ln>
        </p:spPr>
      </p:pic>
      <p:grpSp>
        <p:nvGrpSpPr>
          <p:cNvPr id="109" name="Google Shape;109;p10"/>
          <p:cNvGrpSpPr/>
          <p:nvPr/>
        </p:nvGrpSpPr>
        <p:grpSpPr>
          <a:xfrm>
            <a:off x="6097475" y="4122175"/>
            <a:ext cx="2630875" cy="603300"/>
            <a:chOff x="804450" y="2171550"/>
            <a:chExt cx="2630875" cy="603300"/>
          </a:xfrm>
        </p:grpSpPr>
        <p:sp>
          <p:nvSpPr>
            <p:cNvPr id="110" name="Google Shape;110;p10"/>
            <p:cNvSpPr txBox="1"/>
            <p:nvPr/>
          </p:nvSpPr>
          <p:spPr>
            <a:xfrm>
              <a:off x="1203325" y="2171550"/>
              <a:ext cx="2232000" cy="603300"/>
            </a:xfrm>
            <a:prstGeom prst="rect">
              <a:avLst/>
            </a:prstGeom>
            <a:noFill/>
            <a:ln>
              <a:noFill/>
            </a:ln>
          </p:spPr>
          <p:txBody>
            <a:bodyPr spcFirstLastPara="1" wrap="square" lIns="91425" tIns="91425" rIns="91425" bIns="91425" anchor="t" anchorCtr="0">
              <a:noAutofit/>
            </a:bodyPr>
            <a:lstStyle/>
            <a:p>
              <a:pPr marL="0" marR="0" lvl="0" indent="457200" algn="ctr" rtl="0">
                <a:lnSpc>
                  <a:spcPct val="15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Volume of beads</a:t>
              </a:r>
              <a:endParaRPr sz="1200" b="0" i="0" u="none" strike="noStrike" cap="none">
                <a:solidFill>
                  <a:srgbClr val="000000"/>
                </a:solidFill>
                <a:latin typeface="Arial"/>
                <a:ea typeface="Arial"/>
                <a:cs typeface="Arial"/>
                <a:sym typeface="Arial"/>
              </a:endParaRPr>
            </a:p>
            <a:p>
              <a:pPr marL="0" marR="0" lvl="0" indent="457200" algn="ctr" rtl="0">
                <a:lnSpc>
                  <a:spcPct val="15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Volume of reaction</a:t>
              </a:r>
              <a:endParaRPr sz="1200" b="0" i="0" u="none" strike="noStrike" cap="none">
                <a:solidFill>
                  <a:srgbClr val="000000"/>
                </a:solidFill>
                <a:latin typeface="Arial"/>
                <a:ea typeface="Arial"/>
                <a:cs typeface="Arial"/>
                <a:sym typeface="Arial"/>
              </a:endParaRPr>
            </a:p>
          </p:txBody>
        </p:sp>
        <p:cxnSp>
          <p:nvCxnSpPr>
            <p:cNvPr id="111" name="Google Shape;111;p10"/>
            <p:cNvCxnSpPr/>
            <p:nvPr/>
          </p:nvCxnSpPr>
          <p:spPr>
            <a:xfrm>
              <a:off x="1769550" y="2469000"/>
              <a:ext cx="1460700" cy="8400"/>
            </a:xfrm>
            <a:prstGeom prst="straightConnector1">
              <a:avLst/>
            </a:prstGeom>
            <a:noFill/>
            <a:ln w="9525" cap="flat" cmpd="sng">
              <a:solidFill>
                <a:schemeClr val="dk1"/>
              </a:solidFill>
              <a:prstDash val="solid"/>
              <a:round/>
              <a:headEnd type="none" w="sm" len="sm"/>
              <a:tailEnd type="none" w="sm" len="sm"/>
            </a:ln>
          </p:spPr>
        </p:cxnSp>
        <p:sp>
          <p:nvSpPr>
            <p:cNvPr id="112" name="Google Shape;112;p10"/>
            <p:cNvSpPr txBox="1"/>
            <p:nvPr/>
          </p:nvSpPr>
          <p:spPr>
            <a:xfrm>
              <a:off x="804450" y="2279750"/>
              <a:ext cx="1304700" cy="345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SPRI ratio =</a:t>
              </a:r>
              <a:endParaRPr sz="1200" b="0" i="0" u="none" strike="noStrike" cap="none">
                <a:solidFill>
                  <a:srgbClr val="000000"/>
                </a:solidFill>
                <a:latin typeface="Arial"/>
                <a:ea typeface="Arial"/>
                <a:cs typeface="Arial"/>
                <a:sym typeface="Arial"/>
              </a:endParaRPr>
            </a:p>
          </p:txBody>
        </p:sp>
      </p:grpSp>
      <p:sp>
        <p:nvSpPr>
          <p:cNvPr id="113" name="Google Shape;113;p10"/>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How do SPRI beads work? </a:t>
            </a:r>
            <a:r>
              <a:rPr lang="en" i="1"/>
              <a:t>Size selection</a:t>
            </a:r>
            <a:endParaRPr i="1"/>
          </a:p>
        </p:txBody>
      </p:sp>
      <p:sp>
        <p:nvSpPr>
          <p:cNvPr id="114" name="Google Shape;114;p10"/>
          <p:cNvSpPr txBox="1"/>
          <p:nvPr/>
        </p:nvSpPr>
        <p:spPr>
          <a:xfrm>
            <a:off x="311700" y="1149050"/>
            <a:ext cx="5040300" cy="29799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a:solidFill>
                  <a:schemeClr val="dk1"/>
                </a:solidFill>
                <a:latin typeface="Arial"/>
                <a:ea typeface="Arial"/>
                <a:cs typeface="Arial"/>
                <a:sym typeface="Arial"/>
              </a:rPr>
              <a:t>Size selection is dictated by the ratio between the volume of SPRI beads added to your sample and the volume of your sample.</a:t>
            </a:r>
            <a:endParaRPr sz="1600" b="0" i="0" u="none" strike="noStrike" cap="none">
              <a:solidFill>
                <a:schemeClr val="dk1"/>
              </a:solidFill>
              <a:latin typeface="Arial"/>
              <a:ea typeface="Arial"/>
              <a:cs typeface="Arial"/>
              <a:sym typeface="Arial"/>
            </a:endParaRPr>
          </a:p>
          <a:p>
            <a:pPr marL="914400" marR="0" lvl="1" indent="-330200" algn="l" rtl="0">
              <a:lnSpc>
                <a:spcPct val="115000"/>
              </a:lnSpc>
              <a:spcBef>
                <a:spcPts val="0"/>
              </a:spcBef>
              <a:spcAft>
                <a:spcPts val="0"/>
              </a:spcAft>
              <a:buClr>
                <a:schemeClr val="dk1"/>
              </a:buClr>
              <a:buSzPts val="1600"/>
              <a:buFont typeface="Arial"/>
              <a:buChar char="○"/>
            </a:pPr>
            <a:r>
              <a:rPr lang="en" sz="1600" b="1" i="0" u="none" strike="noStrike" cap="none">
                <a:solidFill>
                  <a:schemeClr val="dk1"/>
                </a:solidFill>
                <a:latin typeface="Arial"/>
                <a:ea typeface="Arial"/>
                <a:cs typeface="Arial"/>
                <a:sym typeface="Arial"/>
              </a:rPr>
              <a:t>The higher the SPRI bead to sample volume ratio, the more smaller fragments will be retained.</a:t>
            </a:r>
            <a:endParaRPr sz="1600" b="1" i="0" u="none" strike="noStrike" cap="none">
              <a:solidFill>
                <a:schemeClr val="dk1"/>
              </a:solidFill>
              <a:latin typeface="Arial"/>
              <a:ea typeface="Arial"/>
              <a:cs typeface="Arial"/>
              <a:sym typeface="Arial"/>
            </a:endParaRPr>
          </a:p>
          <a:p>
            <a:pPr marL="457200" marR="0" lvl="0" indent="-330200" algn="l" rtl="0">
              <a:lnSpc>
                <a:spcPct val="115000"/>
              </a:lnSpc>
              <a:spcBef>
                <a:spcPts val="0"/>
              </a:spcBef>
              <a:spcAft>
                <a:spcPts val="0"/>
              </a:spcAft>
              <a:buClr>
                <a:schemeClr val="dk1"/>
              </a:buClr>
              <a:buSzPts val="1600"/>
              <a:buFont typeface="Arial"/>
              <a:buChar char="●"/>
            </a:pPr>
            <a:r>
              <a:rPr lang="en" sz="1600" b="0" i="0" u="none" strike="noStrike" cap="none">
                <a:solidFill>
                  <a:schemeClr val="dk1"/>
                </a:solidFill>
                <a:latin typeface="Arial"/>
                <a:ea typeface="Arial"/>
                <a:cs typeface="Arial"/>
                <a:sym typeface="Arial"/>
              </a:rPr>
              <a:t>For a desired SPRI ratio, to determine the volume of SPRI beads to add to your sample, multiply the SPRI ratio by the volume of your sample.</a:t>
            </a:r>
            <a:endParaRPr sz="16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1"/>
          <p:cNvSpPr txBox="1"/>
          <p:nvPr/>
        </p:nvSpPr>
        <p:spPr>
          <a:xfrm>
            <a:off x="579750" y="4103875"/>
            <a:ext cx="7984500" cy="6858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N</a:t>
            </a:r>
            <a:r>
              <a:rPr lang="en" b="1"/>
              <a:t>ote: </a:t>
            </a:r>
            <a:r>
              <a:rPr lang="en"/>
              <a:t>Some commercial options are </a:t>
            </a:r>
            <a:r>
              <a:rPr lang="en" sz="1400" b="0" i="0" u="none" strike="noStrike" cap="none">
                <a:solidFill>
                  <a:srgbClr val="000000"/>
                </a:solidFill>
                <a:latin typeface="Arial"/>
                <a:ea typeface="Arial"/>
                <a:cs typeface="Arial"/>
                <a:sym typeface="Arial"/>
              </a:rPr>
              <a:t>“SPRISelect Bead-Based Reagent” or “AMPure XP Beads”</a:t>
            </a:r>
            <a:endParaRPr sz="1400" b="0" i="0" u="none" strike="noStrike" cap="none">
              <a:solidFill>
                <a:srgbClr val="000000"/>
              </a:solidFill>
              <a:latin typeface="Arial"/>
              <a:ea typeface="Arial"/>
              <a:cs typeface="Arial"/>
              <a:sym typeface="Arial"/>
            </a:endParaRPr>
          </a:p>
        </p:txBody>
      </p:sp>
      <p:sp>
        <p:nvSpPr>
          <p:cNvPr id="121" name="Google Shape;121;p11"/>
          <p:cNvSpPr txBox="1">
            <a:spLocks noGrp="1"/>
          </p:cNvSpPr>
          <p:nvPr>
            <p:ph type="title" idx="4294967295"/>
          </p:nvPr>
        </p:nvSpPr>
        <p:spPr>
          <a:xfrm>
            <a:off x="297000" y="0"/>
            <a:ext cx="85038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Using SPRI beads in library preparation: </a:t>
            </a:r>
            <a:r>
              <a:rPr lang="en" i="1"/>
              <a:t>The process</a:t>
            </a:r>
            <a:endParaRPr i="1"/>
          </a:p>
        </p:txBody>
      </p:sp>
      <p:pic>
        <p:nvPicPr>
          <p:cNvPr id="122" name="Google Shape;122;p11"/>
          <p:cNvPicPr preferRelativeResize="0"/>
          <p:nvPr/>
        </p:nvPicPr>
        <p:blipFill rotWithShape="1">
          <a:blip r:embed="rId3">
            <a:alphaModFix/>
          </a:blip>
          <a:srcRect/>
          <a:stretch/>
        </p:blipFill>
        <p:spPr>
          <a:xfrm>
            <a:off x="1251013" y="572700"/>
            <a:ext cx="6595773" cy="34472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graphicFrame>
        <p:nvGraphicFramePr>
          <p:cNvPr id="128" name="Google Shape;128;p12"/>
          <p:cNvGraphicFramePr/>
          <p:nvPr/>
        </p:nvGraphicFramePr>
        <p:xfrm>
          <a:off x="477663" y="1280683"/>
          <a:ext cx="3000000" cy="3000000"/>
        </p:xfrm>
        <a:graphic>
          <a:graphicData uri="http://schemas.openxmlformats.org/drawingml/2006/table">
            <a:tbl>
              <a:tblPr firstRow="1" bandRow="1">
                <a:noFill/>
              </a:tblPr>
              <a:tblGrid>
                <a:gridCol w="1667675">
                  <a:extLst>
                    <a:ext uri="{9D8B030D-6E8A-4147-A177-3AD203B41FA5}">
                      <a16:colId xmlns:a16="http://schemas.microsoft.com/office/drawing/2014/main" val="20000"/>
                    </a:ext>
                  </a:extLst>
                </a:gridCol>
                <a:gridCol w="1208225">
                  <a:extLst>
                    <a:ext uri="{9D8B030D-6E8A-4147-A177-3AD203B41FA5}">
                      <a16:colId xmlns:a16="http://schemas.microsoft.com/office/drawing/2014/main" val="20001"/>
                    </a:ext>
                  </a:extLst>
                </a:gridCol>
                <a:gridCol w="1638500">
                  <a:extLst>
                    <a:ext uri="{9D8B030D-6E8A-4147-A177-3AD203B41FA5}">
                      <a16:colId xmlns:a16="http://schemas.microsoft.com/office/drawing/2014/main" val="20002"/>
                    </a:ext>
                  </a:extLst>
                </a:gridCol>
                <a:gridCol w="677325">
                  <a:extLst>
                    <a:ext uri="{9D8B030D-6E8A-4147-A177-3AD203B41FA5}">
                      <a16:colId xmlns:a16="http://schemas.microsoft.com/office/drawing/2014/main" val="20003"/>
                    </a:ext>
                  </a:extLst>
                </a:gridCol>
              </a:tblGrid>
              <a:tr h="877525">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Step</a:t>
                      </a:r>
                      <a:endParaRPr sz="1300" u="none" strike="noStrike" cap="none">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Ideal RNA/library size</a:t>
                      </a:r>
                      <a:endParaRPr sz="1300" u="none" strike="noStrike" cap="none">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To remove</a:t>
                      </a:r>
                      <a:endParaRPr sz="1300" u="none" strike="noStrike" cap="none">
                        <a:latin typeface="Arial"/>
                        <a:ea typeface="Arial"/>
                        <a:cs typeface="Arial"/>
                        <a:sym typeface="Arial"/>
                      </a:endParaRPr>
                    </a:p>
                  </a:txBody>
                  <a:tcPr marL="68600" marR="68600" marT="34300" marB="34300" anchor="ctr">
                    <a:solidFill>
                      <a:srgbClr val="4A86E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SPRI</a:t>
                      </a:r>
                      <a:endParaRPr sz="1300" u="none" strike="noStrike" cap="none">
                        <a:latin typeface="Arial"/>
                        <a:ea typeface="Arial"/>
                        <a:cs typeface="Arial"/>
                        <a:sym typeface="Arial"/>
                      </a:endParaRPr>
                    </a:p>
                    <a:p>
                      <a:pPr marL="0" marR="0" lvl="0" indent="0" algn="ctr"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ratio</a:t>
                      </a:r>
                      <a:endParaRPr sz="1300" u="none" strike="noStrike" cap="none">
                        <a:latin typeface="Arial"/>
                        <a:ea typeface="Arial"/>
                        <a:cs typeface="Arial"/>
                        <a:sym typeface="Arial"/>
                      </a:endParaRPr>
                    </a:p>
                  </a:txBody>
                  <a:tcPr marL="68600" marR="68600" marT="34300" marB="34300" anchor="ctr">
                    <a:solidFill>
                      <a:srgbClr val="4A86E8"/>
                    </a:solidFill>
                  </a:tcPr>
                </a:tc>
                <a:extLst>
                  <a:ext uri="{0D108BD9-81ED-4DB2-BD59-A6C34878D82A}">
                    <a16:rowId xmlns:a16="http://schemas.microsoft.com/office/drawing/2014/main" val="10000"/>
                  </a:ext>
                </a:extLst>
              </a:tr>
              <a:tr h="520825">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After DNAse I treatment</a:t>
                      </a:r>
                      <a:endParaRPr sz="1300" u="none" strike="noStrike" cap="none">
                        <a:latin typeface="Arial"/>
                        <a:ea typeface="Arial"/>
                        <a:cs typeface="Arial"/>
                        <a:sym typeface="Arial"/>
                      </a:endParaRPr>
                    </a:p>
                  </a:txBody>
                  <a:tcPr marL="68600" marR="68600" marT="34300" marB="34300"/>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a:t>
                      </a:r>
                      <a:endParaRPr sz="1300" u="none" strike="noStrike" cap="none">
                        <a:latin typeface="Arial"/>
                        <a:ea typeface="Arial"/>
                        <a:cs typeface="Arial"/>
                        <a:sym typeface="Arial"/>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Reagents</a:t>
                      </a:r>
                      <a:endParaRPr sz="1300" u="none" strike="noStrike" cap="none">
                        <a:latin typeface="Arial"/>
                        <a:ea typeface="Arial"/>
                        <a:cs typeface="Arial"/>
                        <a:sym typeface="Arial"/>
                      </a:endParaRPr>
                    </a:p>
                  </a:txBody>
                  <a:tcPr marL="68600" marR="68600" marT="34300" marB="34300"/>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2x</a:t>
                      </a:r>
                      <a:endParaRPr sz="1300" u="none" strike="noStrike" cap="none">
                        <a:latin typeface="Arial"/>
                        <a:ea typeface="Arial"/>
                        <a:cs typeface="Arial"/>
                        <a:sym typeface="Arial"/>
                      </a:endParaRPr>
                    </a:p>
                  </a:txBody>
                  <a:tcPr marL="68600" marR="68600" marT="34300" marB="34300"/>
                </a:tc>
                <a:extLst>
                  <a:ext uri="{0D108BD9-81ED-4DB2-BD59-A6C34878D82A}">
                    <a16:rowId xmlns:a16="http://schemas.microsoft.com/office/drawing/2014/main" val="10001"/>
                  </a:ext>
                </a:extLst>
              </a:tr>
              <a:tr h="520825">
                <a:tc>
                  <a:txBody>
                    <a:bodyPr/>
                    <a:lstStyle/>
                    <a:p>
                      <a:pPr marL="0" marR="0" lvl="0" indent="0" algn="l" rtl="0">
                        <a:lnSpc>
                          <a:spcPct val="100000"/>
                        </a:lnSpc>
                        <a:spcBef>
                          <a:spcPts val="0"/>
                        </a:spcBef>
                        <a:spcAft>
                          <a:spcPts val="0"/>
                        </a:spcAft>
                        <a:buClr>
                          <a:srgbClr val="000000"/>
                        </a:buClr>
                        <a:buSzPts val="1300"/>
                        <a:buFont typeface="Arial"/>
                        <a:buNone/>
                      </a:pPr>
                      <a:r>
                        <a:rPr lang="en" sz="1300" u="none" strike="noStrike" cap="none">
                          <a:latin typeface="Arial"/>
                          <a:ea typeface="Arial"/>
                          <a:cs typeface="Arial"/>
                          <a:sym typeface="Arial"/>
                        </a:rPr>
                        <a:t>After </a:t>
                      </a:r>
                      <a:r>
                        <a:rPr lang="en" sz="1300">
                          <a:latin typeface="Arial"/>
                          <a:ea typeface="Arial"/>
                          <a:cs typeface="Arial"/>
                          <a:sym typeface="Arial"/>
                        </a:rPr>
                        <a:t>barcoding PCR</a:t>
                      </a:r>
                      <a:endParaRPr sz="1300" u="none" strike="noStrike" cap="none">
                        <a:latin typeface="Arial"/>
                        <a:ea typeface="Arial"/>
                        <a:cs typeface="Arial"/>
                        <a:sym typeface="Arial"/>
                      </a:endParaRPr>
                    </a:p>
                  </a:txBody>
                  <a:tcPr marL="68600" marR="68600" marT="34300" marB="34300"/>
                </a:tc>
                <a:tc>
                  <a:txBody>
                    <a:bodyPr/>
                    <a:lstStyle/>
                    <a:p>
                      <a:pPr marL="0" marR="0" lvl="0" indent="0" algn="ctr" rtl="0">
                        <a:lnSpc>
                          <a:spcPct val="100000"/>
                        </a:lnSpc>
                        <a:spcBef>
                          <a:spcPts val="0"/>
                        </a:spcBef>
                        <a:spcAft>
                          <a:spcPts val="0"/>
                        </a:spcAft>
                        <a:buClr>
                          <a:srgbClr val="000000"/>
                        </a:buClr>
                        <a:buSzPts val="1300"/>
                        <a:buFont typeface="Arial"/>
                        <a:buNone/>
                      </a:pPr>
                      <a:r>
                        <a:rPr lang="en" sz="1300">
                          <a:latin typeface="Arial"/>
                          <a:ea typeface="Arial"/>
                          <a:cs typeface="Arial"/>
                          <a:sym typeface="Arial"/>
                        </a:rPr>
                        <a:t>&gt;</a:t>
                      </a:r>
                      <a:r>
                        <a:rPr lang="en" sz="1300" u="none" strike="noStrike" cap="none">
                          <a:latin typeface="Arial"/>
                          <a:ea typeface="Arial"/>
                          <a:cs typeface="Arial"/>
                          <a:sym typeface="Arial"/>
                        </a:rPr>
                        <a:t> 400 bp</a:t>
                      </a:r>
                      <a:endParaRPr sz="1300" u="none" strike="noStrike" cap="none">
                        <a:latin typeface="Arial"/>
                        <a:ea typeface="Arial"/>
                        <a:cs typeface="Arial"/>
                        <a:sym typeface="Arial"/>
                      </a:endParaRPr>
                    </a:p>
                  </a:txBody>
                  <a:tcPr marL="68600" marR="68600" marT="34300" marB="34300"/>
                </a:tc>
                <a:tc>
                  <a:txBody>
                    <a:bodyPr/>
                    <a:lstStyle/>
                    <a:p>
                      <a:pPr marL="0" marR="0" lvl="0" indent="0" algn="l" rtl="0">
                        <a:lnSpc>
                          <a:spcPct val="100000"/>
                        </a:lnSpc>
                        <a:spcBef>
                          <a:spcPts val="0"/>
                        </a:spcBef>
                        <a:spcAft>
                          <a:spcPts val="0"/>
                        </a:spcAft>
                        <a:buClr>
                          <a:schemeClr val="dk1"/>
                        </a:buClr>
                        <a:buSzPts val="1100"/>
                        <a:buFont typeface="Calibri"/>
                        <a:buNone/>
                      </a:pPr>
                      <a:r>
                        <a:rPr lang="en" sz="1300" u="none" strike="noStrike" cap="none">
                          <a:latin typeface="Arial"/>
                          <a:ea typeface="Arial"/>
                          <a:cs typeface="Arial"/>
                          <a:sym typeface="Arial"/>
                        </a:rPr>
                        <a:t>Reagents and small fragments / dimers</a:t>
                      </a:r>
                      <a:endParaRPr sz="1300" u="none" strike="noStrike" cap="none">
                        <a:latin typeface="Arial"/>
                        <a:ea typeface="Arial"/>
                        <a:cs typeface="Arial"/>
                        <a:sym typeface="Arial"/>
                      </a:endParaRPr>
                    </a:p>
                  </a:txBody>
                  <a:tcPr marL="68600" marR="68600" marT="34300" marB="34300"/>
                </a:tc>
                <a:tc>
                  <a:txBody>
                    <a:bodyPr/>
                    <a:lstStyle/>
                    <a:p>
                      <a:pPr marL="0" marR="0" lvl="0" indent="0" algn="ctr" rtl="0">
                        <a:lnSpc>
                          <a:spcPct val="100000"/>
                        </a:lnSpc>
                        <a:spcBef>
                          <a:spcPts val="0"/>
                        </a:spcBef>
                        <a:spcAft>
                          <a:spcPts val="0"/>
                        </a:spcAft>
                        <a:buClr>
                          <a:srgbClr val="000000"/>
                        </a:buClr>
                        <a:buSzPts val="1300"/>
                        <a:buFont typeface="Arial"/>
                        <a:buNone/>
                      </a:pPr>
                      <a:r>
                        <a:rPr lang="en" sz="1300">
                          <a:latin typeface="Arial"/>
                          <a:ea typeface="Arial"/>
                          <a:cs typeface="Arial"/>
                          <a:sym typeface="Arial"/>
                        </a:rPr>
                        <a:t>0.6</a:t>
                      </a:r>
                      <a:r>
                        <a:rPr lang="en" sz="1300" u="none" strike="noStrike" cap="none">
                          <a:latin typeface="Arial"/>
                          <a:ea typeface="Arial"/>
                          <a:cs typeface="Arial"/>
                          <a:sym typeface="Arial"/>
                        </a:rPr>
                        <a:t>x</a:t>
                      </a:r>
                      <a:endParaRPr sz="1300" u="none" strike="noStrike" cap="none">
                        <a:latin typeface="Arial"/>
                        <a:ea typeface="Arial"/>
                        <a:cs typeface="Arial"/>
                        <a:sym typeface="Arial"/>
                      </a:endParaRPr>
                    </a:p>
                  </a:txBody>
                  <a:tcPr marL="68600" marR="68600" marT="34300" marB="34300"/>
                </a:tc>
                <a:extLst>
                  <a:ext uri="{0D108BD9-81ED-4DB2-BD59-A6C34878D82A}">
                    <a16:rowId xmlns:a16="http://schemas.microsoft.com/office/drawing/2014/main" val="10002"/>
                  </a:ext>
                </a:extLst>
              </a:tr>
              <a:tr h="520825">
                <a:tc>
                  <a:txBody>
                    <a:bodyPr/>
                    <a:lstStyle/>
                    <a:p>
                      <a:pPr marL="0" marR="0" lvl="0" indent="0" algn="l" rtl="0">
                        <a:lnSpc>
                          <a:spcPct val="100000"/>
                        </a:lnSpc>
                        <a:spcBef>
                          <a:spcPts val="0"/>
                        </a:spcBef>
                        <a:spcAft>
                          <a:spcPts val="0"/>
                        </a:spcAft>
                        <a:buClr>
                          <a:srgbClr val="000000"/>
                        </a:buClr>
                        <a:buSzPts val="1300"/>
                        <a:buFont typeface="Arial"/>
                        <a:buNone/>
                      </a:pPr>
                      <a:r>
                        <a:rPr lang="en" sz="1300">
                          <a:latin typeface="Arial"/>
                          <a:ea typeface="Arial"/>
                          <a:cs typeface="Arial"/>
                          <a:sym typeface="Arial"/>
                        </a:rPr>
                        <a:t>After pooling </a:t>
                      </a:r>
                      <a:endParaRPr sz="1300">
                        <a:latin typeface="Arial"/>
                        <a:ea typeface="Arial"/>
                        <a:cs typeface="Arial"/>
                        <a:sym typeface="Arial"/>
                      </a:endParaRPr>
                    </a:p>
                    <a:p>
                      <a:pPr marL="0" marR="0" lvl="0" indent="0" algn="l" rtl="0">
                        <a:lnSpc>
                          <a:spcPct val="100000"/>
                        </a:lnSpc>
                        <a:spcBef>
                          <a:spcPts val="0"/>
                        </a:spcBef>
                        <a:spcAft>
                          <a:spcPts val="0"/>
                        </a:spcAft>
                        <a:buClr>
                          <a:srgbClr val="000000"/>
                        </a:buClr>
                        <a:buSzPts val="1300"/>
                        <a:buFont typeface="Arial"/>
                        <a:buNone/>
                      </a:pPr>
                      <a:r>
                        <a:rPr lang="en" sz="1300">
                          <a:latin typeface="Arial"/>
                          <a:ea typeface="Arial"/>
                          <a:cs typeface="Arial"/>
                          <a:sym typeface="Arial"/>
                        </a:rPr>
                        <a:t>(if the pool needs to be concentrated</a:t>
                      </a:r>
                      <a:endParaRPr sz="1300">
                        <a:latin typeface="Arial"/>
                        <a:ea typeface="Arial"/>
                        <a:cs typeface="Arial"/>
                        <a:sym typeface="Arial"/>
                      </a:endParaRPr>
                    </a:p>
                  </a:txBody>
                  <a:tcPr marL="68600" marR="68600" marT="34300" marB="34300"/>
                </a:tc>
                <a:tc>
                  <a:txBody>
                    <a:bodyPr/>
                    <a:lstStyle/>
                    <a:p>
                      <a:pPr marL="0" marR="0" lvl="0" indent="0" algn="ctr" rtl="0">
                        <a:lnSpc>
                          <a:spcPct val="100000"/>
                        </a:lnSpc>
                        <a:spcBef>
                          <a:spcPts val="0"/>
                        </a:spcBef>
                        <a:spcAft>
                          <a:spcPts val="0"/>
                        </a:spcAft>
                        <a:buClr>
                          <a:schemeClr val="dk1"/>
                        </a:buClr>
                        <a:buSzPts val="1300"/>
                        <a:buFont typeface="Arial"/>
                        <a:buNone/>
                      </a:pPr>
                      <a:r>
                        <a:rPr lang="en" sz="1300">
                          <a:latin typeface="Arial"/>
                          <a:ea typeface="Arial"/>
                          <a:cs typeface="Arial"/>
                          <a:sym typeface="Arial"/>
                        </a:rPr>
                        <a:t>-</a:t>
                      </a:r>
                      <a:endParaRPr sz="1300" u="none" strike="noStrike" cap="none">
                        <a:latin typeface="Arial"/>
                        <a:ea typeface="Arial"/>
                        <a:cs typeface="Arial"/>
                        <a:sym typeface="Arial"/>
                      </a:endParaRPr>
                    </a:p>
                  </a:txBody>
                  <a:tcPr marL="68600" marR="68600" marT="34300" marB="34300"/>
                </a:tc>
                <a:tc>
                  <a:txBody>
                    <a:bodyPr/>
                    <a:lstStyle/>
                    <a:p>
                      <a:pPr marL="0" marR="0" lvl="0" indent="0" algn="l" rtl="0">
                        <a:lnSpc>
                          <a:spcPct val="100000"/>
                        </a:lnSpc>
                        <a:spcBef>
                          <a:spcPts val="0"/>
                        </a:spcBef>
                        <a:spcAft>
                          <a:spcPts val="0"/>
                        </a:spcAft>
                        <a:buClr>
                          <a:srgbClr val="000000"/>
                        </a:buClr>
                        <a:buSzPts val="1300"/>
                        <a:buFont typeface="Arial"/>
                        <a:buNone/>
                      </a:pPr>
                      <a:r>
                        <a:rPr lang="en" sz="1300">
                          <a:latin typeface="Arial"/>
                          <a:ea typeface="Arial"/>
                          <a:cs typeface="Arial"/>
                          <a:sym typeface="Arial"/>
                        </a:rPr>
                        <a:t>To concentrate the pool before loading</a:t>
                      </a:r>
                      <a:endParaRPr sz="1300" u="none" strike="noStrike" cap="none">
                        <a:latin typeface="Arial"/>
                        <a:ea typeface="Arial"/>
                        <a:cs typeface="Arial"/>
                        <a:sym typeface="Arial"/>
                      </a:endParaRPr>
                    </a:p>
                  </a:txBody>
                  <a:tcPr marL="68600" marR="68600" marT="34300" marB="34300"/>
                </a:tc>
                <a:tc>
                  <a:txBody>
                    <a:bodyPr/>
                    <a:lstStyle/>
                    <a:p>
                      <a:pPr marL="0" marR="0" lvl="0" indent="0" algn="ctr" rtl="0">
                        <a:lnSpc>
                          <a:spcPct val="100000"/>
                        </a:lnSpc>
                        <a:spcBef>
                          <a:spcPts val="0"/>
                        </a:spcBef>
                        <a:spcAft>
                          <a:spcPts val="0"/>
                        </a:spcAft>
                        <a:buClr>
                          <a:srgbClr val="000000"/>
                        </a:buClr>
                        <a:buSzPts val="1300"/>
                        <a:buFont typeface="Arial"/>
                        <a:buNone/>
                      </a:pPr>
                      <a:r>
                        <a:rPr lang="en" sz="1300">
                          <a:latin typeface="Arial"/>
                          <a:ea typeface="Arial"/>
                          <a:cs typeface="Arial"/>
                          <a:sym typeface="Arial"/>
                        </a:rPr>
                        <a:t>2</a:t>
                      </a:r>
                      <a:r>
                        <a:rPr lang="en" sz="1300" u="none" strike="noStrike" cap="none">
                          <a:latin typeface="Arial"/>
                          <a:ea typeface="Arial"/>
                          <a:cs typeface="Arial"/>
                          <a:sym typeface="Arial"/>
                        </a:rPr>
                        <a:t>x</a:t>
                      </a:r>
                      <a:endParaRPr sz="1300" u="none" strike="noStrike" cap="none">
                        <a:latin typeface="Arial"/>
                        <a:ea typeface="Arial"/>
                        <a:cs typeface="Arial"/>
                        <a:sym typeface="Arial"/>
                      </a:endParaRPr>
                    </a:p>
                  </a:txBody>
                  <a:tcPr marL="68600" marR="68600" marT="34300" marB="34300"/>
                </a:tc>
                <a:extLst>
                  <a:ext uri="{0D108BD9-81ED-4DB2-BD59-A6C34878D82A}">
                    <a16:rowId xmlns:a16="http://schemas.microsoft.com/office/drawing/2014/main" val="10003"/>
                  </a:ext>
                </a:extLst>
              </a:tr>
            </a:tbl>
          </a:graphicData>
        </a:graphic>
      </p:graphicFrame>
      <p:sp>
        <p:nvSpPr>
          <p:cNvPr id="129" name="Google Shape;129;p12"/>
          <p:cNvSpPr txBox="1">
            <a:spLocks noGrp="1"/>
          </p:cNvSpPr>
          <p:nvPr>
            <p:ph type="title" idx="4294967295"/>
          </p:nvPr>
        </p:nvSpPr>
        <p:spPr>
          <a:xfrm>
            <a:off x="297000" y="0"/>
            <a:ext cx="85038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t>Using SPRI beads in library preparation: </a:t>
            </a:r>
            <a:r>
              <a:rPr lang="en" sz="2500" i="1"/>
              <a:t>At which steps?</a:t>
            </a:r>
            <a:endParaRPr/>
          </a:p>
        </p:txBody>
      </p:sp>
      <p:pic>
        <p:nvPicPr>
          <p:cNvPr id="130" name="Google Shape;130;p12"/>
          <p:cNvPicPr preferRelativeResize="0"/>
          <p:nvPr/>
        </p:nvPicPr>
        <p:blipFill rotWithShape="1">
          <a:blip r:embed="rId3">
            <a:alphaModFix/>
          </a:blip>
          <a:srcRect/>
          <a:stretch/>
        </p:blipFill>
        <p:spPr>
          <a:xfrm>
            <a:off x="5799200" y="939100"/>
            <a:ext cx="3180525" cy="2717900"/>
          </a:xfrm>
          <a:prstGeom prst="rect">
            <a:avLst/>
          </a:prstGeom>
          <a:noFill/>
          <a:ln>
            <a:noFill/>
          </a:ln>
        </p:spPr>
      </p:pic>
      <p:grpSp>
        <p:nvGrpSpPr>
          <p:cNvPr id="131" name="Google Shape;131;p12"/>
          <p:cNvGrpSpPr/>
          <p:nvPr/>
        </p:nvGrpSpPr>
        <p:grpSpPr>
          <a:xfrm>
            <a:off x="6224600" y="3601100"/>
            <a:ext cx="2630875" cy="603300"/>
            <a:chOff x="804450" y="2171550"/>
            <a:chExt cx="2630875" cy="603300"/>
          </a:xfrm>
        </p:grpSpPr>
        <p:sp>
          <p:nvSpPr>
            <p:cNvPr id="132" name="Google Shape;132;p12"/>
            <p:cNvSpPr txBox="1"/>
            <p:nvPr/>
          </p:nvSpPr>
          <p:spPr>
            <a:xfrm>
              <a:off x="1203325" y="2171550"/>
              <a:ext cx="2232000" cy="603300"/>
            </a:xfrm>
            <a:prstGeom prst="rect">
              <a:avLst/>
            </a:prstGeom>
            <a:noFill/>
            <a:ln>
              <a:noFill/>
            </a:ln>
          </p:spPr>
          <p:txBody>
            <a:bodyPr spcFirstLastPara="1" wrap="square" lIns="91425" tIns="91425" rIns="91425" bIns="91425" anchor="t" anchorCtr="0">
              <a:noAutofit/>
            </a:bodyPr>
            <a:lstStyle/>
            <a:p>
              <a:pPr marL="0" marR="0" lvl="0" indent="457200" algn="ctr" rtl="0">
                <a:lnSpc>
                  <a:spcPct val="15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Volume of beads</a:t>
              </a:r>
              <a:endParaRPr sz="1200" b="0" i="0" u="none" strike="noStrike" cap="none">
                <a:solidFill>
                  <a:srgbClr val="000000"/>
                </a:solidFill>
                <a:latin typeface="Arial"/>
                <a:ea typeface="Arial"/>
                <a:cs typeface="Arial"/>
                <a:sym typeface="Arial"/>
              </a:endParaRPr>
            </a:p>
            <a:p>
              <a:pPr marL="0" marR="0" lvl="0" indent="457200" algn="ctr" rtl="0">
                <a:lnSpc>
                  <a:spcPct val="15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Volume of reaction</a:t>
              </a:r>
              <a:endParaRPr sz="1200" b="0" i="0" u="none" strike="noStrike" cap="none">
                <a:solidFill>
                  <a:srgbClr val="000000"/>
                </a:solidFill>
                <a:latin typeface="Arial"/>
                <a:ea typeface="Arial"/>
                <a:cs typeface="Arial"/>
                <a:sym typeface="Arial"/>
              </a:endParaRPr>
            </a:p>
          </p:txBody>
        </p:sp>
        <p:cxnSp>
          <p:nvCxnSpPr>
            <p:cNvPr id="133" name="Google Shape;133;p12"/>
            <p:cNvCxnSpPr/>
            <p:nvPr/>
          </p:nvCxnSpPr>
          <p:spPr>
            <a:xfrm>
              <a:off x="1769550" y="2469000"/>
              <a:ext cx="1460700" cy="8400"/>
            </a:xfrm>
            <a:prstGeom prst="straightConnector1">
              <a:avLst/>
            </a:prstGeom>
            <a:noFill/>
            <a:ln w="9525" cap="flat" cmpd="sng">
              <a:solidFill>
                <a:schemeClr val="dk1"/>
              </a:solidFill>
              <a:prstDash val="solid"/>
              <a:round/>
              <a:headEnd type="none" w="sm" len="sm"/>
              <a:tailEnd type="none" w="sm" len="sm"/>
            </a:ln>
          </p:spPr>
        </p:cxnSp>
        <p:sp>
          <p:nvSpPr>
            <p:cNvPr id="134" name="Google Shape;134;p12"/>
            <p:cNvSpPr txBox="1"/>
            <p:nvPr/>
          </p:nvSpPr>
          <p:spPr>
            <a:xfrm>
              <a:off x="804450" y="2279750"/>
              <a:ext cx="1304700" cy="345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rgbClr val="000000"/>
                  </a:solidFill>
                  <a:latin typeface="Arial"/>
                  <a:ea typeface="Arial"/>
                  <a:cs typeface="Arial"/>
                  <a:sym typeface="Arial"/>
                </a:rPr>
                <a:t>SPRI ratio =</a:t>
              </a:r>
              <a:endParaRPr sz="1200" b="0" i="0" u="none" strike="noStrike" cap="none">
                <a:solidFill>
                  <a:srgbClr val="000000"/>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3"/>
          <p:cNvSpPr txBox="1">
            <a:spLocks noGrp="1"/>
          </p:cNvSpPr>
          <p:nvPr>
            <p:ph type="title"/>
          </p:nvPr>
        </p:nvSpPr>
        <p:spPr>
          <a:xfrm>
            <a:off x="364575" y="0"/>
            <a:ext cx="8467800" cy="572700"/>
          </a:xfrm>
          <a:prstGeom prst="rect">
            <a:avLst/>
          </a:prstGeom>
          <a:noFill/>
          <a:ln>
            <a:noFill/>
          </a:ln>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SzPct val="111111"/>
              <a:buNone/>
            </a:pPr>
            <a:r>
              <a:rPr lang="en"/>
              <a:t>SPRI bead cleanup activity</a:t>
            </a:r>
            <a:endParaRPr/>
          </a:p>
        </p:txBody>
      </p:sp>
      <p:sp>
        <p:nvSpPr>
          <p:cNvPr id="140" name="Google Shape;140;p13"/>
          <p:cNvSpPr txBox="1">
            <a:spLocks noGrp="1"/>
          </p:cNvSpPr>
          <p:nvPr>
            <p:ph type="body" idx="1"/>
          </p:nvPr>
        </p:nvSpPr>
        <p:spPr>
          <a:xfrm>
            <a:off x="311700" y="634375"/>
            <a:ext cx="8520600" cy="3601800"/>
          </a:xfrm>
          <a:prstGeom prst="rect">
            <a:avLst/>
          </a:prstGeom>
          <a:noFill/>
          <a:ln>
            <a:noFill/>
          </a:ln>
        </p:spPr>
        <p:txBody>
          <a:bodyPr spcFirstLastPara="1" wrap="square" lIns="91425" tIns="91425" rIns="91425" bIns="91425" anchor="t" anchorCtr="0">
            <a:normAutofit fontScale="92500" lnSpcReduction="10000"/>
          </a:bodyPr>
          <a:lstStyle/>
          <a:p>
            <a:pPr marL="0" marR="0" lvl="0" indent="0" algn="l" rtl="0">
              <a:lnSpc>
                <a:spcPct val="115000"/>
              </a:lnSpc>
              <a:spcBef>
                <a:spcPts val="0"/>
              </a:spcBef>
              <a:spcAft>
                <a:spcPts val="0"/>
              </a:spcAft>
              <a:buNone/>
            </a:pPr>
            <a:r>
              <a:rPr lang="en" sz="1400">
                <a:solidFill>
                  <a:srgbClr val="000000"/>
                </a:solidFill>
              </a:rPr>
              <a:t>Set up </a:t>
            </a:r>
            <a:r>
              <a:rPr lang="en" sz="1400" b="1">
                <a:solidFill>
                  <a:srgbClr val="000000"/>
                </a:solidFill>
              </a:rPr>
              <a:t>2</a:t>
            </a:r>
            <a:r>
              <a:rPr lang="en" sz="1400">
                <a:solidFill>
                  <a:srgbClr val="000000"/>
                </a:solidFill>
              </a:rPr>
              <a:t> reactions according to the table below at</a:t>
            </a:r>
            <a:r>
              <a:rPr lang="en" sz="1400" b="1">
                <a:solidFill>
                  <a:srgbClr val="000000"/>
                </a:solidFill>
              </a:rPr>
              <a:t> 0.8X </a:t>
            </a:r>
            <a:r>
              <a:rPr lang="en" sz="1400">
                <a:solidFill>
                  <a:srgbClr val="000000"/>
                </a:solidFill>
              </a:rPr>
              <a:t>and </a:t>
            </a:r>
            <a:r>
              <a:rPr lang="en" sz="1400" b="1">
                <a:solidFill>
                  <a:srgbClr val="000000"/>
                </a:solidFill>
              </a:rPr>
              <a:t>2.0X</a:t>
            </a:r>
            <a:r>
              <a:rPr lang="en" sz="1400">
                <a:solidFill>
                  <a:srgbClr val="000000"/>
                </a:solidFill>
              </a:rPr>
              <a:t>. </a:t>
            </a:r>
            <a:r>
              <a:rPr lang="en" sz="1400">
                <a:solidFill>
                  <a:schemeClr val="dk1"/>
                </a:solidFill>
              </a:rPr>
              <a:t>DNA input is 50bp DNA ladder diluted to 1:50 (save an aliquot to use as a control).</a:t>
            </a:r>
            <a:endParaRPr sz="1400">
              <a:solidFill>
                <a:srgbClr val="000000"/>
              </a:solidFill>
            </a:endParaRPr>
          </a:p>
          <a:p>
            <a:pPr marL="457200" marR="0" lvl="0" indent="-310832" algn="l" rtl="0">
              <a:lnSpc>
                <a:spcPct val="115000"/>
              </a:lnSpc>
              <a:spcBef>
                <a:spcPts val="0"/>
              </a:spcBef>
              <a:spcAft>
                <a:spcPts val="0"/>
              </a:spcAft>
              <a:buClr>
                <a:srgbClr val="000000"/>
              </a:buClr>
              <a:buSzPct val="100000"/>
              <a:buAutoNum type="arabicPeriod"/>
            </a:pPr>
            <a:r>
              <a:rPr lang="en" sz="1400">
                <a:solidFill>
                  <a:srgbClr val="000000"/>
                </a:solidFill>
              </a:rPr>
              <a:t>Add SPRI beads to sample and mix thoroughly by pipetting up and down ten times. Incubate for 3-5 mins at room temperature, then </a:t>
            </a:r>
            <a:r>
              <a:rPr lang="en" sz="1400">
                <a:solidFill>
                  <a:schemeClr val="dk1"/>
                </a:solidFill>
              </a:rPr>
              <a:t>pulse spin the tubes for 1-2 seconds, </a:t>
            </a:r>
            <a:endParaRPr sz="1400">
              <a:solidFill>
                <a:srgbClr val="000000"/>
              </a:solidFill>
            </a:endParaRPr>
          </a:p>
          <a:p>
            <a:pPr marL="457200" marR="0" lvl="0" indent="-310832" algn="l" rtl="0">
              <a:lnSpc>
                <a:spcPct val="115000"/>
              </a:lnSpc>
              <a:spcBef>
                <a:spcPts val="0"/>
              </a:spcBef>
              <a:spcAft>
                <a:spcPts val="0"/>
              </a:spcAft>
              <a:buClr>
                <a:srgbClr val="000000"/>
              </a:buClr>
              <a:buSzPct val="100000"/>
              <a:buAutoNum type="arabicPeriod"/>
            </a:pPr>
            <a:r>
              <a:rPr lang="en" sz="1400">
                <a:solidFill>
                  <a:srgbClr val="000000"/>
                </a:solidFill>
              </a:rPr>
              <a:t>Place samples on magnetic rack and incubate for ~5 mins on the rack.</a:t>
            </a:r>
            <a:endParaRPr sz="1400">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Remove supernatant.</a:t>
            </a:r>
            <a:endParaRPr sz="1400">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Add 200μL of 85% EtOH to samples while on the magnetic rack. Do not disturb beads. Incubate at room temperature for 30s then remove the supernatant.</a:t>
            </a:r>
            <a:endParaRPr sz="1400">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Repeat EtOH wash step for a total of 2 washes.</a:t>
            </a:r>
            <a:endParaRPr sz="1400">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Air dry the beads for </a:t>
            </a:r>
            <a:r>
              <a:rPr lang="en" sz="1400" i="1">
                <a:solidFill>
                  <a:srgbClr val="000000"/>
                </a:solidFill>
              </a:rPr>
              <a:t>up to</a:t>
            </a:r>
            <a:r>
              <a:rPr lang="en" sz="1400">
                <a:solidFill>
                  <a:srgbClr val="000000"/>
                </a:solidFill>
              </a:rPr>
              <a:t> 3-5 mins while on the magnetic rack. </a:t>
            </a:r>
            <a:r>
              <a:rPr lang="en" sz="1400" i="1">
                <a:solidFill>
                  <a:srgbClr val="000000"/>
                </a:solidFill>
              </a:rPr>
              <a:t>Watch beads carefully throughout this incubation to avoid overdrying; smaller bead pellets dry faster. Trust your eyes more than the timer.</a:t>
            </a:r>
            <a:endParaRPr sz="1400" i="1">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Remove tube from magnetic rack. Add 20ul nuclease free water to elute.</a:t>
            </a:r>
            <a:endParaRPr sz="1400">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Pipette to mix well at least ten times. Incubate for a minimum of 2 mins at room temperature off the magnetic rack, then pulse spin the tubes for 1-2 seconds. </a:t>
            </a:r>
            <a:endParaRPr sz="1400">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Place on magnetic rack until solution is clear ~5 mins.</a:t>
            </a:r>
            <a:endParaRPr sz="1400">
              <a:solidFill>
                <a:srgbClr val="000000"/>
              </a:solidFill>
            </a:endParaRPr>
          </a:p>
          <a:p>
            <a:pPr marL="457200" lvl="0" indent="-310832" algn="l" rtl="0">
              <a:spcBef>
                <a:spcPts val="0"/>
              </a:spcBef>
              <a:spcAft>
                <a:spcPts val="0"/>
              </a:spcAft>
              <a:buClr>
                <a:srgbClr val="000000"/>
              </a:buClr>
              <a:buSzPct val="100000"/>
              <a:buAutoNum type="arabicPeriod"/>
            </a:pPr>
            <a:r>
              <a:rPr lang="en" sz="1400">
                <a:solidFill>
                  <a:srgbClr val="000000"/>
                </a:solidFill>
              </a:rPr>
              <a:t>Collect 18ul of the supernatant and transfer to a clean nuclease free PCR tube</a:t>
            </a:r>
            <a:endParaRPr sz="1400">
              <a:solidFill>
                <a:srgbClr val="000000"/>
              </a:solidFill>
            </a:endParaRPr>
          </a:p>
        </p:txBody>
      </p:sp>
      <p:graphicFrame>
        <p:nvGraphicFramePr>
          <p:cNvPr id="141" name="Google Shape;141;p13"/>
          <p:cNvGraphicFramePr/>
          <p:nvPr/>
        </p:nvGraphicFramePr>
        <p:xfrm>
          <a:off x="2552888" y="4236100"/>
          <a:ext cx="4091150" cy="880065"/>
        </p:xfrm>
        <a:graphic>
          <a:graphicData uri="http://schemas.openxmlformats.org/drawingml/2006/table">
            <a:tbl>
              <a:tblPr>
                <a:noFill/>
              </a:tblPr>
              <a:tblGrid>
                <a:gridCol w="1847650">
                  <a:extLst>
                    <a:ext uri="{9D8B030D-6E8A-4147-A177-3AD203B41FA5}">
                      <a16:colId xmlns:a16="http://schemas.microsoft.com/office/drawing/2014/main" val="20000"/>
                    </a:ext>
                  </a:extLst>
                </a:gridCol>
                <a:gridCol w="1121750">
                  <a:extLst>
                    <a:ext uri="{9D8B030D-6E8A-4147-A177-3AD203B41FA5}">
                      <a16:colId xmlns:a16="http://schemas.microsoft.com/office/drawing/2014/main" val="20001"/>
                    </a:ext>
                  </a:extLst>
                </a:gridCol>
                <a:gridCol w="1121750">
                  <a:extLst>
                    <a:ext uri="{9D8B030D-6E8A-4147-A177-3AD203B41FA5}">
                      <a16:colId xmlns:a16="http://schemas.microsoft.com/office/drawing/2014/main" val="20002"/>
                    </a:ext>
                  </a:extLst>
                </a:gridCol>
              </a:tblGrid>
              <a:tr h="286425">
                <a:tc>
                  <a:txBody>
                    <a:bodyPr/>
                    <a:lstStyle/>
                    <a:p>
                      <a:pPr marL="0" marR="0" lvl="0" indent="0" algn="ctr" rtl="0">
                        <a:lnSpc>
                          <a:spcPct val="115000"/>
                        </a:lnSpc>
                        <a:spcBef>
                          <a:spcPts val="0"/>
                        </a:spcBef>
                        <a:spcAft>
                          <a:spcPts val="0"/>
                        </a:spcAft>
                        <a:buClr>
                          <a:srgbClr val="000000"/>
                        </a:buClr>
                        <a:buSzPts val="900"/>
                        <a:buFont typeface="Arial"/>
                        <a:buNone/>
                      </a:pPr>
                      <a:r>
                        <a:rPr lang="en" sz="1200" b="1" u="none" strike="noStrike" cap="none">
                          <a:solidFill>
                            <a:srgbClr val="FFFFFF"/>
                          </a:solidFill>
                        </a:rPr>
                        <a:t>Bead:Sample</a:t>
                      </a:r>
                      <a:endParaRPr sz="1200" b="1" u="none" strike="noStrike" cap="none">
                        <a:solidFill>
                          <a:srgbClr val="FFFFFF"/>
                        </a:solidFill>
                      </a:endParaRPr>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1265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472C4"/>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 sz="1200" b="1" u="none" strike="noStrike" cap="none">
                          <a:solidFill>
                            <a:srgbClr val="FFFFFF"/>
                          </a:solidFill>
                        </a:rPr>
                        <a:t>0.8 : 1</a:t>
                      </a:r>
                      <a:endParaRPr sz="1200" b="1" u="none" strike="noStrike" cap="none">
                        <a:solidFill>
                          <a:srgbClr val="FFFFFF"/>
                        </a:solidFill>
                      </a:endParaRPr>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1265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472C4"/>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 sz="1200" b="1" u="none" strike="noStrike" cap="none">
                          <a:solidFill>
                            <a:srgbClr val="FFFFFF"/>
                          </a:solidFill>
                        </a:rPr>
                        <a:t>2 : 1</a:t>
                      </a:r>
                      <a:endParaRPr sz="1200" b="1" u="none" strike="noStrike" cap="none">
                        <a:solidFill>
                          <a:srgbClr val="FFFFFF"/>
                        </a:solidFill>
                      </a:endParaRPr>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1265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472C4"/>
                    </a:solidFill>
                  </a:tcPr>
                </a:tc>
                <a:extLst>
                  <a:ext uri="{0D108BD9-81ED-4DB2-BD59-A6C34878D82A}">
                    <a16:rowId xmlns:a16="http://schemas.microsoft.com/office/drawing/2014/main" val="10000"/>
                  </a:ext>
                </a:extLst>
              </a:tr>
              <a:tr h="286425">
                <a:tc>
                  <a:txBody>
                    <a:bodyPr/>
                    <a:lstStyle/>
                    <a:p>
                      <a:pPr marL="0" marR="0" lvl="0" indent="0" algn="ctr" rtl="0">
                        <a:lnSpc>
                          <a:spcPct val="115000"/>
                        </a:lnSpc>
                        <a:spcBef>
                          <a:spcPts val="0"/>
                        </a:spcBef>
                        <a:spcAft>
                          <a:spcPts val="0"/>
                        </a:spcAft>
                        <a:buClr>
                          <a:srgbClr val="000000"/>
                        </a:buClr>
                        <a:buSzPts val="900"/>
                        <a:buFont typeface="Arial"/>
                        <a:buNone/>
                      </a:pPr>
                      <a:r>
                        <a:rPr lang="en" sz="1200" b="1" u="none" strike="noStrike" cap="none">
                          <a:solidFill>
                            <a:srgbClr val="FFFFFF"/>
                          </a:solidFill>
                        </a:rPr>
                        <a:t>50bp ladder 1:50 (μL)</a:t>
                      </a:r>
                      <a:endParaRPr sz="1200" b="1" u="none" strike="noStrike" cap="none">
                        <a:solidFill>
                          <a:srgbClr val="FFFFFF"/>
                        </a:solidFill>
                      </a:endParaRPr>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650" cap="flat" cmpd="sng">
                      <a:solidFill>
                        <a:srgbClr val="FFFFFF"/>
                      </a:solidFill>
                      <a:prstDash val="solid"/>
                      <a:round/>
                      <a:headEnd type="none" w="sm" len="sm"/>
                      <a:tailEnd type="none" w="sm" len="sm"/>
                    </a:lnB>
                    <a:solidFill>
                      <a:srgbClr val="4472C4"/>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 sz="1200" u="none" strike="noStrike" cap="none"/>
                        <a:t>20</a:t>
                      </a:r>
                      <a:endParaRPr sz="1200" u="none" strike="noStrike" cap="none"/>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650" cap="flat" cmpd="sng">
                      <a:solidFill>
                        <a:srgbClr val="FFFFFF"/>
                      </a:solidFill>
                      <a:prstDash val="solid"/>
                      <a:round/>
                      <a:headEnd type="none" w="sm" len="sm"/>
                      <a:tailEnd type="none" w="sm" len="sm"/>
                    </a:lnB>
                    <a:solidFill>
                      <a:srgbClr val="CFD5EA"/>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 sz="1200" u="none" strike="noStrike" cap="none"/>
                        <a:t>20</a:t>
                      </a:r>
                      <a:endParaRPr sz="1200" u="none" strike="noStrike" cap="none"/>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650" cap="flat" cmpd="sng">
                      <a:solidFill>
                        <a:srgbClr val="FFFFFF"/>
                      </a:solidFill>
                      <a:prstDash val="solid"/>
                      <a:round/>
                      <a:headEnd type="none" w="sm" len="sm"/>
                      <a:tailEnd type="none" w="sm" len="sm"/>
                    </a:lnB>
                    <a:solidFill>
                      <a:srgbClr val="CFD5EA"/>
                    </a:solidFill>
                  </a:tcPr>
                </a:tc>
                <a:extLst>
                  <a:ext uri="{0D108BD9-81ED-4DB2-BD59-A6C34878D82A}">
                    <a16:rowId xmlns:a16="http://schemas.microsoft.com/office/drawing/2014/main" val="10001"/>
                  </a:ext>
                </a:extLst>
              </a:tr>
              <a:tr h="286425">
                <a:tc>
                  <a:txBody>
                    <a:bodyPr/>
                    <a:lstStyle/>
                    <a:p>
                      <a:pPr marL="0" marR="0" lvl="0" indent="0" algn="ctr" rtl="0">
                        <a:lnSpc>
                          <a:spcPct val="115000"/>
                        </a:lnSpc>
                        <a:spcBef>
                          <a:spcPts val="0"/>
                        </a:spcBef>
                        <a:spcAft>
                          <a:spcPts val="0"/>
                        </a:spcAft>
                        <a:buClr>
                          <a:srgbClr val="000000"/>
                        </a:buClr>
                        <a:buSzPts val="900"/>
                        <a:buFont typeface="Arial"/>
                        <a:buNone/>
                      </a:pPr>
                      <a:r>
                        <a:rPr lang="en" sz="1200" b="1" u="none" strike="noStrike" cap="none">
                          <a:solidFill>
                            <a:srgbClr val="FFFFFF"/>
                          </a:solidFill>
                        </a:rPr>
                        <a:t>SPRI beads (μL)</a:t>
                      </a:r>
                      <a:endParaRPr sz="1200" b="1" u="none" strike="noStrike" cap="none">
                        <a:solidFill>
                          <a:srgbClr val="FFFFFF"/>
                        </a:solidFill>
                      </a:endParaRPr>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12650" cap="flat" cmpd="sng">
                      <a:solidFill>
                        <a:srgbClr val="FFFFFF"/>
                      </a:solidFill>
                      <a:prstDash val="solid"/>
                      <a:round/>
                      <a:headEnd type="none" w="sm" len="sm"/>
                      <a:tailEnd type="none" w="sm" len="sm"/>
                    </a:lnT>
                    <a:lnB w="12650" cap="flat" cmpd="sng">
                      <a:solidFill>
                        <a:srgbClr val="FFFFFF"/>
                      </a:solidFill>
                      <a:prstDash val="solid"/>
                      <a:round/>
                      <a:headEnd type="none" w="sm" len="sm"/>
                      <a:tailEnd type="none" w="sm" len="sm"/>
                    </a:lnB>
                    <a:solidFill>
                      <a:srgbClr val="4472C4"/>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 sz="1200" u="none" strike="noStrike" cap="none"/>
                        <a:t>16</a:t>
                      </a:r>
                      <a:endParaRPr sz="1200" u="none" strike="noStrike" cap="none"/>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12650" cap="flat" cmpd="sng">
                      <a:solidFill>
                        <a:srgbClr val="FFFFFF"/>
                      </a:solidFill>
                      <a:prstDash val="solid"/>
                      <a:round/>
                      <a:headEnd type="none" w="sm" len="sm"/>
                      <a:tailEnd type="none" w="sm" len="sm"/>
                    </a:lnT>
                    <a:lnB w="12650" cap="flat" cmpd="sng">
                      <a:solidFill>
                        <a:srgbClr val="FFFFFF"/>
                      </a:solidFill>
                      <a:prstDash val="solid"/>
                      <a:round/>
                      <a:headEnd type="none" w="sm" len="sm"/>
                      <a:tailEnd type="none" w="sm" len="sm"/>
                    </a:lnB>
                    <a:solidFill>
                      <a:srgbClr val="E9EBF5"/>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 sz="1200" u="none" strike="noStrike" cap="none"/>
                        <a:t>40</a:t>
                      </a:r>
                      <a:endParaRPr sz="1200" u="none" strike="noStrike" cap="none"/>
                    </a:p>
                  </a:txBody>
                  <a:tcPr marL="95250" marR="95250" marT="9525" marB="91425" anchor="ctr">
                    <a:lnL w="12650" cap="flat" cmpd="sng">
                      <a:solidFill>
                        <a:srgbClr val="FFFFFF"/>
                      </a:solidFill>
                      <a:prstDash val="solid"/>
                      <a:round/>
                      <a:headEnd type="none" w="sm" len="sm"/>
                      <a:tailEnd type="none" w="sm" len="sm"/>
                    </a:lnL>
                    <a:lnR w="12650" cap="flat" cmpd="sng">
                      <a:solidFill>
                        <a:srgbClr val="FFFFFF"/>
                      </a:solidFill>
                      <a:prstDash val="solid"/>
                      <a:round/>
                      <a:headEnd type="none" w="sm" len="sm"/>
                      <a:tailEnd type="none" w="sm" len="sm"/>
                    </a:lnR>
                    <a:lnT w="12650" cap="flat" cmpd="sng">
                      <a:solidFill>
                        <a:srgbClr val="FFFFFF"/>
                      </a:solidFill>
                      <a:prstDash val="solid"/>
                      <a:round/>
                      <a:headEnd type="none" w="sm" len="sm"/>
                      <a:tailEnd type="none" w="sm" len="sm"/>
                    </a:lnT>
                    <a:lnB w="12650" cap="flat" cmpd="sng">
                      <a:solidFill>
                        <a:srgbClr val="FFFFFF"/>
                      </a:solidFill>
                      <a:prstDash val="solid"/>
                      <a:round/>
                      <a:headEnd type="none" w="sm" len="sm"/>
                      <a:tailEnd type="none" w="sm" len="sm"/>
                    </a:lnB>
                    <a:solidFill>
                      <a:srgbClr val="E9EBF5"/>
                    </a:solidFill>
                  </a:tcPr>
                </a:tc>
                <a:extLst>
                  <a:ext uri="{0D108BD9-81ED-4DB2-BD59-A6C34878D82A}">
                    <a16:rowId xmlns:a16="http://schemas.microsoft.com/office/drawing/2014/main" val="10002"/>
                  </a:ext>
                </a:extLst>
              </a:tr>
            </a:tbl>
          </a:graphicData>
        </a:graphic>
      </p:graphicFrame>
      <p:sp>
        <p:nvSpPr>
          <p:cNvPr id="142" name="Google Shape;142;p13"/>
          <p:cNvSpPr/>
          <p:nvPr/>
        </p:nvSpPr>
        <p:spPr>
          <a:xfrm>
            <a:off x="209550" y="2380525"/>
            <a:ext cx="242400" cy="189600"/>
          </a:xfrm>
          <a:prstGeom prst="star5">
            <a:avLst>
              <a:gd name="adj" fmla="val 19098"/>
              <a:gd name="hf" fmla="val 105146"/>
              <a:gd name="vf" fmla="val 110557"/>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0">
                                            <p:txEl>
                                              <p:pRg st="10" end="1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4"/>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Do </a:t>
            </a:r>
            <a:r>
              <a:rPr lang="en" b="1"/>
              <a:t>not </a:t>
            </a:r>
            <a:r>
              <a:rPr lang="en"/>
              <a:t>overdry SPRI beads</a:t>
            </a:r>
            <a:endParaRPr/>
          </a:p>
        </p:txBody>
      </p:sp>
      <p:pic>
        <p:nvPicPr>
          <p:cNvPr id="148" name="Google Shape;148;p14"/>
          <p:cNvPicPr preferRelativeResize="0"/>
          <p:nvPr/>
        </p:nvPicPr>
        <p:blipFill rotWithShape="1">
          <a:blip r:embed="rId3">
            <a:alphaModFix/>
          </a:blip>
          <a:srcRect/>
          <a:stretch/>
        </p:blipFill>
        <p:spPr>
          <a:xfrm>
            <a:off x="152400" y="1170125"/>
            <a:ext cx="8839201" cy="3599113"/>
          </a:xfrm>
          <a:prstGeom prst="rect">
            <a:avLst/>
          </a:prstGeom>
          <a:noFill/>
          <a:ln>
            <a:noFill/>
          </a:ln>
        </p:spPr>
      </p:pic>
      <p:sp>
        <p:nvSpPr>
          <p:cNvPr id="149" name="Google Shape;149;p14"/>
          <p:cNvSpPr txBox="1"/>
          <p:nvPr/>
        </p:nvSpPr>
        <p:spPr>
          <a:xfrm>
            <a:off x="453225" y="1254250"/>
            <a:ext cx="8421300" cy="390000"/>
          </a:xfrm>
          <a:prstGeom prst="rect">
            <a:avLst/>
          </a:prstGeom>
          <a:solidFill>
            <a:schemeClr val="lt1"/>
          </a:solidFill>
          <a:ln>
            <a:noFill/>
          </a:ln>
        </p:spPr>
        <p:txBody>
          <a:bodyPr spcFirstLastPara="1" wrap="square" lIns="91425" tIns="91425" rIns="91425" bIns="91425" anchor="t" anchorCtr="0">
            <a:noAutofit/>
          </a:bodyPr>
          <a:lstStyle/>
          <a:p>
            <a:pPr marL="0" marR="0" lvl="0" indent="45720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Shiny, wet pellet			 Matte, dry pellet		 Cracked, overdried pellet</a:t>
            </a:r>
            <a:endParaRPr sz="1800" b="0" i="0" u="none" strike="noStrike" cap="none">
              <a:solidFill>
                <a:schemeClr val="dk1"/>
              </a:solidFill>
              <a:latin typeface="Arial"/>
              <a:ea typeface="Arial"/>
              <a:cs typeface="Arial"/>
              <a:sym typeface="Arial"/>
            </a:endParaRPr>
          </a:p>
        </p:txBody>
      </p:sp>
      <p:sp>
        <p:nvSpPr>
          <p:cNvPr id="150" name="Google Shape;150;p14"/>
          <p:cNvSpPr txBox="1"/>
          <p:nvPr/>
        </p:nvSpPr>
        <p:spPr>
          <a:xfrm>
            <a:off x="410650" y="2652750"/>
            <a:ext cx="2683800" cy="475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Risk of </a:t>
            </a:r>
            <a:r>
              <a:rPr lang="en" sz="1800" b="1" i="0" u="none" strike="noStrike" cap="none">
                <a:solidFill>
                  <a:schemeClr val="dk1"/>
                </a:solidFill>
                <a:latin typeface="Arial"/>
                <a:ea typeface="Arial"/>
                <a:cs typeface="Arial"/>
                <a:sym typeface="Arial"/>
              </a:rPr>
              <a:t>EtOH carryover</a:t>
            </a:r>
            <a:endParaRPr sz="1800" b="1" i="0" u="none" strike="noStrike" cap="none">
              <a:solidFill>
                <a:schemeClr val="dk1"/>
              </a:solidFill>
              <a:latin typeface="Arial"/>
              <a:ea typeface="Arial"/>
              <a:cs typeface="Arial"/>
              <a:sym typeface="Arial"/>
            </a:endParaRPr>
          </a:p>
        </p:txBody>
      </p:sp>
      <p:sp>
        <p:nvSpPr>
          <p:cNvPr id="151" name="Google Shape;151;p14"/>
          <p:cNvSpPr txBox="1"/>
          <p:nvPr/>
        </p:nvSpPr>
        <p:spPr>
          <a:xfrm>
            <a:off x="3438525" y="2652750"/>
            <a:ext cx="2266800" cy="475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Ready for </a:t>
            </a:r>
            <a:r>
              <a:rPr lang="en" sz="1800" b="1" i="0" u="none" strike="noStrike" cap="none">
                <a:solidFill>
                  <a:schemeClr val="dk1"/>
                </a:solidFill>
                <a:latin typeface="Arial"/>
                <a:ea typeface="Arial"/>
                <a:cs typeface="Arial"/>
                <a:sym typeface="Arial"/>
              </a:rPr>
              <a:t>elution</a:t>
            </a:r>
            <a:endParaRPr sz="1800" b="1" i="0" u="none" strike="noStrike" cap="none">
              <a:solidFill>
                <a:schemeClr val="dk1"/>
              </a:solidFill>
              <a:latin typeface="Arial"/>
              <a:ea typeface="Arial"/>
              <a:cs typeface="Arial"/>
              <a:sym typeface="Arial"/>
            </a:endParaRPr>
          </a:p>
        </p:txBody>
      </p:sp>
      <p:sp>
        <p:nvSpPr>
          <p:cNvPr id="152" name="Google Shape;152;p14"/>
          <p:cNvSpPr txBox="1"/>
          <p:nvPr/>
        </p:nvSpPr>
        <p:spPr>
          <a:xfrm>
            <a:off x="6153150" y="2652750"/>
            <a:ext cx="2486100" cy="475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Risk of </a:t>
            </a:r>
            <a:r>
              <a:rPr lang="en" sz="1800" b="1" i="0" u="none" strike="noStrike" cap="none">
                <a:solidFill>
                  <a:schemeClr val="dk1"/>
                </a:solidFill>
                <a:latin typeface="Arial"/>
                <a:ea typeface="Arial"/>
                <a:cs typeface="Arial"/>
                <a:sym typeface="Arial"/>
              </a:rPr>
              <a:t>low yield</a:t>
            </a:r>
            <a:endParaRPr sz="1800" b="1" i="0" u="none" strike="noStrike" cap="none">
              <a:solidFill>
                <a:schemeClr val="dk1"/>
              </a:solidFill>
              <a:latin typeface="Arial"/>
              <a:ea typeface="Arial"/>
              <a:cs typeface="Arial"/>
              <a:sym typeface="Arial"/>
            </a:endParaRPr>
          </a:p>
        </p:txBody>
      </p:sp>
      <p:sp>
        <p:nvSpPr>
          <p:cNvPr id="153" name="Google Shape;153;p14"/>
          <p:cNvSpPr/>
          <p:nvPr/>
        </p:nvSpPr>
        <p:spPr>
          <a:xfrm>
            <a:off x="3260100" y="1040875"/>
            <a:ext cx="2631600" cy="3728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5"/>
          <p:cNvSpPr txBox="1">
            <a:spLocks noGrp="1"/>
          </p:cNvSpPr>
          <p:nvPr>
            <p:ph type="body" idx="1"/>
          </p:nvPr>
        </p:nvSpPr>
        <p:spPr>
          <a:xfrm>
            <a:off x="359825" y="793000"/>
            <a:ext cx="8520600" cy="11025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None/>
            </a:pPr>
            <a:r>
              <a:rPr lang="en" sz="1400">
                <a:solidFill>
                  <a:srgbClr val="000000"/>
                </a:solidFill>
              </a:rPr>
              <a:t>Quantify recovered sample by Qubit dsDNA HS</a:t>
            </a:r>
            <a:endParaRPr sz="1400">
              <a:solidFill>
                <a:srgbClr val="000000"/>
              </a:solidFill>
            </a:endParaRPr>
          </a:p>
          <a:p>
            <a:pPr marL="0" lvl="0" indent="0" algn="l" rtl="0">
              <a:lnSpc>
                <a:spcPct val="115000"/>
              </a:lnSpc>
              <a:spcBef>
                <a:spcPts val="0"/>
              </a:spcBef>
              <a:spcAft>
                <a:spcPts val="0"/>
              </a:spcAft>
              <a:buNone/>
            </a:pPr>
            <a:endParaRPr sz="1400">
              <a:solidFill>
                <a:srgbClr val="000000"/>
              </a:solidFill>
            </a:endParaRPr>
          </a:p>
          <a:p>
            <a:pPr marL="0" lvl="0" indent="0" algn="l" rtl="0">
              <a:lnSpc>
                <a:spcPct val="115000"/>
              </a:lnSpc>
              <a:spcBef>
                <a:spcPts val="0"/>
              </a:spcBef>
              <a:spcAft>
                <a:spcPts val="0"/>
              </a:spcAft>
              <a:buNone/>
            </a:pPr>
            <a:r>
              <a:rPr lang="en" sz="1400">
                <a:solidFill>
                  <a:srgbClr val="000000"/>
                </a:solidFill>
              </a:rPr>
              <a:t>Visualize samples by agarose gel electrophoresis (</a:t>
            </a:r>
            <a:r>
              <a:rPr lang="en" sz="1400">
                <a:solidFill>
                  <a:schemeClr val="dk1"/>
                </a:solidFill>
              </a:rPr>
              <a:t>1.8% agarose gel and 10000x SYBR GOLD DNA Stain or SYBR-Safe stain</a:t>
            </a:r>
            <a:r>
              <a:rPr lang="en" sz="1400">
                <a:solidFill>
                  <a:srgbClr val="000000"/>
                </a:solidFill>
              </a:rPr>
              <a:t>), capillary electrophoresis, or automated electrophoresis (TapeStation).</a:t>
            </a:r>
            <a:endParaRPr sz="1400"/>
          </a:p>
        </p:txBody>
      </p:sp>
      <p:pic>
        <p:nvPicPr>
          <p:cNvPr id="159" name="Google Shape;159;p15"/>
          <p:cNvPicPr preferRelativeResize="0"/>
          <p:nvPr/>
        </p:nvPicPr>
        <p:blipFill rotWithShape="1">
          <a:blip r:embed="rId3">
            <a:alphaModFix/>
          </a:blip>
          <a:srcRect t="16181" b="11317"/>
          <a:stretch/>
        </p:blipFill>
        <p:spPr>
          <a:xfrm>
            <a:off x="1304813" y="2428900"/>
            <a:ext cx="2771375" cy="2157900"/>
          </a:xfrm>
          <a:prstGeom prst="rect">
            <a:avLst/>
          </a:prstGeom>
          <a:noFill/>
          <a:ln>
            <a:noFill/>
          </a:ln>
        </p:spPr>
      </p:pic>
      <p:sp>
        <p:nvSpPr>
          <p:cNvPr id="160" name="Google Shape;160;p15"/>
          <p:cNvSpPr txBox="1">
            <a:spLocks noGrp="1"/>
          </p:cNvSpPr>
          <p:nvPr>
            <p:ph type="title"/>
          </p:nvPr>
        </p:nvSpPr>
        <p:spPr>
          <a:xfrm>
            <a:off x="359825" y="0"/>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en"/>
              <a:t>SPRI bead cleanup results</a:t>
            </a:r>
            <a:endParaRPr/>
          </a:p>
        </p:txBody>
      </p:sp>
      <p:pic>
        <p:nvPicPr>
          <p:cNvPr id="161" name="Google Shape;161;p15"/>
          <p:cNvPicPr preferRelativeResize="0"/>
          <p:nvPr/>
        </p:nvPicPr>
        <p:blipFill rotWithShape="1">
          <a:blip r:embed="rId4">
            <a:alphaModFix/>
          </a:blip>
          <a:srcRect t="11574"/>
          <a:stretch/>
        </p:blipFill>
        <p:spPr>
          <a:xfrm>
            <a:off x="4653250" y="2626000"/>
            <a:ext cx="3185927" cy="1960801"/>
          </a:xfrm>
          <a:prstGeom prst="rect">
            <a:avLst/>
          </a:prstGeom>
          <a:noFill/>
          <a:ln>
            <a:noFill/>
          </a:ln>
        </p:spPr>
      </p:pic>
      <p:sp>
        <p:nvSpPr>
          <p:cNvPr id="162" name="Google Shape;162;p15"/>
          <p:cNvSpPr txBox="1"/>
          <p:nvPr/>
        </p:nvSpPr>
        <p:spPr>
          <a:xfrm>
            <a:off x="2898263" y="4586800"/>
            <a:ext cx="1241400" cy="197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Arial"/>
                <a:ea typeface="Arial"/>
                <a:cs typeface="Arial"/>
                <a:sym typeface="Arial"/>
              </a:rPr>
              <a:t>1.8% Agarose</a:t>
            </a:r>
            <a:endParaRPr sz="1200" b="0" i="0" u="none" strike="noStrike" cap="none">
              <a:solidFill>
                <a:schemeClr val="dk1"/>
              </a:solidFill>
              <a:latin typeface="Arial"/>
              <a:ea typeface="Arial"/>
              <a:cs typeface="Arial"/>
              <a:sym typeface="Arial"/>
            </a:endParaRPr>
          </a:p>
        </p:txBody>
      </p:sp>
      <p:sp>
        <p:nvSpPr>
          <p:cNvPr id="163" name="Google Shape;163;p15"/>
          <p:cNvSpPr txBox="1"/>
          <p:nvPr/>
        </p:nvSpPr>
        <p:spPr>
          <a:xfrm>
            <a:off x="6445300" y="4539650"/>
            <a:ext cx="1241400" cy="1971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Arial"/>
                <a:ea typeface="Arial"/>
                <a:cs typeface="Arial"/>
                <a:sym typeface="Arial"/>
              </a:rPr>
              <a:t>TapeStation</a:t>
            </a:r>
            <a:endParaRPr sz="1200" b="0" i="0" u="none" strike="noStrike" cap="none">
              <a:solidFill>
                <a:schemeClr val="dk1"/>
              </a:solidFill>
              <a:latin typeface="Arial"/>
              <a:ea typeface="Arial"/>
              <a:cs typeface="Arial"/>
              <a:sym typeface="Arial"/>
            </a:endParaRPr>
          </a:p>
        </p:txBody>
      </p:sp>
      <p:sp>
        <p:nvSpPr>
          <p:cNvPr id="164" name="Google Shape;164;p15"/>
          <p:cNvSpPr txBox="1"/>
          <p:nvPr/>
        </p:nvSpPr>
        <p:spPr>
          <a:xfrm>
            <a:off x="1339300" y="2428900"/>
            <a:ext cx="2702400" cy="29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chemeClr val="dk1"/>
                </a:solidFill>
                <a:latin typeface="Arial"/>
                <a:ea typeface="Arial"/>
                <a:cs typeface="Arial"/>
                <a:sym typeface="Arial"/>
              </a:rPr>
              <a:t>    Ladder     0.35     0.5      0.7      0.9       1.1      1.4      1.7      2.0</a:t>
            </a:r>
            <a:endParaRPr sz="600" b="1" i="0" u="none" strike="noStrike" cap="none">
              <a:solidFill>
                <a:schemeClr val="dk1"/>
              </a:solidFill>
              <a:latin typeface="Arial"/>
              <a:ea typeface="Arial"/>
              <a:cs typeface="Arial"/>
              <a:sym typeface="Arial"/>
            </a:endParaRPr>
          </a:p>
        </p:txBody>
      </p:sp>
      <p:sp>
        <p:nvSpPr>
          <p:cNvPr id="165" name="Google Shape;165;p15"/>
          <p:cNvSpPr txBox="1"/>
          <p:nvPr/>
        </p:nvSpPr>
        <p:spPr>
          <a:xfrm>
            <a:off x="4711413" y="2428900"/>
            <a:ext cx="3069600" cy="1971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1" i="0" u="none" strike="noStrike" cap="none">
                <a:solidFill>
                  <a:schemeClr val="dk1"/>
                </a:solidFill>
                <a:latin typeface="Arial"/>
                <a:ea typeface="Arial"/>
                <a:cs typeface="Arial"/>
                <a:sym typeface="Arial"/>
              </a:rPr>
              <a:t>    Ladder  50bp  0.35   0.5    0.7    0.75    0.8    0.85    0.9    1.1    1.4      1.7    2.0</a:t>
            </a:r>
            <a:endParaRPr sz="600" b="1" i="0" u="none" strike="noStrike" cap="non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0"/>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3200" b="1" dirty="0">
                <a:solidFill>
                  <a:srgbClr val="D9D9D9"/>
                </a:solidFill>
              </a:rPr>
              <a:t>Next: 05-I_Library prep QC for Illumina</a:t>
            </a:r>
            <a:endParaRPr sz="3200" b="1" dirty="0">
              <a:solidFill>
                <a:srgbClr val="D9D9D9"/>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2842</Words>
  <Application>Microsoft Macintosh PowerPoint</Application>
  <PresentationFormat>On-screen Show (16:9)</PresentationFormat>
  <Paragraphs>422</Paragraphs>
  <Slides>43</Slides>
  <Notes>43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43</vt:i4>
      </vt:variant>
    </vt:vector>
  </HeadingPairs>
  <TitlesOfParts>
    <vt:vector size="49" baseType="lpstr">
      <vt:lpstr>Arial</vt:lpstr>
      <vt:lpstr>Calibri</vt:lpstr>
      <vt:lpstr>EB Garamond</vt:lpstr>
      <vt:lpstr>Roboto</vt:lpstr>
      <vt:lpstr>Simple Light</vt:lpstr>
      <vt:lpstr>Simple Light</vt:lpstr>
      <vt:lpstr>Illumina RNA and DNA library prep for mNGS</vt:lpstr>
      <vt:lpstr>mNGS pipeline</vt:lpstr>
      <vt:lpstr>Library prep: RNA or DNA to sequencing library</vt:lpstr>
      <vt:lpstr>What is a sequencing library?</vt:lpstr>
      <vt:lpstr>What is a sequencing library? </vt:lpstr>
      <vt:lpstr>Two broad approaches to library preparation</vt:lpstr>
      <vt:lpstr>Two broad approaches to library preparation</vt:lpstr>
      <vt:lpstr>Library prep</vt:lpstr>
      <vt:lpstr>Library prep</vt:lpstr>
      <vt:lpstr>Steps in library preparation:</vt:lpstr>
      <vt:lpstr>RNA library prep </vt:lpstr>
      <vt:lpstr>RNA library prep</vt:lpstr>
      <vt:lpstr>RNA library prep</vt:lpstr>
      <vt:lpstr>RNA library prep</vt:lpstr>
      <vt:lpstr>RNA library prep</vt:lpstr>
      <vt:lpstr>RNA library prep</vt:lpstr>
      <vt:lpstr>RNA library prep</vt:lpstr>
      <vt:lpstr>RNA library prep</vt:lpstr>
      <vt:lpstr>RNA library prep</vt:lpstr>
      <vt:lpstr>RNA library prep</vt:lpstr>
      <vt:lpstr>RNA library prep</vt:lpstr>
      <vt:lpstr>RNA library prep</vt:lpstr>
      <vt:lpstr>RNA to sequencing library</vt:lpstr>
      <vt:lpstr>DNA library prep</vt:lpstr>
      <vt:lpstr>PowerPoint Presentation</vt:lpstr>
      <vt:lpstr>RNA library prep</vt:lpstr>
      <vt:lpstr>Synthetic standards for RNA library QC </vt:lpstr>
      <vt:lpstr>Introduction to  SPRI Clean-ups</vt:lpstr>
      <vt:lpstr>What are SPRI beads?</vt:lpstr>
      <vt:lpstr>What are SPRI beads? </vt:lpstr>
      <vt:lpstr>How do SPRI beads work? Purification</vt:lpstr>
      <vt:lpstr>Contents of SPRI buffer</vt:lpstr>
      <vt:lpstr>Contents of SPRI buffer</vt:lpstr>
      <vt:lpstr>Contents of SPRI buffer</vt:lpstr>
      <vt:lpstr>Contents of SPRI buffer</vt:lpstr>
      <vt:lpstr>Contents of SPRI buffer</vt:lpstr>
      <vt:lpstr>How do SPRI beads work? Size selection</vt:lpstr>
      <vt:lpstr>Using SPRI beads in library preparation: The process</vt:lpstr>
      <vt:lpstr>Using SPRI beads in library preparation: At which steps?</vt:lpstr>
      <vt:lpstr>SPRI bead cleanup activity</vt:lpstr>
      <vt:lpstr>Do not overdry SPRI beads</vt:lpstr>
      <vt:lpstr>SPRI bead cleanup results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14</cp:revision>
  <dcterms:modified xsi:type="dcterms:W3CDTF">2026-10-08T23:32:24Z</dcterms:modified>
</cp:coreProperties>
</file>