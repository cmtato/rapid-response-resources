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9" r:id="rId1"/>
    <p:sldMasterId id="2147483721" r:id="rId2"/>
    <p:sldMasterId id="2147483722" r:id="rId3"/>
  </p:sldMasterIdLst>
  <p:notesMasterIdLst>
    <p:notesMasterId r:id="rId37"/>
  </p:notesMasterIdLst>
  <p:sldIdLst>
    <p:sldId id="256" r:id="rId4"/>
    <p:sldId id="270" r:id="rId5"/>
    <p:sldId id="257" r:id="rId6"/>
    <p:sldId id="271" r:id="rId7"/>
    <p:sldId id="272" r:id="rId8"/>
    <p:sldId id="273" r:id="rId9"/>
    <p:sldId id="258" r:id="rId10"/>
    <p:sldId id="259" r:id="rId11"/>
    <p:sldId id="314" r:id="rId12"/>
    <p:sldId id="261" r:id="rId13"/>
    <p:sldId id="264" r:id="rId14"/>
    <p:sldId id="265" r:id="rId15"/>
    <p:sldId id="266" r:id="rId16"/>
    <p:sldId id="267" r:id="rId17"/>
    <p:sldId id="268" r:id="rId18"/>
    <p:sldId id="269" r:id="rId19"/>
    <p:sldId id="319" r:id="rId20"/>
    <p:sldId id="320" r:id="rId21"/>
    <p:sldId id="321" r:id="rId22"/>
    <p:sldId id="322" r:id="rId23"/>
    <p:sldId id="274" r:id="rId24"/>
    <p:sldId id="275" r:id="rId25"/>
    <p:sldId id="276" r:id="rId26"/>
    <p:sldId id="323" r:id="rId27"/>
    <p:sldId id="317" r:id="rId28"/>
    <p:sldId id="315" r:id="rId29"/>
    <p:sldId id="277" r:id="rId30"/>
    <p:sldId id="316" r:id="rId31"/>
    <p:sldId id="280" r:id="rId32"/>
    <p:sldId id="282" r:id="rId33"/>
    <p:sldId id="283" r:id="rId34"/>
    <p:sldId id="318" r:id="rId35"/>
    <p:sldId id="324" r:id="rId36"/>
  </p:sldIdLst>
  <p:sldSz cx="9144000" cy="5143500" type="screen16x9"/>
  <p:notesSz cx="6858000" cy="9144000"/>
  <p:embeddedFontLst>
    <p:embeddedFont>
      <p:font typeface="Hanken Grotesk" panose="020F0502020204030204" pitchFamily="34" charset="0"/>
      <p:regular r:id="rId38"/>
      <p:bold r:id="rId39"/>
      <p:italic r:id="rId40"/>
      <p:boldItalic r:id="rId41"/>
    </p:embeddedFont>
    <p:embeddedFont>
      <p:font typeface="Lato" panose="020F0502020204030203" pitchFamily="34" charset="0"/>
      <p:regular r:id="rId42"/>
      <p:bold r:id="rId43"/>
      <p:italic r:id="rId44"/>
      <p:boldItalic r:id="rId45"/>
    </p:embeddedFont>
    <p:embeddedFont>
      <p:font typeface="Oxygen" panose="02000503000000000000" pitchFamily="2" charset="77"/>
      <p:regular r:id="rId46"/>
      <p:bold r:id="rId47"/>
    </p:embeddedFont>
    <p:embeddedFont>
      <p:font typeface="Raleway" pitchFamily="2" charset="77"/>
      <p:regular r:id="rId48"/>
      <p:bold r:id="rId49"/>
      <p:italic r:id="rId50"/>
      <p:boldItalic r:id="rId51"/>
    </p:embeddedFont>
    <p:embeddedFont>
      <p:font typeface="Roboto" panose="02000000000000000000" pitchFamily="2" charset="0"/>
      <p:regular r:id="rId52"/>
      <p:bold r:id="rId53"/>
      <p:italic r:id="rId54"/>
      <p:boldItalic r:id="rId55"/>
    </p:embeddedFont>
    <p:embeddedFont>
      <p:font typeface="STIX Two Text" pitchFamily="2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76D5C7-AB28-4471-9039-51BA8E6758C7}">
  <a:tblStyle styleId="{4276D5C7-AB28-4471-9039-51BA8E6758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73"/>
    <p:restoredTop sz="94658"/>
  </p:normalViewPr>
  <p:slideViewPr>
    <p:cSldViewPr snapToGrid="0" showGuides="1">
      <p:cViewPr varScale="1">
        <p:scale>
          <a:sx n="154" d="100"/>
          <a:sy n="154" d="100"/>
        </p:scale>
        <p:origin x="1040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2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63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font" Target="fonts/font21.fntdata"/><Relationship Id="rId5" Type="http://schemas.openxmlformats.org/officeDocument/2006/relationships/slide" Target="slides/slide2.xml"/><Relationship Id="rId61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8" Type="http://schemas.openxmlformats.org/officeDocument/2006/relationships/slide" Target="slides/slide5.xml"/><Relationship Id="rId51" Type="http://schemas.openxmlformats.org/officeDocument/2006/relationships/font" Target="fonts/font1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font" Target="fonts/font22.fntdata"/><Relationship Id="rId20" Type="http://schemas.openxmlformats.org/officeDocument/2006/relationships/slide" Target="slides/slide17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53eee17d7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53eee17d77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Context in the are of ID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8b1ec63dd7_1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8b1ec63dd7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diversity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All in common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Unbiased, agnostic, everything</a:t>
            </a:r>
            <a:endParaRPr/>
          </a:p>
        </p:txBody>
      </p:sp>
      <p:sp>
        <p:nvSpPr>
          <p:cNvPr id="324" name="Google Shape;3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0551821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0551821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a67d47e5ba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a67d47e5ba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2a1672f08f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2a1672f08f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it is clear that it is microbial content that is being referred to!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055182157f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g1055182157f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dd3ac6c83_0_1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36dd3ac6c83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2a19e09302_2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1" name="Google Shape;211;g22a19e09302_2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1A158BCA-DB1D-ABB2-400A-8E0D3291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a19e09302_2_336:notes">
            <a:extLst>
              <a:ext uri="{FF2B5EF4-FFF2-40B4-BE49-F238E27FC236}">
                <a16:creationId xmlns:a16="http://schemas.microsoft.com/office/drawing/2014/main" id="{3A561C2A-2B88-C46D-6424-F08E01D10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2a19e09302_2_336:notes">
            <a:extLst>
              <a:ext uri="{FF2B5EF4-FFF2-40B4-BE49-F238E27FC236}">
                <a16:creationId xmlns:a16="http://schemas.microsoft.com/office/drawing/2014/main" id="{45A21D98-A25F-EA18-A28C-18D06C405A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 sequencing lowers costs and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11366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a19e09302_2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2a19e09302_2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 sequencing lowers costs and </a:t>
            </a: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dda53a8d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6dda53a8d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>
          <a:extLst>
            <a:ext uri="{FF2B5EF4-FFF2-40B4-BE49-F238E27FC236}">
              <a16:creationId xmlns:a16="http://schemas.microsoft.com/office/drawing/2014/main" id="{4E8741B2-4C4C-CBBA-E4D9-7550A2707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895bf12c9f_0_5:notes">
            <a:extLst>
              <a:ext uri="{FF2B5EF4-FFF2-40B4-BE49-F238E27FC236}">
                <a16:creationId xmlns:a16="http://schemas.microsoft.com/office/drawing/2014/main" id="{D36CABCA-1B08-5843-20BC-907BA2CE1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895bf12c9f_0_5:notes">
            <a:extLst>
              <a:ext uri="{FF2B5EF4-FFF2-40B4-BE49-F238E27FC236}">
                <a16:creationId xmlns:a16="http://schemas.microsoft.com/office/drawing/2014/main" id="{9A3A654D-5E0F-E4CD-DFE4-ACB837FD7E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7384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22e78a24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22e78a24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0" y="-9"/>
            <a:ext cx="9144000" cy="627000"/>
          </a:xfrm>
          <a:prstGeom prst="rect">
            <a:avLst/>
          </a:prstGeom>
          <a:gradFill>
            <a:gsLst>
              <a:gs pos="0">
                <a:srgbClr val="DDEAF6"/>
              </a:gs>
              <a:gs pos="10000">
                <a:srgbClr val="DDEAF6"/>
              </a:gs>
              <a:gs pos="55000">
                <a:srgbClr val="A1C1E4"/>
              </a:gs>
              <a:gs pos="100000">
                <a:srgbClr val="90B8E4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 descr=" Biohub Logo V2.pdf"/>
          <p:cNvPicPr preferRelativeResize="0"/>
          <p:nvPr/>
        </p:nvPicPr>
        <p:blipFill rotWithShape="1">
          <a:blip r:embed="rId2">
            <a:alphaModFix/>
          </a:blip>
          <a:srcRect l="24284" t="34387" r="58249" b="34255"/>
          <a:stretch/>
        </p:blipFill>
        <p:spPr>
          <a:xfrm>
            <a:off x="158122" y="48182"/>
            <a:ext cx="826758" cy="83487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1197769" y="48183"/>
            <a:ext cx="7003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ayout">
  <p:cSld name="Blank Layou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227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type="tx">
  <p:cSld name="TITLE_AND_BOD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1"/>
          <p:cNvSpPr/>
          <p:nvPr/>
        </p:nvSpPr>
        <p:spPr>
          <a:xfrm>
            <a:off x="0" y="-9"/>
            <a:ext cx="9144000" cy="6267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1" descr=" Biohub Logo V2.pdf"/>
          <p:cNvPicPr preferRelativeResize="0"/>
          <p:nvPr/>
        </p:nvPicPr>
        <p:blipFill rotWithShape="1">
          <a:blip r:embed="rId2">
            <a:alphaModFix/>
          </a:blip>
          <a:srcRect l="24284" t="34388" r="58249" b="34253"/>
          <a:stretch/>
        </p:blipFill>
        <p:spPr>
          <a:xfrm>
            <a:off x="158121" y="48181"/>
            <a:ext cx="826757" cy="834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99" name="Google Shape;99;p21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body" idx="2"/>
          </p:nvPr>
        </p:nvSpPr>
        <p:spPr>
          <a:xfrm>
            <a:off x="1197769" y="48183"/>
            <a:ext cx="70032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le Slide">
  <p:cSld name="Ti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/>
          <p:nvPr/>
        </p:nvSpPr>
        <p:spPr>
          <a:xfrm>
            <a:off x="0" y="1885949"/>
            <a:ext cx="9144000" cy="14679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22"/>
          <p:cNvGrpSpPr/>
          <p:nvPr/>
        </p:nvGrpSpPr>
        <p:grpSpPr>
          <a:xfrm>
            <a:off x="2806214" y="468292"/>
            <a:ext cx="3253979" cy="1070641"/>
            <a:chOff x="-1" y="0"/>
            <a:chExt cx="4338639" cy="1427521"/>
          </a:xfrm>
        </p:grpSpPr>
        <p:pic>
          <p:nvPicPr>
            <p:cNvPr id="104" name="Google Shape;104;p22" descr=" Biohub Logo V2.pdf"/>
            <p:cNvPicPr preferRelativeResize="0"/>
            <p:nvPr/>
          </p:nvPicPr>
          <p:blipFill rotWithShape="1">
            <a:blip r:embed="rId2">
              <a:alphaModFix/>
            </a:blip>
            <a:srcRect l="24284" t="34388" r="58249" b="34253"/>
            <a:stretch/>
          </p:blipFill>
          <p:spPr>
            <a:xfrm>
              <a:off x="-1" y="0"/>
              <a:ext cx="1413642" cy="142752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05" name="Google Shape;105;p22" descr=" Biohub Logo V2.pdf"/>
            <p:cNvPicPr preferRelativeResize="0"/>
            <p:nvPr/>
          </p:nvPicPr>
          <p:blipFill rotWithShape="1">
            <a:blip r:embed="rId2">
              <a:alphaModFix/>
            </a:blip>
            <a:srcRect l="42347" t="38933" r="24933" b="38797"/>
            <a:stretch/>
          </p:blipFill>
          <p:spPr>
            <a:xfrm>
              <a:off x="1546141" y="166790"/>
              <a:ext cx="2792497" cy="10690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22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1"/>
          </p:nvPr>
        </p:nvSpPr>
        <p:spPr>
          <a:xfrm>
            <a:off x="114300" y="2365852"/>
            <a:ext cx="89235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 i="0" u="none" strike="noStrike" cap="none">
                <a:solidFill>
                  <a:srgbClr val="000000"/>
                </a:solidFill>
              </a:defRPr>
            </a:lvl1pPr>
            <a:lvl2pPr marL="914400" marR="0" lvl="1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</a:defRPr>
            </a:lvl2pPr>
            <a:lvl3pPr marL="1371600" marR="0" lvl="2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</a:defRPr>
            </a:lvl3pPr>
            <a:lvl4pPr marL="1828800" marR="0" lvl="3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</a:defRPr>
            </a:lvl4pPr>
            <a:lvl5pPr marL="2286000" marR="0" lvl="4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ayout">
  <p:cSld name="Blank Layou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>
            <a:spLocks noGrp="1"/>
          </p:cNvSpPr>
          <p:nvPr>
            <p:ph type="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1376780" y="1201368"/>
            <a:ext cx="6390600" cy="15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1"/>
          </p:nvPr>
        </p:nvSpPr>
        <p:spPr>
          <a:xfrm>
            <a:off x="1376774" y="2768531"/>
            <a:ext cx="6390600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sldNum" idx="12"/>
          </p:nvPr>
        </p:nvSpPr>
        <p:spPr>
          <a:xfrm>
            <a:off x="7635069" y="4154575"/>
            <a:ext cx="273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1614487" y="848320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sldNum" idx="12"/>
          </p:nvPr>
        </p:nvSpPr>
        <p:spPr>
          <a:xfrm>
            <a:off x="7352011" y="4233446"/>
            <a:ext cx="177600" cy="1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>
            <a:spLocks noGrp="1"/>
          </p:cNvSpPr>
          <p:nvPr>
            <p:ph type="title"/>
          </p:nvPr>
        </p:nvSpPr>
        <p:spPr>
          <a:xfrm>
            <a:off x="311700" y="2150849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sldNum" idx="12"/>
          </p:nvPr>
        </p:nvSpPr>
        <p:spPr>
          <a:xfrm>
            <a:off x="8747360" y="4724773"/>
            <a:ext cx="273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sldNum" idx="12"/>
          </p:nvPr>
        </p:nvSpPr>
        <p:spPr>
          <a:xfrm>
            <a:off x="8747360" y="4724773"/>
            <a:ext cx="273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4" name="Google Shape;134;p3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5" name="Google Shape;135;p30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2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31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32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5" name="Google Shape;145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 2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9" name="Google Shape;149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sldNum" idx="12"/>
          </p:nvPr>
        </p:nvSpPr>
        <p:spPr>
          <a:xfrm>
            <a:off x="8754615" y="4724773"/>
            <a:ext cx="2664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3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3" name="Google Shape;153;p35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2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bg>
      <p:bgPr>
        <a:solidFill>
          <a:srgbClr val="000000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>
            <a:spLocks noGrp="1"/>
          </p:cNvSpPr>
          <p:nvPr>
            <p:ph type="sldNum" idx="12"/>
          </p:nvPr>
        </p:nvSpPr>
        <p:spPr>
          <a:xfrm>
            <a:off x="4512320" y="3884413"/>
            <a:ext cx="116700" cy="1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00" tIns="10700" rIns="10700" bIns="10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 2">
    <p:bg>
      <p:bgPr>
        <a:solidFill>
          <a:srgbClr val="00000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p3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p38"/>
          <p:cNvSpPr txBox="1">
            <a:spLocks noGrp="1"/>
          </p:cNvSpPr>
          <p:nvPr>
            <p:ph type="sldNum" idx="12"/>
          </p:nvPr>
        </p:nvSpPr>
        <p:spPr>
          <a:xfrm>
            <a:off x="4482255" y="4905375"/>
            <a:ext cx="1746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 &amp; Subtitle">
    <p:bg>
      <p:bgPr>
        <a:solidFill>
          <a:srgbClr val="000000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39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7" name="Google Shape;167;p39"/>
          <p:cNvSpPr txBox="1">
            <a:spLocks noGrp="1"/>
          </p:cNvSpPr>
          <p:nvPr>
            <p:ph type="sldNum" idx="12"/>
          </p:nvPr>
        </p:nvSpPr>
        <p:spPr>
          <a:xfrm>
            <a:off x="4482255" y="4905375"/>
            <a:ext cx="1746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le Slide">
  <p:cSld name="Tile Slide 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/>
          <p:nvPr/>
        </p:nvSpPr>
        <p:spPr>
          <a:xfrm>
            <a:off x="0" y="1885949"/>
            <a:ext cx="9144000" cy="14679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" name="Google Shape;170;p40"/>
          <p:cNvGrpSpPr/>
          <p:nvPr/>
        </p:nvGrpSpPr>
        <p:grpSpPr>
          <a:xfrm>
            <a:off x="2806214" y="468292"/>
            <a:ext cx="3253979" cy="1070641"/>
            <a:chOff x="-1" y="0"/>
            <a:chExt cx="4338639" cy="1427521"/>
          </a:xfrm>
        </p:grpSpPr>
        <p:pic>
          <p:nvPicPr>
            <p:cNvPr id="171" name="Google Shape;171;p40" descr="Picture 6"/>
            <p:cNvPicPr preferRelativeResize="0"/>
            <p:nvPr/>
          </p:nvPicPr>
          <p:blipFill rotWithShape="1">
            <a:blip r:embed="rId2">
              <a:alphaModFix/>
            </a:blip>
            <a:srcRect l="24284" t="34388" r="58249" b="34253"/>
            <a:stretch/>
          </p:blipFill>
          <p:spPr>
            <a:xfrm>
              <a:off x="-1" y="0"/>
              <a:ext cx="1413642" cy="142752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72" name="Google Shape;172;p40" descr="Picture 8"/>
            <p:cNvPicPr preferRelativeResize="0"/>
            <p:nvPr/>
          </p:nvPicPr>
          <p:blipFill rotWithShape="1">
            <a:blip r:embed="rId2">
              <a:alphaModFix/>
            </a:blip>
            <a:srcRect l="42347" t="38933" r="24933" b="38797"/>
            <a:stretch/>
          </p:blipFill>
          <p:spPr>
            <a:xfrm>
              <a:off x="1546141" y="166790"/>
              <a:ext cx="2792497" cy="10690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40"/>
          <p:cNvSpPr txBox="1">
            <a:spLocks noGrp="1"/>
          </p:cNvSpPr>
          <p:nvPr>
            <p:ph type="body" idx="1"/>
          </p:nvPr>
        </p:nvSpPr>
        <p:spPr>
          <a:xfrm>
            <a:off x="114300" y="2365852"/>
            <a:ext cx="89235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40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/>
          <p:nvPr/>
        </p:nvSpPr>
        <p:spPr>
          <a:xfrm>
            <a:off x="0" y="-9"/>
            <a:ext cx="9144000" cy="6267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41" descr="Picture 7"/>
          <p:cNvPicPr preferRelativeResize="0"/>
          <p:nvPr/>
        </p:nvPicPr>
        <p:blipFill rotWithShape="1">
          <a:blip r:embed="rId2">
            <a:alphaModFix/>
          </a:blip>
          <a:srcRect l="24284" t="34388" r="58249" b="34253"/>
          <a:stretch/>
        </p:blipFill>
        <p:spPr>
          <a:xfrm>
            <a:off x="158121" y="48181"/>
            <a:ext cx="826757" cy="834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78" name="Google Shape;178;p41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41"/>
          <p:cNvSpPr txBox="1">
            <a:spLocks noGrp="1"/>
          </p:cNvSpPr>
          <p:nvPr>
            <p:ph type="body" idx="2"/>
          </p:nvPr>
        </p:nvSpPr>
        <p:spPr>
          <a:xfrm>
            <a:off x="1197776" y="48175"/>
            <a:ext cx="78141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41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3">
    <p:bg>
      <p:bgPr>
        <a:solidFill>
          <a:srgbClr val="000000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>
            <a:spLocks noGrp="1"/>
          </p:cNvSpPr>
          <p:nvPr>
            <p:ph type="title"/>
          </p:nvPr>
        </p:nvSpPr>
        <p:spPr>
          <a:xfrm>
            <a:off x="249269" y="18492"/>
            <a:ext cx="86223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3" name="Google Shape;183;p4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4" name="Google Shape;184;p42"/>
          <p:cNvSpPr txBox="1">
            <a:spLocks noGrp="1"/>
          </p:cNvSpPr>
          <p:nvPr>
            <p:ph type="sldNum" idx="12"/>
          </p:nvPr>
        </p:nvSpPr>
        <p:spPr>
          <a:xfrm>
            <a:off x="887001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5" name="Google Shape;185;p42"/>
          <p:cNvCxnSpPr/>
          <p:nvPr/>
        </p:nvCxnSpPr>
        <p:spPr>
          <a:xfrm rot="10800000" flipH="1">
            <a:off x="-1" y="1014001"/>
            <a:ext cx="9144000" cy="14700"/>
          </a:xfrm>
          <a:prstGeom prst="straightConnector1">
            <a:avLst/>
          </a:prstGeom>
          <a:noFill/>
          <a:ln w="28575" cap="flat" cmpd="sng">
            <a:solidFill>
              <a:srgbClr val="FFE699"/>
            </a:solidFill>
            <a:prstDash val="solid"/>
            <a:miter lim="8000"/>
            <a:headEnd type="none" w="sm" len="sm"/>
            <a:tailEnd type="none" w="sm" len="sm"/>
          </a:ln>
          <a:effectLst>
            <a:reflection stA="52000" endPos="40000" fadeDir="5400012" sy="-100000" algn="bl" rotWithShape="0"/>
          </a:effectLst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4">
    <p:bg>
      <p:bgPr>
        <a:solidFill>
          <a:srgbClr val="00000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3"/>
          <p:cNvSpPr txBox="1">
            <a:spLocks noGrp="1"/>
          </p:cNvSpPr>
          <p:nvPr>
            <p:ph type="title"/>
          </p:nvPr>
        </p:nvSpPr>
        <p:spPr>
          <a:xfrm>
            <a:off x="249269" y="18492"/>
            <a:ext cx="86223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8" name="Google Shape;188;p4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9" name="Google Shape;189;p43"/>
          <p:cNvSpPr txBox="1">
            <a:spLocks noGrp="1"/>
          </p:cNvSpPr>
          <p:nvPr>
            <p:ph type="sldNum" idx="12"/>
          </p:nvPr>
        </p:nvSpPr>
        <p:spPr>
          <a:xfrm>
            <a:off x="887001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0" name="Google Shape;190;p43"/>
          <p:cNvCxnSpPr/>
          <p:nvPr/>
        </p:nvCxnSpPr>
        <p:spPr>
          <a:xfrm rot="10800000" flipH="1">
            <a:off x="-1" y="1014001"/>
            <a:ext cx="9144000" cy="14700"/>
          </a:xfrm>
          <a:prstGeom prst="straightConnector1">
            <a:avLst/>
          </a:prstGeom>
          <a:noFill/>
          <a:ln w="28575" cap="flat" cmpd="sng">
            <a:solidFill>
              <a:srgbClr val="FFE699"/>
            </a:solidFill>
            <a:prstDash val="solid"/>
            <a:miter lim="8000"/>
            <a:headEnd type="none" w="sm" len="sm"/>
            <a:tailEnd type="none" w="sm" len="sm"/>
          </a:ln>
          <a:effectLst>
            <a:reflection stA="52000" endPos="40000" fadeDir="5400012" sy="-100000" algn="bl" rotWithShape="0"/>
          </a:effectLst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 3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4"/>
          <p:cNvSpPr txBox="1">
            <a:spLocks noGrp="1"/>
          </p:cNvSpPr>
          <p:nvPr>
            <p:ph type="title"/>
          </p:nvPr>
        </p:nvSpPr>
        <p:spPr>
          <a:xfrm>
            <a:off x="1645294" y="133945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3" name="Google Shape;193;p44"/>
          <p:cNvSpPr txBox="1">
            <a:spLocks noGrp="1"/>
          </p:cNvSpPr>
          <p:nvPr>
            <p:ph type="body" idx="1"/>
          </p:nvPr>
        </p:nvSpPr>
        <p:spPr>
          <a:xfrm>
            <a:off x="1645294" y="1366242"/>
            <a:ext cx="5853300" cy="3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4" name="Google Shape;194;p44"/>
          <p:cNvSpPr txBox="1">
            <a:spLocks noGrp="1"/>
          </p:cNvSpPr>
          <p:nvPr>
            <p:ph type="sldNum" idx="12"/>
          </p:nvPr>
        </p:nvSpPr>
        <p:spPr>
          <a:xfrm>
            <a:off x="4480407" y="4902398"/>
            <a:ext cx="1797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 txBox="1">
            <a:spLocks noGrp="1"/>
          </p:cNvSpPr>
          <p:nvPr>
            <p:ph type="title"/>
          </p:nvPr>
        </p:nvSpPr>
        <p:spPr>
          <a:xfrm>
            <a:off x="1645294" y="133945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7" name="Google Shape;197;p45"/>
          <p:cNvSpPr txBox="1">
            <a:spLocks noGrp="1"/>
          </p:cNvSpPr>
          <p:nvPr>
            <p:ph type="sldNum" idx="12"/>
          </p:nvPr>
        </p:nvSpPr>
        <p:spPr>
          <a:xfrm>
            <a:off x="4480407" y="4902398"/>
            <a:ext cx="1797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 2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6"/>
          <p:cNvSpPr/>
          <p:nvPr/>
        </p:nvSpPr>
        <p:spPr>
          <a:xfrm>
            <a:off x="0" y="-9"/>
            <a:ext cx="9144000" cy="6267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46" descr="Picture 7"/>
          <p:cNvPicPr preferRelativeResize="0"/>
          <p:nvPr/>
        </p:nvPicPr>
        <p:blipFill rotWithShape="1">
          <a:blip r:embed="rId2">
            <a:alphaModFix/>
          </a:blip>
          <a:srcRect l="24284" t="34388" r="58249" b="34253"/>
          <a:stretch/>
        </p:blipFill>
        <p:spPr>
          <a:xfrm>
            <a:off x="158121" y="48181"/>
            <a:ext cx="826757" cy="834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201" name="Google Shape;201;p46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body" idx="2"/>
          </p:nvPr>
        </p:nvSpPr>
        <p:spPr>
          <a:xfrm>
            <a:off x="1197776" y="48175"/>
            <a:ext cx="78486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" name="Google Shape;203;p46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le Slide">
  <p:cSld name="Tile Slide 3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7"/>
          <p:cNvSpPr/>
          <p:nvPr/>
        </p:nvSpPr>
        <p:spPr>
          <a:xfrm>
            <a:off x="0" y="1885949"/>
            <a:ext cx="9144000" cy="14679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47"/>
          <p:cNvGrpSpPr/>
          <p:nvPr/>
        </p:nvGrpSpPr>
        <p:grpSpPr>
          <a:xfrm>
            <a:off x="2806214" y="468292"/>
            <a:ext cx="3253979" cy="1070641"/>
            <a:chOff x="-1" y="0"/>
            <a:chExt cx="4338639" cy="1427521"/>
          </a:xfrm>
        </p:grpSpPr>
        <p:pic>
          <p:nvPicPr>
            <p:cNvPr id="207" name="Google Shape;207;p47" descr="Picture 6"/>
            <p:cNvPicPr preferRelativeResize="0"/>
            <p:nvPr/>
          </p:nvPicPr>
          <p:blipFill rotWithShape="1">
            <a:blip r:embed="rId2">
              <a:alphaModFix/>
            </a:blip>
            <a:srcRect l="24284" t="34388" r="58249" b="34253"/>
            <a:stretch/>
          </p:blipFill>
          <p:spPr>
            <a:xfrm>
              <a:off x="-1" y="0"/>
              <a:ext cx="1413642" cy="142752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208" name="Google Shape;208;p47" descr="Picture 8"/>
            <p:cNvPicPr preferRelativeResize="0"/>
            <p:nvPr/>
          </p:nvPicPr>
          <p:blipFill rotWithShape="1">
            <a:blip r:embed="rId2">
              <a:alphaModFix/>
            </a:blip>
            <a:srcRect l="42347" t="38933" r="24933" b="38797"/>
            <a:stretch/>
          </p:blipFill>
          <p:spPr>
            <a:xfrm>
              <a:off x="1546141" y="166790"/>
              <a:ext cx="2792497" cy="10690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47"/>
          <p:cNvSpPr txBox="1">
            <a:spLocks noGrp="1"/>
          </p:cNvSpPr>
          <p:nvPr>
            <p:ph type="body" idx="1"/>
          </p:nvPr>
        </p:nvSpPr>
        <p:spPr>
          <a:xfrm>
            <a:off x="114300" y="2365852"/>
            <a:ext cx="89235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47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 3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8"/>
          <p:cNvSpPr/>
          <p:nvPr/>
        </p:nvSpPr>
        <p:spPr>
          <a:xfrm>
            <a:off x="0" y="-9"/>
            <a:ext cx="9144000" cy="6267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48" descr="Picture 7"/>
          <p:cNvPicPr preferRelativeResize="0"/>
          <p:nvPr/>
        </p:nvPicPr>
        <p:blipFill rotWithShape="1">
          <a:blip r:embed="rId2">
            <a:alphaModFix/>
          </a:blip>
          <a:srcRect l="24284" t="34388" r="58249" b="34253"/>
          <a:stretch/>
        </p:blipFill>
        <p:spPr>
          <a:xfrm>
            <a:off x="158121" y="48181"/>
            <a:ext cx="826757" cy="834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214" name="Google Shape;214;p48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" name="Google Shape;215;p48"/>
          <p:cNvSpPr txBox="1">
            <a:spLocks noGrp="1"/>
          </p:cNvSpPr>
          <p:nvPr>
            <p:ph type="body" idx="2"/>
          </p:nvPr>
        </p:nvSpPr>
        <p:spPr>
          <a:xfrm>
            <a:off x="1197769" y="48183"/>
            <a:ext cx="70032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" name="Google Shape;216;p48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9" name="Google Shape;219;p4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0" name="Google Shape;220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7" name="Google Shape;227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1">
  <p:cSld name="TITLE_AND_BODY_2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4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" name="Google Shape;235;p54"/>
          <p:cNvSpPr/>
          <p:nvPr/>
        </p:nvSpPr>
        <p:spPr>
          <a:xfrm>
            <a:off x="0" y="-9"/>
            <a:ext cx="9144000" cy="6267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54" descr=" Biohub Logo V2.pdf"/>
          <p:cNvPicPr preferRelativeResize="0"/>
          <p:nvPr/>
        </p:nvPicPr>
        <p:blipFill rotWithShape="1">
          <a:blip r:embed="rId2">
            <a:alphaModFix/>
          </a:blip>
          <a:srcRect l="24284" t="34388" r="58249" b="34253"/>
          <a:stretch/>
        </p:blipFill>
        <p:spPr>
          <a:xfrm>
            <a:off x="158121" y="48181"/>
            <a:ext cx="826757" cy="834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237" name="Google Shape;237;p54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" name="Google Shape;238;p54"/>
          <p:cNvSpPr txBox="1">
            <a:spLocks noGrp="1"/>
          </p:cNvSpPr>
          <p:nvPr>
            <p:ph type="body" idx="2"/>
          </p:nvPr>
        </p:nvSpPr>
        <p:spPr>
          <a:xfrm>
            <a:off x="1197776" y="48175"/>
            <a:ext cx="78141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9pPr>
          </a:lstStyle>
          <a:p>
            <a:endParaRPr/>
          </a:p>
        </p:txBody>
      </p:sp>
      <p:sp>
        <p:nvSpPr>
          <p:cNvPr id="241" name="Google Shape;241;p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i="0" u="none" strike="noStrike" cap="none">
                <a:solidFill>
                  <a:schemeClr val="dk1"/>
                </a:solidFill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5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90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243" name="Google Shape;243;p5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90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244" name="Google Shape;244;p5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3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151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247" name="Google Shape;247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248" name="Google Shape;248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4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4">
  <p:cSld name="TITLE_AND_BODY_5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5">
  <p:cSld name="TITLE_AND_BODY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_AND_BODY_7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1" name="Google Shape;27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2" name="Google Shape;272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5" name="Google Shape;275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3" name="Google Shape;283;p6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4" name="Google Shape;284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0" name="Google Shape;290;p6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1" name="Google Shape;291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94" name="Google Shape;294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6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98" name="Google Shape;298;p6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9" name="Google Shape;299;p6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0" name="Google Shape;300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03" name="Google Shape;303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6" name="Google Shape;306;p7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7" name="Google Shape;307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_AND_BODY_7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3" name="Google Shape;313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7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7" name="Google Shape;317;p7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7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7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ayout">
  <p:cSld name="Blank Layout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7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7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0" r:id="rId12"/>
    <p:sldLayoutId id="214748372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7" name="Google Shape;267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8" name="Google Shape;268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3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10" Type="http://schemas.openxmlformats.org/officeDocument/2006/relationships/image" Target="../media/image17.jpg"/><Relationship Id="rId4" Type="http://schemas.openxmlformats.org/officeDocument/2006/relationships/image" Target="../media/image14.jpg"/><Relationship Id="rId9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13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5.jp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6.jpg"/><Relationship Id="rId11" Type="http://schemas.openxmlformats.org/officeDocument/2006/relationships/image" Target="../media/image22.pn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14.jpg"/><Relationship Id="rId9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jpg"/><Relationship Id="rId7" Type="http://schemas.openxmlformats.org/officeDocument/2006/relationships/image" Target="../media/image5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6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 b="1" dirty="0" err="1">
                <a:solidFill>
                  <a:schemeClr val="bg2"/>
                </a:solidFill>
              </a:rPr>
              <a:t>mNGS</a:t>
            </a:r>
            <a:r>
              <a:rPr lang="en" sz="9200" b="1" dirty="0">
                <a:solidFill>
                  <a:schemeClr val="bg2"/>
                </a:solidFill>
              </a:rPr>
              <a:t> </a:t>
            </a:r>
            <a:endParaRPr sz="9200" b="1" dirty="0">
              <a:solidFill>
                <a:schemeClr val="bg2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bg2"/>
                </a:solidFill>
              </a:rPr>
              <a:t>metagenomic Next-Generation Sequencing </a:t>
            </a:r>
            <a:endParaRPr sz="3000" b="1" dirty="0">
              <a:solidFill>
                <a:schemeClr val="bg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A032AB-E5EE-1771-4C8C-C6859E5E915D}"/>
              </a:ext>
            </a:extLst>
          </p:cNvPr>
          <p:cNvSpPr txBox="1"/>
          <p:nvPr/>
        </p:nvSpPr>
        <p:spPr>
          <a:xfrm>
            <a:off x="6675120" y="4897279"/>
            <a:ext cx="24688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Rapid Response – Updated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Key points to learn in this session</a:t>
            </a:r>
            <a:endParaRPr sz="3220" dirty="0">
              <a:solidFill>
                <a:schemeClr val="bg2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"/>
          <p:cNvSpPr txBox="1">
            <a:spLocks noGrp="1"/>
          </p:cNvSpPr>
          <p:nvPr>
            <p:ph type="body" idx="1"/>
          </p:nvPr>
        </p:nvSpPr>
        <p:spPr>
          <a:xfrm>
            <a:off x="311700" y="1304775"/>
            <a:ext cx="8520600" cy="3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What is </a:t>
            </a:r>
            <a:r>
              <a:rPr lang="en" sz="2200" dirty="0" err="1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mNGS</a:t>
            </a:r>
            <a:r>
              <a:rPr lang="en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 and why is it useful?</a:t>
            </a:r>
            <a:endParaRPr sz="2200" dirty="0">
              <a:solidFill>
                <a:schemeClr val="bg2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Terminology and types of sequencing</a:t>
            </a:r>
            <a:endParaRPr sz="2200" dirty="0">
              <a:solidFill>
                <a:schemeClr val="bg2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Use cases</a:t>
            </a: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Other genomics tools in infectious diseases </a:t>
            </a: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US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Sequencing technologies</a:t>
            </a:r>
            <a:endParaRPr sz="2200" dirty="0">
              <a:solidFill>
                <a:schemeClr val="bg2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7"/>
          <p:cNvSpPr txBox="1"/>
          <p:nvPr/>
        </p:nvSpPr>
        <p:spPr>
          <a:xfrm>
            <a:off x="396300" y="572921"/>
            <a:ext cx="8747700" cy="922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bg2"/>
                </a:solidFill>
              </a:rPr>
              <a:t>Introduction</a:t>
            </a:r>
            <a:endParaRPr sz="3200" b="1" dirty="0">
              <a:solidFill>
                <a:schemeClr val="bg2"/>
              </a:solidFill>
            </a:endParaRPr>
          </a:p>
        </p:txBody>
      </p:sp>
      <p:sp>
        <p:nvSpPr>
          <p:cNvPr id="334" name="Google Shape;334;p77"/>
          <p:cNvSpPr txBox="1"/>
          <p:nvPr/>
        </p:nvSpPr>
        <p:spPr>
          <a:xfrm>
            <a:off x="949725" y="3466800"/>
            <a:ext cx="23235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Pathogen landscape</a:t>
            </a:r>
            <a:endParaRPr/>
          </a:p>
        </p:txBody>
      </p:sp>
      <p:sp>
        <p:nvSpPr>
          <p:cNvPr id="335" name="Google Shape;335;p77"/>
          <p:cNvSpPr txBox="1"/>
          <p:nvPr/>
        </p:nvSpPr>
        <p:spPr>
          <a:xfrm>
            <a:off x="6323550" y="3466800"/>
            <a:ext cx="18852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NGS toolbox for infectious diseases</a:t>
            </a:r>
            <a:endParaRPr/>
          </a:p>
        </p:txBody>
      </p:sp>
      <p:pic>
        <p:nvPicPr>
          <p:cNvPr id="336" name="Google Shape;33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600" y="2008689"/>
            <a:ext cx="1787100" cy="123722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77"/>
          <p:cNvSpPr txBox="1"/>
          <p:nvPr/>
        </p:nvSpPr>
        <p:spPr>
          <a:xfrm>
            <a:off x="3459675" y="3466800"/>
            <a:ext cx="23235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landscape</a:t>
            </a:r>
            <a:endParaRPr/>
          </a:p>
        </p:txBody>
      </p:sp>
      <p:pic>
        <p:nvPicPr>
          <p:cNvPr id="338" name="Google Shape;33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5913" y="2008700"/>
            <a:ext cx="2313613" cy="12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700" y="2327250"/>
            <a:ext cx="528666" cy="489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9236" y="2034313"/>
            <a:ext cx="324491" cy="3601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77"/>
          <p:cNvGrpSpPr/>
          <p:nvPr/>
        </p:nvGrpSpPr>
        <p:grpSpPr>
          <a:xfrm>
            <a:off x="2173015" y="2639797"/>
            <a:ext cx="330293" cy="531899"/>
            <a:chOff x="7196219" y="1660430"/>
            <a:chExt cx="456900" cy="735785"/>
          </a:xfrm>
        </p:grpSpPr>
        <p:sp>
          <p:nvSpPr>
            <p:cNvPr id="342" name="Google Shape;342;p77"/>
            <p:cNvSpPr/>
            <p:nvPr/>
          </p:nvSpPr>
          <p:spPr>
            <a:xfrm rot="455152">
              <a:off x="7230368" y="1827598"/>
              <a:ext cx="388601" cy="545334"/>
            </a:xfrm>
            <a:prstGeom prst="ellipse">
              <a:avLst/>
            </a:prstGeom>
            <a:solidFill>
              <a:srgbClr val="A4C2F4"/>
            </a:solidFill>
            <a:ln>
              <a:noFill/>
            </a:ln>
            <a:effectLst>
              <a:outerShdw blurRad="57150" dist="19050" dir="5400000" algn="bl" rotWithShape="0">
                <a:srgbClr val="0000FF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7"/>
            <p:cNvSpPr/>
            <p:nvPr/>
          </p:nvSpPr>
          <p:spPr>
            <a:xfrm>
              <a:off x="7362902" y="1660430"/>
              <a:ext cx="241200" cy="274500"/>
            </a:xfrm>
            <a:prstGeom prst="ellipse">
              <a:avLst/>
            </a:prstGeom>
            <a:solidFill>
              <a:srgbClr val="A4C2F4"/>
            </a:solidFill>
            <a:ln>
              <a:noFill/>
            </a:ln>
            <a:effectLst>
              <a:outerShdw blurRad="57150" dist="19050" dir="117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4" name="Google Shape;344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7972497" flipH="1">
            <a:off x="1394523" y="2643773"/>
            <a:ext cx="997162" cy="281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"/>
          <p:cNvSpPr txBox="1"/>
          <p:nvPr/>
        </p:nvSpPr>
        <p:spPr>
          <a:xfrm>
            <a:off x="6647925" y="4675900"/>
            <a:ext cx="252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courtesy of Joe DeRisi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763" y="0"/>
            <a:ext cx="82424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"/>
          <p:cNvSpPr txBox="1"/>
          <p:nvPr/>
        </p:nvSpPr>
        <p:spPr>
          <a:xfrm>
            <a:off x="6647925" y="4675900"/>
            <a:ext cx="252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courtesy of Joe DeRisi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4"/>
          <p:cNvPicPr preferRelativeResize="0"/>
          <p:nvPr/>
        </p:nvPicPr>
        <p:blipFill rotWithShape="1">
          <a:blip r:embed="rId3">
            <a:alphaModFix/>
          </a:blip>
          <a:srcRect b="1912"/>
          <a:stretch/>
        </p:blipFill>
        <p:spPr>
          <a:xfrm>
            <a:off x="235025" y="76200"/>
            <a:ext cx="8229601" cy="50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"/>
          <p:cNvSpPr/>
          <p:nvPr/>
        </p:nvSpPr>
        <p:spPr>
          <a:xfrm>
            <a:off x="5837093" y="4232559"/>
            <a:ext cx="2517300" cy="4467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"/>
          <p:cNvSpPr txBox="1"/>
          <p:nvPr/>
        </p:nvSpPr>
        <p:spPr>
          <a:xfrm>
            <a:off x="133800" y="2878900"/>
            <a:ext cx="8876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Metagenomic next-generation sequencing (mNGS) is the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comprehensive analysis of </a:t>
            </a:r>
            <a:r>
              <a:rPr lang="en" sz="2000" b="0" i="0" u="sng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of the genetic material</a:t>
            </a:r>
            <a:r>
              <a:rPr lang="en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present in a sample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5" descr="Ba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6344" y="1515578"/>
            <a:ext cx="1110800" cy="11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5" descr="Lung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5250" y="1427350"/>
            <a:ext cx="1110800" cy="11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" descr="Hill sce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7456" y="1509675"/>
            <a:ext cx="1110800" cy="11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"/>
          <p:cNvSpPr/>
          <p:nvPr/>
        </p:nvSpPr>
        <p:spPr>
          <a:xfrm>
            <a:off x="4026275" y="1427350"/>
            <a:ext cx="492300" cy="379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6927800" y="2724100"/>
            <a:ext cx="1885200" cy="246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"/>
          <p:cNvSpPr txBox="1"/>
          <p:nvPr/>
        </p:nvSpPr>
        <p:spPr>
          <a:xfrm>
            <a:off x="252225" y="288200"/>
            <a:ext cx="8747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lang="en" sz="6100" b="1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mNGS</a:t>
            </a:r>
            <a:endParaRPr sz="6100" b="1" i="0" u="none" strike="noStrike" cap="non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5"/>
          <p:cNvSpPr txBox="1"/>
          <p:nvPr/>
        </p:nvSpPr>
        <p:spPr>
          <a:xfrm>
            <a:off x="648300" y="3791550"/>
            <a:ext cx="7847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is it useful? </a:t>
            </a:r>
            <a:endParaRPr sz="2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Because it is an </a:t>
            </a:r>
            <a:r>
              <a:rPr lang="en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unbiased</a:t>
            </a:r>
            <a:r>
              <a:rPr lang="en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approach to detecting and measuring nucleic acids, unlike other methods…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78"/>
          <p:cNvPicPr preferRelativeResize="0"/>
          <p:nvPr/>
        </p:nvPicPr>
        <p:blipFill rotWithShape="1">
          <a:blip r:embed="rId3">
            <a:alphaModFix/>
          </a:blip>
          <a:srcRect b="23810"/>
          <a:stretch/>
        </p:blipFill>
        <p:spPr>
          <a:xfrm>
            <a:off x="54075" y="1609764"/>
            <a:ext cx="2396024" cy="3108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8"/>
          <p:cNvPicPr preferRelativeResize="0"/>
          <p:nvPr/>
        </p:nvPicPr>
        <p:blipFill rotWithShape="1">
          <a:blip r:embed="rId3">
            <a:alphaModFix/>
          </a:blip>
          <a:srcRect l="66546" t="80249"/>
          <a:stretch/>
        </p:blipFill>
        <p:spPr>
          <a:xfrm>
            <a:off x="182031" y="1526725"/>
            <a:ext cx="461380" cy="46387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78"/>
          <p:cNvSpPr txBox="1">
            <a:spLocks noGrp="1"/>
          </p:cNvSpPr>
          <p:nvPr>
            <p:ph type="title"/>
          </p:nvPr>
        </p:nvSpPr>
        <p:spPr>
          <a:xfrm>
            <a:off x="74125" y="182850"/>
            <a:ext cx="9010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latin typeface="Helvetica Neue"/>
                <a:ea typeface="Helvetica Neue"/>
                <a:cs typeface="Helvetica Neue"/>
                <a:sym typeface="Helvetica Neue"/>
              </a:rPr>
              <a:t>Organisms vary widely in their genetic makeup</a:t>
            </a:r>
            <a:endParaRPr sz="240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" name="Google Shape;352;p78"/>
          <p:cNvSpPr txBox="1"/>
          <p:nvPr/>
        </p:nvSpPr>
        <p:spPr>
          <a:xfrm>
            <a:off x="1464981" y="1699296"/>
            <a:ext cx="1724700" cy="64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DNA replication by DNA polymerases</a:t>
            </a:r>
            <a:endParaRPr sz="9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9999"/>
                </a:solidFill>
              </a:rPr>
              <a:t>DNA → DNA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53" name="Google Shape;353;p78"/>
          <p:cNvSpPr txBox="1"/>
          <p:nvPr/>
        </p:nvSpPr>
        <p:spPr>
          <a:xfrm>
            <a:off x="1337051" y="2887879"/>
            <a:ext cx="1604100" cy="6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Transcription by RNA polymerases</a:t>
            </a:r>
            <a:endParaRPr sz="9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9999"/>
                </a:solidFill>
              </a:rPr>
              <a:t>DNA → RNA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54" name="Google Shape;354;p78"/>
          <p:cNvSpPr txBox="1"/>
          <p:nvPr/>
        </p:nvSpPr>
        <p:spPr>
          <a:xfrm>
            <a:off x="1337051" y="3867061"/>
            <a:ext cx="1166100" cy="6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Translation by ribosomes</a:t>
            </a:r>
            <a:endParaRPr sz="9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9999"/>
                </a:solidFill>
              </a:rPr>
              <a:t>RNA → Protein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55" name="Google Shape;355;p78"/>
          <p:cNvSpPr txBox="1"/>
          <p:nvPr/>
        </p:nvSpPr>
        <p:spPr>
          <a:xfrm>
            <a:off x="206475" y="4766300"/>
            <a:ext cx="322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Adapted from yourgenome.org</a:t>
            </a:r>
            <a:endParaRPr sz="800"/>
          </a:p>
        </p:txBody>
      </p:sp>
      <p:graphicFrame>
        <p:nvGraphicFramePr>
          <p:cNvPr id="356" name="Google Shape;356;p78"/>
          <p:cNvGraphicFramePr/>
          <p:nvPr/>
        </p:nvGraphicFramePr>
        <p:xfrm>
          <a:off x="3242538" y="2279380"/>
          <a:ext cx="4969000" cy="2290725"/>
        </p:xfrm>
        <a:graphic>
          <a:graphicData uri="http://schemas.openxmlformats.org/drawingml/2006/table">
            <a:tbl>
              <a:tblPr>
                <a:noFill/>
                <a:tableStyleId>{4276D5C7-AB28-4471-9039-51BA8E6758C7}</a:tableStyleId>
              </a:tblPr>
              <a:tblGrid>
                <a:gridCol w="9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Viruses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Bacteria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Eukaryotic microbes 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(yeast, amoebas, worms, etc)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Genome composition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ssRNA, ssDNA, dsDNA, or dsRNA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dsDNA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dsDNA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Ribosomal RNA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None, uses host ribosomes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BFF">
                        <a:alpha val="16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16S rRNA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BFF">
                        <a:alpha val="16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18S rRNA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BFF">
                        <a:alpha val="167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Genome size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 Kb - 1 Mb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 Mb - 8 Mb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200 Kb - 100,000 Mb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57" name="Google Shape;357;p78"/>
          <p:cNvPicPr preferRelativeResize="0"/>
          <p:nvPr/>
        </p:nvPicPr>
        <p:blipFill rotWithShape="1">
          <a:blip r:embed="rId4">
            <a:alphaModFix/>
          </a:blip>
          <a:srcRect l="3809" t="5168"/>
          <a:stretch/>
        </p:blipFill>
        <p:spPr>
          <a:xfrm>
            <a:off x="4734977" y="1577910"/>
            <a:ext cx="555923" cy="55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2700" y="1166550"/>
            <a:ext cx="528666" cy="489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972497" flipH="1">
            <a:off x="5820273" y="1677398"/>
            <a:ext cx="997162" cy="281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687185">
            <a:off x="5576923" y="1582440"/>
            <a:ext cx="644677" cy="135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2811" y="1166550"/>
            <a:ext cx="324491" cy="3601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78"/>
          <p:cNvGrpSpPr/>
          <p:nvPr/>
        </p:nvGrpSpPr>
        <p:grpSpPr>
          <a:xfrm>
            <a:off x="7184715" y="1489572"/>
            <a:ext cx="330293" cy="531899"/>
            <a:chOff x="7196219" y="1660430"/>
            <a:chExt cx="456900" cy="735785"/>
          </a:xfrm>
        </p:grpSpPr>
        <p:sp>
          <p:nvSpPr>
            <p:cNvPr id="363" name="Google Shape;363;p78"/>
            <p:cNvSpPr/>
            <p:nvPr/>
          </p:nvSpPr>
          <p:spPr>
            <a:xfrm rot="455152">
              <a:off x="7230368" y="1827598"/>
              <a:ext cx="388601" cy="545334"/>
            </a:xfrm>
            <a:prstGeom prst="ellipse">
              <a:avLst/>
            </a:prstGeom>
            <a:solidFill>
              <a:srgbClr val="A4C2F4"/>
            </a:solidFill>
            <a:ln>
              <a:noFill/>
            </a:ln>
            <a:effectLst>
              <a:outerShdw blurRad="57150" dist="19050" dir="5400000" algn="bl" rotWithShape="0">
                <a:srgbClr val="0000FF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8"/>
            <p:cNvSpPr/>
            <p:nvPr/>
          </p:nvSpPr>
          <p:spPr>
            <a:xfrm>
              <a:off x="7362902" y="1660430"/>
              <a:ext cx="241200" cy="274500"/>
            </a:xfrm>
            <a:prstGeom prst="ellipse">
              <a:avLst/>
            </a:prstGeom>
            <a:solidFill>
              <a:srgbClr val="A4C2F4"/>
            </a:solidFill>
            <a:ln>
              <a:noFill/>
            </a:ln>
            <a:effectLst>
              <a:outerShdw blurRad="57150" dist="19050" dir="117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5" name="Google Shape;365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8422322">
            <a:off x="7665006" y="1434475"/>
            <a:ext cx="285399" cy="525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73906" y="1211572"/>
            <a:ext cx="787434" cy="198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9900" y="1147725"/>
            <a:ext cx="267169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79"/>
          <p:cNvSpPr/>
          <p:nvPr/>
        </p:nvSpPr>
        <p:spPr>
          <a:xfrm rot="-7571297">
            <a:off x="5464019" y="2091986"/>
            <a:ext cx="549759" cy="1128677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79"/>
          <p:cNvSpPr/>
          <p:nvPr/>
        </p:nvSpPr>
        <p:spPr>
          <a:xfrm>
            <a:off x="5995150" y="1580025"/>
            <a:ext cx="1098300" cy="1098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79"/>
          <p:cNvSpPr/>
          <p:nvPr/>
        </p:nvSpPr>
        <p:spPr>
          <a:xfrm rot="-3832108">
            <a:off x="7131669" y="1871534"/>
            <a:ext cx="549686" cy="1128755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79"/>
          <p:cNvSpPr/>
          <p:nvPr/>
        </p:nvSpPr>
        <p:spPr>
          <a:xfrm rot="6212151">
            <a:off x="3274597" y="1641565"/>
            <a:ext cx="549873" cy="1128638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79"/>
          <p:cNvSpPr/>
          <p:nvPr/>
        </p:nvSpPr>
        <p:spPr>
          <a:xfrm rot="-7816828">
            <a:off x="2077640" y="1383121"/>
            <a:ext cx="1098325" cy="10983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79"/>
          <p:cNvSpPr txBox="1"/>
          <p:nvPr/>
        </p:nvSpPr>
        <p:spPr>
          <a:xfrm>
            <a:off x="0" y="1107975"/>
            <a:ext cx="24609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Cerebral Spinal Fluid 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No infection: 0% microbial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With infection: &lt;1% - 5%</a:t>
            </a:r>
            <a:endParaRPr sz="1300"/>
          </a:p>
        </p:txBody>
      </p:sp>
      <p:sp>
        <p:nvSpPr>
          <p:cNvPr id="378" name="Google Shape;378;p79"/>
          <p:cNvSpPr/>
          <p:nvPr/>
        </p:nvSpPr>
        <p:spPr>
          <a:xfrm rot="-4720300">
            <a:off x="4924134" y="3189805"/>
            <a:ext cx="549812" cy="1128688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79"/>
          <p:cNvSpPr/>
          <p:nvPr/>
        </p:nvSpPr>
        <p:spPr>
          <a:xfrm rot="2851450">
            <a:off x="5582555" y="3442972"/>
            <a:ext cx="1098212" cy="10982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79"/>
          <p:cNvSpPr txBox="1"/>
          <p:nvPr/>
        </p:nvSpPr>
        <p:spPr>
          <a:xfrm>
            <a:off x="6448775" y="4134400"/>
            <a:ext cx="16920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Rectal or Vaginal swabs or stool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50% microbial (mostly bacteria)</a:t>
            </a:r>
            <a:endParaRPr sz="1300"/>
          </a:p>
        </p:txBody>
      </p:sp>
      <p:sp>
        <p:nvSpPr>
          <p:cNvPr id="381" name="Google Shape;381;p79"/>
          <p:cNvSpPr/>
          <p:nvPr/>
        </p:nvSpPr>
        <p:spPr>
          <a:xfrm rot="-7571297">
            <a:off x="4640319" y="741486"/>
            <a:ext cx="549759" cy="1128677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79"/>
          <p:cNvSpPr txBox="1"/>
          <p:nvPr/>
        </p:nvSpPr>
        <p:spPr>
          <a:xfrm>
            <a:off x="6002300" y="208575"/>
            <a:ext cx="31122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Nasal or oral swab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50% microbial (mostly bacteria)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383" name="Google Shape;383;p79"/>
          <p:cNvSpPr/>
          <p:nvPr/>
        </p:nvSpPr>
        <p:spPr>
          <a:xfrm rot="3593663">
            <a:off x="3349653" y="2479438"/>
            <a:ext cx="549646" cy="1128617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79"/>
          <p:cNvSpPr/>
          <p:nvPr/>
        </p:nvSpPr>
        <p:spPr>
          <a:xfrm>
            <a:off x="324975" y="4347875"/>
            <a:ext cx="694800" cy="6948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79"/>
          <p:cNvSpPr txBox="1"/>
          <p:nvPr/>
        </p:nvSpPr>
        <p:spPr>
          <a:xfrm>
            <a:off x="405775" y="4014875"/>
            <a:ext cx="10647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Host</a:t>
            </a:r>
            <a:endParaRPr sz="1300"/>
          </a:p>
        </p:txBody>
      </p:sp>
      <p:sp>
        <p:nvSpPr>
          <p:cNvPr id="386" name="Google Shape;386;p79"/>
          <p:cNvSpPr/>
          <p:nvPr/>
        </p:nvSpPr>
        <p:spPr>
          <a:xfrm>
            <a:off x="1090725" y="4347875"/>
            <a:ext cx="694800" cy="6948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79"/>
          <p:cNvSpPr txBox="1"/>
          <p:nvPr/>
        </p:nvSpPr>
        <p:spPr>
          <a:xfrm>
            <a:off x="1019775" y="4014875"/>
            <a:ext cx="10647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Microbial</a:t>
            </a:r>
            <a:endParaRPr sz="1300"/>
          </a:p>
        </p:txBody>
      </p:sp>
      <p:sp>
        <p:nvSpPr>
          <p:cNvPr id="388" name="Google Shape;388;p79"/>
          <p:cNvSpPr/>
          <p:nvPr/>
        </p:nvSpPr>
        <p:spPr>
          <a:xfrm>
            <a:off x="5171450" y="229525"/>
            <a:ext cx="1098300" cy="1098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79"/>
          <p:cNvSpPr/>
          <p:nvPr/>
        </p:nvSpPr>
        <p:spPr>
          <a:xfrm>
            <a:off x="5188250" y="208575"/>
            <a:ext cx="1064700" cy="1041900"/>
          </a:xfrm>
          <a:prstGeom prst="arc">
            <a:avLst>
              <a:gd name="adj1" fmla="val 10870514"/>
              <a:gd name="adj2" fmla="val 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79"/>
          <p:cNvSpPr/>
          <p:nvPr/>
        </p:nvSpPr>
        <p:spPr>
          <a:xfrm>
            <a:off x="5582563" y="3387913"/>
            <a:ext cx="1098300" cy="1208400"/>
          </a:xfrm>
          <a:prstGeom prst="arc">
            <a:avLst>
              <a:gd name="adj1" fmla="val 10870514"/>
              <a:gd name="adj2" fmla="val 21473896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79"/>
          <p:cNvSpPr/>
          <p:nvPr/>
        </p:nvSpPr>
        <p:spPr>
          <a:xfrm rot="3738905">
            <a:off x="7698426" y="2355087"/>
            <a:ext cx="1098343" cy="1098343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79"/>
          <p:cNvSpPr txBox="1"/>
          <p:nvPr/>
        </p:nvSpPr>
        <p:spPr>
          <a:xfrm>
            <a:off x="6626350" y="1017725"/>
            <a:ext cx="25890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Whole Blood: lot of background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 infection: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During infection: &lt;&lt;&lt;0% microbial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93" name="Google Shape;393;p79"/>
          <p:cNvSpPr txBox="1"/>
          <p:nvPr/>
        </p:nvSpPr>
        <p:spPr>
          <a:xfrm>
            <a:off x="7423000" y="3367525"/>
            <a:ext cx="16920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Serum or Plasma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10-100x less host material </a:t>
            </a:r>
            <a:endParaRPr sz="1300"/>
          </a:p>
        </p:txBody>
      </p:sp>
      <p:sp>
        <p:nvSpPr>
          <p:cNvPr id="394" name="Google Shape;394;p79"/>
          <p:cNvSpPr txBox="1"/>
          <p:nvPr/>
        </p:nvSpPr>
        <p:spPr>
          <a:xfrm>
            <a:off x="0" y="2974275"/>
            <a:ext cx="25593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Tracheal Aspirate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5% microbial, 95% human</a:t>
            </a:r>
            <a:endParaRPr sz="1300"/>
          </a:p>
        </p:txBody>
      </p:sp>
      <p:sp>
        <p:nvSpPr>
          <p:cNvPr id="395" name="Google Shape;395;p79"/>
          <p:cNvSpPr/>
          <p:nvPr/>
        </p:nvSpPr>
        <p:spPr>
          <a:xfrm rot="-10435871">
            <a:off x="2218816" y="2933861"/>
            <a:ext cx="1098154" cy="109815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79"/>
          <p:cNvSpPr/>
          <p:nvPr/>
        </p:nvSpPr>
        <p:spPr>
          <a:xfrm rot="-555012">
            <a:off x="2381573" y="2944466"/>
            <a:ext cx="772648" cy="1260176"/>
          </a:xfrm>
          <a:prstGeom prst="arc">
            <a:avLst>
              <a:gd name="adj1" fmla="val 16231257"/>
              <a:gd name="adj2" fmla="val 16823809"/>
            </a:avLst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79"/>
          <p:cNvSpPr txBox="1"/>
          <p:nvPr/>
        </p:nvSpPr>
        <p:spPr>
          <a:xfrm>
            <a:off x="0" y="653075"/>
            <a:ext cx="62502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Different sample types have different RNA contents!</a:t>
            </a:r>
            <a:endParaRPr b="1"/>
          </a:p>
        </p:txBody>
      </p:sp>
      <p:sp>
        <p:nvSpPr>
          <p:cNvPr id="398" name="Google Shape;398;p79"/>
          <p:cNvSpPr txBox="1">
            <a:spLocks noGrp="1"/>
          </p:cNvSpPr>
          <p:nvPr>
            <p:ph type="ctrTitle" idx="4294967295"/>
          </p:nvPr>
        </p:nvSpPr>
        <p:spPr>
          <a:xfrm>
            <a:off x="126850" y="23500"/>
            <a:ext cx="5526600" cy="9639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type landscape</a:t>
            </a:r>
            <a:endParaRPr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83"/>
          <p:cNvSpPr txBox="1">
            <a:spLocks noGrp="1"/>
          </p:cNvSpPr>
          <p:nvPr>
            <p:ph type="title"/>
          </p:nvPr>
        </p:nvSpPr>
        <p:spPr>
          <a:xfrm>
            <a:off x="108066" y="245825"/>
            <a:ext cx="8969432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latin typeface="Roboto"/>
                <a:ea typeface="Roboto"/>
                <a:cs typeface="Roboto"/>
                <a:sym typeface="Roboto"/>
              </a:rPr>
              <a:t>Different sample types have different microbial nucleic acid content!</a:t>
            </a:r>
            <a:endParaRPr sz="2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9" name="Google Shape;46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450" y="1720325"/>
            <a:ext cx="1263450" cy="180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83" descr="Hill sce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6889" y="1494090"/>
            <a:ext cx="1877900" cy="18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475" y="1476375"/>
            <a:ext cx="2085975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83"/>
          <p:cNvSpPr txBox="1"/>
          <p:nvPr/>
        </p:nvSpPr>
        <p:spPr>
          <a:xfrm>
            <a:off x="254125" y="1071875"/>
            <a:ext cx="62502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83"/>
          <p:cNvSpPr txBox="1"/>
          <p:nvPr/>
        </p:nvSpPr>
        <p:spPr>
          <a:xfrm>
            <a:off x="400363" y="3406800"/>
            <a:ext cx="2236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Whole animal/vector: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98% host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1.99% normal flora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0.01% vector borne pathogen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83"/>
          <p:cNvSpPr txBox="1"/>
          <p:nvPr/>
        </p:nvSpPr>
        <p:spPr>
          <a:xfrm>
            <a:off x="3033475" y="3730050"/>
            <a:ext cx="2669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Human samples:</a:t>
            </a:r>
            <a:endParaRPr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 content: stool, rectal swab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 content: plasma, CSF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83"/>
          <p:cNvSpPr txBox="1"/>
          <p:nvPr/>
        </p:nvSpPr>
        <p:spPr>
          <a:xfrm>
            <a:off x="5956700" y="3406800"/>
            <a:ext cx="2764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Environmental samples: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High content: wastewater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Low content: aerosol samples, swabs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1"/>
          <p:cNvSpPr/>
          <p:nvPr/>
        </p:nvSpPr>
        <p:spPr>
          <a:xfrm>
            <a:off x="336550" y="1026400"/>
            <a:ext cx="4127700" cy="1806900"/>
          </a:xfrm>
          <a:prstGeom prst="flowChartAlternateProcess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1" name="Google Shape;411;p81"/>
          <p:cNvPicPr preferRelativeResize="0"/>
          <p:nvPr/>
        </p:nvPicPr>
        <p:blipFill rotWithShape="1">
          <a:blip r:embed="rId3">
            <a:alphaModFix/>
          </a:blip>
          <a:srcRect l="65423" t="56413" b="13406"/>
          <a:stretch/>
        </p:blipFill>
        <p:spPr>
          <a:xfrm>
            <a:off x="1675675" y="1452450"/>
            <a:ext cx="1476724" cy="128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81"/>
          <p:cNvSpPr/>
          <p:nvPr/>
        </p:nvSpPr>
        <p:spPr>
          <a:xfrm>
            <a:off x="4736160" y="1026400"/>
            <a:ext cx="4127700" cy="1822200"/>
          </a:xfrm>
          <a:prstGeom prst="flowChartAlternateProcess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3" name="Google Shape;413;p81"/>
          <p:cNvSpPr/>
          <p:nvPr/>
        </p:nvSpPr>
        <p:spPr>
          <a:xfrm>
            <a:off x="336550" y="3045506"/>
            <a:ext cx="4127700" cy="1806900"/>
          </a:xfrm>
          <a:prstGeom prst="flowChartAlternateProcess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p81"/>
          <p:cNvSpPr/>
          <p:nvPr/>
        </p:nvSpPr>
        <p:spPr>
          <a:xfrm>
            <a:off x="4736160" y="3033931"/>
            <a:ext cx="4127700" cy="1806900"/>
          </a:xfrm>
          <a:prstGeom prst="flowChartAlternateProcess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p81"/>
          <p:cNvSpPr txBox="1">
            <a:spLocks noGrp="1"/>
          </p:cNvSpPr>
          <p:nvPr>
            <p:ph type="title" idx="4294967295"/>
          </p:nvPr>
        </p:nvSpPr>
        <p:spPr>
          <a:xfrm>
            <a:off x="342900" y="270196"/>
            <a:ext cx="841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 dirty="0">
                <a:latin typeface="Helvetica Neue"/>
                <a:ea typeface="Helvetica Neue"/>
                <a:cs typeface="Helvetica Neue"/>
                <a:sym typeface="Helvetica Neue"/>
              </a:rPr>
              <a:t>Use cases for </a:t>
            </a:r>
            <a:r>
              <a:rPr lang="en" sz="2400" b="1" dirty="0" err="1">
                <a:latin typeface="Helvetica Neue"/>
                <a:ea typeface="Helvetica Neue"/>
                <a:cs typeface="Helvetica Neue"/>
                <a:sym typeface="Helvetica Neue"/>
              </a:rPr>
              <a:t>mNGS</a:t>
            </a:r>
            <a:endParaRPr sz="24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81"/>
          <p:cNvSpPr txBox="1"/>
          <p:nvPr/>
        </p:nvSpPr>
        <p:spPr>
          <a:xfrm>
            <a:off x="814763" y="1159838"/>
            <a:ext cx="3171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7" name="Google Shape;417;p81"/>
          <p:cNvSpPr txBox="1"/>
          <p:nvPr/>
        </p:nvSpPr>
        <p:spPr>
          <a:xfrm>
            <a:off x="4747735" y="1112542"/>
            <a:ext cx="41277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Outbreak detection and prevention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8" name="Google Shape;418;p81"/>
          <p:cNvSpPr txBox="1"/>
          <p:nvPr/>
        </p:nvSpPr>
        <p:spPr>
          <a:xfrm>
            <a:off x="814763" y="3171742"/>
            <a:ext cx="3171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9" name="Google Shape;419;p81"/>
          <p:cNvSpPr txBox="1"/>
          <p:nvPr/>
        </p:nvSpPr>
        <p:spPr>
          <a:xfrm>
            <a:off x="336550" y="1110175"/>
            <a:ext cx="41277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Identify a novel pathogen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0" name="Google Shape;420;p81"/>
          <p:cNvSpPr txBox="1"/>
          <p:nvPr/>
        </p:nvSpPr>
        <p:spPr>
          <a:xfrm>
            <a:off x="814763" y="3171742"/>
            <a:ext cx="3171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1" name="Google Shape;421;p81"/>
          <p:cNvSpPr txBox="1"/>
          <p:nvPr/>
        </p:nvSpPr>
        <p:spPr>
          <a:xfrm>
            <a:off x="336538" y="3110480"/>
            <a:ext cx="41277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Identify coinfections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2" name="Google Shape;422;p81"/>
          <p:cNvSpPr txBox="1"/>
          <p:nvPr/>
        </p:nvSpPr>
        <p:spPr>
          <a:xfrm>
            <a:off x="5225913" y="3171742"/>
            <a:ext cx="3171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81"/>
          <p:cNvSpPr txBox="1"/>
          <p:nvPr/>
        </p:nvSpPr>
        <p:spPr>
          <a:xfrm>
            <a:off x="4736149" y="3104308"/>
            <a:ext cx="41277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Characterize the microbial landscape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4" name="Google Shape;424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425" name="Google Shape;425;p81"/>
          <p:cNvPicPr preferRelativeResize="0"/>
          <p:nvPr/>
        </p:nvPicPr>
        <p:blipFill rotWithShape="1">
          <a:blip r:embed="rId4">
            <a:alphaModFix/>
          </a:blip>
          <a:srcRect l="3809" t="5168"/>
          <a:stretch/>
        </p:blipFill>
        <p:spPr>
          <a:xfrm>
            <a:off x="5167452" y="3579696"/>
            <a:ext cx="391898" cy="3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7057" y="4347356"/>
            <a:ext cx="372683" cy="34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8127" y="3774605"/>
            <a:ext cx="228750" cy="253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3995643">
            <a:off x="5788095" y="4343848"/>
            <a:ext cx="454467" cy="95247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81"/>
          <p:cNvSpPr/>
          <p:nvPr/>
        </p:nvSpPr>
        <p:spPr>
          <a:xfrm rot="9167033">
            <a:off x="5466154" y="4434097"/>
            <a:ext cx="141686" cy="147053"/>
          </a:xfrm>
          <a:prstGeom prst="ellipse">
            <a:avLst/>
          </a:prstGeom>
          <a:solidFill>
            <a:srgbClr val="A4C2F4"/>
          </a:solidFill>
          <a:ln>
            <a:noFill/>
          </a:ln>
          <a:effectLst>
            <a:outerShdw blurRad="57150" dist="19050" dir="117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0" name="Google Shape;430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4124068">
            <a:off x="6148707" y="3775047"/>
            <a:ext cx="556585" cy="20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81"/>
          <p:cNvPicPr preferRelativeResize="0"/>
          <p:nvPr/>
        </p:nvPicPr>
        <p:blipFill rotWithShape="1">
          <a:blip r:embed="rId4">
            <a:alphaModFix/>
          </a:blip>
          <a:srcRect l="3809" t="5168"/>
          <a:stretch/>
        </p:blipFill>
        <p:spPr>
          <a:xfrm>
            <a:off x="7053265" y="3579696"/>
            <a:ext cx="391898" cy="3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4544" y="4264331"/>
            <a:ext cx="372684" cy="34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7089" y="4010405"/>
            <a:ext cx="228750" cy="253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6274924">
            <a:off x="7762132" y="3821373"/>
            <a:ext cx="454467" cy="9524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81"/>
          <p:cNvSpPr/>
          <p:nvPr/>
        </p:nvSpPr>
        <p:spPr>
          <a:xfrm rot="9167033">
            <a:off x="7071817" y="4547897"/>
            <a:ext cx="141686" cy="147053"/>
          </a:xfrm>
          <a:prstGeom prst="ellipse">
            <a:avLst/>
          </a:prstGeom>
          <a:solidFill>
            <a:srgbClr val="A4C2F4"/>
          </a:solidFill>
          <a:ln>
            <a:noFill/>
          </a:ln>
          <a:effectLst>
            <a:outerShdw blurRad="57150" dist="19050" dir="117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6" name="Google Shape;436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547009">
            <a:off x="7322857" y="4239284"/>
            <a:ext cx="556585" cy="20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0867" y="3713292"/>
            <a:ext cx="828913" cy="7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210331">
            <a:off x="2244573" y="3952882"/>
            <a:ext cx="1464564" cy="368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81" descr="Bats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5938" y="1881838"/>
            <a:ext cx="657725" cy="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8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15154" y="1778324"/>
            <a:ext cx="1660973" cy="93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81"/>
          <p:cNvPicPr preferRelativeResize="0"/>
          <p:nvPr/>
        </p:nvPicPr>
        <p:blipFill rotWithShape="1">
          <a:blip r:embed="rId12">
            <a:alphaModFix/>
          </a:blip>
          <a:srcRect l="12978" r="23958" b="23225"/>
          <a:stretch/>
        </p:blipFill>
        <p:spPr>
          <a:xfrm>
            <a:off x="5960562" y="1778313"/>
            <a:ext cx="657725" cy="8647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81"/>
          <p:cNvCxnSpPr/>
          <p:nvPr/>
        </p:nvCxnSpPr>
        <p:spPr>
          <a:xfrm>
            <a:off x="6673663" y="2243913"/>
            <a:ext cx="386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" name="Google Shape;443;p81"/>
          <p:cNvCxnSpPr/>
          <p:nvPr/>
        </p:nvCxnSpPr>
        <p:spPr>
          <a:xfrm>
            <a:off x="5539863" y="2236600"/>
            <a:ext cx="386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44" name="Google Shape;444;p81"/>
          <p:cNvPicPr preferRelativeResize="0"/>
          <p:nvPr/>
        </p:nvPicPr>
        <p:blipFill rotWithShape="1">
          <a:blip r:embed="rId13">
            <a:alphaModFix/>
          </a:blip>
          <a:srcRect l="9479" t="5348" r="9438" b="12624"/>
          <a:stretch/>
        </p:blipFill>
        <p:spPr>
          <a:xfrm>
            <a:off x="5516169" y="1670222"/>
            <a:ext cx="391900" cy="42696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81"/>
          <p:cNvSpPr txBox="1"/>
          <p:nvPr/>
        </p:nvSpPr>
        <p:spPr>
          <a:xfrm>
            <a:off x="2227738" y="3802250"/>
            <a:ext cx="372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+</a:t>
            </a:r>
            <a:endParaRPr sz="2500"/>
          </a:p>
        </p:txBody>
      </p:sp>
      <p:pic>
        <p:nvPicPr>
          <p:cNvPr id="446" name="Google Shape;446;p81"/>
          <p:cNvPicPr preferRelativeResize="0"/>
          <p:nvPr/>
        </p:nvPicPr>
        <p:blipFill rotWithShape="1">
          <a:blip r:embed="rId13">
            <a:alphaModFix/>
          </a:blip>
          <a:srcRect l="9479" t="5348" r="9438" b="12624"/>
          <a:stretch/>
        </p:blipFill>
        <p:spPr>
          <a:xfrm>
            <a:off x="6670769" y="1672047"/>
            <a:ext cx="391900" cy="42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body" idx="4294967295"/>
          </p:nvPr>
        </p:nvSpPr>
        <p:spPr>
          <a:xfrm>
            <a:off x="488250" y="259004"/>
            <a:ext cx="816750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sz="3200" b="1" dirty="0">
                <a:latin typeface="+mj-lt"/>
                <a:ea typeface="Lato"/>
                <a:cs typeface="Lato"/>
                <a:sym typeface="Lato"/>
              </a:rPr>
              <a:t>Genomics tools in infectious diseases</a:t>
            </a:r>
            <a:endParaRPr sz="3200" b="1" dirty="0">
              <a:latin typeface="+mj-lt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sequencing fragments with Sanger sequencing</a:t>
            </a:r>
            <a:endParaRPr lang="en-US" sz="1200" b="1" i="0" u="none" strike="noStrike" cap="none" dirty="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3288" y="855325"/>
            <a:ext cx="5829304" cy="116828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 txBox="1"/>
          <p:nvPr/>
        </p:nvSpPr>
        <p:spPr>
          <a:xfrm>
            <a:off x="2694060" y="2023606"/>
            <a:ext cx="1003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5090204" y="2023605"/>
            <a:ext cx="21924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PCR enrichment of a single target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7651477" y="2023600"/>
            <a:ext cx="1306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Sanger Sequence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(low throughput)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Sanger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65" name="Google Shape;165;p25"/>
          <p:cNvGraphicFramePr/>
          <p:nvPr/>
        </p:nvGraphicFramePr>
        <p:xfrm>
          <a:off x="505975" y="792000"/>
          <a:ext cx="8132050" cy="379598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9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5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Input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One enriched DNA template from a single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Primers complementary to the ends of the DNA target template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4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Output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Sequence of one fragment ~500-600bp or one PCR product or plasmid 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5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Strengths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Fast and cheap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High accuracy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8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Uses</a:t>
                      </a:r>
                      <a:endParaRPr sz="1460" b="1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Screen for a variant(s) in a </a:t>
                      </a:r>
                      <a:r>
                        <a:rPr lang="en"/>
                        <a:t>specific </a:t>
                      </a: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known genomic region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Often used to confirm cloning products/plasmids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Confirm NGS findings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86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Limitations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Short sequence lengths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Low throughput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914400" marR="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One sample at a time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914400" marR="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One region/target at a time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Requires large amount of DNA input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Requires knowledge of the target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Sanger sequencing vs Next Generation Sequencing applications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1874975" y="4696050"/>
            <a:ext cx="695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29292"/>
                </a:solidFill>
              </a:rPr>
              <a:t>Adapted using BioRender.com from https://www.illumina.com/science/technology/next-generation-sequencing/ngs-vs-sanger-sequencing.html</a:t>
            </a:r>
            <a:endParaRPr sz="800">
              <a:solidFill>
                <a:srgbClr val="929292"/>
              </a:solidFill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22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Whole genome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6575" y="1359370"/>
            <a:ext cx="5829299" cy="88771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/>
        </p:nvSpPr>
        <p:spPr>
          <a:xfrm>
            <a:off x="2807348" y="2387366"/>
            <a:ext cx="1122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organism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4659008" y="2306574"/>
            <a:ext cx="1122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molecular weight DNA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6510668" y="2270637"/>
            <a:ext cx="11223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Fragmentation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(short-read platforms)</a:t>
            </a:r>
            <a:endParaRPr sz="900" b="0" i="0" u="none" strike="noStrike" cap="none">
              <a:solidFill>
                <a:srgbClr val="20202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Whole genome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8" name="Google Shape;188;p28"/>
          <p:cNvGraphicFramePr/>
          <p:nvPr/>
        </p:nvGraphicFramePr>
        <p:xfrm>
          <a:off x="398450" y="855700"/>
          <a:ext cx="8433850" cy="36201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7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Input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High molecular weight DNA from a cultured isolate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Output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NGS sequencing of the genome of the cultured organism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9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Strengths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Does not require specific primer design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Good genome coverage of organisms even with large genomes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5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Uses</a:t>
                      </a:r>
                      <a:endParaRPr sz="1460" b="1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Obtain whole genome coverage of organisms even with large genomes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Identify or confirm identity of a cultured organism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Identify genomic variants within an organism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5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Limitations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Requires a cultured isolate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914400" marR="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Time-intensive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914400" marR="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Not all organisms can be cultured; many require special conditions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More hands-on time due to culture requirement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Amplicon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5" name="Google Shape;19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6925" y="1884938"/>
            <a:ext cx="5829300" cy="79205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 txBox="1"/>
          <p:nvPr/>
        </p:nvSpPr>
        <p:spPr>
          <a:xfrm>
            <a:off x="2607698" y="2865106"/>
            <a:ext cx="12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4493647" y="2852029"/>
            <a:ext cx="3030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Multiplex PCR enrichment of a multiple targets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4493647" y="3073956"/>
            <a:ext cx="3030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(in this case, tiled PCR enrichment of a whole genome of a single organism)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Amplicon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6925" y="1884938"/>
            <a:ext cx="5829300" cy="79205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2607698" y="2865106"/>
            <a:ext cx="12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4493647" y="2852029"/>
            <a:ext cx="3030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Multiplex PCR enrichment of a multiple targets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4493647" y="3073956"/>
            <a:ext cx="3030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(in this case, tiled PCR enrichment of a whole genome of a single organism)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5198938" y="3538355"/>
            <a:ext cx="973500" cy="963600"/>
          </a:xfrm>
          <a:prstGeom prst="ellipse">
            <a:avLst/>
          </a:prstGeom>
          <a:solidFill>
            <a:srgbClr val="678AC4">
              <a:alpha val="50196"/>
            </a:srgbClr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5798705" y="3548087"/>
            <a:ext cx="973500" cy="963600"/>
          </a:xfrm>
          <a:prstGeom prst="ellipse">
            <a:avLst/>
          </a:prstGeom>
          <a:solidFill>
            <a:srgbClr val="ADD046">
              <a:alpha val="49412"/>
            </a:srgbClr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5276668" y="3898009"/>
            <a:ext cx="672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5985518" y="3829014"/>
            <a:ext cx="97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Amplicon 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30"/>
          <p:cNvCxnSpPr/>
          <p:nvPr/>
        </p:nvCxnSpPr>
        <p:spPr>
          <a:xfrm>
            <a:off x="5986725" y="3420156"/>
            <a:ext cx="0" cy="46020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Amplicon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9" name="Google Shape;219;p31"/>
          <p:cNvGraphicFramePr/>
          <p:nvPr/>
        </p:nvGraphicFramePr>
        <p:xfrm>
          <a:off x="398450" y="1000088"/>
          <a:ext cx="8433850" cy="356262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6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Input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Direct clinical sample or other sample type; does not require a cultured isolate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Primers complementary to the target regions / organism of interest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Output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NGS sequence of many PCR products in parallel; genome of organism of interest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9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Strengths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Good coverage of whole genome of relatively small genomes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Does not require a culture isolate; can be a mixed/direct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The majority of resulting data is of the desired target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4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Uses</a:t>
                      </a:r>
                      <a:endParaRPr sz="1460" b="1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Genomic epidemiology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Transmission investigation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Identification or monitoring of variants</a:t>
                      </a:r>
                      <a:endParaRPr sz="1200" u="none" strike="noStrike" cap="none">
                        <a:solidFill>
                          <a:srgbClr val="595959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9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Limitations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Requires good primer design and validation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Requires knowledge of the target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Can be difficult for large genomes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Not robust to mutations in primer binding sites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8206" y="2676293"/>
            <a:ext cx="5772150" cy="75124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2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16s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2598979" y="3513631"/>
            <a:ext cx="12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4484925" y="3500550"/>
            <a:ext cx="3284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PCR enrichment of ribosomal gene target (16s)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4484929" y="3722481"/>
            <a:ext cx="3030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(this gene is conserved across bacterial species)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8206" y="2676293"/>
            <a:ext cx="5772150" cy="75124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16s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2598979" y="3513631"/>
            <a:ext cx="12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4484925" y="3500550"/>
            <a:ext cx="3284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PCR enrichment of ribosomal gene target (16s)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4484929" y="3722481"/>
            <a:ext cx="3030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(this gene is conserved across bacterial species)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3"/>
          <p:cNvSpPr/>
          <p:nvPr/>
        </p:nvSpPr>
        <p:spPr>
          <a:xfrm>
            <a:off x="4776779" y="1095611"/>
            <a:ext cx="1278600" cy="1272900"/>
          </a:xfrm>
          <a:prstGeom prst="ellipse">
            <a:avLst/>
          </a:prstGeom>
          <a:solidFill>
            <a:srgbClr val="678AC4">
              <a:alpha val="50196"/>
            </a:srgbClr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5564542" y="1108467"/>
            <a:ext cx="1278600" cy="1272900"/>
          </a:xfrm>
          <a:prstGeom prst="ellipse">
            <a:avLst/>
          </a:prstGeom>
          <a:solidFill>
            <a:srgbClr val="ADD046">
              <a:alpha val="49412"/>
            </a:srgbClr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4878873" y="1570694"/>
            <a:ext cx="883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5904192" y="1280047"/>
            <a:ext cx="103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Amplicon sequencing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3"/>
          <p:cNvSpPr/>
          <p:nvPr/>
        </p:nvSpPr>
        <p:spPr>
          <a:xfrm>
            <a:off x="6055375" y="1694950"/>
            <a:ext cx="588600" cy="588300"/>
          </a:xfrm>
          <a:prstGeom prst="ellipse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5907778" y="1831825"/>
            <a:ext cx="88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16s 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16s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51" name="Google Shape;251;p34"/>
          <p:cNvGraphicFramePr/>
          <p:nvPr/>
        </p:nvGraphicFramePr>
        <p:xfrm>
          <a:off x="398450" y="1000088"/>
          <a:ext cx="8433850" cy="35115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6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Input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Direct clinical sample or other sample type; does not require a cultured isolate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Primers complementary to the </a:t>
                      </a:r>
                      <a:r>
                        <a:rPr lang="en" sz="1400" u="none" strike="noStrike" cap="none"/>
                        <a:t>16s rRNA gene (V1, V2, or V3 regions)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Output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NGS sequences of </a:t>
                      </a:r>
                      <a:r>
                        <a:rPr lang="en" sz="1400" u="none" strike="noStrike" cap="none"/>
                        <a:t>amplified 16s rRNA gene target for all but only bacteria in the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9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Strengths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/>
                        <a:t>Good sensitivity in picking up low abundance targets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Does not require a culture isolate; can be a mixed/direct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The majority of resulting data is of the desired target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4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Uses</a:t>
                      </a:r>
                      <a:endParaRPr sz="1460" b="1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/>
                        <a:t>Microbiome studies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/>
                        <a:t>Phylogeny and taxonomic classification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595959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9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Limitations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●"/>
                      </a:pPr>
                      <a:r>
                        <a:rPr lang="en" sz="1300" u="none" strike="noStrike" cap="none"/>
                        <a:t>Can only detect bacteria (organisms that carry 16s rRNA gene)</a:t>
                      </a:r>
                      <a:endParaRPr sz="13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●"/>
                      </a:pPr>
                      <a:r>
                        <a:rPr lang="en" sz="1300" u="none" strike="noStrike" cap="none"/>
                        <a:t>Can be hard to resolve closely related species</a:t>
                      </a:r>
                      <a:endParaRPr sz="13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●"/>
                      </a:pPr>
                      <a:r>
                        <a:rPr lang="en" sz="1300" u="none" strike="noStrike" cap="none"/>
                        <a:t>Does not detect antibiotic resistance genes or targets</a:t>
                      </a:r>
                      <a:endParaRPr sz="13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Metagenomic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8" name="Google Shape;25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9369" y="3305818"/>
            <a:ext cx="5829297" cy="57392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/>
        </p:nvSpPr>
        <p:spPr>
          <a:xfrm>
            <a:off x="2450141" y="3891172"/>
            <a:ext cx="12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4107491" y="3810380"/>
            <a:ext cx="1465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molecular weight DNA (ideally)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3915249" y="4202800"/>
            <a:ext cx="2133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(if low input, non-targeted amplification will be necessary)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6153461" y="3774443"/>
            <a:ext cx="11223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Fragmentation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(short-read platforms)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Metagenomic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68" name="Google Shape;268;p36"/>
          <p:cNvGraphicFramePr/>
          <p:nvPr/>
        </p:nvGraphicFramePr>
        <p:xfrm>
          <a:off x="398450" y="712925"/>
          <a:ext cx="8433850" cy="39244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1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Input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Direct clinical sample or other sample type; does not require a cultured isolate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1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Output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NGS sequence of all organisms in each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Strengths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Does not require a culture isolate; can be a mixed/direct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Unbiased recovery of nucleic acids in a mixed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Does not require specific primer design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2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Uses</a:t>
                      </a:r>
                      <a:endParaRPr sz="1460" b="1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Identification of pathogens with unknown origin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Identification of coinfections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Screening surveillance for multiple organisms with one assay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Outbreak investigation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Pathogen discovery work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2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Limitations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Occasionally very low abundance microbes can be missed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Data analysis and interpretation can be difficult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The host is sequenced along with the microbes; can be difficult to remove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Genomics sequencing toolbox for infectious diseases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74" name="Google Shape;274;p37"/>
          <p:cNvGraphicFramePr/>
          <p:nvPr/>
        </p:nvGraphicFramePr>
        <p:xfrm>
          <a:off x="147550" y="808850"/>
          <a:ext cx="8848900" cy="3383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2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Whole genome &amp; transcriptome sequencing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Amplicon sequencing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16S &amp; 18S rRNA sequencing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Metagenomic (shotgun) sequencing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Starting material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DNA/RNA from (cultured) isolate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DNA/RNA from a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DNA/RNA from a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DNA/RNA from a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Primers used to amplify sequences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Random primers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Organism-specific primers</a:t>
                      </a:r>
                      <a:endParaRPr sz="10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16S/18S-specific primers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Random primers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What is sequenced?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Organism of interest 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Organism of interest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Only rRNA from bacteria, fungi and eukaryotic pathogens in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DNA/RNA from all organisms in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Resulting data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DNA sequence or gene expression of target organism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RNA/DNA sequence of targeted organism</a:t>
                      </a:r>
                      <a:endParaRPr sz="10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Only rRNA sequences of bacteria, fungi and eukaryotic pathogens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DNA/RNA sequences from all organisms in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Use cases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Fundamental research on cultured organisms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Full genomes from clinical samples for genomic epidemiology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Exploratory studies on environmental samples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Outbreak research, co-infections, microbe discovery 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75" name="Google Shape;27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325" y="56100"/>
            <a:ext cx="813852" cy="56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6;g707a0857d59abe0_16">
            <a:extLst>
              <a:ext uri="{FF2B5EF4-FFF2-40B4-BE49-F238E27FC236}">
                <a16:creationId xmlns:a16="http://schemas.microsoft.com/office/drawing/2014/main" id="{2E77D2FF-62F3-E762-C26C-CC9FA50D3723}"/>
              </a:ext>
            </a:extLst>
          </p:cNvPr>
          <p:cNvSpPr txBox="1">
            <a:spLocks/>
          </p:cNvSpPr>
          <p:nvPr/>
        </p:nvSpPr>
        <p:spPr>
          <a:xfrm>
            <a:off x="2622831" y="2098803"/>
            <a:ext cx="413541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11111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Sequencing technologies</a:t>
            </a:r>
          </a:p>
        </p:txBody>
      </p:sp>
    </p:spTree>
    <p:extLst>
      <p:ext uri="{BB962C8B-B14F-4D97-AF65-F5344CB8AC3E}">
        <p14:creationId xmlns:p14="http://schemas.microsoft.com/office/powerpoint/2010/main" val="2815971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/>
          <p:nvPr/>
        </p:nvSpPr>
        <p:spPr>
          <a:xfrm>
            <a:off x="6191925" y="4825"/>
            <a:ext cx="296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5"/>
          <p:cNvSpPr/>
          <p:nvPr/>
        </p:nvSpPr>
        <p:spPr>
          <a:xfrm>
            <a:off x="-10250" y="4825"/>
            <a:ext cx="3176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5"/>
          <p:cNvSpPr txBox="1"/>
          <p:nvPr/>
        </p:nvSpPr>
        <p:spPr>
          <a:xfrm>
            <a:off x="3600088" y="440000"/>
            <a:ext cx="21576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High throughput, short read sequencing</a:t>
            </a:r>
            <a:endParaRPr sz="1500" b="1"/>
          </a:p>
        </p:txBody>
      </p:sp>
      <p:sp>
        <p:nvSpPr>
          <p:cNvPr id="216" name="Google Shape;216;p35"/>
          <p:cNvSpPr txBox="1"/>
          <p:nvPr/>
        </p:nvSpPr>
        <p:spPr>
          <a:xfrm>
            <a:off x="6580150" y="440000"/>
            <a:ext cx="21576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Long read sequencing</a:t>
            </a:r>
            <a:endParaRPr sz="1500" b="1"/>
          </a:p>
        </p:txBody>
      </p:sp>
      <p:sp>
        <p:nvSpPr>
          <p:cNvPr id="217" name="Google Shape;217;p35"/>
          <p:cNvSpPr txBox="1"/>
          <p:nvPr/>
        </p:nvSpPr>
        <p:spPr>
          <a:xfrm>
            <a:off x="565475" y="440000"/>
            <a:ext cx="21576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Low throughput, short read sequencing</a:t>
            </a:r>
            <a:endParaRPr sz="1500" b="1"/>
          </a:p>
        </p:txBody>
      </p:sp>
      <p:sp>
        <p:nvSpPr>
          <p:cNvPr id="218" name="Google Shape;218;p35"/>
          <p:cNvSpPr txBox="1"/>
          <p:nvPr/>
        </p:nvSpPr>
        <p:spPr>
          <a:xfrm>
            <a:off x="577555" y="1506295"/>
            <a:ext cx="19809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Sanger sequencing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19" name="Google Shape;219;p35"/>
          <p:cNvSpPr txBox="1"/>
          <p:nvPr/>
        </p:nvSpPr>
        <p:spPr>
          <a:xfrm>
            <a:off x="6708445" y="3052258"/>
            <a:ext cx="19809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PacBio sequencing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20" name="Google Shape;220;p35"/>
          <p:cNvSpPr txBox="1"/>
          <p:nvPr/>
        </p:nvSpPr>
        <p:spPr>
          <a:xfrm>
            <a:off x="6863162" y="1213399"/>
            <a:ext cx="15414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Nanopore Sequencing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4620" y="1758838"/>
            <a:ext cx="1456099" cy="126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/>
        </p:nvSpPr>
        <p:spPr>
          <a:xfrm>
            <a:off x="3753742" y="1355402"/>
            <a:ext cx="17754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Illumina sequencing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23" name="Google Shape;223;p35"/>
          <p:cNvSpPr txBox="1"/>
          <p:nvPr/>
        </p:nvSpPr>
        <p:spPr>
          <a:xfrm>
            <a:off x="873575" y="2930125"/>
            <a:ext cx="15414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x 500bp sequence per well</a:t>
            </a:r>
            <a:endParaRPr/>
          </a:p>
        </p:txBody>
      </p:sp>
      <p:pic>
        <p:nvPicPr>
          <p:cNvPr id="224" name="Google Shape;224;p35"/>
          <p:cNvPicPr preferRelativeResize="0"/>
          <p:nvPr/>
        </p:nvPicPr>
        <p:blipFill rotWithShape="1">
          <a:blip r:embed="rId4">
            <a:alphaModFix/>
          </a:blip>
          <a:srcRect r="60001" b="41537"/>
          <a:stretch/>
        </p:blipFill>
        <p:spPr>
          <a:xfrm>
            <a:off x="6460525" y="3431743"/>
            <a:ext cx="1233575" cy="1385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5"/>
          <p:cNvPicPr preferRelativeResize="0"/>
          <p:nvPr/>
        </p:nvPicPr>
        <p:blipFill rotWithShape="1">
          <a:blip r:embed="rId5">
            <a:alphaModFix/>
          </a:blip>
          <a:srcRect l="65826" r="12510" b="2959"/>
          <a:stretch/>
        </p:blipFill>
        <p:spPr>
          <a:xfrm>
            <a:off x="4198716" y="1769750"/>
            <a:ext cx="960346" cy="24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851" y="2056425"/>
            <a:ext cx="2681600" cy="5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5"/>
          <p:cNvSpPr txBox="1"/>
          <p:nvPr/>
        </p:nvSpPr>
        <p:spPr>
          <a:xfrm>
            <a:off x="4042488" y="4300500"/>
            <a:ext cx="15414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Millions of 300-600bp sequences</a:t>
            </a:r>
            <a:endParaRPr/>
          </a:p>
        </p:txBody>
      </p:sp>
      <p:sp>
        <p:nvSpPr>
          <p:cNvPr id="228" name="Google Shape;228;p35"/>
          <p:cNvSpPr txBox="1"/>
          <p:nvPr/>
        </p:nvSpPr>
        <p:spPr>
          <a:xfrm>
            <a:off x="7785625" y="3754250"/>
            <a:ext cx="12336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Thousands of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1 - 30kb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sequences</a:t>
            </a:r>
            <a:endParaRPr/>
          </a:p>
        </p:txBody>
      </p:sp>
      <p:sp>
        <p:nvSpPr>
          <p:cNvPr id="229" name="Google Shape;229;p35"/>
          <p:cNvSpPr txBox="1"/>
          <p:nvPr/>
        </p:nvSpPr>
        <p:spPr>
          <a:xfrm>
            <a:off x="7785625" y="2019325"/>
            <a:ext cx="12336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Thousands to millions of 1-20kb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1E55BC4D-624C-B975-682E-567A2CDC1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6">
            <a:extLst>
              <a:ext uri="{FF2B5EF4-FFF2-40B4-BE49-F238E27FC236}">
                <a16:creationId xmlns:a16="http://schemas.microsoft.com/office/drawing/2014/main" id="{76C57219-581B-9E99-718B-664848E289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4153" b="40435"/>
          <a:stretch/>
        </p:blipFill>
        <p:spPr>
          <a:xfrm>
            <a:off x="1070550" y="150300"/>
            <a:ext cx="2143125" cy="7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6">
            <a:extLst>
              <a:ext uri="{FF2B5EF4-FFF2-40B4-BE49-F238E27FC236}">
                <a16:creationId xmlns:a16="http://schemas.microsoft.com/office/drawing/2014/main" id="{2AC71F54-4AF2-9FC5-AC7D-4F758B445E1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7126" t="45740" r="52989" b="25215"/>
          <a:stretch>
            <a:fillRect/>
          </a:stretch>
        </p:blipFill>
        <p:spPr>
          <a:xfrm>
            <a:off x="1344239" y="2856643"/>
            <a:ext cx="1595746" cy="1284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5DE43D-25A2-2A83-9D48-99A62E660D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04" r="21583"/>
          <a:stretch>
            <a:fillRect/>
          </a:stretch>
        </p:blipFill>
        <p:spPr>
          <a:xfrm>
            <a:off x="6538899" y="3306159"/>
            <a:ext cx="1065605" cy="1691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6D37A8-678F-51B2-69D3-7BBFDBC2F2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37" t="8992" r="24045"/>
          <a:stretch>
            <a:fillRect/>
          </a:stretch>
        </p:blipFill>
        <p:spPr>
          <a:xfrm>
            <a:off x="5910316" y="1318472"/>
            <a:ext cx="870659" cy="1407062"/>
          </a:xfrm>
          <a:prstGeom prst="rect">
            <a:avLst/>
          </a:prstGeom>
        </p:spPr>
      </p:pic>
      <p:pic>
        <p:nvPicPr>
          <p:cNvPr id="2" name="Google Shape;237;p36">
            <a:extLst>
              <a:ext uri="{FF2B5EF4-FFF2-40B4-BE49-F238E27FC236}">
                <a16:creationId xmlns:a16="http://schemas.microsoft.com/office/drawing/2014/main" id="{362B89AD-7D79-D391-01C4-4FC32D3E12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4551" t="45740" r="72877" b="25215"/>
          <a:stretch>
            <a:fillRect/>
          </a:stretch>
        </p:blipFill>
        <p:spPr>
          <a:xfrm>
            <a:off x="797482" y="3306159"/>
            <a:ext cx="1008826" cy="1284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7;p36">
            <a:extLst>
              <a:ext uri="{FF2B5EF4-FFF2-40B4-BE49-F238E27FC236}">
                <a16:creationId xmlns:a16="http://schemas.microsoft.com/office/drawing/2014/main" id="{ACE15AC4-8AD4-B661-1E99-3EDF7B95AE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329" t="45740" r="87722" b="25215"/>
          <a:stretch>
            <a:fillRect/>
          </a:stretch>
        </p:blipFill>
        <p:spPr>
          <a:xfrm>
            <a:off x="147578" y="3755675"/>
            <a:ext cx="798354" cy="1284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38;p36">
            <a:extLst>
              <a:ext uri="{FF2B5EF4-FFF2-40B4-BE49-F238E27FC236}">
                <a16:creationId xmlns:a16="http://schemas.microsoft.com/office/drawing/2014/main" id="{F5381C8D-46D3-EE50-A73A-E3278E108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4190" t="38547" r="17181" b="31220"/>
          <a:stretch>
            <a:fillRect/>
          </a:stretch>
        </p:blipFill>
        <p:spPr>
          <a:xfrm>
            <a:off x="7347548" y="1766867"/>
            <a:ext cx="1436103" cy="1284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38;p36">
            <a:extLst>
              <a:ext uri="{FF2B5EF4-FFF2-40B4-BE49-F238E27FC236}">
                <a16:creationId xmlns:a16="http://schemas.microsoft.com/office/drawing/2014/main" id="{198731AB-1D79-92AE-095F-C68F90A822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8397" t="42331" r="35768" b="25214"/>
          <a:stretch>
            <a:fillRect/>
          </a:stretch>
        </p:blipFill>
        <p:spPr>
          <a:xfrm>
            <a:off x="2755135" y="2167355"/>
            <a:ext cx="1220677" cy="137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8C764D-4177-3D37-B790-617A622F386E}"/>
              </a:ext>
            </a:extLst>
          </p:cNvPr>
          <p:cNvSpPr txBox="1"/>
          <p:nvPr/>
        </p:nvSpPr>
        <p:spPr>
          <a:xfrm>
            <a:off x="4136391" y="3098187"/>
            <a:ext cx="16204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thruput</a:t>
            </a:r>
          </a:p>
          <a:p>
            <a:r>
              <a:rPr lang="en-US" dirty="0"/>
              <a:t>Still supported</a:t>
            </a:r>
          </a:p>
          <a:p>
            <a:r>
              <a:rPr lang="en-US" dirty="0"/>
              <a:t>Phased out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3F3371-D7C5-B45E-893C-A616A35E2A10}"/>
              </a:ext>
            </a:extLst>
          </p:cNvPr>
          <p:cNvSpPr txBox="1"/>
          <p:nvPr/>
        </p:nvSpPr>
        <p:spPr>
          <a:xfrm>
            <a:off x="97033" y="2309087"/>
            <a:ext cx="19470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Cheapest instruments</a:t>
            </a:r>
          </a:p>
          <a:p>
            <a:r>
              <a:rPr lang="en-US" dirty="0"/>
              <a:t>Low thruput </a:t>
            </a:r>
          </a:p>
          <a:p>
            <a:r>
              <a:rPr lang="en-US" dirty="0"/>
              <a:t>EOL in 2025 </a:t>
            </a:r>
          </a:p>
          <a:p>
            <a:r>
              <a:rPr lang="en-US" dirty="0"/>
              <a:t>Supported ~2029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010054-04F4-9A0E-FC0C-7F715B8BF7DF}"/>
              </a:ext>
            </a:extLst>
          </p:cNvPr>
          <p:cNvSpPr txBox="1"/>
          <p:nvPr/>
        </p:nvSpPr>
        <p:spPr>
          <a:xfrm>
            <a:off x="5502817" y="909175"/>
            <a:ext cx="17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7030A0"/>
                </a:solidFill>
              </a:rPr>
              <a:t>MiSeq i100  (Plus option)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5-200 million reads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517542-9FAD-2347-5C2B-665F41464526}"/>
              </a:ext>
            </a:extLst>
          </p:cNvPr>
          <p:cNvSpPr txBox="1"/>
          <p:nvPr/>
        </p:nvSpPr>
        <p:spPr>
          <a:xfrm>
            <a:off x="6214402" y="3038976"/>
            <a:ext cx="17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7030A0"/>
                </a:solidFill>
              </a:rPr>
              <a:t>NovaSeqX  (Plus option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1.6 – 70 billion reads</a:t>
            </a:r>
          </a:p>
        </p:txBody>
      </p:sp>
      <p:pic>
        <p:nvPicPr>
          <p:cNvPr id="8" name="Google Shape;238;p36">
            <a:extLst>
              <a:ext uri="{FF2B5EF4-FFF2-40B4-BE49-F238E27FC236}">
                <a16:creationId xmlns:a16="http://schemas.microsoft.com/office/drawing/2014/main" id="{6F150AA9-6C45-00F9-110E-2E25D4BC74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4706" t="23474" r="2208" b="25214"/>
          <a:stretch>
            <a:fillRect/>
          </a:stretch>
        </p:blipFill>
        <p:spPr>
          <a:xfrm>
            <a:off x="3760432" y="677092"/>
            <a:ext cx="1008826" cy="2179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4C5F55-2704-EDDA-ECF1-46D371AC7C74}"/>
              </a:ext>
            </a:extLst>
          </p:cNvPr>
          <p:cNvCxnSpPr>
            <a:cxnSpLocks/>
          </p:cNvCxnSpPr>
          <p:nvPr/>
        </p:nvCxnSpPr>
        <p:spPr>
          <a:xfrm>
            <a:off x="291593" y="2046966"/>
            <a:ext cx="24635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43B4EC6-C226-1298-9EE4-69EB020883C6}"/>
              </a:ext>
            </a:extLst>
          </p:cNvPr>
          <p:cNvSpPr txBox="1"/>
          <p:nvPr/>
        </p:nvSpPr>
        <p:spPr>
          <a:xfrm>
            <a:off x="7037681" y="1432747"/>
            <a:ext cx="2055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7030A0"/>
                </a:solidFill>
              </a:rPr>
              <a:t>NextSeq 1000/2000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100 million to 3.6 billion reads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D38F94-5C06-1E67-FA24-F952132D64F6}"/>
              </a:ext>
            </a:extLst>
          </p:cNvPr>
          <p:cNvCxnSpPr>
            <a:cxnSpLocks/>
          </p:cNvCxnSpPr>
          <p:nvPr/>
        </p:nvCxnSpPr>
        <p:spPr>
          <a:xfrm>
            <a:off x="2755135" y="2046966"/>
            <a:ext cx="0" cy="2130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5E1ADF-21BE-F4C7-10EB-97CF0FEF3873}"/>
              </a:ext>
            </a:extLst>
          </p:cNvPr>
          <p:cNvCxnSpPr>
            <a:cxnSpLocks/>
          </p:cNvCxnSpPr>
          <p:nvPr/>
        </p:nvCxnSpPr>
        <p:spPr>
          <a:xfrm>
            <a:off x="2939985" y="3671458"/>
            <a:ext cx="10358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4C4916-EBB0-A629-58CA-93C2697D602F}"/>
              </a:ext>
            </a:extLst>
          </p:cNvPr>
          <p:cNvCxnSpPr>
            <a:cxnSpLocks/>
          </p:cNvCxnSpPr>
          <p:nvPr/>
        </p:nvCxnSpPr>
        <p:spPr>
          <a:xfrm>
            <a:off x="4769258" y="1388301"/>
            <a:ext cx="0" cy="1558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EF45739-02FC-E842-D187-7F0FA9FE61E1}"/>
              </a:ext>
            </a:extLst>
          </p:cNvPr>
          <p:cNvSpPr txBox="1"/>
          <p:nvPr/>
        </p:nvSpPr>
        <p:spPr>
          <a:xfrm>
            <a:off x="5655917" y="318962"/>
            <a:ext cx="3123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XLEAP-SBS (improved chemistry)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46F70-6133-76FE-82BF-E21A2259CFD5}"/>
              </a:ext>
            </a:extLst>
          </p:cNvPr>
          <p:cNvSpPr txBox="1"/>
          <p:nvPr/>
        </p:nvSpPr>
        <p:spPr>
          <a:xfrm>
            <a:off x="331197" y="1169295"/>
            <a:ext cx="3067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thruput short read sequencing max. read length 300bp</a:t>
            </a:r>
          </a:p>
        </p:txBody>
      </p:sp>
    </p:spTree>
    <p:extLst>
      <p:ext uri="{BB962C8B-B14F-4D97-AF65-F5344CB8AC3E}">
        <p14:creationId xmlns:p14="http://schemas.microsoft.com/office/powerpoint/2010/main" val="4246375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32" y="314192"/>
            <a:ext cx="3772525" cy="6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96F1E9-7845-1A51-7413-91B339ED02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26" t="37709" r="10588" b="3939"/>
          <a:stretch>
            <a:fillRect/>
          </a:stretch>
        </p:blipFill>
        <p:spPr>
          <a:xfrm>
            <a:off x="6569564" y="1883074"/>
            <a:ext cx="1577250" cy="1417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821CC9-FD5B-0702-D781-3E43A6FD27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94" r="49978" b="75721"/>
          <a:stretch>
            <a:fillRect/>
          </a:stretch>
        </p:blipFill>
        <p:spPr>
          <a:xfrm>
            <a:off x="949987" y="3695472"/>
            <a:ext cx="1448441" cy="2514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09C915-449A-2943-98EB-E52D071CE8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39" y="1991850"/>
            <a:ext cx="1597281" cy="11997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26232D-A656-CCC8-8A98-9B070E2F13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13" r="68235" b="77504"/>
          <a:stretch>
            <a:fillRect/>
          </a:stretch>
        </p:blipFill>
        <p:spPr>
          <a:xfrm>
            <a:off x="6949440" y="3663614"/>
            <a:ext cx="1036320" cy="2833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1D1240-BAA0-E925-E1C3-6F1D42C6DA6F}"/>
              </a:ext>
            </a:extLst>
          </p:cNvPr>
          <p:cNvSpPr txBox="1"/>
          <p:nvPr/>
        </p:nvSpPr>
        <p:spPr>
          <a:xfrm>
            <a:off x="2540000" y="4409440"/>
            <a:ext cx="4714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Instruments that will sequence from 1 to 48 flow cells.</a:t>
            </a:r>
          </a:p>
          <a:p>
            <a:r>
              <a:rPr lang="en-US" dirty="0"/>
              <a:t>The </a:t>
            </a:r>
            <a:r>
              <a:rPr lang="en-US" dirty="0" err="1"/>
              <a:t>MinION</a:t>
            </a:r>
            <a:r>
              <a:rPr lang="en-US" dirty="0"/>
              <a:t> instruments require an external computer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83591-5397-644C-89DE-9050E394ED53}"/>
              </a:ext>
            </a:extLst>
          </p:cNvPr>
          <p:cNvSpPr txBox="1"/>
          <p:nvPr/>
        </p:nvSpPr>
        <p:spPr>
          <a:xfrm>
            <a:off x="5202455" y="644998"/>
            <a:ext cx="3067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thruput long read sequencing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18994B-3808-6BED-7362-96D30C42A8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3855" y="1446790"/>
            <a:ext cx="2237097" cy="17910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9795CB-B150-160D-616D-A593EBA36476}"/>
              </a:ext>
            </a:extLst>
          </p:cNvPr>
          <p:cNvSpPr txBox="1"/>
          <p:nvPr/>
        </p:nvSpPr>
        <p:spPr>
          <a:xfrm>
            <a:off x="3643046" y="3615863"/>
            <a:ext cx="244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2"/>
                </a:solidFill>
                <a:latin typeface="Aptos" panose="020B0004020202020204" pitchFamily="34" charset="0"/>
              </a:rPr>
              <a:t>PromethION</a:t>
            </a:r>
            <a:r>
              <a:rPr lang="en-US" sz="1800" dirty="0">
                <a:solidFill>
                  <a:schemeClr val="bg2"/>
                </a:solidFill>
                <a:latin typeface="Aptos" panose="020B0004020202020204" pitchFamily="34" charset="0"/>
              </a:rPr>
              <a:t> Series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>
            <a:spLocks noGrp="1"/>
          </p:cNvSpPr>
          <p:nvPr>
            <p:ph type="body" idx="4294967295"/>
          </p:nvPr>
        </p:nvSpPr>
        <p:spPr>
          <a:xfrm>
            <a:off x="486253" y="16913"/>
            <a:ext cx="8167500" cy="4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sz="2800" b="1" dirty="0">
                <a:latin typeface="+mj-lt"/>
                <a:ea typeface="Lato"/>
                <a:cs typeface="Lato"/>
                <a:sym typeface="Lato"/>
              </a:rPr>
              <a:t>Other sequencing platforms</a:t>
            </a:r>
            <a:endParaRPr sz="2800" b="1" dirty="0">
              <a:latin typeface="+mj-lt"/>
              <a:ea typeface="Lato"/>
              <a:cs typeface="Lato"/>
              <a:sym typeface="Lato"/>
            </a:endParaRPr>
          </a:p>
        </p:txBody>
      </p:sp>
      <p:pic>
        <p:nvPicPr>
          <p:cNvPr id="314" name="Google Shape;314;p40"/>
          <p:cNvPicPr preferRelativeResize="0"/>
          <p:nvPr/>
        </p:nvPicPr>
        <p:blipFill rotWithShape="1">
          <a:blip r:embed="rId3">
            <a:alphaModFix/>
          </a:blip>
          <a:srcRect t="17171" b="17686"/>
          <a:stretch/>
        </p:blipFill>
        <p:spPr>
          <a:xfrm>
            <a:off x="5998910" y="1335209"/>
            <a:ext cx="2654843" cy="812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4355" y="2147352"/>
            <a:ext cx="2654843" cy="1387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05019" y="3318397"/>
            <a:ext cx="2574020" cy="166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24;p41">
            <a:extLst>
              <a:ext uri="{FF2B5EF4-FFF2-40B4-BE49-F238E27FC236}">
                <a16:creationId xmlns:a16="http://schemas.microsoft.com/office/drawing/2014/main" id="{88E1E1F2-BD72-7A7E-175E-7E45F13E16A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4448" t="16860" r="15103" b="5583"/>
          <a:stretch/>
        </p:blipFill>
        <p:spPr>
          <a:xfrm>
            <a:off x="1691349" y="2372032"/>
            <a:ext cx="1521316" cy="2325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25;p41">
            <a:extLst>
              <a:ext uri="{FF2B5EF4-FFF2-40B4-BE49-F238E27FC236}">
                <a16:creationId xmlns:a16="http://schemas.microsoft.com/office/drawing/2014/main" id="{535FB321-D8C7-197B-B8B6-21A6E305D56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23224" b="22754"/>
          <a:stretch/>
        </p:blipFill>
        <p:spPr>
          <a:xfrm>
            <a:off x="1390218" y="1473279"/>
            <a:ext cx="2123578" cy="53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6C24BB-057F-D53F-24FB-7AB355AC3B97}"/>
              </a:ext>
            </a:extLst>
          </p:cNvPr>
          <p:cNvSpPr txBox="1"/>
          <p:nvPr/>
        </p:nvSpPr>
        <p:spPr>
          <a:xfrm>
            <a:off x="1874272" y="849023"/>
            <a:ext cx="1155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read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9DAE7-79BE-B726-E22F-692DA57E9A60}"/>
              </a:ext>
            </a:extLst>
          </p:cNvPr>
          <p:cNvSpPr txBox="1"/>
          <p:nvPr/>
        </p:nvSpPr>
        <p:spPr>
          <a:xfrm>
            <a:off x="6590360" y="797258"/>
            <a:ext cx="1155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 read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>
            <a:spLocks noGrp="1"/>
          </p:cNvSpPr>
          <p:nvPr>
            <p:ph type="body" idx="4294967295"/>
          </p:nvPr>
        </p:nvSpPr>
        <p:spPr>
          <a:xfrm>
            <a:off x="488250" y="219086"/>
            <a:ext cx="8167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sz="2000" b="1" dirty="0">
                <a:latin typeface="+mj-lt"/>
                <a:ea typeface="Lato"/>
                <a:cs typeface="Lato"/>
                <a:sym typeface="Lato"/>
              </a:rPr>
              <a:t>Comparing short and long read sequencing platforms</a:t>
            </a:r>
            <a:endParaRPr sz="2000" b="1" dirty="0">
              <a:latin typeface="+mj-lt"/>
              <a:ea typeface="Lato"/>
              <a:cs typeface="Lato"/>
              <a:sym typeface="Lato"/>
            </a:endParaRPr>
          </a:p>
        </p:txBody>
      </p:sp>
      <p:graphicFrame>
        <p:nvGraphicFramePr>
          <p:cNvPr id="331" name="Google Shape;331;p42"/>
          <p:cNvGraphicFramePr/>
          <p:nvPr>
            <p:extLst>
              <p:ext uri="{D42A27DB-BD31-4B8C-83A1-F6EECF244321}">
                <p14:modId xmlns:p14="http://schemas.microsoft.com/office/powerpoint/2010/main" val="699593349"/>
              </p:ext>
            </p:extLst>
          </p:nvPr>
        </p:nvGraphicFramePr>
        <p:xfrm>
          <a:off x="1670050" y="825725"/>
          <a:ext cx="5803900" cy="37524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 sz="1200" b="1" i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Short-Read Sequencing </a:t>
                      </a:r>
                      <a:endParaRPr sz="1200" b="1" i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(e.g. Illumina)</a:t>
                      </a:r>
                      <a:endParaRPr sz="1200" b="1" i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Long-Read Sequencing </a:t>
                      </a:r>
                      <a:endParaRPr sz="1400" b="1" i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(e.g. Oxford Nanopore)</a:t>
                      </a:r>
                      <a:endParaRPr sz="1200" b="1" i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Read Length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50-300 bp</a:t>
                      </a:r>
                      <a:endParaRPr sz="1200" i="0" u="none" strike="noStrike" cap="none" dirty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100 bp - 100,000 bp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High (99.9% with Illumina)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Lower (~90-99%) but improving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Cost per run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~$800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~$900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Instrument Cost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~$20,000</a:t>
                      </a:r>
                      <a:endParaRPr sz="1200" i="0" u="none" strike="noStrike" cap="none" dirty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~$</a:t>
                      </a: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,000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Throughput (claimed)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1.2 Gb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20 Gb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Throughput (observed)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r>
                        <a:rPr lang="en" sz="1200" u="none" strike="noStrike" cap="none"/>
                        <a:t>.2 to 2 Gb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1-6 Gb</a:t>
                      </a:r>
                      <a:endParaRPr sz="12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Run Time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Hours to days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Minutes to days </a:t>
                      </a:r>
                      <a:endParaRPr sz="1400" u="none" strike="noStrike" cap="none" dirty="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(potentially real-time)</a:t>
                      </a:r>
                      <a:endParaRPr sz="1200" i="0" u="none" strike="noStrike" cap="none" dirty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3"/>
          <p:cNvSpPr txBox="1">
            <a:spLocks noGrp="1"/>
          </p:cNvSpPr>
          <p:nvPr>
            <p:ph type="body" idx="4294967295"/>
          </p:nvPr>
        </p:nvSpPr>
        <p:spPr>
          <a:xfrm>
            <a:off x="486253" y="126250"/>
            <a:ext cx="7597500" cy="4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2030"/>
              <a:t>Considerations for choosing a sequencer platform</a:t>
            </a:r>
            <a:endParaRPr sz="2030"/>
          </a:p>
        </p:txBody>
      </p:sp>
      <p:sp>
        <p:nvSpPr>
          <p:cNvPr id="337" name="Google Shape;337;p43"/>
          <p:cNvSpPr txBox="1"/>
          <p:nvPr/>
        </p:nvSpPr>
        <p:spPr>
          <a:xfrm>
            <a:off x="553447" y="1016325"/>
            <a:ext cx="3361200" cy="18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Available resources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Procurement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Lead time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Frequency of use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Expertise and comfort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Downstream integration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Support</a:t>
            </a:r>
            <a:endParaRPr sz="2000" b="0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43"/>
          <p:cNvSpPr txBox="1"/>
          <p:nvPr/>
        </p:nvSpPr>
        <p:spPr>
          <a:xfrm>
            <a:off x="5052050" y="940125"/>
            <a:ext cx="3000000" cy="24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Objective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Identification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Variant quality in complex genomes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Turnaround time</a:t>
            </a:r>
            <a:endParaRPr sz="1700"/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Sample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Input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Quality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>
          <a:extLst>
            <a:ext uri="{FF2B5EF4-FFF2-40B4-BE49-F238E27FC236}">
              <a16:creationId xmlns:a16="http://schemas.microsoft.com/office/drawing/2014/main" id="{9B7014F2-D9D1-3888-396E-F0918B33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2">
            <a:extLst>
              <a:ext uri="{FF2B5EF4-FFF2-40B4-BE49-F238E27FC236}">
                <a16:creationId xmlns:a16="http://schemas.microsoft.com/office/drawing/2014/main" id="{CD9F3BA9-C799-4E26-DEBC-E0050C0E9812}"/>
              </a:ext>
            </a:extLst>
          </p:cNvPr>
          <p:cNvSpPr/>
          <p:nvPr/>
        </p:nvSpPr>
        <p:spPr>
          <a:xfrm>
            <a:off x="337700" y="251875"/>
            <a:ext cx="8594700" cy="959100"/>
          </a:xfrm>
          <a:prstGeom prst="stripedRightArrow">
            <a:avLst>
              <a:gd name="adj1" fmla="val 67480"/>
              <a:gd name="adj2" fmla="val 1473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82">
            <a:extLst>
              <a:ext uri="{FF2B5EF4-FFF2-40B4-BE49-F238E27FC236}">
                <a16:creationId xmlns:a16="http://schemas.microsoft.com/office/drawing/2014/main" id="{91FD484C-D4E7-A782-BBB3-8C9544830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5200" y="287875"/>
            <a:ext cx="4755600" cy="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rgbClr val="FFFFFF"/>
                </a:solidFill>
              </a:rPr>
              <a:t>mNGS pipeline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453" name="Google Shape;453;p82">
            <a:extLst>
              <a:ext uri="{FF2B5EF4-FFF2-40B4-BE49-F238E27FC236}">
                <a16:creationId xmlns:a16="http://schemas.microsoft.com/office/drawing/2014/main" id="{8C3CFD07-B213-7BE4-6300-6EF845DDA126}"/>
              </a:ext>
            </a:extLst>
          </p:cNvPr>
          <p:cNvSpPr txBox="1"/>
          <p:nvPr/>
        </p:nvSpPr>
        <p:spPr>
          <a:xfrm>
            <a:off x="250750" y="11589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design</a:t>
            </a:r>
            <a:endParaRPr/>
          </a:p>
        </p:txBody>
      </p:sp>
      <p:sp>
        <p:nvSpPr>
          <p:cNvPr id="454" name="Google Shape;454;p82">
            <a:extLst>
              <a:ext uri="{FF2B5EF4-FFF2-40B4-BE49-F238E27FC236}">
                <a16:creationId xmlns:a16="http://schemas.microsoft.com/office/drawing/2014/main" id="{B695DFEC-B958-7FDE-B810-F4D66279AB1C}"/>
              </a:ext>
            </a:extLst>
          </p:cNvPr>
          <p:cNvSpPr txBox="1"/>
          <p:nvPr/>
        </p:nvSpPr>
        <p:spPr>
          <a:xfrm>
            <a:off x="1640775" y="11589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xNA extraction</a:t>
            </a:r>
            <a:endParaRPr/>
          </a:p>
        </p:txBody>
      </p:sp>
      <p:sp>
        <p:nvSpPr>
          <p:cNvPr id="455" name="Google Shape;455;p82">
            <a:extLst>
              <a:ext uri="{FF2B5EF4-FFF2-40B4-BE49-F238E27FC236}">
                <a16:creationId xmlns:a16="http://schemas.microsoft.com/office/drawing/2014/main" id="{AB4D15B7-810B-36AB-3068-56F8258D0323}"/>
              </a:ext>
            </a:extLst>
          </p:cNvPr>
          <p:cNvSpPr txBox="1"/>
          <p:nvPr/>
        </p:nvSpPr>
        <p:spPr>
          <a:xfrm>
            <a:off x="2950075" y="12351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 prep</a:t>
            </a:r>
            <a:endParaRPr/>
          </a:p>
        </p:txBody>
      </p:sp>
      <p:sp>
        <p:nvSpPr>
          <p:cNvPr id="456" name="Google Shape;456;p82">
            <a:extLst>
              <a:ext uri="{FF2B5EF4-FFF2-40B4-BE49-F238E27FC236}">
                <a16:creationId xmlns:a16="http://schemas.microsoft.com/office/drawing/2014/main" id="{B4EC98C1-90AA-0CB2-FE6C-DE8F9733F335}"/>
              </a:ext>
            </a:extLst>
          </p:cNvPr>
          <p:cNvSpPr txBox="1"/>
          <p:nvPr/>
        </p:nvSpPr>
        <p:spPr>
          <a:xfrm>
            <a:off x="4592180" y="12351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Sequencing</a:t>
            </a:r>
            <a:endParaRPr/>
          </a:p>
        </p:txBody>
      </p:sp>
      <p:sp>
        <p:nvSpPr>
          <p:cNvPr id="457" name="Google Shape;457;p82">
            <a:extLst>
              <a:ext uri="{FF2B5EF4-FFF2-40B4-BE49-F238E27FC236}">
                <a16:creationId xmlns:a16="http://schemas.microsoft.com/office/drawing/2014/main" id="{7D40089B-2285-4C34-24F8-16BF921A0F00}"/>
              </a:ext>
            </a:extLst>
          </p:cNvPr>
          <p:cNvSpPr txBox="1"/>
          <p:nvPr/>
        </p:nvSpPr>
        <p:spPr>
          <a:xfrm>
            <a:off x="6132613" y="12351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458" name="Google Shape;458;p82">
            <a:extLst>
              <a:ext uri="{FF2B5EF4-FFF2-40B4-BE49-F238E27FC236}">
                <a16:creationId xmlns:a16="http://schemas.microsoft.com/office/drawing/2014/main" id="{18D46D7D-C0BA-3853-6754-99D336060FE4}"/>
              </a:ext>
            </a:extLst>
          </p:cNvPr>
          <p:cNvSpPr txBox="1"/>
          <p:nvPr/>
        </p:nvSpPr>
        <p:spPr>
          <a:xfrm>
            <a:off x="-500" y="3033150"/>
            <a:ext cx="15039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Type(s)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Controls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Storage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Lab setup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59" name="Google Shape;459;p82">
            <a:extLst>
              <a:ext uri="{FF2B5EF4-FFF2-40B4-BE49-F238E27FC236}">
                <a16:creationId xmlns:a16="http://schemas.microsoft.com/office/drawing/2014/main" id="{F3330765-707D-E241-E801-0FB971088C77}"/>
              </a:ext>
            </a:extLst>
          </p:cNvPr>
          <p:cNvSpPr txBox="1"/>
          <p:nvPr/>
        </p:nvSpPr>
        <p:spPr>
          <a:xfrm>
            <a:off x="1340475" y="303315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Type(s)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Controls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QC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60" name="Google Shape;460;p82">
            <a:extLst>
              <a:ext uri="{FF2B5EF4-FFF2-40B4-BE49-F238E27FC236}">
                <a16:creationId xmlns:a16="http://schemas.microsoft.com/office/drawing/2014/main" id="{4BFC48DA-63AE-9D47-CF98-927345514E09}"/>
              </a:ext>
            </a:extLst>
          </p:cNvPr>
          <p:cNvSpPr txBox="1"/>
          <p:nvPr/>
        </p:nvSpPr>
        <p:spPr>
          <a:xfrm>
            <a:off x="2546425" y="3033150"/>
            <a:ext cx="2173200" cy="21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Host removal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Fragmentation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dsDNA generation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End-repair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Adapter ligation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Barcoding &amp; PCR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Clean-up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Pooling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QC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61" name="Google Shape;461;p82">
            <a:extLst>
              <a:ext uri="{FF2B5EF4-FFF2-40B4-BE49-F238E27FC236}">
                <a16:creationId xmlns:a16="http://schemas.microsoft.com/office/drawing/2014/main" id="{DF9FE219-B778-F46F-8AFA-ED0CD2C132A3}"/>
              </a:ext>
            </a:extLst>
          </p:cNvPr>
          <p:cNvSpPr txBox="1"/>
          <p:nvPr/>
        </p:nvSpPr>
        <p:spPr>
          <a:xfrm>
            <a:off x="5846725" y="3033150"/>
            <a:ext cx="2173200" cy="9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QC data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Host removal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Alignment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Blast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Ranking of hits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462" name="Google Shape;462;p82">
            <a:extLst>
              <a:ext uri="{FF2B5EF4-FFF2-40B4-BE49-F238E27FC236}">
                <a16:creationId xmlns:a16="http://schemas.microsoft.com/office/drawing/2014/main" id="{1A04028B-51C5-A8FE-E5C4-01E00AACB7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551" r="17611" b="13941"/>
          <a:stretch/>
        </p:blipFill>
        <p:spPr>
          <a:xfrm>
            <a:off x="4679550" y="1896300"/>
            <a:ext cx="1126125" cy="959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" name="Google Shape;463;p82">
            <a:extLst>
              <a:ext uri="{FF2B5EF4-FFF2-40B4-BE49-F238E27FC236}">
                <a16:creationId xmlns:a16="http://schemas.microsoft.com/office/drawing/2014/main" id="{184B23A2-E510-813F-871C-D6B32D57C3D3}"/>
              </a:ext>
            </a:extLst>
          </p:cNvPr>
          <p:cNvGrpSpPr/>
          <p:nvPr/>
        </p:nvGrpSpPr>
        <p:grpSpPr>
          <a:xfrm>
            <a:off x="6241847" y="2033075"/>
            <a:ext cx="1126132" cy="877745"/>
            <a:chOff x="5059375" y="3618825"/>
            <a:chExt cx="1583426" cy="1234175"/>
          </a:xfrm>
        </p:grpSpPr>
        <p:pic>
          <p:nvPicPr>
            <p:cNvPr id="464" name="Google Shape;464;p82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D48E31AE-2867-A99D-836B-09CCC94948E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47033" t="64643" r="26638" b="6039"/>
            <a:stretch/>
          </p:blipFill>
          <p:spPr>
            <a:xfrm>
              <a:off x="5059375" y="3618825"/>
              <a:ext cx="1583426" cy="123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82">
              <a:extLst>
                <a:ext uri="{FF2B5EF4-FFF2-40B4-BE49-F238E27FC236}">
                  <a16:creationId xmlns:a16="http://schemas.microsoft.com/office/drawing/2014/main" id="{C7F68B0A-A221-CDE6-768E-414F79AF725C}"/>
                </a:ext>
              </a:extLst>
            </p:cNvPr>
            <p:cNvSpPr/>
            <p:nvPr/>
          </p:nvSpPr>
          <p:spPr>
            <a:xfrm>
              <a:off x="5111211" y="3670860"/>
              <a:ext cx="1459635" cy="832076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8" name="Google Shape;468;p82">
            <a:extLst>
              <a:ext uri="{FF2B5EF4-FFF2-40B4-BE49-F238E27FC236}">
                <a16:creationId xmlns:a16="http://schemas.microsoft.com/office/drawing/2014/main" id="{4836BC7F-7562-C06E-F341-ECDEC6DD6D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3069" t="15507" r="15081" b="13227"/>
          <a:stretch/>
        </p:blipFill>
        <p:spPr>
          <a:xfrm>
            <a:off x="379113" y="1914700"/>
            <a:ext cx="8718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82">
            <a:extLst>
              <a:ext uri="{FF2B5EF4-FFF2-40B4-BE49-F238E27FC236}">
                <a16:creationId xmlns:a16="http://schemas.microsoft.com/office/drawing/2014/main" id="{E5C57536-540F-F939-AEB0-3E08A2854BD6}"/>
              </a:ext>
            </a:extLst>
          </p:cNvPr>
          <p:cNvSpPr txBox="1"/>
          <p:nvPr/>
        </p:nvSpPr>
        <p:spPr>
          <a:xfrm>
            <a:off x="4315963" y="3033150"/>
            <a:ext cx="2245200" cy="8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Machine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Read length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Loading conc.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470" name="Google Shape;470;p82">
            <a:extLst>
              <a:ext uri="{FF2B5EF4-FFF2-40B4-BE49-F238E27FC236}">
                <a16:creationId xmlns:a16="http://schemas.microsoft.com/office/drawing/2014/main" id="{2E873061-7633-FC71-8046-AABC3FFA38D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149689">
            <a:off x="1852263" y="2113663"/>
            <a:ext cx="607525" cy="72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82">
            <a:extLst>
              <a:ext uri="{FF2B5EF4-FFF2-40B4-BE49-F238E27FC236}">
                <a16:creationId xmlns:a16="http://schemas.microsoft.com/office/drawing/2014/main" id="{1C4F635F-5624-D527-B415-C7091114378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b="50615"/>
          <a:stretch/>
        </p:blipFill>
        <p:spPr>
          <a:xfrm>
            <a:off x="2884550" y="2066066"/>
            <a:ext cx="1344551" cy="725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2" name="Google Shape;472;p82">
            <a:extLst>
              <a:ext uri="{FF2B5EF4-FFF2-40B4-BE49-F238E27FC236}">
                <a16:creationId xmlns:a16="http://schemas.microsoft.com/office/drawing/2014/main" id="{E2A6BA37-9F21-1B14-18CF-DA892250B724}"/>
              </a:ext>
            </a:extLst>
          </p:cNvPr>
          <p:cNvCxnSpPr/>
          <p:nvPr/>
        </p:nvCxnSpPr>
        <p:spPr>
          <a:xfrm rot="10800000" flipH="1">
            <a:off x="7638150" y="2419325"/>
            <a:ext cx="309300" cy="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3" name="Google Shape;473;p82">
            <a:extLst>
              <a:ext uri="{FF2B5EF4-FFF2-40B4-BE49-F238E27FC236}">
                <a16:creationId xmlns:a16="http://schemas.microsoft.com/office/drawing/2014/main" id="{503FC532-B3B3-68C1-2707-46EDF249DF51}"/>
              </a:ext>
            </a:extLst>
          </p:cNvPr>
          <p:cNvGrpSpPr/>
          <p:nvPr/>
        </p:nvGrpSpPr>
        <p:grpSpPr>
          <a:xfrm>
            <a:off x="7765375" y="1751825"/>
            <a:ext cx="1252725" cy="1357550"/>
            <a:chOff x="7841575" y="1370825"/>
            <a:chExt cx="1252725" cy="1357550"/>
          </a:xfrm>
        </p:grpSpPr>
        <p:sp>
          <p:nvSpPr>
            <p:cNvPr id="474" name="Google Shape;474;p82">
              <a:extLst>
                <a:ext uri="{FF2B5EF4-FFF2-40B4-BE49-F238E27FC236}">
                  <a16:creationId xmlns:a16="http://schemas.microsoft.com/office/drawing/2014/main" id="{E621928A-9D07-0DB6-E948-7704E70572FA}"/>
                </a:ext>
              </a:extLst>
            </p:cNvPr>
            <p:cNvSpPr/>
            <p:nvPr/>
          </p:nvSpPr>
          <p:spPr>
            <a:xfrm>
              <a:off x="7841575" y="1486750"/>
              <a:ext cx="1122600" cy="11226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75" name="Google Shape;475;p82">
              <a:extLst>
                <a:ext uri="{FF2B5EF4-FFF2-40B4-BE49-F238E27FC236}">
                  <a16:creationId xmlns:a16="http://schemas.microsoft.com/office/drawing/2014/main" id="{7F4EF200-7437-B011-9A5C-EB041D5BE5B4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147262" y="1685076"/>
              <a:ext cx="502137" cy="7259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6" name="Google Shape;476;p82">
              <a:extLst>
                <a:ext uri="{FF2B5EF4-FFF2-40B4-BE49-F238E27FC236}">
                  <a16:creationId xmlns:a16="http://schemas.microsoft.com/office/drawing/2014/main" id="{469C045F-BC36-FF7C-9493-77572C802CF0}"/>
                </a:ext>
              </a:extLst>
            </p:cNvPr>
            <p:cNvSpPr/>
            <p:nvPr/>
          </p:nvSpPr>
          <p:spPr>
            <a:xfrm>
              <a:off x="7887625" y="1532800"/>
              <a:ext cx="1030500" cy="10305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7" name="Google Shape;477;p82">
              <a:extLst>
                <a:ext uri="{FF2B5EF4-FFF2-40B4-BE49-F238E27FC236}">
                  <a16:creationId xmlns:a16="http://schemas.microsoft.com/office/drawing/2014/main" id="{DE830315-CB6D-153E-4AB1-577D1D6BADF0}"/>
                </a:ext>
              </a:extLst>
            </p:cNvPr>
            <p:cNvCxnSpPr/>
            <p:nvPr/>
          </p:nvCxnSpPr>
          <p:spPr>
            <a:xfrm>
              <a:off x="8395325" y="244607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" name="Google Shape;478;p82">
              <a:extLst>
                <a:ext uri="{FF2B5EF4-FFF2-40B4-BE49-F238E27FC236}">
                  <a16:creationId xmlns:a16="http://schemas.microsoft.com/office/drawing/2014/main" id="{8C0CF0D9-1C36-48F1-B7E0-959F0991F0F7}"/>
                </a:ext>
              </a:extLst>
            </p:cNvPr>
            <p:cNvCxnSpPr/>
            <p:nvPr/>
          </p:nvCxnSpPr>
          <p:spPr>
            <a:xfrm>
              <a:off x="8401375" y="137082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Google Shape;479;p82">
              <a:extLst>
                <a:ext uri="{FF2B5EF4-FFF2-40B4-BE49-F238E27FC236}">
                  <a16:creationId xmlns:a16="http://schemas.microsoft.com/office/drawing/2014/main" id="{10BF486D-CCB7-8EC6-470C-EA882B89737A}"/>
                </a:ext>
              </a:extLst>
            </p:cNvPr>
            <p:cNvCxnSpPr/>
            <p:nvPr/>
          </p:nvCxnSpPr>
          <p:spPr>
            <a:xfrm rot="10800000" flipH="1">
              <a:off x="8785000" y="2038325"/>
              <a:ext cx="309300" cy="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0" name="Google Shape;480;p82">
            <a:extLst>
              <a:ext uri="{FF2B5EF4-FFF2-40B4-BE49-F238E27FC236}">
                <a16:creationId xmlns:a16="http://schemas.microsoft.com/office/drawing/2014/main" id="{BD4E1A27-066E-AB4B-6965-919DAC7EA9FD}"/>
              </a:ext>
            </a:extLst>
          </p:cNvPr>
          <p:cNvSpPr txBox="1"/>
          <p:nvPr/>
        </p:nvSpPr>
        <p:spPr>
          <a:xfrm>
            <a:off x="7650363" y="12351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Pathogen ID</a:t>
            </a:r>
            <a:endParaRPr/>
          </a:p>
        </p:txBody>
      </p:sp>
      <p:sp>
        <p:nvSpPr>
          <p:cNvPr id="481" name="Google Shape;481;p82">
            <a:extLst>
              <a:ext uri="{FF2B5EF4-FFF2-40B4-BE49-F238E27FC236}">
                <a16:creationId xmlns:a16="http://schemas.microsoft.com/office/drawing/2014/main" id="{FC8E6FCC-AD5A-2795-C6F6-0971D32E75DA}"/>
              </a:ext>
            </a:extLst>
          </p:cNvPr>
          <p:cNvSpPr txBox="1"/>
          <p:nvPr/>
        </p:nvSpPr>
        <p:spPr>
          <a:xfrm>
            <a:off x="3157475" y="1524275"/>
            <a:ext cx="871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(1-2 days)</a:t>
            </a:r>
            <a:endParaRPr sz="1100"/>
          </a:p>
        </p:txBody>
      </p:sp>
      <p:sp>
        <p:nvSpPr>
          <p:cNvPr id="482" name="Google Shape;482;p82">
            <a:extLst>
              <a:ext uri="{FF2B5EF4-FFF2-40B4-BE49-F238E27FC236}">
                <a16:creationId xmlns:a16="http://schemas.microsoft.com/office/drawing/2014/main" id="{CDD7B565-4DC1-9617-F706-12301F73BC34}"/>
              </a:ext>
            </a:extLst>
          </p:cNvPr>
          <p:cNvSpPr txBox="1"/>
          <p:nvPr/>
        </p:nvSpPr>
        <p:spPr>
          <a:xfrm>
            <a:off x="1612775" y="1600475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(1-2 hrs)</a:t>
            </a:r>
            <a:endParaRPr sz="1100"/>
          </a:p>
        </p:txBody>
      </p:sp>
      <p:sp>
        <p:nvSpPr>
          <p:cNvPr id="483" name="Google Shape;483;p82">
            <a:extLst>
              <a:ext uri="{FF2B5EF4-FFF2-40B4-BE49-F238E27FC236}">
                <a16:creationId xmlns:a16="http://schemas.microsoft.com/office/drawing/2014/main" id="{48982E43-9A3A-D083-BAE4-0B2C930D6090}"/>
              </a:ext>
            </a:extLst>
          </p:cNvPr>
          <p:cNvSpPr txBox="1"/>
          <p:nvPr/>
        </p:nvSpPr>
        <p:spPr>
          <a:xfrm>
            <a:off x="4687463" y="1524275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(0.5-3 days)</a:t>
            </a:r>
            <a:endParaRPr sz="1100"/>
          </a:p>
        </p:txBody>
      </p:sp>
      <p:sp>
        <p:nvSpPr>
          <p:cNvPr id="484" name="Google Shape;484;p82">
            <a:extLst>
              <a:ext uri="{FF2B5EF4-FFF2-40B4-BE49-F238E27FC236}">
                <a16:creationId xmlns:a16="http://schemas.microsoft.com/office/drawing/2014/main" id="{1A68C096-1795-C6DC-74FF-DD5162C49806}"/>
              </a:ext>
            </a:extLst>
          </p:cNvPr>
          <p:cNvSpPr txBox="1"/>
          <p:nvPr/>
        </p:nvSpPr>
        <p:spPr>
          <a:xfrm>
            <a:off x="6292363" y="1524275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(0.5-4 hrs)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887928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0"/>
          <p:cNvSpPr txBox="1"/>
          <p:nvPr/>
        </p:nvSpPr>
        <p:spPr>
          <a:xfrm>
            <a:off x="0" y="1922550"/>
            <a:ext cx="87477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D9D9D9"/>
                </a:solidFill>
              </a:rPr>
              <a:t>Next: 02_mNGS study design</a:t>
            </a:r>
            <a:endParaRPr sz="4000" b="1" dirty="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Z Biohub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1678</Words>
  <Application>Microsoft Macintosh PowerPoint</Application>
  <PresentationFormat>On-screen Show (16:9)</PresentationFormat>
  <Paragraphs>442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8" baseType="lpstr">
      <vt:lpstr>Arial</vt:lpstr>
      <vt:lpstr>Roboto</vt:lpstr>
      <vt:lpstr>Calibri</vt:lpstr>
      <vt:lpstr>Aptos</vt:lpstr>
      <vt:lpstr>Raleway</vt:lpstr>
      <vt:lpstr>Hanken Grotesk</vt:lpstr>
      <vt:lpstr>Lato</vt:lpstr>
      <vt:lpstr>Gill Sans</vt:lpstr>
      <vt:lpstr>STIX Two Text</vt:lpstr>
      <vt:lpstr>Helvetica Neue Light</vt:lpstr>
      <vt:lpstr>Oxygen</vt:lpstr>
      <vt:lpstr>Helvetica Neue</vt:lpstr>
      <vt:lpstr>Simple Light</vt:lpstr>
      <vt:lpstr>CZ Biohub</vt:lpstr>
      <vt:lpstr>Simple Light</vt:lpstr>
      <vt:lpstr>mNGS  metagenomic Next-Generation Sequencing </vt:lpstr>
      <vt:lpstr>Key points to learn in this session</vt:lpstr>
      <vt:lpstr>PowerPoint Presentation</vt:lpstr>
      <vt:lpstr>PowerPoint Presentation</vt:lpstr>
      <vt:lpstr>PowerPoint Presentation</vt:lpstr>
      <vt:lpstr>PowerPoint Presentation</vt:lpstr>
      <vt:lpstr>Organisms vary widely in their genetic makeup</vt:lpstr>
      <vt:lpstr>Sample type landscape</vt:lpstr>
      <vt:lpstr>Different sample types have different microbial nucleic acid content!</vt:lpstr>
      <vt:lpstr>Use cases for mNGS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mNGS pipeline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Juliana Gil</cp:lastModifiedBy>
  <cp:revision>9</cp:revision>
  <dcterms:modified xsi:type="dcterms:W3CDTF">2026-10-08T23:34:41Z</dcterms:modified>
</cp:coreProperties>
</file>