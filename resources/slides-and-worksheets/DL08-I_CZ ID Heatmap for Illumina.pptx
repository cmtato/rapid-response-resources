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31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Poppins" pitchFamily="2" charset="77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TSoItyjCEcJhyXym/FDJopg7U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575"/>
  </p:normalViewPr>
  <p:slideViewPr>
    <p:cSldViewPr snapToGrid="0">
      <p:cViewPr varScale="1">
        <p:scale>
          <a:sx n="143" d="100"/>
          <a:sy n="143" d="100"/>
        </p:scale>
        <p:origin x="856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Slides updated 07/02/2024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Rows = taxa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Columns = samples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When you first open the heatmap, the samples and taxa are not organized randomly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Example - contaminants are more likely to cluster together bc they all are introduced together/similar source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What are some reasons these samples clustering together? (biological or batch or…)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Teal - other cats, different symptoms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Pink -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Heatmap recalculates every time you change settings! -&gt; If you like your heatmap, save it before changing settings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Even if your taxa of interest is filtered out for some reason, you can manually add it back in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bdc0006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0bdc0006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 on the cell to take you to the sample report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 sample name to open sample details panel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statisticshowto.com/hierarchical-clustering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statisticshowto.com/hierarchical-clustering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zid.org/tj8mo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zid.org/pathogen_list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7" name="Google Shape;57;p1"/>
          <p:cNvSpPr txBox="1"/>
          <p:nvPr/>
        </p:nvSpPr>
        <p:spPr>
          <a:xfrm>
            <a:off x="476255" y="25236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Heatmaps</a:t>
            </a: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9349C5-A6A6-FE68-513B-42D0FB818CE4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>
            <a:spLocks noGrp="1"/>
          </p:cNvSpPr>
          <p:nvPr>
            <p:ph type="title"/>
          </p:nvPr>
        </p:nvSpPr>
        <p:spPr>
          <a:xfrm>
            <a:off x="268400" y="13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7777"/>
              <a:buNone/>
            </a:pPr>
            <a:r>
              <a:rPr lang="en" sz="1750"/>
              <a:t>Heatmap: </a:t>
            </a:r>
            <a:r>
              <a:rPr lang="en" sz="1800">
                <a:solidFill>
                  <a:schemeClr val="dk2"/>
                </a:solidFill>
              </a:rPr>
              <a:t>Enables you to visually compare detected taxa across samples and quickly spot microbes of interest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66" name="Google Shape;66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67" name="Google Shape;6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850" y="926700"/>
            <a:ext cx="8583951" cy="41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title"/>
          </p:nvPr>
        </p:nvSpPr>
        <p:spPr>
          <a:xfrm>
            <a:off x="311700" y="1500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Heatmap Layout</a:t>
            </a:r>
            <a:endParaRPr/>
          </a:p>
        </p:txBody>
      </p:sp>
      <p:pic>
        <p:nvPicPr>
          <p:cNvPr id="73" name="Google Shape;73;p3"/>
          <p:cNvPicPr preferRelativeResize="0"/>
          <p:nvPr/>
        </p:nvPicPr>
        <p:blipFill rotWithShape="1">
          <a:blip r:embed="rId3">
            <a:alphaModFix/>
          </a:blip>
          <a:srcRect l="11751" r="20594"/>
          <a:stretch/>
        </p:blipFill>
        <p:spPr>
          <a:xfrm>
            <a:off x="1456400" y="993175"/>
            <a:ext cx="5807201" cy="41159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 txBox="1"/>
          <p:nvPr/>
        </p:nvSpPr>
        <p:spPr>
          <a:xfrm>
            <a:off x="626800" y="2892525"/>
            <a:ext cx="7467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Taxa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4221725" y="841875"/>
            <a:ext cx="1207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Samples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6026525" y="291300"/>
            <a:ext cx="14742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Scale 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(default: NT rPM)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 rot="5520422">
            <a:off x="6643701" y="808765"/>
            <a:ext cx="239847" cy="18220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>
            <a:spLocks noGrp="1"/>
          </p:cNvSpPr>
          <p:nvPr>
            <p:ph type="title"/>
          </p:nvPr>
        </p:nvSpPr>
        <p:spPr>
          <a:xfrm>
            <a:off x="256400" y="113200"/>
            <a:ext cx="8648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Taxa and samples are organized through hierarchical clustering</a:t>
            </a:r>
            <a:endParaRPr sz="2320"/>
          </a:p>
        </p:txBody>
      </p:sp>
      <p:pic>
        <p:nvPicPr>
          <p:cNvPr id="83" name="Google Shape;83;p4"/>
          <p:cNvPicPr preferRelativeResize="0"/>
          <p:nvPr/>
        </p:nvPicPr>
        <p:blipFill rotWithShape="1">
          <a:blip r:embed="rId3">
            <a:alphaModFix/>
          </a:blip>
          <a:srcRect l="11751" r="20594"/>
          <a:stretch/>
        </p:blipFill>
        <p:spPr>
          <a:xfrm>
            <a:off x="1465600" y="799600"/>
            <a:ext cx="5807201" cy="41159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6987050" y="1981825"/>
            <a:ext cx="285900" cy="2719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 rot="5400000">
            <a:off x="4502875" y="2567275"/>
            <a:ext cx="285900" cy="4553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378175" y="2046350"/>
            <a:ext cx="4553400" cy="2654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  <a:reflection stA="14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311700" y="150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Clusters are represented using a dendogram</a:t>
            </a:r>
            <a:endParaRPr/>
          </a:p>
        </p:txBody>
      </p:sp>
      <p:sp>
        <p:nvSpPr>
          <p:cNvPr id="92" name="Google Shape;92;p5"/>
          <p:cNvSpPr txBox="1"/>
          <p:nvPr/>
        </p:nvSpPr>
        <p:spPr>
          <a:xfrm>
            <a:off x="1938025" y="1563250"/>
            <a:ext cx="374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925" y="839625"/>
            <a:ext cx="6283400" cy="329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/>
          <p:nvPr/>
        </p:nvSpPr>
        <p:spPr>
          <a:xfrm>
            <a:off x="6201525" y="3869525"/>
            <a:ext cx="374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5017375" y="3853550"/>
            <a:ext cx="374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1721900" y="3057150"/>
            <a:ext cx="374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4981775" y="4342975"/>
            <a:ext cx="2678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Dendogram</a:t>
            </a: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Tree representation of the data (clusters = clades)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1938025" y="1126350"/>
            <a:ext cx="374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7433725" y="3793950"/>
            <a:ext cx="1493400" cy="2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Image source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1211725" y="4378675"/>
            <a:ext cx="30009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Clusters</a:t>
            </a:r>
            <a:r>
              <a:rPr lang="en" sz="12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Groups that include similar samples based on co-occurring taxa and their relative abundance 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>
            <a:spLocks noGrp="1"/>
          </p:cNvSpPr>
          <p:nvPr>
            <p:ph type="title"/>
          </p:nvPr>
        </p:nvSpPr>
        <p:spPr>
          <a:xfrm>
            <a:off x="311700" y="150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Clusters are represented using a dendogram</a:t>
            </a:r>
            <a:endParaRPr/>
          </a:p>
        </p:txBody>
      </p:sp>
      <p:sp>
        <p:nvSpPr>
          <p:cNvPr id="106" name="Google Shape;106;p6"/>
          <p:cNvSpPr txBox="1"/>
          <p:nvPr/>
        </p:nvSpPr>
        <p:spPr>
          <a:xfrm>
            <a:off x="1938025" y="1563250"/>
            <a:ext cx="374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925" y="839625"/>
            <a:ext cx="6283400" cy="329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 txBox="1"/>
          <p:nvPr/>
        </p:nvSpPr>
        <p:spPr>
          <a:xfrm>
            <a:off x="6201525" y="3640925"/>
            <a:ext cx="374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5093575" y="3701150"/>
            <a:ext cx="374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1721900" y="2980950"/>
            <a:ext cx="3747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4981775" y="4342975"/>
            <a:ext cx="2678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Dendogram</a:t>
            </a: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Tree representation of the data (clusters = clades)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1938025" y="1126350"/>
            <a:ext cx="374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7433725" y="3793950"/>
            <a:ext cx="1493400" cy="2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Image source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479825" y="2038400"/>
            <a:ext cx="1244400" cy="22320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1220950" y="4378675"/>
            <a:ext cx="28809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Clusters</a:t>
            </a:r>
            <a:r>
              <a:rPr lang="en" sz="12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Groups that include similar samples based on co-occurring taxa </a:t>
            </a:r>
            <a:r>
              <a:rPr lang="en" sz="12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and their relative abundance 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256400" y="-39200"/>
            <a:ext cx="8648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Taxa and samples are organized through hierarchical clustering</a:t>
            </a:r>
            <a:endParaRPr sz="2320"/>
          </a:p>
        </p:txBody>
      </p:sp>
      <p:pic>
        <p:nvPicPr>
          <p:cNvPr id="121" name="Google Shape;121;p7"/>
          <p:cNvPicPr preferRelativeResize="0"/>
          <p:nvPr/>
        </p:nvPicPr>
        <p:blipFill rotWithShape="1">
          <a:blip r:embed="rId3">
            <a:alphaModFix/>
          </a:blip>
          <a:srcRect l="11751" r="20594"/>
          <a:stretch/>
        </p:blipFill>
        <p:spPr>
          <a:xfrm>
            <a:off x="1161400" y="474525"/>
            <a:ext cx="5807201" cy="411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/>
          <p:nvPr/>
        </p:nvSpPr>
        <p:spPr>
          <a:xfrm>
            <a:off x="6682850" y="1656750"/>
            <a:ext cx="285900" cy="2719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 rot="5400000">
            <a:off x="4198675" y="2242200"/>
            <a:ext cx="285900" cy="4553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2073975" y="1721275"/>
            <a:ext cx="4553400" cy="2654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  <a:reflection stA="14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7116200" y="2286000"/>
            <a:ext cx="1788300" cy="9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Taxa</a:t>
            </a:r>
            <a:r>
              <a:rPr lang="en" sz="11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that are in a clade (or cluster) are more likely to appear together across samples.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2403450" y="4710275"/>
            <a:ext cx="43371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Samples </a:t>
            </a:r>
            <a:r>
              <a:rPr lang="en" sz="11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that are clustered together have similar taxa.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>
            <a:spLocks noGrp="1"/>
          </p:cNvSpPr>
          <p:nvPr>
            <p:ph type="title"/>
          </p:nvPr>
        </p:nvSpPr>
        <p:spPr>
          <a:xfrm>
            <a:off x="274825" y="233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Identify clusters of interest</a:t>
            </a:r>
            <a:endParaRPr/>
          </a:p>
        </p:txBody>
      </p:sp>
      <p:pic>
        <p:nvPicPr>
          <p:cNvPr id="132" name="Google Shape;13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950" y="1059525"/>
            <a:ext cx="5982689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8"/>
          <p:cNvSpPr/>
          <p:nvPr/>
        </p:nvSpPr>
        <p:spPr>
          <a:xfrm>
            <a:off x="3998050" y="4560325"/>
            <a:ext cx="122400" cy="113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3806925" y="4594725"/>
            <a:ext cx="20556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Clade of interest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311700" y="150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You can override </a:t>
            </a:r>
            <a:r>
              <a:rPr lang="en" b="1"/>
              <a:t>sample</a:t>
            </a:r>
            <a:r>
              <a:rPr lang="en"/>
              <a:t> clustering to organize heatmap</a:t>
            </a:r>
            <a:endParaRPr/>
          </a:p>
        </p:txBody>
      </p:sp>
      <p:sp>
        <p:nvSpPr>
          <p:cNvPr id="140" name="Google Shape;140;p9"/>
          <p:cNvSpPr txBox="1"/>
          <p:nvPr/>
        </p:nvSpPr>
        <p:spPr>
          <a:xfrm>
            <a:off x="377925" y="1548575"/>
            <a:ext cx="17052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Pin samples</a:t>
            </a: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to keep samples of interest on the left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 metadata and sort</a:t>
            </a: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samples to identify patterns or microbes of interest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0975" y="1157000"/>
            <a:ext cx="6976148" cy="2585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9"/>
          <p:cNvSpPr txBox="1"/>
          <p:nvPr/>
        </p:nvSpPr>
        <p:spPr>
          <a:xfrm>
            <a:off x="2820625" y="3742400"/>
            <a:ext cx="2617800" cy="10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Metadata legend: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Orange - water control</a:t>
            </a:r>
            <a:endParaRPr sz="1200" b="0" i="0" u="none" strike="noStrike" cap="non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C667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rgbClr val="55C667"/>
                </a:solidFill>
                <a:latin typeface="Arial"/>
                <a:ea typeface="Arial"/>
                <a:cs typeface="Arial"/>
                <a:sym typeface="Arial"/>
              </a:rPr>
              <a:t>Green - healthy cats</a:t>
            </a:r>
            <a:endParaRPr sz="1200" b="0" i="0" u="none" strike="noStrike" cap="none">
              <a:solidFill>
                <a:srgbClr val="55C66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2778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rgbClr val="472778"/>
                </a:solidFill>
                <a:latin typeface="Arial"/>
                <a:ea typeface="Arial"/>
                <a:cs typeface="Arial"/>
                <a:sym typeface="Arial"/>
              </a:rPr>
              <a:t>Blue - diseased cats</a:t>
            </a:r>
            <a:endParaRPr sz="1200" b="0" i="0" u="none" strike="noStrike" cap="none">
              <a:solidFill>
                <a:srgbClr val="47277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7023925" y="4415300"/>
            <a:ext cx="1808400" cy="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Feline gingivostomatitis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>
            <a:spLocks noGrp="1"/>
          </p:cNvSpPr>
          <p:nvPr>
            <p:ph type="title"/>
          </p:nvPr>
        </p:nvSpPr>
        <p:spPr>
          <a:xfrm>
            <a:off x="385425" y="113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You can override clustering of </a:t>
            </a:r>
            <a:r>
              <a:rPr lang="en" b="1"/>
              <a:t>taxa</a:t>
            </a:r>
            <a:r>
              <a:rPr lang="en"/>
              <a:t> to organize heatmap </a:t>
            </a:r>
            <a:endParaRPr/>
          </a:p>
        </p:txBody>
      </p:sp>
      <p:pic>
        <p:nvPicPr>
          <p:cNvPr id="149" name="Google Shape;14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6750" y="976575"/>
            <a:ext cx="6424812" cy="396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0"/>
          <p:cNvSpPr/>
          <p:nvPr/>
        </p:nvSpPr>
        <p:spPr>
          <a:xfrm>
            <a:off x="1986750" y="3465875"/>
            <a:ext cx="534600" cy="267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285775" y="1594675"/>
            <a:ext cx="1327500" cy="6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Sorting taxa by genus may help when evaluating contaminants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>
            <a:spLocks noGrp="1"/>
          </p:cNvSpPr>
          <p:nvPr>
            <p:ph type="title"/>
          </p:nvPr>
        </p:nvSpPr>
        <p:spPr>
          <a:xfrm>
            <a:off x="182650" y="57875"/>
            <a:ext cx="888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Use “Filters” and “View Options” to explore and reduce noise</a:t>
            </a:r>
            <a:endParaRPr/>
          </a:p>
        </p:txBody>
      </p:sp>
      <p:pic>
        <p:nvPicPr>
          <p:cNvPr id="157" name="Google Shape;157;p11"/>
          <p:cNvPicPr preferRelativeResize="0"/>
          <p:nvPr/>
        </p:nvPicPr>
        <p:blipFill rotWithShape="1">
          <a:blip r:embed="rId3">
            <a:alphaModFix/>
          </a:blip>
          <a:srcRect r="87958"/>
          <a:stretch/>
        </p:blipFill>
        <p:spPr>
          <a:xfrm>
            <a:off x="182650" y="865950"/>
            <a:ext cx="1064351" cy="390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1"/>
          <p:cNvSpPr txBox="1"/>
          <p:nvPr/>
        </p:nvSpPr>
        <p:spPr>
          <a:xfrm>
            <a:off x="1613150" y="690825"/>
            <a:ext cx="6903900" cy="43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Filters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You can filter by organism category and specific metric thresholds similar to what you use in the Sample Report. 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Search and select the appropriate background to view correct Z-scores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Taxa per Sample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 this to increase or reduce the number of top taxa per sample used to create the heatmap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Read Specificity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 “Specific only” to see calls at the species level only. Use “All” to see both species calls and unclassified taxa that don’t have complete taxon lineages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Pathogen Tag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Select to only view known pathogens (based on </a:t>
            </a:r>
            <a:r>
              <a:rPr lang="en" sz="1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CZ ID’s Pathogen List</a:t>
            </a: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Level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 to change the taxonomic resolution (species or genus level). Viewing the heatmap at the genus level helps to explore patterns at a broad level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 to change the metric used to create the heatmap (NT rPM by default)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Sort Samples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You can choose to sort samples alphabetically (this would override sample clustering)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You can choose between a logarithmic (Log, default) or linear (Lin) scale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>
            <a:spLocks noGrp="1"/>
          </p:cNvSpPr>
          <p:nvPr>
            <p:ph type="title"/>
          </p:nvPr>
        </p:nvSpPr>
        <p:spPr>
          <a:xfrm>
            <a:off x="311700" y="150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Use “Add Taxon” to view low abundance taxa of interest</a:t>
            </a:r>
            <a:endParaRPr/>
          </a:p>
        </p:txBody>
      </p:sp>
      <p:pic>
        <p:nvPicPr>
          <p:cNvPr id="164" name="Google Shape;16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75150"/>
            <a:ext cx="8839204" cy="3905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bdc000600_0_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Hover over a cell to see additional metrics</a:t>
            </a:r>
            <a:endParaRPr/>
          </a:p>
        </p:txBody>
      </p:sp>
      <p:pic>
        <p:nvPicPr>
          <p:cNvPr id="170" name="Google Shape;170;g30bdc000600_0_0"/>
          <p:cNvPicPr preferRelativeResize="0"/>
          <p:nvPr/>
        </p:nvPicPr>
        <p:blipFill rotWithShape="1">
          <a:blip r:embed="rId3">
            <a:alphaModFix/>
          </a:blip>
          <a:srcRect l="14387" t="14024" r="3165" b="28989"/>
          <a:stretch/>
        </p:blipFill>
        <p:spPr>
          <a:xfrm>
            <a:off x="445750" y="1217300"/>
            <a:ext cx="7881800" cy="281177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0bdc000600_0_0"/>
          <p:cNvSpPr/>
          <p:nvPr/>
        </p:nvSpPr>
        <p:spPr>
          <a:xfrm>
            <a:off x="5100633" y="3574728"/>
            <a:ext cx="1217400" cy="120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Let’s make a heatmap!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AB24AD-0DA9-0AE4-734E-CC52DCC5E762}"/>
              </a:ext>
            </a:extLst>
          </p:cNvPr>
          <p:cNvSpPr txBox="1"/>
          <p:nvPr/>
        </p:nvSpPr>
        <p:spPr>
          <a:xfrm>
            <a:off x="81027" y="3343836"/>
            <a:ext cx="898194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Current Activity</a:t>
            </a:r>
            <a:r>
              <a:rPr lang="en-US" sz="1800" dirty="0"/>
              <a:t>: CZ ID Training Reference Tables &amp; </a:t>
            </a:r>
            <a:r>
              <a:rPr lang="en-US" sz="1800" dirty="0" err="1"/>
              <a:t>Worksheets_Illumina</a:t>
            </a:r>
            <a:r>
              <a:rPr lang="en-US" sz="1800" dirty="0"/>
              <a:t> (</a:t>
            </a:r>
            <a:r>
              <a:rPr lang="en-US" sz="1800" dirty="0" err="1"/>
              <a:t>pg</a:t>
            </a:r>
            <a:r>
              <a:rPr lang="en-US" sz="1800" dirty="0"/>
              <a:t> 14-15)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b="1" dirty="0"/>
              <a:t>Next Slides (Optional Module)</a:t>
            </a:r>
            <a:r>
              <a:rPr lang="en-US" dirty="0"/>
              <a:t>: DL9-I_CZ ID AMR Module</a:t>
            </a:r>
          </a:p>
          <a:p>
            <a:r>
              <a:rPr lang="en-US" b="1" dirty="0"/>
              <a:t>Next Slides (Optional Module)</a:t>
            </a:r>
            <a:r>
              <a:rPr lang="en-US" dirty="0"/>
              <a:t>: DL10-I_Building Viral Consensus Genomes</a:t>
            </a:r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688</Words>
  <Application>Microsoft Macintosh PowerPoint</Application>
  <PresentationFormat>On-screen Show (16:9)</PresentationFormat>
  <Paragraphs>89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Open Sans</vt:lpstr>
      <vt:lpstr>Poppins</vt:lpstr>
      <vt:lpstr>Helvetica Neue Light</vt:lpstr>
      <vt:lpstr>Arial</vt:lpstr>
      <vt:lpstr>Simple Light</vt:lpstr>
      <vt:lpstr>Disclaimer</vt:lpstr>
      <vt:lpstr>PowerPoint Presentation</vt:lpstr>
      <vt:lpstr>Heatmap: Enables you to visually compare detected taxa across samples and quickly spot microbes of interest </vt:lpstr>
      <vt:lpstr>Heatmap Layout</vt:lpstr>
      <vt:lpstr>Taxa and samples are organized through hierarchical clustering</vt:lpstr>
      <vt:lpstr>Clusters are represented using a dendogram</vt:lpstr>
      <vt:lpstr>Clusters are represented using a dendogram</vt:lpstr>
      <vt:lpstr>Taxa and samples are organized through hierarchical clustering</vt:lpstr>
      <vt:lpstr>Identify clusters of interest</vt:lpstr>
      <vt:lpstr>You can override sample clustering to organize heatmap</vt:lpstr>
      <vt:lpstr>You can override clustering of taxa to organize heatmap </vt:lpstr>
      <vt:lpstr>Use “Filters” and “View Options” to explore and reduce noise</vt:lpstr>
      <vt:lpstr>Use “Add Taxon” to view low abundance taxa of interest</vt:lpstr>
      <vt:lpstr>Hover over a cell to see additional metrics</vt:lpstr>
      <vt:lpstr>Let’s make a heatmap!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3</cp:revision>
  <dcterms:modified xsi:type="dcterms:W3CDTF">2026-09-29T00:28:05Z</dcterms:modified>
</cp:coreProperties>
</file>