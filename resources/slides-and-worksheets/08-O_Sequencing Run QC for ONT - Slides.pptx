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81" r:id="rId7"/>
    <p:sldId id="261" r:id="rId8"/>
    <p:sldId id="262" r:id="rId9"/>
    <p:sldId id="263" r:id="rId10"/>
    <p:sldId id="264" r:id="rId11"/>
    <p:sldId id="265" r:id="rId12"/>
    <p:sldId id="282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jyESrxOqeYYEc/hFXpli7xxdMh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3970B5-2C4D-42F3-8598-81526F10E346}">
  <a:tblStyle styleId="{A73970B5-2C4D-42F3-8598-81526F10E3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75"/>
  </p:normalViewPr>
  <p:slideViewPr>
    <p:cSldViewPr snapToGrid="0">
      <p:cViewPr varScale="1">
        <p:scale>
          <a:sx n="153" d="100"/>
          <a:sy n="153" d="100"/>
        </p:scale>
        <p:origin x="34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6b16d406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g36b16d406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16d4063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6b16d4063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116c115b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116c115b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116c115bc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116c115bc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16c115bc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116c115bc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9CF9D17-C1B5-FD78-E7D1-29F583F5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16c115bc_1_19:notes">
            <a:extLst>
              <a:ext uri="{FF2B5EF4-FFF2-40B4-BE49-F238E27FC236}">
                <a16:creationId xmlns:a16="http://schemas.microsoft.com/office/drawing/2014/main" id="{A6EAF87C-420B-1402-AA74-6657180A1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116c115bc_1_19:notes">
            <a:extLst>
              <a:ext uri="{FF2B5EF4-FFF2-40B4-BE49-F238E27FC236}">
                <a16:creationId xmlns:a16="http://schemas.microsoft.com/office/drawing/2014/main" id="{74B50CBD-423A-DEDA-2719-940E75FFF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44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116c115bc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116c115bc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116c115bc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116c115bc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116c115bc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116c115bc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116c115bc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116c115bc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116c115bc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116c115bc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1AFCDFCE-5A2B-A2A6-3C92-0A9FF8E9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116c115bc_1_54:notes">
            <a:extLst>
              <a:ext uri="{FF2B5EF4-FFF2-40B4-BE49-F238E27FC236}">
                <a16:creationId xmlns:a16="http://schemas.microsoft.com/office/drawing/2014/main" id="{D7B779BC-AFF1-1D18-254A-9590FCB61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116c115bc_1_54:notes">
            <a:extLst>
              <a:ext uri="{FF2B5EF4-FFF2-40B4-BE49-F238E27FC236}">
                <a16:creationId xmlns:a16="http://schemas.microsoft.com/office/drawing/2014/main" id="{34646269-0FEA-37EE-CC30-5D4F2AB939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815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116c115bc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116c115bc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definition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116c115bc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116c115bc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116c115bc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7116c115bc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116c115bc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116c115bc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116c115bc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7116c115bc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116c115bc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7116c115bc_1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116c115bc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7116c115bc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116c115bc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7116c115bc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116c115bc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7116c115bc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116c115bc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37116c115bc_1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body" idx="1"/>
          </p:nvPr>
        </p:nvSpPr>
        <p:spPr>
          <a:xfrm>
            <a:off x="1812726" y="3355330"/>
            <a:ext cx="5518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2"/>
          </p:nvPr>
        </p:nvSpPr>
        <p:spPr>
          <a:xfrm>
            <a:off x="1812726" y="2249091"/>
            <a:ext cx="5518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unity.nanoporetech.com/docs/prepare/library_prep_protocols/experiment-companion-minknow/v/mke_1013_v1_revde_11apr2016/progression-of-minknow-pro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b16d4063d_0_0"/>
          <p:cNvSpPr txBox="1">
            <a:spLocks noGrp="1"/>
          </p:cNvSpPr>
          <p:nvPr>
            <p:ph type="ctrTitle"/>
          </p:nvPr>
        </p:nvSpPr>
        <p:spPr>
          <a:xfrm>
            <a:off x="311692" y="226415"/>
            <a:ext cx="8520600" cy="178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 sz="4877" b="1">
                <a:solidFill>
                  <a:schemeClr val="dk2"/>
                </a:solidFill>
              </a:rPr>
              <a:t>Sequencing run QC</a:t>
            </a:r>
            <a:endParaRPr sz="4877" b="1">
              <a:solidFill>
                <a:schemeClr val="dk2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 sz="4877" b="1">
                <a:solidFill>
                  <a:schemeClr val="dk2"/>
                </a:solidFill>
              </a:rPr>
              <a:t>for ONT</a:t>
            </a:r>
            <a:endParaRPr sz="4000" b="1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746303-D2D3-7FAA-ACA8-B066BBCB7733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Revised Sept 2026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oogle Shape;100;g37116c115bc_1_25">
            <a:extLst>
              <a:ext uri="{FF2B5EF4-FFF2-40B4-BE49-F238E27FC236}">
                <a16:creationId xmlns:a16="http://schemas.microsoft.com/office/drawing/2014/main" id="{0A2607D7-A43A-78C0-31E6-E4DC4E32399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rcRect t="30395"/>
          <a:stretch>
            <a:fillRect/>
          </a:stretch>
        </p:blipFill>
        <p:spPr>
          <a:xfrm>
            <a:off x="706229" y="2011680"/>
            <a:ext cx="3489278" cy="186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70;g37116c115bc_1_87">
            <a:extLst>
              <a:ext uri="{FF2B5EF4-FFF2-40B4-BE49-F238E27FC236}">
                <a16:creationId xmlns:a16="http://schemas.microsoft.com/office/drawing/2014/main" id="{51F32F37-6821-A0FD-2E84-33217EE2C4F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rcRect t="42035"/>
          <a:stretch>
            <a:fillRect/>
          </a:stretch>
        </p:blipFill>
        <p:spPr>
          <a:xfrm>
            <a:off x="4195507" y="2169355"/>
            <a:ext cx="4636785" cy="154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5;g37116c115bc_1_31">
            <a:extLst>
              <a:ext uri="{FF2B5EF4-FFF2-40B4-BE49-F238E27FC236}">
                <a16:creationId xmlns:a16="http://schemas.microsoft.com/office/drawing/2014/main" id="{0B006AFA-C373-F518-05A7-57EFE057B25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>
            <a:alphaModFix/>
          </a:blip>
          <a:srcRect t="33174"/>
          <a:stretch>
            <a:fillRect/>
          </a:stretch>
        </p:blipFill>
        <p:spPr>
          <a:xfrm>
            <a:off x="2450868" y="3904283"/>
            <a:ext cx="3775985" cy="1118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b16d4063d_0_6"/>
          <p:cNvSpPr txBox="1">
            <a:spLocks noGrp="1"/>
          </p:cNvSpPr>
          <p:nvPr>
            <p:ph type="title"/>
          </p:nvPr>
        </p:nvSpPr>
        <p:spPr>
          <a:xfrm>
            <a:off x="37971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covered in this section?</a:t>
            </a:r>
            <a:endParaRPr/>
          </a:p>
        </p:txBody>
      </p:sp>
      <p:sp>
        <p:nvSpPr>
          <p:cNvPr id="65" name="Google Shape;65;g36b16d4063d_0_6"/>
          <p:cNvSpPr txBox="1">
            <a:spLocks noGrp="1"/>
          </p:cNvSpPr>
          <p:nvPr>
            <p:ph type="body" idx="1"/>
          </p:nvPr>
        </p:nvSpPr>
        <p:spPr>
          <a:xfrm>
            <a:off x="379713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Run output files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Sequencing run report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Next steps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116c115bc_1_0"/>
          <p:cNvSpPr txBox="1">
            <a:spLocks noGrp="1"/>
          </p:cNvSpPr>
          <p:nvPr>
            <p:ph type="title"/>
          </p:nvPr>
        </p:nvSpPr>
        <p:spPr>
          <a:xfrm>
            <a:off x="455283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files generated from ONT run</a:t>
            </a:r>
            <a:endParaRPr/>
          </a:p>
        </p:txBody>
      </p:sp>
      <p:pic>
        <p:nvPicPr>
          <p:cNvPr id="71" name="Google Shape;71;g37116c115bc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08" y="1789318"/>
            <a:ext cx="4528999" cy="30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7116c115bc_1_0"/>
          <p:cNvSpPr txBox="1"/>
          <p:nvPr/>
        </p:nvSpPr>
        <p:spPr>
          <a:xfrm>
            <a:off x="5396933" y="3010056"/>
            <a:ext cx="2487000" cy="404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/>
                </a:solidFill>
              </a:rPr>
              <a:t>Raw sequencing files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73" name="Google Shape;73;g37116c115bc_1_0"/>
          <p:cNvSpPr txBox="1"/>
          <p:nvPr/>
        </p:nvSpPr>
        <p:spPr>
          <a:xfrm>
            <a:off x="5396933" y="2107131"/>
            <a:ext cx="2487000" cy="787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/>
                </a:solidFill>
              </a:rPr>
              <a:t>Basecalled fastq files</a:t>
            </a:r>
            <a:r>
              <a:rPr lang="en" sz="1800">
                <a:solidFill>
                  <a:schemeClr val="tx1"/>
                </a:solidFill>
              </a:rPr>
              <a:t> </a:t>
            </a:r>
            <a:endParaRPr sz="180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tx1"/>
                </a:solidFill>
              </a:rPr>
              <a:t>(fail = Q-score is below threshold set during sequencing run (9 by default))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74" name="Google Shape;74;g37116c115bc_1_0"/>
          <p:cNvSpPr txBox="1"/>
          <p:nvPr/>
        </p:nvSpPr>
        <p:spPr>
          <a:xfrm>
            <a:off x="5396933" y="3530181"/>
            <a:ext cx="2487000" cy="648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tx1"/>
                </a:solidFill>
              </a:rPr>
              <a:t>Summary report for doing QC</a:t>
            </a:r>
            <a:endParaRPr sz="800" b="1">
              <a:solidFill>
                <a:schemeClr val="tx1"/>
              </a:solidFill>
            </a:endParaRPr>
          </a:p>
        </p:txBody>
      </p:sp>
      <p:cxnSp>
        <p:nvCxnSpPr>
          <p:cNvPr id="75" name="Google Shape;75;g37116c115bc_1_0"/>
          <p:cNvCxnSpPr/>
          <p:nvPr/>
        </p:nvCxnSpPr>
        <p:spPr>
          <a:xfrm rot="10800000">
            <a:off x="1881533" y="2495781"/>
            <a:ext cx="35154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g37116c115bc_1_0"/>
          <p:cNvCxnSpPr>
            <a:stCxn id="72" idx="1"/>
          </p:cNvCxnSpPr>
          <p:nvPr/>
        </p:nvCxnSpPr>
        <p:spPr>
          <a:xfrm rot="10800000">
            <a:off x="1454633" y="3207456"/>
            <a:ext cx="39423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g37116c115bc_1_0"/>
          <p:cNvCxnSpPr>
            <a:stCxn id="74" idx="1"/>
          </p:cNvCxnSpPr>
          <p:nvPr/>
        </p:nvCxnSpPr>
        <p:spPr>
          <a:xfrm rot="10800000">
            <a:off x="4123733" y="3619581"/>
            <a:ext cx="1273200" cy="23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203075-7C45-43FC-D6D5-68729B9C9FEB}"/>
              </a:ext>
            </a:extLst>
          </p:cNvPr>
          <p:cNvSpPr txBox="1"/>
          <p:nvPr/>
        </p:nvSpPr>
        <p:spPr>
          <a:xfrm>
            <a:off x="455283" y="1481541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Run Folder: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116c115bc_1_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fastq file organization</a:t>
            </a:r>
            <a:endParaRPr/>
          </a:p>
        </p:txBody>
      </p:sp>
      <p:grpSp>
        <p:nvGrpSpPr>
          <p:cNvPr id="83" name="Google Shape;83;g37116c115bc_1_11"/>
          <p:cNvGrpSpPr/>
          <p:nvPr/>
        </p:nvGrpSpPr>
        <p:grpSpPr>
          <a:xfrm>
            <a:off x="1350800" y="2284425"/>
            <a:ext cx="7083899" cy="2676451"/>
            <a:chOff x="1350800" y="2284425"/>
            <a:chExt cx="7083899" cy="2676451"/>
          </a:xfrm>
        </p:grpSpPr>
        <p:pic>
          <p:nvPicPr>
            <p:cNvPr id="84" name="Google Shape;84;g37116c115bc_1_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50800" y="2284425"/>
              <a:ext cx="5710276" cy="2676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g37116c115bc_1_11"/>
            <p:cNvPicPr preferRelativeResize="0"/>
            <p:nvPr/>
          </p:nvPicPr>
          <p:blipFill rotWithShape="1">
            <a:blip r:embed="rId4">
              <a:alphaModFix/>
            </a:blip>
            <a:srcRect l="65752" t="8675" r="14150"/>
            <a:stretch/>
          </p:blipFill>
          <p:spPr>
            <a:xfrm>
              <a:off x="7061075" y="2284425"/>
              <a:ext cx="1373624" cy="2284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g37116c115bc_1_11"/>
          <p:cNvSpPr txBox="1">
            <a:spLocks noGrp="1"/>
          </p:cNvSpPr>
          <p:nvPr>
            <p:ph type="body" idx="1"/>
          </p:nvPr>
        </p:nvSpPr>
        <p:spPr>
          <a:xfrm>
            <a:off x="311700" y="1073098"/>
            <a:ext cx="8520600" cy="34957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Reads are automatically demultiplexed during basecalling</a:t>
            </a: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Fastq files are generated in real-time (every 10 minutes in this example), so many fastq files are generated for each barcode (sample)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116c115bc_1_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Sequencing run QC using the “report_***.html” file</a:t>
            </a:r>
            <a:endParaRPr/>
          </a:p>
        </p:txBody>
      </p:sp>
      <p:pic>
        <p:nvPicPr>
          <p:cNvPr id="4" name="Google Shape;71;g37116c115bc_1_0">
            <a:extLst>
              <a:ext uri="{FF2B5EF4-FFF2-40B4-BE49-F238E27FC236}">
                <a16:creationId xmlns:a16="http://schemas.microsoft.com/office/drawing/2014/main" id="{4315FD90-1AA9-8771-A7FB-94D19EEE38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08" y="1789318"/>
            <a:ext cx="4528999" cy="30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4;g37116c115bc_1_0">
            <a:extLst>
              <a:ext uri="{FF2B5EF4-FFF2-40B4-BE49-F238E27FC236}">
                <a16:creationId xmlns:a16="http://schemas.microsoft.com/office/drawing/2014/main" id="{955CAEDC-E8E8-C0EF-AEDF-DCE6E892938B}"/>
              </a:ext>
            </a:extLst>
          </p:cNvPr>
          <p:cNvSpPr txBox="1"/>
          <p:nvPr/>
        </p:nvSpPr>
        <p:spPr>
          <a:xfrm>
            <a:off x="5396932" y="3530181"/>
            <a:ext cx="3082049" cy="444814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tx1"/>
                </a:solidFill>
              </a:rPr>
              <a:t>Summary report for doing QC</a:t>
            </a:r>
            <a:endParaRPr sz="800" b="1">
              <a:solidFill>
                <a:schemeClr val="tx1"/>
              </a:solidFill>
            </a:endParaRPr>
          </a:p>
        </p:txBody>
      </p:sp>
      <p:cxnSp>
        <p:nvCxnSpPr>
          <p:cNvPr id="10" name="Google Shape;77;g37116c115bc_1_0">
            <a:extLst>
              <a:ext uri="{FF2B5EF4-FFF2-40B4-BE49-F238E27FC236}">
                <a16:creationId xmlns:a16="http://schemas.microsoft.com/office/drawing/2014/main" id="{6575E961-1394-81AB-0F7F-B4F0EBB8DAA7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123733" y="3619581"/>
            <a:ext cx="1273199" cy="133007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38B0A6-C1B0-CE97-0F66-CC15C089D9E9}"/>
              </a:ext>
            </a:extLst>
          </p:cNvPr>
          <p:cNvSpPr txBox="1"/>
          <p:nvPr/>
        </p:nvSpPr>
        <p:spPr>
          <a:xfrm>
            <a:off x="455283" y="1481541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Run Folder: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D4FD1409-0106-2E9F-E384-497CA59D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116c115bc_1_19">
            <a:extLst>
              <a:ext uri="{FF2B5EF4-FFF2-40B4-BE49-F238E27FC236}">
                <a16:creationId xmlns:a16="http://schemas.microsoft.com/office/drawing/2014/main" id="{5E99356A-15CD-6431-8A23-B4E27EA70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Amount of Data Generated</a:t>
            </a:r>
            <a:endParaRPr/>
          </a:p>
        </p:txBody>
      </p:sp>
      <p:sp>
        <p:nvSpPr>
          <p:cNvPr id="92" name="Google Shape;92;g37116c115bc_1_19">
            <a:extLst>
              <a:ext uri="{FF2B5EF4-FFF2-40B4-BE49-F238E27FC236}">
                <a16:creationId xmlns:a16="http://schemas.microsoft.com/office/drawing/2014/main" id="{350BBF13-DB6F-DF25-4BEB-5149F46E9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78625"/>
            <a:ext cx="8520600" cy="3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Check that the amount of data generated matches your expectation (this is a function of library loading concentration, run time, number of pores available for sequencing)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For a fresh flow cell with a run that’s 48+ hours, ONT claims ~20 Gbases of data will be generated, but in practice, this number is ~1-6 Gbases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If the flow-cell is being re-used and has &lt;800 pores left (like example below), data generated will be lower</a:t>
            </a:r>
            <a:endParaRPr sz="1600">
              <a:solidFill>
                <a:schemeClr val="tx1"/>
              </a:solidFill>
            </a:endParaRPr>
          </a:p>
        </p:txBody>
      </p:sp>
      <p:pic>
        <p:nvPicPr>
          <p:cNvPr id="93" name="Google Shape;93;g37116c115bc_1_19">
            <a:extLst>
              <a:ext uri="{FF2B5EF4-FFF2-40B4-BE49-F238E27FC236}">
                <a16:creationId xmlns:a16="http://schemas.microsoft.com/office/drawing/2014/main" id="{6CB6382D-82AC-C8BA-1EFA-3BD5AB9B47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850" y="3009750"/>
            <a:ext cx="5293302" cy="18376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9729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116c115bc_1_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length distribution</a:t>
            </a:r>
            <a:endParaRPr/>
          </a:p>
        </p:txBody>
      </p:sp>
      <p:sp>
        <p:nvSpPr>
          <p:cNvPr id="99" name="Google Shape;99;g37116c115bc_1_25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Check that the distribution of read lengths matches expectation (depends on quality of sample going in, whether fragmentation was performed, etc.)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Distribution should roughly match the library size seen in QSep/Tapestation/diagnostic PCR, although it’s common for read lengths to skew shorter </a:t>
            </a:r>
            <a:endParaRPr sz="1600">
              <a:solidFill>
                <a:schemeClr val="tx1"/>
              </a:solidFill>
            </a:endParaRPr>
          </a:p>
        </p:txBody>
      </p:sp>
      <p:pic>
        <p:nvPicPr>
          <p:cNvPr id="100" name="Google Shape;100;g37116c115bc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525" y="2399025"/>
            <a:ext cx="3582959" cy="274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7116c115bc_1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375" y="2105226"/>
            <a:ext cx="6617252" cy="2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7116c115bc_1_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output as a function of time </a:t>
            </a:r>
            <a:endParaRPr/>
          </a:p>
        </p:txBody>
      </p:sp>
      <p:sp>
        <p:nvSpPr>
          <p:cNvPr id="107" name="Google Shape;107;g37116c115bc_1_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Cumulative output should start out linear and then plateau off as pores get exhausted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&gt;80% of bases should pass the Q-score threshold (usually set to 9)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8" name="Google Shape;108;g37116c115bc_1_31"/>
          <p:cNvSpPr txBox="1"/>
          <p:nvPr/>
        </p:nvSpPr>
        <p:spPr>
          <a:xfrm>
            <a:off x="7880625" y="2969350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4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116c115bc_1_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output as a function of time </a:t>
            </a:r>
            <a:endParaRPr/>
          </a:p>
        </p:txBody>
      </p:sp>
      <p:sp>
        <p:nvSpPr>
          <p:cNvPr id="114" name="Google Shape;114;g37116c115bc_1_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Cumulative output should start out linear and then plateau off as pores get exhausted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&gt;80% of bases should pass the Q-score threshold (usually set to 9)</a:t>
            </a:r>
            <a:endParaRPr sz="1600">
              <a:solidFill>
                <a:schemeClr val="tx1"/>
              </a:solidFill>
            </a:endParaRPr>
          </a:p>
        </p:txBody>
      </p:sp>
      <p:pic>
        <p:nvPicPr>
          <p:cNvPr id="115" name="Google Shape;115;g37116c115bc_1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500" y="1878875"/>
            <a:ext cx="7136998" cy="31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116c115bc_1_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output as a function of time </a:t>
            </a:r>
            <a:endParaRPr/>
          </a:p>
        </p:txBody>
      </p:sp>
      <p:sp>
        <p:nvSpPr>
          <p:cNvPr id="121" name="Google Shape;121;g37116c115bc_1_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Cumulative output should start out linear and then plateau off as pores get exhausted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&gt;80% of bases should pass the Q-score threshold (usually set to 9)</a:t>
            </a:r>
            <a:endParaRPr sz="1600">
              <a:solidFill>
                <a:schemeClr val="tx1"/>
              </a:solidFill>
            </a:endParaRPr>
          </a:p>
        </p:txBody>
      </p:sp>
      <p:pic>
        <p:nvPicPr>
          <p:cNvPr id="122" name="Google Shape;122;g37116c115bc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500" y="1878875"/>
            <a:ext cx="7136998" cy="31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7116c115bc_1_44"/>
          <p:cNvSpPr txBox="1"/>
          <p:nvPr/>
        </p:nvSpPr>
        <p:spPr>
          <a:xfrm>
            <a:off x="8233188" y="2969575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✘</a:t>
            </a:r>
            <a:endParaRPr sz="3750">
              <a:solidFill>
                <a:srgbClr val="CC0000"/>
              </a:solidFill>
            </a:endParaRPr>
          </a:p>
        </p:txBody>
      </p:sp>
      <p:sp>
        <p:nvSpPr>
          <p:cNvPr id="124" name="Google Shape;124;g37116c115bc_1_44"/>
          <p:cNvSpPr/>
          <p:nvPr/>
        </p:nvSpPr>
        <p:spPr>
          <a:xfrm>
            <a:off x="1917913" y="4171025"/>
            <a:ext cx="239700" cy="409500"/>
          </a:xfrm>
          <a:prstGeom prst="ellipse">
            <a:avLst/>
          </a:prstGeom>
          <a:noFill/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5" name="Google Shape;125;g37116c115bc_1_44"/>
          <p:cNvCxnSpPr>
            <a:stCxn id="126" idx="1"/>
          </p:cNvCxnSpPr>
          <p:nvPr/>
        </p:nvCxnSpPr>
        <p:spPr>
          <a:xfrm flipH="1">
            <a:off x="2087863" y="3274375"/>
            <a:ext cx="400500" cy="8604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26;g37116c115bc_1_44"/>
          <p:cNvSpPr txBox="1"/>
          <p:nvPr/>
        </p:nvSpPr>
        <p:spPr>
          <a:xfrm>
            <a:off x="2488363" y="3114625"/>
            <a:ext cx="3945000" cy="319500"/>
          </a:xfrm>
          <a:prstGeom prst="rect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1C232"/>
                </a:solidFill>
              </a:rPr>
              <a:t>Sharp change suggests abrupt reduction in output</a:t>
            </a:r>
            <a:endParaRPr sz="1300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116c115bc_1_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reads/bases across barcodes</a:t>
            </a:r>
            <a:endParaRPr/>
          </a:p>
        </p:txBody>
      </p:sp>
      <p:pic>
        <p:nvPicPr>
          <p:cNvPr id="132" name="Google Shape;132;g37116c115bc_1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650" y="1410321"/>
            <a:ext cx="4988774" cy="298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7116c115bc_1_54"/>
          <p:cNvSpPr txBox="1">
            <a:spLocks noGrp="1"/>
          </p:cNvSpPr>
          <p:nvPr>
            <p:ph type="body" idx="1"/>
          </p:nvPr>
        </p:nvSpPr>
        <p:spPr>
          <a:xfrm>
            <a:off x="311700" y="996221"/>
            <a:ext cx="8520600" cy="19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Check that this matches expectation - we generally aim for even distribution across barcodes*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34" name="Google Shape;134;g37116c115bc_1_54"/>
          <p:cNvSpPr txBox="1"/>
          <p:nvPr/>
        </p:nvSpPr>
        <p:spPr>
          <a:xfrm>
            <a:off x="781625" y="4350646"/>
            <a:ext cx="8050800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tx1"/>
                </a:solidFill>
              </a:rPr>
              <a:t>*When setting up a run, there is the option (beta) to do barcode balancing by not sequencing overrepresented barcodes, but this hasn’t been tested by RR team</a:t>
            </a:r>
            <a:endParaRPr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A61F7A63-7449-9520-7135-D6872A6F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116c115bc_1_54">
            <a:extLst>
              <a:ext uri="{FF2B5EF4-FFF2-40B4-BE49-F238E27FC236}">
                <a16:creationId xmlns:a16="http://schemas.microsoft.com/office/drawing/2014/main" id="{045817FF-BC90-C5C3-5B64-25B1B3ACD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reads/bases across barcodes</a:t>
            </a:r>
            <a:endParaRPr/>
          </a:p>
        </p:txBody>
      </p:sp>
      <p:pic>
        <p:nvPicPr>
          <p:cNvPr id="132" name="Google Shape;132;g37116c115bc_1_54">
            <a:extLst>
              <a:ext uri="{FF2B5EF4-FFF2-40B4-BE49-F238E27FC236}">
                <a16:creationId xmlns:a16="http://schemas.microsoft.com/office/drawing/2014/main" id="{31AEFBE1-4947-9C55-17D3-6998D1F754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650" y="1410321"/>
            <a:ext cx="4988774" cy="298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7116c115bc_1_54">
            <a:extLst>
              <a:ext uri="{FF2B5EF4-FFF2-40B4-BE49-F238E27FC236}">
                <a16:creationId xmlns:a16="http://schemas.microsoft.com/office/drawing/2014/main" id="{1CBBB500-D06C-9BA4-9DD1-EFF288CD1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96221"/>
            <a:ext cx="8520600" cy="19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Check that this matches expectation - we generally aim for even distribution across barcodes*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34" name="Google Shape;134;g37116c115bc_1_54">
            <a:extLst>
              <a:ext uri="{FF2B5EF4-FFF2-40B4-BE49-F238E27FC236}">
                <a16:creationId xmlns:a16="http://schemas.microsoft.com/office/drawing/2014/main" id="{C9CC2CD6-41C4-05E9-9DC8-2901198D26BB}"/>
              </a:ext>
            </a:extLst>
          </p:cNvPr>
          <p:cNvSpPr txBox="1"/>
          <p:nvPr/>
        </p:nvSpPr>
        <p:spPr>
          <a:xfrm>
            <a:off x="781625" y="4350646"/>
            <a:ext cx="8050800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tx1"/>
                </a:solidFill>
              </a:rPr>
              <a:t>*When setting up a run, there is the option (beta) to do barcode balancing by not sequencing overrepresented barcodes, but this hasn’t been tested by RR team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2" name="Google Shape;143;g37116c115bc_1_61">
            <a:extLst>
              <a:ext uri="{FF2B5EF4-FFF2-40B4-BE49-F238E27FC236}">
                <a16:creationId xmlns:a16="http://schemas.microsoft.com/office/drawing/2014/main" id="{52281D56-5882-79FE-03D6-97AFDEB6E625}"/>
              </a:ext>
            </a:extLst>
          </p:cNvPr>
          <p:cNvSpPr txBox="1"/>
          <p:nvPr/>
        </p:nvSpPr>
        <p:spPr>
          <a:xfrm>
            <a:off x="7071425" y="2031675"/>
            <a:ext cx="2016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0000"/>
                </a:solidFill>
              </a:rPr>
              <a:t>Use this to evaluate your sample normalization / pooling</a:t>
            </a:r>
            <a:endParaRPr sz="160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469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116c115bc_1_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Q-score</a:t>
            </a:r>
            <a:endParaRPr/>
          </a:p>
        </p:txBody>
      </p:sp>
      <p:sp>
        <p:nvSpPr>
          <p:cNvPr id="149" name="Google Shape;149;g37116c115bc_1_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A mean score of 15 is typical for HAC basecalled runs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Q-score depends on the basecaller used</a:t>
            </a: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Ideally, Q-scores will remain steady over time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50" name="Google Shape;150;g37116c115bc_1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21" y="2561400"/>
            <a:ext cx="2792976" cy="17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7116c115bc_1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8526" y="2313079"/>
            <a:ext cx="5767900" cy="28304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7116c115bc_1_69"/>
          <p:cNvSpPr txBox="1"/>
          <p:nvPr/>
        </p:nvSpPr>
        <p:spPr>
          <a:xfrm>
            <a:off x="5992425" y="2479675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4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7116c115bc_1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3300" y="2435366"/>
            <a:ext cx="4724398" cy="24498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7116c115bc_1_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Q-score</a:t>
            </a:r>
            <a:endParaRPr/>
          </a:p>
        </p:txBody>
      </p:sp>
      <p:sp>
        <p:nvSpPr>
          <p:cNvPr id="159" name="Google Shape;159;g37116c115bc_1_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A mean score of 15 is typical for HAC basecalled runs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Q-score depends on the basecaller used</a:t>
            </a: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Ideally, Q-scores will remain steady over time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0" name="Google Shape;160;g37116c115bc_1_77"/>
          <p:cNvSpPr txBox="1"/>
          <p:nvPr/>
        </p:nvSpPr>
        <p:spPr>
          <a:xfrm>
            <a:off x="8233200" y="3455000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✘</a:t>
            </a:r>
            <a:endParaRPr sz="3750">
              <a:solidFill>
                <a:srgbClr val="CC0000"/>
              </a:solidFill>
            </a:endParaRPr>
          </a:p>
        </p:txBody>
      </p:sp>
      <p:sp>
        <p:nvSpPr>
          <p:cNvPr id="161" name="Google Shape;161;g37116c115bc_1_77"/>
          <p:cNvSpPr/>
          <p:nvPr/>
        </p:nvSpPr>
        <p:spPr>
          <a:xfrm>
            <a:off x="6361975" y="3865100"/>
            <a:ext cx="858900" cy="703800"/>
          </a:xfrm>
          <a:prstGeom prst="ellipse">
            <a:avLst/>
          </a:prstGeom>
          <a:noFill/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2" name="Google Shape;162;g37116c115bc_1_77"/>
          <p:cNvCxnSpPr>
            <a:stCxn id="163" idx="3"/>
            <a:endCxn id="161" idx="2"/>
          </p:cNvCxnSpPr>
          <p:nvPr/>
        </p:nvCxnSpPr>
        <p:spPr>
          <a:xfrm>
            <a:off x="3553375" y="3912500"/>
            <a:ext cx="2808600" cy="3045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3" name="Google Shape;163;g37116c115bc_1_77"/>
          <p:cNvSpPr txBox="1"/>
          <p:nvPr/>
        </p:nvSpPr>
        <p:spPr>
          <a:xfrm>
            <a:off x="1097275" y="3607850"/>
            <a:ext cx="2456100" cy="609300"/>
          </a:xfrm>
          <a:prstGeom prst="rect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1C232"/>
                </a:solidFill>
              </a:rPr>
              <a:t>Greater variation (reduction) in Q-score at later times</a:t>
            </a:r>
            <a:endParaRPr sz="1300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116c115bc_1_87"/>
          <p:cNvSpPr txBox="1">
            <a:spLocks noGrp="1"/>
          </p:cNvSpPr>
          <p:nvPr>
            <p:ph type="title"/>
          </p:nvPr>
        </p:nvSpPr>
        <p:spPr>
          <a:xfrm>
            <a:off x="311700" y="3241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Pore activity over time</a:t>
            </a:r>
            <a:endParaRPr/>
          </a:p>
        </p:txBody>
      </p:sp>
      <p:sp>
        <p:nvSpPr>
          <p:cNvPr id="169" name="Google Shape;169;g37116c115bc_1_87"/>
          <p:cNvSpPr txBox="1">
            <a:spLocks noGrp="1"/>
          </p:cNvSpPr>
          <p:nvPr>
            <p:ph type="body" idx="1"/>
          </p:nvPr>
        </p:nvSpPr>
        <p:spPr>
          <a:xfrm>
            <a:off x="311700" y="95599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Sequencing/available pores gradually decrease over time, with slight increases when pore scans are performed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70" name="Google Shape;170;g37116c115bc_1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800" y="1892825"/>
            <a:ext cx="5581225" cy="320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7116c115bc_1_87"/>
          <p:cNvSpPr txBox="1"/>
          <p:nvPr/>
        </p:nvSpPr>
        <p:spPr>
          <a:xfrm>
            <a:off x="7270825" y="3248700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4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7116c115bc_1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650" y="1817800"/>
            <a:ext cx="5210199" cy="322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7116c115bc_1_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Pore activity over time</a:t>
            </a:r>
            <a:endParaRPr/>
          </a:p>
        </p:txBody>
      </p:sp>
      <p:sp>
        <p:nvSpPr>
          <p:cNvPr id="178" name="Google Shape;178;g37116c115bc_1_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See </a:t>
            </a:r>
            <a:r>
              <a:rPr lang="en" u="sng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">
                <a:solidFill>
                  <a:schemeClr val="tx1"/>
                </a:solidFill>
              </a:rPr>
              <a:t> for how to diagnose issues based on pore activity plots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9" name="Google Shape;179;g37116c115bc_1_94"/>
          <p:cNvSpPr txBox="1"/>
          <p:nvPr/>
        </p:nvSpPr>
        <p:spPr>
          <a:xfrm>
            <a:off x="7004175" y="3459550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✘</a:t>
            </a:r>
            <a:endParaRPr sz="3750">
              <a:solidFill>
                <a:srgbClr val="CC0000"/>
              </a:solidFill>
            </a:endParaRPr>
          </a:p>
        </p:txBody>
      </p:sp>
      <p:cxnSp>
        <p:nvCxnSpPr>
          <p:cNvPr id="180" name="Google Shape;180;g37116c115bc_1_94"/>
          <p:cNvCxnSpPr>
            <a:stCxn id="181" idx="1"/>
          </p:cNvCxnSpPr>
          <p:nvPr/>
        </p:nvCxnSpPr>
        <p:spPr>
          <a:xfrm rot="10800000">
            <a:off x="6402075" y="2496850"/>
            <a:ext cx="429300" cy="192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1" name="Google Shape;181;g37116c115bc_1_94"/>
          <p:cNvSpPr txBox="1"/>
          <p:nvPr/>
        </p:nvSpPr>
        <p:spPr>
          <a:xfrm>
            <a:off x="6831375" y="2229700"/>
            <a:ext cx="1538100" cy="572700"/>
          </a:xfrm>
          <a:prstGeom prst="rect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1C232"/>
                </a:solidFill>
              </a:rPr>
              <a:t>Lots of unusual pore statuses</a:t>
            </a:r>
            <a:endParaRPr sz="1300">
              <a:solidFill>
                <a:srgbClr val="F1C232"/>
              </a:solidFill>
            </a:endParaRPr>
          </a:p>
        </p:txBody>
      </p:sp>
      <p:sp>
        <p:nvSpPr>
          <p:cNvPr id="182" name="Google Shape;182;g37116c115bc_1_94"/>
          <p:cNvSpPr/>
          <p:nvPr/>
        </p:nvSpPr>
        <p:spPr>
          <a:xfrm>
            <a:off x="1950150" y="4373950"/>
            <a:ext cx="858900" cy="703800"/>
          </a:xfrm>
          <a:prstGeom prst="ellipse">
            <a:avLst/>
          </a:prstGeom>
          <a:noFill/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3" name="Google Shape;183;g37116c115bc_1_94"/>
          <p:cNvCxnSpPr>
            <a:stCxn id="184" idx="2"/>
            <a:endCxn id="182" idx="1"/>
          </p:cNvCxnSpPr>
          <p:nvPr/>
        </p:nvCxnSpPr>
        <p:spPr>
          <a:xfrm>
            <a:off x="1181125" y="3832750"/>
            <a:ext cx="894900" cy="6444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" name="Google Shape;184;g37116c115bc_1_94"/>
          <p:cNvSpPr txBox="1"/>
          <p:nvPr/>
        </p:nvSpPr>
        <p:spPr>
          <a:xfrm>
            <a:off x="412075" y="3260050"/>
            <a:ext cx="1538100" cy="572700"/>
          </a:xfrm>
          <a:prstGeom prst="rect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1C232"/>
                </a:solidFill>
              </a:rPr>
              <a:t>Low starting % of active pores</a:t>
            </a:r>
            <a:endParaRPr sz="1300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116c115bc_1_10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Pore activity over time can also help indicate if the right amount of library was loaded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90" name="Google Shape;190;g37116c115bc_1_1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chemeClr val="tx1"/>
                </a:solidFill>
              </a:rPr>
              <a:t>Was the right amount of library loaded?</a:t>
            </a:r>
            <a:endParaRPr b="1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We aim for a high % of pores sequencing (light green)</a:t>
            </a: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We want to reduce the % of available pores that are not sequencing (dark green). These pores are likely to become unavailable over time.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91" name="Google Shape;191;g37116c115bc_1_106"/>
          <p:cNvPicPr preferRelativeResize="0"/>
          <p:nvPr/>
        </p:nvPicPr>
        <p:blipFill rotWithShape="1">
          <a:blip r:embed="rId3">
            <a:alphaModFix/>
          </a:blip>
          <a:srcRect t="18354"/>
          <a:stretch/>
        </p:blipFill>
        <p:spPr>
          <a:xfrm>
            <a:off x="1768775" y="2550900"/>
            <a:ext cx="5606426" cy="259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g37116c115bc_1_106"/>
          <p:cNvCxnSpPr>
            <a:stCxn id="193" idx="3"/>
          </p:cNvCxnSpPr>
          <p:nvPr/>
        </p:nvCxnSpPr>
        <p:spPr>
          <a:xfrm>
            <a:off x="1718725" y="3598300"/>
            <a:ext cx="424500" cy="465000"/>
          </a:xfrm>
          <a:prstGeom prst="straightConnector1">
            <a:avLst/>
          </a:prstGeom>
          <a:noFill/>
          <a:ln w="9525" cap="flat" cmpd="sng">
            <a:solidFill>
              <a:srgbClr val="7CB2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3" name="Google Shape;193;g37116c115bc_1_106"/>
          <p:cNvSpPr txBox="1"/>
          <p:nvPr/>
        </p:nvSpPr>
        <p:spPr>
          <a:xfrm>
            <a:off x="180625" y="3012400"/>
            <a:ext cx="1538100" cy="1171800"/>
          </a:xfrm>
          <a:prstGeom prst="rect">
            <a:avLst/>
          </a:prstGeom>
          <a:noFill/>
          <a:ln w="9525" cap="flat" cmpd="sng">
            <a:solidFill>
              <a:srgbClr val="7CB2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>
                <a:solidFill>
                  <a:srgbClr val="7CB266"/>
                </a:solidFill>
              </a:rPr>
              <a:t>Almost all available pores are sequencing (light green) - this is great!</a:t>
            </a:r>
            <a:endParaRPr sz="1300" b="1" i="0" u="none" strike="noStrike" cap="none">
              <a:solidFill>
                <a:srgbClr val="7CB2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116c115bc_1_11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Pore activity over time can also help indicate if the right amount of library was loaded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99" name="Google Shape;199;g37116c115bc_1_11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Pore activity can provide information on how optimally the flow cell was loaded - </a:t>
            </a:r>
            <a:r>
              <a:rPr lang="en" b="1">
                <a:solidFill>
                  <a:schemeClr val="tx1"/>
                </a:solidFill>
              </a:rPr>
              <a:t>was the right amount of library loaded?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00" name="Google Shape;200;g37116c115bc_1_114"/>
          <p:cNvSpPr txBox="1"/>
          <p:nvPr/>
        </p:nvSpPr>
        <p:spPr>
          <a:xfrm>
            <a:off x="6488700" y="3214425"/>
            <a:ext cx="2655300" cy="15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3750" b="0" i="0" u="none" strike="noStrike" cap="none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Great</a:t>
            </a:r>
            <a:r>
              <a:rPr lang="en" sz="1800" b="0" i="0" u="none" strike="noStrike" cap="none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loading</a:t>
            </a: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! </a:t>
            </a:r>
            <a:endParaRPr sz="1800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Almost all available pores are sequencing</a:t>
            </a:r>
            <a:endParaRPr sz="1800" b="0" i="0" u="none" strike="noStrike" cap="non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7116c115bc_1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49" y="1868825"/>
            <a:ext cx="5606426" cy="31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116c115bc_1_12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Pore activity over time can also help indicate if the right amount of library was loaded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07" name="Google Shape;207;g37116c115bc_1_12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Pore activity can provide information on how optimally the flow cell was loaded - </a:t>
            </a:r>
            <a:r>
              <a:rPr lang="en" b="1">
                <a:solidFill>
                  <a:schemeClr val="tx1"/>
                </a:solidFill>
              </a:rPr>
              <a:t>was the right amount of library loaded?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08" name="Google Shape;208;g37116c115bc_1_121"/>
          <p:cNvSpPr txBox="1"/>
          <p:nvPr/>
        </p:nvSpPr>
        <p:spPr>
          <a:xfrm>
            <a:off x="6336300" y="2909625"/>
            <a:ext cx="2807700" cy="21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3750" b="0" i="0" u="none" strike="noStrike" cap="none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" sz="1800" b="0" i="0" u="none" strike="noStrike" cap="none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kay loading, but next time could load more fmol</a:t>
            </a:r>
            <a:endParaRPr sz="1800" b="0" i="0" u="none" strike="noStrike" cap="none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There are still available pores (dark green)</a:t>
            </a:r>
            <a:endParaRPr sz="1800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g37116c115bc_1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1937405"/>
            <a:ext cx="5442176" cy="305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116c115bc_1_12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Pore activity over time</a:t>
            </a:r>
            <a:endParaRPr/>
          </a:p>
        </p:txBody>
      </p:sp>
      <p:sp>
        <p:nvSpPr>
          <p:cNvPr id="215" name="Google Shape;215;g37116c115bc_1_128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Pore activity can provide information on how optimally the flow cell was loaded - </a:t>
            </a:r>
            <a:r>
              <a:rPr lang="en" b="1">
                <a:solidFill>
                  <a:schemeClr val="tx1"/>
                </a:solidFill>
              </a:rPr>
              <a:t>was the right amount of library loaded?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16" name="Google Shape;216;g37116c115bc_1_128"/>
          <p:cNvSpPr txBox="1"/>
          <p:nvPr/>
        </p:nvSpPr>
        <p:spPr>
          <a:xfrm>
            <a:off x="6336300" y="3214425"/>
            <a:ext cx="2807700" cy="18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Arial"/>
              <a:buNone/>
            </a:pPr>
            <a:r>
              <a:rPr lang="en" sz="3750">
                <a:solidFill>
                  <a:srgbClr val="CC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✘</a:t>
            </a:r>
            <a:endParaRPr sz="3750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Under</a:t>
            </a:r>
            <a:r>
              <a:rPr lang="en" sz="1800" b="0" i="0" u="none" strike="noStrike" cap="none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loa</a:t>
            </a:r>
            <a:r>
              <a:rPr lang="en" sz="18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ded - there are too many pores available.</a:t>
            </a:r>
            <a:endParaRPr sz="1800">
              <a:solidFill>
                <a:srgbClr val="CC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Next time load more fmol of library</a:t>
            </a:r>
            <a:endParaRPr sz="1800">
              <a:solidFill>
                <a:srgbClr val="CC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7" name="Google Shape;217;g37116c115bc_1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500" y="1903100"/>
            <a:ext cx="5632799" cy="31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116c115bc_1_1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Run review exercise</a:t>
            </a:r>
            <a:endParaRPr/>
          </a:p>
        </p:txBody>
      </p:sp>
      <p:sp>
        <p:nvSpPr>
          <p:cNvPr id="231" name="Google Shape;231;g37116c115bc_1_1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How much </a:t>
            </a:r>
            <a:r>
              <a:rPr lang="en" b="1">
                <a:solidFill>
                  <a:schemeClr val="tx1"/>
                </a:solidFill>
              </a:rPr>
              <a:t>output</a:t>
            </a:r>
            <a:r>
              <a:rPr lang="en">
                <a:solidFill>
                  <a:schemeClr val="tx1"/>
                </a:solidFill>
              </a:rPr>
              <a:t> (reads, bases) was generated?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i="1">
                <a:solidFill>
                  <a:schemeClr val="tx1"/>
                </a:solidFill>
              </a:rPr>
              <a:t>Hint: consider how many pores were available at the beginning of the run </a:t>
            </a:r>
            <a:endParaRPr i="1">
              <a:solidFill>
                <a:schemeClr val="tx1"/>
              </a:solidFill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How do the </a:t>
            </a:r>
            <a:r>
              <a:rPr lang="en" b="1">
                <a:solidFill>
                  <a:schemeClr val="tx1"/>
                </a:solidFill>
              </a:rPr>
              <a:t>read lengths</a:t>
            </a:r>
            <a:r>
              <a:rPr lang="en">
                <a:solidFill>
                  <a:schemeClr val="tx1"/>
                </a:solidFill>
              </a:rPr>
              <a:t> compare to expected / measured in the lab?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i="1">
                <a:solidFill>
                  <a:schemeClr val="tx1"/>
                </a:solidFill>
              </a:rPr>
              <a:t>Hint: compare to the Tapestation / QSep / diagnostic PCR report</a:t>
            </a:r>
            <a:endParaRPr i="1">
              <a:solidFill>
                <a:schemeClr val="tx1"/>
              </a:solidFill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How was the </a:t>
            </a:r>
            <a:r>
              <a:rPr lang="en" b="1">
                <a:solidFill>
                  <a:schemeClr val="tx1"/>
                </a:solidFill>
              </a:rPr>
              <a:t>barcode distribution</a:t>
            </a:r>
            <a:r>
              <a:rPr lang="en">
                <a:solidFill>
                  <a:schemeClr val="tx1"/>
                </a:solidFill>
              </a:rPr>
              <a:t> and how does this compare to expected based on sample pooling?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27272"/>
              <a:buChar char="○"/>
            </a:pPr>
            <a:r>
              <a:rPr lang="en" i="1">
                <a:solidFill>
                  <a:schemeClr val="tx1"/>
                </a:solidFill>
              </a:rPr>
              <a:t>Did your samples receive equal/expected number of reads/bases?</a:t>
            </a:r>
            <a:endParaRPr sz="1100" i="1">
              <a:solidFill>
                <a:schemeClr val="tx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How was the pooling between the groups? Did each group receive the same amount of reads/bases?</a:t>
            </a:r>
            <a:endParaRPr>
              <a:solidFill>
                <a:schemeClr val="tx1"/>
              </a:solidFill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Do you think enough library was loaded?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i="1">
                <a:solidFill>
                  <a:schemeClr val="tx1"/>
                </a:solidFill>
              </a:rPr>
              <a:t>Hint: look at the pore activity chart</a:t>
            </a:r>
            <a:endParaRPr i="1">
              <a:solidFill>
                <a:schemeClr val="tx1"/>
              </a:solidFill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Metrics </a:t>
            </a:r>
            <a:r>
              <a:rPr lang="en" b="1">
                <a:solidFill>
                  <a:schemeClr val="tx1"/>
                </a:solidFill>
              </a:rPr>
              <a:t>over time </a:t>
            </a:r>
            <a:r>
              <a:rPr lang="en">
                <a:solidFill>
                  <a:schemeClr val="tx1"/>
                </a:solidFill>
              </a:rPr>
              <a:t>- any flags? 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solidFill>
                  <a:schemeClr val="tx1"/>
                </a:solidFill>
              </a:rPr>
              <a:t>Output generated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solidFill>
                  <a:schemeClr val="tx1"/>
                </a:solidFill>
              </a:rPr>
              <a:t>Q-score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solidFill>
                  <a:schemeClr val="tx1"/>
                </a:solidFill>
              </a:rPr>
              <a:t>Pore activity and health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2" name="Google Shape;232;g37116c115bc_1_142"/>
          <p:cNvSpPr txBox="1"/>
          <p:nvPr/>
        </p:nvSpPr>
        <p:spPr>
          <a:xfrm>
            <a:off x="1391550" y="4311000"/>
            <a:ext cx="6360900" cy="7389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We recommend keeping a run log to track metrics over time. </a:t>
            </a:r>
            <a:endParaRPr sz="18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This may help you identify abnormalities</a:t>
            </a:r>
            <a:endParaRPr sz="18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7116c115bc_1_142"/>
          <p:cNvSpPr/>
          <p:nvPr/>
        </p:nvSpPr>
        <p:spPr>
          <a:xfrm>
            <a:off x="3367350" y="445025"/>
            <a:ext cx="501300" cy="4602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7116c115bc_1_142"/>
          <p:cNvSpPr txBox="1"/>
          <p:nvPr/>
        </p:nvSpPr>
        <p:spPr>
          <a:xfrm>
            <a:off x="4572000" y="531275"/>
            <a:ext cx="4188725" cy="4000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"/>
              <a:t>Worksheet: </a:t>
            </a:r>
            <a:r>
              <a:rPr lang="en-US"/>
              <a:t>Sequencing Run QC for ONT - Activity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116c115bc_1_1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Run review complete!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29075C-D504-B8BB-D278-54955C929419}"/>
              </a:ext>
            </a:extLst>
          </p:cNvPr>
          <p:cNvSpPr txBox="1"/>
          <p:nvPr/>
        </p:nvSpPr>
        <p:spPr>
          <a:xfrm>
            <a:off x="1145421" y="1848475"/>
            <a:ext cx="68531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Current to Activity</a:t>
            </a:r>
            <a:r>
              <a:rPr lang="en-US" sz="1800" dirty="0"/>
              <a:t>:</a:t>
            </a:r>
            <a:r>
              <a:rPr lang="en-US" sz="1800" b="1" dirty="0"/>
              <a:t> </a:t>
            </a:r>
            <a:r>
              <a:rPr lang="en-US" sz="1800" dirty="0"/>
              <a:t>8-O. Sequencing Run QC for ONT - Activity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Next Slides</a:t>
            </a:r>
            <a:r>
              <a:rPr lang="en-US" dirty="0"/>
              <a:t>: DL1_Bioinformatic Basics and BLAST – Slides</a:t>
            </a:r>
          </a:p>
          <a:p>
            <a:r>
              <a:rPr lang="en-US" b="1" dirty="0"/>
              <a:t>Next Activity</a:t>
            </a:r>
            <a:r>
              <a:rPr lang="en-US" dirty="0"/>
              <a:t>: DL1_BLAST - 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1039</Words>
  <Application>Microsoft Macintosh PowerPoint</Application>
  <PresentationFormat>On-screen Show (16:9)</PresentationFormat>
  <Paragraphs>109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Roboto</vt:lpstr>
      <vt:lpstr>Helvetica Neue Light</vt:lpstr>
      <vt:lpstr>Arial</vt:lpstr>
      <vt:lpstr>Helvetica Neue</vt:lpstr>
      <vt:lpstr>Simple Light</vt:lpstr>
      <vt:lpstr>Sequencing run QC for ONT</vt:lpstr>
      <vt:lpstr>What is covered in this section?</vt:lpstr>
      <vt:lpstr>Output files generated from ONT run</vt:lpstr>
      <vt:lpstr>Output fastq file organization</vt:lpstr>
      <vt:lpstr>Sequencing run QC using the “report_***.html” file</vt:lpstr>
      <vt:lpstr>Amount of Data Generated</vt:lpstr>
      <vt:lpstr>Read length distribution</vt:lpstr>
      <vt:lpstr>Cumulative output as a function of time </vt:lpstr>
      <vt:lpstr>Cumulative output as a function of time </vt:lpstr>
      <vt:lpstr>Cumulative output as a function of time </vt:lpstr>
      <vt:lpstr>Distribution of reads/bases across barcodes</vt:lpstr>
      <vt:lpstr>Distribution of reads/bases across barcodes</vt:lpstr>
      <vt:lpstr>Q-score</vt:lpstr>
      <vt:lpstr>Q-score</vt:lpstr>
      <vt:lpstr>Pore activity over time</vt:lpstr>
      <vt:lpstr>Pore activity over time</vt:lpstr>
      <vt:lpstr>Pore activity over time can also help indicate if the right amount of library was loaded </vt:lpstr>
      <vt:lpstr>Pore activity over time can also help indicate if the right amount of library was loaded </vt:lpstr>
      <vt:lpstr>Pore activity over time can also help indicate if the right amount of library was loaded </vt:lpstr>
      <vt:lpstr>Pore activity over time</vt:lpstr>
      <vt:lpstr>Run review exercise</vt:lpstr>
      <vt:lpstr>Run review complete!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4</cp:revision>
  <dcterms:modified xsi:type="dcterms:W3CDTF">2026-09-29T00:28:50Z</dcterms:modified>
</cp:coreProperties>
</file>