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  <p:sldMasterId id="2147483679" r:id="rId3"/>
  </p:sldMasterIdLst>
  <p:notesMasterIdLst>
    <p:notesMasterId r:id="rId38"/>
  </p:notesMasterIdLst>
  <p:sldIdLst>
    <p:sldId id="256" r:id="rId4"/>
    <p:sldId id="257" r:id="rId5"/>
    <p:sldId id="264" r:id="rId6"/>
    <p:sldId id="265" r:id="rId7"/>
    <p:sldId id="266" r:id="rId8"/>
    <p:sldId id="268" r:id="rId9"/>
    <p:sldId id="269" r:id="rId10"/>
    <p:sldId id="270" r:id="rId11"/>
    <p:sldId id="271" r:id="rId12"/>
    <p:sldId id="267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1" r:id="rId22"/>
    <p:sldId id="282" r:id="rId23"/>
    <p:sldId id="258" r:id="rId24"/>
    <p:sldId id="259" r:id="rId25"/>
    <p:sldId id="260" r:id="rId26"/>
    <p:sldId id="261" r:id="rId27"/>
    <p:sldId id="262" r:id="rId28"/>
    <p:sldId id="263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312" r:id="rId37"/>
  </p:sldIdLst>
  <p:sldSz cx="9144000" cy="5143500" type="screen16x9"/>
  <p:notesSz cx="6858000" cy="9144000"/>
  <p:embeddedFontLst>
    <p:embeddedFont>
      <p:font typeface="EB Garamond" pitchFamily="2" charset="0"/>
      <p:regular r:id="rId39"/>
      <p:bold r:id="rId40"/>
      <p:italic r:id="rId41"/>
      <p:boldItalic r:id="rId42"/>
    </p:embeddedFont>
    <p:embeddedFont>
      <p:font typeface="Lato" panose="020F0502020204030203" pitchFamily="34" charset="0"/>
      <p:regular r:id="rId43"/>
      <p:bold r:id="rId44"/>
      <p:italic r:id="rId45"/>
      <p:boldItalic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jlaxMNfMlVUZyBNSfPbdffvNB6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4" d="100"/>
          <a:sy n="154" d="100"/>
        </p:scale>
        <p:origin x="536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1.fntdata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6.fntdata"/><Relationship Id="rId52" Type="http://customschemas.google.com/relationships/presentationmetadata" Target="meta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7.xml"/><Relationship Id="rId41" Type="http://schemas.openxmlformats.org/officeDocument/2006/relationships/font" Target="fonts/font3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b881966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36b881966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6dd4466453_0_6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36dd446645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6dd4466453_0_1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36dd4466453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6dd4466453_0_19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g36dd4466453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6dd4466453_0_2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36dd4466453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6dd4466453_0_2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36dd4466453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dd4466453_0_1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6dd4466453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9272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5" name="Google Shape;4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1" name="Google Shape;4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7" name="Google Shape;4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3" name="Google Shape;4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0" name="Google Shape;4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7" name="Google Shape;4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4" name="Google Shape;4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6deab05443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g36deab054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P7: 24 nt p7 + 12 nt barcode + 2 nt + 32 nt adapter compl.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P5: 20 nt p5 + 9 nt +12 nt barcode + 33 nt adapter compl.</a:t>
            </a:r>
            <a:endParaRPr/>
          </a:p>
        </p:txBody>
      </p:sp>
      <p:sp>
        <p:nvSpPr>
          <p:cNvPr id="126" name="Google Shape;12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822e78a249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12" name="Google Shape;412;g822e78a249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body" idx="1"/>
          </p:nvPr>
        </p:nvSpPr>
        <p:spPr>
          <a:xfrm>
            <a:off x="1812726" y="3355330"/>
            <a:ext cx="5518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2"/>
          </p:nvPr>
        </p:nvSpPr>
        <p:spPr>
          <a:xfrm>
            <a:off x="1812726" y="2249091"/>
            <a:ext cx="5518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sldNum" idx="12"/>
          </p:nvPr>
        </p:nvSpPr>
        <p:spPr>
          <a:xfrm>
            <a:off x="4482789" y="4902398"/>
            <a:ext cx="1749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" name="Google Shape;21;p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" name="Google Shape;22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1_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2557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6" name="Google Shape;66;p3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7" name="Google Shape;67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2" name="Google Shape;8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1" name="Google Shape;91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4" name="Google Shape;94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" name="Google Shape;97;p4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" name="Google Shape;106;p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>
  <p:cSld name="TITLE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6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46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pic>
        <p:nvPicPr>
          <p:cNvPr id="110" name="Google Shape;110;p46" descr="IDseq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538" y="96775"/>
            <a:ext cx="815933" cy="2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8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8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●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○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■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●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○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4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">
  <p:cSld name="Blank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dd4466453_0_291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dd4466453_0_7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6" name="Google Shape;126;g36dd4466453_0_7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7" name="Google Shape;127;g36dd4466453_0_7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dd4466453_0_7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0" name="Google Shape;130;g36dd4466453_0_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dd4466453_0_8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g36dd4466453_0_8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g36dd4466453_0_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dd4466453_0_8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g36dd4466453_0_8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8" name="Google Shape;138;g36dd4466453_0_8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9" name="Google Shape;139;g36dd4466453_0_8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dd4466453_0_9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36dd4466453_0_9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dd4466453_0_9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5" name="Google Shape;145;g36dd4466453_0_9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6" name="Google Shape;146;g36dd4466453_0_9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dd4466453_0_9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49" name="Google Shape;149;g36dd4466453_0_9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dd4466453_0_10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6dd4466453_0_10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3" name="Google Shape;153;g36dd4466453_0_10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4" name="Google Shape;154;g36dd4466453_0_10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5" name="Google Shape;155;g36dd4466453_0_10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dd4466453_0_10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58" name="Google Shape;158;g36dd4466453_0_10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dd4466453_0_1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1" name="Google Shape;161;g36dd4466453_0_1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g36dd4466453_0_1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dd4466453_0_1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6">
  <p:cSld name="TITLE_AND_BODY_7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dd4466453_0_1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g36dd4466453_0_1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8" name="Google Shape;168;g36dd4466453_0_1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ayout">
  <p:cSld name="Blank Layou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dd4466453_0_1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g36dd4466453_0_1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g36dd4466453_0_1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dd4466453_0_124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dd4466453_0_126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g36dd4466453_0_126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●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○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■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●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○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78" name="Google Shape;178;g36dd4466453_0_12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lnSpcReduction="10000"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95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dd4466453_0_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g36dd4466453_0_7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g36dd4466453_0_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anoporetech.com/products/prepar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anoporetech.com/products/prepar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5" Type="http://schemas.openxmlformats.org/officeDocument/2006/relationships/image" Target="../media/image8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2688/wellcomeopenres.17170.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dx.doi.org/10.17504/protocols.io.7w5hpg6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"/>
          <p:cNvSpPr txBox="1">
            <a:spLocks noGrp="1"/>
          </p:cNvSpPr>
          <p:nvPr>
            <p:ph type="body" idx="2"/>
          </p:nvPr>
        </p:nvSpPr>
        <p:spPr>
          <a:xfrm>
            <a:off x="1418072" y="701564"/>
            <a:ext cx="6668100" cy="1162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Lato"/>
              <a:buNone/>
            </a:pPr>
            <a:r>
              <a:rPr lang="en" sz="4000" b="1" dirty="0">
                <a:latin typeface="+mj-lt"/>
                <a:ea typeface="Lato"/>
                <a:cs typeface="Lato"/>
                <a:sym typeface="Lato"/>
              </a:rPr>
              <a:t>Nanopore RNA and DNA library prep for </a:t>
            </a:r>
            <a:r>
              <a:rPr lang="en" sz="4000" b="1" dirty="0" err="1">
                <a:latin typeface="+mj-lt"/>
                <a:ea typeface="Lato"/>
                <a:cs typeface="Lato"/>
                <a:sym typeface="Lato"/>
              </a:rPr>
              <a:t>mNGS</a:t>
            </a:r>
            <a:endParaRPr sz="40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0A5107-4FB6-FF5D-EE7A-DE2201A5964B}"/>
              </a:ext>
            </a:extLst>
          </p:cNvPr>
          <p:cNvSpPr txBox="1"/>
          <p:nvPr/>
        </p:nvSpPr>
        <p:spPr>
          <a:xfrm>
            <a:off x="6289040" y="4760362"/>
            <a:ext cx="28549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Updated 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September 2026</a:t>
            </a:r>
          </a:p>
        </p:txBody>
      </p:sp>
      <p:pic>
        <p:nvPicPr>
          <p:cNvPr id="3" name="Google Shape;455;g36deab05443_0_0">
            <a:extLst>
              <a:ext uri="{FF2B5EF4-FFF2-40B4-BE49-F238E27FC236}">
                <a16:creationId xmlns:a16="http://schemas.microsoft.com/office/drawing/2014/main" id="{7A1F8B34-EB41-8698-E405-45CDA02FDF3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14062" t="73952" b="16415"/>
          <a:stretch>
            <a:fillRect/>
          </a:stretch>
        </p:blipFill>
        <p:spPr>
          <a:xfrm>
            <a:off x="2036617" y="3311208"/>
            <a:ext cx="3336173" cy="315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455;g36deab05443_0_0">
            <a:extLst>
              <a:ext uri="{FF2B5EF4-FFF2-40B4-BE49-F238E27FC236}">
                <a16:creationId xmlns:a16="http://schemas.microsoft.com/office/drawing/2014/main" id="{CF28EA04-E007-4531-9E71-5E7C4318277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14062" t="73952" b="16415"/>
          <a:stretch>
            <a:fillRect/>
          </a:stretch>
        </p:blipFill>
        <p:spPr>
          <a:xfrm>
            <a:off x="2829098" y="2303418"/>
            <a:ext cx="3336173" cy="315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55;g36deab05443_0_0">
            <a:extLst>
              <a:ext uri="{FF2B5EF4-FFF2-40B4-BE49-F238E27FC236}">
                <a16:creationId xmlns:a16="http://schemas.microsoft.com/office/drawing/2014/main" id="{5D265E1C-AF02-F6EA-99D8-4D51B62311B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14062" t="73952" b="16415"/>
          <a:stretch>
            <a:fillRect/>
          </a:stretch>
        </p:blipFill>
        <p:spPr>
          <a:xfrm>
            <a:off x="3225353" y="3759305"/>
            <a:ext cx="3336173" cy="315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455;g36deab05443_0_0">
            <a:extLst>
              <a:ext uri="{FF2B5EF4-FFF2-40B4-BE49-F238E27FC236}">
                <a16:creationId xmlns:a16="http://schemas.microsoft.com/office/drawing/2014/main" id="{3E409DEB-9915-7286-F895-C3BD2F51D0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14062" t="73952" b="16415"/>
          <a:stretch>
            <a:fillRect/>
          </a:stretch>
        </p:blipFill>
        <p:spPr>
          <a:xfrm>
            <a:off x="3943008" y="2863111"/>
            <a:ext cx="3336173" cy="315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b88196631_0_0"/>
          <p:cNvSpPr/>
          <p:nvPr/>
        </p:nvSpPr>
        <p:spPr>
          <a:xfrm>
            <a:off x="337700" y="937675"/>
            <a:ext cx="8594700" cy="959100"/>
          </a:xfrm>
          <a:prstGeom prst="stripedRightArrow">
            <a:avLst>
              <a:gd name="adj1" fmla="val 67480"/>
              <a:gd name="adj2" fmla="val 147356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6b88196631_0_0"/>
          <p:cNvSpPr txBox="1">
            <a:spLocks noGrp="1"/>
          </p:cNvSpPr>
          <p:nvPr>
            <p:ph type="title"/>
          </p:nvPr>
        </p:nvSpPr>
        <p:spPr>
          <a:xfrm>
            <a:off x="2065200" y="973675"/>
            <a:ext cx="4755600" cy="8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400" b="1">
                <a:solidFill>
                  <a:schemeClr val="accent1"/>
                </a:solidFill>
              </a:rPr>
              <a:t>mNGS pipeline</a:t>
            </a:r>
            <a:endParaRPr sz="4400" b="1">
              <a:solidFill>
                <a:schemeClr val="accent1"/>
              </a:solidFill>
            </a:endParaRPr>
          </a:p>
        </p:txBody>
      </p:sp>
      <p:sp>
        <p:nvSpPr>
          <p:cNvPr id="191" name="Google Shape;191;g36b88196631_0_0"/>
          <p:cNvSpPr txBox="1"/>
          <p:nvPr/>
        </p:nvSpPr>
        <p:spPr>
          <a:xfrm>
            <a:off x="250750" y="19971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Study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6b88196631_0_0"/>
          <p:cNvSpPr txBox="1"/>
          <p:nvPr/>
        </p:nvSpPr>
        <p:spPr>
          <a:xfrm>
            <a:off x="1640775" y="19971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Nucleic acid extraction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6b88196631_0_0"/>
          <p:cNvSpPr txBox="1"/>
          <p:nvPr/>
        </p:nvSpPr>
        <p:spPr>
          <a:xfrm>
            <a:off x="2950075" y="20733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Library prep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6b88196631_0_0"/>
          <p:cNvSpPr txBox="1"/>
          <p:nvPr/>
        </p:nvSpPr>
        <p:spPr>
          <a:xfrm>
            <a:off x="4592180" y="20733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Sequencing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6b88196631_0_0"/>
          <p:cNvSpPr txBox="1"/>
          <p:nvPr/>
        </p:nvSpPr>
        <p:spPr>
          <a:xfrm>
            <a:off x="6132613" y="20733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g36b88196631_0_0"/>
          <p:cNvGrpSpPr/>
          <p:nvPr/>
        </p:nvGrpSpPr>
        <p:grpSpPr>
          <a:xfrm>
            <a:off x="6241849" y="2675988"/>
            <a:ext cx="1126132" cy="877745"/>
            <a:chOff x="5059375" y="3618825"/>
            <a:chExt cx="1583426" cy="1234175"/>
          </a:xfrm>
        </p:grpSpPr>
        <p:pic>
          <p:nvPicPr>
            <p:cNvPr id="198" name="Google Shape;198;g36b88196631_0_0" descr="A screenshot of a cell phone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 l="47032" t="64641" r="26636" b="6039"/>
            <a:stretch/>
          </p:blipFill>
          <p:spPr>
            <a:xfrm>
              <a:off x="5059375" y="3618825"/>
              <a:ext cx="1583426" cy="1234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g36b88196631_0_0"/>
            <p:cNvSpPr/>
            <p:nvPr/>
          </p:nvSpPr>
          <p:spPr>
            <a:xfrm>
              <a:off x="5111211" y="3670860"/>
              <a:ext cx="1459500" cy="832200"/>
            </a:xfrm>
            <a:prstGeom prst="rect">
              <a:avLst/>
            </a:prstGeom>
            <a:solidFill>
              <a:srgbClr val="E7E6E6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0" name="Google Shape;200;g36b88196631_0_0"/>
          <p:cNvPicPr preferRelativeResize="0"/>
          <p:nvPr/>
        </p:nvPicPr>
        <p:blipFill rotWithShape="1">
          <a:blip r:embed="rId4">
            <a:alphaModFix/>
          </a:blip>
          <a:srcRect l="13069" t="15507" r="15081" b="13226"/>
          <a:stretch/>
        </p:blipFill>
        <p:spPr>
          <a:xfrm>
            <a:off x="379113" y="2600500"/>
            <a:ext cx="8718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6b88196631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149689">
            <a:off x="1852262" y="2799463"/>
            <a:ext cx="607525" cy="7279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g36b88196631_0_0"/>
          <p:cNvCxnSpPr/>
          <p:nvPr/>
        </p:nvCxnSpPr>
        <p:spPr>
          <a:xfrm rot="10800000" flipH="1">
            <a:off x="7638150" y="3105125"/>
            <a:ext cx="309300" cy="1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04" name="Google Shape;204;g36b88196631_0_0"/>
          <p:cNvGrpSpPr/>
          <p:nvPr/>
        </p:nvGrpSpPr>
        <p:grpSpPr>
          <a:xfrm>
            <a:off x="7765375" y="2437625"/>
            <a:ext cx="1252725" cy="1357550"/>
            <a:chOff x="7841575" y="1370825"/>
            <a:chExt cx="1252725" cy="1357550"/>
          </a:xfrm>
        </p:grpSpPr>
        <p:sp>
          <p:nvSpPr>
            <p:cNvPr id="205" name="Google Shape;205;g36b88196631_0_0"/>
            <p:cNvSpPr/>
            <p:nvPr/>
          </p:nvSpPr>
          <p:spPr>
            <a:xfrm>
              <a:off x="7841575" y="1486750"/>
              <a:ext cx="1122600" cy="11226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6" name="Google Shape;206;g36b88196631_0_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147262" y="1685076"/>
              <a:ext cx="502137" cy="7259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g36b88196631_0_0"/>
            <p:cNvSpPr/>
            <p:nvPr/>
          </p:nvSpPr>
          <p:spPr>
            <a:xfrm>
              <a:off x="7887625" y="1532800"/>
              <a:ext cx="1030500" cy="10305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8" name="Google Shape;208;g36b88196631_0_0"/>
            <p:cNvCxnSpPr/>
            <p:nvPr/>
          </p:nvCxnSpPr>
          <p:spPr>
            <a:xfrm>
              <a:off x="8395325" y="244607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9" name="Google Shape;209;g36b88196631_0_0"/>
            <p:cNvCxnSpPr/>
            <p:nvPr/>
          </p:nvCxnSpPr>
          <p:spPr>
            <a:xfrm>
              <a:off x="8401375" y="137082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0" name="Google Shape;210;g36b88196631_0_0"/>
            <p:cNvCxnSpPr/>
            <p:nvPr/>
          </p:nvCxnSpPr>
          <p:spPr>
            <a:xfrm rot="10800000" flipH="1">
              <a:off x="8785000" y="2038325"/>
              <a:ext cx="309300" cy="15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11" name="Google Shape;211;g36b88196631_0_0"/>
          <p:cNvSpPr txBox="1"/>
          <p:nvPr/>
        </p:nvSpPr>
        <p:spPr>
          <a:xfrm>
            <a:off x="7650363" y="20733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Pathogen 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FD18CD-62AD-7A97-C3AE-A048C7107310}"/>
              </a:ext>
            </a:extLst>
          </p:cNvPr>
          <p:cNvGrpSpPr/>
          <p:nvPr/>
        </p:nvGrpSpPr>
        <p:grpSpPr>
          <a:xfrm>
            <a:off x="2822060" y="2599600"/>
            <a:ext cx="1812990" cy="699847"/>
            <a:chOff x="2822060" y="2599600"/>
            <a:chExt cx="1812990" cy="699847"/>
          </a:xfrm>
        </p:grpSpPr>
        <p:pic>
          <p:nvPicPr>
            <p:cNvPr id="3" name="Google Shape;455;g36deab05443_0_0">
              <a:extLst>
                <a:ext uri="{FF2B5EF4-FFF2-40B4-BE49-F238E27FC236}">
                  <a16:creationId xmlns:a16="http://schemas.microsoft.com/office/drawing/2014/main" id="{AB403F3D-122E-EE4E-7A88-22314B4F5DBC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rcRect l="14062" t="73952" b="16415"/>
            <a:stretch>
              <a:fillRect/>
            </a:stretch>
          </p:blipFill>
          <p:spPr>
            <a:xfrm flipV="1">
              <a:off x="2883741" y="2599600"/>
              <a:ext cx="1314174" cy="184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455;g36deab05443_0_0">
              <a:extLst>
                <a:ext uri="{FF2B5EF4-FFF2-40B4-BE49-F238E27FC236}">
                  <a16:creationId xmlns:a16="http://schemas.microsoft.com/office/drawing/2014/main" id="{97F99017-660B-17E2-DCCD-21CE4156DE93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rcRect l="14062" t="73952" b="16415"/>
            <a:stretch>
              <a:fillRect/>
            </a:stretch>
          </p:blipFill>
          <p:spPr>
            <a:xfrm flipV="1">
              <a:off x="3320876" y="2864364"/>
              <a:ext cx="1314174" cy="184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455;g36deab05443_0_0">
              <a:extLst>
                <a:ext uri="{FF2B5EF4-FFF2-40B4-BE49-F238E27FC236}">
                  <a16:creationId xmlns:a16="http://schemas.microsoft.com/office/drawing/2014/main" id="{6FA9F327-3BDB-10C7-46D3-B4BB0C648AD9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rcRect l="14062" t="73952" b="16415"/>
            <a:stretch>
              <a:fillRect/>
            </a:stretch>
          </p:blipFill>
          <p:spPr>
            <a:xfrm flipV="1">
              <a:off x="2822060" y="3114850"/>
              <a:ext cx="1314174" cy="18459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" name="Google Shape;93;g36b88196631_0_0" descr="File:202001 nanopore sequencing.svg - Wikimedia Commons">
            <a:extLst>
              <a:ext uri="{FF2B5EF4-FFF2-40B4-BE49-F238E27FC236}">
                <a16:creationId xmlns:a16="http://schemas.microsoft.com/office/drawing/2014/main" id="{86CCB9B3-A969-C15B-DA1B-DE898037298B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82856" y="2625875"/>
            <a:ext cx="1576888" cy="8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dd4466453_0_65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 fontScale="9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Lato"/>
              <a:buNone/>
            </a:pPr>
            <a:r>
              <a:rPr lang="en" b="1">
                <a:latin typeface="Lato"/>
                <a:ea typeface="Lato"/>
                <a:cs typeface="Lato"/>
                <a:sym typeface="Lato"/>
              </a:rPr>
              <a:t>Considerations when using Nanopore (ONT) sequencing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" name="Google Shape;295;g36dd4466453_0_65"/>
          <p:cNvSpPr txBox="1"/>
          <p:nvPr/>
        </p:nvSpPr>
        <p:spPr>
          <a:xfrm>
            <a:off x="828173" y="1156475"/>
            <a:ext cx="7872900" cy="3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Sample integrity</a:t>
            </a:r>
            <a:endParaRPr sz="500"/>
          </a:p>
          <a:p>
            <a:pPr marL="342900" marR="0" lvl="2" indent="-1270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Important to ensure high quality nucleic acid with little to no degradation</a:t>
            </a:r>
            <a:endParaRPr sz="500"/>
          </a:p>
          <a:p>
            <a:pPr marL="342900" marR="0" lvl="2" indent="-1270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" sz="1700">
                <a:latin typeface="Lato"/>
                <a:ea typeface="Lato"/>
                <a:cs typeface="Lato"/>
                <a:sym typeface="Lato"/>
              </a:rPr>
              <a:t>Optimize sample handling and storage</a:t>
            </a:r>
            <a:endParaRPr sz="5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sz="1700"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Library preparation kit (</a:t>
            </a:r>
            <a:r>
              <a:rPr lang="en" sz="1700" b="0" i="0" u="sng" strike="noStrike" cap="non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link</a:t>
            </a: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to available kits)</a:t>
            </a:r>
            <a:endParaRPr sz="500"/>
          </a:p>
          <a:p>
            <a:pPr marL="342900" marR="0" lvl="1" indent="-1270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DNA or RNA?</a:t>
            </a:r>
            <a:endParaRPr sz="500"/>
          </a:p>
          <a:p>
            <a:pPr marL="342900" marR="0" lvl="1" indent="-1270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PCR or PCR-free?</a:t>
            </a:r>
            <a:endParaRPr sz="500"/>
          </a:p>
          <a:p>
            <a:pPr marL="342900" marR="0" lvl="1" indent="-1270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Multiplexing or single sample?</a:t>
            </a:r>
            <a:endParaRPr sz="5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None/>
            </a:pPr>
            <a:endParaRPr sz="17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6dd4466453_0_130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 fontScale="9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Lato"/>
              <a:buNone/>
            </a:pPr>
            <a:r>
              <a:rPr lang="en" b="1">
                <a:latin typeface="Lato"/>
                <a:ea typeface="Lato"/>
                <a:cs typeface="Lato"/>
                <a:sym typeface="Lato"/>
              </a:rPr>
              <a:t>Considerations when using Nanopore (ONT) sequencing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" name="Google Shape;301;g36dd4466453_0_130"/>
          <p:cNvSpPr txBox="1"/>
          <p:nvPr/>
        </p:nvSpPr>
        <p:spPr>
          <a:xfrm>
            <a:off x="828173" y="1156475"/>
            <a:ext cx="7872900" cy="3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Sample integrity</a:t>
            </a:r>
            <a:endParaRPr sz="500"/>
          </a:p>
          <a:p>
            <a:pPr marL="342900" marR="0" lvl="2" indent="-1270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Important to ensure high quality nucleic acid with little to no degradation</a:t>
            </a:r>
            <a:endParaRPr sz="500"/>
          </a:p>
          <a:p>
            <a:pPr marL="342900" marR="0" lvl="2" indent="-1270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" sz="1700">
                <a:latin typeface="Lato"/>
                <a:ea typeface="Lato"/>
                <a:cs typeface="Lato"/>
                <a:sym typeface="Lato"/>
              </a:rPr>
              <a:t>Optimize sample handling and storage</a:t>
            </a:r>
            <a:endParaRPr sz="5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sz="1700"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Library preparation kit (</a:t>
            </a:r>
            <a:r>
              <a:rPr lang="en" sz="1700" b="0" i="0" u="sng" strike="noStrike" cap="non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link</a:t>
            </a: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to available kits)</a:t>
            </a:r>
            <a:endParaRPr sz="500"/>
          </a:p>
          <a:p>
            <a:pPr marL="342900" marR="0" lvl="1" indent="-1270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DNA or RNA?</a:t>
            </a:r>
            <a:endParaRPr sz="500"/>
          </a:p>
          <a:p>
            <a:pPr marL="342900" marR="0" lvl="1" indent="-1270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PCR or PCR-free?</a:t>
            </a:r>
            <a:endParaRPr sz="500"/>
          </a:p>
          <a:p>
            <a:pPr marL="342900" marR="0" lvl="1" indent="-1270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Multiplexing or single sample?</a:t>
            </a:r>
            <a:endParaRPr sz="500"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None/>
            </a:pPr>
            <a:endParaRPr sz="17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" name="Google Shape;302;g36dd4466453_0_130"/>
          <p:cNvSpPr txBox="1"/>
          <p:nvPr/>
        </p:nvSpPr>
        <p:spPr>
          <a:xfrm>
            <a:off x="961950" y="4233825"/>
            <a:ext cx="7126200" cy="708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Kit used for ONT RNA mNGS SMART-9N: 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Rapid PCR barcoding kit (SQK-RPB114.24)</a:t>
            </a:r>
            <a:endParaRPr sz="17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"/>
          <p:cNvSpPr/>
          <p:nvPr/>
        </p:nvSpPr>
        <p:spPr>
          <a:xfrm>
            <a:off x="2778150" y="1269300"/>
            <a:ext cx="1602600" cy="1770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"/>
          <p:cNvSpPr/>
          <p:nvPr/>
        </p:nvSpPr>
        <p:spPr>
          <a:xfrm>
            <a:off x="337700" y="251875"/>
            <a:ext cx="8594700" cy="959100"/>
          </a:xfrm>
          <a:prstGeom prst="stripedRightArrow">
            <a:avLst>
              <a:gd name="adj1" fmla="val 67480"/>
              <a:gd name="adj2" fmla="val 147356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"/>
          <p:cNvSpPr txBox="1">
            <a:spLocks noGrp="1"/>
          </p:cNvSpPr>
          <p:nvPr>
            <p:ph type="title"/>
          </p:nvPr>
        </p:nvSpPr>
        <p:spPr>
          <a:xfrm>
            <a:off x="912875" y="287875"/>
            <a:ext cx="5907900" cy="8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400" b="1">
                <a:solidFill>
                  <a:srgbClr val="FFFFFF"/>
                </a:solidFill>
              </a:rPr>
              <a:t>ONT mNGS pipeline</a:t>
            </a:r>
            <a:endParaRPr sz="4400" b="1">
              <a:solidFill>
                <a:srgbClr val="FFFFFF"/>
              </a:solidFill>
            </a:endParaRPr>
          </a:p>
        </p:txBody>
      </p:sp>
      <p:sp>
        <p:nvSpPr>
          <p:cNvPr id="310" name="Google Shape;310;p3"/>
          <p:cNvSpPr txBox="1"/>
          <p:nvPr/>
        </p:nvSpPr>
        <p:spPr>
          <a:xfrm>
            <a:off x="250750" y="13113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Study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"/>
          <p:cNvSpPr txBox="1"/>
          <p:nvPr/>
        </p:nvSpPr>
        <p:spPr>
          <a:xfrm>
            <a:off x="1640775" y="13113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xNA extraction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"/>
          <p:cNvSpPr txBox="1"/>
          <p:nvPr/>
        </p:nvSpPr>
        <p:spPr>
          <a:xfrm>
            <a:off x="2950075" y="13875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Library prep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"/>
          <p:cNvSpPr txBox="1"/>
          <p:nvPr/>
        </p:nvSpPr>
        <p:spPr>
          <a:xfrm>
            <a:off x="4592180" y="13875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Sequencing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"/>
          <p:cNvSpPr txBox="1"/>
          <p:nvPr/>
        </p:nvSpPr>
        <p:spPr>
          <a:xfrm>
            <a:off x="6132613" y="13875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3"/>
          <p:cNvPicPr preferRelativeResize="0"/>
          <p:nvPr/>
        </p:nvPicPr>
        <p:blipFill rotWithShape="1">
          <a:blip r:embed="rId3">
            <a:alphaModFix/>
          </a:blip>
          <a:srcRect l="13069" t="15507" r="15080" b="13225"/>
          <a:stretch/>
        </p:blipFill>
        <p:spPr>
          <a:xfrm>
            <a:off x="379113" y="1914700"/>
            <a:ext cx="8718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149689">
            <a:off x="1852263" y="2113663"/>
            <a:ext cx="607525" cy="72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"/>
          <p:cNvPicPr preferRelativeResize="0"/>
          <p:nvPr/>
        </p:nvPicPr>
        <p:blipFill rotWithShape="1">
          <a:blip r:embed="rId5">
            <a:alphaModFix/>
          </a:blip>
          <a:srcRect b="50614"/>
          <a:stretch/>
        </p:blipFill>
        <p:spPr>
          <a:xfrm>
            <a:off x="2884550" y="2066066"/>
            <a:ext cx="1344551" cy="7259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8" name="Google Shape;318;p3"/>
          <p:cNvCxnSpPr/>
          <p:nvPr/>
        </p:nvCxnSpPr>
        <p:spPr>
          <a:xfrm rot="10800000" flipH="1">
            <a:off x="7638150" y="2419325"/>
            <a:ext cx="309300" cy="1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19" name="Google Shape;319;p3"/>
          <p:cNvGrpSpPr/>
          <p:nvPr/>
        </p:nvGrpSpPr>
        <p:grpSpPr>
          <a:xfrm>
            <a:off x="7765375" y="1751825"/>
            <a:ext cx="1252725" cy="1357550"/>
            <a:chOff x="7841575" y="1370825"/>
            <a:chExt cx="1252725" cy="1357550"/>
          </a:xfrm>
        </p:grpSpPr>
        <p:sp>
          <p:nvSpPr>
            <p:cNvPr id="320" name="Google Shape;320;p3"/>
            <p:cNvSpPr/>
            <p:nvPr/>
          </p:nvSpPr>
          <p:spPr>
            <a:xfrm>
              <a:off x="7841575" y="1486750"/>
              <a:ext cx="1122600" cy="11226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1" name="Google Shape;321;p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147262" y="1685076"/>
              <a:ext cx="502137" cy="7259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3"/>
            <p:cNvSpPr/>
            <p:nvPr/>
          </p:nvSpPr>
          <p:spPr>
            <a:xfrm>
              <a:off x="7887625" y="1532800"/>
              <a:ext cx="1030500" cy="10305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3" name="Google Shape;323;p3"/>
            <p:cNvCxnSpPr/>
            <p:nvPr/>
          </p:nvCxnSpPr>
          <p:spPr>
            <a:xfrm>
              <a:off x="8395325" y="244607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4" name="Google Shape;324;p3"/>
            <p:cNvCxnSpPr/>
            <p:nvPr/>
          </p:nvCxnSpPr>
          <p:spPr>
            <a:xfrm>
              <a:off x="8401375" y="137082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5" name="Google Shape;325;p3"/>
            <p:cNvCxnSpPr/>
            <p:nvPr/>
          </p:nvCxnSpPr>
          <p:spPr>
            <a:xfrm rot="10800000" flipH="1">
              <a:off x="8785000" y="2038325"/>
              <a:ext cx="309300" cy="15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26" name="Google Shape;326;p3"/>
          <p:cNvSpPr txBox="1"/>
          <p:nvPr/>
        </p:nvSpPr>
        <p:spPr>
          <a:xfrm>
            <a:off x="7650363" y="13875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Pathogen 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20225" y="2031195"/>
            <a:ext cx="1030500" cy="759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69000" y="2078858"/>
            <a:ext cx="871850" cy="703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"/>
          <p:cNvSpPr txBox="1">
            <a:spLocks noGrp="1"/>
          </p:cNvSpPr>
          <p:nvPr>
            <p:ph type="title"/>
          </p:nvPr>
        </p:nvSpPr>
        <p:spPr>
          <a:xfrm>
            <a:off x="939400" y="252725"/>
            <a:ext cx="6816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Library prep: RNA to sequencing library</a:t>
            </a:r>
            <a:endParaRPr/>
          </a:p>
        </p:txBody>
      </p:sp>
      <p:sp>
        <p:nvSpPr>
          <p:cNvPr id="344" name="Google Shape;344;p5"/>
          <p:cNvSpPr txBox="1">
            <a:spLocks noGrp="1"/>
          </p:cNvSpPr>
          <p:nvPr>
            <p:ph type="body" idx="1"/>
          </p:nvPr>
        </p:nvSpPr>
        <p:spPr>
          <a:xfrm>
            <a:off x="83100" y="923875"/>
            <a:ext cx="8520600" cy="10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Sequencing library = Pool of DNA inserts with sequencing adapters attached</a:t>
            </a:r>
            <a:endParaRPr sz="1700">
              <a:solidFill>
                <a:srgbClr val="000000"/>
              </a:solidFill>
            </a:endParaRPr>
          </a:p>
        </p:txBody>
      </p:sp>
      <p:grpSp>
        <p:nvGrpSpPr>
          <p:cNvPr id="345" name="Google Shape;345;p5"/>
          <p:cNvGrpSpPr/>
          <p:nvPr/>
        </p:nvGrpSpPr>
        <p:grpSpPr>
          <a:xfrm>
            <a:off x="1210800" y="2166773"/>
            <a:ext cx="1396599" cy="613277"/>
            <a:chOff x="687725" y="2186148"/>
            <a:chExt cx="1396599" cy="613277"/>
          </a:xfrm>
        </p:grpSpPr>
        <p:pic>
          <p:nvPicPr>
            <p:cNvPr id="346" name="Google Shape;346;p5"/>
            <p:cNvPicPr preferRelativeResize="0"/>
            <p:nvPr/>
          </p:nvPicPr>
          <p:blipFill rotWithShape="1">
            <a:blip r:embed="rId3">
              <a:alphaModFix/>
            </a:blip>
            <a:srcRect l="12215" t="5458" r="67405" b="88571"/>
            <a:stretch/>
          </p:blipFill>
          <p:spPr>
            <a:xfrm>
              <a:off x="687725" y="2186148"/>
              <a:ext cx="1396599" cy="6132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" name="Google Shape;347;p5"/>
            <p:cNvSpPr/>
            <p:nvPr/>
          </p:nvSpPr>
          <p:spPr>
            <a:xfrm>
              <a:off x="1172050" y="2702525"/>
              <a:ext cx="280800" cy="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8" name="Google Shape;348;p5"/>
          <p:cNvSpPr txBox="1"/>
          <p:nvPr/>
        </p:nvSpPr>
        <p:spPr>
          <a:xfrm>
            <a:off x="1419950" y="3014050"/>
            <a:ext cx="978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Extracted RNA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5"/>
          <p:cNvCxnSpPr/>
          <p:nvPr/>
        </p:nvCxnSpPr>
        <p:spPr>
          <a:xfrm rot="10800000" flipH="1">
            <a:off x="3206225" y="2625100"/>
            <a:ext cx="678000" cy="9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0" name="Google Shape;350;p5"/>
          <p:cNvGrpSpPr/>
          <p:nvPr/>
        </p:nvGrpSpPr>
        <p:grpSpPr>
          <a:xfrm>
            <a:off x="4740063" y="2173213"/>
            <a:ext cx="2681960" cy="1455512"/>
            <a:chOff x="4740063" y="2173213"/>
            <a:chExt cx="2681960" cy="1455512"/>
          </a:xfrm>
        </p:grpSpPr>
        <p:sp>
          <p:nvSpPr>
            <p:cNvPr id="351" name="Google Shape;351;p5"/>
            <p:cNvSpPr txBox="1"/>
            <p:nvPr/>
          </p:nvSpPr>
          <p:spPr>
            <a:xfrm>
              <a:off x="5408625" y="3013125"/>
              <a:ext cx="1638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Sequencing library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2" name="Google Shape;352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00775" y="2173213"/>
              <a:ext cx="2307173" cy="278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" name="Google Shape;353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14850" y="2451788"/>
              <a:ext cx="2307173" cy="278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" name="Google Shape;354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40063" y="2691700"/>
              <a:ext cx="2307173" cy="278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5" name="Google Shape;355;p5"/>
          <p:cNvSpPr/>
          <p:nvPr/>
        </p:nvSpPr>
        <p:spPr>
          <a:xfrm rot="2541566">
            <a:off x="1748796" y="2649857"/>
            <a:ext cx="188786" cy="2229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dd4466453_0_196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200" b="1">
                <a:latin typeface="Lato"/>
                <a:ea typeface="Lato"/>
                <a:cs typeface="Lato"/>
                <a:sym typeface="Lato"/>
              </a:rPr>
              <a:t>Anatomy of a completed ONT library</a:t>
            </a:r>
            <a:endParaRPr sz="2200"/>
          </a:p>
        </p:txBody>
      </p:sp>
      <p:pic>
        <p:nvPicPr>
          <p:cNvPr id="361" name="Google Shape;361;g36dd4466453_0_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262" y="1048696"/>
            <a:ext cx="7700275" cy="143625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6dd4466453_0_196"/>
          <p:cNvSpPr/>
          <p:nvPr/>
        </p:nvSpPr>
        <p:spPr>
          <a:xfrm>
            <a:off x="3840475" y="877250"/>
            <a:ext cx="4689300" cy="41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g36dd4466453_0_196"/>
          <p:cNvSpPr/>
          <p:nvPr/>
        </p:nvSpPr>
        <p:spPr>
          <a:xfrm>
            <a:off x="5272100" y="2110433"/>
            <a:ext cx="2021100" cy="41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36dd4466453_0_196"/>
          <p:cNvSpPr txBox="1"/>
          <p:nvPr/>
        </p:nvSpPr>
        <p:spPr>
          <a:xfrm>
            <a:off x="4164375" y="931150"/>
            <a:ext cx="66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Insert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65" name="Google Shape;365;g36dd4466453_0_196"/>
          <p:cNvSpPr txBox="1"/>
          <p:nvPr/>
        </p:nvSpPr>
        <p:spPr>
          <a:xfrm>
            <a:off x="4724400" y="2034225"/>
            <a:ext cx="1710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Rapid attachment barcode flanking region 1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66" name="Google Shape;366;g36dd4466453_0_196"/>
          <p:cNvSpPr txBox="1"/>
          <p:nvPr/>
        </p:nvSpPr>
        <p:spPr>
          <a:xfrm>
            <a:off x="6322725" y="2034225"/>
            <a:ext cx="1776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Rapid attachment barcode flanking region 2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67" name="Google Shape;367;g36dd4466453_0_196"/>
          <p:cNvSpPr txBox="1"/>
          <p:nvPr/>
        </p:nvSpPr>
        <p:spPr>
          <a:xfrm>
            <a:off x="5902975" y="931150"/>
            <a:ext cx="869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Barcode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68" name="Google Shape;368;g36dd4466453_0_196"/>
          <p:cNvSpPr txBox="1"/>
          <p:nvPr/>
        </p:nvSpPr>
        <p:spPr>
          <a:xfrm>
            <a:off x="7041225" y="715750"/>
            <a:ext cx="1203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Sequencing Adapter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69" name="Google Shape;369;g36dd4466453_0_196"/>
          <p:cNvSpPr txBox="1"/>
          <p:nvPr/>
        </p:nvSpPr>
        <p:spPr>
          <a:xfrm>
            <a:off x="7940400" y="1185325"/>
            <a:ext cx="1203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Motor protein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370" name="Google Shape;370;g36dd4466453_0_196"/>
          <p:cNvCxnSpPr/>
          <p:nvPr/>
        </p:nvCxnSpPr>
        <p:spPr>
          <a:xfrm rot="10800000" flipH="1">
            <a:off x="7963850" y="1602950"/>
            <a:ext cx="154200" cy="18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6dd4466453_0_210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200" b="1">
                <a:latin typeface="Lato"/>
                <a:ea typeface="Lato"/>
                <a:cs typeface="Lato"/>
                <a:sym typeface="Lato"/>
              </a:rPr>
              <a:t>Anatomy of a completed ONT library</a:t>
            </a:r>
            <a:endParaRPr sz="2200"/>
          </a:p>
        </p:txBody>
      </p:sp>
      <p:pic>
        <p:nvPicPr>
          <p:cNvPr id="376" name="Google Shape;376;g36dd4466453_0_2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262" y="1048696"/>
            <a:ext cx="7700275" cy="1436253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6dd4466453_0_210"/>
          <p:cNvSpPr/>
          <p:nvPr/>
        </p:nvSpPr>
        <p:spPr>
          <a:xfrm>
            <a:off x="3840475" y="877250"/>
            <a:ext cx="4689300" cy="41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g36dd4466453_0_210"/>
          <p:cNvSpPr/>
          <p:nvPr/>
        </p:nvSpPr>
        <p:spPr>
          <a:xfrm>
            <a:off x="5272100" y="2110433"/>
            <a:ext cx="2021100" cy="41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g36dd4466453_0_210"/>
          <p:cNvSpPr txBox="1"/>
          <p:nvPr/>
        </p:nvSpPr>
        <p:spPr>
          <a:xfrm>
            <a:off x="4164375" y="931150"/>
            <a:ext cx="66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Insert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80" name="Google Shape;380;g36dd4466453_0_210"/>
          <p:cNvSpPr txBox="1"/>
          <p:nvPr/>
        </p:nvSpPr>
        <p:spPr>
          <a:xfrm>
            <a:off x="4724400" y="2034225"/>
            <a:ext cx="1710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Rapid attachment barcode flanking region 1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81" name="Google Shape;381;g36dd4466453_0_210"/>
          <p:cNvSpPr txBox="1"/>
          <p:nvPr/>
        </p:nvSpPr>
        <p:spPr>
          <a:xfrm>
            <a:off x="6322725" y="2034225"/>
            <a:ext cx="1776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Rapid attachment barcode flanking region 2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82" name="Google Shape;382;g36dd4466453_0_210"/>
          <p:cNvSpPr txBox="1"/>
          <p:nvPr/>
        </p:nvSpPr>
        <p:spPr>
          <a:xfrm>
            <a:off x="5902975" y="931150"/>
            <a:ext cx="869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Barcode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83" name="Google Shape;383;g36dd4466453_0_210"/>
          <p:cNvSpPr txBox="1"/>
          <p:nvPr/>
        </p:nvSpPr>
        <p:spPr>
          <a:xfrm>
            <a:off x="7041225" y="715750"/>
            <a:ext cx="1203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Sequencing Adapter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84" name="Google Shape;384;g36dd4466453_0_210"/>
          <p:cNvSpPr txBox="1"/>
          <p:nvPr/>
        </p:nvSpPr>
        <p:spPr>
          <a:xfrm>
            <a:off x="7940400" y="1185325"/>
            <a:ext cx="1203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Motor protein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385" name="Google Shape;385;g36dd4466453_0_210"/>
          <p:cNvCxnSpPr/>
          <p:nvPr/>
        </p:nvCxnSpPr>
        <p:spPr>
          <a:xfrm rot="10800000" flipH="1">
            <a:off x="7963850" y="1602950"/>
            <a:ext cx="154200" cy="18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86" name="Google Shape;386;g36dd4466453_0_210"/>
          <p:cNvPicPr preferRelativeResize="0"/>
          <p:nvPr/>
        </p:nvPicPr>
        <p:blipFill rotWithShape="1">
          <a:blip r:embed="rId4">
            <a:alphaModFix/>
          </a:blip>
          <a:srcRect r="61834" b="62167"/>
          <a:stretch/>
        </p:blipFill>
        <p:spPr>
          <a:xfrm>
            <a:off x="2963543" y="2999525"/>
            <a:ext cx="3260965" cy="20435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6dd4466453_0_225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200" b="1">
                <a:latin typeface="Lato"/>
                <a:ea typeface="Lato"/>
                <a:cs typeface="Lato"/>
                <a:sym typeface="Lato"/>
              </a:rPr>
              <a:t>Anatomy of a completed ONT library</a:t>
            </a:r>
            <a:endParaRPr sz="2200"/>
          </a:p>
        </p:txBody>
      </p:sp>
      <p:sp>
        <p:nvSpPr>
          <p:cNvPr id="392" name="Google Shape;392;g36dd4466453_0_225"/>
          <p:cNvSpPr txBox="1">
            <a:spLocks noGrp="1"/>
          </p:cNvSpPr>
          <p:nvPr>
            <p:ph type="body" idx="4294967295"/>
          </p:nvPr>
        </p:nvSpPr>
        <p:spPr>
          <a:xfrm>
            <a:off x="361725" y="2562875"/>
            <a:ext cx="7969200" cy="24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lang="en" sz="1400" b="1">
                <a:solidFill>
                  <a:srgbClr val="38761D"/>
                </a:solidFill>
              </a:rPr>
              <a:t>Insert</a:t>
            </a:r>
            <a:r>
              <a:rPr lang="en" sz="1300">
                <a:solidFill>
                  <a:srgbClr val="000000"/>
                </a:solidFill>
              </a:rPr>
              <a:t>: cDNA target that will be sequenced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lang="en" sz="1400" b="1">
                <a:solidFill>
                  <a:srgbClr val="CC0000"/>
                </a:solidFill>
              </a:rPr>
              <a:t>Rapid attachment barcode flanking region 1</a:t>
            </a:r>
            <a:r>
              <a:rPr lang="en" sz="1300">
                <a:solidFill>
                  <a:srgbClr val="000000"/>
                </a:solidFill>
              </a:rPr>
              <a:t>: adapter region </a:t>
            </a:r>
            <a:r>
              <a:rPr lang="en" sz="1300">
                <a:solidFill>
                  <a:schemeClr val="dk1"/>
                </a:solidFill>
              </a:rPr>
              <a:t>allows barcode primer to bind for PCR priming; </a:t>
            </a:r>
            <a:r>
              <a:rPr lang="en" sz="1300">
                <a:solidFill>
                  <a:srgbClr val="000000"/>
                </a:solidFill>
              </a:rPr>
              <a:t>added during cDNA synthesis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lang="en" sz="1400" b="1">
                <a:solidFill>
                  <a:srgbClr val="FF00FF"/>
                </a:solidFill>
              </a:rPr>
              <a:t>Barcode</a:t>
            </a:r>
            <a:r>
              <a:rPr lang="en" sz="1300">
                <a:solidFill>
                  <a:srgbClr val="000000"/>
                </a:solidFill>
              </a:rPr>
              <a:t>: DNA barcode specific to each sample; added during PCR amplification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lang="en" sz="1400" b="1">
                <a:solidFill>
                  <a:srgbClr val="CC0000"/>
                </a:solidFill>
              </a:rPr>
              <a:t>Rapid attachment barcode flanking region 2</a:t>
            </a:r>
            <a:r>
              <a:rPr lang="en" sz="1300">
                <a:solidFill>
                  <a:srgbClr val="000000"/>
                </a:solidFill>
              </a:rPr>
              <a:t>: includes special molecule for sequencing adapter ligation; </a:t>
            </a:r>
            <a:r>
              <a:rPr lang="en" sz="1300">
                <a:solidFill>
                  <a:schemeClr val="dk1"/>
                </a:solidFill>
              </a:rPr>
              <a:t>included in barcode primer, added during PCR amplification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lang="en" sz="1400" b="1">
                <a:solidFill>
                  <a:srgbClr val="0B5394"/>
                </a:solidFill>
              </a:rPr>
              <a:t>Sequencing adapter</a:t>
            </a:r>
            <a:r>
              <a:rPr lang="en" sz="1300">
                <a:solidFill>
                  <a:srgbClr val="000000"/>
                </a:solidFill>
              </a:rPr>
              <a:t>: allows binding and movement of DNA through flow cell sequencing pores; </a:t>
            </a:r>
            <a:r>
              <a:rPr lang="en" sz="1300">
                <a:solidFill>
                  <a:schemeClr val="dk1"/>
                </a:solidFill>
              </a:rPr>
              <a:t>includes motor protein; </a:t>
            </a:r>
            <a:r>
              <a:rPr lang="en" sz="1300">
                <a:solidFill>
                  <a:srgbClr val="000000"/>
                </a:solidFill>
              </a:rPr>
              <a:t>added during sequencing adapter ligation</a:t>
            </a:r>
            <a:endParaRPr sz="1300">
              <a:solidFill>
                <a:srgbClr val="000000"/>
              </a:solidFill>
            </a:endParaRPr>
          </a:p>
        </p:txBody>
      </p:sp>
      <p:pic>
        <p:nvPicPr>
          <p:cNvPr id="393" name="Google Shape;393;g36dd4466453_0_2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262" y="1048696"/>
            <a:ext cx="7700275" cy="1436253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6dd4466453_0_225"/>
          <p:cNvSpPr/>
          <p:nvPr/>
        </p:nvSpPr>
        <p:spPr>
          <a:xfrm>
            <a:off x="3840475" y="877250"/>
            <a:ext cx="4689300" cy="41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g36dd4466453_0_225"/>
          <p:cNvSpPr/>
          <p:nvPr/>
        </p:nvSpPr>
        <p:spPr>
          <a:xfrm>
            <a:off x="5272100" y="2110433"/>
            <a:ext cx="2021100" cy="41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g36dd4466453_0_225"/>
          <p:cNvSpPr txBox="1"/>
          <p:nvPr/>
        </p:nvSpPr>
        <p:spPr>
          <a:xfrm>
            <a:off x="4164375" y="931150"/>
            <a:ext cx="66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Insert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97" name="Google Shape;397;g36dd4466453_0_225"/>
          <p:cNvSpPr txBox="1"/>
          <p:nvPr/>
        </p:nvSpPr>
        <p:spPr>
          <a:xfrm>
            <a:off x="4724400" y="2034225"/>
            <a:ext cx="1710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Rapid attachment barcode flanking region 1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98" name="Google Shape;398;g36dd4466453_0_225"/>
          <p:cNvSpPr txBox="1"/>
          <p:nvPr/>
        </p:nvSpPr>
        <p:spPr>
          <a:xfrm>
            <a:off x="6322725" y="2034225"/>
            <a:ext cx="1776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Rapid attachment barcode flanking region 2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99" name="Google Shape;399;g36dd4466453_0_225"/>
          <p:cNvSpPr txBox="1"/>
          <p:nvPr/>
        </p:nvSpPr>
        <p:spPr>
          <a:xfrm>
            <a:off x="5902975" y="931150"/>
            <a:ext cx="869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Barcode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400" name="Google Shape;400;g36dd4466453_0_225"/>
          <p:cNvSpPr txBox="1"/>
          <p:nvPr/>
        </p:nvSpPr>
        <p:spPr>
          <a:xfrm>
            <a:off x="7041225" y="715750"/>
            <a:ext cx="1203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Sequencing Adapter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401" name="Google Shape;401;g36dd4466453_0_225"/>
          <p:cNvSpPr txBox="1"/>
          <p:nvPr/>
        </p:nvSpPr>
        <p:spPr>
          <a:xfrm>
            <a:off x="7940400" y="1185325"/>
            <a:ext cx="1203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Motor protein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402" name="Google Shape;402;g36dd4466453_0_225"/>
          <p:cNvCxnSpPr/>
          <p:nvPr/>
        </p:nvCxnSpPr>
        <p:spPr>
          <a:xfrm rot="10800000" flipH="1">
            <a:off x="7963850" y="1602950"/>
            <a:ext cx="154200" cy="18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6dd4466453_0_136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200" b="1">
                <a:latin typeface="Lato"/>
                <a:ea typeface="Lato"/>
                <a:cs typeface="Lato"/>
                <a:sym typeface="Lato"/>
              </a:rPr>
              <a:t>RNA mNGS using Nanopore</a:t>
            </a:r>
            <a:endParaRPr sz="2200"/>
          </a:p>
        </p:txBody>
      </p:sp>
      <p:sp>
        <p:nvSpPr>
          <p:cNvPr id="334" name="Google Shape;334;g36dd4466453_0_136"/>
          <p:cNvSpPr txBox="1"/>
          <p:nvPr/>
        </p:nvSpPr>
        <p:spPr>
          <a:xfrm>
            <a:off x="471500" y="960125"/>
            <a:ext cx="8259600" cy="3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For RNA mNGS using Nanopore, we use the SMART-9N protocol with minor modifications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Increase concentration of oligos for reverse transcription steps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Adjust annealing temperature for PCR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marR="0" lvl="1" indent="177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None/>
            </a:pPr>
            <a:endParaRPr sz="12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1" indent="177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None/>
            </a:pPr>
            <a:endParaRPr sz="12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None/>
            </a:pPr>
            <a:endParaRPr sz="12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None/>
            </a:pPr>
            <a:endParaRPr sz="12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" name="Google Shape;335;g36dd4466453_0_136"/>
          <p:cNvSpPr txBox="1"/>
          <p:nvPr/>
        </p:nvSpPr>
        <p:spPr>
          <a:xfrm>
            <a:off x="471500" y="4697725"/>
            <a:ext cx="3299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https://doi.org/10.12688/wellcomeopenres.17170.2</a:t>
            </a:r>
            <a:endParaRPr/>
          </a:p>
        </p:txBody>
      </p:sp>
      <p:pic>
        <p:nvPicPr>
          <p:cNvPr id="336" name="Google Shape;336;g36dd4466453_0_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801" y="2057400"/>
            <a:ext cx="4674176" cy="264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6dd4466453_0_1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8825" y="2923775"/>
            <a:ext cx="3823199" cy="1773956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6dd4466453_0_136"/>
          <p:cNvSpPr txBox="1"/>
          <p:nvPr/>
        </p:nvSpPr>
        <p:spPr>
          <a:xfrm>
            <a:off x="5208825" y="469772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hlinkClick r:id="rId6"/>
              </a:rPr>
              <a:t>dx.doi.org/10.17504/protocols.io.7w5hpg6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71667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100" b="1">
                <a:latin typeface="Lato"/>
                <a:ea typeface="Lato"/>
                <a:cs typeface="Lato"/>
                <a:sym typeface="Lato"/>
              </a:rPr>
              <a:t>Steps in RNA mNGS library prep for ONT (SMART-9N)</a:t>
            </a:r>
            <a:endParaRPr/>
          </a:p>
        </p:txBody>
      </p:sp>
      <p:sp>
        <p:nvSpPr>
          <p:cNvPr id="408" name="Google Shape;408;p6"/>
          <p:cNvSpPr txBox="1">
            <a:spLocks noGrp="1"/>
          </p:cNvSpPr>
          <p:nvPr>
            <p:ph type="body" idx="4294967295"/>
          </p:nvPr>
        </p:nvSpPr>
        <p:spPr>
          <a:xfrm>
            <a:off x="505775" y="1131575"/>
            <a:ext cx="8097900" cy="24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Annealing</a:t>
            </a:r>
            <a:endParaRPr sz="170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Reverse transcription + template switching</a:t>
            </a:r>
            <a:endParaRPr sz="170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Barcoding PCR </a:t>
            </a:r>
            <a:endParaRPr sz="170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Clean-up, quantification, and pooling</a:t>
            </a:r>
            <a:endParaRPr sz="170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Sequencing adapter ligation</a:t>
            </a:r>
            <a:endParaRPr sz="1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100" b="1">
                <a:latin typeface="Lato"/>
                <a:ea typeface="Lato"/>
                <a:cs typeface="Lato"/>
                <a:sym typeface="Lato"/>
              </a:rPr>
              <a:t>RNA mNGS library prep for ONT (SMART-9N)</a:t>
            </a:r>
            <a:endParaRPr/>
          </a:p>
        </p:txBody>
      </p:sp>
      <p:pic>
        <p:nvPicPr>
          <p:cNvPr id="414" name="Google Shape;41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1700" y="894566"/>
            <a:ext cx="7121992" cy="4096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8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100" b="1">
                <a:latin typeface="Lato"/>
                <a:ea typeface="Lato"/>
                <a:cs typeface="Lato"/>
                <a:sym typeface="Lato"/>
              </a:rPr>
              <a:t>RNA mNGS library prep for ONT (SMART-9N)</a:t>
            </a:r>
            <a:endParaRPr/>
          </a:p>
        </p:txBody>
      </p:sp>
      <p:sp>
        <p:nvSpPr>
          <p:cNvPr id="420" name="Google Shape;420;p8"/>
          <p:cNvSpPr txBox="1"/>
          <p:nvPr/>
        </p:nvSpPr>
        <p:spPr>
          <a:xfrm>
            <a:off x="362334" y="951023"/>
            <a:ext cx="8568000" cy="39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0. Starting material: RNA or TNA</a:t>
            </a:r>
            <a:r>
              <a:rPr lang="en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(pre-PCR lab)</a:t>
            </a:r>
            <a:endParaRPr sz="13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266700" marR="0" lvl="1" indent="-254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•"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RNA only: move on to annealing and reverse transcription</a:t>
            </a:r>
            <a:endParaRPr sz="11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266700" marR="0" lvl="1" indent="-165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266700" marR="0" lvl="1" indent="-254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•"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TNA (total nucleic acid): need to remove DNA</a:t>
            </a:r>
            <a:endParaRPr sz="11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85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AutoNum type="arabicPeriod"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Aliquot sample</a:t>
            </a:r>
            <a:endParaRPr sz="11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85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AutoNum type="arabicPeriod"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DNAse treatment</a:t>
            </a:r>
            <a:endParaRPr sz="11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85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AutoNum type="arabicPeriod"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SPRI bead cleanup (2x)</a:t>
            </a:r>
            <a:endParaRPr sz="11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6985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AutoNum type="arabicPeriod"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Qubit quantification</a:t>
            </a:r>
            <a:endParaRPr sz="11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100" b="1">
                <a:latin typeface="Lato"/>
                <a:ea typeface="Lato"/>
                <a:cs typeface="Lato"/>
                <a:sym typeface="Lato"/>
              </a:rPr>
              <a:t>RNA mNGS library prep for ONT (SMART-9N)</a:t>
            </a:r>
            <a:endParaRPr/>
          </a:p>
        </p:txBody>
      </p:sp>
      <p:sp>
        <p:nvSpPr>
          <p:cNvPr id="426" name="Google Shape;426;p9"/>
          <p:cNvSpPr txBox="1"/>
          <p:nvPr/>
        </p:nvSpPr>
        <p:spPr>
          <a:xfrm>
            <a:off x="362325" y="951025"/>
            <a:ext cx="5007000" cy="20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1. Annealing </a:t>
            </a:r>
            <a:endParaRPr sz="1600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(pre-PCR lab)</a:t>
            </a:r>
            <a:endParaRPr sz="1600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RLB-9N primer: ONT adaptor with random nonamer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ONT adaptor sequence corresponds to the transposase adapter used in Rapid PCR Barcoding kit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27" name="Google Shape;42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4300" y="1250125"/>
            <a:ext cx="2387292" cy="151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0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100" b="1">
                <a:latin typeface="Lato"/>
                <a:ea typeface="Lato"/>
                <a:cs typeface="Lato"/>
                <a:sym typeface="Lato"/>
              </a:rPr>
              <a:t>RNA mNGS library prep for ONT (SMART-9N)</a:t>
            </a:r>
            <a:endParaRPr/>
          </a:p>
        </p:txBody>
      </p:sp>
      <p:sp>
        <p:nvSpPr>
          <p:cNvPr id="433" name="Google Shape;433;p10"/>
          <p:cNvSpPr txBox="1"/>
          <p:nvPr/>
        </p:nvSpPr>
        <p:spPr>
          <a:xfrm>
            <a:off x="362325" y="951025"/>
            <a:ext cx="4978500" cy="25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2. Reverse transcription + template switching </a:t>
            </a:r>
            <a:r>
              <a:rPr lang="en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(pre-PCR lab)</a:t>
            </a:r>
            <a:endParaRPr sz="1600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RNase OUT + DTT → degrade any RNases present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Special RTase is used that adds CCC at the end (MMLV)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RLB-TSO: Template Switching Oligo → anneals to CCC and generates the template switched oligo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34" name="Google Shape;43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6560" y="1021525"/>
            <a:ext cx="2986864" cy="373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1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100" b="1">
                <a:latin typeface="Lato"/>
                <a:ea typeface="Lato"/>
                <a:cs typeface="Lato"/>
                <a:sym typeface="Lato"/>
              </a:rPr>
              <a:t>RNA mNGS library prep for ONT (SMART-9N)</a:t>
            </a:r>
            <a:endParaRPr/>
          </a:p>
        </p:txBody>
      </p:sp>
      <p:sp>
        <p:nvSpPr>
          <p:cNvPr id="440" name="Google Shape;440;p11"/>
          <p:cNvSpPr txBox="1"/>
          <p:nvPr/>
        </p:nvSpPr>
        <p:spPr>
          <a:xfrm>
            <a:off x="362325" y="951025"/>
            <a:ext cx="4594800" cy="40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3. Barcoding PCR </a:t>
            </a:r>
            <a:endParaRPr sz="1600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(prep pre-PCR lab, amplify in post-PCR)</a:t>
            </a:r>
            <a:endParaRPr sz="1600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Barcoding primers: single barcode, same primer amplifies both ends of each sample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Barcoding primers have a modified end to facilitate sequencing adapter ligation 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ONT calls these “single rapid attachment primers” and they come with the ONT kit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PCR conditions: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○"/>
            </a:pPr>
            <a:r>
              <a:rPr lang="en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Number of PCR cycles depends on the input; for low input, perform 25 cycles</a:t>
            </a:r>
            <a:endParaRPr sz="12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○"/>
            </a:pPr>
            <a:r>
              <a:rPr lang="en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Long extension time used since samples are unfragmented</a:t>
            </a:r>
            <a:endParaRPr sz="12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41" name="Google Shape;44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6125" y="1885976"/>
            <a:ext cx="2997274" cy="18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2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100" b="1">
                <a:latin typeface="Lato"/>
                <a:ea typeface="Lato"/>
                <a:cs typeface="Lato"/>
                <a:sym typeface="Lato"/>
              </a:rPr>
              <a:t>RNA mNGS library prep for ONT (SMART-9N)</a:t>
            </a:r>
            <a:endParaRPr/>
          </a:p>
        </p:txBody>
      </p:sp>
      <p:sp>
        <p:nvSpPr>
          <p:cNvPr id="447" name="Google Shape;447;p12"/>
          <p:cNvSpPr txBox="1"/>
          <p:nvPr/>
        </p:nvSpPr>
        <p:spPr>
          <a:xfrm>
            <a:off x="362325" y="951025"/>
            <a:ext cx="4594800" cy="3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4. Clean-up, QC, and pooling</a:t>
            </a:r>
            <a:endParaRPr sz="1600" b="1"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post-PCR lab)</a:t>
            </a:r>
            <a:endParaRPr sz="1600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Perform 0.6x SPRI clean-up of libraries after barcoding PCR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 QC (quantity and quality)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</a:pPr>
            <a:r>
              <a:rPr lang="en"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If running Tapestation, use the genomic screentape</a:t>
            </a:r>
            <a:endParaRPr sz="12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</a:pPr>
            <a:r>
              <a:rPr lang="en"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Ideal size range should be ~1000-7000 bp</a:t>
            </a:r>
            <a:endParaRPr sz="12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</a:pPr>
            <a:r>
              <a:rPr lang="en"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Pooling</a:t>
            </a:r>
            <a:endParaRPr sz="12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</a:pPr>
            <a:r>
              <a:rPr lang="en"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goal is to have 100-150 fmol of library in 11µL</a:t>
            </a:r>
            <a:endParaRPr sz="12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</a:pPr>
            <a:r>
              <a:rPr lang="en"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(This corresponds to a concentration of 10-15 nM)</a:t>
            </a:r>
            <a:endParaRPr sz="12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200"/>
              <a:buFont typeface="Lato"/>
              <a:buChar char="○"/>
            </a:pPr>
            <a:r>
              <a:rPr lang="en"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Pooling can be done in nuclease-free water or EB as the kit says (anecdotally, water works better)</a:t>
            </a:r>
            <a:endParaRPr sz="12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48" name="Google Shape;44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6125" y="1885976"/>
            <a:ext cx="2997274" cy="18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6deab05443_0_0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200" b="1">
                <a:latin typeface="Lato"/>
                <a:ea typeface="Lato"/>
                <a:cs typeface="Lato"/>
                <a:sym typeface="Lato"/>
              </a:rPr>
              <a:t>RNA mNGS library prep for ONT (SMART-9N)</a:t>
            </a:r>
            <a:endParaRPr sz="2200"/>
          </a:p>
        </p:txBody>
      </p:sp>
      <p:sp>
        <p:nvSpPr>
          <p:cNvPr id="454" name="Google Shape;454;g36deab05443_0_0"/>
          <p:cNvSpPr txBox="1"/>
          <p:nvPr/>
        </p:nvSpPr>
        <p:spPr>
          <a:xfrm>
            <a:off x="362325" y="951025"/>
            <a:ext cx="4594800" cy="25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</a:t>
            </a:r>
            <a:r>
              <a:rPr lang="en" sz="1800" b="1"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n" sz="1800" b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" sz="1800" b="1">
                <a:latin typeface="Lato"/>
                <a:ea typeface="Lato"/>
                <a:cs typeface="Lato"/>
                <a:sym typeface="Lato"/>
              </a:rPr>
              <a:t>Sequencing adapter ligation </a:t>
            </a:r>
            <a:endParaRPr sz="1800" b="1"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" sz="14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post-PCR lab, immediately before sequencing)</a:t>
            </a:r>
            <a:endParaRPr sz="1400" b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ONT sequencing adapters have a motor protein attached to it that helps guide the DNA through the nanopores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Ligation of adapter occurs in 5 min using a proprietary click chemistry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1400"/>
              </a:spcBef>
              <a:spcAft>
                <a:spcPts val="1400"/>
              </a:spcAft>
              <a:buNone/>
            </a:pP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55" name="Google Shape;455;g36deab0544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7125" y="1365741"/>
            <a:ext cx="3882073" cy="327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g36deab05443_0_0"/>
          <p:cNvPicPr preferRelativeResize="0"/>
          <p:nvPr/>
        </p:nvPicPr>
        <p:blipFill rotWithShape="1">
          <a:blip r:embed="rId4">
            <a:alphaModFix/>
          </a:blip>
          <a:srcRect r="61834" b="62167"/>
          <a:stretch/>
        </p:blipFill>
        <p:spPr>
          <a:xfrm>
            <a:off x="1783077" y="3338875"/>
            <a:ext cx="2647077" cy="165887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457" name="Google Shape;457;g36deab05443_0_0"/>
          <p:cNvCxnSpPr/>
          <p:nvPr/>
        </p:nvCxnSpPr>
        <p:spPr>
          <a:xfrm flipH="1">
            <a:off x="4406200" y="3917625"/>
            <a:ext cx="1174500" cy="6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378209" y="1334779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 b="1" dirty="0">
                <a:solidFill>
                  <a:srgbClr val="666666"/>
                </a:solidFill>
              </a:rPr>
              <a:t>Introduction to </a:t>
            </a:r>
            <a:endParaRPr sz="4000" b="1" dirty="0">
              <a:solidFill>
                <a:srgbClr val="666666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000" b="1" dirty="0">
                <a:solidFill>
                  <a:srgbClr val="666666"/>
                </a:solidFill>
              </a:rPr>
              <a:t>SPRI Clean-ups</a:t>
            </a:r>
            <a:endParaRPr sz="4000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are SPRI beads?</a:t>
            </a:r>
            <a:endParaRPr/>
          </a:p>
        </p:txBody>
      </p:sp>
      <p:sp>
        <p:nvSpPr>
          <p:cNvPr id="61" name="Google Shape;61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EB Garamond"/>
              <a:buChar char="●"/>
            </a:pPr>
            <a:r>
              <a:rPr lang="en" sz="1600">
                <a:solidFill>
                  <a:srgbClr val="000000"/>
                </a:solidFill>
              </a:rPr>
              <a:t>Solid-phase Reversible Immobilization (SPRI) beads are paramagnetic beads used for </a:t>
            </a:r>
            <a:r>
              <a:rPr lang="en" sz="1600" b="1">
                <a:solidFill>
                  <a:srgbClr val="000000"/>
                </a:solidFill>
              </a:rPr>
              <a:t>purification</a:t>
            </a:r>
            <a:r>
              <a:rPr lang="en" sz="1600">
                <a:solidFill>
                  <a:srgbClr val="000000"/>
                </a:solidFill>
              </a:rPr>
              <a:t> and </a:t>
            </a:r>
            <a:r>
              <a:rPr lang="en" sz="1600" b="1">
                <a:solidFill>
                  <a:srgbClr val="000000"/>
                </a:solidFill>
              </a:rPr>
              <a:t>size selection</a:t>
            </a:r>
            <a:r>
              <a:rPr lang="en" sz="1600">
                <a:solidFill>
                  <a:srgbClr val="000000"/>
                </a:solidFill>
              </a:rPr>
              <a:t> of nucleic acids such as:</a:t>
            </a:r>
            <a:endParaRPr sz="1600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>
                <a:solidFill>
                  <a:srgbClr val="000000"/>
                </a:solidFill>
              </a:rPr>
              <a:t>PCR amplicons</a:t>
            </a:r>
            <a:endParaRPr sz="1600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 b="1">
                <a:solidFill>
                  <a:srgbClr val="000000"/>
                </a:solidFill>
              </a:rPr>
              <a:t>NGS libraries</a:t>
            </a:r>
            <a:endParaRPr sz="1600" b="1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 b="1">
                <a:solidFill>
                  <a:srgbClr val="000000"/>
                </a:solidFill>
              </a:rPr>
              <a:t>RNA/DNA</a:t>
            </a:r>
            <a:endParaRPr sz="16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1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</a:rPr>
              <a:t>What are SPRI beads?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pic>
        <p:nvPicPr>
          <p:cNvPr id="67" name="Google Shape;67;p3"/>
          <p:cNvPicPr preferRelativeResize="0"/>
          <p:nvPr/>
        </p:nvPicPr>
        <p:blipFill rotWithShape="1">
          <a:blip r:embed="rId3">
            <a:alphaModFix/>
          </a:blip>
          <a:srcRect l="5953" t="2484" b="2331"/>
          <a:stretch/>
        </p:blipFill>
        <p:spPr>
          <a:xfrm>
            <a:off x="1741700" y="688500"/>
            <a:ext cx="5660602" cy="421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How do SPRI beads work? </a:t>
            </a:r>
            <a:r>
              <a:rPr lang="en" i="1"/>
              <a:t>Purification</a:t>
            </a:r>
            <a:endParaRPr i="1"/>
          </a:p>
        </p:txBody>
      </p:sp>
      <p:sp>
        <p:nvSpPr>
          <p:cNvPr id="73" name="Google Shape;73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Under the right conditions, nucleic acids precipitate on the surface of the beads. The following are required:</a:t>
            </a:r>
            <a:endParaRPr sz="1600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</a:pPr>
            <a:r>
              <a:rPr lang="en" sz="1600" b="1">
                <a:solidFill>
                  <a:schemeClr val="dk1"/>
                </a:solidFill>
              </a:rPr>
              <a:t>Crowding agent</a:t>
            </a:r>
            <a:r>
              <a:rPr lang="en" sz="1600">
                <a:solidFill>
                  <a:schemeClr val="dk1"/>
                </a:solidFill>
              </a:rPr>
              <a:t> to force nucleic acids out of solution.</a:t>
            </a:r>
            <a:endParaRPr sz="1600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EB Garamond"/>
              <a:buChar char="○"/>
            </a:pPr>
            <a:r>
              <a:rPr lang="en" sz="1600" b="1">
                <a:solidFill>
                  <a:srgbClr val="000000"/>
                </a:solidFill>
              </a:rPr>
              <a:t>High salt concentration</a:t>
            </a:r>
            <a:r>
              <a:rPr lang="en" sz="1600">
                <a:solidFill>
                  <a:srgbClr val="000000"/>
                </a:solidFill>
              </a:rPr>
              <a:t> to facilitate binding between nucleic acids and beads.</a:t>
            </a:r>
            <a:endParaRPr sz="1600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 b="1">
                <a:solidFill>
                  <a:srgbClr val="000000"/>
                </a:solidFill>
              </a:rPr>
              <a:t>Magnetic field induction </a:t>
            </a:r>
            <a:r>
              <a:rPr lang="en" sz="1600">
                <a:solidFill>
                  <a:srgbClr val="000000"/>
                </a:solidFill>
              </a:rPr>
              <a:t>to control movement of nucleic acids.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Contents of SPRI buffer</a:t>
            </a:r>
            <a:endParaRPr/>
          </a:p>
        </p:txBody>
      </p:sp>
      <p:graphicFrame>
        <p:nvGraphicFramePr>
          <p:cNvPr id="79" name="Google Shape;79;p5"/>
          <p:cNvGraphicFramePr/>
          <p:nvPr/>
        </p:nvGraphicFramePr>
        <p:xfrm>
          <a:off x="485188" y="731325"/>
          <a:ext cx="3000000" cy="300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0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Content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Use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Polyethylene Glycol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(PEG) 8000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Crowding agent</a:t>
                      </a: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 used to minimize space between nucleic acid and beads, favoring their proximity and the nucleic acid precipitating on the surface of the beads.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Contents of SPRI buffer</a:t>
            </a:r>
            <a:endParaRPr/>
          </a:p>
        </p:txBody>
      </p:sp>
      <p:graphicFrame>
        <p:nvGraphicFramePr>
          <p:cNvPr id="85" name="Google Shape;85;p6"/>
          <p:cNvGraphicFramePr/>
          <p:nvPr/>
        </p:nvGraphicFramePr>
        <p:xfrm>
          <a:off x="485188" y="731325"/>
          <a:ext cx="8259225" cy="187182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0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Content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Use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Polyethylene Glycol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(PEG) 8000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Crowding agent</a:t>
                      </a: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 used to minimize space between nucleic acid and beads, favoring their proximity and the nucleic acid precipitating on the surface of the beads.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NaCl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Decreases solubility of nucleic acid</a:t>
                      </a: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, thereby promoting precipitation of nucleic acid on the surface of the beads.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Contents of SPRI buffer</a:t>
            </a:r>
            <a:endParaRPr/>
          </a:p>
        </p:txBody>
      </p:sp>
      <p:graphicFrame>
        <p:nvGraphicFramePr>
          <p:cNvPr id="91" name="Google Shape;91;p7"/>
          <p:cNvGraphicFramePr/>
          <p:nvPr/>
        </p:nvGraphicFramePr>
        <p:xfrm>
          <a:off x="485188" y="731325"/>
          <a:ext cx="3000000" cy="300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0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Content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Use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Polyethylene Glycol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(PEG) 8000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Crowding agent</a:t>
                      </a: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 used to minimize space between nucleic acid and beads, favoring their proximity and the nucleic acid precipitating on the surface of the beads.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NaCl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Decreases solubility of nucleic acid</a:t>
                      </a: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, thereby promoting precipitation of nucleic acid on the surface of the beads.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Tris-HCl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Regulates pH</a:t>
                      </a:r>
                      <a:r>
                        <a:rPr lang="en" sz="1400" u="none" strike="noStrike" cap="none"/>
                        <a:t>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Contents of SPRI buffer</a:t>
            </a:r>
            <a:endParaRPr/>
          </a:p>
        </p:txBody>
      </p:sp>
      <p:graphicFrame>
        <p:nvGraphicFramePr>
          <p:cNvPr id="97" name="Google Shape;97;p8"/>
          <p:cNvGraphicFramePr/>
          <p:nvPr/>
        </p:nvGraphicFramePr>
        <p:xfrm>
          <a:off x="485188" y="731325"/>
          <a:ext cx="3000000" cy="300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0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Content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Use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Polyethylene Glycol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(PEG) 8000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Crowding agent</a:t>
                      </a: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 used to minimize space between nucleic acid and beads, favoring their proximity and the nucleic acid precipitating on the surface of the beads.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NaCl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Decreases solubility of nucleic acid</a:t>
                      </a: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, thereby promoting precipitation of nucleic acid on the surface of the beads.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Tris-HCl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Regulates pH</a:t>
                      </a:r>
                      <a:r>
                        <a:rPr lang="en" sz="1400" u="none" strike="noStrike" cap="none"/>
                        <a:t>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EDTA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Chelating agent</a:t>
                      </a: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 which sequesters ions such as Mg2+ and Ca2+ which could fragment/degrade DNA or activate any enzymes (e.g. nucleases) that are present in the sample. Aids in retaining the integrity of the sample.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Contents of SPRI buffer</a:t>
            </a:r>
            <a:endParaRPr/>
          </a:p>
        </p:txBody>
      </p:sp>
      <p:graphicFrame>
        <p:nvGraphicFramePr>
          <p:cNvPr id="103" name="Google Shape;103;p9"/>
          <p:cNvGraphicFramePr/>
          <p:nvPr/>
        </p:nvGraphicFramePr>
        <p:xfrm>
          <a:off x="485188" y="731325"/>
          <a:ext cx="3000000" cy="300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0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Content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Use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Polyethylene Glycol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(PEG) 8000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Crowding agent</a:t>
                      </a: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 used to minimize space between nucleic acid and beads, favoring their proximity and the nucleic acid precipitating on the surface of the beads.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NaCl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Decreases solubility of nucleic acid</a:t>
                      </a: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, thereby promoting precipitation of nucleic acid on the surface of the beads.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Tris-HCl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Regulates pH</a:t>
                      </a:r>
                      <a:r>
                        <a:rPr lang="en" sz="1400" u="none" strike="noStrike" cap="none"/>
                        <a:t>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EDTA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Chelating agent</a:t>
                      </a: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 which sequesters ions such as Mg2+ and Ca2+ which could fragment/degrade DNA or activate any enzymes (e.g. nucleases) that are present in the sample. Aids in retaining the integrity of the sample.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Tween 20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Detergent</a:t>
                      </a: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 which decreases the adhesion of nucleic acids to the plastic walls of the tube by obstructing the ionic attraction.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51849" y="1017725"/>
            <a:ext cx="3540776" cy="3025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" name="Google Shape;109;p10"/>
          <p:cNvGrpSpPr/>
          <p:nvPr/>
        </p:nvGrpSpPr>
        <p:grpSpPr>
          <a:xfrm>
            <a:off x="6097475" y="4122175"/>
            <a:ext cx="2630875" cy="603300"/>
            <a:chOff x="804450" y="2171550"/>
            <a:chExt cx="2630875" cy="603300"/>
          </a:xfrm>
        </p:grpSpPr>
        <p:sp>
          <p:nvSpPr>
            <p:cNvPr id="110" name="Google Shape;110;p10"/>
            <p:cNvSpPr txBox="1"/>
            <p:nvPr/>
          </p:nvSpPr>
          <p:spPr>
            <a:xfrm>
              <a:off x="1203325" y="2171550"/>
              <a:ext cx="2232000" cy="60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45720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Volume of beads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45720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Volume of reaction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1" name="Google Shape;111;p10"/>
            <p:cNvCxnSpPr/>
            <p:nvPr/>
          </p:nvCxnSpPr>
          <p:spPr>
            <a:xfrm>
              <a:off x="1769550" y="2469000"/>
              <a:ext cx="1460700" cy="8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2" name="Google Shape;112;p10"/>
            <p:cNvSpPr txBox="1"/>
            <p:nvPr/>
          </p:nvSpPr>
          <p:spPr>
            <a:xfrm>
              <a:off x="804450" y="2279750"/>
              <a:ext cx="1304700" cy="34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SPRI ratio =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0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How do SPRI beads work? </a:t>
            </a:r>
            <a:r>
              <a:rPr lang="en" i="1"/>
              <a:t>Size selection</a:t>
            </a:r>
            <a:endParaRPr i="1"/>
          </a:p>
        </p:txBody>
      </p:sp>
      <p:sp>
        <p:nvSpPr>
          <p:cNvPr id="114" name="Google Shape;114;p10"/>
          <p:cNvSpPr txBox="1"/>
          <p:nvPr/>
        </p:nvSpPr>
        <p:spPr>
          <a:xfrm>
            <a:off x="311700" y="1149050"/>
            <a:ext cx="5040300" cy="29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Size selection is dictated by the ratio between the volume of SPRI beads added to your sample and the volume of your sample.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lang="en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higher the SPRI bead to sample volume ratio, the more smaller fragments will be retained.</a:t>
            </a: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 desired SPRI ratio, to determine the volume of SPRI beads to add to your sample, multiply the SPRI ratio by the volume of your sample.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 txBox="1"/>
          <p:nvPr/>
        </p:nvSpPr>
        <p:spPr>
          <a:xfrm>
            <a:off x="579750" y="4103875"/>
            <a:ext cx="7984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" b="1"/>
              <a:t>ote: </a:t>
            </a:r>
            <a:r>
              <a:rPr lang="en"/>
              <a:t>Some commercial options are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“SPRISelect Bead-Based Reagent” or “AMPure XP Beads”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1"/>
          <p:cNvSpPr txBox="1">
            <a:spLocks noGrp="1"/>
          </p:cNvSpPr>
          <p:nvPr>
            <p:ph type="title" idx="4294967295"/>
          </p:nvPr>
        </p:nvSpPr>
        <p:spPr>
          <a:xfrm>
            <a:off x="297000" y="0"/>
            <a:ext cx="8503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Using SPRI beads in library preparation: </a:t>
            </a:r>
            <a:r>
              <a:rPr lang="en" i="1"/>
              <a:t>The process</a:t>
            </a:r>
            <a:endParaRPr i="1"/>
          </a:p>
        </p:txBody>
      </p:sp>
      <p:pic>
        <p:nvPicPr>
          <p:cNvPr id="122" name="Google Shape;12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1013" y="572700"/>
            <a:ext cx="6595773" cy="344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" name="Google Shape;128;p12"/>
          <p:cNvGraphicFramePr/>
          <p:nvPr/>
        </p:nvGraphicFramePr>
        <p:xfrm>
          <a:off x="477663" y="1280683"/>
          <a:ext cx="5191725" cy="258213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66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Step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Ideal RNA/library size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To remove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SPRI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ratio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After DNAse I treatment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Reagents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2x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After </a:t>
                      </a:r>
                      <a:r>
                        <a:rPr lang="en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barcoding PCR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 400 bp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Reagents and small fragments / dimers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0.6</a:t>
                      </a: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After pooling 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(if the pool needs to be concentrated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To concentrate the pool before loading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en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9" name="Google Shape;129;p12"/>
          <p:cNvSpPr txBox="1">
            <a:spLocks noGrp="1"/>
          </p:cNvSpPr>
          <p:nvPr>
            <p:ph type="title" idx="4294967295"/>
          </p:nvPr>
        </p:nvSpPr>
        <p:spPr>
          <a:xfrm>
            <a:off x="297000" y="0"/>
            <a:ext cx="8503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Using SPRI beads in library preparation: </a:t>
            </a:r>
            <a:r>
              <a:rPr lang="en" sz="2500" i="1"/>
              <a:t>At which steps?</a:t>
            </a:r>
            <a:endParaRPr/>
          </a:p>
        </p:txBody>
      </p:sp>
      <p:pic>
        <p:nvPicPr>
          <p:cNvPr id="130" name="Google Shape;13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9200" y="939100"/>
            <a:ext cx="3180525" cy="2717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12"/>
          <p:cNvGrpSpPr/>
          <p:nvPr/>
        </p:nvGrpSpPr>
        <p:grpSpPr>
          <a:xfrm>
            <a:off x="6224600" y="3601100"/>
            <a:ext cx="2630875" cy="603300"/>
            <a:chOff x="804450" y="2171550"/>
            <a:chExt cx="2630875" cy="603300"/>
          </a:xfrm>
        </p:grpSpPr>
        <p:sp>
          <p:nvSpPr>
            <p:cNvPr id="132" name="Google Shape;132;p12"/>
            <p:cNvSpPr txBox="1"/>
            <p:nvPr/>
          </p:nvSpPr>
          <p:spPr>
            <a:xfrm>
              <a:off x="1203325" y="2171550"/>
              <a:ext cx="2232000" cy="60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45720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Volume of beads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45720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Volume of reaction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3" name="Google Shape;133;p12"/>
            <p:cNvCxnSpPr/>
            <p:nvPr/>
          </p:nvCxnSpPr>
          <p:spPr>
            <a:xfrm>
              <a:off x="1769550" y="2469000"/>
              <a:ext cx="1460700" cy="8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4" name="Google Shape;134;p12"/>
            <p:cNvSpPr txBox="1"/>
            <p:nvPr/>
          </p:nvSpPr>
          <p:spPr>
            <a:xfrm>
              <a:off x="804450" y="2279750"/>
              <a:ext cx="1304700" cy="34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SPRI ratio =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>
            <a:spLocks noGrp="1"/>
          </p:cNvSpPr>
          <p:nvPr>
            <p:ph type="title"/>
          </p:nvPr>
        </p:nvSpPr>
        <p:spPr>
          <a:xfrm>
            <a:off x="364575" y="0"/>
            <a:ext cx="846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SPRI bead cleanup activity</a:t>
            </a:r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1"/>
          </p:nvPr>
        </p:nvSpPr>
        <p:spPr>
          <a:xfrm>
            <a:off x="311700" y="634375"/>
            <a:ext cx="8520600" cy="3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Set up </a:t>
            </a:r>
            <a:r>
              <a:rPr lang="en" sz="1400" b="1">
                <a:solidFill>
                  <a:srgbClr val="000000"/>
                </a:solidFill>
              </a:rPr>
              <a:t>2</a:t>
            </a:r>
            <a:r>
              <a:rPr lang="en" sz="1400">
                <a:solidFill>
                  <a:srgbClr val="000000"/>
                </a:solidFill>
              </a:rPr>
              <a:t> reactions according to the table below at</a:t>
            </a:r>
            <a:r>
              <a:rPr lang="en" sz="1400" b="1">
                <a:solidFill>
                  <a:srgbClr val="000000"/>
                </a:solidFill>
              </a:rPr>
              <a:t> 0.8X </a:t>
            </a:r>
            <a:r>
              <a:rPr lang="en" sz="1400">
                <a:solidFill>
                  <a:srgbClr val="000000"/>
                </a:solidFill>
              </a:rPr>
              <a:t>and </a:t>
            </a:r>
            <a:r>
              <a:rPr lang="en" sz="1400" b="1">
                <a:solidFill>
                  <a:srgbClr val="000000"/>
                </a:solidFill>
              </a:rPr>
              <a:t>2.0X</a:t>
            </a:r>
            <a:r>
              <a:rPr lang="en" sz="1400">
                <a:solidFill>
                  <a:srgbClr val="000000"/>
                </a:solidFill>
              </a:rPr>
              <a:t>. </a:t>
            </a:r>
            <a:r>
              <a:rPr lang="en" sz="1400">
                <a:solidFill>
                  <a:schemeClr val="dk1"/>
                </a:solidFill>
              </a:rPr>
              <a:t>DNA input is 50bp DNA ladder diluted to 1:50 (save an aliquot to use as a control).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1083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Add SPRI beads to sample and mix thoroughly by pipetting up and down ten times. Incubate for 3-5 mins at room temperature, then </a:t>
            </a:r>
            <a:r>
              <a:rPr lang="en" sz="1400">
                <a:solidFill>
                  <a:schemeClr val="dk1"/>
                </a:solidFill>
              </a:rPr>
              <a:t>pulse spin the tubes for 1-2 seconds, 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1083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Place samples on magnetic rack and incubate for ~5 mins on the rack.</a:t>
            </a:r>
            <a:endParaRPr sz="1400">
              <a:solidFill>
                <a:srgbClr val="000000"/>
              </a:solidFill>
            </a:endParaRPr>
          </a:p>
          <a:p>
            <a:pPr marL="457200" lvl="0" indent="-31083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Remove supernatant.</a:t>
            </a:r>
            <a:endParaRPr sz="1400">
              <a:solidFill>
                <a:srgbClr val="000000"/>
              </a:solidFill>
            </a:endParaRPr>
          </a:p>
          <a:p>
            <a:pPr marL="457200" lvl="0" indent="-31083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Add 200μL of 85% EtOH to samples while on the magnetic rack. Do not disturb beads. Incubate at room temperature for 30s then remove the supernatant.</a:t>
            </a:r>
            <a:endParaRPr sz="1400">
              <a:solidFill>
                <a:srgbClr val="000000"/>
              </a:solidFill>
            </a:endParaRPr>
          </a:p>
          <a:p>
            <a:pPr marL="457200" lvl="0" indent="-31083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Repeat EtOH wash step for a total of 2 washes.</a:t>
            </a:r>
            <a:endParaRPr sz="1400">
              <a:solidFill>
                <a:srgbClr val="000000"/>
              </a:solidFill>
            </a:endParaRPr>
          </a:p>
          <a:p>
            <a:pPr marL="457200" lvl="0" indent="-31083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Air dry the beads for </a:t>
            </a:r>
            <a:r>
              <a:rPr lang="en" sz="1400" i="1">
                <a:solidFill>
                  <a:srgbClr val="000000"/>
                </a:solidFill>
              </a:rPr>
              <a:t>up to</a:t>
            </a:r>
            <a:r>
              <a:rPr lang="en" sz="1400">
                <a:solidFill>
                  <a:srgbClr val="000000"/>
                </a:solidFill>
              </a:rPr>
              <a:t> 3-5 mins while on the magnetic rack. </a:t>
            </a:r>
            <a:r>
              <a:rPr lang="en" sz="1400" i="1">
                <a:solidFill>
                  <a:srgbClr val="000000"/>
                </a:solidFill>
              </a:rPr>
              <a:t>Watch beads carefully throughout this incubation to avoid overdrying; smaller bead pellets dry faster. Trust your eyes more than the timer.</a:t>
            </a:r>
            <a:endParaRPr sz="1400" i="1">
              <a:solidFill>
                <a:srgbClr val="000000"/>
              </a:solidFill>
            </a:endParaRPr>
          </a:p>
          <a:p>
            <a:pPr marL="457200" lvl="0" indent="-31083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Remove tube from magnetic rack. Add 20ul nuclease free water to elute.</a:t>
            </a:r>
            <a:endParaRPr sz="1400">
              <a:solidFill>
                <a:srgbClr val="000000"/>
              </a:solidFill>
            </a:endParaRPr>
          </a:p>
          <a:p>
            <a:pPr marL="457200" lvl="0" indent="-31083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Pipette to mix well at least ten times. Incubate for a minimum of 2 mins at room temperature off the magnetic rack, then pulse spin the tubes for 1-2 seconds. </a:t>
            </a:r>
            <a:endParaRPr sz="1400">
              <a:solidFill>
                <a:srgbClr val="000000"/>
              </a:solidFill>
            </a:endParaRPr>
          </a:p>
          <a:p>
            <a:pPr marL="457200" lvl="0" indent="-31083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Place on magnetic rack until solution is clear ~5 mins.</a:t>
            </a:r>
            <a:endParaRPr sz="1400">
              <a:solidFill>
                <a:srgbClr val="000000"/>
              </a:solidFill>
            </a:endParaRPr>
          </a:p>
          <a:p>
            <a:pPr marL="457200" lvl="0" indent="-31083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Collect 18ul of the supernatant and transfer to a clean nuclease free PCR tube</a:t>
            </a:r>
            <a:endParaRPr sz="1400">
              <a:solidFill>
                <a:srgbClr val="000000"/>
              </a:solidFill>
            </a:endParaRPr>
          </a:p>
        </p:txBody>
      </p:sp>
      <p:graphicFrame>
        <p:nvGraphicFramePr>
          <p:cNvPr id="141" name="Google Shape;141;p13"/>
          <p:cNvGraphicFramePr/>
          <p:nvPr/>
        </p:nvGraphicFramePr>
        <p:xfrm>
          <a:off x="2552888" y="4236100"/>
          <a:ext cx="4091150" cy="88006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6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FFFFFF"/>
                          </a:solidFill>
                        </a:rPr>
                        <a:t>Bead:Sample</a:t>
                      </a:r>
                      <a:endParaRPr sz="12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5250" marR="95250" marT="9525" marB="91425" anchor="ctr">
                    <a:lnL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FFFFFF"/>
                          </a:solidFill>
                        </a:rPr>
                        <a:t>0.8 : 1</a:t>
                      </a:r>
                      <a:endParaRPr sz="12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5250" marR="95250" marT="9525" marB="91425" anchor="ctr">
                    <a:lnL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FFFFFF"/>
                          </a:solidFill>
                        </a:rPr>
                        <a:t>2 : 1</a:t>
                      </a:r>
                      <a:endParaRPr sz="12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5250" marR="95250" marT="9525" marB="91425" anchor="ctr">
                    <a:lnL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FFFFFF"/>
                          </a:solidFill>
                        </a:rPr>
                        <a:t>50bp ladder 1:50 (μL)</a:t>
                      </a:r>
                      <a:endParaRPr sz="12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5250" marR="95250" marT="9525" marB="91425" anchor="ctr">
                    <a:lnL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200" u="none" strike="noStrike" cap="none"/>
                        <a:t>20</a:t>
                      </a:r>
                      <a:endParaRPr sz="1200" u="none" strike="noStrike" cap="none"/>
                    </a:p>
                  </a:txBody>
                  <a:tcPr marL="95250" marR="95250" marT="9525" marB="91425" anchor="ctr">
                    <a:lnL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200" u="none" strike="noStrike" cap="none"/>
                        <a:t>20</a:t>
                      </a:r>
                      <a:endParaRPr sz="1200" u="none" strike="noStrike" cap="none"/>
                    </a:p>
                  </a:txBody>
                  <a:tcPr marL="95250" marR="95250" marT="9525" marB="91425" anchor="ctr">
                    <a:lnL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FFFFFF"/>
                          </a:solidFill>
                        </a:rPr>
                        <a:t>SPRI beads (μL)</a:t>
                      </a:r>
                      <a:endParaRPr sz="12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5250" marR="95250" marT="9525" marB="91425" anchor="ctr">
                    <a:lnL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200" u="none" strike="noStrike" cap="none"/>
                        <a:t>16</a:t>
                      </a:r>
                      <a:endParaRPr sz="1200" u="none" strike="noStrike" cap="none"/>
                    </a:p>
                  </a:txBody>
                  <a:tcPr marL="95250" marR="95250" marT="9525" marB="91425" anchor="ctr">
                    <a:lnL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200" u="none" strike="noStrike" cap="none"/>
                        <a:t>40</a:t>
                      </a:r>
                      <a:endParaRPr sz="1200" u="none" strike="noStrike" cap="none"/>
                    </a:p>
                  </a:txBody>
                  <a:tcPr marL="95250" marR="95250" marT="9525" marB="91425" anchor="ctr">
                    <a:lnL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2" name="Google Shape;142;p13"/>
          <p:cNvSpPr/>
          <p:nvPr/>
        </p:nvSpPr>
        <p:spPr>
          <a:xfrm>
            <a:off x="209550" y="2380525"/>
            <a:ext cx="242400" cy="189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Do </a:t>
            </a:r>
            <a:r>
              <a:rPr lang="en" b="1"/>
              <a:t>not </a:t>
            </a:r>
            <a:r>
              <a:rPr lang="en"/>
              <a:t>overdry SPRI beads</a:t>
            </a:r>
            <a:endParaRPr/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170125"/>
            <a:ext cx="8839201" cy="359911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 txBox="1"/>
          <p:nvPr/>
        </p:nvSpPr>
        <p:spPr>
          <a:xfrm>
            <a:off x="453225" y="1254250"/>
            <a:ext cx="8421300" cy="39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Shiny, wet pellet			 Matte, dry pellet		 Cracked, overdried pellet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410650" y="2652750"/>
            <a:ext cx="2683800" cy="4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Risk of </a:t>
            </a:r>
            <a:r>
              <a:rPr lang="en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EtOH carryover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3438525" y="2652750"/>
            <a:ext cx="2266800" cy="4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Ready for </a:t>
            </a:r>
            <a:r>
              <a:rPr lang="en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elution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6153150" y="2652750"/>
            <a:ext cx="2486100" cy="4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Risk of </a:t>
            </a:r>
            <a:r>
              <a:rPr lang="en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yield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3260100" y="1040875"/>
            <a:ext cx="2631600" cy="3728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>
            <a:spLocks noGrp="1"/>
          </p:cNvSpPr>
          <p:nvPr>
            <p:ph type="body" idx="1"/>
          </p:nvPr>
        </p:nvSpPr>
        <p:spPr>
          <a:xfrm>
            <a:off x="359825" y="793000"/>
            <a:ext cx="85206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Quantify recovered sample by Qubit dsDNA HS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Visualize samples by agarose gel electrophoresis (</a:t>
            </a:r>
            <a:r>
              <a:rPr lang="en" sz="1400">
                <a:solidFill>
                  <a:schemeClr val="dk1"/>
                </a:solidFill>
              </a:rPr>
              <a:t>1.8% agarose gel and 10000x SYBR GOLD DNA Stain or SYBR-Safe stain</a:t>
            </a:r>
            <a:r>
              <a:rPr lang="en" sz="1400">
                <a:solidFill>
                  <a:srgbClr val="000000"/>
                </a:solidFill>
              </a:rPr>
              <a:t>), capillary electrophoresis, or automated electrophoresis (TapeStation).</a:t>
            </a:r>
            <a:endParaRPr sz="1400"/>
          </a:p>
        </p:txBody>
      </p:sp>
      <p:pic>
        <p:nvPicPr>
          <p:cNvPr id="159" name="Google Shape;159;p15"/>
          <p:cNvPicPr preferRelativeResize="0"/>
          <p:nvPr/>
        </p:nvPicPr>
        <p:blipFill rotWithShape="1">
          <a:blip r:embed="rId3">
            <a:alphaModFix/>
          </a:blip>
          <a:srcRect t="16181" b="11317"/>
          <a:stretch/>
        </p:blipFill>
        <p:spPr>
          <a:xfrm>
            <a:off x="1304813" y="2428900"/>
            <a:ext cx="2771375" cy="215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5"/>
          <p:cNvSpPr txBox="1">
            <a:spLocks noGrp="1"/>
          </p:cNvSpPr>
          <p:nvPr>
            <p:ph type="title"/>
          </p:nvPr>
        </p:nvSpPr>
        <p:spPr>
          <a:xfrm>
            <a:off x="359825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SPRI bead cleanup results</a:t>
            </a:r>
            <a:endParaRPr/>
          </a:p>
        </p:txBody>
      </p:sp>
      <p:pic>
        <p:nvPicPr>
          <p:cNvPr id="161" name="Google Shape;161;p15"/>
          <p:cNvPicPr preferRelativeResize="0"/>
          <p:nvPr/>
        </p:nvPicPr>
        <p:blipFill rotWithShape="1">
          <a:blip r:embed="rId4">
            <a:alphaModFix/>
          </a:blip>
          <a:srcRect t="11574"/>
          <a:stretch/>
        </p:blipFill>
        <p:spPr>
          <a:xfrm>
            <a:off x="4653250" y="2626000"/>
            <a:ext cx="3185927" cy="196080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5"/>
          <p:cNvSpPr txBox="1"/>
          <p:nvPr/>
        </p:nvSpPr>
        <p:spPr>
          <a:xfrm>
            <a:off x="2898263" y="4586800"/>
            <a:ext cx="12414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1.8% Agarose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6445300" y="4539650"/>
            <a:ext cx="12414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TapeStation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1339300" y="2428900"/>
            <a:ext cx="27024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Ladder     0.35     0.5      0.7      0.9       1.1      1.4      1.7      2.0</a:t>
            </a:r>
            <a:endParaRPr sz="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4711413" y="2428900"/>
            <a:ext cx="3069600" cy="19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Ladder  50bp  0.35   0.5    0.7    0.75    0.8    0.85    0.9    1.1    1.4      1.7    2.0</a:t>
            </a:r>
            <a:endParaRPr sz="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0"/>
          <p:cNvSpPr txBox="1"/>
          <p:nvPr/>
        </p:nvSpPr>
        <p:spPr>
          <a:xfrm>
            <a:off x="252225" y="1888400"/>
            <a:ext cx="87477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rgbClr val="D9D9D9"/>
                </a:solidFill>
              </a:rPr>
              <a:t>Next : 05-O_Library prep for ONT QC</a:t>
            </a:r>
            <a:endParaRPr sz="3600" b="1" dirty="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1926</Words>
  <Application>Microsoft Macintosh PowerPoint</Application>
  <PresentationFormat>On-screen Show (16:9)</PresentationFormat>
  <Paragraphs>260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Arial</vt:lpstr>
      <vt:lpstr>Helvetica Neue</vt:lpstr>
      <vt:lpstr>Roboto</vt:lpstr>
      <vt:lpstr>Helvetica Neue Light</vt:lpstr>
      <vt:lpstr>Lato</vt:lpstr>
      <vt:lpstr>EB Garamond</vt:lpstr>
      <vt:lpstr>Calibri</vt:lpstr>
      <vt:lpstr>Simple Light</vt:lpstr>
      <vt:lpstr>Simple Light</vt:lpstr>
      <vt:lpstr>Simple Light</vt:lpstr>
      <vt:lpstr>PowerPoint Presentation</vt:lpstr>
      <vt:lpstr>mNGS pipeline</vt:lpstr>
      <vt:lpstr>Considerations when using Nanopore (ONT) sequencing</vt:lpstr>
      <vt:lpstr>Considerations when using Nanopore (ONT) sequencing</vt:lpstr>
      <vt:lpstr>ONT mNGS pipeline</vt:lpstr>
      <vt:lpstr>Library prep: RNA to sequencing library</vt:lpstr>
      <vt:lpstr>Anatomy of a completed ONT library</vt:lpstr>
      <vt:lpstr>Anatomy of a completed ONT library</vt:lpstr>
      <vt:lpstr>Anatomy of a completed ONT library</vt:lpstr>
      <vt:lpstr>RNA mNGS using Nanopore</vt:lpstr>
      <vt:lpstr>Steps in RNA mNGS library prep for ONT (SMART-9N)</vt:lpstr>
      <vt:lpstr>RNA mNGS library prep for ONT (SMART-9N)</vt:lpstr>
      <vt:lpstr>RNA mNGS library prep for ONT (SMART-9N)</vt:lpstr>
      <vt:lpstr>RNA mNGS library prep for ONT (SMART-9N)</vt:lpstr>
      <vt:lpstr>RNA mNGS library prep for ONT (SMART-9N)</vt:lpstr>
      <vt:lpstr>RNA mNGS library prep for ONT (SMART-9N)</vt:lpstr>
      <vt:lpstr>RNA mNGS library prep for ONT (SMART-9N)</vt:lpstr>
      <vt:lpstr>RNA mNGS library prep for ONT (SMART-9N)</vt:lpstr>
      <vt:lpstr>Introduction to  SPRI Clean-ups</vt:lpstr>
      <vt:lpstr>What are SPRI beads?</vt:lpstr>
      <vt:lpstr>What are SPRI beads? </vt:lpstr>
      <vt:lpstr>How do SPRI beads work? Purification</vt:lpstr>
      <vt:lpstr>Contents of SPRI buffer</vt:lpstr>
      <vt:lpstr>Contents of SPRI buffer</vt:lpstr>
      <vt:lpstr>Contents of SPRI buffer</vt:lpstr>
      <vt:lpstr>Contents of SPRI buffer</vt:lpstr>
      <vt:lpstr>Contents of SPRI buffer</vt:lpstr>
      <vt:lpstr>How do SPRI beads work? Size selection</vt:lpstr>
      <vt:lpstr>Using SPRI beads in library preparation: The process</vt:lpstr>
      <vt:lpstr>Using SPRI beads in library preparation: At which steps?</vt:lpstr>
      <vt:lpstr>SPRI bead cleanup activity</vt:lpstr>
      <vt:lpstr>Do not overdry SPRI beads</vt:lpstr>
      <vt:lpstr>SPRI bead cleanup results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Juliana Gil</cp:lastModifiedBy>
  <cp:revision>7</cp:revision>
  <dcterms:modified xsi:type="dcterms:W3CDTF">2026-10-08T23:31:27Z</dcterms:modified>
</cp:coreProperties>
</file>