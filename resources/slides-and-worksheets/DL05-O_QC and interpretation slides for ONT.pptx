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311" r:id="rId2"/>
    <p:sldId id="256" r:id="rId3"/>
    <p:sldId id="286" r:id="rId4"/>
    <p:sldId id="257" r:id="rId5"/>
    <p:sldId id="287" r:id="rId6"/>
    <p:sldId id="288" r:id="rId7"/>
    <p:sldId id="260" r:id="rId8"/>
    <p:sldId id="261" r:id="rId9"/>
    <p:sldId id="262" r:id="rId10"/>
    <p:sldId id="289" r:id="rId11"/>
    <p:sldId id="269" r:id="rId12"/>
    <p:sldId id="313" r:id="rId13"/>
    <p:sldId id="312" r:id="rId14"/>
    <p:sldId id="290" r:id="rId15"/>
  </p:sldIdLst>
  <p:sldSz cx="9144000" cy="5143500" type="screen16x9"/>
  <p:notesSz cx="6858000" cy="9144000"/>
  <p:embeddedFontLst>
    <p:embeddedFont>
      <p:font typeface="Poppins" pitchFamily="2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h2pRsEpNN0ojm/uDNkjofGDyHN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B70426-CAA7-4901-8DA6-E1E16C5DEDAC}">
  <a:tblStyle styleId="{C0B70426-CAA7-4901-8DA6-E1E16C5DEDA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74C0977-7613-4EC5-AACC-2EAE8A85722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0"/>
    <p:restoredTop sz="94575"/>
  </p:normalViewPr>
  <p:slideViewPr>
    <p:cSldViewPr snapToGrid="0">
      <p:cViewPr varScale="1">
        <p:scale>
          <a:sx n="143" d="100"/>
          <a:sy n="143" d="100"/>
        </p:scale>
        <p:origin x="72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58f93afd4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8" name="Google Shape;418;g358f93afd4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58f93afd49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g358f93afd49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58f93afd49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g358f93afd49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 like DCR &lt; 3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Different sample types have different RNA content host vs microbiome vs pathogen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58f93afd49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g358f93afd49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Find QC metrics in the project page. You can add other metrics and metadata by clicking the “+” button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i="1">
                <a:effectLst/>
                <a:latin typeface="Arial"/>
                <a:ea typeface="Open Sans" panose="020B0606030504020204" pitchFamily="34" charset="0"/>
              </a:rPr>
              <a:t>Metrics are accessible through Sample Details -&gt; Pipelines -&gt; Bases remaining</a:t>
            </a:r>
            <a:endParaRPr lang="en-US" sz="10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234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174F0FC1-5F3C-DCBC-22FE-DCE6FAC3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>
            <a:extLst>
              <a:ext uri="{FF2B5EF4-FFF2-40B4-BE49-F238E27FC236}">
                <a16:creationId xmlns:a16="http://schemas.microsoft.com/office/drawing/2014/main" id="{3DDC8482-E521-E347-183B-1765178DA0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4:notes">
            <a:extLst>
              <a:ext uri="{FF2B5EF4-FFF2-40B4-BE49-F238E27FC236}">
                <a16:creationId xmlns:a16="http://schemas.microsoft.com/office/drawing/2014/main" id="{0FE25628-117E-3EDB-D6D0-C86654B57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38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6f51ae4fd8_1_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g36f51ae4fd8_1_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">
  <p:cSld name="TITLE_AND_BODY_7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pic>
        <p:nvPicPr>
          <p:cNvPr id="22" name="Google Shape;22;p21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>
            <a:spLocks noGrp="1"/>
          </p:cNvSpPr>
          <p:nvPr>
            <p:ph type="pic" idx="2"/>
          </p:nvPr>
        </p:nvSpPr>
        <p:spPr>
          <a:xfrm>
            <a:off x="1172238" y="252413"/>
            <a:ext cx="6801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>
            <a:spLocks noGrp="1"/>
          </p:cNvSpPr>
          <p:nvPr>
            <p:ph type="pic" idx="2"/>
          </p:nvPr>
        </p:nvSpPr>
        <p:spPr>
          <a:xfrm>
            <a:off x="4937242" y="357188"/>
            <a:ext cx="35718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>
            <a:spLocks noGrp="1"/>
          </p:cNvSpPr>
          <p:nvPr>
            <p:ph type="pic" idx="2"/>
          </p:nvPr>
        </p:nvSpPr>
        <p:spPr>
          <a:xfrm>
            <a:off x="4938713" y="1181100"/>
            <a:ext cx="3571800" cy="34860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6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7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>
            <a:spLocks noGrp="1"/>
          </p:cNvSpPr>
          <p:nvPr>
            <p:ph type="pic" idx="2"/>
          </p:nvPr>
        </p:nvSpPr>
        <p:spPr>
          <a:xfrm>
            <a:off x="5910263" y="2643188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8"/>
          <p:cNvSpPr>
            <a:spLocks noGrp="1"/>
          </p:cNvSpPr>
          <p:nvPr>
            <p:ph type="pic" idx="3"/>
          </p:nvPr>
        </p:nvSpPr>
        <p:spPr>
          <a:xfrm>
            <a:off x="5910263" y="423863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28"/>
          <p:cNvSpPr>
            <a:spLocks noGrp="1"/>
          </p:cNvSpPr>
          <p:nvPr>
            <p:ph type="pic" idx="4"/>
          </p:nvPr>
        </p:nvSpPr>
        <p:spPr>
          <a:xfrm>
            <a:off x="452438" y="423863"/>
            <a:ext cx="53151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1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3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1864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Title and Content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‣"/>
              <a:defRPr/>
            </a:lvl1pPr>
            <a:lvl2pPr marL="914400" lvl="1" indent="-330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Char char="▪"/>
              <a:defRPr/>
            </a:lvl2pPr>
            <a:lvl3pPr marL="1371600" lvl="2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⁃"/>
              <a:defRPr/>
            </a:lvl4pPr>
            <a:lvl5pPr marL="2286000" lvl="4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271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articles/13832912199188-Analyze-Nanopore-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articles/13837869622036-Download-Nanopore-Data#bulk-downloa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5" name="Google Shape;65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fr" sz="18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Quality Control Overview and Interpretation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898123-F924-B21A-26C3-371FE9FE0247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58f93afd49_0_8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>
                <a:latin typeface="+mj-lt"/>
              </a:rPr>
              <a:t>Steps for Exploring Results</a:t>
            </a:r>
            <a:endParaRPr sz="3200">
              <a:latin typeface="+mj-lt"/>
            </a:endParaRPr>
          </a:p>
        </p:txBody>
      </p:sp>
      <p:sp>
        <p:nvSpPr>
          <p:cNvPr id="421" name="Google Shape;421;g358f93afd49_0_85"/>
          <p:cNvSpPr txBox="1">
            <a:spLocks noGrp="1"/>
          </p:cNvSpPr>
          <p:nvPr>
            <p:ph type="body" idx="1"/>
          </p:nvPr>
        </p:nvSpPr>
        <p:spPr>
          <a:xfrm>
            <a:off x="457200" y="1177150"/>
            <a:ext cx="8229600" cy="35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QC metrics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●"/>
            </a:pPr>
            <a:r>
              <a:rPr lang="en" sz="2400">
                <a:solidFill>
                  <a:srgbClr val="9E9E9E"/>
                </a:solidFill>
              </a:rPr>
              <a:t>Sample Report</a:t>
            </a:r>
            <a:endParaRPr sz="2400">
              <a:solidFill>
                <a:srgbClr val="9E9E9E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○"/>
            </a:pPr>
            <a:r>
              <a:rPr lang="en" sz="2400">
                <a:solidFill>
                  <a:srgbClr val="9E9E9E"/>
                </a:solidFill>
              </a:rPr>
              <a:t>Metrics</a:t>
            </a:r>
            <a:endParaRPr sz="2400">
              <a:solidFill>
                <a:srgbClr val="9E9E9E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○"/>
            </a:pPr>
            <a:r>
              <a:rPr lang="en" sz="2400">
                <a:solidFill>
                  <a:srgbClr val="9E9E9E"/>
                </a:solidFill>
              </a:rPr>
              <a:t>Analysis</a:t>
            </a:r>
            <a:endParaRPr sz="2400">
              <a:solidFill>
                <a:srgbClr val="9E9E9E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rgbClr val="9E9E9E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●"/>
            </a:pPr>
            <a:r>
              <a:rPr lang="en" sz="2400">
                <a:solidFill>
                  <a:srgbClr val="9E9E9E"/>
                </a:solidFill>
              </a:rPr>
              <a:t>Accounting for background</a:t>
            </a:r>
            <a:endParaRPr sz="2400">
              <a:solidFill>
                <a:srgbClr val="9E9E9E"/>
              </a:solidFill>
            </a:endParaRPr>
          </a:p>
        </p:txBody>
      </p:sp>
      <p:sp>
        <p:nvSpPr>
          <p:cNvPr id="422" name="Google Shape;422;g358f93afd49_0_85"/>
          <p:cNvSpPr txBox="1"/>
          <p:nvPr/>
        </p:nvSpPr>
        <p:spPr>
          <a:xfrm>
            <a:off x="4920600" y="1177150"/>
            <a:ext cx="383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CZ ID Help Center: </a:t>
            </a:r>
            <a:r>
              <a:rPr lang="en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Analyzing Nanopore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fr" sz="3200">
                <a:latin typeface="+mj-lt"/>
              </a:rPr>
              <a:t>Outline </a:t>
            </a:r>
            <a:endParaRPr sz="3200">
              <a:latin typeface="+mj-lt"/>
            </a:endParaRPr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633425" y="1184744"/>
            <a:ext cx="7877100" cy="2534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74650" algn="l" rtl="0">
              <a:lnSpc>
                <a:spcPct val="2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QC metric definitions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How QC metrics help inform wet lab experiments and data interpretation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Char char="•"/>
            </a:pPr>
            <a:r>
              <a:rPr lang="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QC within CZ ID (</a:t>
            </a:r>
            <a:r>
              <a:rPr lang="fr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your data</a:t>
            </a:r>
            <a:r>
              <a:rPr lang="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8f93afd49_0_9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3200">
                <a:latin typeface="+mj-lt"/>
              </a:rPr>
              <a:t>Quality Control </a:t>
            </a:r>
            <a:endParaRPr sz="3200">
              <a:latin typeface="+mj-lt"/>
            </a:endParaRPr>
          </a:p>
        </p:txBody>
      </p:sp>
      <p:sp>
        <p:nvSpPr>
          <p:cNvPr id="428" name="Google Shape;428;g358f93afd49_0_91"/>
          <p:cNvSpPr txBox="1">
            <a:spLocks noGrp="1"/>
          </p:cNvSpPr>
          <p:nvPr>
            <p:ph type="body" idx="1"/>
          </p:nvPr>
        </p:nvSpPr>
        <p:spPr>
          <a:xfrm>
            <a:off x="457200" y="1251575"/>
            <a:ext cx="8229600" cy="3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Were there enough reads / bases?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Did my samples pass QC filtering? (basecall quality, length, complexity)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How many reads / bases were removed during data preprocessing? (e.g., host filtering)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How many reads / bases were used for microbe identification?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8f93afd49_0_96"/>
          <p:cNvSpPr txBox="1">
            <a:spLocks noGrp="1"/>
          </p:cNvSpPr>
          <p:nvPr>
            <p:ph type="title"/>
          </p:nvPr>
        </p:nvSpPr>
        <p:spPr>
          <a:xfrm>
            <a:off x="633438" y="13890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CZ ID QC Metrics 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58f93afd49_0_96"/>
          <p:cNvSpPr txBox="1"/>
          <p:nvPr/>
        </p:nvSpPr>
        <p:spPr>
          <a:xfrm>
            <a:off x="633438" y="996300"/>
            <a:ext cx="7877100" cy="289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Reads: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 reads uploaded to the pipeline.</a:t>
            </a: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 QC: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/>
              <a:t>Percentage of reads remaining after QC filtering to remove low quality bases (phred score &lt; 9), short reads (&lt; 100 bp), and low complexity reads. </a:t>
            </a: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Subsampled Fraction: </a:t>
            </a:r>
            <a:r>
              <a:rPr lang="en-US" sz="1800">
                <a:solidFill>
                  <a:schemeClr val="dk1"/>
                </a:solidFill>
              </a:rPr>
              <a:t>After QC filtering and host/human data removal, the remaining reads are subsampled to 1 million. </a:t>
            </a:r>
            <a:endParaRPr lang="en-US" sz="18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 Filters</a:t>
            </a: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Reads used for analysis. Percentage of reads that passed QC, host/human filtering, and subsampling compared to the initial reads input.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br>
              <a:rPr lang="en-US" i="1"/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F1BEA2-0964-458B-182C-F5D297A836D6}"/>
              </a:ext>
            </a:extLst>
          </p:cNvPr>
          <p:cNvSpPr txBox="1"/>
          <p:nvPr/>
        </p:nvSpPr>
        <p:spPr>
          <a:xfrm>
            <a:off x="633438" y="4189393"/>
            <a:ext cx="7877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Note: The </a:t>
            </a:r>
            <a:r>
              <a:rPr lang="en-US" i="1" u="sng"/>
              <a:t>Project Page only provides stats at the read level.</a:t>
            </a:r>
            <a:r>
              <a:rPr lang="en-US" i="1"/>
              <a:t> If you are interested in the base pair level, see the Sample Overview report available through </a:t>
            </a:r>
            <a:r>
              <a:rPr lang="en-US" i="1">
                <a:hlinkClick r:id="rId3"/>
              </a:rPr>
              <a:t>bulk download</a:t>
            </a:r>
            <a:r>
              <a:rPr lang="en-US" i="1"/>
              <a:t> or look at the pipeline details on the Sample Report page.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0975" y="900575"/>
            <a:ext cx="3814999" cy="38149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947550" y="4867975"/>
            <a:ext cx="246000" cy="2226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1197150" y="4776663"/>
            <a:ext cx="6087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786847" y="4867975"/>
            <a:ext cx="246000" cy="2226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2048375" y="4791780"/>
            <a:ext cx="8475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Microbial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 rot="-7621457">
            <a:off x="2674222" y="2296002"/>
            <a:ext cx="512162" cy="1005047"/>
          </a:xfrm>
          <a:prstGeom prst="triangle">
            <a:avLst>
              <a:gd name="adj" fmla="val 563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103995" y="2025125"/>
            <a:ext cx="768300" cy="744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 rot="3370170">
            <a:off x="1190197" y="2351700"/>
            <a:ext cx="373425" cy="1371322"/>
          </a:xfrm>
          <a:prstGeom prst="triangle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 rot="-7868841">
            <a:off x="363389" y="3099633"/>
            <a:ext cx="754562" cy="7585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 rot="-4699237">
            <a:off x="2066807" y="3755420"/>
            <a:ext cx="465334" cy="966908"/>
          </a:xfrm>
          <a:prstGeom prst="triangle">
            <a:avLst>
              <a:gd name="adj" fmla="val 5119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 rot="2798470">
            <a:off x="2477142" y="3973256"/>
            <a:ext cx="755500" cy="7575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 rot="8980673">
            <a:off x="829809" y="816931"/>
            <a:ext cx="376737" cy="781368"/>
          </a:xfrm>
          <a:prstGeom prst="triangle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 rot="3546881">
            <a:off x="1137892" y="1527506"/>
            <a:ext cx="375788" cy="986062"/>
          </a:xfrm>
          <a:prstGeom prst="triangle">
            <a:avLst>
              <a:gd name="adj" fmla="val 5119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80427" y="341695"/>
            <a:ext cx="768300" cy="744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92179" y="327487"/>
            <a:ext cx="744600" cy="706800"/>
          </a:xfrm>
          <a:prstGeom prst="arc">
            <a:avLst>
              <a:gd name="adj1" fmla="val 10870514"/>
              <a:gd name="adj2" fmla="val 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470883" y="3942411"/>
            <a:ext cx="768300" cy="819600"/>
          </a:xfrm>
          <a:prstGeom prst="arc">
            <a:avLst>
              <a:gd name="adj1" fmla="val 10870514"/>
              <a:gd name="adj2" fmla="val 21473896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 rot="-10446138">
            <a:off x="254603" y="2003398"/>
            <a:ext cx="767864" cy="74514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 rot="-538854">
            <a:off x="368425" y="2002491"/>
            <a:ext cx="540020" cy="855401"/>
          </a:xfrm>
          <a:prstGeom prst="arc">
            <a:avLst>
              <a:gd name="adj1" fmla="val 16231257"/>
              <a:gd name="adj2" fmla="val 16823809"/>
            </a:avLst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2159600" y="278325"/>
            <a:ext cx="5627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S</a:t>
            </a:r>
            <a:r>
              <a:rPr lang="fr" sz="3200">
                <a:latin typeface="+mj-lt"/>
                <a:ea typeface="Helvetica Neue"/>
                <a:cs typeface="Helvetica Neue"/>
                <a:sym typeface="Helvetica Neue"/>
              </a:rPr>
              <a:t>ample t</a:t>
            </a:r>
            <a:r>
              <a:rPr lang="fr" sz="3200">
                <a:latin typeface="+mj-lt"/>
              </a:rPr>
              <a:t>ype matters when evaluating QC metrics </a:t>
            </a:r>
            <a:endParaRPr sz="3200">
              <a:latin typeface="+mj-lt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10" name="Google Shape;110;p5"/>
          <p:cNvGraphicFramePr/>
          <p:nvPr/>
        </p:nvGraphicFramePr>
        <p:xfrm>
          <a:off x="4096150" y="1657075"/>
          <a:ext cx="4753875" cy="2803980"/>
        </p:xfrm>
        <a:graphic>
          <a:graphicData uri="http://schemas.openxmlformats.org/drawingml/2006/table">
            <a:tbl>
              <a:tblPr>
                <a:noFill/>
                <a:tableStyleId>{C0B70426-CAA7-4901-8DA6-E1E16C5DEDAC}</a:tableStyleId>
              </a:tblPr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Sample Type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Host Signal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Microbial Signal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CSF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&gt; 99%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&lt;&lt; 5% with infection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>
                          <a:solidFill>
                            <a:schemeClr val="dk1"/>
                          </a:solidFill>
                        </a:rPr>
                        <a:t>Tracheal Aspirate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95%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Nasal or oral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Whole blood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&gt; 99%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&lt;&lt; 1% (with infection)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Rectal or Vaginal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2" name="Google Shape;112;p5"/>
          <p:cNvSpPr/>
          <p:nvPr/>
        </p:nvSpPr>
        <p:spPr>
          <a:xfrm>
            <a:off x="280333" y="310936"/>
            <a:ext cx="768300" cy="819600"/>
          </a:xfrm>
          <a:prstGeom prst="arc">
            <a:avLst>
              <a:gd name="adj1" fmla="val 10870514"/>
              <a:gd name="adj2" fmla="val 21473896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0A9352-6827-D8CE-F2AD-E35332BC4FC6}"/>
              </a:ext>
            </a:extLst>
          </p:cNvPr>
          <p:cNvSpPr txBox="1"/>
          <p:nvPr/>
        </p:nvSpPr>
        <p:spPr>
          <a:xfrm>
            <a:off x="4719611" y="4608122"/>
            <a:ext cx="4204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*Concepts introduced in detail in previous modules</a:t>
            </a:r>
          </a:p>
          <a:p>
            <a:r>
              <a:rPr lang="en-US" dirty="0"/>
              <a:t>(Introduction to </a:t>
            </a:r>
            <a:r>
              <a:rPr lang="en-US" dirty="0" err="1"/>
              <a:t>mNGS</a:t>
            </a:r>
            <a:r>
              <a:rPr lang="en-US" dirty="0"/>
              <a:t>; </a:t>
            </a:r>
            <a:r>
              <a:rPr lang="en-US" dirty="0" err="1"/>
              <a:t>mNGS</a:t>
            </a:r>
            <a:r>
              <a:rPr lang="en-US" dirty="0"/>
              <a:t> Study Design)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306625" y="252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QC metrics affected by sample type</a:t>
            </a:r>
            <a:endParaRPr sz="3200">
              <a:latin typeface="+mj-lt"/>
            </a:endParaRPr>
          </a:p>
        </p:txBody>
      </p:sp>
      <p:graphicFrame>
        <p:nvGraphicFramePr>
          <p:cNvPr id="118" name="Google Shape;118;p6"/>
          <p:cNvGraphicFramePr/>
          <p:nvPr/>
        </p:nvGraphicFramePr>
        <p:xfrm>
          <a:off x="369175" y="1096900"/>
          <a:ext cx="8405650" cy="3718470"/>
        </p:xfrm>
        <a:graphic>
          <a:graphicData uri="http://schemas.openxmlformats.org/drawingml/2006/table">
            <a:tbl>
              <a:tblPr>
                <a:noFill/>
                <a:tableStyleId>{C0B70426-CAA7-4901-8DA6-E1E16C5DEDAC}</a:tableStyleId>
              </a:tblPr>
              <a:tblGrid>
                <a:gridCol w="23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Sample Type</a:t>
                      </a:r>
                      <a:endParaRPr sz="14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Typical Distribution</a:t>
                      </a:r>
                      <a:endParaRPr sz="1400" b="1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QC Trend</a:t>
                      </a:r>
                      <a:endParaRPr sz="1400" b="1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>
                          <a:solidFill>
                            <a:schemeClr val="dk1"/>
                          </a:solidFill>
                        </a:rPr>
                        <a:t>Stool, NP Swab, Environmental Samples, Sputum, Urine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>
                          <a:solidFill>
                            <a:schemeClr val="dk1"/>
                          </a:solidFill>
                        </a:rPr>
                        <a:t>(Higher diversity &amp; DNA/cDNA input)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>
                          <a:solidFill>
                            <a:schemeClr val="dk1"/>
                          </a:solidFill>
                        </a:rPr>
                        <a:t>Higher microbial reads 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>
                          <a:solidFill>
                            <a:schemeClr val="dk1"/>
                          </a:solidFill>
                        </a:rPr>
                        <a:t>Lower DCR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>
                          <a:solidFill>
                            <a:schemeClr val="dk1"/>
                          </a:solidFill>
                        </a:rPr>
                        <a:t>Serum, CSF, Plasma, Negative Controls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(Lower diversity &amp; DNA/cDNA input)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/>
                        <a:t>Lower microbial reads</a:t>
                      </a:r>
                      <a:endParaRPr sz="12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/>
                        <a:t>Higher DCR (PCR artifact)</a:t>
                      </a:r>
                      <a:endParaRPr sz="12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>
                          <a:solidFill>
                            <a:schemeClr val="dk1"/>
                          </a:solidFill>
                        </a:rPr>
                        <a:t>Higher background contamination</a:t>
                      </a:r>
                      <a:endParaRPr sz="12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9" name="Google Shape;119;p6"/>
          <p:cNvGrpSpPr/>
          <p:nvPr/>
        </p:nvGrpSpPr>
        <p:grpSpPr>
          <a:xfrm>
            <a:off x="3041800" y="2209088"/>
            <a:ext cx="3507953" cy="521700"/>
            <a:chOff x="2889400" y="2513888"/>
            <a:chExt cx="3507953" cy="521700"/>
          </a:xfrm>
        </p:grpSpPr>
        <p:sp>
          <p:nvSpPr>
            <p:cNvPr id="120" name="Google Shape;120;p6"/>
            <p:cNvSpPr/>
            <p:nvPr/>
          </p:nvSpPr>
          <p:spPr>
            <a:xfrm>
              <a:off x="2889400" y="2513888"/>
              <a:ext cx="3507900" cy="5217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2889400" y="2513888"/>
              <a:ext cx="1678500" cy="5217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           host</a:t>
              </a:r>
              <a:endParaRPr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797453" y="2513888"/>
              <a:ext cx="1599900" cy="521700"/>
            </a:xfrm>
            <a:prstGeom prst="rect">
              <a:avLst/>
            </a:prstGeom>
            <a:solidFill>
              <a:srgbClr val="0070C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      microbe</a:t>
              </a:r>
              <a:endParaRPr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grpSp>
        <p:nvGrpSpPr>
          <p:cNvPr id="123" name="Google Shape;123;p6"/>
          <p:cNvGrpSpPr/>
          <p:nvPr/>
        </p:nvGrpSpPr>
        <p:grpSpPr>
          <a:xfrm>
            <a:off x="3067000" y="3671875"/>
            <a:ext cx="3507900" cy="521700"/>
            <a:chOff x="2924750" y="3352425"/>
            <a:chExt cx="3507900" cy="521700"/>
          </a:xfrm>
        </p:grpSpPr>
        <p:sp>
          <p:nvSpPr>
            <p:cNvPr id="124" name="Google Shape;124;p6"/>
            <p:cNvSpPr/>
            <p:nvPr/>
          </p:nvSpPr>
          <p:spPr>
            <a:xfrm>
              <a:off x="2924750" y="3352425"/>
              <a:ext cx="3507900" cy="5217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2924750" y="3352425"/>
              <a:ext cx="405900" cy="5217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3330650" y="3352425"/>
              <a:ext cx="253500" cy="521700"/>
            </a:xfrm>
            <a:prstGeom prst="rect">
              <a:avLst/>
            </a:prstGeom>
            <a:solidFill>
              <a:srgbClr val="0070C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6"/>
          <p:cNvSpPr txBox="1"/>
          <p:nvPr/>
        </p:nvSpPr>
        <p:spPr>
          <a:xfrm>
            <a:off x="4347925" y="3748075"/>
            <a:ext cx="12822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ERCC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28" name="Google Shape;128;p6"/>
          <p:cNvGrpSpPr/>
          <p:nvPr/>
        </p:nvGrpSpPr>
        <p:grpSpPr>
          <a:xfrm>
            <a:off x="3220450" y="1383246"/>
            <a:ext cx="3068900" cy="294603"/>
            <a:chOff x="3068050" y="4278846"/>
            <a:chExt cx="3068900" cy="294603"/>
          </a:xfrm>
        </p:grpSpPr>
        <p:sp>
          <p:nvSpPr>
            <p:cNvPr id="129" name="Google Shape;129;p6"/>
            <p:cNvSpPr/>
            <p:nvPr/>
          </p:nvSpPr>
          <p:spPr>
            <a:xfrm>
              <a:off x="3068050" y="4355049"/>
              <a:ext cx="249600" cy="218400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 txBox="1"/>
            <p:nvPr/>
          </p:nvSpPr>
          <p:spPr>
            <a:xfrm>
              <a:off x="3317650" y="4278846"/>
              <a:ext cx="6087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fr"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926350" y="4355049"/>
              <a:ext cx="249600" cy="218400"/>
            </a:xfrm>
            <a:prstGeom prst="ellipse">
              <a:avLst/>
            </a:prstGeom>
            <a:solidFill>
              <a:srgbClr val="4A86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6"/>
            <p:cNvSpPr txBox="1"/>
            <p:nvPr/>
          </p:nvSpPr>
          <p:spPr>
            <a:xfrm>
              <a:off x="4175950" y="4278846"/>
              <a:ext cx="8475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fr"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Microbial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5039850" y="4355049"/>
              <a:ext cx="249600" cy="2184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6"/>
            <p:cNvSpPr txBox="1"/>
            <p:nvPr/>
          </p:nvSpPr>
          <p:spPr>
            <a:xfrm>
              <a:off x="5289450" y="4278846"/>
              <a:ext cx="8475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fr"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ERCC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B452E2C-3C1D-2CD2-8215-9CCE09775E2E}"/>
              </a:ext>
            </a:extLst>
          </p:cNvPr>
          <p:cNvSpPr txBox="1"/>
          <p:nvPr/>
        </p:nvSpPr>
        <p:spPr>
          <a:xfrm>
            <a:off x="429370" y="4815370"/>
            <a:ext cx="6575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*ERCC evaluation is not available for ONT in CZ ID, however the concepts apply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125450" y="260675"/>
            <a:ext cx="881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QC metrics not affected by sample type</a:t>
            </a:r>
            <a:endParaRPr sz="3200">
              <a:latin typeface="+mj-lt"/>
            </a:endParaRPr>
          </a:p>
        </p:txBody>
      </p:sp>
      <p:sp>
        <p:nvSpPr>
          <p:cNvPr id="140" name="Google Shape;140;p7"/>
          <p:cNvSpPr txBox="1">
            <a:spLocks noGrp="1"/>
          </p:cNvSpPr>
          <p:nvPr>
            <p:ph type="body" idx="1"/>
          </p:nvPr>
        </p:nvSpPr>
        <p:spPr>
          <a:xfrm>
            <a:off x="271100" y="1161800"/>
            <a:ext cx="8520600" cy="3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fr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Passed QC (fastp)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Should not inherently vary by tissue type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base quality (Q score)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Adapter dimer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require knowledge of sample processing for interpretation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fr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reads</a:t>
            </a: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affected by sample type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Dependent on input DNA/cDNA and sequencing depth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8f93afd49_0_101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Project Page QC Metrics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g358f93afd49_0_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43150"/>
            <a:ext cx="8839204" cy="2585294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118A66-B1AA-2985-4756-F80D6C377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34" y="1017725"/>
            <a:ext cx="5402754" cy="3730047"/>
          </a:xfrm>
          <a:prstGeom prst="rect">
            <a:avLst/>
          </a:prstGeom>
        </p:spPr>
      </p:pic>
      <p:sp>
        <p:nvSpPr>
          <p:cNvPr id="188" name="Google Shape;188;p14"/>
          <p:cNvSpPr txBox="1">
            <a:spLocks noGrp="1"/>
          </p:cNvSpPr>
          <p:nvPr>
            <p:ph type="title" idx="4294967295"/>
          </p:nvPr>
        </p:nvSpPr>
        <p:spPr>
          <a:xfrm>
            <a:off x="311700" y="17043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Sample-level QC</a:t>
            </a:r>
            <a:endParaRPr sz="320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C482D-172D-7AAF-D365-B576AF9E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0503"/>
            <a:ext cx="8520600" cy="572700"/>
          </a:xfrm>
        </p:spPr>
        <p:txBody>
          <a:bodyPr/>
          <a:lstStyle/>
          <a:p>
            <a:r>
              <a:rPr lang="en-US" sz="3200">
                <a:latin typeface="+mj-lt"/>
              </a:rPr>
              <a:t>Pipeline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EABDF2-7515-EA1C-7D2F-03D16CE43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67507"/>
              </p:ext>
            </p:extLst>
          </p:nvPr>
        </p:nvGraphicFramePr>
        <p:xfrm>
          <a:off x="633413" y="1017725"/>
          <a:ext cx="7877174" cy="3865272"/>
        </p:xfrm>
        <a:graphic>
          <a:graphicData uri="http://schemas.openxmlformats.org/drawingml/2006/table">
            <a:tbl>
              <a:tblPr>
                <a:tableStyleId>{C0B70426-CAA7-4901-8DA6-E1E16C5DEDAC}</a:tableStyleId>
              </a:tblPr>
              <a:tblGrid>
                <a:gridCol w="1304225">
                  <a:extLst>
                    <a:ext uri="{9D8B030D-6E8A-4147-A177-3AD203B41FA5}">
                      <a16:colId xmlns:a16="http://schemas.microsoft.com/office/drawing/2014/main" val="699799125"/>
                    </a:ext>
                  </a:extLst>
                </a:gridCol>
                <a:gridCol w="2124764">
                  <a:extLst>
                    <a:ext uri="{9D8B030D-6E8A-4147-A177-3AD203B41FA5}">
                      <a16:colId xmlns:a16="http://schemas.microsoft.com/office/drawing/2014/main" val="1387023323"/>
                    </a:ext>
                  </a:extLst>
                </a:gridCol>
                <a:gridCol w="4448185">
                  <a:extLst>
                    <a:ext uri="{9D8B030D-6E8A-4147-A177-3AD203B41FA5}">
                      <a16:colId xmlns:a16="http://schemas.microsoft.com/office/drawing/2014/main" val="674431451"/>
                    </a:ext>
                  </a:extLst>
                </a:gridCol>
              </a:tblGrid>
              <a:tr h="4664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 b="1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 b="1">
                          <a:effectLst/>
                        </a:rPr>
                        <a:t>Pipeline Step</a:t>
                      </a:r>
                      <a:endParaRPr lang="en-US" sz="11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 b="1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 b="1">
                          <a:effectLst/>
                        </a:rPr>
                        <a:t>Function</a:t>
                      </a:r>
                      <a:endParaRPr lang="en-US" sz="11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100" b="1">
                          <a:effectLst/>
                        </a:rPr>
                        <a:t>If Many Reads Lost During this Step...</a:t>
                      </a:r>
                      <a:endParaRPr lang="en-US" sz="11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 anchor="b"/>
                </a:tc>
                <a:extLst>
                  <a:ext uri="{0D108BD9-81ED-4DB2-BD59-A6C34878D82A}">
                    <a16:rowId xmlns:a16="http://schemas.microsoft.com/office/drawing/2014/main" val="425446025"/>
                  </a:ext>
                </a:extLst>
              </a:tr>
              <a:tr h="16767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fastp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Low quality read removal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Low complexity read removal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Note: adapter trimming is not completed in CZID. It must be done in ONT MinKNOW/Dorado, prior to upload to CZID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Many reads of low-quality (Phred scores, GC content); check sequencing run - suggest reviewing sequencing run report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Reads are relatively low-complexity, containing homopolymer nucleotides or simple sequence repeats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Many short reads: possible degradation, low quality RNA.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extLst>
                  <a:ext uri="{0D108BD9-81ED-4DB2-BD59-A6C34878D82A}">
                    <a16:rowId xmlns:a16="http://schemas.microsoft.com/office/drawing/2014/main" val="3063783683"/>
                  </a:ext>
                </a:extLst>
              </a:tr>
              <a:tr h="6278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minimap2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Host and human filtering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Large proportion of reads mapped to the host/human reference genome; this will vary by sample type and sample pre-processing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extLst>
                  <a:ext uri="{0D108BD9-81ED-4DB2-BD59-A6C34878D82A}">
                    <a16:rowId xmlns:a16="http://schemas.microsoft.com/office/drawing/2014/main" val="609020539"/>
                  </a:ext>
                </a:extLst>
              </a:tr>
              <a:tr h="6278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seqkt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Subsampling to reduce computational burden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Sample received a lot of reads during sequencing and/or has a high proportion of reads that are microbial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582" marR="57582" marT="57582" marB="57582"/>
                </a:tc>
                <a:extLst>
                  <a:ext uri="{0D108BD9-81ED-4DB2-BD59-A6C34878D82A}">
                    <a16:rowId xmlns:a16="http://schemas.microsoft.com/office/drawing/2014/main" val="4062460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60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29116720-CB3C-8FDE-EB99-8E997812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84B8E8-9E17-A30A-9C66-1C26A29F4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34" y="1017725"/>
            <a:ext cx="5402754" cy="3730047"/>
          </a:xfrm>
          <a:prstGeom prst="rect">
            <a:avLst/>
          </a:prstGeom>
        </p:spPr>
      </p:pic>
      <p:sp>
        <p:nvSpPr>
          <p:cNvPr id="188" name="Google Shape;188;p14">
            <a:extLst>
              <a:ext uri="{FF2B5EF4-FFF2-40B4-BE49-F238E27FC236}">
                <a16:creationId xmlns:a16="http://schemas.microsoft.com/office/drawing/2014/main" id="{448462E5-8CB4-FFAB-361C-C9A477F0BB6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17043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Sample-level QC</a:t>
            </a:r>
            <a:endParaRPr sz="3200">
              <a:latin typeface="+mj-lt"/>
            </a:endParaRPr>
          </a:p>
        </p:txBody>
      </p:sp>
      <p:cxnSp>
        <p:nvCxnSpPr>
          <p:cNvPr id="189" name="Google Shape;189;p14">
            <a:extLst>
              <a:ext uri="{FF2B5EF4-FFF2-40B4-BE49-F238E27FC236}">
                <a16:creationId xmlns:a16="http://schemas.microsoft.com/office/drawing/2014/main" id="{6AC87E23-D2A4-E5FF-27F5-6C2DF7CE8EC0}"/>
              </a:ext>
            </a:extLst>
          </p:cNvPr>
          <p:cNvCxnSpPr/>
          <p:nvPr/>
        </p:nvCxnSpPr>
        <p:spPr>
          <a:xfrm rot="10800000">
            <a:off x="5377042" y="4186831"/>
            <a:ext cx="3093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6FC5AA1-9498-4C17-8C66-147766C5D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232" y="2959170"/>
            <a:ext cx="2586068" cy="178860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111515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6f51ae4fd8_1_483"/>
          <p:cNvSpPr/>
          <p:nvPr/>
        </p:nvSpPr>
        <p:spPr>
          <a:xfrm>
            <a:off x="1589100" y="1173900"/>
            <a:ext cx="5965800" cy="2795700"/>
          </a:xfrm>
          <a:prstGeom prst="roundRect">
            <a:avLst>
              <a:gd name="adj" fmla="val 16667"/>
            </a:avLst>
          </a:prstGeom>
          <a:solidFill>
            <a:srgbClr val="CDD4EA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3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 to worksheet: </a:t>
            </a:r>
            <a:endParaRPr sz="3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3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Quality control </a:t>
            </a:r>
            <a:endParaRPr sz="3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3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 to 5</a:t>
            </a:r>
            <a:endParaRPr sz="3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E4329E-24D2-15BC-CED8-6B4FAF7A7B4D}"/>
              </a:ext>
            </a:extLst>
          </p:cNvPr>
          <p:cNvSpPr txBox="1"/>
          <p:nvPr/>
        </p:nvSpPr>
        <p:spPr>
          <a:xfrm>
            <a:off x="1261200" y="4199847"/>
            <a:ext cx="67810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Current Worksheet: </a:t>
            </a:r>
            <a:r>
              <a:rPr lang="en-US" dirty="0"/>
              <a:t>CZ ID Training Reference Tables &amp; </a:t>
            </a:r>
            <a:r>
              <a:rPr lang="en-US" dirty="0" err="1"/>
              <a:t>Worksheets_ONT</a:t>
            </a:r>
            <a:r>
              <a:rPr lang="en-US" dirty="0"/>
              <a:t>, </a:t>
            </a:r>
            <a:r>
              <a:rPr lang="en-US" dirty="0" err="1"/>
              <a:t>pg</a:t>
            </a:r>
            <a:r>
              <a:rPr lang="en-US" dirty="0"/>
              <a:t> 5-9</a:t>
            </a:r>
          </a:p>
          <a:p>
            <a:endParaRPr lang="en-US" dirty="0"/>
          </a:p>
          <a:p>
            <a:r>
              <a:rPr lang="en-US" b="1" dirty="0"/>
              <a:t>Next Slides</a:t>
            </a:r>
            <a:r>
              <a:rPr lang="en-US" dirty="0"/>
              <a:t>: DL6-O_Sample Report Metrics for ONT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791</Words>
  <Application>Microsoft Macintosh PowerPoint</Application>
  <PresentationFormat>On-screen Show (16:9)</PresentationFormat>
  <Paragraphs>139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Poppins</vt:lpstr>
      <vt:lpstr>Helvetica Neue Light</vt:lpstr>
      <vt:lpstr>Arial</vt:lpstr>
      <vt:lpstr>Helvetica Neue</vt:lpstr>
      <vt:lpstr>White</vt:lpstr>
      <vt:lpstr>Disclaimer</vt:lpstr>
      <vt:lpstr>PowerPoint Presentation</vt:lpstr>
      <vt:lpstr>Steps for Exploring Results</vt:lpstr>
      <vt:lpstr>Outline </vt:lpstr>
      <vt:lpstr>Quality Control </vt:lpstr>
      <vt:lpstr>CZ ID QC Metrics </vt:lpstr>
      <vt:lpstr>Sample type matters when evaluating QC metrics </vt:lpstr>
      <vt:lpstr>QC metrics affected by sample type</vt:lpstr>
      <vt:lpstr>QC metrics not affected by sample type</vt:lpstr>
      <vt:lpstr>Project Page QC Metrics</vt:lpstr>
      <vt:lpstr>Sample-level QC</vt:lpstr>
      <vt:lpstr>Pipeline Table</vt:lpstr>
      <vt:lpstr>Sample-level QC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9</cp:revision>
  <dcterms:modified xsi:type="dcterms:W3CDTF">2026-09-29T00:34:26Z</dcterms:modified>
</cp:coreProperties>
</file>