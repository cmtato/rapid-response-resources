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33"/>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Lst>
  <p:sldSz cx="9144000" cy="5143500" type="screen16x9"/>
  <p:notesSz cx="6858000" cy="9144000"/>
  <p:embeddedFontLst>
    <p:embeddedFont>
      <p:font typeface="Comic Sans MS" panose="030F0902030302020204" pitchFamily="66" charset="0"/>
      <p:regular r:id="rId34"/>
    </p:embeddedFont>
    <p:embeddedFont>
      <p:font typeface="Lato" panose="020F0502020204030203" pitchFamily="34" charset="0"/>
      <p:regular r:id="rId35"/>
      <p:bold r:id="rId36"/>
      <p:italic r:id="rId37"/>
      <p:boldItalic r:id="rId38"/>
    </p:embeddedFont>
    <p:embeddedFont>
      <p:font typeface="Lato Light" panose="020F0502020204030203" pitchFamily="34" charset="0"/>
      <p:regular r:id="rId39"/>
      <p:italic r:id="rId40"/>
    </p:embeddedFont>
    <p:embeddedFont>
      <p:font typeface="STIX Two Text" pitchFamily="2"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49" roundtripDataSignature="AMtx7mgATZFmZwE7VEGNZ6kjg562SSqkQ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40"/>
  </p:normalViewPr>
  <p:slideViewPr>
    <p:cSldViewPr snapToGrid="0">
      <p:cViewPr varScale="1">
        <p:scale>
          <a:sx n="155" d="100"/>
          <a:sy n="155" d="100"/>
        </p:scale>
        <p:origin x="592"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6.fntdata"/><Relationship Id="rId21" Type="http://schemas.openxmlformats.org/officeDocument/2006/relationships/slide" Target="slides/slide20.xml"/><Relationship Id="rId34" Type="http://schemas.openxmlformats.org/officeDocument/2006/relationships/font" Target="fonts/font1.fntdata"/><Relationship Id="rId42" Type="http://schemas.openxmlformats.org/officeDocument/2006/relationships/font" Target="fonts/font9.fntdata"/><Relationship Id="rId50"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font" Target="fonts/font4.fntdata"/><Relationship Id="rId40" Type="http://schemas.openxmlformats.org/officeDocument/2006/relationships/font" Target="fonts/font7.fntdata"/><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font" Target="fonts/font3.fntdata"/><Relationship Id="rId49"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font" Target="fonts/font11.fntdata"/><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font" Target="fonts/font2.fntdata"/><Relationship Id="rId43"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font" Target="fonts/font5.fntdata"/><Relationship Id="rId20" Type="http://schemas.openxmlformats.org/officeDocument/2006/relationships/slide" Target="slides/slide19.xml"/><Relationship Id="rId41"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2" name="Google Shape;52;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This lecture will cover universal sampling guidelines, which will have implications for the types of questions you can answer. No hard and fast answers here and so this presentation will cover the things we want to think about for sampling, the questions, and the assumptions our models make. Across the literature many of them are convenience samples and you have to be pragmatic about it.</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 name="Google Shape;58;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Number 2 is arguably harder, and where most of the “art” is in this.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Overlap between traditional epi and genomic epi. When we are designing a study, we have to think about sample size and the size of the study for type 1 and type 2 error rates, effect size to detect a clinically relevant difference between populations (if there is one), and how do we design for case definitions, how to select controls, what you decide to measure, and what confounders could exist. We have formulas for number 1, but study design is more of an art of who should be in a study and what we need to measure about them.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
        <p:cNvGrpSpPr/>
        <p:nvPr/>
      </p:nvGrpSpPr>
      <p:grpSpPr>
        <a:xfrm>
          <a:off x="0" y="0"/>
          <a:ext cx="0" cy="0"/>
          <a:chOff x="0" y="0"/>
          <a:chExt cx="0" cy="0"/>
        </a:xfrm>
      </p:grpSpPr>
      <p:sp>
        <p:nvSpPr>
          <p:cNvPr id="63" name="Google Shape;63;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 name="Google Shape;64;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Number 2 is arguably harder, and where most of the “art” is in this.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Monet’s formula for what # of people you need to detect X. You could simulate sampling scenarios to see dynamics in a real dataset. Right now, that is what people do. But, we are going to focus on part 2 of how to design the study, who we want to include, and cover a variety of epi questions.</a:t>
            </a: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
        <p:cNvGrpSpPr/>
        <p:nvPr/>
      </p:nvGrpSpPr>
      <p:grpSpPr>
        <a:xfrm>
          <a:off x="0" y="0"/>
          <a:ext cx="0" cy="0"/>
          <a:chOff x="0" y="0"/>
          <a:chExt cx="0" cy="0"/>
        </a:xfrm>
      </p:grpSpPr>
      <p:sp>
        <p:nvSpPr>
          <p:cNvPr id="69" name="Google Shape;69;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0" name="Google Shape;70;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Cover different detections like emerging or sweeping to fixation of different lineages; phylogenetic studies for descriptive epidemiology, analytic epi studies that use genomic information. Answering outbreak investigations and exploring fine scale transmission dynamics in limited settings.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But before we get into those specifics, I want to start out talking about populations.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Here we have a homogenously mixed population. Each dot has equal probability of mixing with any other blue dot. Coming into contact with others has equal probability.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9"/>
        <p:cNvGrpSpPr/>
        <p:nvPr/>
      </p:nvGrpSpPr>
      <p:grpSpPr>
        <a:xfrm>
          <a:off x="0" y="0"/>
          <a:ext cx="0" cy="0"/>
          <a:chOff x="0" y="0"/>
          <a:chExt cx="0" cy="0"/>
        </a:xfrm>
      </p:grpSpPr>
      <p:sp>
        <p:nvSpPr>
          <p:cNvPr id="100" name="Google Shape;100;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1" name="Google Shape;101;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In this kind of population, you would any lineage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Equally fit viral lineages, they distribute across the entire population equally. Yellow strain can go on to infect anyone else, and same for the red one. To get a picture of the lineages circulation, all you have to do is randomly sample this population.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2" name="Google Shape;132;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In this kind of population, you would any lineage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But, that’s not the reality. People interact with others based on where they live, work, languages, age, etc. in reality, because people don’t have equal probabilities of coming into contact with each other, when they are infected lineages don’t spread uniformly across a population. Different people may have different probabilities of coming into contact with certain lineages. We have to account for this.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8" name="Google Shape;168;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And this is important to recognize across a whole host of studies that you aim to do!</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It varies depend on which bin or population you live in.</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g2b5a0b1ce59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04" name="Google Shape;204;g2b5a0b1ce59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2" name="Google Shape;21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
        <p:cNvGrpSpPr/>
        <p:nvPr/>
      </p:nvGrpSpPr>
      <p:grpSpPr>
        <a:xfrm>
          <a:off x="0" y="0"/>
          <a:ext cx="0" cy="0"/>
          <a:chOff x="0" y="0"/>
          <a:chExt cx="0" cy="0"/>
        </a:xfrm>
      </p:grpSpPr>
      <p:sp>
        <p:nvSpPr>
          <p:cNvPr id="216" name="Google Shape;216;p1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7" name="Google Shape;21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Homogenous population mixing. To do this study, you sample this population so that the sequences in your dataset are representative of those underlying the population of infected individuals. We don’t sequence every case at the country level. So to what extent does our dataset represent the viral diversity represented in the population? If you sample at random, what is the probability that it represents the underlying population?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p1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So, we need to know what’s actually happening at the underlying population… we have a structured population. We want the viral diversity of what is in our population. If we don’t account for how people get exposed to these lineages we aren’t going to see the viral diversity out there. Determine the factors that impact people’s probability to move across groups and sample from all the bins. You would sample those different bins in proportion to the incidence within those bins. If you really want a representative dataset, randomly selection may overselect with certain biases. You may enrich for certain lineages and remove other compared to what is actually circulating in a population.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Issues in the US around s-gene target failure and sequencing– artificially biases your dataset for one particular genotype. Might be helpful to answer if B117 is here, but you have altered your dataset to be hard to see the change in frequency because you’ve enriched a dataset to detect a lineage at baseline and screened out other lineages that don’t have this. This was right after a big surge, that we missed other potential lineages because we had altered things. Knowing why samples were sequenced is important to be filtered out of baseline surveillance to not artificially enrich baseline.</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1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4" name="Google Shape;284;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When I’ve seen this question explored, it is typically for the theoretical homogenously mixing population on the left. You could totally do fancy things to model the scenario on the right, but that would be more effort, which you can totally do, but sometimes the faster thing is just to think about what those bins are and try and get representation across them.</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How much you sequence depends on the frequency you want to detect (10% vs 30%)? What frequency level matters? Run a few models for either scenario. Sequence groups with transmission within than between and randomly sample in those bins where it is in proportion to the amount that is happening. You can target for specific phenotypes but it can’t be your baseline surveillance testing. Targeted happens on top of this. Cant detect outbreak if you don’t know what normal is. </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No formal way to specify what level of intensity to sequence at and no set ways of how a population is set up (i.e. geography, age, etc. requires you to think about the factors that impact how people move. This could vary by region or country. Ex. my jurisdiction north and south county. What divides your population to transmit within themselves. Historically, we didn’t really have to ask these questions because there just wasn’t this much data. But, we do now, because of COVID and now that there is so much genomic surveillance undergoing. If we have lower prevalence, we may have different questions and less concerned about ex emerging lineages approaching fixation.</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45" name="Google Shape;345;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0" name="Google Shape;350;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Genome sequences along with where, regionally, they were collected. You refer the ancestral state for the node sin the tree. How we model the spatial trait or sequence evolution across the tree. This model is fast and user friendly. Is used in Nextstrain, with a fundamental assumption that is violatable: assumes samples are collected at random at a population. The # of sample represented is related to the outbreak size of those regions.</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5"/>
        <p:cNvGrpSpPr/>
        <p:nvPr/>
      </p:nvGrpSpPr>
      <p:grpSpPr>
        <a:xfrm>
          <a:off x="0" y="0"/>
          <a:ext cx="0" cy="0"/>
          <a:chOff x="0" y="0"/>
          <a:chExt cx="0" cy="0"/>
        </a:xfrm>
      </p:grpSpPr>
      <p:sp>
        <p:nvSpPr>
          <p:cNvPr id="356" name="Google Shape;356;p1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57" name="Google Shape;357;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Pragmatically, this can be hard to do, and so often the get around is to (like the phylodynamic model), sample different geographic locations uniformly. This assumption is often violated, which is why we frequently do sensitivity analyses around sampling intensity with phylogeographic reconstructions like this.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0"/>
        <p:cNvGrpSpPr/>
        <p:nvPr/>
      </p:nvGrpSpPr>
      <p:grpSpPr>
        <a:xfrm>
          <a:off x="0" y="0"/>
          <a:ext cx="0" cy="0"/>
          <a:chOff x="0" y="0"/>
          <a:chExt cx="0" cy="0"/>
        </a:xfrm>
      </p:grpSpPr>
      <p:sp>
        <p:nvSpPr>
          <p:cNvPr id="361" name="Google Shape;361;p1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62" name="Google Shape;362;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Pragmatically, this can be hard to do, and so often the get around is to (like the phylodynamic model), sample different geographic locations uniformly. This assumption is often violated, which is why we frequently do sensitivity analyses around sampling intensity with phylogeographic reconstructions like this.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The orange outbreak is 4x the size of the blue outbreak. If we didn’t look at where people were coming from, sample 20 from orange and 5 from blue country. DTA model treats this number as information that propogates through the tree.</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1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3" name="Google Shape;373;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The trait we are inferring here is HOST instead of geography! Doesn’t matter, the procedure is the same.</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Replace geographic trait for host trait. Ex. mers, where virus circulating in humans that camels. When you run this model, it treats those counts as information where this model describes mers primarily circulating in humans and spilling over to camels. Not true! More complex models for geographic and migration patterns that are accurate without using sequence counts as information.</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9" name="Google Shape;379;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You can correct for these issues with more specialized evolutionary models that we can totally talk about at a later date if people are interested!</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This has been corrected. If you don’t want to use fancy models, you have to sequence or sample from groups in proportion to the outbreak size within those groups to prevent bias.</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3"/>
        <p:cNvGrpSpPr/>
        <p:nvPr/>
      </p:nvGrpSpPr>
      <p:grpSpPr>
        <a:xfrm>
          <a:off x="0" y="0"/>
          <a:ext cx="0" cy="0"/>
          <a:chOff x="0" y="0"/>
          <a:chExt cx="0" cy="0"/>
        </a:xfrm>
      </p:grpSpPr>
      <p:sp>
        <p:nvSpPr>
          <p:cNvPr id="384" name="Google Shape;384;p1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85" name="Google Shape;385;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You may not know the incidence in a particular area, so pragmatically you may want to sample uniformly from the different bins. Usually if you sample from each bin then the structure in the tree won’t be from disproportionate sampling. Uniform sampling or down sampling so that a tree with equal representation for primary sensitive analysis to look at sampling changing patterns on the tree.  Uniformly works well across the different bins.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9"/>
        <p:cNvGrpSpPr/>
        <p:nvPr/>
      </p:nvGrpSpPr>
      <p:grpSpPr>
        <a:xfrm>
          <a:off x="0" y="0"/>
          <a:ext cx="0" cy="0"/>
          <a:chOff x="0" y="0"/>
          <a:chExt cx="0" cy="0"/>
        </a:xfrm>
      </p:grpSpPr>
      <p:sp>
        <p:nvSpPr>
          <p:cNvPr id="420" name="Google Shape;420;p2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1" name="Google Shape;421;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4"/>
        <p:cNvGrpSpPr/>
        <p:nvPr/>
      </p:nvGrpSpPr>
      <p:grpSpPr>
        <a:xfrm>
          <a:off x="0" y="0"/>
          <a:ext cx="0" cy="0"/>
          <a:chOff x="0" y="0"/>
          <a:chExt cx="0" cy="0"/>
        </a:xfrm>
      </p:grpSpPr>
      <p:sp>
        <p:nvSpPr>
          <p:cNvPr id="425" name="Google Shape;425;p2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6" name="Google Shape;426;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And my intuition for this is just that it’s your best bet to really see linkage between cases, directionality within the outbreak, emergence of anything strange etc. You might not have enough diversity accrue over the outbreak to resolve everything, but in a localized setting there’s potentially a lot to learn by sequencing all the cases.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The major thing I want to stress though is that a “baseline” dataset does NOT get constructed then by in depth sequencing of multiple  localized outbreaks! You have divergent sampling regimes, and you actually want both...ESPECIALLY if you want to contextualize where an outbreak came from and what happened afterward (e.g. spillover back into the community?) So typically you will want to try and support BOTH sampling strategies.</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2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2" name="Google Shape;43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5"/>
        <p:cNvGrpSpPr/>
        <p:nvPr/>
      </p:nvGrpSpPr>
      <p:grpSpPr>
        <a:xfrm>
          <a:off x="0" y="0"/>
          <a:ext cx="0" cy="0"/>
          <a:chOff x="0" y="0"/>
          <a:chExt cx="0" cy="0"/>
        </a:xfrm>
      </p:grpSpPr>
      <p:sp>
        <p:nvSpPr>
          <p:cNvPr id="436" name="Google Shape;436;p2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7" name="Google Shape;437;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Uniformly is okay.</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a:t>Two datasets are needed: targeted and baseline.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98" name="Google Shape;498;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4" name="Google Shape;504;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p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49" name="Google Shape;549;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Data organization and consistency is important both so that YOU can come back to the data in the future (and keep private data well organized and linked to samples), and it’s also important for facilitating data sharing in you need or want to share data across jurisdictions. Variability in data structures (how we encode all of the associated data about a sample) can make it really difficult to know apples from oranges, and make sure you’re comparing apples to oranges. It makes data HARDER TO INTERPRET (because you don’t know what’s what exactly), and DIFFICULT TO USE (especially if you’re trying to do things like run automated scripts). </a:t>
            </a:r>
            <a:r>
              <a:rPr lang="en">
                <a:solidFill>
                  <a:schemeClr val="dk1"/>
                </a:solidFill>
              </a:rPr>
              <a:t>Different data structures make data less interoperable and HARDER to INTEGRATE</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2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9" name="Google Shape;569;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Solution == having a consistent way to specify data fields and track them that many people also use!</a:t>
            </a:r>
            <a:endParaRPr/>
          </a:p>
          <a:p>
            <a:pPr marL="0" lvl="0" indent="0" algn="l" rtl="0">
              <a:lnSpc>
                <a:spcPct val="100000"/>
              </a:lnSpc>
              <a:spcBef>
                <a:spcPts val="0"/>
              </a:spcBef>
              <a:spcAft>
                <a:spcPts val="0"/>
              </a:spcAft>
              <a:buSzPts val="1100"/>
              <a:buNone/>
            </a:pPr>
            <a:r>
              <a:rPr lang="en"/>
              <a:t>Data Spec is a spreadsheet that is a STANDARDIZED DATA COLLECTION TEMPLATE: It specifies important fields you should track (mandatory), recommended fields, but then also has organization and structure for many additional fields that you don’t have to use but might find useful. There are also pick lists in the template that allow you to choose standardized terms to fill in the data, so that actual entries are consistent across records. There are also structured formats for fields such as dates that ensures that all dates are formatted in the same standard, which is pretty critical especially for international data sharing.</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3"/>
        <p:cNvGrpSpPr/>
        <p:nvPr/>
      </p:nvGrpSpPr>
      <p:grpSpPr>
        <a:xfrm>
          <a:off x="0" y="0"/>
          <a:ext cx="0" cy="0"/>
          <a:chOff x="0" y="0"/>
          <a:chExt cx="0" cy="0"/>
        </a:xfrm>
      </p:grpSpPr>
      <p:sp>
        <p:nvSpPr>
          <p:cNvPr id="574" name="Google Shape;574;p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75" name="Google Shape;575;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8"/>
        <p:cNvGrpSpPr/>
        <p:nvPr/>
      </p:nvGrpSpPr>
      <p:grpSpPr>
        <a:xfrm>
          <a:off x="0" y="0"/>
          <a:ext cx="0" cy="0"/>
          <a:chOff x="0" y="0"/>
          <a:chExt cx="0" cy="0"/>
        </a:xfrm>
      </p:grpSpPr>
      <p:sp>
        <p:nvSpPr>
          <p:cNvPr id="579" name="Google Shape;579;p2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0" name="Google Shape;580;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4"/>
        <p:cNvGrpSpPr/>
        <p:nvPr/>
      </p:nvGrpSpPr>
      <p:grpSpPr>
        <a:xfrm>
          <a:off x="0" y="0"/>
          <a:ext cx="0" cy="0"/>
          <a:chOff x="0" y="0"/>
          <a:chExt cx="0" cy="0"/>
        </a:xfrm>
      </p:grpSpPr>
      <p:sp>
        <p:nvSpPr>
          <p:cNvPr id="585" name="Google Shape;585;p3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86" name="Google Shape;586;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3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3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3"/>
        <p:cNvGrpSpPr/>
        <p:nvPr/>
      </p:nvGrpSpPr>
      <p:grpSpPr>
        <a:xfrm>
          <a:off x="0" y="0"/>
          <a:ext cx="0" cy="0"/>
          <a:chOff x="0" y="0"/>
          <a:chExt cx="0" cy="0"/>
        </a:xfrm>
      </p:grpSpPr>
      <p:sp>
        <p:nvSpPr>
          <p:cNvPr id="14" name="Google Shape;14;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7" name="Google Shape;17;p3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8" name="Google Shape;18;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9"/>
        <p:cNvGrpSpPr/>
        <p:nvPr/>
      </p:nvGrpSpPr>
      <p:grpSpPr>
        <a:xfrm>
          <a:off x="0" y="0"/>
          <a:ext cx="0" cy="0"/>
          <a:chOff x="0" y="0"/>
          <a:chExt cx="0" cy="0"/>
        </a:xfrm>
      </p:grpSpPr>
      <p:sp>
        <p:nvSpPr>
          <p:cNvPr id="20" name="Google Shape;20;p35"/>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1" name="Google Shape;21;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2"/>
        <p:cNvGrpSpPr/>
        <p:nvPr/>
      </p:nvGrpSpPr>
      <p:grpSpPr>
        <a:xfrm>
          <a:off x="0" y="0"/>
          <a:ext cx="0" cy="0"/>
          <a:chOff x="0" y="0"/>
          <a:chExt cx="0" cy="0"/>
        </a:xfrm>
      </p:grpSpPr>
      <p:sp>
        <p:nvSpPr>
          <p:cNvPr id="23" name="Google Shape;23;p3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4" name="Google Shape;24;p36"/>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5" name="Google Shape;25;p36"/>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6" name="Google Shape;26;p3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
        <p:cNvGrpSpPr/>
        <p:nvPr/>
      </p:nvGrpSpPr>
      <p:grpSpPr>
        <a:xfrm>
          <a:off x="0" y="0"/>
          <a:ext cx="0" cy="0"/>
          <a:chOff x="0" y="0"/>
          <a:chExt cx="0" cy="0"/>
        </a:xfrm>
      </p:grpSpPr>
      <p:sp>
        <p:nvSpPr>
          <p:cNvPr id="28" name="Google Shape;28;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9" name="Google Shape;29;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0"/>
        <p:cNvGrpSpPr/>
        <p:nvPr/>
      </p:nvGrpSpPr>
      <p:grpSpPr>
        <a:xfrm>
          <a:off x="0" y="0"/>
          <a:ext cx="0" cy="0"/>
          <a:chOff x="0" y="0"/>
          <a:chExt cx="0" cy="0"/>
        </a:xfrm>
      </p:grpSpPr>
      <p:sp>
        <p:nvSpPr>
          <p:cNvPr id="31" name="Google Shape;31;p38"/>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2" name="Google Shape;32;p38"/>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3" name="Google Shape;33;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4"/>
        <p:cNvGrpSpPr/>
        <p:nvPr/>
      </p:nvGrpSpPr>
      <p:grpSpPr>
        <a:xfrm>
          <a:off x="0" y="0"/>
          <a:ext cx="0" cy="0"/>
          <a:chOff x="0" y="0"/>
          <a:chExt cx="0" cy="0"/>
        </a:xfrm>
      </p:grpSpPr>
      <p:sp>
        <p:nvSpPr>
          <p:cNvPr id="35" name="Google Shape;35;p39"/>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6" name="Google Shape;36;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7"/>
        <p:cNvGrpSpPr/>
        <p:nvPr/>
      </p:nvGrpSpPr>
      <p:grpSpPr>
        <a:xfrm>
          <a:off x="0" y="0"/>
          <a:ext cx="0" cy="0"/>
          <a:chOff x="0" y="0"/>
          <a:chExt cx="0" cy="0"/>
        </a:xfrm>
      </p:grpSpPr>
      <p:sp>
        <p:nvSpPr>
          <p:cNvPr id="38" name="Google Shape;38;p40"/>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 name="Google Shape;39;p40"/>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0" name="Google Shape;40;p40"/>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1" name="Google Shape;41;p40"/>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2" name="Google Shape;42;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3"/>
        <p:cNvGrpSpPr/>
        <p:nvPr/>
      </p:nvGrpSpPr>
      <p:grpSpPr>
        <a:xfrm>
          <a:off x="0" y="0"/>
          <a:ext cx="0" cy="0"/>
          <a:chOff x="0" y="0"/>
          <a:chExt cx="0" cy="0"/>
        </a:xfrm>
      </p:grpSpPr>
      <p:sp>
        <p:nvSpPr>
          <p:cNvPr id="44" name="Google Shape;44;p41"/>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5" name="Google Shape;45;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6"/>
        <p:cNvGrpSpPr/>
        <p:nvPr/>
      </p:nvGrpSpPr>
      <p:grpSpPr>
        <a:xfrm>
          <a:off x="0" y="0"/>
          <a:ext cx="0" cy="0"/>
          <a:chOff x="0" y="0"/>
          <a:chExt cx="0" cy="0"/>
        </a:xfrm>
      </p:grpSpPr>
      <p:sp>
        <p:nvSpPr>
          <p:cNvPr id="47" name="Google Shape;47;p42"/>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8" name="Google Shape;48;p42"/>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9" name="Google Shape;49;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3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3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53"/>
        <p:cNvGrpSpPr/>
        <p:nvPr/>
      </p:nvGrpSpPr>
      <p:grpSpPr>
        <a:xfrm>
          <a:off x="0" y="0"/>
          <a:ext cx="0" cy="0"/>
          <a:chOff x="0" y="0"/>
          <a:chExt cx="0" cy="0"/>
        </a:xfrm>
      </p:grpSpPr>
      <p:sp>
        <p:nvSpPr>
          <p:cNvPr id="54" name="Google Shape;54;p1"/>
          <p:cNvSpPr txBox="1">
            <a:spLocks noGrp="1"/>
          </p:cNvSpPr>
          <p:nvPr>
            <p:ph type="ctrTitle"/>
          </p:nvPr>
        </p:nvSpPr>
        <p:spPr>
          <a:xfrm>
            <a:off x="311708" y="553800"/>
            <a:ext cx="8520600" cy="2052600"/>
          </a:xfrm>
          <a:prstGeom prst="rect">
            <a:avLst/>
          </a:prstGeom>
          <a:noFill/>
          <a:ln>
            <a:noFill/>
          </a:ln>
        </p:spPr>
        <p:txBody>
          <a:bodyPr spcFirstLastPara="1" wrap="square" lIns="91425" tIns="91425" rIns="91425" bIns="91425" anchor="b" anchorCtr="0">
            <a:normAutofit/>
          </a:bodyPr>
          <a:lstStyle/>
          <a:p>
            <a:pPr marL="0" lvl="0" indent="0" algn="ctr" rtl="0">
              <a:lnSpc>
                <a:spcPct val="100000"/>
              </a:lnSpc>
              <a:spcBef>
                <a:spcPts val="0"/>
              </a:spcBef>
              <a:spcAft>
                <a:spcPts val="0"/>
              </a:spcAft>
              <a:buSzPts val="5200"/>
              <a:buNone/>
            </a:pPr>
            <a:r>
              <a:rPr lang="en" sz="3500" b="1">
                <a:solidFill>
                  <a:srgbClr val="FFFFFF"/>
                </a:solidFill>
                <a:latin typeface="STIX Two Text"/>
                <a:ea typeface="STIX Two Text"/>
                <a:cs typeface="STIX Two Text"/>
                <a:sym typeface="STIX Two Text"/>
              </a:rPr>
              <a:t>Universal Sampling Guidelines and Selection for Applied Genomic Epidemiology</a:t>
            </a:r>
            <a:endParaRPr sz="3500" b="1">
              <a:solidFill>
                <a:srgbClr val="FFFFFF"/>
              </a:solidFill>
              <a:latin typeface="STIX Two Text"/>
              <a:ea typeface="STIX Two Text"/>
              <a:cs typeface="STIX Two Text"/>
              <a:sym typeface="STIX Two Text"/>
            </a:endParaRPr>
          </a:p>
        </p:txBody>
      </p:sp>
      <p:sp>
        <p:nvSpPr>
          <p:cNvPr id="55" name="Google Shape;55;p1"/>
          <p:cNvSpPr txBox="1">
            <a:spLocks noGrp="1"/>
          </p:cNvSpPr>
          <p:nvPr>
            <p:ph type="subTitle" idx="1"/>
          </p:nvPr>
        </p:nvSpPr>
        <p:spPr>
          <a:xfrm>
            <a:off x="311700" y="3217150"/>
            <a:ext cx="8520600" cy="792600"/>
          </a:xfrm>
          <a:prstGeom prst="rect">
            <a:avLst/>
          </a:prstGeom>
          <a:noFill/>
          <a:ln>
            <a:noFill/>
          </a:ln>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935"/>
              <a:buNone/>
            </a:pPr>
            <a:endParaRPr sz="1800" dirty="0">
              <a:solidFill>
                <a:srgbClr val="EFEFEF"/>
              </a:solidFill>
              <a:latin typeface="Lato"/>
              <a:ea typeface="Lato"/>
              <a:cs typeface="Lato"/>
              <a:sym typeface="La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2"/>
          <p:cNvSpPr txBox="1">
            <a:spLocks noGrp="1"/>
          </p:cNvSpPr>
          <p:nvPr>
            <p:ph type="title" idx="4294967295"/>
          </p:nvPr>
        </p:nvSpPr>
        <p:spPr>
          <a:xfrm>
            <a:off x="187650" y="138675"/>
            <a:ext cx="87420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When designing epidemiological studies we often ask… </a:t>
            </a:r>
            <a:endParaRPr>
              <a:latin typeface="Lato Light"/>
              <a:ea typeface="Lato Light"/>
              <a:cs typeface="Lato Light"/>
              <a:sym typeface="Lato Light"/>
            </a:endParaRPr>
          </a:p>
        </p:txBody>
      </p:sp>
      <p:sp>
        <p:nvSpPr>
          <p:cNvPr id="61" name="Google Shape;61;p2"/>
          <p:cNvSpPr txBox="1"/>
          <p:nvPr/>
        </p:nvSpPr>
        <p:spPr>
          <a:xfrm>
            <a:off x="331500" y="1648200"/>
            <a:ext cx="8481000" cy="1847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Font typeface="Lato"/>
              <a:buAutoNum type="arabicPeriod"/>
            </a:pPr>
            <a:r>
              <a:rPr lang="en" sz="1800" b="1" i="0" u="none" strike="noStrike" cap="none">
                <a:solidFill>
                  <a:srgbClr val="000000"/>
                </a:solidFill>
                <a:latin typeface="Lato"/>
                <a:ea typeface="Lato"/>
                <a:cs typeface="Lato"/>
                <a:sym typeface="Lato"/>
              </a:rPr>
              <a:t>How large should the study be?</a:t>
            </a:r>
            <a:endParaRPr sz="1800" b="1" i="0" u="none" strike="noStrike" cap="none">
              <a:solidFill>
                <a:srgbClr val="000000"/>
              </a:solidFill>
              <a:latin typeface="Lato"/>
              <a:ea typeface="Lato"/>
              <a:cs typeface="Lato"/>
              <a:sym typeface="Lato"/>
            </a:endParaRPr>
          </a:p>
          <a:p>
            <a:pPr marL="914400" marR="0" lvl="1" indent="-342900" algn="l" rtl="0">
              <a:lnSpc>
                <a:spcPct val="100000"/>
              </a:lnSpc>
              <a:spcBef>
                <a:spcPts val="0"/>
              </a:spcBef>
              <a:spcAft>
                <a:spcPts val="0"/>
              </a:spcAft>
              <a:buClr>
                <a:srgbClr val="000000"/>
              </a:buClr>
              <a:buSzPts val="1800"/>
              <a:buFont typeface="Lato"/>
              <a:buChar char="○"/>
            </a:pPr>
            <a:r>
              <a:rPr lang="en" sz="1800" b="0" i="0" u="none" strike="noStrike" cap="none">
                <a:solidFill>
                  <a:srgbClr val="000000"/>
                </a:solidFill>
                <a:latin typeface="Lato"/>
                <a:ea typeface="Lato"/>
                <a:cs typeface="Lato"/>
                <a:sym typeface="Lato"/>
              </a:rPr>
              <a:t>Type I/II error rates, effect sizes, power.</a:t>
            </a:r>
            <a:endParaRPr sz="1800" b="0" i="0" u="none" strike="noStrike" cap="none">
              <a:solidFill>
                <a:srgbClr val="000000"/>
              </a:solidFill>
              <a:latin typeface="Lato"/>
              <a:ea typeface="Lato"/>
              <a:cs typeface="Lato"/>
              <a:sym typeface="Lat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a:ea typeface="Lato"/>
              <a:cs typeface="Lato"/>
              <a:sym typeface="Lato"/>
            </a:endParaRPr>
          </a:p>
          <a:p>
            <a:pPr marL="457200" marR="0" lvl="0" indent="-342900" algn="l" rtl="0">
              <a:lnSpc>
                <a:spcPct val="100000"/>
              </a:lnSpc>
              <a:spcBef>
                <a:spcPts val="0"/>
              </a:spcBef>
              <a:spcAft>
                <a:spcPts val="0"/>
              </a:spcAft>
              <a:buClr>
                <a:srgbClr val="000000"/>
              </a:buClr>
              <a:buSzPts val="1800"/>
              <a:buFont typeface="Lato"/>
              <a:buAutoNum type="arabicPeriod"/>
            </a:pPr>
            <a:r>
              <a:rPr lang="en" sz="1800" b="1" i="0" u="none" strike="noStrike" cap="none">
                <a:solidFill>
                  <a:schemeClr val="dk1"/>
                </a:solidFill>
                <a:latin typeface="Lato"/>
                <a:ea typeface="Lato"/>
                <a:cs typeface="Lato"/>
                <a:sym typeface="Lato"/>
              </a:rPr>
              <a:t>How should we design the study?</a:t>
            </a:r>
            <a:endParaRPr sz="1800" b="1" i="0" u="none" strike="noStrike" cap="none">
              <a:solidFill>
                <a:schemeClr val="dk1"/>
              </a:solidFill>
              <a:latin typeface="Lato"/>
              <a:ea typeface="Lato"/>
              <a:cs typeface="Lato"/>
              <a:sym typeface="Lato"/>
            </a:endParaRPr>
          </a:p>
          <a:p>
            <a:pPr marL="914400" marR="0" lvl="1" indent="-342900" algn="l" rtl="0">
              <a:lnSpc>
                <a:spcPct val="100000"/>
              </a:lnSpc>
              <a:spcBef>
                <a:spcPts val="0"/>
              </a:spcBef>
              <a:spcAft>
                <a:spcPts val="0"/>
              </a:spcAft>
              <a:buClr>
                <a:schemeClr val="dk1"/>
              </a:buClr>
              <a:buSzPts val="1800"/>
              <a:buFont typeface="Lato"/>
              <a:buChar char="○"/>
            </a:pPr>
            <a:r>
              <a:rPr lang="en" sz="1800" b="0" i="0" u="none" strike="noStrike" cap="none">
                <a:solidFill>
                  <a:schemeClr val="dk1"/>
                </a:solidFill>
                <a:latin typeface="Lato"/>
                <a:ea typeface="Lato"/>
                <a:cs typeface="Lato"/>
                <a:sym typeface="Lato"/>
              </a:rPr>
              <a:t>Case definition, control selection, what to measure, confounding</a:t>
            </a:r>
            <a:endParaRPr sz="1800" b="0" i="0" u="none" strike="noStrike" cap="none">
              <a:solidFill>
                <a:schemeClr val="dk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ato"/>
              <a:ea typeface="Lato"/>
              <a:cs typeface="Lato"/>
              <a:sym typeface="La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5"/>
        <p:cNvGrpSpPr/>
        <p:nvPr/>
      </p:nvGrpSpPr>
      <p:grpSpPr>
        <a:xfrm>
          <a:off x="0" y="0"/>
          <a:ext cx="0" cy="0"/>
          <a:chOff x="0" y="0"/>
          <a:chExt cx="0" cy="0"/>
        </a:xfrm>
      </p:grpSpPr>
      <p:sp>
        <p:nvSpPr>
          <p:cNvPr id="66" name="Google Shape;66;p3"/>
          <p:cNvSpPr txBox="1">
            <a:spLocks noGrp="1"/>
          </p:cNvSpPr>
          <p:nvPr>
            <p:ph type="title" idx="4294967295"/>
          </p:nvPr>
        </p:nvSpPr>
        <p:spPr>
          <a:xfrm>
            <a:off x="187650" y="138675"/>
            <a:ext cx="87420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We should </a:t>
            </a:r>
            <a:r>
              <a:rPr lang="en" sz="2500" b="1">
                <a:latin typeface="Lato"/>
                <a:ea typeface="Lato"/>
                <a:cs typeface="Lato"/>
                <a:sym typeface="Lato"/>
              </a:rPr>
              <a:t>ask the same questions</a:t>
            </a:r>
            <a:r>
              <a:rPr lang="en" sz="2500">
                <a:latin typeface="Lato Light"/>
                <a:ea typeface="Lato Light"/>
                <a:cs typeface="Lato Light"/>
                <a:sym typeface="Lato Light"/>
              </a:rPr>
              <a:t> for genomic epidemiological studies.</a:t>
            </a:r>
            <a:endParaRPr>
              <a:latin typeface="Lato Light"/>
              <a:ea typeface="Lato Light"/>
              <a:cs typeface="Lato Light"/>
              <a:sym typeface="Lato Light"/>
            </a:endParaRPr>
          </a:p>
        </p:txBody>
      </p:sp>
      <p:sp>
        <p:nvSpPr>
          <p:cNvPr id="67" name="Google Shape;67;p3"/>
          <p:cNvSpPr txBox="1"/>
          <p:nvPr/>
        </p:nvSpPr>
        <p:spPr>
          <a:xfrm>
            <a:off x="331500" y="1648200"/>
            <a:ext cx="8481000" cy="18471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Font typeface="Lato"/>
              <a:buAutoNum type="arabicPeriod"/>
            </a:pPr>
            <a:r>
              <a:rPr lang="en" sz="1800" b="1" i="0" u="none" strike="noStrike" cap="none">
                <a:solidFill>
                  <a:srgbClr val="000000"/>
                </a:solidFill>
                <a:latin typeface="Lato"/>
                <a:ea typeface="Lato"/>
                <a:cs typeface="Lato"/>
                <a:sym typeface="Lato"/>
              </a:rPr>
              <a:t>How large should the study be?</a:t>
            </a:r>
            <a:endParaRPr sz="1800" b="1" i="0" u="none" strike="noStrike" cap="none">
              <a:solidFill>
                <a:srgbClr val="000000"/>
              </a:solidFill>
              <a:latin typeface="Lato"/>
              <a:ea typeface="Lato"/>
              <a:cs typeface="Lato"/>
              <a:sym typeface="Lato"/>
            </a:endParaRPr>
          </a:p>
          <a:p>
            <a:pPr marL="914400" marR="0" lvl="1" indent="-342900" algn="l" rtl="0">
              <a:lnSpc>
                <a:spcPct val="100000"/>
              </a:lnSpc>
              <a:spcBef>
                <a:spcPts val="0"/>
              </a:spcBef>
              <a:spcAft>
                <a:spcPts val="0"/>
              </a:spcAft>
              <a:buClr>
                <a:srgbClr val="000000"/>
              </a:buClr>
              <a:buSzPts val="1800"/>
              <a:buFont typeface="Lato"/>
              <a:buChar char="○"/>
            </a:pPr>
            <a:r>
              <a:rPr lang="en" sz="1800" b="0" i="0" u="none" strike="noStrike" cap="none">
                <a:solidFill>
                  <a:srgbClr val="000000"/>
                </a:solidFill>
                <a:latin typeface="Lato"/>
                <a:ea typeface="Lato"/>
                <a:cs typeface="Lato"/>
                <a:sym typeface="Lato"/>
              </a:rPr>
              <a:t>Depends on the question, best answered by simulation-based inference.</a:t>
            </a:r>
            <a:endParaRPr sz="1800" b="0" i="0" u="none" strike="noStrike" cap="none">
              <a:solidFill>
                <a:srgbClr val="000000"/>
              </a:solidFill>
              <a:latin typeface="Lato"/>
              <a:ea typeface="Lato"/>
              <a:cs typeface="Lato"/>
              <a:sym typeface="Lat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a:ea typeface="Lato"/>
              <a:cs typeface="Lato"/>
              <a:sym typeface="Lato"/>
            </a:endParaRPr>
          </a:p>
          <a:p>
            <a:pPr marL="457200" marR="0" lvl="0" indent="-342900" algn="l" rtl="0">
              <a:lnSpc>
                <a:spcPct val="100000"/>
              </a:lnSpc>
              <a:spcBef>
                <a:spcPts val="0"/>
              </a:spcBef>
              <a:spcAft>
                <a:spcPts val="0"/>
              </a:spcAft>
              <a:buClr>
                <a:srgbClr val="000000"/>
              </a:buClr>
              <a:buSzPts val="1800"/>
              <a:buFont typeface="Lato"/>
              <a:buAutoNum type="arabicPeriod"/>
            </a:pPr>
            <a:r>
              <a:rPr lang="en" sz="1800" b="1" i="0" u="none" strike="noStrike" cap="none">
                <a:solidFill>
                  <a:schemeClr val="dk1"/>
                </a:solidFill>
                <a:latin typeface="Lato"/>
                <a:ea typeface="Lato"/>
                <a:cs typeface="Lato"/>
                <a:sym typeface="Lato"/>
              </a:rPr>
              <a:t>How should we design the study?</a:t>
            </a:r>
            <a:endParaRPr sz="1800" b="1" i="0" u="none" strike="noStrike" cap="none">
              <a:solidFill>
                <a:schemeClr val="dk1"/>
              </a:solidFill>
              <a:latin typeface="Lato"/>
              <a:ea typeface="Lato"/>
              <a:cs typeface="Lato"/>
              <a:sym typeface="Lato"/>
            </a:endParaRPr>
          </a:p>
          <a:p>
            <a:pPr marL="914400" marR="0" lvl="1" indent="-342900" algn="l" rtl="0">
              <a:lnSpc>
                <a:spcPct val="100000"/>
              </a:lnSpc>
              <a:spcBef>
                <a:spcPts val="0"/>
              </a:spcBef>
              <a:spcAft>
                <a:spcPts val="0"/>
              </a:spcAft>
              <a:buClr>
                <a:schemeClr val="dk1"/>
              </a:buClr>
              <a:buSzPts val="1800"/>
              <a:buFont typeface="Lato"/>
              <a:buChar char="○"/>
            </a:pPr>
            <a:r>
              <a:rPr lang="en" sz="1800" b="0" i="0" u="none" strike="noStrike" cap="none">
                <a:solidFill>
                  <a:schemeClr val="dk1"/>
                </a:solidFill>
                <a:latin typeface="Lato"/>
                <a:ea typeface="Lato"/>
                <a:cs typeface="Lato"/>
                <a:sym typeface="Lato"/>
              </a:rPr>
              <a:t>Case definitions, control groups, confounding</a:t>
            </a:r>
            <a:endParaRPr sz="1800" b="0" i="0" u="none" strike="noStrike" cap="none">
              <a:solidFill>
                <a:schemeClr val="dk1"/>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ato"/>
              <a:ea typeface="Lato"/>
              <a:cs typeface="Lato"/>
              <a:sym typeface="Lato"/>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4"/>
          <p:cNvSpPr txBox="1">
            <a:spLocks noGrp="1"/>
          </p:cNvSpPr>
          <p:nvPr>
            <p:ph type="title" idx="4294967295"/>
          </p:nvPr>
        </p:nvSpPr>
        <p:spPr>
          <a:xfrm>
            <a:off x="187650" y="138675"/>
            <a:ext cx="87420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It’s important to </a:t>
            </a:r>
            <a:r>
              <a:rPr lang="en" sz="2500" b="1">
                <a:latin typeface="Lato"/>
                <a:ea typeface="Lato"/>
                <a:cs typeface="Lato"/>
                <a:sym typeface="Lato"/>
              </a:rPr>
              <a:t>think about sampling strategies </a:t>
            </a:r>
            <a:r>
              <a:rPr lang="en" sz="2500">
                <a:latin typeface="Lato Light"/>
                <a:ea typeface="Lato Light"/>
                <a:cs typeface="Lato Light"/>
                <a:sym typeface="Lato Light"/>
              </a:rPr>
              <a:t>for different genomic epidemiological questions/studies.</a:t>
            </a:r>
            <a:endParaRPr>
              <a:latin typeface="Lato Light"/>
              <a:ea typeface="Lato Light"/>
              <a:cs typeface="Lato Light"/>
              <a:sym typeface="Lato Light"/>
            </a:endParaRPr>
          </a:p>
        </p:txBody>
      </p:sp>
      <p:sp>
        <p:nvSpPr>
          <p:cNvPr id="73" name="Google Shape;73;p4"/>
          <p:cNvSpPr txBox="1"/>
          <p:nvPr/>
        </p:nvSpPr>
        <p:spPr>
          <a:xfrm>
            <a:off x="318150" y="1836400"/>
            <a:ext cx="8481000" cy="2124000"/>
          </a:xfrm>
          <a:prstGeom prst="rect">
            <a:avLst/>
          </a:prstGeom>
          <a:noFill/>
          <a:ln>
            <a:noFill/>
          </a:ln>
        </p:spPr>
        <p:txBody>
          <a:bodyPr spcFirstLastPara="1" wrap="square" lIns="91425" tIns="91425" rIns="91425" bIns="91425" anchor="t" anchorCtr="0">
            <a:spAutoFit/>
          </a:bodyPr>
          <a:lstStyle/>
          <a:p>
            <a:pPr marL="457200" marR="0" lvl="0" indent="-342900" algn="l" rtl="0">
              <a:lnSpc>
                <a:spcPct val="100000"/>
              </a:lnSpc>
              <a:spcBef>
                <a:spcPts val="0"/>
              </a:spcBef>
              <a:spcAft>
                <a:spcPts val="0"/>
              </a:spcAft>
              <a:buClr>
                <a:srgbClr val="000000"/>
              </a:buClr>
              <a:buSzPts val="1800"/>
              <a:buFont typeface="Lato"/>
              <a:buAutoNum type="arabicPeriod"/>
            </a:pPr>
            <a:r>
              <a:rPr lang="en" sz="1800" b="0" i="0" u="none" strike="noStrike" cap="none">
                <a:solidFill>
                  <a:srgbClr val="000000"/>
                </a:solidFill>
                <a:latin typeface="Lato"/>
                <a:ea typeface="Lato"/>
                <a:cs typeface="Lato"/>
                <a:sym typeface="Lato"/>
              </a:rPr>
              <a:t>Monitoring for lineage frequency changes.</a:t>
            </a:r>
            <a:endParaRPr sz="1800" b="0" i="0" u="none" strike="noStrike" cap="none">
              <a:solidFill>
                <a:srgbClr val="000000"/>
              </a:solidFill>
              <a:latin typeface="Lato"/>
              <a:ea typeface="Lato"/>
              <a:cs typeface="Lato"/>
              <a:sym typeface="Lat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a:ea typeface="Lato"/>
              <a:cs typeface="Lato"/>
              <a:sym typeface="Lato"/>
            </a:endParaRPr>
          </a:p>
          <a:p>
            <a:pPr marL="457200" marR="0" lvl="0" indent="-342900" algn="l" rtl="0">
              <a:lnSpc>
                <a:spcPct val="100000"/>
              </a:lnSpc>
              <a:spcBef>
                <a:spcPts val="0"/>
              </a:spcBef>
              <a:spcAft>
                <a:spcPts val="0"/>
              </a:spcAft>
              <a:buClr>
                <a:srgbClr val="000000"/>
              </a:buClr>
              <a:buSzPts val="1800"/>
              <a:buFont typeface="Lato"/>
              <a:buAutoNum type="arabicPeriod"/>
            </a:pPr>
            <a:r>
              <a:rPr lang="en" sz="1800" b="0" i="0" u="none" strike="noStrike" cap="none">
                <a:solidFill>
                  <a:schemeClr val="dk1"/>
                </a:solidFill>
                <a:latin typeface="Lato"/>
                <a:ea typeface="Lato"/>
                <a:cs typeface="Lato"/>
                <a:sym typeface="Lato"/>
              </a:rPr>
              <a:t>Phylogeographic studies to explore descriptive epidemiology.</a:t>
            </a:r>
            <a:endParaRPr sz="1800" b="0" i="0" u="none" strike="noStrike" cap="none">
              <a:solidFill>
                <a:schemeClr val="dk1"/>
              </a:solidFill>
              <a:latin typeface="Lato"/>
              <a:ea typeface="Lato"/>
              <a:cs typeface="Lato"/>
              <a:sym typeface="Lat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ato"/>
              <a:ea typeface="Lato"/>
              <a:cs typeface="Lato"/>
              <a:sym typeface="Lato"/>
            </a:endParaRPr>
          </a:p>
          <a:p>
            <a:pPr marL="457200" marR="0" lvl="0" indent="-342900" algn="l" rtl="0">
              <a:lnSpc>
                <a:spcPct val="100000"/>
              </a:lnSpc>
              <a:spcBef>
                <a:spcPts val="0"/>
              </a:spcBef>
              <a:spcAft>
                <a:spcPts val="0"/>
              </a:spcAft>
              <a:buClr>
                <a:schemeClr val="dk1"/>
              </a:buClr>
              <a:buSzPts val="1800"/>
              <a:buFont typeface="Lato"/>
              <a:buAutoNum type="arabicPeriod"/>
            </a:pPr>
            <a:r>
              <a:rPr lang="en" sz="1800" b="0" i="0" u="none" strike="noStrike" cap="none">
                <a:solidFill>
                  <a:schemeClr val="dk1"/>
                </a:solidFill>
                <a:latin typeface="Lato"/>
                <a:ea typeface="Lato"/>
                <a:cs typeface="Lato"/>
                <a:sym typeface="Lato"/>
              </a:rPr>
              <a:t>Outbreak investigations/exploring fine scale transmission dynamics.</a:t>
            </a:r>
            <a:endParaRPr sz="1800" b="0" i="0" u="none" strike="noStrike" cap="none">
              <a:solidFill>
                <a:schemeClr val="dk1"/>
              </a:solidFill>
              <a:latin typeface="Lato"/>
              <a:ea typeface="Lato"/>
              <a:cs typeface="Lato"/>
              <a:sym typeface="Lat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ato"/>
              <a:ea typeface="Lato"/>
              <a:cs typeface="Lato"/>
              <a:sym typeface="Lato"/>
            </a:endParaRPr>
          </a:p>
          <a:p>
            <a:pPr marL="45720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5"/>
          <p:cNvSpPr txBox="1">
            <a:spLocks noGrp="1"/>
          </p:cNvSpPr>
          <p:nvPr>
            <p:ph type="title" idx="4294967295"/>
          </p:nvPr>
        </p:nvSpPr>
        <p:spPr>
          <a:xfrm>
            <a:off x="0" y="0"/>
            <a:ext cx="8742000" cy="1213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44000"/>
              <a:buFont typeface="Arial"/>
              <a:buNone/>
            </a:pPr>
            <a:r>
              <a:rPr lang="en" sz="2500">
                <a:latin typeface="Lato Light"/>
                <a:ea typeface="Lato Light"/>
                <a:cs typeface="Lato Light"/>
                <a:sym typeface="Lato Light"/>
              </a:rPr>
              <a:t>A theoretical population in which people </a:t>
            </a:r>
            <a:r>
              <a:rPr lang="en" sz="2500" b="1">
                <a:latin typeface="Lato"/>
                <a:ea typeface="Lato"/>
                <a:cs typeface="Lato"/>
                <a:sym typeface="Lato"/>
              </a:rPr>
              <a:t>mix homogeneously</a:t>
            </a:r>
            <a:r>
              <a:rPr lang="en" sz="2500">
                <a:latin typeface="Lato Light"/>
                <a:ea typeface="Lato Light"/>
                <a:cs typeface="Lato Light"/>
                <a:sym typeface="Lato Light"/>
              </a:rPr>
              <a:t>, such that any two individuals have equal probability of coming into contact and infecting one another.</a:t>
            </a:r>
            <a:endParaRPr>
              <a:latin typeface="Lato Light"/>
              <a:ea typeface="Lato Light"/>
              <a:cs typeface="Lato Light"/>
              <a:sym typeface="Lato Light"/>
            </a:endParaRPr>
          </a:p>
        </p:txBody>
      </p:sp>
      <p:sp>
        <p:nvSpPr>
          <p:cNvPr id="79" name="Google Shape;79;p5"/>
          <p:cNvSpPr/>
          <p:nvPr/>
        </p:nvSpPr>
        <p:spPr>
          <a:xfrm>
            <a:off x="784800" y="19922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0" name="Google Shape;80;p5"/>
          <p:cNvSpPr/>
          <p:nvPr/>
        </p:nvSpPr>
        <p:spPr>
          <a:xfrm>
            <a:off x="603775" y="34231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1" name="Google Shape;81;p5"/>
          <p:cNvSpPr/>
          <p:nvPr/>
        </p:nvSpPr>
        <p:spPr>
          <a:xfrm>
            <a:off x="1722000" y="1622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2" name="Google Shape;82;p5"/>
          <p:cNvSpPr/>
          <p:nvPr/>
        </p:nvSpPr>
        <p:spPr>
          <a:xfrm>
            <a:off x="1207250" y="42252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3" name="Google Shape;83;p5"/>
          <p:cNvSpPr/>
          <p:nvPr/>
        </p:nvSpPr>
        <p:spPr>
          <a:xfrm>
            <a:off x="3472625" y="41602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5"/>
          <p:cNvSpPr/>
          <p:nvPr/>
        </p:nvSpPr>
        <p:spPr>
          <a:xfrm>
            <a:off x="3472625" y="31452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5" name="Google Shape;85;p5"/>
          <p:cNvSpPr/>
          <p:nvPr/>
        </p:nvSpPr>
        <p:spPr>
          <a:xfrm>
            <a:off x="2954075" y="19921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5"/>
          <p:cNvSpPr/>
          <p:nvPr/>
        </p:nvSpPr>
        <p:spPr>
          <a:xfrm>
            <a:off x="2378450" y="34230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7" name="Google Shape;87;p5"/>
          <p:cNvSpPr/>
          <p:nvPr/>
        </p:nvSpPr>
        <p:spPr>
          <a:xfrm>
            <a:off x="4716875" y="273441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5"/>
          <p:cNvSpPr/>
          <p:nvPr/>
        </p:nvSpPr>
        <p:spPr>
          <a:xfrm>
            <a:off x="4016550"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9" name="Google Shape;89;p5"/>
          <p:cNvSpPr/>
          <p:nvPr/>
        </p:nvSpPr>
        <p:spPr>
          <a:xfrm>
            <a:off x="5139375" y="13450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0" name="Google Shape;90;p5"/>
          <p:cNvSpPr/>
          <p:nvPr/>
        </p:nvSpPr>
        <p:spPr>
          <a:xfrm>
            <a:off x="4716875" y="366446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5"/>
          <p:cNvSpPr/>
          <p:nvPr/>
        </p:nvSpPr>
        <p:spPr>
          <a:xfrm>
            <a:off x="5750600" y="21182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2" name="Google Shape;92;p5"/>
          <p:cNvSpPr/>
          <p:nvPr/>
        </p:nvSpPr>
        <p:spPr>
          <a:xfrm>
            <a:off x="5955100" y="371421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3" name="Google Shape;93;p5"/>
          <p:cNvSpPr/>
          <p:nvPr/>
        </p:nvSpPr>
        <p:spPr>
          <a:xfrm>
            <a:off x="7561575" y="4327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4" name="Google Shape;94;p5"/>
          <p:cNvSpPr/>
          <p:nvPr/>
        </p:nvSpPr>
        <p:spPr>
          <a:xfrm>
            <a:off x="7561575" y="331287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5" name="Google Shape;95;p5"/>
          <p:cNvSpPr/>
          <p:nvPr/>
        </p:nvSpPr>
        <p:spPr>
          <a:xfrm>
            <a:off x="7187925"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6" name="Google Shape;96;p5"/>
          <p:cNvSpPr/>
          <p:nvPr/>
        </p:nvSpPr>
        <p:spPr>
          <a:xfrm>
            <a:off x="6684725" y="260042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7" name="Google Shape;97;p5"/>
          <p:cNvSpPr/>
          <p:nvPr/>
        </p:nvSpPr>
        <p:spPr>
          <a:xfrm>
            <a:off x="8383150" y="28054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8" name="Google Shape;98;p5"/>
          <p:cNvSpPr/>
          <p:nvPr/>
        </p:nvSpPr>
        <p:spPr>
          <a:xfrm>
            <a:off x="8383150" y="17904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2"/>
        <p:cNvGrpSpPr/>
        <p:nvPr/>
      </p:nvGrpSpPr>
      <p:grpSpPr>
        <a:xfrm>
          <a:off x="0" y="0"/>
          <a:ext cx="0" cy="0"/>
          <a:chOff x="0" y="0"/>
          <a:chExt cx="0" cy="0"/>
        </a:xfrm>
      </p:grpSpPr>
      <p:sp>
        <p:nvSpPr>
          <p:cNvPr id="103" name="Google Shape;103;p6"/>
          <p:cNvSpPr txBox="1">
            <a:spLocks noGrp="1"/>
          </p:cNvSpPr>
          <p:nvPr>
            <p:ph type="title" idx="4294967295"/>
          </p:nvPr>
        </p:nvSpPr>
        <p:spPr>
          <a:xfrm>
            <a:off x="0" y="0"/>
            <a:ext cx="9144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Given </a:t>
            </a:r>
            <a:r>
              <a:rPr lang="en" sz="2500" b="1">
                <a:latin typeface="Lato"/>
                <a:ea typeface="Lato"/>
                <a:cs typeface="Lato"/>
                <a:sym typeface="Lato"/>
              </a:rPr>
              <a:t>equivalently fit viral lineages</a:t>
            </a:r>
            <a:r>
              <a:rPr lang="en" sz="2500">
                <a:latin typeface="Lato Light"/>
                <a:ea typeface="Lato Light"/>
                <a:cs typeface="Lato Light"/>
                <a:sym typeface="Lato Light"/>
              </a:rPr>
              <a:t>, you would expect all lineages to </a:t>
            </a:r>
            <a:r>
              <a:rPr lang="en" sz="2500" b="1">
                <a:latin typeface="Lato"/>
                <a:ea typeface="Lato"/>
                <a:cs typeface="Lato"/>
                <a:sym typeface="Lato"/>
              </a:rPr>
              <a:t>circulate broadly across the entire population</a:t>
            </a:r>
            <a:r>
              <a:rPr lang="en" sz="2500">
                <a:latin typeface="Lato Light"/>
                <a:ea typeface="Lato Light"/>
                <a:cs typeface="Lato Light"/>
                <a:sym typeface="Lato Light"/>
              </a:rPr>
              <a:t>.</a:t>
            </a:r>
            <a:endParaRPr>
              <a:latin typeface="Lato Light"/>
              <a:ea typeface="Lato Light"/>
              <a:cs typeface="Lato Light"/>
              <a:sym typeface="Lato Light"/>
            </a:endParaRPr>
          </a:p>
        </p:txBody>
      </p:sp>
      <p:sp>
        <p:nvSpPr>
          <p:cNvPr id="104" name="Google Shape;104;p6"/>
          <p:cNvSpPr/>
          <p:nvPr/>
        </p:nvSpPr>
        <p:spPr>
          <a:xfrm>
            <a:off x="784800" y="19922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5" name="Google Shape;105;p6"/>
          <p:cNvSpPr/>
          <p:nvPr/>
        </p:nvSpPr>
        <p:spPr>
          <a:xfrm>
            <a:off x="603775" y="34231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6" name="Google Shape;106;p6"/>
          <p:cNvSpPr/>
          <p:nvPr/>
        </p:nvSpPr>
        <p:spPr>
          <a:xfrm>
            <a:off x="1722000" y="1622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7" name="Google Shape;107;p6"/>
          <p:cNvSpPr/>
          <p:nvPr/>
        </p:nvSpPr>
        <p:spPr>
          <a:xfrm>
            <a:off x="1207250" y="42252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6"/>
          <p:cNvSpPr/>
          <p:nvPr/>
        </p:nvSpPr>
        <p:spPr>
          <a:xfrm>
            <a:off x="3472625" y="41602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9" name="Google Shape;109;p6"/>
          <p:cNvSpPr/>
          <p:nvPr/>
        </p:nvSpPr>
        <p:spPr>
          <a:xfrm>
            <a:off x="3472625" y="31452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0" name="Google Shape;110;p6"/>
          <p:cNvSpPr/>
          <p:nvPr/>
        </p:nvSpPr>
        <p:spPr>
          <a:xfrm>
            <a:off x="2954075" y="19921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1" name="Google Shape;111;p6"/>
          <p:cNvSpPr/>
          <p:nvPr/>
        </p:nvSpPr>
        <p:spPr>
          <a:xfrm>
            <a:off x="2378450" y="34230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2" name="Google Shape;112;p6"/>
          <p:cNvSpPr/>
          <p:nvPr/>
        </p:nvSpPr>
        <p:spPr>
          <a:xfrm>
            <a:off x="4716875" y="273441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3" name="Google Shape;113;p6"/>
          <p:cNvSpPr/>
          <p:nvPr/>
        </p:nvSpPr>
        <p:spPr>
          <a:xfrm>
            <a:off x="4016550"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6"/>
          <p:cNvSpPr/>
          <p:nvPr/>
        </p:nvSpPr>
        <p:spPr>
          <a:xfrm>
            <a:off x="5139375" y="13450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6"/>
          <p:cNvSpPr/>
          <p:nvPr/>
        </p:nvSpPr>
        <p:spPr>
          <a:xfrm>
            <a:off x="4716875" y="366446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6"/>
          <p:cNvSpPr/>
          <p:nvPr/>
        </p:nvSpPr>
        <p:spPr>
          <a:xfrm>
            <a:off x="5750600" y="21182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7" name="Google Shape;117;p6"/>
          <p:cNvSpPr/>
          <p:nvPr/>
        </p:nvSpPr>
        <p:spPr>
          <a:xfrm>
            <a:off x="5955100" y="371421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8" name="Google Shape;118;p6"/>
          <p:cNvSpPr/>
          <p:nvPr/>
        </p:nvSpPr>
        <p:spPr>
          <a:xfrm>
            <a:off x="7561575" y="4327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9" name="Google Shape;119;p6"/>
          <p:cNvSpPr/>
          <p:nvPr/>
        </p:nvSpPr>
        <p:spPr>
          <a:xfrm>
            <a:off x="7561575" y="331287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0" name="Google Shape;120;p6"/>
          <p:cNvSpPr/>
          <p:nvPr/>
        </p:nvSpPr>
        <p:spPr>
          <a:xfrm>
            <a:off x="7187925"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1" name="Google Shape;121;p6"/>
          <p:cNvSpPr/>
          <p:nvPr/>
        </p:nvSpPr>
        <p:spPr>
          <a:xfrm>
            <a:off x="6684725" y="260042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2" name="Google Shape;122;p6"/>
          <p:cNvSpPr/>
          <p:nvPr/>
        </p:nvSpPr>
        <p:spPr>
          <a:xfrm>
            <a:off x="8383150" y="28054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6"/>
          <p:cNvSpPr/>
          <p:nvPr/>
        </p:nvSpPr>
        <p:spPr>
          <a:xfrm>
            <a:off x="8383150" y="17904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24" name="Google Shape;124;p6"/>
          <p:cNvCxnSpPr>
            <a:stCxn id="104" idx="5"/>
            <a:endCxn id="111" idx="0"/>
          </p:cNvCxnSpPr>
          <p:nvPr/>
        </p:nvCxnSpPr>
        <p:spPr>
          <a:xfrm rot="-5400000" flipH="1">
            <a:off x="1172817" y="2078417"/>
            <a:ext cx="1193700" cy="1495500"/>
          </a:xfrm>
          <a:prstGeom prst="curvedConnector3">
            <a:avLst>
              <a:gd name="adj1" fmla="val 51707"/>
            </a:avLst>
          </a:prstGeom>
          <a:noFill/>
          <a:ln w="38100" cap="flat" cmpd="sng">
            <a:solidFill>
              <a:srgbClr val="990000"/>
            </a:solidFill>
            <a:prstDash val="solid"/>
            <a:round/>
            <a:headEnd type="none" w="sm" len="sm"/>
            <a:tailEnd type="triangle" w="med" len="med"/>
          </a:ln>
        </p:spPr>
      </p:cxnSp>
      <p:cxnSp>
        <p:nvCxnSpPr>
          <p:cNvPr id="125" name="Google Shape;125;p6"/>
          <p:cNvCxnSpPr>
            <a:endCxn id="115" idx="2"/>
          </p:cNvCxnSpPr>
          <p:nvPr/>
        </p:nvCxnSpPr>
        <p:spPr>
          <a:xfrm>
            <a:off x="2670575" y="3590663"/>
            <a:ext cx="2046300" cy="212700"/>
          </a:xfrm>
          <a:prstGeom prst="curvedConnector3">
            <a:avLst>
              <a:gd name="adj1" fmla="val 50000"/>
            </a:avLst>
          </a:prstGeom>
          <a:noFill/>
          <a:ln w="38100" cap="flat" cmpd="sng">
            <a:solidFill>
              <a:srgbClr val="990000"/>
            </a:solidFill>
            <a:prstDash val="solid"/>
            <a:round/>
            <a:headEnd type="none" w="sm" len="sm"/>
            <a:tailEnd type="triangle" w="med" len="med"/>
          </a:ln>
        </p:spPr>
      </p:cxnSp>
      <p:cxnSp>
        <p:nvCxnSpPr>
          <p:cNvPr id="126" name="Google Shape;126;p6"/>
          <p:cNvCxnSpPr>
            <a:stCxn id="115" idx="6"/>
            <a:endCxn id="120" idx="2"/>
          </p:cNvCxnSpPr>
          <p:nvPr/>
        </p:nvCxnSpPr>
        <p:spPr>
          <a:xfrm rot="10800000" flipH="1">
            <a:off x="4994675" y="1761863"/>
            <a:ext cx="2193300" cy="2041500"/>
          </a:xfrm>
          <a:prstGeom prst="curvedConnector3">
            <a:avLst>
              <a:gd name="adj1" fmla="val 49999"/>
            </a:avLst>
          </a:prstGeom>
          <a:noFill/>
          <a:ln w="38100" cap="flat" cmpd="sng">
            <a:solidFill>
              <a:srgbClr val="990000"/>
            </a:solidFill>
            <a:prstDash val="solid"/>
            <a:round/>
            <a:headEnd type="none" w="sm" len="sm"/>
            <a:tailEnd type="triangle" w="med" len="med"/>
          </a:ln>
        </p:spPr>
      </p:cxnSp>
      <p:cxnSp>
        <p:nvCxnSpPr>
          <p:cNvPr id="127" name="Google Shape;127;p6"/>
          <p:cNvCxnSpPr>
            <a:stCxn id="118" idx="0"/>
            <a:endCxn id="119" idx="6"/>
          </p:cNvCxnSpPr>
          <p:nvPr/>
        </p:nvCxnSpPr>
        <p:spPr>
          <a:xfrm rot="-5400000">
            <a:off x="7331925" y="3820388"/>
            <a:ext cx="876000" cy="138900"/>
          </a:xfrm>
          <a:prstGeom prst="curvedConnector4">
            <a:avLst>
              <a:gd name="adj1" fmla="val 42075"/>
              <a:gd name="adj2" fmla="val 271436"/>
            </a:avLst>
          </a:prstGeom>
          <a:noFill/>
          <a:ln w="38100" cap="flat" cmpd="sng">
            <a:solidFill>
              <a:srgbClr val="F1C232"/>
            </a:solidFill>
            <a:prstDash val="solid"/>
            <a:round/>
            <a:headEnd type="none" w="sm" len="sm"/>
            <a:tailEnd type="triangle" w="med" len="med"/>
          </a:ln>
        </p:spPr>
      </p:cxnSp>
      <p:cxnSp>
        <p:nvCxnSpPr>
          <p:cNvPr id="128" name="Google Shape;128;p6"/>
          <p:cNvCxnSpPr>
            <a:stCxn id="119" idx="2"/>
            <a:endCxn id="112" idx="6"/>
          </p:cNvCxnSpPr>
          <p:nvPr/>
        </p:nvCxnSpPr>
        <p:spPr>
          <a:xfrm rot="10800000">
            <a:off x="4994775" y="2873375"/>
            <a:ext cx="2566800" cy="578400"/>
          </a:xfrm>
          <a:prstGeom prst="curvedConnector3">
            <a:avLst>
              <a:gd name="adj1" fmla="val 50002"/>
            </a:avLst>
          </a:prstGeom>
          <a:noFill/>
          <a:ln w="38100" cap="flat" cmpd="sng">
            <a:solidFill>
              <a:srgbClr val="F1C232"/>
            </a:solidFill>
            <a:prstDash val="solid"/>
            <a:round/>
            <a:headEnd type="none" w="sm" len="sm"/>
            <a:tailEnd type="triangle" w="med" len="med"/>
          </a:ln>
        </p:spPr>
      </p:cxnSp>
      <p:cxnSp>
        <p:nvCxnSpPr>
          <p:cNvPr id="129" name="Google Shape;129;p6"/>
          <p:cNvCxnSpPr>
            <a:endCxn id="105" idx="6"/>
          </p:cNvCxnSpPr>
          <p:nvPr/>
        </p:nvCxnSpPr>
        <p:spPr>
          <a:xfrm flipH="1">
            <a:off x="881575" y="2888500"/>
            <a:ext cx="3835200" cy="673500"/>
          </a:xfrm>
          <a:prstGeom prst="curvedConnector3">
            <a:avLst>
              <a:gd name="adj1" fmla="val 50000"/>
            </a:avLst>
          </a:prstGeom>
          <a:noFill/>
          <a:ln w="38100" cap="flat" cmpd="sng">
            <a:solidFill>
              <a:srgbClr val="F1C232"/>
            </a:solidFill>
            <a:prstDash val="solid"/>
            <a:round/>
            <a:headEnd type="none" w="sm" len="sm"/>
            <a:tailEnd type="triangle" w="med" len="med"/>
          </a:ln>
        </p:spPr>
      </p:cxn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33"/>
        <p:cNvGrpSpPr/>
        <p:nvPr/>
      </p:nvGrpSpPr>
      <p:grpSpPr>
        <a:xfrm>
          <a:off x="0" y="0"/>
          <a:ext cx="0" cy="0"/>
          <a:chOff x="0" y="0"/>
          <a:chExt cx="0" cy="0"/>
        </a:xfrm>
      </p:grpSpPr>
      <p:sp>
        <p:nvSpPr>
          <p:cNvPr id="134" name="Google Shape;134;p7"/>
          <p:cNvSpPr/>
          <p:nvPr/>
        </p:nvSpPr>
        <p:spPr>
          <a:xfrm>
            <a:off x="6722325" y="1352250"/>
            <a:ext cx="1436100" cy="8190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5" name="Google Shape;135;p7"/>
          <p:cNvSpPr/>
          <p:nvPr/>
        </p:nvSpPr>
        <p:spPr>
          <a:xfrm>
            <a:off x="5632150" y="2491200"/>
            <a:ext cx="2680200" cy="2577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6" name="Google Shape;136;p7"/>
          <p:cNvSpPr/>
          <p:nvPr/>
        </p:nvSpPr>
        <p:spPr>
          <a:xfrm>
            <a:off x="3598200" y="1098450"/>
            <a:ext cx="2330400" cy="14733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7" name="Google Shape;137;p7"/>
          <p:cNvSpPr/>
          <p:nvPr/>
        </p:nvSpPr>
        <p:spPr>
          <a:xfrm>
            <a:off x="3058600" y="3815250"/>
            <a:ext cx="2330400" cy="12135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7"/>
          <p:cNvSpPr/>
          <p:nvPr/>
        </p:nvSpPr>
        <p:spPr>
          <a:xfrm>
            <a:off x="398450" y="1364350"/>
            <a:ext cx="2330400" cy="26562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9" name="Google Shape;139;p7"/>
          <p:cNvSpPr txBox="1">
            <a:spLocks noGrp="1"/>
          </p:cNvSpPr>
          <p:nvPr>
            <p:ph type="title" idx="4294967295"/>
          </p:nvPr>
        </p:nvSpPr>
        <p:spPr>
          <a:xfrm>
            <a:off x="0" y="0"/>
            <a:ext cx="8742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In reality, people </a:t>
            </a:r>
            <a:r>
              <a:rPr lang="en" sz="2500" b="1">
                <a:latin typeface="Lato"/>
                <a:ea typeface="Lato"/>
                <a:cs typeface="Lato"/>
                <a:sym typeface="Lato"/>
              </a:rPr>
              <a:t>mix heterogeneously</a:t>
            </a:r>
            <a:r>
              <a:rPr lang="en" sz="2500">
                <a:latin typeface="Lato Light"/>
                <a:ea typeface="Lato Light"/>
                <a:cs typeface="Lato Light"/>
                <a:sym typeface="Lato Light"/>
              </a:rPr>
              <a:t>. Rather, we have </a:t>
            </a:r>
            <a:r>
              <a:rPr lang="en" sz="2500" b="1">
                <a:latin typeface="Lato"/>
                <a:ea typeface="Lato"/>
                <a:cs typeface="Lato"/>
                <a:sym typeface="Lato"/>
              </a:rPr>
              <a:t>structured populations</a:t>
            </a:r>
            <a:r>
              <a:rPr lang="en" sz="2500">
                <a:latin typeface="Lato Light"/>
                <a:ea typeface="Lato Light"/>
                <a:cs typeface="Lato Light"/>
                <a:sym typeface="Lato Light"/>
              </a:rPr>
              <a:t>. This affects pathogen circulation too.</a:t>
            </a:r>
            <a:endParaRPr b="1">
              <a:latin typeface="Lato"/>
              <a:ea typeface="Lato"/>
              <a:cs typeface="Lato"/>
              <a:sym typeface="Lato"/>
            </a:endParaRPr>
          </a:p>
        </p:txBody>
      </p:sp>
      <p:sp>
        <p:nvSpPr>
          <p:cNvPr id="140" name="Google Shape;140;p7"/>
          <p:cNvSpPr/>
          <p:nvPr/>
        </p:nvSpPr>
        <p:spPr>
          <a:xfrm>
            <a:off x="784800" y="19922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1" name="Google Shape;141;p7"/>
          <p:cNvSpPr/>
          <p:nvPr/>
        </p:nvSpPr>
        <p:spPr>
          <a:xfrm>
            <a:off x="1485050" y="260042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2" name="Google Shape;142;p7"/>
          <p:cNvSpPr/>
          <p:nvPr/>
        </p:nvSpPr>
        <p:spPr>
          <a:xfrm>
            <a:off x="1722000" y="1622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3" name="Google Shape;143;p7"/>
          <p:cNvSpPr/>
          <p:nvPr/>
        </p:nvSpPr>
        <p:spPr>
          <a:xfrm>
            <a:off x="893325" y="31453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4" name="Google Shape;144;p7"/>
          <p:cNvSpPr/>
          <p:nvPr/>
        </p:nvSpPr>
        <p:spPr>
          <a:xfrm>
            <a:off x="3508850" y="44862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5" name="Google Shape;145;p7"/>
          <p:cNvSpPr/>
          <p:nvPr/>
        </p:nvSpPr>
        <p:spPr>
          <a:xfrm>
            <a:off x="4232100" y="19921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7"/>
          <p:cNvSpPr/>
          <p:nvPr/>
        </p:nvSpPr>
        <p:spPr>
          <a:xfrm>
            <a:off x="1662175" y="32478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7"/>
          <p:cNvSpPr/>
          <p:nvPr/>
        </p:nvSpPr>
        <p:spPr>
          <a:xfrm>
            <a:off x="2112825" y="26503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8" name="Google Shape;148;p7"/>
          <p:cNvSpPr/>
          <p:nvPr/>
        </p:nvSpPr>
        <p:spPr>
          <a:xfrm>
            <a:off x="4861575" y="19921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7"/>
          <p:cNvSpPr/>
          <p:nvPr/>
        </p:nvSpPr>
        <p:spPr>
          <a:xfrm>
            <a:off x="4016550"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0" name="Google Shape;150;p7"/>
          <p:cNvSpPr/>
          <p:nvPr/>
        </p:nvSpPr>
        <p:spPr>
          <a:xfrm>
            <a:off x="5139375" y="13450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7"/>
          <p:cNvSpPr/>
          <p:nvPr/>
        </p:nvSpPr>
        <p:spPr>
          <a:xfrm>
            <a:off x="3954300" y="412326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2" name="Google Shape;152;p7"/>
          <p:cNvSpPr/>
          <p:nvPr/>
        </p:nvSpPr>
        <p:spPr>
          <a:xfrm>
            <a:off x="6359675" y="34501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7"/>
          <p:cNvSpPr/>
          <p:nvPr/>
        </p:nvSpPr>
        <p:spPr>
          <a:xfrm>
            <a:off x="4572000" y="44862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4" name="Google Shape;154;p7"/>
          <p:cNvSpPr/>
          <p:nvPr/>
        </p:nvSpPr>
        <p:spPr>
          <a:xfrm>
            <a:off x="7652025" y="38304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7"/>
          <p:cNvSpPr/>
          <p:nvPr/>
        </p:nvSpPr>
        <p:spPr>
          <a:xfrm>
            <a:off x="7180575" y="33880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6" name="Google Shape;156;p7"/>
          <p:cNvSpPr/>
          <p:nvPr/>
        </p:nvSpPr>
        <p:spPr>
          <a:xfrm>
            <a:off x="6902775" y="26773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7"/>
          <p:cNvSpPr/>
          <p:nvPr/>
        </p:nvSpPr>
        <p:spPr>
          <a:xfrm>
            <a:off x="6303725" y="290522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8" name="Google Shape;158;p7"/>
          <p:cNvSpPr/>
          <p:nvPr/>
        </p:nvSpPr>
        <p:spPr>
          <a:xfrm>
            <a:off x="7534500"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7"/>
          <p:cNvSpPr/>
          <p:nvPr/>
        </p:nvSpPr>
        <p:spPr>
          <a:xfrm>
            <a:off x="7103325" y="1622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60" name="Google Shape;160;p7"/>
          <p:cNvCxnSpPr>
            <a:endCxn id="141" idx="0"/>
          </p:cNvCxnSpPr>
          <p:nvPr/>
        </p:nvCxnSpPr>
        <p:spPr>
          <a:xfrm>
            <a:off x="1021850" y="2229325"/>
            <a:ext cx="602100" cy="371100"/>
          </a:xfrm>
          <a:prstGeom prst="curvedConnector2">
            <a:avLst/>
          </a:prstGeom>
          <a:noFill/>
          <a:ln w="38100" cap="flat" cmpd="sng">
            <a:solidFill>
              <a:srgbClr val="990000"/>
            </a:solidFill>
            <a:prstDash val="solid"/>
            <a:round/>
            <a:headEnd type="none" w="sm" len="sm"/>
            <a:tailEnd type="triangle" w="med" len="med"/>
          </a:ln>
        </p:spPr>
      </p:cxnSp>
      <p:cxnSp>
        <p:nvCxnSpPr>
          <p:cNvPr id="161" name="Google Shape;161;p7"/>
          <p:cNvCxnSpPr>
            <a:endCxn id="146" idx="2"/>
          </p:cNvCxnSpPr>
          <p:nvPr/>
        </p:nvCxnSpPr>
        <p:spPr>
          <a:xfrm rot="-5400000" flipH="1">
            <a:off x="1346875" y="3071488"/>
            <a:ext cx="528300" cy="102300"/>
          </a:xfrm>
          <a:prstGeom prst="curvedConnector2">
            <a:avLst/>
          </a:prstGeom>
          <a:noFill/>
          <a:ln w="38100" cap="flat" cmpd="sng">
            <a:solidFill>
              <a:srgbClr val="990000"/>
            </a:solidFill>
            <a:prstDash val="solid"/>
            <a:round/>
            <a:headEnd type="none" w="sm" len="sm"/>
            <a:tailEnd type="triangle" w="med" len="med"/>
          </a:ln>
        </p:spPr>
      </p:cxnSp>
      <p:cxnSp>
        <p:nvCxnSpPr>
          <p:cNvPr id="162" name="Google Shape;162;p7"/>
          <p:cNvCxnSpPr>
            <a:stCxn id="146" idx="7"/>
            <a:endCxn id="147" idx="5"/>
          </p:cNvCxnSpPr>
          <p:nvPr/>
        </p:nvCxnSpPr>
        <p:spPr>
          <a:xfrm rot="-5400000">
            <a:off x="1924042" y="2862721"/>
            <a:ext cx="401100" cy="450600"/>
          </a:xfrm>
          <a:prstGeom prst="curvedConnector3">
            <a:avLst>
              <a:gd name="adj1" fmla="val 50002"/>
            </a:avLst>
          </a:prstGeom>
          <a:noFill/>
          <a:ln w="38100" cap="flat" cmpd="sng">
            <a:solidFill>
              <a:srgbClr val="990000"/>
            </a:solidFill>
            <a:prstDash val="solid"/>
            <a:round/>
            <a:headEnd type="none" w="sm" len="sm"/>
            <a:tailEnd type="triangle" w="med" len="med"/>
          </a:ln>
        </p:spPr>
      </p:cxnSp>
      <p:cxnSp>
        <p:nvCxnSpPr>
          <p:cNvPr id="163" name="Google Shape;163;p7"/>
          <p:cNvCxnSpPr>
            <a:endCxn id="149" idx="2"/>
          </p:cNvCxnSpPr>
          <p:nvPr/>
        </p:nvCxnSpPr>
        <p:spPr>
          <a:xfrm rot="10800000" flipH="1">
            <a:off x="2385750" y="1761750"/>
            <a:ext cx="1630800" cy="853800"/>
          </a:xfrm>
          <a:prstGeom prst="curvedConnector3">
            <a:avLst>
              <a:gd name="adj1" fmla="val 50000"/>
            </a:avLst>
          </a:prstGeom>
          <a:noFill/>
          <a:ln w="38100" cap="flat" cmpd="sng">
            <a:solidFill>
              <a:srgbClr val="990000"/>
            </a:solidFill>
            <a:prstDash val="dot"/>
            <a:round/>
            <a:headEnd type="none" w="sm" len="sm"/>
            <a:tailEnd type="triangle" w="med" len="med"/>
          </a:ln>
        </p:spPr>
      </p:cxnSp>
      <p:cxnSp>
        <p:nvCxnSpPr>
          <p:cNvPr id="164" name="Google Shape;164;p7"/>
          <p:cNvCxnSpPr>
            <a:stCxn id="154" idx="2"/>
            <a:endCxn id="152" idx="6"/>
          </p:cNvCxnSpPr>
          <p:nvPr/>
        </p:nvCxnSpPr>
        <p:spPr>
          <a:xfrm rot="10800000">
            <a:off x="6637425" y="3588988"/>
            <a:ext cx="1014600" cy="380400"/>
          </a:xfrm>
          <a:prstGeom prst="curvedConnector3">
            <a:avLst>
              <a:gd name="adj1" fmla="val 49998"/>
            </a:avLst>
          </a:prstGeom>
          <a:noFill/>
          <a:ln w="38100" cap="flat" cmpd="sng">
            <a:solidFill>
              <a:srgbClr val="F1C232"/>
            </a:solidFill>
            <a:prstDash val="solid"/>
            <a:round/>
            <a:headEnd type="none" w="sm" len="sm"/>
            <a:tailEnd type="triangle" w="med" len="med"/>
          </a:ln>
        </p:spPr>
      </p:cxnSp>
      <p:cxnSp>
        <p:nvCxnSpPr>
          <p:cNvPr id="165" name="Google Shape;165;p7"/>
          <p:cNvCxnSpPr>
            <a:endCxn id="156" idx="4"/>
          </p:cNvCxnSpPr>
          <p:nvPr/>
        </p:nvCxnSpPr>
        <p:spPr>
          <a:xfrm rot="10800000" flipH="1">
            <a:off x="6496875" y="2955150"/>
            <a:ext cx="544800" cy="478500"/>
          </a:xfrm>
          <a:prstGeom prst="curvedConnector2">
            <a:avLst/>
          </a:prstGeom>
          <a:noFill/>
          <a:ln w="38100" cap="flat" cmpd="sng">
            <a:solidFill>
              <a:srgbClr val="F1C232"/>
            </a:solidFill>
            <a:prstDash val="solid"/>
            <a:round/>
            <a:headEnd type="none" w="sm" len="sm"/>
            <a:tailEnd type="triangle" w="med" len="med"/>
          </a:ln>
        </p:spPr>
      </p:cxn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8"/>
          <p:cNvSpPr txBox="1">
            <a:spLocks noGrp="1"/>
          </p:cNvSpPr>
          <p:nvPr>
            <p:ph type="title" idx="4294967295"/>
          </p:nvPr>
        </p:nvSpPr>
        <p:spPr>
          <a:xfrm>
            <a:off x="0" y="0"/>
            <a:ext cx="8742000" cy="1213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The variables that structure populations can thus </a:t>
            </a:r>
            <a:r>
              <a:rPr lang="en" sz="2500" b="1">
                <a:latin typeface="Lato"/>
                <a:ea typeface="Lato"/>
                <a:cs typeface="Lato"/>
                <a:sym typeface="Lato"/>
              </a:rPr>
              <a:t>modify the probability of being exposed to particular lineages.</a:t>
            </a:r>
            <a:endParaRPr b="1">
              <a:latin typeface="Lato"/>
              <a:ea typeface="Lato"/>
              <a:cs typeface="Lato"/>
              <a:sym typeface="Lato"/>
            </a:endParaRPr>
          </a:p>
        </p:txBody>
      </p:sp>
      <p:sp>
        <p:nvSpPr>
          <p:cNvPr id="171" name="Google Shape;171;p8"/>
          <p:cNvSpPr/>
          <p:nvPr/>
        </p:nvSpPr>
        <p:spPr>
          <a:xfrm>
            <a:off x="6722325" y="1352250"/>
            <a:ext cx="1436100" cy="8190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2" name="Google Shape;172;p8"/>
          <p:cNvSpPr/>
          <p:nvPr/>
        </p:nvSpPr>
        <p:spPr>
          <a:xfrm>
            <a:off x="5632150" y="2491200"/>
            <a:ext cx="2680200" cy="2577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3" name="Google Shape;173;p8"/>
          <p:cNvSpPr/>
          <p:nvPr/>
        </p:nvSpPr>
        <p:spPr>
          <a:xfrm>
            <a:off x="3598200" y="1098450"/>
            <a:ext cx="2330400" cy="14733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4" name="Google Shape;174;p8"/>
          <p:cNvSpPr/>
          <p:nvPr/>
        </p:nvSpPr>
        <p:spPr>
          <a:xfrm>
            <a:off x="3058600" y="3815250"/>
            <a:ext cx="2330400" cy="12135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5" name="Google Shape;175;p8"/>
          <p:cNvSpPr/>
          <p:nvPr/>
        </p:nvSpPr>
        <p:spPr>
          <a:xfrm>
            <a:off x="398450" y="1364350"/>
            <a:ext cx="2330400" cy="26562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8"/>
          <p:cNvSpPr/>
          <p:nvPr/>
        </p:nvSpPr>
        <p:spPr>
          <a:xfrm>
            <a:off x="784800" y="19922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8"/>
          <p:cNvSpPr/>
          <p:nvPr/>
        </p:nvSpPr>
        <p:spPr>
          <a:xfrm>
            <a:off x="1485050" y="260042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8" name="Google Shape;178;p8"/>
          <p:cNvSpPr/>
          <p:nvPr/>
        </p:nvSpPr>
        <p:spPr>
          <a:xfrm>
            <a:off x="1722000" y="1622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8"/>
          <p:cNvSpPr/>
          <p:nvPr/>
        </p:nvSpPr>
        <p:spPr>
          <a:xfrm>
            <a:off x="893325" y="31453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0" name="Google Shape;180;p8"/>
          <p:cNvSpPr/>
          <p:nvPr/>
        </p:nvSpPr>
        <p:spPr>
          <a:xfrm>
            <a:off x="3508850" y="44862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8"/>
          <p:cNvSpPr/>
          <p:nvPr/>
        </p:nvSpPr>
        <p:spPr>
          <a:xfrm>
            <a:off x="4232100" y="19921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2" name="Google Shape;182;p8"/>
          <p:cNvSpPr/>
          <p:nvPr/>
        </p:nvSpPr>
        <p:spPr>
          <a:xfrm>
            <a:off x="1662175" y="32478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8"/>
          <p:cNvSpPr/>
          <p:nvPr/>
        </p:nvSpPr>
        <p:spPr>
          <a:xfrm>
            <a:off x="2112825" y="26503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4" name="Google Shape;184;p8"/>
          <p:cNvSpPr/>
          <p:nvPr/>
        </p:nvSpPr>
        <p:spPr>
          <a:xfrm>
            <a:off x="4861575" y="19921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8"/>
          <p:cNvSpPr/>
          <p:nvPr/>
        </p:nvSpPr>
        <p:spPr>
          <a:xfrm>
            <a:off x="4016550"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6" name="Google Shape;186;p8"/>
          <p:cNvSpPr/>
          <p:nvPr/>
        </p:nvSpPr>
        <p:spPr>
          <a:xfrm>
            <a:off x="5139375" y="13450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8"/>
          <p:cNvSpPr/>
          <p:nvPr/>
        </p:nvSpPr>
        <p:spPr>
          <a:xfrm>
            <a:off x="3954300" y="4123263"/>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8" name="Google Shape;188;p8"/>
          <p:cNvSpPr/>
          <p:nvPr/>
        </p:nvSpPr>
        <p:spPr>
          <a:xfrm>
            <a:off x="6359675" y="34501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8"/>
          <p:cNvSpPr/>
          <p:nvPr/>
        </p:nvSpPr>
        <p:spPr>
          <a:xfrm>
            <a:off x="4572000" y="44862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0" name="Google Shape;190;p8"/>
          <p:cNvSpPr/>
          <p:nvPr/>
        </p:nvSpPr>
        <p:spPr>
          <a:xfrm>
            <a:off x="7652025" y="383048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8"/>
          <p:cNvSpPr/>
          <p:nvPr/>
        </p:nvSpPr>
        <p:spPr>
          <a:xfrm>
            <a:off x="7180575" y="338800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2" name="Google Shape;192;p8"/>
          <p:cNvSpPr/>
          <p:nvPr/>
        </p:nvSpPr>
        <p:spPr>
          <a:xfrm>
            <a:off x="6902775" y="26773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3" name="Google Shape;193;p8"/>
          <p:cNvSpPr/>
          <p:nvPr/>
        </p:nvSpPr>
        <p:spPr>
          <a:xfrm>
            <a:off x="6303725" y="2905225"/>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4" name="Google Shape;194;p8"/>
          <p:cNvSpPr/>
          <p:nvPr/>
        </p:nvSpPr>
        <p:spPr>
          <a:xfrm>
            <a:off x="7534500" y="1622850"/>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5" name="Google Shape;195;p8"/>
          <p:cNvSpPr/>
          <p:nvPr/>
        </p:nvSpPr>
        <p:spPr>
          <a:xfrm>
            <a:off x="7103325" y="1622838"/>
            <a:ext cx="277800" cy="2778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196" name="Google Shape;196;p8"/>
          <p:cNvCxnSpPr>
            <a:endCxn id="177" idx="0"/>
          </p:cNvCxnSpPr>
          <p:nvPr/>
        </p:nvCxnSpPr>
        <p:spPr>
          <a:xfrm>
            <a:off x="1021850" y="2229325"/>
            <a:ext cx="602100" cy="371100"/>
          </a:xfrm>
          <a:prstGeom prst="curvedConnector2">
            <a:avLst/>
          </a:prstGeom>
          <a:noFill/>
          <a:ln w="38100" cap="flat" cmpd="sng">
            <a:solidFill>
              <a:srgbClr val="990000"/>
            </a:solidFill>
            <a:prstDash val="solid"/>
            <a:round/>
            <a:headEnd type="none" w="sm" len="sm"/>
            <a:tailEnd type="triangle" w="med" len="med"/>
          </a:ln>
        </p:spPr>
      </p:cxnSp>
      <p:cxnSp>
        <p:nvCxnSpPr>
          <p:cNvPr id="197" name="Google Shape;197;p8"/>
          <p:cNvCxnSpPr>
            <a:endCxn id="182" idx="2"/>
          </p:cNvCxnSpPr>
          <p:nvPr/>
        </p:nvCxnSpPr>
        <p:spPr>
          <a:xfrm rot="-5400000" flipH="1">
            <a:off x="1346875" y="3071488"/>
            <a:ext cx="528300" cy="102300"/>
          </a:xfrm>
          <a:prstGeom prst="curvedConnector2">
            <a:avLst/>
          </a:prstGeom>
          <a:noFill/>
          <a:ln w="38100" cap="flat" cmpd="sng">
            <a:solidFill>
              <a:srgbClr val="990000"/>
            </a:solidFill>
            <a:prstDash val="solid"/>
            <a:round/>
            <a:headEnd type="none" w="sm" len="sm"/>
            <a:tailEnd type="triangle" w="med" len="med"/>
          </a:ln>
        </p:spPr>
      </p:cxnSp>
      <p:cxnSp>
        <p:nvCxnSpPr>
          <p:cNvPr id="198" name="Google Shape;198;p8"/>
          <p:cNvCxnSpPr>
            <a:stCxn id="182" idx="7"/>
            <a:endCxn id="183" idx="5"/>
          </p:cNvCxnSpPr>
          <p:nvPr/>
        </p:nvCxnSpPr>
        <p:spPr>
          <a:xfrm rot="-5400000">
            <a:off x="1924042" y="2862721"/>
            <a:ext cx="401100" cy="450600"/>
          </a:xfrm>
          <a:prstGeom prst="curvedConnector3">
            <a:avLst>
              <a:gd name="adj1" fmla="val 50002"/>
            </a:avLst>
          </a:prstGeom>
          <a:noFill/>
          <a:ln w="38100" cap="flat" cmpd="sng">
            <a:solidFill>
              <a:srgbClr val="990000"/>
            </a:solidFill>
            <a:prstDash val="solid"/>
            <a:round/>
            <a:headEnd type="none" w="sm" len="sm"/>
            <a:tailEnd type="triangle" w="med" len="med"/>
          </a:ln>
        </p:spPr>
      </p:cxnSp>
      <p:cxnSp>
        <p:nvCxnSpPr>
          <p:cNvPr id="199" name="Google Shape;199;p8"/>
          <p:cNvCxnSpPr>
            <a:endCxn id="185" idx="2"/>
          </p:cNvCxnSpPr>
          <p:nvPr/>
        </p:nvCxnSpPr>
        <p:spPr>
          <a:xfrm rot="10800000" flipH="1">
            <a:off x="2385750" y="1761750"/>
            <a:ext cx="1630800" cy="853800"/>
          </a:xfrm>
          <a:prstGeom prst="curvedConnector3">
            <a:avLst>
              <a:gd name="adj1" fmla="val 50000"/>
            </a:avLst>
          </a:prstGeom>
          <a:noFill/>
          <a:ln w="38100" cap="flat" cmpd="sng">
            <a:solidFill>
              <a:srgbClr val="990000"/>
            </a:solidFill>
            <a:prstDash val="dot"/>
            <a:round/>
            <a:headEnd type="none" w="sm" len="sm"/>
            <a:tailEnd type="triangle" w="med" len="med"/>
          </a:ln>
        </p:spPr>
      </p:cxnSp>
      <p:cxnSp>
        <p:nvCxnSpPr>
          <p:cNvPr id="200" name="Google Shape;200;p8"/>
          <p:cNvCxnSpPr>
            <a:stCxn id="190" idx="2"/>
            <a:endCxn id="188" idx="6"/>
          </p:cNvCxnSpPr>
          <p:nvPr/>
        </p:nvCxnSpPr>
        <p:spPr>
          <a:xfrm rot="10800000">
            <a:off x="6637425" y="3588988"/>
            <a:ext cx="1014600" cy="380400"/>
          </a:xfrm>
          <a:prstGeom prst="curvedConnector3">
            <a:avLst>
              <a:gd name="adj1" fmla="val 49998"/>
            </a:avLst>
          </a:prstGeom>
          <a:noFill/>
          <a:ln w="38100" cap="flat" cmpd="sng">
            <a:solidFill>
              <a:srgbClr val="F1C232"/>
            </a:solidFill>
            <a:prstDash val="solid"/>
            <a:round/>
            <a:headEnd type="none" w="sm" len="sm"/>
            <a:tailEnd type="triangle" w="med" len="med"/>
          </a:ln>
        </p:spPr>
      </p:cxnSp>
      <p:cxnSp>
        <p:nvCxnSpPr>
          <p:cNvPr id="201" name="Google Shape;201;p8"/>
          <p:cNvCxnSpPr>
            <a:endCxn id="192" idx="4"/>
          </p:cNvCxnSpPr>
          <p:nvPr/>
        </p:nvCxnSpPr>
        <p:spPr>
          <a:xfrm rot="10800000" flipH="1">
            <a:off x="6496875" y="2955150"/>
            <a:ext cx="544800" cy="478500"/>
          </a:xfrm>
          <a:prstGeom prst="curvedConnector2">
            <a:avLst/>
          </a:prstGeom>
          <a:noFill/>
          <a:ln w="38100" cap="flat" cmpd="sng">
            <a:solidFill>
              <a:srgbClr val="F1C232"/>
            </a:solidFill>
            <a:prstDash val="solid"/>
            <a:round/>
            <a:headEnd type="none" w="sm" len="sm"/>
            <a:tailEnd type="triangle" w="med" len="med"/>
          </a:ln>
        </p:spPr>
      </p:cxn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5"/>
        <p:cNvGrpSpPr/>
        <p:nvPr/>
      </p:nvGrpSpPr>
      <p:grpSpPr>
        <a:xfrm>
          <a:off x="0" y="0"/>
          <a:ext cx="0" cy="0"/>
          <a:chOff x="0" y="0"/>
          <a:chExt cx="0" cy="0"/>
        </a:xfrm>
      </p:grpSpPr>
      <p:sp>
        <p:nvSpPr>
          <p:cNvPr id="206" name="Google Shape;206;g2b5a0b1ce59_0_0"/>
          <p:cNvSpPr txBox="1"/>
          <p:nvPr/>
        </p:nvSpPr>
        <p:spPr>
          <a:xfrm>
            <a:off x="-50" y="178500"/>
            <a:ext cx="9144000" cy="6783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2500">
                <a:solidFill>
                  <a:schemeClr val="dk1"/>
                </a:solidFill>
                <a:latin typeface="Lato"/>
                <a:ea typeface="Lato"/>
                <a:cs typeface="Lato"/>
                <a:sym typeface="Lato"/>
              </a:rPr>
              <a:t>Designing a sequencing-based study or surveillance system</a:t>
            </a:r>
            <a:endParaRPr sz="2500">
              <a:solidFill>
                <a:schemeClr val="dk1"/>
              </a:solidFill>
              <a:latin typeface="Lato"/>
              <a:ea typeface="Lato"/>
              <a:cs typeface="Lato"/>
              <a:sym typeface="Lato"/>
            </a:endParaRPr>
          </a:p>
        </p:txBody>
      </p:sp>
      <p:sp>
        <p:nvSpPr>
          <p:cNvPr id="207" name="Google Shape;207;g2b5a0b1ce59_0_0"/>
          <p:cNvSpPr txBox="1"/>
          <p:nvPr/>
        </p:nvSpPr>
        <p:spPr>
          <a:xfrm>
            <a:off x="161350" y="856800"/>
            <a:ext cx="8565000" cy="1998900"/>
          </a:xfrm>
          <a:prstGeom prst="rect">
            <a:avLst/>
          </a:prstGeom>
          <a:noFill/>
          <a:ln>
            <a:noFill/>
          </a:ln>
        </p:spPr>
        <p:txBody>
          <a:bodyPr spcFirstLastPara="1" wrap="square" lIns="91425" tIns="91425" rIns="91425" bIns="91425" anchor="t" anchorCtr="0">
            <a:noAutofit/>
          </a:bodyPr>
          <a:lstStyle/>
          <a:p>
            <a:pPr marL="457200" lvl="0" indent="0" algn="l" rtl="0">
              <a:spcBef>
                <a:spcPts val="0"/>
              </a:spcBef>
              <a:spcAft>
                <a:spcPts val="0"/>
              </a:spcAft>
              <a:buNone/>
            </a:pPr>
            <a:endParaRPr sz="1800">
              <a:solidFill>
                <a:schemeClr val="dk1"/>
              </a:solidFill>
            </a:endParaRPr>
          </a:p>
        </p:txBody>
      </p:sp>
      <p:pic>
        <p:nvPicPr>
          <p:cNvPr id="208" name="Google Shape;208;g2b5a0b1ce59_0_0"/>
          <p:cNvPicPr preferRelativeResize="0"/>
          <p:nvPr/>
        </p:nvPicPr>
        <p:blipFill>
          <a:blip r:embed="rId3">
            <a:alphaModFix/>
          </a:blip>
          <a:stretch>
            <a:fillRect/>
          </a:stretch>
        </p:blipFill>
        <p:spPr>
          <a:xfrm>
            <a:off x="84113" y="668650"/>
            <a:ext cx="8719475" cy="4161500"/>
          </a:xfrm>
          <a:prstGeom prst="rect">
            <a:avLst/>
          </a:prstGeom>
          <a:noFill/>
          <a:ln>
            <a:noFill/>
          </a:ln>
        </p:spPr>
      </p:pic>
      <p:sp>
        <p:nvSpPr>
          <p:cNvPr id="209" name="Google Shape;209;g2b5a0b1ce59_0_0"/>
          <p:cNvSpPr txBox="1"/>
          <p:nvPr/>
        </p:nvSpPr>
        <p:spPr>
          <a:xfrm>
            <a:off x="6719525" y="4830150"/>
            <a:ext cx="1935600" cy="1425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600">
                <a:solidFill>
                  <a:schemeClr val="dk1"/>
                </a:solidFill>
              </a:rPr>
              <a:t>Wohl et al., 2023</a:t>
            </a:r>
            <a:endParaRPr sz="1600">
              <a:solidFill>
                <a:schemeClr val="dk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213"/>
        <p:cNvGrpSpPr/>
        <p:nvPr/>
      </p:nvGrpSpPr>
      <p:grpSpPr>
        <a:xfrm>
          <a:off x="0" y="0"/>
          <a:ext cx="0" cy="0"/>
          <a:chOff x="0" y="0"/>
          <a:chExt cx="0" cy="0"/>
        </a:xfrm>
      </p:grpSpPr>
      <p:sp>
        <p:nvSpPr>
          <p:cNvPr id="214" name="Google Shape;214;p9"/>
          <p:cNvSpPr txBox="1">
            <a:spLocks noGrp="1"/>
          </p:cNvSpPr>
          <p:nvPr>
            <p:ph type="title"/>
          </p:nvPr>
        </p:nvSpPr>
        <p:spPr>
          <a:xfrm>
            <a:off x="311700" y="1915500"/>
            <a:ext cx="8757900" cy="1312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Part 1</a:t>
            </a:r>
            <a:r>
              <a:rPr lang="en">
                <a:solidFill>
                  <a:schemeClr val="lt1"/>
                </a:solidFill>
                <a:latin typeface="Lato"/>
                <a:ea typeface="Lato"/>
                <a:cs typeface="Lato"/>
                <a:sym typeface="Lato"/>
              </a:rPr>
              <a:t> - Sampling design for monitoring changes in lineage frequency.</a:t>
            </a:r>
            <a:endParaRPr>
              <a:solidFill>
                <a:schemeClr val="lt1"/>
              </a:solidFill>
              <a:latin typeface="Lato"/>
              <a:ea typeface="Lato"/>
              <a:cs typeface="Lato"/>
              <a:sym typeface="Lato"/>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18"/>
        <p:cNvGrpSpPr/>
        <p:nvPr/>
      </p:nvGrpSpPr>
      <p:grpSpPr>
        <a:xfrm>
          <a:off x="0" y="0"/>
          <a:ext cx="0" cy="0"/>
          <a:chOff x="0" y="0"/>
          <a:chExt cx="0" cy="0"/>
        </a:xfrm>
      </p:grpSpPr>
      <p:sp>
        <p:nvSpPr>
          <p:cNvPr id="219" name="Google Shape;219;p10"/>
          <p:cNvSpPr txBox="1">
            <a:spLocks noGrp="1"/>
          </p:cNvSpPr>
          <p:nvPr>
            <p:ph type="title" idx="4294967295"/>
          </p:nvPr>
        </p:nvSpPr>
        <p:spPr>
          <a:xfrm>
            <a:off x="35413" y="21550"/>
            <a:ext cx="8742000" cy="1306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44000"/>
              <a:buFont typeface="Arial"/>
              <a:buNone/>
            </a:pPr>
            <a:r>
              <a:rPr lang="en" sz="2500">
                <a:latin typeface="Lato Light"/>
                <a:ea typeface="Lato Light"/>
                <a:cs typeface="Lato Light"/>
                <a:sym typeface="Lato Light"/>
              </a:rPr>
              <a:t>To be able to monitor changes in lineage frequency, you want your dataset of sequences to be </a:t>
            </a:r>
            <a:r>
              <a:rPr lang="en" sz="2500" b="1">
                <a:latin typeface="Lato"/>
                <a:ea typeface="Lato"/>
                <a:cs typeface="Lato"/>
                <a:sym typeface="Lato"/>
              </a:rPr>
              <a:t>representative of the true underlying viral population</a:t>
            </a:r>
            <a:r>
              <a:rPr lang="en" sz="2500">
                <a:latin typeface="Lato Light"/>
                <a:ea typeface="Lato Light"/>
                <a:cs typeface="Lato Light"/>
                <a:sym typeface="Lato Light"/>
              </a:rPr>
              <a:t>.</a:t>
            </a:r>
            <a:endParaRPr sz="2000">
              <a:latin typeface="Lato Light"/>
              <a:ea typeface="Lato Light"/>
              <a:cs typeface="Lato Light"/>
              <a:sym typeface="Lato Light"/>
            </a:endParaRPr>
          </a:p>
        </p:txBody>
      </p:sp>
      <p:sp>
        <p:nvSpPr>
          <p:cNvPr id="220" name="Google Shape;220;p10"/>
          <p:cNvSpPr/>
          <p:nvPr/>
        </p:nvSpPr>
        <p:spPr>
          <a:xfrm>
            <a:off x="1692082" y="2029263"/>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1" name="Google Shape;221;p10"/>
          <p:cNvSpPr/>
          <p:nvPr/>
        </p:nvSpPr>
        <p:spPr>
          <a:xfrm>
            <a:off x="1557150" y="3095839"/>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2" name="Google Shape;222;p10"/>
          <p:cNvSpPr/>
          <p:nvPr/>
        </p:nvSpPr>
        <p:spPr>
          <a:xfrm>
            <a:off x="2390651" y="1753945"/>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3" name="Google Shape;223;p10"/>
          <p:cNvSpPr/>
          <p:nvPr/>
        </p:nvSpPr>
        <p:spPr>
          <a:xfrm>
            <a:off x="2006968" y="3693714"/>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4" name="Google Shape;224;p10"/>
          <p:cNvSpPr/>
          <p:nvPr/>
        </p:nvSpPr>
        <p:spPr>
          <a:xfrm>
            <a:off x="3695530" y="3645301"/>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10"/>
          <p:cNvSpPr/>
          <p:nvPr/>
        </p:nvSpPr>
        <p:spPr>
          <a:xfrm>
            <a:off x="3695530" y="2888761"/>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6" name="Google Shape;226;p10"/>
          <p:cNvSpPr/>
          <p:nvPr/>
        </p:nvSpPr>
        <p:spPr>
          <a:xfrm>
            <a:off x="3309014" y="2029254"/>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7" name="Google Shape;227;p10"/>
          <p:cNvSpPr/>
          <p:nvPr/>
        </p:nvSpPr>
        <p:spPr>
          <a:xfrm>
            <a:off x="2879955" y="3095830"/>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8" name="Google Shape;228;p10"/>
          <p:cNvSpPr/>
          <p:nvPr/>
        </p:nvSpPr>
        <p:spPr>
          <a:xfrm>
            <a:off x="4622968" y="2582500"/>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9" name="Google Shape;229;p10"/>
          <p:cNvSpPr/>
          <p:nvPr/>
        </p:nvSpPr>
        <p:spPr>
          <a:xfrm>
            <a:off x="4100961" y="1753954"/>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0" name="Google Shape;230;p10"/>
          <p:cNvSpPr/>
          <p:nvPr/>
        </p:nvSpPr>
        <p:spPr>
          <a:xfrm>
            <a:off x="4937891" y="1546876"/>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1" name="Google Shape;231;p10"/>
          <p:cNvSpPr/>
          <p:nvPr/>
        </p:nvSpPr>
        <p:spPr>
          <a:xfrm>
            <a:off x="4622968" y="3275747"/>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2" name="Google Shape;232;p10"/>
          <p:cNvSpPr/>
          <p:nvPr/>
        </p:nvSpPr>
        <p:spPr>
          <a:xfrm>
            <a:off x="5393485" y="2123220"/>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3" name="Google Shape;233;p10"/>
          <p:cNvSpPr/>
          <p:nvPr/>
        </p:nvSpPr>
        <p:spPr>
          <a:xfrm>
            <a:off x="5545915" y="3312831"/>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4" name="Google Shape;234;p10"/>
          <p:cNvSpPr/>
          <p:nvPr/>
        </p:nvSpPr>
        <p:spPr>
          <a:xfrm>
            <a:off x="6743348" y="3770219"/>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5" name="Google Shape;235;p10"/>
          <p:cNvSpPr/>
          <p:nvPr/>
        </p:nvSpPr>
        <p:spPr>
          <a:xfrm>
            <a:off x="6743348" y="3013678"/>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6" name="Google Shape;236;p10"/>
          <p:cNvSpPr/>
          <p:nvPr/>
        </p:nvSpPr>
        <p:spPr>
          <a:xfrm>
            <a:off x="6464837" y="1753954"/>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37" name="Google Shape;237;p10"/>
          <p:cNvSpPr/>
          <p:nvPr/>
        </p:nvSpPr>
        <p:spPr>
          <a:xfrm>
            <a:off x="6089762" y="2482627"/>
            <a:ext cx="207000" cy="207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38" name="Google Shape;238;p10"/>
          <p:cNvCxnSpPr>
            <a:stCxn id="220" idx="5"/>
            <a:endCxn id="227" idx="0"/>
          </p:cNvCxnSpPr>
          <p:nvPr/>
        </p:nvCxnSpPr>
        <p:spPr>
          <a:xfrm rot="-5400000" flipH="1">
            <a:off x="1981268" y="2093449"/>
            <a:ext cx="889800" cy="1114800"/>
          </a:xfrm>
          <a:prstGeom prst="curvedConnector3">
            <a:avLst>
              <a:gd name="adj1" fmla="val 51704"/>
            </a:avLst>
          </a:prstGeom>
          <a:noFill/>
          <a:ln w="38100" cap="flat" cmpd="sng">
            <a:solidFill>
              <a:srgbClr val="990000"/>
            </a:solidFill>
            <a:prstDash val="solid"/>
            <a:round/>
            <a:headEnd type="none" w="sm" len="sm"/>
            <a:tailEnd type="triangle" w="med" len="med"/>
          </a:ln>
        </p:spPr>
      </p:cxnSp>
      <p:cxnSp>
        <p:nvCxnSpPr>
          <p:cNvPr id="239" name="Google Shape;239;p10"/>
          <p:cNvCxnSpPr>
            <a:endCxn id="231" idx="2"/>
          </p:cNvCxnSpPr>
          <p:nvPr/>
        </p:nvCxnSpPr>
        <p:spPr>
          <a:xfrm>
            <a:off x="3097768" y="3220847"/>
            <a:ext cx="1525200" cy="158400"/>
          </a:xfrm>
          <a:prstGeom prst="curvedConnector3">
            <a:avLst>
              <a:gd name="adj1" fmla="val 50000"/>
            </a:avLst>
          </a:prstGeom>
          <a:noFill/>
          <a:ln w="38100" cap="flat" cmpd="sng">
            <a:solidFill>
              <a:srgbClr val="990000"/>
            </a:solidFill>
            <a:prstDash val="solid"/>
            <a:round/>
            <a:headEnd type="none" w="sm" len="sm"/>
            <a:tailEnd type="triangle" w="med" len="med"/>
          </a:ln>
        </p:spPr>
      </p:cxnSp>
      <p:cxnSp>
        <p:nvCxnSpPr>
          <p:cNvPr id="240" name="Google Shape;240;p10"/>
          <p:cNvCxnSpPr>
            <a:stCxn id="231" idx="6"/>
            <a:endCxn id="236" idx="2"/>
          </p:cNvCxnSpPr>
          <p:nvPr/>
        </p:nvCxnSpPr>
        <p:spPr>
          <a:xfrm rot="10800000" flipH="1">
            <a:off x="4829968" y="1857347"/>
            <a:ext cx="1635000" cy="1521900"/>
          </a:xfrm>
          <a:prstGeom prst="curvedConnector3">
            <a:avLst>
              <a:gd name="adj1" fmla="val 50005"/>
            </a:avLst>
          </a:prstGeom>
          <a:noFill/>
          <a:ln w="38100" cap="flat" cmpd="sng">
            <a:solidFill>
              <a:srgbClr val="990000"/>
            </a:solidFill>
            <a:prstDash val="solid"/>
            <a:round/>
            <a:headEnd type="none" w="sm" len="sm"/>
            <a:tailEnd type="triangle" w="med" len="med"/>
          </a:ln>
        </p:spPr>
      </p:cxnSp>
      <p:cxnSp>
        <p:nvCxnSpPr>
          <p:cNvPr id="241" name="Google Shape;241;p10"/>
          <p:cNvCxnSpPr>
            <a:stCxn id="234" idx="0"/>
            <a:endCxn id="235" idx="6"/>
          </p:cNvCxnSpPr>
          <p:nvPr/>
        </p:nvCxnSpPr>
        <p:spPr>
          <a:xfrm rot="-5400000">
            <a:off x="6572048" y="3391919"/>
            <a:ext cx="653100" cy="103500"/>
          </a:xfrm>
          <a:prstGeom prst="curvedConnector4">
            <a:avLst>
              <a:gd name="adj1" fmla="val 42060"/>
              <a:gd name="adj2" fmla="val 393981"/>
            </a:avLst>
          </a:prstGeom>
          <a:noFill/>
          <a:ln w="38100" cap="flat" cmpd="sng">
            <a:solidFill>
              <a:srgbClr val="F1C232"/>
            </a:solidFill>
            <a:prstDash val="solid"/>
            <a:round/>
            <a:headEnd type="none" w="sm" len="sm"/>
            <a:tailEnd type="triangle" w="med" len="med"/>
          </a:ln>
        </p:spPr>
      </p:cxnSp>
      <p:cxnSp>
        <p:nvCxnSpPr>
          <p:cNvPr id="242" name="Google Shape;242;p10"/>
          <p:cNvCxnSpPr>
            <a:stCxn id="235" idx="2"/>
            <a:endCxn id="228" idx="6"/>
          </p:cNvCxnSpPr>
          <p:nvPr/>
        </p:nvCxnSpPr>
        <p:spPr>
          <a:xfrm rot="10800000">
            <a:off x="4829948" y="2686078"/>
            <a:ext cx="1913400" cy="431100"/>
          </a:xfrm>
          <a:prstGeom prst="curvedConnector3">
            <a:avLst>
              <a:gd name="adj1" fmla="val 49996"/>
            </a:avLst>
          </a:prstGeom>
          <a:noFill/>
          <a:ln w="38100" cap="flat" cmpd="sng">
            <a:solidFill>
              <a:srgbClr val="F1C232"/>
            </a:solidFill>
            <a:prstDash val="solid"/>
            <a:round/>
            <a:headEnd type="none" w="sm" len="sm"/>
            <a:tailEnd type="triangle" w="med" len="med"/>
          </a:ln>
        </p:spPr>
      </p:cxnSp>
      <p:cxnSp>
        <p:nvCxnSpPr>
          <p:cNvPr id="243" name="Google Shape;243;p10"/>
          <p:cNvCxnSpPr>
            <a:endCxn id="222" idx="5"/>
          </p:cNvCxnSpPr>
          <p:nvPr/>
        </p:nvCxnSpPr>
        <p:spPr>
          <a:xfrm rot="10800000">
            <a:off x="2567337" y="1930631"/>
            <a:ext cx="2055300" cy="766800"/>
          </a:xfrm>
          <a:prstGeom prst="curvedConnector2">
            <a:avLst/>
          </a:prstGeom>
          <a:noFill/>
          <a:ln w="38100" cap="flat" cmpd="sng">
            <a:solidFill>
              <a:srgbClr val="F1C232"/>
            </a:solidFill>
            <a:prstDash val="solid"/>
            <a:round/>
            <a:headEnd type="none" w="sm" len="sm"/>
            <a:tailEnd type="triangle" w="med" len="med"/>
          </a:ln>
        </p:spPr>
      </p:cxnSp>
      <p:sp>
        <p:nvSpPr>
          <p:cNvPr id="244" name="Google Shape;244;p10"/>
          <p:cNvSpPr txBox="1">
            <a:spLocks noGrp="1"/>
          </p:cNvSpPr>
          <p:nvPr>
            <p:ph type="title" idx="4294967295"/>
          </p:nvPr>
        </p:nvSpPr>
        <p:spPr>
          <a:xfrm>
            <a:off x="1593200" y="4118350"/>
            <a:ext cx="5295300" cy="766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990"/>
              <a:buFont typeface="Arial"/>
              <a:buNone/>
            </a:pPr>
            <a:r>
              <a:rPr lang="en" sz="1840">
                <a:latin typeface="Lato Light"/>
                <a:ea typeface="Lato Light"/>
                <a:cs typeface="Lato Light"/>
                <a:sym typeface="Lato Light"/>
              </a:rPr>
              <a:t>In a homogenous population, sample infections at random to get random sampling of viral diversity.</a:t>
            </a:r>
            <a:endParaRPr sz="1840">
              <a:latin typeface="Lato Light"/>
              <a:ea typeface="Lato Light"/>
              <a:cs typeface="Lato Light"/>
              <a:sym typeface="Lato Light"/>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49" name="Google Shape;249;p11"/>
          <p:cNvSpPr txBox="1">
            <a:spLocks noGrp="1"/>
          </p:cNvSpPr>
          <p:nvPr>
            <p:ph type="title" idx="4294967295"/>
          </p:nvPr>
        </p:nvSpPr>
        <p:spPr>
          <a:xfrm>
            <a:off x="35413" y="21550"/>
            <a:ext cx="8742000" cy="1306500"/>
          </a:xfrm>
          <a:prstGeom prst="rect">
            <a:avLst/>
          </a:prstGeom>
          <a:noFill/>
          <a:ln>
            <a:noFill/>
          </a:ln>
        </p:spPr>
        <p:txBody>
          <a:bodyPr spcFirstLastPara="1" wrap="square" lIns="91425" tIns="91425" rIns="91425" bIns="91425" anchor="t" anchorCtr="0">
            <a:normAutofit fontScale="90000"/>
          </a:bodyPr>
          <a:lstStyle/>
          <a:p>
            <a:pPr marL="0" lvl="0" indent="0" algn="l" rtl="0">
              <a:lnSpc>
                <a:spcPct val="100000"/>
              </a:lnSpc>
              <a:spcBef>
                <a:spcPts val="0"/>
              </a:spcBef>
              <a:spcAft>
                <a:spcPts val="0"/>
              </a:spcAft>
              <a:buClr>
                <a:schemeClr val="dk1"/>
              </a:buClr>
              <a:buSzPct val="44000"/>
              <a:buFont typeface="Arial"/>
              <a:buNone/>
            </a:pPr>
            <a:r>
              <a:rPr lang="en" sz="2500">
                <a:latin typeface="Lato Light"/>
                <a:ea typeface="Lato Light"/>
                <a:cs typeface="Lato Light"/>
                <a:sym typeface="Lato Light"/>
              </a:rPr>
              <a:t>To be able to monitor changes in lineage frequency, you want your dataset of sequences to be </a:t>
            </a:r>
            <a:r>
              <a:rPr lang="en" sz="2500" b="1">
                <a:latin typeface="Lato"/>
                <a:ea typeface="Lato"/>
                <a:cs typeface="Lato"/>
                <a:sym typeface="Lato"/>
              </a:rPr>
              <a:t>representative of the true underlying viral population</a:t>
            </a:r>
            <a:r>
              <a:rPr lang="en" sz="2500">
                <a:latin typeface="Lato Light"/>
                <a:ea typeface="Lato Light"/>
                <a:cs typeface="Lato Light"/>
                <a:sym typeface="Lato Light"/>
              </a:rPr>
              <a:t>.</a:t>
            </a:r>
            <a:endParaRPr sz="2000">
              <a:latin typeface="Lato Light"/>
              <a:ea typeface="Lato Light"/>
              <a:cs typeface="Lato Light"/>
              <a:sym typeface="Lato Light"/>
            </a:endParaRPr>
          </a:p>
        </p:txBody>
      </p:sp>
      <p:sp>
        <p:nvSpPr>
          <p:cNvPr id="250" name="Google Shape;250;p11"/>
          <p:cNvSpPr/>
          <p:nvPr/>
        </p:nvSpPr>
        <p:spPr>
          <a:xfrm>
            <a:off x="6039540" y="1640322"/>
            <a:ext cx="990900" cy="5457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11"/>
          <p:cNvSpPr/>
          <p:nvPr/>
        </p:nvSpPr>
        <p:spPr>
          <a:xfrm>
            <a:off x="5287270" y="2399387"/>
            <a:ext cx="1849800" cy="1717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2" name="Google Shape;252;p11"/>
          <p:cNvSpPr/>
          <p:nvPr/>
        </p:nvSpPr>
        <p:spPr>
          <a:xfrm>
            <a:off x="3883751" y="1471175"/>
            <a:ext cx="1607700" cy="9819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1"/>
          <p:cNvSpPr/>
          <p:nvPr/>
        </p:nvSpPr>
        <p:spPr>
          <a:xfrm>
            <a:off x="3511402" y="3281812"/>
            <a:ext cx="1607700" cy="8085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4" name="Google Shape;254;p11"/>
          <p:cNvSpPr/>
          <p:nvPr/>
        </p:nvSpPr>
        <p:spPr>
          <a:xfrm>
            <a:off x="1675777" y="1648386"/>
            <a:ext cx="1607700" cy="1770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5" name="Google Shape;255;p11"/>
          <p:cNvSpPr/>
          <p:nvPr/>
        </p:nvSpPr>
        <p:spPr>
          <a:xfrm>
            <a:off x="1942376" y="2066823"/>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6" name="Google Shape;256;p11"/>
          <p:cNvSpPr/>
          <p:nvPr/>
        </p:nvSpPr>
        <p:spPr>
          <a:xfrm>
            <a:off x="2425580" y="2472181"/>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7" name="Google Shape;257;p11"/>
          <p:cNvSpPr/>
          <p:nvPr/>
        </p:nvSpPr>
        <p:spPr>
          <a:xfrm>
            <a:off x="2589087" y="182065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8" name="Google Shape;258;p11"/>
          <p:cNvSpPr/>
          <p:nvPr/>
        </p:nvSpPr>
        <p:spPr>
          <a:xfrm>
            <a:off x="2017263" y="283531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9" name="Google Shape;259;p11"/>
          <p:cNvSpPr/>
          <p:nvPr/>
        </p:nvSpPr>
        <p:spPr>
          <a:xfrm>
            <a:off x="3822095" y="3729007"/>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0" name="Google Shape;260;p11"/>
          <p:cNvSpPr/>
          <p:nvPr/>
        </p:nvSpPr>
        <p:spPr>
          <a:xfrm>
            <a:off x="4321171" y="206681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1" name="Google Shape;261;p11"/>
          <p:cNvSpPr/>
          <p:nvPr/>
        </p:nvSpPr>
        <p:spPr>
          <a:xfrm>
            <a:off x="2547805" y="290368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2" name="Google Shape;262;p11"/>
          <p:cNvSpPr/>
          <p:nvPr/>
        </p:nvSpPr>
        <p:spPr>
          <a:xfrm>
            <a:off x="2858774" y="250544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3" name="Google Shape;263;p11"/>
          <p:cNvSpPr/>
          <p:nvPr/>
        </p:nvSpPr>
        <p:spPr>
          <a:xfrm>
            <a:off x="4755537" y="206681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4" name="Google Shape;264;p11"/>
          <p:cNvSpPr/>
          <p:nvPr/>
        </p:nvSpPr>
        <p:spPr>
          <a:xfrm>
            <a:off x="4172431" y="1820666"/>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5" name="Google Shape;265;p11"/>
          <p:cNvSpPr/>
          <p:nvPr/>
        </p:nvSpPr>
        <p:spPr>
          <a:xfrm>
            <a:off x="4947232" y="163551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6" name="Google Shape;266;p11"/>
          <p:cNvSpPr/>
          <p:nvPr/>
        </p:nvSpPr>
        <p:spPr>
          <a:xfrm>
            <a:off x="4129476" y="3487090"/>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7" name="Google Shape;267;p11"/>
          <p:cNvSpPr/>
          <p:nvPr/>
        </p:nvSpPr>
        <p:spPr>
          <a:xfrm>
            <a:off x="5789295" y="303845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8" name="Google Shape;268;p11"/>
          <p:cNvSpPr/>
          <p:nvPr/>
        </p:nvSpPr>
        <p:spPr>
          <a:xfrm>
            <a:off x="4555717" y="3728999"/>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69" name="Google Shape;269;p11"/>
          <p:cNvSpPr/>
          <p:nvPr/>
        </p:nvSpPr>
        <p:spPr>
          <a:xfrm>
            <a:off x="6681076" y="329196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0" name="Google Shape;270;p11"/>
          <p:cNvSpPr/>
          <p:nvPr/>
        </p:nvSpPr>
        <p:spPr>
          <a:xfrm>
            <a:off x="6355754" y="299706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1"/>
          <p:cNvSpPr/>
          <p:nvPr/>
        </p:nvSpPr>
        <p:spPr>
          <a:xfrm>
            <a:off x="6164059" y="252344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2" name="Google Shape;272;p11"/>
          <p:cNvSpPr/>
          <p:nvPr/>
        </p:nvSpPr>
        <p:spPr>
          <a:xfrm>
            <a:off x="5750687" y="267531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3" name="Google Shape;273;p11"/>
          <p:cNvSpPr/>
          <p:nvPr/>
        </p:nvSpPr>
        <p:spPr>
          <a:xfrm>
            <a:off x="6599978" y="1820666"/>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4" name="Google Shape;274;p11"/>
          <p:cNvSpPr/>
          <p:nvPr/>
        </p:nvSpPr>
        <p:spPr>
          <a:xfrm>
            <a:off x="6302448" y="182065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275" name="Google Shape;275;p11"/>
          <p:cNvCxnSpPr>
            <a:endCxn id="256" idx="0"/>
          </p:cNvCxnSpPr>
          <p:nvPr/>
        </p:nvCxnSpPr>
        <p:spPr>
          <a:xfrm>
            <a:off x="2106230" y="2224981"/>
            <a:ext cx="415200" cy="247200"/>
          </a:xfrm>
          <a:prstGeom prst="curvedConnector2">
            <a:avLst/>
          </a:prstGeom>
          <a:noFill/>
          <a:ln w="38100" cap="flat" cmpd="sng">
            <a:solidFill>
              <a:srgbClr val="990000"/>
            </a:solidFill>
            <a:prstDash val="solid"/>
            <a:round/>
            <a:headEnd type="none" w="sm" len="sm"/>
            <a:tailEnd type="triangle" w="med" len="med"/>
          </a:ln>
        </p:spPr>
      </p:cxnSp>
      <p:cxnSp>
        <p:nvCxnSpPr>
          <p:cNvPr id="276" name="Google Shape;276;p11"/>
          <p:cNvCxnSpPr>
            <a:endCxn id="261" idx="2"/>
          </p:cNvCxnSpPr>
          <p:nvPr/>
        </p:nvCxnSpPr>
        <p:spPr>
          <a:xfrm rot="-5400000" flipH="1">
            <a:off x="2336455" y="2784888"/>
            <a:ext cx="351900" cy="70800"/>
          </a:xfrm>
          <a:prstGeom prst="curvedConnector2">
            <a:avLst/>
          </a:prstGeom>
          <a:noFill/>
          <a:ln w="38100" cap="flat" cmpd="sng">
            <a:solidFill>
              <a:srgbClr val="990000"/>
            </a:solidFill>
            <a:prstDash val="solid"/>
            <a:round/>
            <a:headEnd type="none" w="sm" len="sm"/>
            <a:tailEnd type="triangle" w="med" len="med"/>
          </a:ln>
        </p:spPr>
      </p:cxnSp>
      <p:cxnSp>
        <p:nvCxnSpPr>
          <p:cNvPr id="277" name="Google Shape;277;p11"/>
          <p:cNvCxnSpPr>
            <a:stCxn id="261" idx="7"/>
            <a:endCxn id="262" idx="5"/>
          </p:cNvCxnSpPr>
          <p:nvPr/>
        </p:nvCxnSpPr>
        <p:spPr>
          <a:xfrm rot="-5400000">
            <a:off x="2733331" y="2641595"/>
            <a:ext cx="267300" cy="311100"/>
          </a:xfrm>
          <a:prstGeom prst="curvedConnector3">
            <a:avLst>
              <a:gd name="adj1" fmla="val 49989"/>
            </a:avLst>
          </a:prstGeom>
          <a:noFill/>
          <a:ln w="38100" cap="flat" cmpd="sng">
            <a:solidFill>
              <a:srgbClr val="990000"/>
            </a:solidFill>
            <a:prstDash val="solid"/>
            <a:round/>
            <a:headEnd type="none" w="sm" len="sm"/>
            <a:tailEnd type="triangle" w="med" len="med"/>
          </a:ln>
        </p:spPr>
      </p:cxnSp>
      <p:cxnSp>
        <p:nvCxnSpPr>
          <p:cNvPr id="278" name="Google Shape;278;p11"/>
          <p:cNvCxnSpPr>
            <a:endCxn id="264" idx="2"/>
          </p:cNvCxnSpPr>
          <p:nvPr/>
        </p:nvCxnSpPr>
        <p:spPr>
          <a:xfrm rot="10800000" flipH="1">
            <a:off x="3047131" y="1913216"/>
            <a:ext cx="1125300" cy="568500"/>
          </a:xfrm>
          <a:prstGeom prst="curvedConnector3">
            <a:avLst>
              <a:gd name="adj1" fmla="val 50000"/>
            </a:avLst>
          </a:prstGeom>
          <a:noFill/>
          <a:ln w="38100" cap="flat" cmpd="sng">
            <a:solidFill>
              <a:srgbClr val="990000"/>
            </a:solidFill>
            <a:prstDash val="dot"/>
            <a:round/>
            <a:headEnd type="none" w="sm" len="sm"/>
            <a:tailEnd type="triangle" w="med" len="med"/>
          </a:ln>
        </p:spPr>
      </p:cxnSp>
      <p:cxnSp>
        <p:nvCxnSpPr>
          <p:cNvPr id="279" name="Google Shape;279;p11"/>
          <p:cNvCxnSpPr>
            <a:stCxn id="269" idx="2"/>
            <a:endCxn id="267" idx="6"/>
          </p:cNvCxnSpPr>
          <p:nvPr/>
        </p:nvCxnSpPr>
        <p:spPr>
          <a:xfrm rot="10800000">
            <a:off x="5980876" y="3131018"/>
            <a:ext cx="700200" cy="253500"/>
          </a:xfrm>
          <a:prstGeom prst="curvedConnector3">
            <a:avLst>
              <a:gd name="adj1" fmla="val 50013"/>
            </a:avLst>
          </a:prstGeom>
          <a:noFill/>
          <a:ln w="38100" cap="flat" cmpd="sng">
            <a:solidFill>
              <a:srgbClr val="F1C232"/>
            </a:solidFill>
            <a:prstDash val="solid"/>
            <a:round/>
            <a:headEnd type="none" w="sm" len="sm"/>
            <a:tailEnd type="triangle" w="med" len="med"/>
          </a:ln>
        </p:spPr>
      </p:cxnSp>
      <p:cxnSp>
        <p:nvCxnSpPr>
          <p:cNvPr id="280" name="Google Shape;280;p11"/>
          <p:cNvCxnSpPr>
            <a:endCxn id="271" idx="4"/>
          </p:cNvCxnSpPr>
          <p:nvPr/>
        </p:nvCxnSpPr>
        <p:spPr>
          <a:xfrm rot="10800000" flipH="1">
            <a:off x="5884309" y="2708548"/>
            <a:ext cx="375600" cy="318900"/>
          </a:xfrm>
          <a:prstGeom prst="curvedConnector2">
            <a:avLst/>
          </a:prstGeom>
          <a:noFill/>
          <a:ln w="38100" cap="flat" cmpd="sng">
            <a:solidFill>
              <a:srgbClr val="F1C232"/>
            </a:solidFill>
            <a:prstDash val="solid"/>
            <a:round/>
            <a:headEnd type="none" w="sm" len="sm"/>
            <a:tailEnd type="triangle" w="med" len="med"/>
          </a:ln>
        </p:spPr>
      </p:cxnSp>
      <p:sp>
        <p:nvSpPr>
          <p:cNvPr id="281" name="Google Shape;281;p11"/>
          <p:cNvSpPr txBox="1">
            <a:spLocks noGrp="1"/>
          </p:cNvSpPr>
          <p:nvPr>
            <p:ph type="title" idx="4294967295"/>
          </p:nvPr>
        </p:nvSpPr>
        <p:spPr>
          <a:xfrm>
            <a:off x="1472875" y="4173500"/>
            <a:ext cx="5867100" cy="66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990"/>
              <a:buFont typeface="Arial"/>
              <a:buNone/>
            </a:pPr>
            <a:r>
              <a:rPr lang="en" sz="1840">
                <a:latin typeface="Lato Light"/>
                <a:ea typeface="Lato Light"/>
                <a:cs typeface="Lato Light"/>
                <a:sym typeface="Lato Light"/>
              </a:rPr>
              <a:t>In a structured population, you need to make sure you’re not missing pockets of infections/viral diversity.</a:t>
            </a:r>
            <a:endParaRPr sz="1840">
              <a:latin typeface="Lato Light"/>
              <a:ea typeface="Lato Light"/>
              <a:cs typeface="Lato Light"/>
              <a:sym typeface="Lato Light"/>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12"/>
          <p:cNvSpPr txBox="1">
            <a:spLocks noGrp="1"/>
          </p:cNvSpPr>
          <p:nvPr>
            <p:ph type="title" idx="4294967295"/>
          </p:nvPr>
        </p:nvSpPr>
        <p:spPr>
          <a:xfrm>
            <a:off x="0" y="0"/>
            <a:ext cx="9144000" cy="1388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In this case, “how much should you sequence?” is typically related to what lineage frequency you want to be able to detect.</a:t>
            </a:r>
            <a:endParaRPr>
              <a:latin typeface="Lato Light"/>
              <a:ea typeface="Lato Light"/>
              <a:cs typeface="Lato Light"/>
              <a:sym typeface="Lato Light"/>
            </a:endParaRPr>
          </a:p>
        </p:txBody>
      </p:sp>
      <p:sp>
        <p:nvSpPr>
          <p:cNvPr id="287" name="Google Shape;287;p12"/>
          <p:cNvSpPr/>
          <p:nvPr/>
        </p:nvSpPr>
        <p:spPr>
          <a:xfrm>
            <a:off x="214295" y="2265219"/>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8" name="Google Shape;288;p12"/>
          <p:cNvSpPr/>
          <p:nvPr/>
        </p:nvSpPr>
        <p:spPr>
          <a:xfrm>
            <a:off x="108750" y="3099498"/>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9" name="Google Shape;289;p12"/>
          <p:cNvSpPr/>
          <p:nvPr/>
        </p:nvSpPr>
        <p:spPr>
          <a:xfrm>
            <a:off x="760719" y="2049865"/>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12"/>
          <p:cNvSpPr/>
          <p:nvPr/>
        </p:nvSpPr>
        <p:spPr>
          <a:xfrm>
            <a:off x="460600" y="3567158"/>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1" name="Google Shape;291;p12"/>
          <p:cNvSpPr/>
          <p:nvPr/>
        </p:nvSpPr>
        <p:spPr>
          <a:xfrm>
            <a:off x="1781402" y="3529289"/>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2" name="Google Shape;292;p12"/>
          <p:cNvSpPr/>
          <p:nvPr/>
        </p:nvSpPr>
        <p:spPr>
          <a:xfrm>
            <a:off x="1781402" y="2937521"/>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3" name="Google Shape;293;p12"/>
          <p:cNvSpPr/>
          <p:nvPr/>
        </p:nvSpPr>
        <p:spPr>
          <a:xfrm>
            <a:off x="1479067" y="226521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4" name="Google Shape;294;p12"/>
          <p:cNvSpPr/>
          <p:nvPr/>
        </p:nvSpPr>
        <p:spPr>
          <a:xfrm>
            <a:off x="1143455" y="3099490"/>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5" name="Google Shape;295;p12"/>
          <p:cNvSpPr/>
          <p:nvPr/>
        </p:nvSpPr>
        <p:spPr>
          <a:xfrm>
            <a:off x="2506849" y="269796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6" name="Google Shape;296;p12"/>
          <p:cNvSpPr/>
          <p:nvPr/>
        </p:nvSpPr>
        <p:spPr>
          <a:xfrm>
            <a:off x="2098532" y="204987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7" name="Google Shape;297;p12"/>
          <p:cNvSpPr/>
          <p:nvPr/>
        </p:nvSpPr>
        <p:spPr>
          <a:xfrm>
            <a:off x="2753183" y="1887895"/>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8" name="Google Shape;298;p12"/>
          <p:cNvSpPr/>
          <p:nvPr/>
        </p:nvSpPr>
        <p:spPr>
          <a:xfrm>
            <a:off x="2506849" y="3240223"/>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12"/>
          <p:cNvSpPr/>
          <p:nvPr/>
        </p:nvSpPr>
        <p:spPr>
          <a:xfrm>
            <a:off x="3109551" y="233871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0" name="Google Shape;300;p12"/>
          <p:cNvSpPr/>
          <p:nvPr/>
        </p:nvSpPr>
        <p:spPr>
          <a:xfrm>
            <a:off x="3228783" y="3269229"/>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12"/>
          <p:cNvSpPr/>
          <p:nvPr/>
        </p:nvSpPr>
        <p:spPr>
          <a:xfrm>
            <a:off x="4165421" y="3627000"/>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2" name="Google Shape;302;p12"/>
          <p:cNvSpPr/>
          <p:nvPr/>
        </p:nvSpPr>
        <p:spPr>
          <a:xfrm>
            <a:off x="4165421" y="303523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3" name="Google Shape;303;p12"/>
          <p:cNvSpPr/>
          <p:nvPr/>
        </p:nvSpPr>
        <p:spPr>
          <a:xfrm>
            <a:off x="3947568" y="204987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2"/>
          <p:cNvSpPr/>
          <p:nvPr/>
        </p:nvSpPr>
        <p:spPr>
          <a:xfrm>
            <a:off x="3654183" y="261984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05" name="Google Shape;305;p12"/>
          <p:cNvCxnSpPr>
            <a:stCxn id="287" idx="5"/>
            <a:endCxn id="294" idx="0"/>
          </p:cNvCxnSpPr>
          <p:nvPr/>
        </p:nvCxnSpPr>
        <p:spPr>
          <a:xfrm rot="-5400000" flipH="1">
            <a:off x="440471" y="2315595"/>
            <a:ext cx="696000" cy="871800"/>
          </a:xfrm>
          <a:prstGeom prst="curvedConnector3">
            <a:avLst>
              <a:gd name="adj1" fmla="val 51707"/>
            </a:avLst>
          </a:prstGeom>
          <a:noFill/>
          <a:ln w="38100" cap="flat" cmpd="sng">
            <a:solidFill>
              <a:srgbClr val="990000"/>
            </a:solidFill>
            <a:prstDash val="solid"/>
            <a:round/>
            <a:headEnd type="none" w="sm" len="sm"/>
            <a:tailEnd type="triangle" w="med" len="med"/>
          </a:ln>
        </p:spPr>
      </p:cxnSp>
      <p:cxnSp>
        <p:nvCxnSpPr>
          <p:cNvPr id="306" name="Google Shape;306;p12"/>
          <p:cNvCxnSpPr>
            <a:endCxn id="298" idx="2"/>
          </p:cNvCxnSpPr>
          <p:nvPr/>
        </p:nvCxnSpPr>
        <p:spPr>
          <a:xfrm>
            <a:off x="1313749" y="3197323"/>
            <a:ext cx="1193100" cy="123900"/>
          </a:xfrm>
          <a:prstGeom prst="curvedConnector3">
            <a:avLst>
              <a:gd name="adj1" fmla="val 50000"/>
            </a:avLst>
          </a:prstGeom>
          <a:noFill/>
          <a:ln w="38100" cap="flat" cmpd="sng">
            <a:solidFill>
              <a:srgbClr val="990000"/>
            </a:solidFill>
            <a:prstDash val="solid"/>
            <a:round/>
            <a:headEnd type="none" w="sm" len="sm"/>
            <a:tailEnd type="triangle" w="med" len="med"/>
          </a:ln>
        </p:spPr>
      </p:cxnSp>
      <p:cxnSp>
        <p:nvCxnSpPr>
          <p:cNvPr id="307" name="Google Shape;307;p12"/>
          <p:cNvCxnSpPr>
            <a:stCxn id="298" idx="6"/>
            <a:endCxn id="303" idx="2"/>
          </p:cNvCxnSpPr>
          <p:nvPr/>
        </p:nvCxnSpPr>
        <p:spPr>
          <a:xfrm rot="10800000" flipH="1">
            <a:off x="2668849" y="2130823"/>
            <a:ext cx="1278600" cy="1190400"/>
          </a:xfrm>
          <a:prstGeom prst="curvedConnector3">
            <a:avLst>
              <a:gd name="adj1" fmla="val 49999"/>
            </a:avLst>
          </a:prstGeom>
          <a:noFill/>
          <a:ln w="38100" cap="flat" cmpd="sng">
            <a:solidFill>
              <a:srgbClr val="990000"/>
            </a:solidFill>
            <a:prstDash val="solid"/>
            <a:round/>
            <a:headEnd type="none" w="sm" len="sm"/>
            <a:tailEnd type="triangle" w="med" len="med"/>
          </a:ln>
        </p:spPr>
      </p:cxnSp>
      <p:cxnSp>
        <p:nvCxnSpPr>
          <p:cNvPr id="308" name="Google Shape;308;p12"/>
          <p:cNvCxnSpPr>
            <a:stCxn id="301" idx="0"/>
            <a:endCxn id="302" idx="6"/>
          </p:cNvCxnSpPr>
          <p:nvPr/>
        </p:nvCxnSpPr>
        <p:spPr>
          <a:xfrm rot="-5400000">
            <a:off x="4031471" y="3331050"/>
            <a:ext cx="510900" cy="81000"/>
          </a:xfrm>
          <a:prstGeom prst="curvedConnector4">
            <a:avLst>
              <a:gd name="adj1" fmla="val 42075"/>
              <a:gd name="adj2" fmla="val 271436"/>
            </a:avLst>
          </a:prstGeom>
          <a:noFill/>
          <a:ln w="38100" cap="flat" cmpd="sng">
            <a:solidFill>
              <a:srgbClr val="F1C232"/>
            </a:solidFill>
            <a:prstDash val="solid"/>
            <a:round/>
            <a:headEnd type="none" w="sm" len="sm"/>
            <a:tailEnd type="triangle" w="med" len="med"/>
          </a:ln>
        </p:spPr>
      </p:cxnSp>
      <p:cxnSp>
        <p:nvCxnSpPr>
          <p:cNvPr id="309" name="Google Shape;309;p12"/>
          <p:cNvCxnSpPr>
            <a:stCxn id="302" idx="2"/>
            <a:endCxn id="295" idx="6"/>
          </p:cNvCxnSpPr>
          <p:nvPr/>
        </p:nvCxnSpPr>
        <p:spPr>
          <a:xfrm rot="10800000">
            <a:off x="2668721" y="2779032"/>
            <a:ext cx="1496700" cy="337200"/>
          </a:xfrm>
          <a:prstGeom prst="curvedConnector3">
            <a:avLst>
              <a:gd name="adj1" fmla="val 50002"/>
            </a:avLst>
          </a:prstGeom>
          <a:noFill/>
          <a:ln w="38100" cap="flat" cmpd="sng">
            <a:solidFill>
              <a:srgbClr val="F1C232"/>
            </a:solidFill>
            <a:prstDash val="solid"/>
            <a:round/>
            <a:headEnd type="none" w="sm" len="sm"/>
            <a:tailEnd type="triangle" w="med" len="med"/>
          </a:ln>
        </p:spPr>
      </p:cxnSp>
      <p:cxnSp>
        <p:nvCxnSpPr>
          <p:cNvPr id="310" name="Google Shape;310;p12"/>
          <p:cNvCxnSpPr>
            <a:endCxn id="289" idx="5"/>
          </p:cNvCxnSpPr>
          <p:nvPr/>
        </p:nvCxnSpPr>
        <p:spPr>
          <a:xfrm rot="10800000">
            <a:off x="898995" y="2188141"/>
            <a:ext cx="1607700" cy="599700"/>
          </a:xfrm>
          <a:prstGeom prst="curvedConnector2">
            <a:avLst/>
          </a:prstGeom>
          <a:noFill/>
          <a:ln w="38100" cap="flat" cmpd="sng">
            <a:solidFill>
              <a:srgbClr val="F1C232"/>
            </a:solidFill>
            <a:prstDash val="solid"/>
            <a:round/>
            <a:headEnd type="none" w="sm" len="sm"/>
            <a:tailEnd type="triangle" w="med" len="med"/>
          </a:ln>
        </p:spPr>
      </p:cxnSp>
      <p:sp>
        <p:nvSpPr>
          <p:cNvPr id="311" name="Google Shape;311;p12"/>
          <p:cNvSpPr/>
          <p:nvPr/>
        </p:nvSpPr>
        <p:spPr>
          <a:xfrm>
            <a:off x="8093100" y="2060329"/>
            <a:ext cx="727200" cy="4005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2" name="Google Shape;312;p12"/>
          <p:cNvSpPr/>
          <p:nvPr/>
        </p:nvSpPr>
        <p:spPr>
          <a:xfrm>
            <a:off x="7541045" y="2617369"/>
            <a:ext cx="1357500" cy="1260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3" name="Google Shape;313;p12"/>
          <p:cNvSpPr/>
          <p:nvPr/>
        </p:nvSpPr>
        <p:spPr>
          <a:xfrm>
            <a:off x="6511073" y="1936200"/>
            <a:ext cx="1179900" cy="720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4" name="Google Shape;314;p12"/>
          <p:cNvSpPr/>
          <p:nvPr/>
        </p:nvSpPr>
        <p:spPr>
          <a:xfrm>
            <a:off x="6237824" y="3264938"/>
            <a:ext cx="1179900" cy="5934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12"/>
          <p:cNvSpPr/>
          <p:nvPr/>
        </p:nvSpPr>
        <p:spPr>
          <a:xfrm>
            <a:off x="4890750" y="2066247"/>
            <a:ext cx="1179900" cy="12993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6" name="Google Shape;316;p12"/>
          <p:cNvSpPr/>
          <p:nvPr/>
        </p:nvSpPr>
        <p:spPr>
          <a:xfrm>
            <a:off x="5086394" y="2373317"/>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12"/>
          <p:cNvSpPr/>
          <p:nvPr/>
        </p:nvSpPr>
        <p:spPr>
          <a:xfrm>
            <a:off x="5440994" y="2670789"/>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8" name="Google Shape;318;p12"/>
          <p:cNvSpPr/>
          <p:nvPr/>
        </p:nvSpPr>
        <p:spPr>
          <a:xfrm>
            <a:off x="5560983" y="2192669"/>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9" name="Google Shape;319;p12"/>
          <p:cNvSpPr/>
          <p:nvPr/>
        </p:nvSpPr>
        <p:spPr>
          <a:xfrm>
            <a:off x="5141350" y="2937278"/>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12"/>
          <p:cNvSpPr/>
          <p:nvPr/>
        </p:nvSpPr>
        <p:spPr>
          <a:xfrm>
            <a:off x="6465827" y="3593112"/>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1" name="Google Shape;321;p12"/>
          <p:cNvSpPr/>
          <p:nvPr/>
        </p:nvSpPr>
        <p:spPr>
          <a:xfrm>
            <a:off x="6832074" y="237331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12"/>
          <p:cNvSpPr/>
          <p:nvPr/>
        </p:nvSpPr>
        <p:spPr>
          <a:xfrm>
            <a:off x="5530688" y="298745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3" name="Google Shape;323;p12"/>
          <p:cNvSpPr/>
          <p:nvPr/>
        </p:nvSpPr>
        <p:spPr>
          <a:xfrm>
            <a:off x="5758893" y="2695200"/>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4" name="Google Shape;324;p12"/>
          <p:cNvSpPr/>
          <p:nvPr/>
        </p:nvSpPr>
        <p:spPr>
          <a:xfrm>
            <a:off x="7150834" y="237331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5" name="Google Shape;325;p12"/>
          <p:cNvSpPr/>
          <p:nvPr/>
        </p:nvSpPr>
        <p:spPr>
          <a:xfrm>
            <a:off x="6722921" y="2192675"/>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6" name="Google Shape;326;p12"/>
          <p:cNvSpPr/>
          <p:nvPr/>
        </p:nvSpPr>
        <p:spPr>
          <a:xfrm>
            <a:off x="7291509" y="2056802"/>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7" name="Google Shape;327;p12"/>
          <p:cNvSpPr/>
          <p:nvPr/>
        </p:nvSpPr>
        <p:spPr>
          <a:xfrm>
            <a:off x="6691398" y="341558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8" name="Google Shape;328;p12"/>
          <p:cNvSpPr/>
          <p:nvPr/>
        </p:nvSpPr>
        <p:spPr>
          <a:xfrm>
            <a:off x="7909457" y="3086350"/>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9" name="Google Shape;329;p12"/>
          <p:cNvSpPr/>
          <p:nvPr/>
        </p:nvSpPr>
        <p:spPr>
          <a:xfrm>
            <a:off x="7004196" y="3593106"/>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0" name="Google Shape;330;p12"/>
          <p:cNvSpPr/>
          <p:nvPr/>
        </p:nvSpPr>
        <p:spPr>
          <a:xfrm>
            <a:off x="8563891" y="3272390"/>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1" name="Google Shape;331;p12"/>
          <p:cNvSpPr/>
          <p:nvPr/>
        </p:nvSpPr>
        <p:spPr>
          <a:xfrm>
            <a:off x="8325153" y="3055978"/>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12"/>
          <p:cNvSpPr/>
          <p:nvPr/>
        </p:nvSpPr>
        <p:spPr>
          <a:xfrm>
            <a:off x="8184478" y="2708412"/>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3" name="Google Shape;333;p12"/>
          <p:cNvSpPr/>
          <p:nvPr/>
        </p:nvSpPr>
        <p:spPr>
          <a:xfrm>
            <a:off x="7881125" y="281986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12"/>
          <p:cNvSpPr/>
          <p:nvPr/>
        </p:nvSpPr>
        <p:spPr>
          <a:xfrm>
            <a:off x="8504377" y="2192675"/>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5" name="Google Shape;335;p12"/>
          <p:cNvSpPr/>
          <p:nvPr/>
        </p:nvSpPr>
        <p:spPr>
          <a:xfrm>
            <a:off x="8286034" y="2192669"/>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336" name="Google Shape;336;p12"/>
          <p:cNvCxnSpPr>
            <a:endCxn id="317" idx="0"/>
          </p:cNvCxnSpPr>
          <p:nvPr/>
        </p:nvCxnSpPr>
        <p:spPr>
          <a:xfrm>
            <a:off x="5206544" y="2489289"/>
            <a:ext cx="304800" cy="181500"/>
          </a:xfrm>
          <a:prstGeom prst="curvedConnector2">
            <a:avLst/>
          </a:prstGeom>
          <a:noFill/>
          <a:ln w="38100" cap="flat" cmpd="sng">
            <a:solidFill>
              <a:srgbClr val="990000"/>
            </a:solidFill>
            <a:prstDash val="solid"/>
            <a:round/>
            <a:headEnd type="none" w="sm" len="sm"/>
            <a:tailEnd type="triangle" w="med" len="med"/>
          </a:ln>
        </p:spPr>
      </p:cxnSp>
      <p:cxnSp>
        <p:nvCxnSpPr>
          <p:cNvPr id="337" name="Google Shape;337;p12"/>
          <p:cNvCxnSpPr>
            <a:endCxn id="322" idx="2"/>
          </p:cNvCxnSpPr>
          <p:nvPr/>
        </p:nvCxnSpPr>
        <p:spPr>
          <a:xfrm rot="-5400000" flipH="1">
            <a:off x="5375588" y="2900301"/>
            <a:ext cx="258300" cy="51900"/>
          </a:xfrm>
          <a:prstGeom prst="curvedConnector2">
            <a:avLst/>
          </a:prstGeom>
          <a:noFill/>
          <a:ln w="38100" cap="flat" cmpd="sng">
            <a:solidFill>
              <a:srgbClr val="990000"/>
            </a:solidFill>
            <a:prstDash val="solid"/>
            <a:round/>
            <a:headEnd type="none" w="sm" len="sm"/>
            <a:tailEnd type="triangle" w="med" len="med"/>
          </a:ln>
        </p:spPr>
      </p:cxnSp>
      <p:cxnSp>
        <p:nvCxnSpPr>
          <p:cNvPr id="338" name="Google Shape;338;p12"/>
          <p:cNvCxnSpPr>
            <a:stCxn id="322" idx="7"/>
            <a:endCxn id="323" idx="5"/>
          </p:cNvCxnSpPr>
          <p:nvPr/>
        </p:nvCxnSpPr>
        <p:spPr>
          <a:xfrm rot="-5400000">
            <a:off x="5666833" y="2795103"/>
            <a:ext cx="196200" cy="228300"/>
          </a:xfrm>
          <a:prstGeom prst="curvedConnector3">
            <a:avLst>
              <a:gd name="adj1" fmla="val 50002"/>
            </a:avLst>
          </a:prstGeom>
          <a:noFill/>
          <a:ln w="38100" cap="flat" cmpd="sng">
            <a:solidFill>
              <a:srgbClr val="990000"/>
            </a:solidFill>
            <a:prstDash val="solid"/>
            <a:round/>
            <a:headEnd type="none" w="sm" len="sm"/>
            <a:tailEnd type="triangle" w="med" len="med"/>
          </a:ln>
        </p:spPr>
      </p:cxnSp>
      <p:cxnSp>
        <p:nvCxnSpPr>
          <p:cNvPr id="339" name="Google Shape;339;p12"/>
          <p:cNvCxnSpPr>
            <a:endCxn id="325" idx="2"/>
          </p:cNvCxnSpPr>
          <p:nvPr/>
        </p:nvCxnSpPr>
        <p:spPr>
          <a:xfrm rot="10800000" flipH="1">
            <a:off x="5897021" y="2260625"/>
            <a:ext cx="825900" cy="417300"/>
          </a:xfrm>
          <a:prstGeom prst="curvedConnector3">
            <a:avLst>
              <a:gd name="adj1" fmla="val 50000"/>
            </a:avLst>
          </a:prstGeom>
          <a:noFill/>
          <a:ln w="38100" cap="flat" cmpd="sng">
            <a:solidFill>
              <a:srgbClr val="990000"/>
            </a:solidFill>
            <a:prstDash val="dot"/>
            <a:round/>
            <a:headEnd type="none" w="sm" len="sm"/>
            <a:tailEnd type="triangle" w="med" len="med"/>
          </a:ln>
        </p:spPr>
      </p:cxnSp>
      <p:cxnSp>
        <p:nvCxnSpPr>
          <p:cNvPr id="340" name="Google Shape;340;p12"/>
          <p:cNvCxnSpPr>
            <a:stCxn id="330" idx="2"/>
            <a:endCxn id="328" idx="6"/>
          </p:cNvCxnSpPr>
          <p:nvPr/>
        </p:nvCxnSpPr>
        <p:spPr>
          <a:xfrm rot="10800000">
            <a:off x="8050291" y="3154340"/>
            <a:ext cx="513600" cy="186000"/>
          </a:xfrm>
          <a:prstGeom prst="curvedConnector3">
            <a:avLst>
              <a:gd name="adj1" fmla="val 49998"/>
            </a:avLst>
          </a:prstGeom>
          <a:noFill/>
          <a:ln w="38100" cap="flat" cmpd="sng">
            <a:solidFill>
              <a:srgbClr val="F1C232"/>
            </a:solidFill>
            <a:prstDash val="solid"/>
            <a:round/>
            <a:headEnd type="none" w="sm" len="sm"/>
            <a:tailEnd type="triangle" w="med" len="med"/>
          </a:ln>
        </p:spPr>
      </p:cxnSp>
      <p:cxnSp>
        <p:nvCxnSpPr>
          <p:cNvPr id="341" name="Google Shape;341;p12"/>
          <p:cNvCxnSpPr>
            <a:endCxn id="332" idx="4"/>
          </p:cNvCxnSpPr>
          <p:nvPr/>
        </p:nvCxnSpPr>
        <p:spPr>
          <a:xfrm rot="10800000" flipH="1">
            <a:off x="7979128" y="2844312"/>
            <a:ext cx="275700" cy="234000"/>
          </a:xfrm>
          <a:prstGeom prst="curvedConnector2">
            <a:avLst/>
          </a:prstGeom>
          <a:noFill/>
          <a:ln w="38100" cap="flat" cmpd="sng">
            <a:solidFill>
              <a:srgbClr val="F1C232"/>
            </a:solidFill>
            <a:prstDash val="solid"/>
            <a:round/>
            <a:headEnd type="none" w="sm" len="sm"/>
            <a:tailEnd type="triangle" w="med" len="med"/>
          </a:ln>
        </p:spPr>
      </p:cxnSp>
      <p:cxnSp>
        <p:nvCxnSpPr>
          <p:cNvPr id="342" name="Google Shape;342;p12"/>
          <p:cNvCxnSpPr/>
          <p:nvPr/>
        </p:nvCxnSpPr>
        <p:spPr>
          <a:xfrm>
            <a:off x="4700525" y="1815450"/>
            <a:ext cx="0" cy="242700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346"/>
        <p:cNvGrpSpPr/>
        <p:nvPr/>
      </p:nvGrpSpPr>
      <p:grpSpPr>
        <a:xfrm>
          <a:off x="0" y="0"/>
          <a:ext cx="0" cy="0"/>
          <a:chOff x="0" y="0"/>
          <a:chExt cx="0" cy="0"/>
        </a:xfrm>
      </p:grpSpPr>
      <p:sp>
        <p:nvSpPr>
          <p:cNvPr id="347" name="Google Shape;347;p13"/>
          <p:cNvSpPr txBox="1">
            <a:spLocks noGrp="1"/>
          </p:cNvSpPr>
          <p:nvPr>
            <p:ph type="title"/>
          </p:nvPr>
        </p:nvSpPr>
        <p:spPr>
          <a:xfrm>
            <a:off x="311700" y="1915500"/>
            <a:ext cx="8757900" cy="1312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Part 2</a:t>
            </a:r>
            <a:r>
              <a:rPr lang="en">
                <a:solidFill>
                  <a:schemeClr val="lt1"/>
                </a:solidFill>
                <a:latin typeface="Lato"/>
                <a:ea typeface="Lato"/>
                <a:cs typeface="Lato"/>
                <a:sym typeface="Lato"/>
              </a:rPr>
              <a:t> - Sampling design for phylogeographic studies.</a:t>
            </a:r>
            <a:endParaRPr>
              <a:solidFill>
                <a:schemeClr val="lt1"/>
              </a:solidFill>
              <a:latin typeface="Lato"/>
              <a:ea typeface="Lato"/>
              <a:cs typeface="Lato"/>
              <a:sym typeface="Lato"/>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14"/>
          <p:cNvSpPr txBox="1"/>
          <p:nvPr/>
        </p:nvSpPr>
        <p:spPr>
          <a:xfrm>
            <a:off x="7650075" y="4753200"/>
            <a:ext cx="1667700" cy="3903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Lato"/>
                <a:ea typeface="Lato"/>
                <a:cs typeface="Lato"/>
                <a:sym typeface="Lato"/>
              </a:rPr>
              <a:t>Faria et al, 2017</a:t>
            </a:r>
            <a:endParaRPr sz="1400" b="1" i="0" u="none" strike="noStrike" cap="none">
              <a:solidFill>
                <a:schemeClr val="dk1"/>
              </a:solidFill>
              <a:latin typeface="Lato"/>
              <a:ea typeface="Lato"/>
              <a:cs typeface="Lato"/>
              <a:sym typeface="Lato"/>
            </a:endParaRPr>
          </a:p>
        </p:txBody>
      </p:sp>
      <p:sp>
        <p:nvSpPr>
          <p:cNvPr id="353" name="Google Shape;353;p14"/>
          <p:cNvSpPr txBox="1">
            <a:spLocks noGrp="1"/>
          </p:cNvSpPr>
          <p:nvPr>
            <p:ph type="title" idx="4294967295"/>
          </p:nvPr>
        </p:nvSpPr>
        <p:spPr>
          <a:xfrm>
            <a:off x="0" y="0"/>
            <a:ext cx="87420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“Phylogeographic” studies describe spatial distribution patterns of a pathogen across a phylogeny.</a:t>
            </a:r>
            <a:endParaRPr>
              <a:latin typeface="Lato Light"/>
              <a:ea typeface="Lato Light"/>
              <a:cs typeface="Lato Light"/>
              <a:sym typeface="Lato Light"/>
            </a:endParaRPr>
          </a:p>
        </p:txBody>
      </p:sp>
      <p:pic>
        <p:nvPicPr>
          <p:cNvPr id="354" name="Google Shape;354;p14"/>
          <p:cNvPicPr preferRelativeResize="0"/>
          <p:nvPr/>
        </p:nvPicPr>
        <p:blipFill rotWithShape="1">
          <a:blip r:embed="rId3">
            <a:alphaModFix/>
          </a:blip>
          <a:srcRect/>
          <a:stretch/>
        </p:blipFill>
        <p:spPr>
          <a:xfrm>
            <a:off x="1740259" y="975900"/>
            <a:ext cx="5663491" cy="4167601"/>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58"/>
        <p:cNvGrpSpPr/>
        <p:nvPr/>
      </p:nvGrpSpPr>
      <p:grpSpPr>
        <a:xfrm>
          <a:off x="0" y="0"/>
          <a:ext cx="0" cy="0"/>
          <a:chOff x="0" y="0"/>
          <a:chExt cx="0" cy="0"/>
        </a:xfrm>
      </p:grpSpPr>
      <p:sp>
        <p:nvSpPr>
          <p:cNvPr id="359" name="Google Shape;359;p15"/>
          <p:cNvSpPr txBox="1">
            <a:spLocks noGrp="1"/>
          </p:cNvSpPr>
          <p:nvPr>
            <p:ph type="title" idx="4294967295"/>
          </p:nvPr>
        </p:nvSpPr>
        <p:spPr>
          <a:xfrm>
            <a:off x="201000" y="1376425"/>
            <a:ext cx="8742000" cy="25236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Discrete trait reconstruction </a:t>
            </a:r>
            <a:r>
              <a:rPr lang="en" sz="2500" b="1">
                <a:latin typeface="Lato"/>
                <a:ea typeface="Lato"/>
                <a:cs typeface="Lato"/>
                <a:sym typeface="Lato"/>
              </a:rPr>
              <a:t>assumes that samples are collected at random from the population. </a:t>
            </a:r>
            <a:endParaRPr sz="2500" b="1">
              <a:latin typeface="Lato"/>
              <a:ea typeface="Lato"/>
              <a:cs typeface="Lato"/>
              <a:sym typeface="Lato"/>
            </a:endParaRPr>
          </a:p>
          <a:p>
            <a:pPr marL="0" lvl="0" indent="0" algn="l" rtl="0">
              <a:lnSpc>
                <a:spcPct val="100000"/>
              </a:lnSpc>
              <a:spcBef>
                <a:spcPts val="0"/>
              </a:spcBef>
              <a:spcAft>
                <a:spcPts val="0"/>
              </a:spcAft>
              <a:buClr>
                <a:schemeClr val="dk1"/>
              </a:buClr>
              <a:buSzPts val="1100"/>
              <a:buFont typeface="Arial"/>
              <a:buNone/>
            </a:pPr>
            <a:endParaRPr sz="2500">
              <a:latin typeface="Lato Light"/>
              <a:ea typeface="Lato Light"/>
              <a:cs typeface="Lato Light"/>
              <a:sym typeface="Lato Light"/>
            </a:endParaRPr>
          </a:p>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This means that model treats the number of samples from a particular location as information about the pathogen population size in that location.</a:t>
            </a:r>
            <a:endParaRPr>
              <a:latin typeface="Lato Light"/>
              <a:ea typeface="Lato Light"/>
              <a:cs typeface="Lato Light"/>
              <a:sym typeface="Lato Light"/>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63"/>
        <p:cNvGrpSpPr/>
        <p:nvPr/>
      </p:nvGrpSpPr>
      <p:grpSpPr>
        <a:xfrm>
          <a:off x="0" y="0"/>
          <a:ext cx="0" cy="0"/>
          <a:chOff x="0" y="0"/>
          <a:chExt cx="0" cy="0"/>
        </a:xfrm>
      </p:grpSpPr>
      <p:sp>
        <p:nvSpPr>
          <p:cNvPr id="364" name="Google Shape;364;p16"/>
          <p:cNvSpPr txBox="1">
            <a:spLocks noGrp="1"/>
          </p:cNvSpPr>
          <p:nvPr>
            <p:ph type="title" idx="4294967295"/>
          </p:nvPr>
        </p:nvSpPr>
        <p:spPr>
          <a:xfrm>
            <a:off x="206375" y="70725"/>
            <a:ext cx="8742000" cy="10101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Ideally, </a:t>
            </a:r>
            <a:r>
              <a:rPr lang="en" sz="2500" b="1">
                <a:latin typeface="Lato"/>
                <a:ea typeface="Lato"/>
                <a:cs typeface="Lato"/>
                <a:sym typeface="Lato"/>
              </a:rPr>
              <a:t>you would sample from different geographic areas proportionally to incidence </a:t>
            </a:r>
            <a:r>
              <a:rPr lang="en" sz="2500">
                <a:latin typeface="Lato Light"/>
                <a:ea typeface="Lato Light"/>
                <a:cs typeface="Lato Light"/>
                <a:sym typeface="Lato Light"/>
              </a:rPr>
              <a:t>in those areas.</a:t>
            </a:r>
            <a:endParaRPr>
              <a:latin typeface="Lato Light"/>
              <a:ea typeface="Lato Light"/>
              <a:cs typeface="Lato Light"/>
              <a:sym typeface="Lato Light"/>
            </a:endParaRPr>
          </a:p>
        </p:txBody>
      </p:sp>
      <p:sp>
        <p:nvSpPr>
          <p:cNvPr id="365" name="Google Shape;365;p16"/>
          <p:cNvSpPr/>
          <p:nvPr/>
        </p:nvSpPr>
        <p:spPr>
          <a:xfrm>
            <a:off x="3079325" y="1847950"/>
            <a:ext cx="2035800" cy="2035800"/>
          </a:xfrm>
          <a:prstGeom prst="ellipse">
            <a:avLst/>
          </a:prstGeom>
          <a:solidFill>
            <a:srgbClr val="F9CB9C"/>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6" name="Google Shape;366;p16"/>
          <p:cNvSpPr/>
          <p:nvPr/>
        </p:nvSpPr>
        <p:spPr>
          <a:xfrm>
            <a:off x="6768025" y="2453050"/>
            <a:ext cx="825600" cy="825600"/>
          </a:xfrm>
          <a:prstGeom prst="ellipse">
            <a:avLst/>
          </a:prstGeom>
          <a:solidFill>
            <a:srgbClr val="A4C2F4"/>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7" name="Google Shape;367;p16"/>
          <p:cNvSpPr txBox="1"/>
          <p:nvPr/>
        </p:nvSpPr>
        <p:spPr>
          <a:xfrm>
            <a:off x="1103900" y="2670700"/>
            <a:ext cx="1667700" cy="3903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Lato"/>
                <a:ea typeface="Lato"/>
                <a:cs typeface="Lato"/>
                <a:sym typeface="Lato"/>
              </a:rPr>
              <a:t>Size of outbreak</a:t>
            </a:r>
            <a:endParaRPr sz="1400" b="1" i="0" u="none" strike="noStrike" cap="none">
              <a:solidFill>
                <a:schemeClr val="dk1"/>
              </a:solidFill>
              <a:latin typeface="Lato"/>
              <a:ea typeface="Lato"/>
              <a:cs typeface="Lato"/>
              <a:sym typeface="Lato"/>
            </a:endParaRPr>
          </a:p>
        </p:txBody>
      </p:sp>
      <p:sp>
        <p:nvSpPr>
          <p:cNvPr id="368" name="Google Shape;368;p16"/>
          <p:cNvSpPr txBox="1"/>
          <p:nvPr/>
        </p:nvSpPr>
        <p:spPr>
          <a:xfrm>
            <a:off x="1103900" y="4236975"/>
            <a:ext cx="1667700" cy="3903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Lato"/>
                <a:ea typeface="Lato"/>
                <a:cs typeface="Lato"/>
                <a:sym typeface="Lato"/>
              </a:rPr>
              <a:t>N genomes in tree</a:t>
            </a:r>
            <a:endParaRPr sz="1400" b="1" i="0" u="none" strike="noStrike" cap="none">
              <a:solidFill>
                <a:schemeClr val="dk1"/>
              </a:solidFill>
              <a:latin typeface="Lato"/>
              <a:ea typeface="Lato"/>
              <a:cs typeface="Lato"/>
              <a:sym typeface="Lato"/>
            </a:endParaRPr>
          </a:p>
        </p:txBody>
      </p:sp>
      <p:sp>
        <p:nvSpPr>
          <p:cNvPr id="369" name="Google Shape;369;p16"/>
          <p:cNvSpPr txBox="1"/>
          <p:nvPr/>
        </p:nvSpPr>
        <p:spPr>
          <a:xfrm>
            <a:off x="3898025" y="4236975"/>
            <a:ext cx="398400" cy="3903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Lato"/>
                <a:ea typeface="Lato"/>
                <a:cs typeface="Lato"/>
                <a:sym typeface="Lato"/>
              </a:rPr>
              <a:t>20</a:t>
            </a:r>
            <a:endParaRPr sz="1400" b="1" i="0" u="none" strike="noStrike" cap="none">
              <a:solidFill>
                <a:schemeClr val="dk1"/>
              </a:solidFill>
              <a:latin typeface="Lato"/>
              <a:ea typeface="Lato"/>
              <a:cs typeface="Lato"/>
              <a:sym typeface="Lato"/>
            </a:endParaRPr>
          </a:p>
        </p:txBody>
      </p:sp>
      <p:sp>
        <p:nvSpPr>
          <p:cNvPr id="370" name="Google Shape;370;p16"/>
          <p:cNvSpPr txBox="1"/>
          <p:nvPr/>
        </p:nvSpPr>
        <p:spPr>
          <a:xfrm>
            <a:off x="7080025" y="4236975"/>
            <a:ext cx="513600" cy="390300"/>
          </a:xfrm>
          <a:prstGeom prst="rect">
            <a:avLst/>
          </a:prstGeom>
          <a:noFill/>
          <a:ln>
            <a:noFill/>
          </a:ln>
        </p:spPr>
        <p:txBody>
          <a:bodyPr spcFirstLastPara="1" wrap="square" lIns="91425" tIns="91425" rIns="91425" bIns="91425" anchor="t" anchorCtr="0">
            <a:normAutofit lnSpcReduction="10000"/>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chemeClr val="dk1"/>
                </a:solidFill>
                <a:latin typeface="Lato"/>
                <a:ea typeface="Lato"/>
                <a:cs typeface="Lato"/>
                <a:sym typeface="Lato"/>
              </a:rPr>
              <a:t>5</a:t>
            </a:r>
            <a:endParaRPr sz="1400" b="1" i="0" u="none" strike="noStrike" cap="none">
              <a:solidFill>
                <a:schemeClr val="dk1"/>
              </a:solidFill>
              <a:latin typeface="Lato"/>
              <a:ea typeface="Lato"/>
              <a:cs typeface="Lato"/>
              <a:sym typeface="Lat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pic>
        <p:nvPicPr>
          <p:cNvPr id="375" name="Google Shape;375;p17"/>
          <p:cNvPicPr preferRelativeResize="0"/>
          <p:nvPr/>
        </p:nvPicPr>
        <p:blipFill rotWithShape="1">
          <a:blip r:embed="rId3">
            <a:alphaModFix/>
          </a:blip>
          <a:srcRect/>
          <a:stretch/>
        </p:blipFill>
        <p:spPr>
          <a:xfrm>
            <a:off x="2248149" y="526825"/>
            <a:ext cx="4427676" cy="4498351"/>
          </a:xfrm>
          <a:prstGeom prst="rect">
            <a:avLst/>
          </a:prstGeom>
          <a:noFill/>
          <a:ln>
            <a:noFill/>
          </a:ln>
        </p:spPr>
      </p:pic>
      <p:sp>
        <p:nvSpPr>
          <p:cNvPr id="376" name="Google Shape;376;p17"/>
          <p:cNvSpPr txBox="1">
            <a:spLocks noGrp="1"/>
          </p:cNvSpPr>
          <p:nvPr>
            <p:ph type="title" idx="4294967295"/>
          </p:nvPr>
        </p:nvSpPr>
        <p:spPr>
          <a:xfrm>
            <a:off x="0" y="-17225"/>
            <a:ext cx="92064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50">
                <a:latin typeface="Lato Light"/>
                <a:ea typeface="Lato Light"/>
                <a:cs typeface="Lato Light"/>
                <a:sym typeface="Lato Light"/>
              </a:rPr>
              <a:t>One of the clearest examples of this is “human-to-camel” MERS transmission (Zhang et al, 2016).</a:t>
            </a:r>
            <a:endParaRPr sz="2050">
              <a:latin typeface="Lato Light"/>
              <a:ea typeface="Lato Light"/>
              <a:cs typeface="Lato Light"/>
              <a:sym typeface="Lato Light"/>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18"/>
          <p:cNvSpPr txBox="1">
            <a:spLocks noGrp="1"/>
          </p:cNvSpPr>
          <p:nvPr>
            <p:ph type="title" idx="4294967295"/>
          </p:nvPr>
        </p:nvSpPr>
        <p:spPr>
          <a:xfrm>
            <a:off x="0" y="-17225"/>
            <a:ext cx="92064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50">
                <a:latin typeface="Lato Light"/>
                <a:ea typeface="Lato Light"/>
                <a:cs typeface="Lato Light"/>
                <a:sym typeface="Lato Light"/>
              </a:rPr>
              <a:t>Using a more complex model that handles sampling bias produces the accurate reconstruction showing camel-to-human spillover events (Dudas et al, 2018).</a:t>
            </a:r>
            <a:endParaRPr sz="2050">
              <a:latin typeface="Lato Light"/>
              <a:ea typeface="Lato Light"/>
              <a:cs typeface="Lato Light"/>
              <a:sym typeface="Lato Light"/>
            </a:endParaRPr>
          </a:p>
        </p:txBody>
      </p:sp>
      <p:pic>
        <p:nvPicPr>
          <p:cNvPr id="382" name="Google Shape;382;p18"/>
          <p:cNvPicPr preferRelativeResize="0"/>
          <p:nvPr/>
        </p:nvPicPr>
        <p:blipFill rotWithShape="1">
          <a:blip r:embed="rId3">
            <a:alphaModFix/>
          </a:blip>
          <a:srcRect/>
          <a:stretch/>
        </p:blipFill>
        <p:spPr>
          <a:xfrm>
            <a:off x="2435625" y="820625"/>
            <a:ext cx="4201921" cy="4229099"/>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86"/>
        <p:cNvGrpSpPr/>
        <p:nvPr/>
      </p:nvGrpSpPr>
      <p:grpSpPr>
        <a:xfrm>
          <a:off x="0" y="0"/>
          <a:ext cx="0" cy="0"/>
          <a:chOff x="0" y="0"/>
          <a:chExt cx="0" cy="0"/>
        </a:xfrm>
      </p:grpSpPr>
      <p:sp>
        <p:nvSpPr>
          <p:cNvPr id="387" name="Google Shape;387;p19"/>
          <p:cNvSpPr txBox="1">
            <a:spLocks noGrp="1"/>
          </p:cNvSpPr>
          <p:nvPr>
            <p:ph type="title" idx="4294967295"/>
          </p:nvPr>
        </p:nvSpPr>
        <p:spPr>
          <a:xfrm>
            <a:off x="35413" y="21550"/>
            <a:ext cx="8742000" cy="1306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Ideally, sample from different groups </a:t>
            </a:r>
            <a:r>
              <a:rPr lang="en" sz="2500" b="1">
                <a:latin typeface="Lato"/>
                <a:ea typeface="Lato"/>
                <a:cs typeface="Lato"/>
                <a:sym typeface="Lato"/>
              </a:rPr>
              <a:t>proportionally to incidence</a:t>
            </a:r>
            <a:r>
              <a:rPr lang="en" sz="2500">
                <a:latin typeface="Lato Light"/>
                <a:ea typeface="Lato Light"/>
                <a:cs typeface="Lato Light"/>
                <a:sym typeface="Lato Light"/>
              </a:rPr>
              <a:t> in those groups.</a:t>
            </a:r>
            <a:endParaRPr sz="2000">
              <a:latin typeface="Lato Light"/>
              <a:ea typeface="Lato Light"/>
              <a:cs typeface="Lato Light"/>
              <a:sym typeface="Lato Light"/>
            </a:endParaRPr>
          </a:p>
        </p:txBody>
      </p:sp>
      <p:sp>
        <p:nvSpPr>
          <p:cNvPr id="388" name="Google Shape;388;p19"/>
          <p:cNvSpPr/>
          <p:nvPr/>
        </p:nvSpPr>
        <p:spPr>
          <a:xfrm>
            <a:off x="6039540" y="1640322"/>
            <a:ext cx="990900" cy="5457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9" name="Google Shape;389;p19"/>
          <p:cNvSpPr/>
          <p:nvPr/>
        </p:nvSpPr>
        <p:spPr>
          <a:xfrm>
            <a:off x="5287270" y="2399387"/>
            <a:ext cx="1849800" cy="17178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0" name="Google Shape;390;p19"/>
          <p:cNvSpPr/>
          <p:nvPr/>
        </p:nvSpPr>
        <p:spPr>
          <a:xfrm>
            <a:off x="3883751" y="1471175"/>
            <a:ext cx="1607700" cy="9819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1" name="Google Shape;391;p19"/>
          <p:cNvSpPr/>
          <p:nvPr/>
        </p:nvSpPr>
        <p:spPr>
          <a:xfrm>
            <a:off x="3511402" y="3281812"/>
            <a:ext cx="1607700" cy="8085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2" name="Google Shape;392;p19"/>
          <p:cNvSpPr/>
          <p:nvPr/>
        </p:nvSpPr>
        <p:spPr>
          <a:xfrm>
            <a:off x="1675777" y="1648386"/>
            <a:ext cx="1607700" cy="1770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3" name="Google Shape;393;p19"/>
          <p:cNvSpPr/>
          <p:nvPr/>
        </p:nvSpPr>
        <p:spPr>
          <a:xfrm>
            <a:off x="1942376" y="2066823"/>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4" name="Google Shape;394;p19"/>
          <p:cNvSpPr/>
          <p:nvPr/>
        </p:nvSpPr>
        <p:spPr>
          <a:xfrm>
            <a:off x="2425580" y="2472181"/>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5" name="Google Shape;395;p19"/>
          <p:cNvSpPr/>
          <p:nvPr/>
        </p:nvSpPr>
        <p:spPr>
          <a:xfrm>
            <a:off x="2589087" y="182065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6" name="Google Shape;396;p19"/>
          <p:cNvSpPr/>
          <p:nvPr/>
        </p:nvSpPr>
        <p:spPr>
          <a:xfrm>
            <a:off x="2017263" y="283531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7" name="Google Shape;397;p19"/>
          <p:cNvSpPr/>
          <p:nvPr/>
        </p:nvSpPr>
        <p:spPr>
          <a:xfrm>
            <a:off x="3822095" y="3729007"/>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8" name="Google Shape;398;p19"/>
          <p:cNvSpPr/>
          <p:nvPr/>
        </p:nvSpPr>
        <p:spPr>
          <a:xfrm>
            <a:off x="4321171" y="206681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99" name="Google Shape;399;p19"/>
          <p:cNvSpPr/>
          <p:nvPr/>
        </p:nvSpPr>
        <p:spPr>
          <a:xfrm>
            <a:off x="2547805" y="290368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0" name="Google Shape;400;p19"/>
          <p:cNvSpPr/>
          <p:nvPr/>
        </p:nvSpPr>
        <p:spPr>
          <a:xfrm>
            <a:off x="2858774" y="250544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19"/>
          <p:cNvSpPr/>
          <p:nvPr/>
        </p:nvSpPr>
        <p:spPr>
          <a:xfrm>
            <a:off x="4755537" y="206681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2" name="Google Shape;402;p19"/>
          <p:cNvSpPr/>
          <p:nvPr/>
        </p:nvSpPr>
        <p:spPr>
          <a:xfrm>
            <a:off x="4172431" y="1820666"/>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3" name="Google Shape;403;p19"/>
          <p:cNvSpPr/>
          <p:nvPr/>
        </p:nvSpPr>
        <p:spPr>
          <a:xfrm>
            <a:off x="4947232" y="163551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4" name="Google Shape;404;p19"/>
          <p:cNvSpPr/>
          <p:nvPr/>
        </p:nvSpPr>
        <p:spPr>
          <a:xfrm>
            <a:off x="4129476" y="3487090"/>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5" name="Google Shape;405;p19"/>
          <p:cNvSpPr/>
          <p:nvPr/>
        </p:nvSpPr>
        <p:spPr>
          <a:xfrm>
            <a:off x="5789295" y="3038455"/>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6" name="Google Shape;406;p19"/>
          <p:cNvSpPr/>
          <p:nvPr/>
        </p:nvSpPr>
        <p:spPr>
          <a:xfrm>
            <a:off x="4555717" y="3728999"/>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7" name="Google Shape;407;p19"/>
          <p:cNvSpPr/>
          <p:nvPr/>
        </p:nvSpPr>
        <p:spPr>
          <a:xfrm>
            <a:off x="6681076" y="329196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8" name="Google Shape;408;p19"/>
          <p:cNvSpPr/>
          <p:nvPr/>
        </p:nvSpPr>
        <p:spPr>
          <a:xfrm>
            <a:off x="6355754" y="299706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9" name="Google Shape;409;p19"/>
          <p:cNvSpPr/>
          <p:nvPr/>
        </p:nvSpPr>
        <p:spPr>
          <a:xfrm>
            <a:off x="6164059" y="252344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0" name="Google Shape;410;p19"/>
          <p:cNvSpPr/>
          <p:nvPr/>
        </p:nvSpPr>
        <p:spPr>
          <a:xfrm>
            <a:off x="5750687" y="267531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1" name="Google Shape;411;p19"/>
          <p:cNvSpPr/>
          <p:nvPr/>
        </p:nvSpPr>
        <p:spPr>
          <a:xfrm>
            <a:off x="6599978" y="1820666"/>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2" name="Google Shape;412;p19"/>
          <p:cNvSpPr/>
          <p:nvPr/>
        </p:nvSpPr>
        <p:spPr>
          <a:xfrm>
            <a:off x="6302448" y="1820658"/>
            <a:ext cx="191700" cy="1851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13" name="Google Shape;413;p19"/>
          <p:cNvCxnSpPr>
            <a:endCxn id="394" idx="0"/>
          </p:cNvCxnSpPr>
          <p:nvPr/>
        </p:nvCxnSpPr>
        <p:spPr>
          <a:xfrm>
            <a:off x="2106230" y="2224981"/>
            <a:ext cx="415200" cy="247200"/>
          </a:xfrm>
          <a:prstGeom prst="curvedConnector2">
            <a:avLst/>
          </a:prstGeom>
          <a:noFill/>
          <a:ln w="38100" cap="flat" cmpd="sng">
            <a:solidFill>
              <a:srgbClr val="990000"/>
            </a:solidFill>
            <a:prstDash val="solid"/>
            <a:round/>
            <a:headEnd type="none" w="sm" len="sm"/>
            <a:tailEnd type="triangle" w="med" len="med"/>
          </a:ln>
        </p:spPr>
      </p:cxnSp>
      <p:cxnSp>
        <p:nvCxnSpPr>
          <p:cNvPr id="414" name="Google Shape;414;p19"/>
          <p:cNvCxnSpPr>
            <a:endCxn id="399" idx="2"/>
          </p:cNvCxnSpPr>
          <p:nvPr/>
        </p:nvCxnSpPr>
        <p:spPr>
          <a:xfrm rot="-5400000" flipH="1">
            <a:off x="2336455" y="2784888"/>
            <a:ext cx="351900" cy="70800"/>
          </a:xfrm>
          <a:prstGeom prst="curvedConnector2">
            <a:avLst/>
          </a:prstGeom>
          <a:noFill/>
          <a:ln w="38100" cap="flat" cmpd="sng">
            <a:solidFill>
              <a:srgbClr val="990000"/>
            </a:solidFill>
            <a:prstDash val="solid"/>
            <a:round/>
            <a:headEnd type="none" w="sm" len="sm"/>
            <a:tailEnd type="triangle" w="med" len="med"/>
          </a:ln>
        </p:spPr>
      </p:cxnSp>
      <p:cxnSp>
        <p:nvCxnSpPr>
          <p:cNvPr id="415" name="Google Shape;415;p19"/>
          <p:cNvCxnSpPr>
            <a:stCxn id="399" idx="7"/>
            <a:endCxn id="400" idx="5"/>
          </p:cNvCxnSpPr>
          <p:nvPr/>
        </p:nvCxnSpPr>
        <p:spPr>
          <a:xfrm rot="-5400000">
            <a:off x="2733331" y="2641595"/>
            <a:ext cx="267300" cy="311100"/>
          </a:xfrm>
          <a:prstGeom prst="curvedConnector3">
            <a:avLst>
              <a:gd name="adj1" fmla="val 49989"/>
            </a:avLst>
          </a:prstGeom>
          <a:noFill/>
          <a:ln w="38100" cap="flat" cmpd="sng">
            <a:solidFill>
              <a:srgbClr val="990000"/>
            </a:solidFill>
            <a:prstDash val="solid"/>
            <a:round/>
            <a:headEnd type="none" w="sm" len="sm"/>
            <a:tailEnd type="triangle" w="med" len="med"/>
          </a:ln>
        </p:spPr>
      </p:cxnSp>
      <p:cxnSp>
        <p:nvCxnSpPr>
          <p:cNvPr id="416" name="Google Shape;416;p19"/>
          <p:cNvCxnSpPr>
            <a:endCxn id="402" idx="2"/>
          </p:cNvCxnSpPr>
          <p:nvPr/>
        </p:nvCxnSpPr>
        <p:spPr>
          <a:xfrm rot="10800000" flipH="1">
            <a:off x="3047131" y="1913216"/>
            <a:ext cx="1125300" cy="568500"/>
          </a:xfrm>
          <a:prstGeom prst="curvedConnector3">
            <a:avLst>
              <a:gd name="adj1" fmla="val 50000"/>
            </a:avLst>
          </a:prstGeom>
          <a:noFill/>
          <a:ln w="38100" cap="flat" cmpd="sng">
            <a:solidFill>
              <a:srgbClr val="990000"/>
            </a:solidFill>
            <a:prstDash val="dot"/>
            <a:round/>
            <a:headEnd type="none" w="sm" len="sm"/>
            <a:tailEnd type="triangle" w="med" len="med"/>
          </a:ln>
        </p:spPr>
      </p:cxnSp>
      <p:cxnSp>
        <p:nvCxnSpPr>
          <p:cNvPr id="417" name="Google Shape;417;p19"/>
          <p:cNvCxnSpPr>
            <a:stCxn id="407" idx="2"/>
            <a:endCxn id="405" idx="6"/>
          </p:cNvCxnSpPr>
          <p:nvPr/>
        </p:nvCxnSpPr>
        <p:spPr>
          <a:xfrm rot="10800000">
            <a:off x="5980876" y="3131018"/>
            <a:ext cx="700200" cy="253500"/>
          </a:xfrm>
          <a:prstGeom prst="curvedConnector3">
            <a:avLst>
              <a:gd name="adj1" fmla="val 50013"/>
            </a:avLst>
          </a:prstGeom>
          <a:noFill/>
          <a:ln w="38100" cap="flat" cmpd="sng">
            <a:solidFill>
              <a:srgbClr val="F1C232"/>
            </a:solidFill>
            <a:prstDash val="solid"/>
            <a:round/>
            <a:headEnd type="none" w="sm" len="sm"/>
            <a:tailEnd type="triangle" w="med" len="med"/>
          </a:ln>
        </p:spPr>
      </p:cxnSp>
      <p:cxnSp>
        <p:nvCxnSpPr>
          <p:cNvPr id="418" name="Google Shape;418;p19"/>
          <p:cNvCxnSpPr>
            <a:endCxn id="409" idx="4"/>
          </p:cNvCxnSpPr>
          <p:nvPr/>
        </p:nvCxnSpPr>
        <p:spPr>
          <a:xfrm rot="10800000" flipH="1">
            <a:off x="5884309" y="2708548"/>
            <a:ext cx="375600" cy="318900"/>
          </a:xfrm>
          <a:prstGeom prst="curvedConnector2">
            <a:avLst/>
          </a:prstGeom>
          <a:noFill/>
          <a:ln w="38100" cap="flat" cmpd="sng">
            <a:solidFill>
              <a:srgbClr val="F1C232"/>
            </a:solidFill>
            <a:prstDash val="solid"/>
            <a:round/>
            <a:headEnd type="none" w="sm" len="sm"/>
            <a:tailEnd type="triangle" w="med" len="med"/>
          </a:ln>
        </p:spPr>
      </p:cxn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422"/>
        <p:cNvGrpSpPr/>
        <p:nvPr/>
      </p:nvGrpSpPr>
      <p:grpSpPr>
        <a:xfrm>
          <a:off x="0" y="0"/>
          <a:ext cx="0" cy="0"/>
          <a:chOff x="0" y="0"/>
          <a:chExt cx="0" cy="0"/>
        </a:xfrm>
      </p:grpSpPr>
      <p:sp>
        <p:nvSpPr>
          <p:cNvPr id="423" name="Google Shape;423;p20"/>
          <p:cNvSpPr txBox="1">
            <a:spLocks noGrp="1"/>
          </p:cNvSpPr>
          <p:nvPr>
            <p:ph type="title"/>
          </p:nvPr>
        </p:nvSpPr>
        <p:spPr>
          <a:xfrm>
            <a:off x="311700" y="1915500"/>
            <a:ext cx="8757900" cy="1312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Part 3</a:t>
            </a:r>
            <a:r>
              <a:rPr lang="en">
                <a:solidFill>
                  <a:schemeClr val="lt1"/>
                </a:solidFill>
                <a:latin typeface="Lato"/>
                <a:ea typeface="Lato"/>
                <a:cs typeface="Lato"/>
                <a:sym typeface="Lato"/>
              </a:rPr>
              <a:t> - Sampling design for outbreak investigations.</a:t>
            </a:r>
            <a:endParaRPr>
              <a:solidFill>
                <a:schemeClr val="lt1"/>
              </a:solidFill>
              <a:latin typeface="Lato"/>
              <a:ea typeface="Lato"/>
              <a:cs typeface="Lato"/>
              <a:sym typeface="Lato"/>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7"/>
        <p:cNvGrpSpPr/>
        <p:nvPr/>
      </p:nvGrpSpPr>
      <p:grpSpPr>
        <a:xfrm>
          <a:off x="0" y="0"/>
          <a:ext cx="0" cy="0"/>
          <a:chOff x="0" y="0"/>
          <a:chExt cx="0" cy="0"/>
        </a:xfrm>
      </p:grpSpPr>
      <p:pic>
        <p:nvPicPr>
          <p:cNvPr id="428" name="Google Shape;428;p21" descr="All the Things | Know Your Meme"/>
          <p:cNvPicPr preferRelativeResize="0"/>
          <p:nvPr/>
        </p:nvPicPr>
        <p:blipFill rotWithShape="1">
          <a:blip r:embed="rId3">
            <a:alphaModFix/>
          </a:blip>
          <a:srcRect l="9340" r="5188"/>
          <a:stretch/>
        </p:blipFill>
        <p:spPr>
          <a:xfrm>
            <a:off x="2640725" y="873025"/>
            <a:ext cx="6490125" cy="4270474"/>
          </a:xfrm>
          <a:prstGeom prst="rect">
            <a:avLst/>
          </a:prstGeom>
          <a:noFill/>
          <a:ln>
            <a:noFill/>
          </a:ln>
        </p:spPr>
      </p:pic>
      <p:sp>
        <p:nvSpPr>
          <p:cNvPr id="429" name="Google Shape;429;p21"/>
          <p:cNvSpPr txBox="1"/>
          <p:nvPr/>
        </p:nvSpPr>
        <p:spPr>
          <a:xfrm>
            <a:off x="2272800" y="873025"/>
            <a:ext cx="2680200" cy="7233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3500"/>
              <a:buFont typeface="Arial"/>
              <a:buNone/>
            </a:pPr>
            <a:r>
              <a:rPr lang="en" sz="3500" b="1" i="0" u="none" strike="noStrike" cap="none">
                <a:solidFill>
                  <a:srgbClr val="000000"/>
                </a:solidFill>
                <a:latin typeface="Comic Sans MS"/>
                <a:ea typeface="Comic Sans MS"/>
                <a:cs typeface="Comic Sans MS"/>
                <a:sym typeface="Comic Sans MS"/>
              </a:rPr>
              <a:t>SEQUENCE</a:t>
            </a:r>
            <a:endParaRPr sz="3500" b="1" i="0" u="none" strike="noStrike" cap="none">
              <a:solidFill>
                <a:srgbClr val="000000"/>
              </a:solidFill>
              <a:latin typeface="Comic Sans MS"/>
              <a:ea typeface="Comic Sans MS"/>
              <a:cs typeface="Comic Sans MS"/>
              <a:sym typeface="Comic Sans M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433"/>
        <p:cNvGrpSpPr/>
        <p:nvPr/>
      </p:nvGrpSpPr>
      <p:grpSpPr>
        <a:xfrm>
          <a:off x="0" y="0"/>
          <a:ext cx="0" cy="0"/>
          <a:chOff x="0" y="0"/>
          <a:chExt cx="0" cy="0"/>
        </a:xfrm>
      </p:grpSpPr>
      <p:sp>
        <p:nvSpPr>
          <p:cNvPr id="434" name="Google Shape;434;p22"/>
          <p:cNvSpPr txBox="1">
            <a:spLocks noGrp="1"/>
          </p:cNvSpPr>
          <p:nvPr>
            <p:ph type="title"/>
          </p:nvPr>
        </p:nvSpPr>
        <p:spPr>
          <a:xfrm>
            <a:off x="311700" y="1915500"/>
            <a:ext cx="8757900" cy="13125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SzPts val="2800"/>
              <a:buNone/>
            </a:pPr>
            <a:r>
              <a:rPr lang="en" b="1">
                <a:solidFill>
                  <a:schemeClr val="lt1"/>
                </a:solidFill>
                <a:latin typeface="Lato"/>
                <a:ea typeface="Lato"/>
                <a:cs typeface="Lato"/>
                <a:sym typeface="Lato"/>
              </a:rPr>
              <a:t>Take home messages!</a:t>
            </a:r>
            <a:endParaRPr>
              <a:solidFill>
                <a:schemeClr val="lt1"/>
              </a:solidFill>
              <a:latin typeface="Lato"/>
              <a:ea typeface="Lato"/>
              <a:cs typeface="Lato"/>
              <a:sym typeface="Lato"/>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38"/>
        <p:cNvGrpSpPr/>
        <p:nvPr/>
      </p:nvGrpSpPr>
      <p:grpSpPr>
        <a:xfrm>
          <a:off x="0" y="0"/>
          <a:ext cx="0" cy="0"/>
          <a:chOff x="0" y="0"/>
          <a:chExt cx="0" cy="0"/>
        </a:xfrm>
      </p:grpSpPr>
      <p:sp>
        <p:nvSpPr>
          <p:cNvPr id="439" name="Google Shape;439;p23"/>
          <p:cNvSpPr txBox="1">
            <a:spLocks noGrp="1"/>
          </p:cNvSpPr>
          <p:nvPr>
            <p:ph type="title" idx="4294967295"/>
          </p:nvPr>
        </p:nvSpPr>
        <p:spPr>
          <a:xfrm>
            <a:off x="0" y="0"/>
            <a:ext cx="9144000" cy="13884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For most studies,</a:t>
            </a:r>
            <a:r>
              <a:rPr lang="en" sz="2500" b="1">
                <a:latin typeface="Lato"/>
                <a:ea typeface="Lato"/>
                <a:cs typeface="Lato"/>
                <a:sym typeface="Lato"/>
              </a:rPr>
              <a:t> aim to capture a picture of the full circulating viral diversity</a:t>
            </a:r>
            <a:r>
              <a:rPr lang="en" sz="2500">
                <a:latin typeface="Lato Light"/>
                <a:ea typeface="Lato Light"/>
                <a:cs typeface="Lato Light"/>
                <a:sym typeface="Lato Light"/>
              </a:rPr>
              <a:t> </a:t>
            </a:r>
            <a:r>
              <a:rPr lang="en" sz="2500" b="1">
                <a:latin typeface="Lato"/>
                <a:ea typeface="Lato"/>
                <a:cs typeface="Lato"/>
                <a:sym typeface="Lato"/>
              </a:rPr>
              <a:t>by recognizing how your population is structured</a:t>
            </a:r>
            <a:r>
              <a:rPr lang="en" sz="2500">
                <a:latin typeface="Lato Light"/>
                <a:ea typeface="Lato Light"/>
                <a:cs typeface="Lato Light"/>
                <a:sym typeface="Lato Light"/>
              </a:rPr>
              <a:t>, and sampling from all the “bins”.</a:t>
            </a:r>
            <a:endParaRPr>
              <a:latin typeface="Lato Light"/>
              <a:ea typeface="Lato Light"/>
              <a:cs typeface="Lato Light"/>
              <a:sym typeface="Lato Light"/>
            </a:endParaRPr>
          </a:p>
        </p:txBody>
      </p:sp>
      <p:sp>
        <p:nvSpPr>
          <p:cNvPr id="440" name="Google Shape;440;p23"/>
          <p:cNvSpPr/>
          <p:nvPr/>
        </p:nvSpPr>
        <p:spPr>
          <a:xfrm>
            <a:off x="214295" y="2265219"/>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1" name="Google Shape;441;p23"/>
          <p:cNvSpPr/>
          <p:nvPr/>
        </p:nvSpPr>
        <p:spPr>
          <a:xfrm>
            <a:off x="108750" y="3099498"/>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2" name="Google Shape;442;p23"/>
          <p:cNvSpPr/>
          <p:nvPr/>
        </p:nvSpPr>
        <p:spPr>
          <a:xfrm>
            <a:off x="760719" y="2049865"/>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3" name="Google Shape;443;p23"/>
          <p:cNvSpPr/>
          <p:nvPr/>
        </p:nvSpPr>
        <p:spPr>
          <a:xfrm>
            <a:off x="460600" y="3567158"/>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4" name="Google Shape;444;p23"/>
          <p:cNvSpPr/>
          <p:nvPr/>
        </p:nvSpPr>
        <p:spPr>
          <a:xfrm>
            <a:off x="1781402" y="3529289"/>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5" name="Google Shape;445;p23"/>
          <p:cNvSpPr/>
          <p:nvPr/>
        </p:nvSpPr>
        <p:spPr>
          <a:xfrm>
            <a:off x="1781402" y="2937521"/>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6" name="Google Shape;446;p23"/>
          <p:cNvSpPr/>
          <p:nvPr/>
        </p:nvSpPr>
        <p:spPr>
          <a:xfrm>
            <a:off x="1479067" y="226521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7" name="Google Shape;447;p23"/>
          <p:cNvSpPr/>
          <p:nvPr/>
        </p:nvSpPr>
        <p:spPr>
          <a:xfrm>
            <a:off x="1143455" y="3099490"/>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8" name="Google Shape;448;p23"/>
          <p:cNvSpPr/>
          <p:nvPr/>
        </p:nvSpPr>
        <p:spPr>
          <a:xfrm>
            <a:off x="2506849" y="269796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49" name="Google Shape;449;p23"/>
          <p:cNvSpPr/>
          <p:nvPr/>
        </p:nvSpPr>
        <p:spPr>
          <a:xfrm>
            <a:off x="2098532" y="204987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0" name="Google Shape;450;p23"/>
          <p:cNvSpPr/>
          <p:nvPr/>
        </p:nvSpPr>
        <p:spPr>
          <a:xfrm>
            <a:off x="2753183" y="1887895"/>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1" name="Google Shape;451;p23"/>
          <p:cNvSpPr/>
          <p:nvPr/>
        </p:nvSpPr>
        <p:spPr>
          <a:xfrm>
            <a:off x="2506849" y="3240223"/>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2" name="Google Shape;452;p23"/>
          <p:cNvSpPr/>
          <p:nvPr/>
        </p:nvSpPr>
        <p:spPr>
          <a:xfrm>
            <a:off x="3109551" y="233871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3" name="Google Shape;453;p23"/>
          <p:cNvSpPr/>
          <p:nvPr/>
        </p:nvSpPr>
        <p:spPr>
          <a:xfrm>
            <a:off x="3228783" y="3269229"/>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4" name="Google Shape;454;p23"/>
          <p:cNvSpPr/>
          <p:nvPr/>
        </p:nvSpPr>
        <p:spPr>
          <a:xfrm>
            <a:off x="4165421" y="3627000"/>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5" name="Google Shape;455;p23"/>
          <p:cNvSpPr/>
          <p:nvPr/>
        </p:nvSpPr>
        <p:spPr>
          <a:xfrm>
            <a:off x="4165421" y="303523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6" name="Google Shape;456;p23"/>
          <p:cNvSpPr/>
          <p:nvPr/>
        </p:nvSpPr>
        <p:spPr>
          <a:xfrm>
            <a:off x="3947568" y="204987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7" name="Google Shape;457;p23"/>
          <p:cNvSpPr/>
          <p:nvPr/>
        </p:nvSpPr>
        <p:spPr>
          <a:xfrm>
            <a:off x="3654183" y="2619842"/>
            <a:ext cx="162000" cy="1620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58" name="Google Shape;458;p23"/>
          <p:cNvCxnSpPr>
            <a:stCxn id="440" idx="5"/>
            <a:endCxn id="447" idx="0"/>
          </p:cNvCxnSpPr>
          <p:nvPr/>
        </p:nvCxnSpPr>
        <p:spPr>
          <a:xfrm rot="-5400000" flipH="1">
            <a:off x="440471" y="2315595"/>
            <a:ext cx="696000" cy="871800"/>
          </a:xfrm>
          <a:prstGeom prst="curvedConnector3">
            <a:avLst>
              <a:gd name="adj1" fmla="val 51707"/>
            </a:avLst>
          </a:prstGeom>
          <a:noFill/>
          <a:ln w="38100" cap="flat" cmpd="sng">
            <a:solidFill>
              <a:srgbClr val="990000"/>
            </a:solidFill>
            <a:prstDash val="solid"/>
            <a:round/>
            <a:headEnd type="none" w="sm" len="sm"/>
            <a:tailEnd type="triangle" w="med" len="med"/>
          </a:ln>
        </p:spPr>
      </p:cxnSp>
      <p:cxnSp>
        <p:nvCxnSpPr>
          <p:cNvPr id="459" name="Google Shape;459;p23"/>
          <p:cNvCxnSpPr>
            <a:endCxn id="451" idx="2"/>
          </p:cNvCxnSpPr>
          <p:nvPr/>
        </p:nvCxnSpPr>
        <p:spPr>
          <a:xfrm>
            <a:off x="1313749" y="3197323"/>
            <a:ext cx="1193100" cy="123900"/>
          </a:xfrm>
          <a:prstGeom prst="curvedConnector3">
            <a:avLst>
              <a:gd name="adj1" fmla="val 50000"/>
            </a:avLst>
          </a:prstGeom>
          <a:noFill/>
          <a:ln w="38100" cap="flat" cmpd="sng">
            <a:solidFill>
              <a:srgbClr val="990000"/>
            </a:solidFill>
            <a:prstDash val="solid"/>
            <a:round/>
            <a:headEnd type="none" w="sm" len="sm"/>
            <a:tailEnd type="triangle" w="med" len="med"/>
          </a:ln>
        </p:spPr>
      </p:cxnSp>
      <p:cxnSp>
        <p:nvCxnSpPr>
          <p:cNvPr id="460" name="Google Shape;460;p23"/>
          <p:cNvCxnSpPr>
            <a:stCxn id="451" idx="6"/>
            <a:endCxn id="456" idx="2"/>
          </p:cNvCxnSpPr>
          <p:nvPr/>
        </p:nvCxnSpPr>
        <p:spPr>
          <a:xfrm rot="10800000" flipH="1">
            <a:off x="2668849" y="2130823"/>
            <a:ext cx="1278600" cy="1190400"/>
          </a:xfrm>
          <a:prstGeom prst="curvedConnector3">
            <a:avLst>
              <a:gd name="adj1" fmla="val 49999"/>
            </a:avLst>
          </a:prstGeom>
          <a:noFill/>
          <a:ln w="38100" cap="flat" cmpd="sng">
            <a:solidFill>
              <a:srgbClr val="990000"/>
            </a:solidFill>
            <a:prstDash val="solid"/>
            <a:round/>
            <a:headEnd type="none" w="sm" len="sm"/>
            <a:tailEnd type="triangle" w="med" len="med"/>
          </a:ln>
        </p:spPr>
      </p:cxnSp>
      <p:cxnSp>
        <p:nvCxnSpPr>
          <p:cNvPr id="461" name="Google Shape;461;p23"/>
          <p:cNvCxnSpPr>
            <a:stCxn id="454" idx="0"/>
            <a:endCxn id="455" idx="6"/>
          </p:cNvCxnSpPr>
          <p:nvPr/>
        </p:nvCxnSpPr>
        <p:spPr>
          <a:xfrm rot="-5400000">
            <a:off x="4031471" y="3331050"/>
            <a:ext cx="510900" cy="81000"/>
          </a:xfrm>
          <a:prstGeom prst="curvedConnector4">
            <a:avLst>
              <a:gd name="adj1" fmla="val 42075"/>
              <a:gd name="adj2" fmla="val 271436"/>
            </a:avLst>
          </a:prstGeom>
          <a:noFill/>
          <a:ln w="38100" cap="flat" cmpd="sng">
            <a:solidFill>
              <a:srgbClr val="F1C232"/>
            </a:solidFill>
            <a:prstDash val="solid"/>
            <a:round/>
            <a:headEnd type="none" w="sm" len="sm"/>
            <a:tailEnd type="triangle" w="med" len="med"/>
          </a:ln>
        </p:spPr>
      </p:cxnSp>
      <p:cxnSp>
        <p:nvCxnSpPr>
          <p:cNvPr id="462" name="Google Shape;462;p23"/>
          <p:cNvCxnSpPr>
            <a:stCxn id="455" idx="2"/>
            <a:endCxn id="448" idx="6"/>
          </p:cNvCxnSpPr>
          <p:nvPr/>
        </p:nvCxnSpPr>
        <p:spPr>
          <a:xfrm rot="10800000">
            <a:off x="2668721" y="2779032"/>
            <a:ext cx="1496700" cy="337200"/>
          </a:xfrm>
          <a:prstGeom prst="curvedConnector3">
            <a:avLst>
              <a:gd name="adj1" fmla="val 50002"/>
            </a:avLst>
          </a:prstGeom>
          <a:noFill/>
          <a:ln w="38100" cap="flat" cmpd="sng">
            <a:solidFill>
              <a:srgbClr val="F1C232"/>
            </a:solidFill>
            <a:prstDash val="solid"/>
            <a:round/>
            <a:headEnd type="none" w="sm" len="sm"/>
            <a:tailEnd type="triangle" w="med" len="med"/>
          </a:ln>
        </p:spPr>
      </p:cxnSp>
      <p:cxnSp>
        <p:nvCxnSpPr>
          <p:cNvPr id="463" name="Google Shape;463;p23"/>
          <p:cNvCxnSpPr>
            <a:endCxn id="442" idx="5"/>
          </p:cNvCxnSpPr>
          <p:nvPr/>
        </p:nvCxnSpPr>
        <p:spPr>
          <a:xfrm rot="10800000">
            <a:off x="898995" y="2188141"/>
            <a:ext cx="1607700" cy="599700"/>
          </a:xfrm>
          <a:prstGeom prst="curvedConnector2">
            <a:avLst/>
          </a:prstGeom>
          <a:noFill/>
          <a:ln w="38100" cap="flat" cmpd="sng">
            <a:solidFill>
              <a:srgbClr val="F1C232"/>
            </a:solidFill>
            <a:prstDash val="solid"/>
            <a:round/>
            <a:headEnd type="none" w="sm" len="sm"/>
            <a:tailEnd type="triangle" w="med" len="med"/>
          </a:ln>
        </p:spPr>
      </p:cxnSp>
      <p:sp>
        <p:nvSpPr>
          <p:cNvPr id="464" name="Google Shape;464;p23"/>
          <p:cNvSpPr/>
          <p:nvPr/>
        </p:nvSpPr>
        <p:spPr>
          <a:xfrm>
            <a:off x="8093100" y="2060329"/>
            <a:ext cx="727200" cy="4005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5" name="Google Shape;465;p23"/>
          <p:cNvSpPr/>
          <p:nvPr/>
        </p:nvSpPr>
        <p:spPr>
          <a:xfrm>
            <a:off x="7541045" y="2617369"/>
            <a:ext cx="1357500" cy="1260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6" name="Google Shape;466;p23"/>
          <p:cNvSpPr/>
          <p:nvPr/>
        </p:nvSpPr>
        <p:spPr>
          <a:xfrm>
            <a:off x="6511073" y="1936200"/>
            <a:ext cx="1179900" cy="7206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7" name="Google Shape;467;p23"/>
          <p:cNvSpPr/>
          <p:nvPr/>
        </p:nvSpPr>
        <p:spPr>
          <a:xfrm>
            <a:off x="6237824" y="3264938"/>
            <a:ext cx="1179900" cy="5934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8" name="Google Shape;468;p23"/>
          <p:cNvSpPr/>
          <p:nvPr/>
        </p:nvSpPr>
        <p:spPr>
          <a:xfrm>
            <a:off x="4890750" y="2066247"/>
            <a:ext cx="1179900" cy="1299300"/>
          </a:xfrm>
          <a:prstGeom prst="ellipse">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69" name="Google Shape;469;p23"/>
          <p:cNvSpPr/>
          <p:nvPr/>
        </p:nvSpPr>
        <p:spPr>
          <a:xfrm>
            <a:off x="5086394" y="2373317"/>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0" name="Google Shape;470;p23"/>
          <p:cNvSpPr/>
          <p:nvPr/>
        </p:nvSpPr>
        <p:spPr>
          <a:xfrm>
            <a:off x="5440994" y="2670789"/>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1" name="Google Shape;471;p23"/>
          <p:cNvSpPr/>
          <p:nvPr/>
        </p:nvSpPr>
        <p:spPr>
          <a:xfrm>
            <a:off x="5560983" y="2192669"/>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2" name="Google Shape;472;p23"/>
          <p:cNvSpPr/>
          <p:nvPr/>
        </p:nvSpPr>
        <p:spPr>
          <a:xfrm>
            <a:off x="5141350" y="2937278"/>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3" name="Google Shape;473;p23"/>
          <p:cNvSpPr/>
          <p:nvPr/>
        </p:nvSpPr>
        <p:spPr>
          <a:xfrm>
            <a:off x="6465827" y="3593112"/>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4" name="Google Shape;474;p23"/>
          <p:cNvSpPr/>
          <p:nvPr/>
        </p:nvSpPr>
        <p:spPr>
          <a:xfrm>
            <a:off x="6832074" y="237331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5" name="Google Shape;475;p23"/>
          <p:cNvSpPr/>
          <p:nvPr/>
        </p:nvSpPr>
        <p:spPr>
          <a:xfrm>
            <a:off x="5530688" y="298745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6" name="Google Shape;476;p23"/>
          <p:cNvSpPr/>
          <p:nvPr/>
        </p:nvSpPr>
        <p:spPr>
          <a:xfrm>
            <a:off x="5758893" y="2695200"/>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7" name="Google Shape;477;p23"/>
          <p:cNvSpPr/>
          <p:nvPr/>
        </p:nvSpPr>
        <p:spPr>
          <a:xfrm>
            <a:off x="7150834" y="237331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8" name="Google Shape;478;p23"/>
          <p:cNvSpPr/>
          <p:nvPr/>
        </p:nvSpPr>
        <p:spPr>
          <a:xfrm>
            <a:off x="6722921" y="2192675"/>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79" name="Google Shape;479;p23"/>
          <p:cNvSpPr/>
          <p:nvPr/>
        </p:nvSpPr>
        <p:spPr>
          <a:xfrm>
            <a:off x="7291509" y="2056802"/>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0" name="Google Shape;480;p23"/>
          <p:cNvSpPr/>
          <p:nvPr/>
        </p:nvSpPr>
        <p:spPr>
          <a:xfrm>
            <a:off x="6691398" y="341558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1" name="Google Shape;481;p23"/>
          <p:cNvSpPr/>
          <p:nvPr/>
        </p:nvSpPr>
        <p:spPr>
          <a:xfrm>
            <a:off x="7909457" y="3086350"/>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2" name="Google Shape;482;p23"/>
          <p:cNvSpPr/>
          <p:nvPr/>
        </p:nvSpPr>
        <p:spPr>
          <a:xfrm>
            <a:off x="7004196" y="3593106"/>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3" name="Google Shape;483;p23"/>
          <p:cNvSpPr/>
          <p:nvPr/>
        </p:nvSpPr>
        <p:spPr>
          <a:xfrm>
            <a:off x="8563891" y="3272390"/>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4" name="Google Shape;484;p23"/>
          <p:cNvSpPr/>
          <p:nvPr/>
        </p:nvSpPr>
        <p:spPr>
          <a:xfrm>
            <a:off x="8325153" y="3055978"/>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5" name="Google Shape;485;p23"/>
          <p:cNvSpPr/>
          <p:nvPr/>
        </p:nvSpPr>
        <p:spPr>
          <a:xfrm>
            <a:off x="8184478" y="2708412"/>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6" name="Google Shape;486;p23"/>
          <p:cNvSpPr/>
          <p:nvPr/>
        </p:nvSpPr>
        <p:spPr>
          <a:xfrm>
            <a:off x="7881125" y="2819861"/>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7" name="Google Shape;487;p23"/>
          <p:cNvSpPr/>
          <p:nvPr/>
        </p:nvSpPr>
        <p:spPr>
          <a:xfrm>
            <a:off x="8504377" y="2192675"/>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88" name="Google Shape;488;p23"/>
          <p:cNvSpPr/>
          <p:nvPr/>
        </p:nvSpPr>
        <p:spPr>
          <a:xfrm>
            <a:off x="8286034" y="2192669"/>
            <a:ext cx="140700" cy="135900"/>
          </a:xfrm>
          <a:prstGeom prst="ellipse">
            <a:avLst/>
          </a:prstGeom>
          <a:solidFill>
            <a:srgbClr val="A4C2F4"/>
          </a:solidFill>
          <a:ln w="19050" cap="flat" cmpd="sng">
            <a:solidFill>
              <a:srgbClr val="3C78D8"/>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cxnSp>
        <p:nvCxnSpPr>
          <p:cNvPr id="489" name="Google Shape;489;p23"/>
          <p:cNvCxnSpPr>
            <a:endCxn id="470" idx="0"/>
          </p:cNvCxnSpPr>
          <p:nvPr/>
        </p:nvCxnSpPr>
        <p:spPr>
          <a:xfrm>
            <a:off x="5206544" y="2489289"/>
            <a:ext cx="304800" cy="181500"/>
          </a:xfrm>
          <a:prstGeom prst="curvedConnector2">
            <a:avLst/>
          </a:prstGeom>
          <a:noFill/>
          <a:ln w="38100" cap="flat" cmpd="sng">
            <a:solidFill>
              <a:srgbClr val="990000"/>
            </a:solidFill>
            <a:prstDash val="solid"/>
            <a:round/>
            <a:headEnd type="none" w="sm" len="sm"/>
            <a:tailEnd type="triangle" w="med" len="med"/>
          </a:ln>
        </p:spPr>
      </p:cxnSp>
      <p:cxnSp>
        <p:nvCxnSpPr>
          <p:cNvPr id="490" name="Google Shape;490;p23"/>
          <p:cNvCxnSpPr>
            <a:endCxn id="475" idx="2"/>
          </p:cNvCxnSpPr>
          <p:nvPr/>
        </p:nvCxnSpPr>
        <p:spPr>
          <a:xfrm rot="-5400000" flipH="1">
            <a:off x="5375588" y="2900301"/>
            <a:ext cx="258300" cy="51900"/>
          </a:xfrm>
          <a:prstGeom prst="curvedConnector2">
            <a:avLst/>
          </a:prstGeom>
          <a:noFill/>
          <a:ln w="38100" cap="flat" cmpd="sng">
            <a:solidFill>
              <a:srgbClr val="990000"/>
            </a:solidFill>
            <a:prstDash val="solid"/>
            <a:round/>
            <a:headEnd type="none" w="sm" len="sm"/>
            <a:tailEnd type="triangle" w="med" len="med"/>
          </a:ln>
        </p:spPr>
      </p:cxnSp>
      <p:cxnSp>
        <p:nvCxnSpPr>
          <p:cNvPr id="491" name="Google Shape;491;p23"/>
          <p:cNvCxnSpPr>
            <a:stCxn id="475" idx="7"/>
            <a:endCxn id="476" idx="5"/>
          </p:cNvCxnSpPr>
          <p:nvPr/>
        </p:nvCxnSpPr>
        <p:spPr>
          <a:xfrm rot="-5400000">
            <a:off x="5666833" y="2795103"/>
            <a:ext cx="196200" cy="228300"/>
          </a:xfrm>
          <a:prstGeom prst="curvedConnector3">
            <a:avLst>
              <a:gd name="adj1" fmla="val 50002"/>
            </a:avLst>
          </a:prstGeom>
          <a:noFill/>
          <a:ln w="38100" cap="flat" cmpd="sng">
            <a:solidFill>
              <a:srgbClr val="990000"/>
            </a:solidFill>
            <a:prstDash val="solid"/>
            <a:round/>
            <a:headEnd type="none" w="sm" len="sm"/>
            <a:tailEnd type="triangle" w="med" len="med"/>
          </a:ln>
        </p:spPr>
      </p:cxnSp>
      <p:cxnSp>
        <p:nvCxnSpPr>
          <p:cNvPr id="492" name="Google Shape;492;p23"/>
          <p:cNvCxnSpPr>
            <a:endCxn id="478" idx="2"/>
          </p:cNvCxnSpPr>
          <p:nvPr/>
        </p:nvCxnSpPr>
        <p:spPr>
          <a:xfrm rot="10800000" flipH="1">
            <a:off x="5897021" y="2260625"/>
            <a:ext cx="825900" cy="417300"/>
          </a:xfrm>
          <a:prstGeom prst="curvedConnector3">
            <a:avLst>
              <a:gd name="adj1" fmla="val 50000"/>
            </a:avLst>
          </a:prstGeom>
          <a:noFill/>
          <a:ln w="38100" cap="flat" cmpd="sng">
            <a:solidFill>
              <a:srgbClr val="990000"/>
            </a:solidFill>
            <a:prstDash val="dot"/>
            <a:round/>
            <a:headEnd type="none" w="sm" len="sm"/>
            <a:tailEnd type="triangle" w="med" len="med"/>
          </a:ln>
        </p:spPr>
      </p:cxnSp>
      <p:cxnSp>
        <p:nvCxnSpPr>
          <p:cNvPr id="493" name="Google Shape;493;p23"/>
          <p:cNvCxnSpPr>
            <a:stCxn id="483" idx="2"/>
            <a:endCxn id="481" idx="6"/>
          </p:cNvCxnSpPr>
          <p:nvPr/>
        </p:nvCxnSpPr>
        <p:spPr>
          <a:xfrm rot="10800000">
            <a:off x="8050291" y="3154340"/>
            <a:ext cx="513600" cy="186000"/>
          </a:xfrm>
          <a:prstGeom prst="curvedConnector3">
            <a:avLst>
              <a:gd name="adj1" fmla="val 49998"/>
            </a:avLst>
          </a:prstGeom>
          <a:noFill/>
          <a:ln w="38100" cap="flat" cmpd="sng">
            <a:solidFill>
              <a:srgbClr val="F1C232"/>
            </a:solidFill>
            <a:prstDash val="solid"/>
            <a:round/>
            <a:headEnd type="none" w="sm" len="sm"/>
            <a:tailEnd type="triangle" w="med" len="med"/>
          </a:ln>
        </p:spPr>
      </p:cxnSp>
      <p:cxnSp>
        <p:nvCxnSpPr>
          <p:cNvPr id="494" name="Google Shape;494;p23"/>
          <p:cNvCxnSpPr>
            <a:endCxn id="485" idx="4"/>
          </p:cNvCxnSpPr>
          <p:nvPr/>
        </p:nvCxnSpPr>
        <p:spPr>
          <a:xfrm rot="10800000" flipH="1">
            <a:off x="7979128" y="2844312"/>
            <a:ext cx="275700" cy="234000"/>
          </a:xfrm>
          <a:prstGeom prst="curvedConnector2">
            <a:avLst/>
          </a:prstGeom>
          <a:noFill/>
          <a:ln w="38100" cap="flat" cmpd="sng">
            <a:solidFill>
              <a:srgbClr val="F1C232"/>
            </a:solidFill>
            <a:prstDash val="solid"/>
            <a:round/>
            <a:headEnd type="none" w="sm" len="sm"/>
            <a:tailEnd type="triangle" w="med" len="med"/>
          </a:ln>
        </p:spPr>
      </p:cxnSp>
      <p:cxnSp>
        <p:nvCxnSpPr>
          <p:cNvPr id="495" name="Google Shape;495;p23"/>
          <p:cNvCxnSpPr/>
          <p:nvPr/>
        </p:nvCxnSpPr>
        <p:spPr>
          <a:xfrm>
            <a:off x="4700525" y="1815450"/>
            <a:ext cx="0" cy="2427000"/>
          </a:xfrm>
          <a:prstGeom prst="straightConnector1">
            <a:avLst/>
          </a:prstGeom>
          <a:noFill/>
          <a:ln w="9525" cap="flat" cmpd="sng">
            <a:solidFill>
              <a:schemeClr val="dk2"/>
            </a:solidFill>
            <a:prstDash val="solid"/>
            <a:round/>
            <a:headEnd type="none" w="sm" len="sm"/>
            <a:tailEnd type="none" w="sm" len="sm"/>
          </a:ln>
        </p:spPr>
      </p:cxn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1155CC"/>
        </a:solidFill>
        <a:effectLst/>
      </p:bgPr>
    </p:bg>
    <p:spTree>
      <p:nvGrpSpPr>
        <p:cNvPr id="1" name="Shape 499"/>
        <p:cNvGrpSpPr/>
        <p:nvPr/>
      </p:nvGrpSpPr>
      <p:grpSpPr>
        <a:xfrm>
          <a:off x="0" y="0"/>
          <a:ext cx="0" cy="0"/>
          <a:chOff x="0" y="0"/>
          <a:chExt cx="0" cy="0"/>
        </a:xfrm>
      </p:grpSpPr>
      <p:sp>
        <p:nvSpPr>
          <p:cNvPr id="500" name="Google Shape;500;p24"/>
          <p:cNvSpPr txBox="1">
            <a:spLocks noGrp="1"/>
          </p:cNvSpPr>
          <p:nvPr>
            <p:ph type="title"/>
          </p:nvPr>
        </p:nvSpPr>
        <p:spPr>
          <a:xfrm>
            <a:off x="249825" y="291925"/>
            <a:ext cx="8757900" cy="1536000"/>
          </a:xfrm>
          <a:prstGeom prst="rect">
            <a:avLst/>
          </a:prstGeom>
          <a:noFill/>
          <a:ln>
            <a:noFill/>
          </a:ln>
        </p:spPr>
        <p:txBody>
          <a:bodyPr spcFirstLastPara="1" wrap="square" lIns="91425" tIns="91425" rIns="91425" bIns="91425" anchor="t" anchorCtr="0">
            <a:noAutofit/>
          </a:bodyPr>
          <a:lstStyle/>
          <a:p>
            <a:pPr marL="0" lvl="0" indent="0" algn="ctr" rtl="0">
              <a:lnSpc>
                <a:spcPct val="115000"/>
              </a:lnSpc>
              <a:spcBef>
                <a:spcPts val="0"/>
              </a:spcBef>
              <a:spcAft>
                <a:spcPts val="0"/>
              </a:spcAft>
              <a:buClr>
                <a:schemeClr val="dk1"/>
              </a:buClr>
              <a:buSzPts val="1100"/>
              <a:buFont typeface="Arial"/>
              <a:buNone/>
            </a:pPr>
            <a:r>
              <a:rPr lang="en" sz="3500">
                <a:solidFill>
                  <a:schemeClr val="lt1"/>
                </a:solidFill>
                <a:latin typeface="Lato"/>
                <a:ea typeface="Lato"/>
                <a:cs typeface="Lato"/>
                <a:sym typeface="Lato"/>
              </a:rPr>
              <a:t>Metadata collection and integration for applied genomic epidemiology</a:t>
            </a:r>
            <a:endParaRPr sz="3500">
              <a:solidFill>
                <a:schemeClr val="lt1"/>
              </a:solidFill>
              <a:latin typeface="Lato"/>
              <a:ea typeface="Lato"/>
              <a:cs typeface="Lato"/>
              <a:sym typeface="Lato"/>
            </a:endParaRPr>
          </a:p>
        </p:txBody>
      </p:sp>
      <p:sp>
        <p:nvSpPr>
          <p:cNvPr id="501" name="Google Shape;501;p24"/>
          <p:cNvSpPr txBox="1">
            <a:spLocks noGrp="1"/>
          </p:cNvSpPr>
          <p:nvPr>
            <p:ph type="subTitle" idx="4294967295"/>
          </p:nvPr>
        </p:nvSpPr>
        <p:spPr>
          <a:xfrm>
            <a:off x="311700" y="3217150"/>
            <a:ext cx="8520600" cy="792600"/>
          </a:xfrm>
          <a:prstGeom prst="rect">
            <a:avLst/>
          </a:prstGeom>
          <a:noFill/>
          <a:ln>
            <a:noFill/>
          </a:ln>
        </p:spPr>
        <p:txBody>
          <a:bodyPr spcFirstLastPara="1" wrap="square" lIns="91425" tIns="91425" rIns="91425" bIns="91425" anchor="t" anchorCtr="0">
            <a:noAutofit/>
          </a:bodyPr>
          <a:lstStyle/>
          <a:p>
            <a:pPr marL="0" marR="0" lvl="0" indent="0" algn="ctr" rtl="0">
              <a:lnSpc>
                <a:spcPct val="80000"/>
              </a:lnSpc>
              <a:spcBef>
                <a:spcPts val="0"/>
              </a:spcBef>
              <a:spcAft>
                <a:spcPts val="0"/>
              </a:spcAft>
              <a:buClr>
                <a:schemeClr val="dk2"/>
              </a:buClr>
              <a:buSzPts val="935"/>
              <a:buFont typeface="Arial"/>
              <a:buNone/>
            </a:pPr>
            <a:r>
              <a:rPr lang="en" sz="1800" b="0" i="0" u="none" strike="noStrike" cap="none">
                <a:solidFill>
                  <a:srgbClr val="EFEFEF"/>
                </a:solidFill>
                <a:latin typeface="Lato"/>
                <a:ea typeface="Lato"/>
                <a:cs typeface="Lato"/>
                <a:sym typeface="Lato"/>
              </a:rPr>
              <a:t>Paul Oluniyi, PhD</a:t>
            </a:r>
            <a:endParaRPr sz="1800" b="0" i="0" u="none" strike="noStrike" cap="none">
              <a:solidFill>
                <a:srgbClr val="EFEFEF"/>
              </a:solidFill>
              <a:latin typeface="Lato"/>
              <a:ea typeface="Lato"/>
              <a:cs typeface="Lato"/>
              <a:sym typeface="Lato"/>
            </a:endParaRPr>
          </a:p>
          <a:p>
            <a:pPr marL="0" marR="0" lvl="0" indent="0" algn="ctr" rtl="0">
              <a:lnSpc>
                <a:spcPct val="80000"/>
              </a:lnSpc>
              <a:spcBef>
                <a:spcPts val="1200"/>
              </a:spcBef>
              <a:spcAft>
                <a:spcPts val="1200"/>
              </a:spcAft>
              <a:buClr>
                <a:schemeClr val="dk2"/>
              </a:buClr>
              <a:buSzPts val="935"/>
              <a:buFont typeface="Arial"/>
              <a:buNone/>
            </a:pPr>
            <a:r>
              <a:rPr lang="en" sz="1800" b="0" i="0" u="none" strike="noStrike" cap="none">
                <a:solidFill>
                  <a:srgbClr val="EFEFEF"/>
                </a:solidFill>
                <a:latin typeface="Lato"/>
                <a:ea typeface="Lato"/>
                <a:cs typeface="Lato"/>
                <a:sym typeface="Lato"/>
              </a:rPr>
              <a:t>Scientist, Chan Zuckerberg Biohub</a:t>
            </a:r>
            <a:endParaRPr sz="1800" b="0" i="0" u="none" strike="noStrike" cap="none">
              <a:solidFill>
                <a:srgbClr val="EFEFEF"/>
              </a:solidFill>
              <a:latin typeface="Lato"/>
              <a:ea typeface="Lato"/>
              <a:cs typeface="Lato"/>
              <a:sym typeface="Lat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cxnSp>
        <p:nvCxnSpPr>
          <p:cNvPr id="506" name="Google Shape;506;p25"/>
          <p:cNvCxnSpPr/>
          <p:nvPr/>
        </p:nvCxnSpPr>
        <p:spPr>
          <a:xfrm>
            <a:off x="534749" y="3268457"/>
            <a:ext cx="1270500" cy="0"/>
          </a:xfrm>
          <a:prstGeom prst="straightConnector1">
            <a:avLst/>
          </a:prstGeom>
          <a:noFill/>
          <a:ln w="28575" cap="flat" cmpd="sng">
            <a:solidFill>
              <a:srgbClr val="999999"/>
            </a:solidFill>
            <a:prstDash val="solid"/>
            <a:round/>
            <a:headEnd type="none" w="sm" len="sm"/>
            <a:tailEnd type="none" w="sm" len="sm"/>
          </a:ln>
        </p:spPr>
      </p:cxnSp>
      <p:cxnSp>
        <p:nvCxnSpPr>
          <p:cNvPr id="507" name="Google Shape;507;p25"/>
          <p:cNvCxnSpPr/>
          <p:nvPr/>
        </p:nvCxnSpPr>
        <p:spPr>
          <a:xfrm>
            <a:off x="534749" y="4598802"/>
            <a:ext cx="4000800" cy="0"/>
          </a:xfrm>
          <a:prstGeom prst="straightConnector1">
            <a:avLst/>
          </a:prstGeom>
          <a:noFill/>
          <a:ln w="28575" cap="flat" cmpd="sng">
            <a:solidFill>
              <a:srgbClr val="999999"/>
            </a:solidFill>
            <a:prstDash val="solid"/>
            <a:round/>
            <a:headEnd type="none" w="sm" len="sm"/>
            <a:tailEnd type="none" w="sm" len="sm"/>
          </a:ln>
        </p:spPr>
      </p:cxnSp>
      <p:cxnSp>
        <p:nvCxnSpPr>
          <p:cNvPr id="508" name="Google Shape;508;p25"/>
          <p:cNvCxnSpPr/>
          <p:nvPr/>
        </p:nvCxnSpPr>
        <p:spPr>
          <a:xfrm rot="10800000">
            <a:off x="534736" y="3249218"/>
            <a:ext cx="0" cy="1365900"/>
          </a:xfrm>
          <a:prstGeom prst="straightConnector1">
            <a:avLst/>
          </a:prstGeom>
          <a:noFill/>
          <a:ln w="28575" cap="flat" cmpd="sng">
            <a:solidFill>
              <a:srgbClr val="999999"/>
            </a:solidFill>
            <a:prstDash val="solid"/>
            <a:round/>
            <a:headEnd type="none" w="sm" len="sm"/>
            <a:tailEnd type="none" w="sm" len="sm"/>
          </a:ln>
        </p:spPr>
      </p:cxnSp>
      <p:cxnSp>
        <p:nvCxnSpPr>
          <p:cNvPr id="509" name="Google Shape;509;p25"/>
          <p:cNvCxnSpPr/>
          <p:nvPr/>
        </p:nvCxnSpPr>
        <p:spPr>
          <a:xfrm rot="10800000">
            <a:off x="1805225" y="2585460"/>
            <a:ext cx="0" cy="1365900"/>
          </a:xfrm>
          <a:prstGeom prst="straightConnector1">
            <a:avLst/>
          </a:prstGeom>
          <a:noFill/>
          <a:ln w="28575" cap="flat" cmpd="sng">
            <a:solidFill>
              <a:srgbClr val="999999"/>
            </a:solidFill>
            <a:prstDash val="solid"/>
            <a:round/>
            <a:headEnd type="none" w="sm" len="sm"/>
            <a:tailEnd type="none" w="sm" len="sm"/>
          </a:ln>
        </p:spPr>
      </p:cxnSp>
      <p:cxnSp>
        <p:nvCxnSpPr>
          <p:cNvPr id="510" name="Google Shape;510;p25"/>
          <p:cNvCxnSpPr/>
          <p:nvPr/>
        </p:nvCxnSpPr>
        <p:spPr>
          <a:xfrm>
            <a:off x="1805237" y="3942335"/>
            <a:ext cx="1270500" cy="0"/>
          </a:xfrm>
          <a:prstGeom prst="straightConnector1">
            <a:avLst/>
          </a:prstGeom>
          <a:noFill/>
          <a:ln w="28575" cap="flat" cmpd="sng">
            <a:solidFill>
              <a:srgbClr val="999999"/>
            </a:solidFill>
            <a:prstDash val="solid"/>
            <a:round/>
            <a:headEnd type="none" w="sm" len="sm"/>
            <a:tailEnd type="none" w="sm" len="sm"/>
          </a:ln>
        </p:spPr>
      </p:cxnSp>
      <p:cxnSp>
        <p:nvCxnSpPr>
          <p:cNvPr id="511" name="Google Shape;511;p25"/>
          <p:cNvCxnSpPr/>
          <p:nvPr/>
        </p:nvCxnSpPr>
        <p:spPr>
          <a:xfrm rot="10800000">
            <a:off x="3075713" y="3644045"/>
            <a:ext cx="0" cy="576300"/>
          </a:xfrm>
          <a:prstGeom prst="straightConnector1">
            <a:avLst/>
          </a:prstGeom>
          <a:noFill/>
          <a:ln w="28575" cap="flat" cmpd="sng">
            <a:solidFill>
              <a:srgbClr val="999999"/>
            </a:solidFill>
            <a:prstDash val="solid"/>
            <a:round/>
            <a:headEnd type="none" w="sm" len="sm"/>
            <a:tailEnd type="none" w="sm" len="sm"/>
          </a:ln>
        </p:spPr>
      </p:cxnSp>
      <p:cxnSp>
        <p:nvCxnSpPr>
          <p:cNvPr id="512" name="Google Shape;512;p25"/>
          <p:cNvCxnSpPr/>
          <p:nvPr/>
        </p:nvCxnSpPr>
        <p:spPr>
          <a:xfrm>
            <a:off x="1805237" y="2588450"/>
            <a:ext cx="1270500" cy="0"/>
          </a:xfrm>
          <a:prstGeom prst="straightConnector1">
            <a:avLst/>
          </a:prstGeom>
          <a:noFill/>
          <a:ln w="28575" cap="flat" cmpd="sng">
            <a:solidFill>
              <a:srgbClr val="999999"/>
            </a:solidFill>
            <a:prstDash val="solid"/>
            <a:round/>
            <a:headEnd type="none" w="sm" len="sm"/>
            <a:tailEnd type="none" w="sm" len="sm"/>
          </a:ln>
        </p:spPr>
      </p:cxnSp>
      <p:cxnSp>
        <p:nvCxnSpPr>
          <p:cNvPr id="513" name="Google Shape;513;p25"/>
          <p:cNvCxnSpPr/>
          <p:nvPr/>
        </p:nvCxnSpPr>
        <p:spPr>
          <a:xfrm rot="10800000">
            <a:off x="3075713" y="2151153"/>
            <a:ext cx="0" cy="874500"/>
          </a:xfrm>
          <a:prstGeom prst="straightConnector1">
            <a:avLst/>
          </a:prstGeom>
          <a:noFill/>
          <a:ln w="28575" cap="flat" cmpd="sng">
            <a:solidFill>
              <a:srgbClr val="999999"/>
            </a:solidFill>
            <a:prstDash val="solid"/>
            <a:round/>
            <a:headEnd type="none" w="sm" len="sm"/>
            <a:tailEnd type="none" w="sm" len="sm"/>
          </a:ln>
        </p:spPr>
      </p:cxnSp>
      <p:cxnSp>
        <p:nvCxnSpPr>
          <p:cNvPr id="514" name="Google Shape;514;p25"/>
          <p:cNvCxnSpPr/>
          <p:nvPr/>
        </p:nvCxnSpPr>
        <p:spPr>
          <a:xfrm>
            <a:off x="3075726" y="3025660"/>
            <a:ext cx="786600" cy="0"/>
          </a:xfrm>
          <a:prstGeom prst="straightConnector1">
            <a:avLst/>
          </a:prstGeom>
          <a:noFill/>
          <a:ln w="28575" cap="flat" cmpd="sng">
            <a:solidFill>
              <a:srgbClr val="999999"/>
            </a:solidFill>
            <a:prstDash val="solid"/>
            <a:round/>
            <a:headEnd type="none" w="sm" len="sm"/>
            <a:tailEnd type="none" w="sm" len="sm"/>
          </a:ln>
        </p:spPr>
      </p:cxnSp>
      <p:cxnSp>
        <p:nvCxnSpPr>
          <p:cNvPr id="515" name="Google Shape;515;p25"/>
          <p:cNvCxnSpPr/>
          <p:nvPr/>
        </p:nvCxnSpPr>
        <p:spPr>
          <a:xfrm rot="10800000">
            <a:off x="3862206" y="2737490"/>
            <a:ext cx="0" cy="576300"/>
          </a:xfrm>
          <a:prstGeom prst="straightConnector1">
            <a:avLst/>
          </a:prstGeom>
          <a:noFill/>
          <a:ln w="28575" cap="flat" cmpd="sng">
            <a:solidFill>
              <a:srgbClr val="999999"/>
            </a:solidFill>
            <a:prstDash val="solid"/>
            <a:round/>
            <a:headEnd type="none" w="sm" len="sm"/>
            <a:tailEnd type="none" w="sm" len="sm"/>
          </a:ln>
        </p:spPr>
      </p:cxnSp>
      <p:cxnSp>
        <p:nvCxnSpPr>
          <p:cNvPr id="516" name="Google Shape;516;p25"/>
          <p:cNvCxnSpPr/>
          <p:nvPr/>
        </p:nvCxnSpPr>
        <p:spPr>
          <a:xfrm>
            <a:off x="3862218" y="3313796"/>
            <a:ext cx="786600" cy="0"/>
          </a:xfrm>
          <a:prstGeom prst="straightConnector1">
            <a:avLst/>
          </a:prstGeom>
          <a:noFill/>
          <a:ln w="28575" cap="flat" cmpd="sng">
            <a:solidFill>
              <a:srgbClr val="999999"/>
            </a:solidFill>
            <a:prstDash val="solid"/>
            <a:round/>
            <a:headEnd type="none" w="sm" len="sm"/>
            <a:tailEnd type="none" w="sm" len="sm"/>
          </a:ln>
        </p:spPr>
      </p:cxnSp>
      <p:cxnSp>
        <p:nvCxnSpPr>
          <p:cNvPr id="517" name="Google Shape;517;p25"/>
          <p:cNvCxnSpPr/>
          <p:nvPr/>
        </p:nvCxnSpPr>
        <p:spPr>
          <a:xfrm>
            <a:off x="3075726" y="2152637"/>
            <a:ext cx="1270500" cy="0"/>
          </a:xfrm>
          <a:prstGeom prst="straightConnector1">
            <a:avLst/>
          </a:prstGeom>
          <a:noFill/>
          <a:ln w="28575" cap="flat" cmpd="sng">
            <a:solidFill>
              <a:srgbClr val="999999"/>
            </a:solidFill>
            <a:prstDash val="solid"/>
            <a:round/>
            <a:headEnd type="none" w="sm" len="sm"/>
            <a:tailEnd type="none" w="sm" len="sm"/>
          </a:ln>
        </p:spPr>
      </p:cxnSp>
      <p:sp>
        <p:nvSpPr>
          <p:cNvPr id="518" name="Google Shape;518;p25"/>
          <p:cNvSpPr/>
          <p:nvPr/>
        </p:nvSpPr>
        <p:spPr>
          <a:xfrm>
            <a:off x="3025290" y="3601491"/>
            <a:ext cx="100800" cy="100800"/>
          </a:xfrm>
          <a:prstGeom prst="ellipse">
            <a:avLst/>
          </a:pr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19" name="Google Shape;519;p25"/>
          <p:cNvSpPr txBox="1"/>
          <p:nvPr/>
        </p:nvSpPr>
        <p:spPr>
          <a:xfrm>
            <a:off x="2141832" y="3644038"/>
            <a:ext cx="786600" cy="2226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C1321T</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p:txBody>
      </p:sp>
      <p:sp>
        <p:nvSpPr>
          <p:cNvPr id="520" name="Google Shape;520;p25"/>
          <p:cNvSpPr/>
          <p:nvPr/>
        </p:nvSpPr>
        <p:spPr>
          <a:xfrm>
            <a:off x="3025290" y="4182348"/>
            <a:ext cx="100800" cy="100800"/>
          </a:xfrm>
          <a:prstGeom prst="ellipse">
            <a:avLst/>
          </a:pr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1" name="Google Shape;521;p25"/>
          <p:cNvSpPr/>
          <p:nvPr/>
        </p:nvSpPr>
        <p:spPr>
          <a:xfrm>
            <a:off x="4498188" y="4548365"/>
            <a:ext cx="100800" cy="100800"/>
          </a:xfrm>
          <a:prstGeom prst="ellipse">
            <a:avLst/>
          </a:pr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2" name="Google Shape;522;p25"/>
          <p:cNvSpPr/>
          <p:nvPr/>
        </p:nvSpPr>
        <p:spPr>
          <a:xfrm>
            <a:off x="4599036" y="3263356"/>
            <a:ext cx="100800" cy="100800"/>
          </a:xfrm>
          <a:prstGeom prst="ellipse">
            <a:avLst/>
          </a:pr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3" name="Google Shape;523;p25"/>
          <p:cNvSpPr/>
          <p:nvPr/>
        </p:nvSpPr>
        <p:spPr>
          <a:xfrm>
            <a:off x="3811776" y="2682792"/>
            <a:ext cx="100800" cy="100800"/>
          </a:xfrm>
          <a:prstGeom prst="ellipse">
            <a:avLst/>
          </a:pr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4" name="Google Shape;524;p25"/>
          <p:cNvSpPr/>
          <p:nvPr/>
        </p:nvSpPr>
        <p:spPr>
          <a:xfrm>
            <a:off x="4264060" y="2102220"/>
            <a:ext cx="100800" cy="100800"/>
          </a:xfrm>
          <a:prstGeom prst="ellipse">
            <a:avLst/>
          </a:prstGeom>
          <a:solidFill>
            <a:srgbClr val="434343"/>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25" name="Google Shape;525;p25"/>
          <p:cNvSpPr txBox="1"/>
          <p:nvPr/>
        </p:nvSpPr>
        <p:spPr>
          <a:xfrm>
            <a:off x="2095013" y="2301340"/>
            <a:ext cx="786600" cy="28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T8897C</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p:txBody>
      </p:sp>
      <p:sp>
        <p:nvSpPr>
          <p:cNvPr id="526" name="Google Shape;526;p25"/>
          <p:cNvSpPr txBox="1"/>
          <p:nvPr/>
        </p:nvSpPr>
        <p:spPr>
          <a:xfrm>
            <a:off x="834450" y="2981363"/>
            <a:ext cx="786600" cy="28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A101G</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p:txBody>
      </p:sp>
      <p:sp>
        <p:nvSpPr>
          <p:cNvPr id="527" name="Google Shape;527;p25"/>
          <p:cNvSpPr txBox="1"/>
          <p:nvPr/>
        </p:nvSpPr>
        <p:spPr>
          <a:xfrm>
            <a:off x="884237" y="4297425"/>
            <a:ext cx="3301800" cy="28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A2355G, T4567C, G5982A, T5998C, C9563T</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p:txBody>
      </p:sp>
      <p:sp>
        <p:nvSpPr>
          <p:cNvPr id="528" name="Google Shape;528;p25"/>
          <p:cNvSpPr txBox="1"/>
          <p:nvPr/>
        </p:nvSpPr>
        <p:spPr>
          <a:xfrm>
            <a:off x="3413842" y="1877687"/>
            <a:ext cx="896700" cy="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A3487G</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p:txBody>
      </p:sp>
      <p:sp>
        <p:nvSpPr>
          <p:cNvPr id="529" name="Google Shape;529;p25"/>
          <p:cNvSpPr txBox="1"/>
          <p:nvPr/>
        </p:nvSpPr>
        <p:spPr>
          <a:xfrm>
            <a:off x="3188763" y="2737480"/>
            <a:ext cx="786600" cy="28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A45G</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p:txBody>
      </p:sp>
      <p:sp>
        <p:nvSpPr>
          <p:cNvPr id="530" name="Google Shape;530;p25"/>
          <p:cNvSpPr txBox="1"/>
          <p:nvPr/>
        </p:nvSpPr>
        <p:spPr>
          <a:xfrm>
            <a:off x="3912588" y="3025664"/>
            <a:ext cx="896700" cy="2871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000000"/>
                </a:solidFill>
                <a:latin typeface="Lato"/>
                <a:ea typeface="Lato"/>
                <a:cs typeface="Lato"/>
                <a:sym typeface="Lato"/>
              </a:rPr>
              <a:t>T1089A</a:t>
            </a:r>
            <a:endParaRPr sz="12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rgbClr val="000000"/>
              </a:solidFill>
              <a:latin typeface="Lato Light"/>
              <a:ea typeface="Lato Light"/>
              <a:cs typeface="Lato Light"/>
              <a:sym typeface="Lato Light"/>
            </a:endParaRPr>
          </a:p>
        </p:txBody>
      </p:sp>
      <p:cxnSp>
        <p:nvCxnSpPr>
          <p:cNvPr id="531" name="Google Shape;531;p25"/>
          <p:cNvCxnSpPr/>
          <p:nvPr/>
        </p:nvCxnSpPr>
        <p:spPr>
          <a:xfrm>
            <a:off x="255588" y="3942338"/>
            <a:ext cx="279300" cy="0"/>
          </a:xfrm>
          <a:prstGeom prst="straightConnector1">
            <a:avLst/>
          </a:prstGeom>
          <a:noFill/>
          <a:ln w="28575" cap="flat" cmpd="sng">
            <a:solidFill>
              <a:srgbClr val="999999"/>
            </a:solidFill>
            <a:prstDash val="solid"/>
            <a:round/>
            <a:headEnd type="none" w="sm" len="sm"/>
            <a:tailEnd type="none" w="sm" len="sm"/>
          </a:ln>
        </p:spPr>
      </p:cxnSp>
      <p:sp>
        <p:nvSpPr>
          <p:cNvPr id="532" name="Google Shape;532;p25"/>
          <p:cNvSpPr txBox="1"/>
          <p:nvPr/>
        </p:nvSpPr>
        <p:spPr>
          <a:xfrm>
            <a:off x="4346255" y="1877688"/>
            <a:ext cx="417300" cy="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A</a:t>
            </a:r>
            <a:endParaRPr sz="18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p:txBody>
      </p:sp>
      <p:sp>
        <p:nvSpPr>
          <p:cNvPr id="533" name="Google Shape;533;p25"/>
          <p:cNvSpPr txBox="1"/>
          <p:nvPr/>
        </p:nvSpPr>
        <p:spPr>
          <a:xfrm>
            <a:off x="3862205" y="2508363"/>
            <a:ext cx="417300" cy="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B</a:t>
            </a:r>
            <a:endParaRPr sz="18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p:txBody>
      </p:sp>
      <p:sp>
        <p:nvSpPr>
          <p:cNvPr id="534" name="Google Shape;534;p25"/>
          <p:cNvSpPr txBox="1"/>
          <p:nvPr/>
        </p:nvSpPr>
        <p:spPr>
          <a:xfrm>
            <a:off x="4638855" y="3020563"/>
            <a:ext cx="417300" cy="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C</a:t>
            </a:r>
            <a:endParaRPr sz="18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p:txBody>
      </p:sp>
      <p:sp>
        <p:nvSpPr>
          <p:cNvPr id="535" name="Google Shape;535;p25"/>
          <p:cNvSpPr txBox="1"/>
          <p:nvPr/>
        </p:nvSpPr>
        <p:spPr>
          <a:xfrm>
            <a:off x="3075705" y="3411538"/>
            <a:ext cx="417300" cy="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D</a:t>
            </a:r>
            <a:endParaRPr sz="18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p:txBody>
      </p:sp>
      <p:sp>
        <p:nvSpPr>
          <p:cNvPr id="536" name="Google Shape;536;p25"/>
          <p:cNvSpPr txBox="1"/>
          <p:nvPr/>
        </p:nvSpPr>
        <p:spPr>
          <a:xfrm>
            <a:off x="3105580" y="4001900"/>
            <a:ext cx="417300" cy="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E</a:t>
            </a:r>
            <a:endParaRPr sz="18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p:txBody>
      </p:sp>
      <p:sp>
        <p:nvSpPr>
          <p:cNvPr id="537" name="Google Shape;537;p25"/>
          <p:cNvSpPr txBox="1"/>
          <p:nvPr/>
        </p:nvSpPr>
        <p:spPr>
          <a:xfrm>
            <a:off x="4535530" y="4292338"/>
            <a:ext cx="417300" cy="297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1" i="0" u="none" strike="noStrike" cap="none">
                <a:solidFill>
                  <a:srgbClr val="000000"/>
                </a:solidFill>
                <a:latin typeface="Lato"/>
                <a:ea typeface="Lato"/>
                <a:cs typeface="Lato"/>
                <a:sym typeface="Lato"/>
              </a:rPr>
              <a:t>F</a:t>
            </a:r>
            <a:endParaRPr sz="1800" b="1"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rgbClr val="000000"/>
              </a:solidFill>
              <a:latin typeface="Lato Light"/>
              <a:ea typeface="Lato Light"/>
              <a:cs typeface="Lato Light"/>
              <a:sym typeface="Lato Light"/>
            </a:endParaRPr>
          </a:p>
        </p:txBody>
      </p:sp>
      <p:sp>
        <p:nvSpPr>
          <p:cNvPr id="538" name="Google Shape;538;p25"/>
          <p:cNvSpPr txBox="1"/>
          <p:nvPr/>
        </p:nvSpPr>
        <p:spPr>
          <a:xfrm>
            <a:off x="5132863" y="1804929"/>
            <a:ext cx="3720300" cy="42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A, 02-11-2021, Summerland, F, 32</a:t>
            </a:r>
            <a:endParaRPr sz="18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p:txBody>
      </p:sp>
      <p:sp>
        <p:nvSpPr>
          <p:cNvPr id="539" name="Google Shape;539;p25"/>
          <p:cNvSpPr txBox="1">
            <a:spLocks noGrp="1"/>
          </p:cNvSpPr>
          <p:nvPr>
            <p:ph type="title" idx="4294967295"/>
          </p:nvPr>
        </p:nvSpPr>
        <p:spPr>
          <a:xfrm>
            <a:off x="0" y="-17225"/>
            <a:ext cx="9206400" cy="698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990"/>
              <a:buNone/>
            </a:pPr>
            <a:r>
              <a:rPr lang="en" sz="2050">
                <a:latin typeface="Lato Light"/>
                <a:ea typeface="Lato Light"/>
                <a:cs typeface="Lato Light"/>
                <a:sym typeface="Lato Light"/>
              </a:rPr>
              <a:t>While sequence data are a critical component of genomic epidemiology, additional information about the sample (or infected individual) allow richer analysis.</a:t>
            </a:r>
            <a:endParaRPr sz="2050">
              <a:latin typeface="Lato Light"/>
              <a:ea typeface="Lato Light"/>
              <a:cs typeface="Lato Light"/>
              <a:sym typeface="Lato Light"/>
            </a:endParaRPr>
          </a:p>
        </p:txBody>
      </p:sp>
      <p:sp>
        <p:nvSpPr>
          <p:cNvPr id="540" name="Google Shape;540;p25"/>
          <p:cNvSpPr txBox="1"/>
          <p:nvPr/>
        </p:nvSpPr>
        <p:spPr>
          <a:xfrm>
            <a:off x="5168113" y="2297038"/>
            <a:ext cx="3649800" cy="42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B, 01-31-2021, Peachland, M, 68</a:t>
            </a:r>
            <a:endParaRPr sz="20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p:txBody>
      </p:sp>
      <p:sp>
        <p:nvSpPr>
          <p:cNvPr id="541" name="Google Shape;541;p25"/>
          <p:cNvSpPr txBox="1"/>
          <p:nvPr/>
        </p:nvSpPr>
        <p:spPr>
          <a:xfrm>
            <a:off x="5132863" y="2789138"/>
            <a:ext cx="3720300" cy="42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C, 02-08-2021, Kelowna, F, 44</a:t>
            </a:r>
            <a:endParaRPr sz="20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p:txBody>
      </p:sp>
      <p:sp>
        <p:nvSpPr>
          <p:cNvPr id="542" name="Google Shape;542;p25"/>
          <p:cNvSpPr txBox="1"/>
          <p:nvPr/>
        </p:nvSpPr>
        <p:spPr>
          <a:xfrm>
            <a:off x="5168113" y="3264604"/>
            <a:ext cx="3720300" cy="42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D, 01-10-2021, Penticton, F, 32</a:t>
            </a:r>
            <a:endParaRPr sz="18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p:txBody>
      </p:sp>
      <p:sp>
        <p:nvSpPr>
          <p:cNvPr id="543" name="Google Shape;543;p25"/>
          <p:cNvSpPr txBox="1"/>
          <p:nvPr/>
        </p:nvSpPr>
        <p:spPr>
          <a:xfrm>
            <a:off x="5168113" y="3746229"/>
            <a:ext cx="3720300" cy="42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E, 01-09-2021, Penticton, F, 33</a:t>
            </a:r>
            <a:endParaRPr sz="18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p:txBody>
      </p:sp>
      <p:sp>
        <p:nvSpPr>
          <p:cNvPr id="544" name="Google Shape;544;p25"/>
          <p:cNvSpPr txBox="1"/>
          <p:nvPr/>
        </p:nvSpPr>
        <p:spPr>
          <a:xfrm>
            <a:off x="5168113" y="4227854"/>
            <a:ext cx="3720300" cy="426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800" b="0" i="0" u="none" strike="noStrike" cap="none">
                <a:solidFill>
                  <a:srgbClr val="000000"/>
                </a:solidFill>
                <a:latin typeface="Lato"/>
                <a:ea typeface="Lato"/>
                <a:cs typeface="Lato"/>
                <a:sym typeface="Lato"/>
              </a:rPr>
              <a:t>F, 02-11-2021, Moosejaw, M, 76</a:t>
            </a:r>
            <a:endParaRPr sz="1800" b="0" i="0" u="none" strike="noStrike" cap="none">
              <a:solidFill>
                <a:srgbClr val="000000"/>
              </a:solidFill>
              <a:latin typeface="Lato"/>
              <a:ea typeface="Lato"/>
              <a:cs typeface="Lato"/>
              <a:sym typeface="Lato"/>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a:p>
            <a:pPr marL="0" marR="0" lvl="0" indent="0" algn="l" rtl="0">
              <a:lnSpc>
                <a:spcPct val="100000"/>
              </a:lnSpc>
              <a:spcBef>
                <a:spcPts val="0"/>
              </a:spcBef>
              <a:spcAft>
                <a:spcPts val="0"/>
              </a:spcAft>
              <a:buClr>
                <a:srgbClr val="000000"/>
              </a:buClr>
              <a:buSzPts val="2000"/>
              <a:buFont typeface="Arial"/>
              <a:buNone/>
            </a:pPr>
            <a:endParaRPr sz="2000" b="0" i="0" u="none" strike="noStrike" cap="none">
              <a:solidFill>
                <a:srgbClr val="000000"/>
              </a:solidFill>
              <a:latin typeface="Lato Light"/>
              <a:ea typeface="Lato Light"/>
              <a:cs typeface="Lato Light"/>
              <a:sym typeface="Lato Light"/>
            </a:endParaRPr>
          </a:p>
        </p:txBody>
      </p:sp>
      <p:sp>
        <p:nvSpPr>
          <p:cNvPr id="545" name="Google Shape;545;p25"/>
          <p:cNvSpPr txBox="1"/>
          <p:nvPr/>
        </p:nvSpPr>
        <p:spPr>
          <a:xfrm>
            <a:off x="212250" y="1373050"/>
            <a:ext cx="19155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000000"/>
                </a:solidFill>
                <a:latin typeface="Lato"/>
                <a:ea typeface="Lato"/>
                <a:cs typeface="Lato"/>
                <a:sym typeface="Lato"/>
              </a:rPr>
              <a:t>Genomic data</a:t>
            </a:r>
            <a:endParaRPr sz="2200" b="0" i="0" u="none" strike="noStrike" cap="none">
              <a:solidFill>
                <a:srgbClr val="000000"/>
              </a:solidFill>
              <a:latin typeface="Lato"/>
              <a:ea typeface="Lato"/>
              <a:cs typeface="Lato"/>
              <a:sym typeface="Lato"/>
            </a:endParaRPr>
          </a:p>
        </p:txBody>
      </p:sp>
      <p:sp>
        <p:nvSpPr>
          <p:cNvPr id="546" name="Google Shape;546;p25"/>
          <p:cNvSpPr txBox="1"/>
          <p:nvPr/>
        </p:nvSpPr>
        <p:spPr>
          <a:xfrm>
            <a:off x="5168125" y="1373050"/>
            <a:ext cx="1559100" cy="523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000000"/>
                </a:solidFill>
                <a:latin typeface="Lato"/>
                <a:ea typeface="Lato"/>
                <a:cs typeface="Lato"/>
                <a:sym typeface="Lato"/>
              </a:rPr>
              <a:t>Metadata</a:t>
            </a:r>
            <a:endParaRPr sz="2200" b="0" i="0" u="none" strike="noStrike" cap="none">
              <a:solidFill>
                <a:srgbClr val="000000"/>
              </a:solidFill>
              <a:latin typeface="Lato"/>
              <a:ea typeface="Lato"/>
              <a:cs typeface="Lato"/>
              <a:sym typeface="Lat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cxnSp>
        <p:nvCxnSpPr>
          <p:cNvPr id="551" name="Google Shape;551;p26"/>
          <p:cNvCxnSpPr/>
          <p:nvPr/>
        </p:nvCxnSpPr>
        <p:spPr>
          <a:xfrm>
            <a:off x="257850" y="1677825"/>
            <a:ext cx="8628300" cy="0"/>
          </a:xfrm>
          <a:prstGeom prst="straightConnector1">
            <a:avLst/>
          </a:prstGeom>
          <a:noFill/>
          <a:ln w="9525" cap="flat" cmpd="sng">
            <a:solidFill>
              <a:schemeClr val="dk2"/>
            </a:solidFill>
            <a:prstDash val="solid"/>
            <a:round/>
            <a:headEnd type="none" w="sm" len="sm"/>
            <a:tailEnd type="none" w="sm" len="sm"/>
          </a:ln>
        </p:spPr>
      </p:cxnSp>
      <p:cxnSp>
        <p:nvCxnSpPr>
          <p:cNvPr id="552" name="Google Shape;552;p26"/>
          <p:cNvCxnSpPr/>
          <p:nvPr/>
        </p:nvCxnSpPr>
        <p:spPr>
          <a:xfrm>
            <a:off x="2313875" y="1691775"/>
            <a:ext cx="0" cy="2383500"/>
          </a:xfrm>
          <a:prstGeom prst="straightConnector1">
            <a:avLst/>
          </a:prstGeom>
          <a:noFill/>
          <a:ln w="9525" cap="flat" cmpd="sng">
            <a:solidFill>
              <a:schemeClr val="dk2"/>
            </a:solidFill>
            <a:prstDash val="solid"/>
            <a:round/>
            <a:headEnd type="none" w="sm" len="sm"/>
            <a:tailEnd type="none" w="sm" len="sm"/>
          </a:ln>
        </p:spPr>
      </p:cxnSp>
      <p:cxnSp>
        <p:nvCxnSpPr>
          <p:cNvPr id="553" name="Google Shape;553;p26"/>
          <p:cNvCxnSpPr/>
          <p:nvPr/>
        </p:nvCxnSpPr>
        <p:spPr>
          <a:xfrm>
            <a:off x="257850" y="2471425"/>
            <a:ext cx="8628300" cy="0"/>
          </a:xfrm>
          <a:prstGeom prst="straightConnector1">
            <a:avLst/>
          </a:prstGeom>
          <a:noFill/>
          <a:ln w="9525" cap="flat" cmpd="sng">
            <a:solidFill>
              <a:schemeClr val="dk2"/>
            </a:solidFill>
            <a:prstDash val="solid"/>
            <a:round/>
            <a:headEnd type="none" w="sm" len="sm"/>
            <a:tailEnd type="none" w="sm" len="sm"/>
          </a:ln>
        </p:spPr>
      </p:cxnSp>
      <p:cxnSp>
        <p:nvCxnSpPr>
          <p:cNvPr id="554" name="Google Shape;554;p26"/>
          <p:cNvCxnSpPr/>
          <p:nvPr/>
        </p:nvCxnSpPr>
        <p:spPr>
          <a:xfrm>
            <a:off x="257850" y="3265025"/>
            <a:ext cx="8628300" cy="0"/>
          </a:xfrm>
          <a:prstGeom prst="straightConnector1">
            <a:avLst/>
          </a:prstGeom>
          <a:noFill/>
          <a:ln w="9525" cap="flat" cmpd="sng">
            <a:solidFill>
              <a:schemeClr val="dk2"/>
            </a:solidFill>
            <a:prstDash val="solid"/>
            <a:round/>
            <a:headEnd type="none" w="sm" len="sm"/>
            <a:tailEnd type="none" w="sm" len="sm"/>
          </a:ln>
        </p:spPr>
      </p:cxnSp>
      <p:cxnSp>
        <p:nvCxnSpPr>
          <p:cNvPr id="555" name="Google Shape;555;p26"/>
          <p:cNvCxnSpPr/>
          <p:nvPr/>
        </p:nvCxnSpPr>
        <p:spPr>
          <a:xfrm>
            <a:off x="257850" y="4058625"/>
            <a:ext cx="8628300" cy="0"/>
          </a:xfrm>
          <a:prstGeom prst="straightConnector1">
            <a:avLst/>
          </a:prstGeom>
          <a:noFill/>
          <a:ln w="9525" cap="flat" cmpd="sng">
            <a:solidFill>
              <a:schemeClr val="dk2"/>
            </a:solidFill>
            <a:prstDash val="solid"/>
            <a:round/>
            <a:headEnd type="none" w="sm" len="sm"/>
            <a:tailEnd type="none" w="sm" len="sm"/>
          </a:ln>
        </p:spPr>
      </p:cxnSp>
      <p:cxnSp>
        <p:nvCxnSpPr>
          <p:cNvPr id="556" name="Google Shape;556;p26"/>
          <p:cNvCxnSpPr/>
          <p:nvPr/>
        </p:nvCxnSpPr>
        <p:spPr>
          <a:xfrm>
            <a:off x="5811650" y="1691775"/>
            <a:ext cx="0" cy="2369700"/>
          </a:xfrm>
          <a:prstGeom prst="straightConnector1">
            <a:avLst/>
          </a:prstGeom>
          <a:noFill/>
          <a:ln w="9525" cap="flat" cmpd="sng">
            <a:solidFill>
              <a:schemeClr val="dk2"/>
            </a:solidFill>
            <a:prstDash val="solid"/>
            <a:round/>
            <a:headEnd type="none" w="sm" len="sm"/>
            <a:tailEnd type="none" w="sm" len="sm"/>
          </a:ln>
        </p:spPr>
      </p:cxnSp>
      <p:sp>
        <p:nvSpPr>
          <p:cNvPr id="557" name="Google Shape;557;p26"/>
          <p:cNvSpPr txBox="1"/>
          <p:nvPr/>
        </p:nvSpPr>
        <p:spPr>
          <a:xfrm>
            <a:off x="418175" y="1851425"/>
            <a:ext cx="1826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Lato"/>
                <a:ea typeface="Lato"/>
                <a:cs typeface="Lato"/>
                <a:sym typeface="Lato"/>
              </a:rPr>
              <a:t>Sample</a:t>
            </a:r>
            <a:endParaRPr sz="1700" b="1" i="0" u="none" strike="noStrike" cap="none">
              <a:solidFill>
                <a:srgbClr val="000000"/>
              </a:solidFill>
              <a:latin typeface="Lato"/>
              <a:ea typeface="Lato"/>
              <a:cs typeface="Lato"/>
              <a:sym typeface="Lato"/>
            </a:endParaRPr>
          </a:p>
        </p:txBody>
      </p:sp>
      <p:sp>
        <p:nvSpPr>
          <p:cNvPr id="558" name="Google Shape;558;p26"/>
          <p:cNvSpPr txBox="1"/>
          <p:nvPr/>
        </p:nvSpPr>
        <p:spPr>
          <a:xfrm>
            <a:off x="2383475" y="1851425"/>
            <a:ext cx="16170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Nasal swab</a:t>
            </a:r>
            <a:endParaRPr sz="1700" b="0" i="0" u="none" strike="noStrike" cap="none">
              <a:solidFill>
                <a:srgbClr val="000000"/>
              </a:solidFill>
              <a:latin typeface="Lato"/>
              <a:ea typeface="Lato"/>
              <a:cs typeface="Lato"/>
              <a:sym typeface="Lato"/>
            </a:endParaRPr>
          </a:p>
        </p:txBody>
      </p:sp>
      <p:sp>
        <p:nvSpPr>
          <p:cNvPr id="559" name="Google Shape;559;p26"/>
          <p:cNvSpPr txBox="1"/>
          <p:nvPr/>
        </p:nvSpPr>
        <p:spPr>
          <a:xfrm>
            <a:off x="5923050" y="1851425"/>
            <a:ext cx="25797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Diagnostic specimen</a:t>
            </a:r>
            <a:endParaRPr sz="1700" b="0" i="0" u="none" strike="noStrike" cap="none">
              <a:solidFill>
                <a:srgbClr val="000000"/>
              </a:solidFill>
              <a:latin typeface="Lato"/>
              <a:ea typeface="Lato"/>
              <a:cs typeface="Lato"/>
              <a:sym typeface="Lato"/>
            </a:endParaRPr>
          </a:p>
        </p:txBody>
      </p:sp>
      <p:sp>
        <p:nvSpPr>
          <p:cNvPr id="560" name="Google Shape;560;p26"/>
          <p:cNvSpPr txBox="1"/>
          <p:nvPr/>
        </p:nvSpPr>
        <p:spPr>
          <a:xfrm>
            <a:off x="487775" y="2702175"/>
            <a:ext cx="1826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Lato"/>
                <a:ea typeface="Lato"/>
                <a:cs typeface="Lato"/>
                <a:sym typeface="Lato"/>
              </a:rPr>
              <a:t>Date	</a:t>
            </a:r>
            <a:endParaRPr sz="1700" b="1" i="0" u="none" strike="noStrike" cap="none">
              <a:solidFill>
                <a:srgbClr val="000000"/>
              </a:solidFill>
              <a:latin typeface="Lato"/>
              <a:ea typeface="Lato"/>
              <a:cs typeface="Lato"/>
              <a:sym typeface="Lato"/>
            </a:endParaRPr>
          </a:p>
        </p:txBody>
      </p:sp>
      <p:sp>
        <p:nvSpPr>
          <p:cNvPr id="561" name="Google Shape;561;p26"/>
          <p:cNvSpPr txBox="1"/>
          <p:nvPr/>
        </p:nvSpPr>
        <p:spPr>
          <a:xfrm>
            <a:off x="2383475" y="2702175"/>
            <a:ext cx="1826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2/1/21</a:t>
            </a:r>
            <a:endParaRPr sz="1700" b="0" i="0" u="none" strike="noStrike" cap="none">
              <a:solidFill>
                <a:srgbClr val="000000"/>
              </a:solidFill>
              <a:latin typeface="Lato"/>
              <a:ea typeface="Lato"/>
              <a:cs typeface="Lato"/>
              <a:sym typeface="Lato"/>
            </a:endParaRPr>
          </a:p>
        </p:txBody>
      </p:sp>
      <p:sp>
        <p:nvSpPr>
          <p:cNvPr id="562" name="Google Shape;562;p26"/>
          <p:cNvSpPr txBox="1"/>
          <p:nvPr/>
        </p:nvSpPr>
        <p:spPr>
          <a:xfrm>
            <a:off x="5923050" y="2645025"/>
            <a:ext cx="1826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2021-03-03</a:t>
            </a:r>
            <a:endParaRPr sz="1700" b="0" i="0" u="none" strike="noStrike" cap="none">
              <a:solidFill>
                <a:srgbClr val="000000"/>
              </a:solidFill>
              <a:latin typeface="Lato"/>
              <a:ea typeface="Lato"/>
              <a:cs typeface="Lato"/>
              <a:sym typeface="Lato"/>
            </a:endParaRPr>
          </a:p>
        </p:txBody>
      </p:sp>
      <p:sp>
        <p:nvSpPr>
          <p:cNvPr id="563" name="Google Shape;563;p26"/>
          <p:cNvSpPr txBox="1"/>
          <p:nvPr/>
        </p:nvSpPr>
        <p:spPr>
          <a:xfrm>
            <a:off x="487775" y="3438625"/>
            <a:ext cx="1826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1" i="0" u="none" strike="noStrike" cap="none">
                <a:solidFill>
                  <a:srgbClr val="000000"/>
                </a:solidFill>
                <a:latin typeface="Lato"/>
                <a:ea typeface="Lato"/>
                <a:cs typeface="Lato"/>
                <a:sym typeface="Lato"/>
              </a:rPr>
              <a:t>Host	</a:t>
            </a:r>
            <a:endParaRPr sz="1700" b="1" i="0" u="none" strike="noStrike" cap="none">
              <a:solidFill>
                <a:srgbClr val="000000"/>
              </a:solidFill>
              <a:latin typeface="Lato"/>
              <a:ea typeface="Lato"/>
              <a:cs typeface="Lato"/>
              <a:sym typeface="Lato"/>
            </a:endParaRPr>
          </a:p>
        </p:txBody>
      </p:sp>
      <p:sp>
        <p:nvSpPr>
          <p:cNvPr id="564" name="Google Shape;564;p26"/>
          <p:cNvSpPr txBox="1"/>
          <p:nvPr/>
        </p:nvSpPr>
        <p:spPr>
          <a:xfrm>
            <a:off x="2383475" y="3438625"/>
            <a:ext cx="1826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Human</a:t>
            </a:r>
            <a:endParaRPr sz="1700" b="0" i="0" u="none" strike="noStrike" cap="none">
              <a:solidFill>
                <a:srgbClr val="000000"/>
              </a:solidFill>
              <a:latin typeface="Lato"/>
              <a:ea typeface="Lato"/>
              <a:cs typeface="Lato"/>
              <a:sym typeface="Lato"/>
            </a:endParaRPr>
          </a:p>
        </p:txBody>
      </p:sp>
      <p:sp>
        <p:nvSpPr>
          <p:cNvPr id="565" name="Google Shape;565;p26"/>
          <p:cNvSpPr txBox="1"/>
          <p:nvPr/>
        </p:nvSpPr>
        <p:spPr>
          <a:xfrm>
            <a:off x="5992750" y="3438625"/>
            <a:ext cx="1826100" cy="446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1700"/>
              <a:buFont typeface="Arial"/>
              <a:buNone/>
            </a:pPr>
            <a:r>
              <a:rPr lang="en" sz="1700" b="0" i="0" u="none" strike="noStrike" cap="none">
                <a:solidFill>
                  <a:srgbClr val="000000"/>
                </a:solidFill>
                <a:latin typeface="Lato"/>
                <a:ea typeface="Lato"/>
                <a:cs typeface="Lato"/>
                <a:sym typeface="Lato"/>
              </a:rPr>
              <a:t>Wastewater</a:t>
            </a:r>
            <a:endParaRPr sz="1700" b="0" i="0" u="none" strike="noStrike" cap="none">
              <a:solidFill>
                <a:srgbClr val="000000"/>
              </a:solidFill>
              <a:latin typeface="Lato"/>
              <a:ea typeface="Lato"/>
              <a:cs typeface="Lato"/>
              <a:sym typeface="Lato"/>
            </a:endParaRPr>
          </a:p>
        </p:txBody>
      </p:sp>
      <p:sp>
        <p:nvSpPr>
          <p:cNvPr id="566" name="Google Shape;566;p26"/>
          <p:cNvSpPr txBox="1">
            <a:spLocks noGrp="1"/>
          </p:cNvSpPr>
          <p:nvPr>
            <p:ph type="title" idx="4294967295"/>
          </p:nvPr>
        </p:nvSpPr>
        <p:spPr>
          <a:xfrm>
            <a:off x="201000" y="67575"/>
            <a:ext cx="87420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600">
                <a:latin typeface="Lato Light"/>
                <a:ea typeface="Lato Light"/>
                <a:cs typeface="Lato Light"/>
                <a:sym typeface="Lato Light"/>
              </a:rPr>
              <a:t>Some of many ways data can go awry… inconsistency makes data </a:t>
            </a:r>
            <a:r>
              <a:rPr lang="en" sz="2600" b="1">
                <a:latin typeface="Lato"/>
                <a:ea typeface="Lato"/>
                <a:cs typeface="Lato"/>
                <a:sym typeface="Lato"/>
              </a:rPr>
              <a:t>harder to interpret</a:t>
            </a:r>
            <a:r>
              <a:rPr lang="en" sz="2600">
                <a:latin typeface="Lato Light"/>
                <a:ea typeface="Lato Light"/>
                <a:cs typeface="Lato Light"/>
                <a:sym typeface="Lato Light"/>
              </a:rPr>
              <a:t> and </a:t>
            </a:r>
            <a:r>
              <a:rPr lang="en" sz="2600" b="1">
                <a:latin typeface="Lato"/>
                <a:ea typeface="Lato"/>
                <a:cs typeface="Lato"/>
                <a:sym typeface="Lato"/>
              </a:rPr>
              <a:t>more difficult to integrate</a:t>
            </a:r>
            <a:r>
              <a:rPr lang="en" sz="2600">
                <a:latin typeface="Lato Light"/>
                <a:ea typeface="Lato Light"/>
                <a:cs typeface="Lato Light"/>
                <a:sym typeface="Lato Light"/>
              </a:rPr>
              <a:t>.</a:t>
            </a:r>
            <a:endParaRPr sz="2900">
              <a:latin typeface="Lato Light"/>
              <a:ea typeface="Lato Light"/>
              <a:cs typeface="Lato Light"/>
              <a:sym typeface="Lato Light"/>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pic>
        <p:nvPicPr>
          <p:cNvPr id="571" name="Google Shape;571;p27"/>
          <p:cNvPicPr preferRelativeResize="0"/>
          <p:nvPr/>
        </p:nvPicPr>
        <p:blipFill rotWithShape="1">
          <a:blip r:embed="rId3">
            <a:alphaModFix/>
          </a:blip>
          <a:srcRect/>
          <a:stretch/>
        </p:blipFill>
        <p:spPr>
          <a:xfrm>
            <a:off x="420312" y="605800"/>
            <a:ext cx="8303375" cy="4537699"/>
          </a:xfrm>
          <a:prstGeom prst="rect">
            <a:avLst/>
          </a:prstGeom>
          <a:noFill/>
          <a:ln>
            <a:noFill/>
          </a:ln>
        </p:spPr>
      </p:pic>
      <p:sp>
        <p:nvSpPr>
          <p:cNvPr id="572" name="Google Shape;572;p27"/>
          <p:cNvSpPr txBox="1">
            <a:spLocks noGrp="1"/>
          </p:cNvSpPr>
          <p:nvPr>
            <p:ph type="title" idx="4294967295"/>
          </p:nvPr>
        </p:nvSpPr>
        <p:spPr>
          <a:xfrm>
            <a:off x="1159038" y="0"/>
            <a:ext cx="68259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500">
                <a:latin typeface="Lato Light"/>
                <a:ea typeface="Lato Light"/>
                <a:cs typeface="Lato Light"/>
                <a:sym typeface="Lato Light"/>
              </a:rPr>
              <a:t>A data specification to improve data consistency!</a:t>
            </a:r>
            <a:endParaRPr>
              <a:latin typeface="Lato Light"/>
              <a:ea typeface="Lato Light"/>
              <a:cs typeface="Lato Light"/>
              <a:sym typeface="Lato Light"/>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576"/>
        <p:cNvGrpSpPr/>
        <p:nvPr/>
      </p:nvGrpSpPr>
      <p:grpSpPr>
        <a:xfrm>
          <a:off x="0" y="0"/>
          <a:ext cx="0" cy="0"/>
          <a:chOff x="0" y="0"/>
          <a:chExt cx="0" cy="0"/>
        </a:xfrm>
      </p:grpSpPr>
      <p:pic>
        <p:nvPicPr>
          <p:cNvPr id="577" name="Google Shape;577;p28"/>
          <p:cNvPicPr preferRelativeResize="0"/>
          <p:nvPr/>
        </p:nvPicPr>
        <p:blipFill rotWithShape="1">
          <a:blip r:embed="rId3">
            <a:alphaModFix/>
          </a:blip>
          <a:srcRect/>
          <a:stretch/>
        </p:blipFill>
        <p:spPr>
          <a:xfrm>
            <a:off x="152400" y="734238"/>
            <a:ext cx="8839199" cy="3675017"/>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581"/>
        <p:cNvGrpSpPr/>
        <p:nvPr/>
      </p:nvGrpSpPr>
      <p:grpSpPr>
        <a:xfrm>
          <a:off x="0" y="0"/>
          <a:ext cx="0" cy="0"/>
          <a:chOff x="0" y="0"/>
          <a:chExt cx="0" cy="0"/>
        </a:xfrm>
      </p:grpSpPr>
      <p:pic>
        <p:nvPicPr>
          <p:cNvPr id="582" name="Google Shape;582;p29"/>
          <p:cNvPicPr preferRelativeResize="0"/>
          <p:nvPr/>
        </p:nvPicPr>
        <p:blipFill rotWithShape="1">
          <a:blip r:embed="rId3">
            <a:alphaModFix/>
          </a:blip>
          <a:srcRect/>
          <a:stretch/>
        </p:blipFill>
        <p:spPr>
          <a:xfrm>
            <a:off x="682887" y="593550"/>
            <a:ext cx="7778227" cy="4549950"/>
          </a:xfrm>
          <a:prstGeom prst="rect">
            <a:avLst/>
          </a:prstGeom>
          <a:noFill/>
          <a:ln>
            <a:noFill/>
          </a:ln>
        </p:spPr>
      </p:pic>
      <p:sp>
        <p:nvSpPr>
          <p:cNvPr id="583" name="Google Shape;583;p29"/>
          <p:cNvSpPr txBox="1">
            <a:spLocks noGrp="1"/>
          </p:cNvSpPr>
          <p:nvPr>
            <p:ph type="title" idx="4294967295"/>
          </p:nvPr>
        </p:nvSpPr>
        <p:spPr>
          <a:xfrm>
            <a:off x="201000" y="0"/>
            <a:ext cx="8742000" cy="975900"/>
          </a:xfrm>
          <a:prstGeom prst="rect">
            <a:avLst/>
          </a:prstGeom>
          <a:noFill/>
          <a:ln>
            <a:noFill/>
          </a:ln>
        </p:spPr>
        <p:txBody>
          <a:bodyPr spcFirstLastPara="1" wrap="square" lIns="91425" tIns="91425" rIns="91425" bIns="91425" anchor="t" anchorCtr="0">
            <a:normAutofit/>
          </a:bodyPr>
          <a:lstStyle/>
          <a:p>
            <a:pPr marL="0" lvl="0" indent="0" algn="l" rtl="0">
              <a:lnSpc>
                <a:spcPct val="100000"/>
              </a:lnSpc>
              <a:spcBef>
                <a:spcPts val="0"/>
              </a:spcBef>
              <a:spcAft>
                <a:spcPts val="0"/>
              </a:spcAft>
              <a:buClr>
                <a:schemeClr val="dk1"/>
              </a:buClr>
              <a:buSzPts val="1100"/>
              <a:buFont typeface="Arial"/>
              <a:buNone/>
            </a:pPr>
            <a:r>
              <a:rPr lang="en" sz="2300">
                <a:latin typeface="Lato Light"/>
                <a:ea typeface="Lato Light"/>
                <a:cs typeface="Lato Light"/>
                <a:sym typeface="Lato Light"/>
              </a:rPr>
              <a:t>https://www.protocols.io/workspaces/pha4ge</a:t>
            </a:r>
            <a:endParaRPr sz="2600">
              <a:latin typeface="Lato Light"/>
              <a:ea typeface="Lato Light"/>
              <a:cs typeface="Lato Light"/>
              <a:sym typeface="Lato Light"/>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587"/>
        <p:cNvGrpSpPr/>
        <p:nvPr/>
      </p:nvGrpSpPr>
      <p:grpSpPr>
        <a:xfrm>
          <a:off x="0" y="0"/>
          <a:ext cx="0" cy="0"/>
          <a:chOff x="0" y="0"/>
          <a:chExt cx="0" cy="0"/>
        </a:xfrm>
      </p:grpSpPr>
      <p:sp>
        <p:nvSpPr>
          <p:cNvPr id="588" name="Google Shape;588;p30"/>
          <p:cNvSpPr txBox="1"/>
          <p:nvPr/>
        </p:nvSpPr>
        <p:spPr>
          <a:xfrm>
            <a:off x="232575" y="2182825"/>
            <a:ext cx="8520600" cy="5727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2820"/>
              <a:buFont typeface="Arial"/>
              <a:buNone/>
            </a:pPr>
            <a:r>
              <a:rPr lang="en" sz="2820" b="1" i="0" u="none" strike="noStrike" cap="none">
                <a:solidFill>
                  <a:srgbClr val="000000"/>
                </a:solidFill>
                <a:latin typeface="Lato"/>
                <a:ea typeface="Lato"/>
                <a:cs typeface="Lato"/>
                <a:sym typeface="Lato"/>
              </a:rPr>
              <a:t>Questions?</a:t>
            </a:r>
            <a:endParaRPr sz="2820" b="1" i="0" u="none" strike="noStrike" cap="none">
              <a:solidFill>
                <a:srgbClr val="000000"/>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2734</Words>
  <Application>Microsoft Macintosh PowerPoint</Application>
  <PresentationFormat>On-screen Show (16:9)</PresentationFormat>
  <Paragraphs>137</Paragraphs>
  <Slides>31</Slides>
  <Notes>31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Arial</vt:lpstr>
      <vt:lpstr>STIX Two Text</vt:lpstr>
      <vt:lpstr>Lato Light</vt:lpstr>
      <vt:lpstr>Lato</vt:lpstr>
      <vt:lpstr>Comic Sans MS</vt:lpstr>
      <vt:lpstr>Simple Light</vt:lpstr>
      <vt:lpstr>Universal Sampling Guidelines and Selection for Applied Genomic Epidemiology</vt:lpstr>
      <vt:lpstr>When designing epidemiological studies we often ask… </vt:lpstr>
      <vt:lpstr>We should ask the same questions for genomic epidemiological studies.</vt:lpstr>
      <vt:lpstr>It’s important to think about sampling strategies for different genomic epidemiological questions/studies.</vt:lpstr>
      <vt:lpstr>A theoretical population in which people mix homogeneously, such that any two individuals have equal probability of coming into contact and infecting one another.</vt:lpstr>
      <vt:lpstr>Given equivalently fit viral lineages, you would expect all lineages to circulate broadly across the entire population.</vt:lpstr>
      <vt:lpstr>In reality, people mix heterogeneously. Rather, we have structured populations. This affects pathogen circulation too.</vt:lpstr>
      <vt:lpstr>The variables that structure populations can thus modify the probability of being exposed to particular lineages.</vt:lpstr>
      <vt:lpstr>PowerPoint Presentation</vt:lpstr>
      <vt:lpstr>Part 1 - Sampling design for monitoring changes in lineage frequency.</vt:lpstr>
      <vt:lpstr>To be able to monitor changes in lineage frequency, you want your dataset of sequences to be representative of the true underlying viral population.</vt:lpstr>
      <vt:lpstr>To be able to monitor changes in lineage frequency, you want your dataset of sequences to be representative of the true underlying viral population.</vt:lpstr>
      <vt:lpstr>In this case, “how much should you sequence?” is typically related to what lineage frequency you want to be able to detect.</vt:lpstr>
      <vt:lpstr>Part 2 - Sampling design for phylogeographic studies.</vt:lpstr>
      <vt:lpstr>“Phylogeographic” studies describe spatial distribution patterns of a pathogen across a phylogeny.</vt:lpstr>
      <vt:lpstr>Discrete trait reconstruction assumes that samples are collected at random from the population.   This means that model treats the number of samples from a particular location as information about the pathogen population size in that location.</vt:lpstr>
      <vt:lpstr>Ideally, you would sample from different geographic areas proportionally to incidence in those areas.</vt:lpstr>
      <vt:lpstr>One of the clearest examples of this is “human-to-camel” MERS transmission (Zhang et al, 2016).</vt:lpstr>
      <vt:lpstr>Using a more complex model that handles sampling bias produces the accurate reconstruction showing camel-to-human spillover events (Dudas et al, 2018).</vt:lpstr>
      <vt:lpstr>Ideally, sample from different groups proportionally to incidence in those groups.</vt:lpstr>
      <vt:lpstr>Part 3 - Sampling design for outbreak investigations.</vt:lpstr>
      <vt:lpstr>PowerPoint Presentation</vt:lpstr>
      <vt:lpstr>Take home messages!</vt:lpstr>
      <vt:lpstr>For most studies, aim to capture a picture of the full circulating viral diversity by recognizing how your population is structured, and sampling from all the “bins”.</vt:lpstr>
      <vt:lpstr>Metadata collection and integration for applied genomic epidemiology</vt:lpstr>
      <vt:lpstr>While sequence data are a critical component of genomic epidemiology, additional information about the sample (or infected individual) allow richer analysis.</vt:lpstr>
      <vt:lpstr>Some of many ways data can go awry… inconsistency makes data harder to interpret and more difficult to integrate.</vt:lpstr>
      <vt:lpstr>A data specification to improve data consistency!</vt:lpstr>
      <vt:lpstr>PowerPoint Presentation</vt:lpstr>
      <vt:lpstr>https://www.protocols.io/workspaces/pha4ge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Paul Oluniyi</cp:lastModifiedBy>
  <cp:revision>1</cp:revision>
  <dcterms:modified xsi:type="dcterms:W3CDTF">2026-10-02T23:26:26Z</dcterms:modified>
</cp:coreProperties>
</file>