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Corbel" panose="020B0503020204020204" pitchFamily="34" charset="0"/>
      <p:regular r:id="rId20"/>
      <p:bold r:id="rId21"/>
      <p:italic r:id="rId22"/>
      <p:boldItalic r:id="rId23"/>
    </p:embeddedFon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Poppins" pitchFamily="2" charset="77"/>
      <p:regular r:id="rId28"/>
      <p:bold r:id="rId29"/>
      <p:italic r:id="rId30"/>
      <p:boldItalic r:id="rId31"/>
    </p:embeddedFont>
    <p:embeddedFont>
      <p:font typeface="Poppins Black" panose="00000A00000000000000" pitchFamily="2" charset="77"/>
      <p:bold r:id="rId32"/>
    </p:embeddedFont>
    <p:embeddedFont>
      <p:font typeface="STIX Two Text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gp1XgjU9pTeqAbdv+sPtcoYC2u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0"/>
  </p:normalViewPr>
  <p:slideViewPr>
    <p:cSldViewPr snapToGrid="0">
      <p:cViewPr varScale="1">
        <p:scale>
          <a:sx n="155" d="100"/>
          <a:sy n="155" d="100"/>
        </p:scale>
        <p:origin x="592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0" name="Google Shape;80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4" name="Google Shape;16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4" name="Google Shape;17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5" name="Google Shape;19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Blank">
  <p:cSld name="1_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7"/>
          <p:cNvSpPr txBox="1">
            <a:spLocks noGrp="1"/>
          </p:cNvSpPr>
          <p:nvPr>
            <p:ph type="title"/>
          </p:nvPr>
        </p:nvSpPr>
        <p:spPr>
          <a:xfrm>
            <a:off x="688657" y="295656"/>
            <a:ext cx="78237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700"/>
              <a:buFont typeface="Poppins"/>
              <a:buNone/>
              <a:defRPr sz="2700" b="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body" idx="1"/>
          </p:nvPr>
        </p:nvSpPr>
        <p:spPr>
          <a:xfrm>
            <a:off x="688657" y="1151334"/>
            <a:ext cx="7823700" cy="35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2385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048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pic>
        <p:nvPicPr>
          <p:cNvPr id="29" name="Google Shape;29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953000"/>
            <a:ext cx="914400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6" name="Google Shape;46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0" name="Google Shape;50;p3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" name="Google Shape;58;p3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6"/>
          <p:cNvSpPr/>
          <p:nvPr/>
        </p:nvSpPr>
        <p:spPr>
          <a:xfrm>
            <a:off x="1" y="569214"/>
            <a:ext cx="2582700" cy="3998100"/>
          </a:xfrm>
          <a:prstGeom prst="rect">
            <a:avLst/>
          </a:prstGeom>
          <a:solidFill>
            <a:srgbClr val="EF634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" name="Google Shape;62;p36"/>
          <p:cNvSpPr/>
          <p:nvPr/>
        </p:nvSpPr>
        <p:spPr>
          <a:xfrm>
            <a:off x="8861898" y="569214"/>
            <a:ext cx="288000" cy="3998100"/>
          </a:xfrm>
          <a:prstGeom prst="rect">
            <a:avLst/>
          </a:prstGeom>
          <a:solidFill>
            <a:srgbClr val="C8C8C8">
              <a:alpha val="49411"/>
            </a:srgbClr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6"/>
          <p:cNvSpPr txBox="1">
            <a:spLocks noGrp="1"/>
          </p:cNvSpPr>
          <p:nvPr>
            <p:ph type="title"/>
          </p:nvPr>
        </p:nvSpPr>
        <p:spPr>
          <a:xfrm>
            <a:off x="189689" y="842878"/>
            <a:ext cx="22107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6"/>
          <p:cNvSpPr txBox="1">
            <a:spLocks noGrp="1"/>
          </p:cNvSpPr>
          <p:nvPr>
            <p:ph type="body" idx="1"/>
          </p:nvPr>
        </p:nvSpPr>
        <p:spPr>
          <a:xfrm>
            <a:off x="2901951" y="648081"/>
            <a:ext cx="5486400" cy="3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sa/4.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55CC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>
            <a:spLocks noGrp="1"/>
          </p:cNvSpPr>
          <p:nvPr>
            <p:ph type="ctrTitle"/>
          </p:nvPr>
        </p:nvSpPr>
        <p:spPr>
          <a:xfrm>
            <a:off x="311708" y="36300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4800" b="1" dirty="0">
                <a:solidFill>
                  <a:schemeClr val="lt1"/>
                </a:solidFill>
                <a:latin typeface="STIX Two Text"/>
                <a:ea typeface="STIX Two Text"/>
                <a:cs typeface="STIX Two Text"/>
                <a:sym typeface="STIX Two Text"/>
              </a:rPr>
              <a:t>Sequence Alignment</a:t>
            </a:r>
            <a:endParaRPr sz="4800" b="1" dirty="0">
              <a:solidFill>
                <a:schemeClr val="lt1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 txBox="1">
            <a:spLocks noGrp="1"/>
          </p:cNvSpPr>
          <p:nvPr>
            <p:ph type="title"/>
          </p:nvPr>
        </p:nvSpPr>
        <p:spPr>
          <a:xfrm>
            <a:off x="48925" y="666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 b="1">
                <a:latin typeface="STIX Two Text"/>
                <a:ea typeface="STIX Two Text"/>
                <a:cs typeface="STIX Two Text"/>
                <a:sym typeface="STIX Two Text"/>
              </a:rPr>
              <a:t>Outline</a:t>
            </a:r>
            <a:endParaRPr sz="3220" b="1"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76" name="Google Shape;76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342900" lvl="0" indent="-3276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ato"/>
              <a:buChar char="❖"/>
            </a:pPr>
            <a:r>
              <a:rPr lang="en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What is Sequence Alignment?</a:t>
            </a:r>
            <a:endParaRPr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810"/>
              <a:buNone/>
            </a:pPr>
            <a:endParaRPr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-32766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ato"/>
              <a:buChar char="❖"/>
            </a:pPr>
            <a:r>
              <a:rPr lang="en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Sequence alignment in molecular informatics</a:t>
            </a:r>
            <a:endParaRPr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60810"/>
              <a:buNone/>
            </a:pPr>
            <a:endParaRPr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-32766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ato"/>
              <a:buChar char="❖"/>
            </a:pPr>
            <a:r>
              <a:rPr lang="en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Types of sequence alignment</a:t>
            </a:r>
            <a:endParaRPr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ct val="60810"/>
              <a:buNone/>
            </a:pPr>
            <a:endParaRPr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-32766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ato"/>
              <a:buChar char="❖"/>
            </a:pPr>
            <a:r>
              <a:rPr lang="en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Conclusion</a:t>
            </a:r>
            <a:endParaRPr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>
            <a:spLocks noGrp="1"/>
          </p:cNvSpPr>
          <p:nvPr>
            <p:ph type="title" idx="4294967295"/>
          </p:nvPr>
        </p:nvSpPr>
        <p:spPr>
          <a:xfrm>
            <a:off x="516493" y="221742"/>
            <a:ext cx="5867700" cy="4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700"/>
              <a:buFont typeface="Poppins"/>
              <a:buNone/>
            </a:pPr>
            <a:r>
              <a:rPr lang="en" b="1">
                <a:solidFill>
                  <a:schemeClr val="dk1"/>
                </a:solidFill>
                <a:latin typeface="STIX Two Text"/>
                <a:ea typeface="STIX Two Text"/>
                <a:cs typeface="STIX Two Text"/>
                <a:sym typeface="STIX Two Text"/>
              </a:rPr>
              <a:t>Genomic epidemiology workflow</a:t>
            </a:r>
            <a:endParaRPr b="1">
              <a:solidFill>
                <a:schemeClr val="dk1"/>
              </a:solidFill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83" name="Google Shape;83;p20"/>
          <p:cNvSpPr/>
          <p:nvPr/>
        </p:nvSpPr>
        <p:spPr>
          <a:xfrm>
            <a:off x="5757688" y="4771052"/>
            <a:ext cx="3331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Pixel True https://www.pixeltrue.com/about, </a:t>
            </a:r>
            <a:r>
              <a:rPr lang="en" sz="600" b="0" i="0" u="sng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 4.0</a:t>
            </a:r>
            <a:r>
              <a:rPr lang="en" sz="6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, via Wikimedia Commons</a:t>
            </a:r>
            <a:endParaRPr sz="600" b="0" i="0" u="none" strike="noStrike" cap="non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" name="Google Shape;84;p20"/>
          <p:cNvSpPr/>
          <p:nvPr/>
        </p:nvSpPr>
        <p:spPr>
          <a:xfrm>
            <a:off x="8280452" y="4636340"/>
            <a:ext cx="8082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6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BioRender.com</a:t>
            </a:r>
            <a:endParaRPr sz="600" b="0" i="0" u="none" strike="noStrike" cap="non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20" descr="A picture containing graphical user interfac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1051" y="942889"/>
            <a:ext cx="8158592" cy="186217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0"/>
          <p:cNvSpPr/>
          <p:nvPr/>
        </p:nvSpPr>
        <p:spPr>
          <a:xfrm>
            <a:off x="7006281" y="1085306"/>
            <a:ext cx="1693500" cy="1719600"/>
          </a:xfrm>
          <a:prstGeom prst="roundRect">
            <a:avLst>
              <a:gd name="adj" fmla="val 9294"/>
            </a:avLst>
          </a:prstGeom>
          <a:noFill/>
          <a:ln w="38100" cap="flat" cmpd="sng">
            <a:solidFill>
              <a:srgbClr val="F06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7" name="Google Shape;87;p20"/>
          <p:cNvSpPr/>
          <p:nvPr/>
        </p:nvSpPr>
        <p:spPr>
          <a:xfrm>
            <a:off x="3416953" y="3286013"/>
            <a:ext cx="2846100" cy="10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Build a background dataset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Multiple sequence alignment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Run phylogenetic analysis</a:t>
            </a:r>
            <a:endParaRPr sz="14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0"/>
          <p:cNvSpPr txBox="1"/>
          <p:nvPr/>
        </p:nvSpPr>
        <p:spPr>
          <a:xfrm>
            <a:off x="3222335" y="3354025"/>
            <a:ext cx="1947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rPr>
              <a:t>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0"/>
          <p:cNvSpPr txBox="1"/>
          <p:nvPr/>
        </p:nvSpPr>
        <p:spPr>
          <a:xfrm>
            <a:off x="3222335" y="3650587"/>
            <a:ext cx="1947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2A2A2A"/>
                </a:solidFill>
                <a:latin typeface="Poppins Black"/>
                <a:ea typeface="Poppins Black"/>
                <a:cs typeface="Poppins Black"/>
                <a:sym typeface="Poppins Black"/>
              </a:rPr>
              <a:t>2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0"/>
          <p:cNvSpPr txBox="1"/>
          <p:nvPr/>
        </p:nvSpPr>
        <p:spPr>
          <a:xfrm>
            <a:off x="3222335" y="3974951"/>
            <a:ext cx="1947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lt2"/>
                </a:solidFill>
                <a:latin typeface="Poppins Black"/>
                <a:ea typeface="Poppins Black"/>
                <a:cs typeface="Poppins Black"/>
                <a:sym typeface="Poppins Black"/>
              </a:rPr>
              <a:t>3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>
            <a:spLocks noGrp="1"/>
          </p:cNvSpPr>
          <p:nvPr>
            <p:ph type="title"/>
          </p:nvPr>
        </p:nvSpPr>
        <p:spPr>
          <a:xfrm>
            <a:off x="63050" y="129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>
                <a:latin typeface="STIX Two Text"/>
                <a:ea typeface="STIX Two Text"/>
                <a:cs typeface="STIX Two Text"/>
                <a:sym typeface="STIX Two Text"/>
              </a:rPr>
              <a:t>What is Sequence Alignment?</a:t>
            </a:r>
            <a:endParaRPr sz="3020" b="1"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96" name="Google Shape;96;p3"/>
          <p:cNvSpPr txBox="1">
            <a:spLocks noGrp="1"/>
          </p:cNvSpPr>
          <p:nvPr>
            <p:ph type="body" idx="1"/>
          </p:nvPr>
        </p:nvSpPr>
        <p:spPr>
          <a:xfrm>
            <a:off x="63050" y="1017725"/>
            <a:ext cx="9081000" cy="40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❖"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field of research focused on </a:t>
            </a:r>
            <a:r>
              <a:rPr lang="en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development </a:t>
            </a: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and </a:t>
            </a:r>
            <a:r>
              <a:rPr lang="en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application</a:t>
            </a: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of tools for comparing and finding </a:t>
            </a:r>
            <a:r>
              <a:rPr lang="en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similar sequences in DNA/Proteins.</a:t>
            </a:r>
            <a:endParaRPr sz="24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24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-2921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❖"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Infer sequence homology.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-2921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❖"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Classify genes and proteins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>
            <a:spLocks noGrp="1"/>
          </p:cNvSpPr>
          <p:nvPr>
            <p:ph type="body" idx="1"/>
          </p:nvPr>
        </p:nvSpPr>
        <p:spPr>
          <a:xfrm>
            <a:off x="59450" y="48900"/>
            <a:ext cx="9032100" cy="50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073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•"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overarching goal is to bring identical residues in line with each other: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-15494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-342900" algn="ctr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Before alignment</a:t>
            </a:r>
            <a:endParaRPr sz="24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-342900" algn="ctr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 AFGIVHKLIVS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-342900" algn="ctr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AFGIHKIVS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-342900" algn="ctr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After alignment</a:t>
            </a:r>
            <a:endParaRPr sz="24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-342900" algn="ctr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 AFGIVHKLIVS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-342900" algn="ctr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   AFGI -HK-IVS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sz="2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>
            <a:spLocks noGrp="1"/>
          </p:cNvSpPr>
          <p:nvPr>
            <p:ph type="title"/>
          </p:nvPr>
        </p:nvSpPr>
        <p:spPr>
          <a:xfrm>
            <a:off x="395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3600" b="1">
                <a:latin typeface="STIX Two Text"/>
                <a:ea typeface="STIX Two Text"/>
                <a:cs typeface="STIX Two Text"/>
                <a:sym typeface="STIX Two Text"/>
              </a:rPr>
              <a:t>Sequence alignment in molecular informatics</a:t>
            </a:r>
            <a:endParaRPr sz="3600" b="1">
              <a:latin typeface="STIX Two Text"/>
              <a:ea typeface="STIX Two Text"/>
              <a:cs typeface="STIX Two Text"/>
              <a:sym typeface="STIX Two Tex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3600" b="1"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07" name="Google Shape;107;p5"/>
          <p:cNvSpPr txBox="1">
            <a:spLocks noGrp="1"/>
          </p:cNvSpPr>
          <p:nvPr>
            <p:ph type="body" idx="1"/>
          </p:nvPr>
        </p:nvSpPr>
        <p:spPr>
          <a:xfrm>
            <a:off x="236625" y="1443450"/>
            <a:ext cx="8907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3429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❖"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Predict biological function, 2</a:t>
            </a:r>
            <a:r>
              <a:rPr lang="en" sz="2400" baseline="30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ry and 3</a:t>
            </a:r>
            <a:r>
              <a:rPr lang="en" sz="2400" baseline="30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ry protein structures.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-2921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❖"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Detect point mutations.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-2921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❖"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Model molecular evolutionary origin/history of pathogens (lassa, EBV, E.coli) – by Constructing phylogenetic trees.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-2921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❖"/>
            </a:pPr>
            <a:r>
              <a:rPr lang="en" sz="2600">
                <a:solidFill>
                  <a:schemeClr val="dk1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Given a new sequence, infer its function based on similarity to another sequence.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53425" y="440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Lato"/>
              <a:buChar char="❖"/>
            </a:pPr>
            <a:r>
              <a:rPr lang="en" sz="2400"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Find important molecular regions – conserved across species.</a:t>
            </a:r>
            <a:endParaRPr sz="2400"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Lato"/>
              <a:buChar char="❖"/>
            </a:pPr>
            <a:r>
              <a:rPr lang="en" sz="2400"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Determine the evolutionary constraints at work.</a:t>
            </a:r>
            <a:endParaRPr sz="2400"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Lato"/>
              <a:buChar char="❖"/>
            </a:pPr>
            <a:r>
              <a:rPr lang="en" sz="2400"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Find mutations in a population or family of genes.</a:t>
            </a:r>
            <a:endParaRPr sz="2400"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Lato"/>
              <a:buChar char="❖"/>
            </a:pPr>
            <a:r>
              <a:rPr lang="en" sz="2400"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Find similar looking sequence in a database.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/>
        </p:nvSpPr>
        <p:spPr>
          <a:xfrm>
            <a:off x="3352800" y="914400"/>
            <a:ext cx="2514600" cy="514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SEQUENCING</a:t>
            </a: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3352800" y="1771650"/>
            <a:ext cx="2514600" cy="6858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SEQUENCE ALIGNMENT</a:t>
            </a: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1"/>
          <p:cNvSpPr/>
          <p:nvPr/>
        </p:nvSpPr>
        <p:spPr>
          <a:xfrm>
            <a:off x="5029200" y="3600450"/>
            <a:ext cx="2971800" cy="8001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Phylogenetics</a:t>
            </a:r>
            <a:endParaRPr sz="2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1"/>
          <p:cNvSpPr/>
          <p:nvPr/>
        </p:nvSpPr>
        <p:spPr>
          <a:xfrm>
            <a:off x="5410200" y="2571750"/>
            <a:ext cx="3048000" cy="8574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Metagenomics</a:t>
            </a:r>
            <a:endParaRPr sz="2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1600200" y="3600450"/>
            <a:ext cx="3048000" cy="8001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Classify genes/proteins</a:t>
            </a:r>
            <a:endParaRPr sz="2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1"/>
          <p:cNvSpPr/>
          <p:nvPr/>
        </p:nvSpPr>
        <p:spPr>
          <a:xfrm>
            <a:off x="1143000" y="2686050"/>
            <a:ext cx="2819400" cy="7431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SNP/Variant  Discovery</a:t>
            </a:r>
            <a:endParaRPr sz="2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1"/>
          <p:cNvSpPr/>
          <p:nvPr/>
        </p:nvSpPr>
        <p:spPr>
          <a:xfrm rot="5400000">
            <a:off x="4414332" y="1357950"/>
            <a:ext cx="342900" cy="484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1"/>
          <p:cNvSpPr/>
          <p:nvPr/>
        </p:nvSpPr>
        <p:spPr>
          <a:xfrm rot="2395164">
            <a:off x="5653594" y="2361028"/>
            <a:ext cx="541367" cy="18804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1"/>
          <p:cNvSpPr/>
          <p:nvPr/>
        </p:nvSpPr>
        <p:spPr>
          <a:xfrm rot="8001178">
            <a:off x="3117580" y="2432092"/>
            <a:ext cx="597823" cy="20680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1"/>
          <p:cNvSpPr/>
          <p:nvPr/>
        </p:nvSpPr>
        <p:spPr>
          <a:xfrm rot="6717236">
            <a:off x="3567332" y="2889698"/>
            <a:ext cx="1318404" cy="348176"/>
          </a:xfrm>
          <a:prstGeom prst="rightArrow">
            <a:avLst>
              <a:gd name="adj1" fmla="val 33151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1"/>
          <p:cNvSpPr/>
          <p:nvPr/>
        </p:nvSpPr>
        <p:spPr>
          <a:xfrm rot="4065865">
            <a:off x="4649209" y="2932041"/>
            <a:ext cx="1345346" cy="23461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990600" y="171450"/>
            <a:ext cx="7698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>
            <a:spLocks noGrp="1"/>
          </p:cNvSpPr>
          <p:nvPr>
            <p:ph type="title"/>
          </p:nvPr>
        </p:nvSpPr>
        <p:spPr>
          <a:xfrm>
            <a:off x="56325" y="56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 b="1">
                <a:latin typeface="STIX Two Text"/>
                <a:ea typeface="STIX Two Text"/>
                <a:cs typeface="STIX Two Text"/>
                <a:sym typeface="STIX Two Text"/>
              </a:rPr>
              <a:t>Types of Sequence Alignment</a:t>
            </a:r>
            <a:endParaRPr sz="3620" b="1"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34" name="Google Shape;134;p6"/>
          <p:cNvSpPr txBox="1">
            <a:spLocks noGrp="1"/>
          </p:cNvSpPr>
          <p:nvPr>
            <p:ph type="body" idx="1"/>
          </p:nvPr>
        </p:nvSpPr>
        <p:spPr>
          <a:xfrm>
            <a:off x="56325" y="10492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❖"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Pairwise Alignment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❖"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Multiple Sequence Alignment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3600" b="1">
                <a:latin typeface="STIX Two Text"/>
                <a:ea typeface="STIX Two Text"/>
                <a:cs typeface="STIX Two Text"/>
                <a:sym typeface="STIX Two Text"/>
              </a:rPr>
              <a:t>Pairwise Alignment</a:t>
            </a:r>
            <a:endParaRPr sz="3600" b="1">
              <a:latin typeface="STIX Two Text"/>
              <a:ea typeface="STIX Two Text"/>
              <a:cs typeface="STIX Two Text"/>
              <a:sym typeface="STIX Two Tex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b="1"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40" name="Google Shape;140;p7"/>
          <p:cNvSpPr txBox="1">
            <a:spLocks noGrp="1"/>
          </p:cNvSpPr>
          <p:nvPr>
            <p:ph type="body" idx="1"/>
          </p:nvPr>
        </p:nvSpPr>
        <p:spPr>
          <a:xfrm>
            <a:off x="48875" y="936600"/>
            <a:ext cx="9046200" cy="41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❖"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Homology assessment of 2 sequences- DNA or AAs.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-2921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❖"/>
            </a:pP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Finding the </a:t>
            </a:r>
            <a:r>
              <a:rPr lang="en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global</a:t>
            </a: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local</a:t>
            </a: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optimum alignment of two sequences.</a:t>
            </a: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endParaRPr sz="24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-2921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❖"/>
            </a:pPr>
            <a:r>
              <a:rPr lang="en" sz="24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Similarity score </a:t>
            </a:r>
            <a:r>
              <a:rPr lang="en" sz="2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assigned based of differences between the 2 sequences.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 b="1">
                <a:latin typeface="STIX Two Text"/>
                <a:ea typeface="STIX Two Text"/>
                <a:cs typeface="STIX Two Text"/>
                <a:sym typeface="STIX Two Text"/>
              </a:rPr>
              <a:t>Global vs Local Alignment</a:t>
            </a:r>
            <a:endParaRPr sz="4400" b="1">
              <a:latin typeface="STIX Two Text"/>
              <a:ea typeface="STIX Two Text"/>
              <a:cs typeface="STIX Two Text"/>
              <a:sym typeface="STIX Two Tex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b="1"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pic>
        <p:nvPicPr>
          <p:cNvPr id="146" name="Google Shape;146;p8" descr="Image result for global and local alignment image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400" y="999025"/>
            <a:ext cx="6908050" cy="408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 b="1">
                <a:latin typeface="STIX Two Text"/>
                <a:ea typeface="STIX Two Text"/>
                <a:cs typeface="STIX Two Text"/>
                <a:sym typeface="STIX Two Text"/>
              </a:rPr>
              <a:t>Multiple Sequence Alignment</a:t>
            </a:r>
            <a:endParaRPr sz="4400" b="1">
              <a:latin typeface="STIX Two Text"/>
              <a:ea typeface="STIX Two Text"/>
              <a:cs typeface="STIX Two Text"/>
              <a:sym typeface="STIX Two Tex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b="1"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52" name="Google Shape;152;p9"/>
          <p:cNvSpPr txBox="1">
            <a:spLocks noGrp="1"/>
          </p:cNvSpPr>
          <p:nvPr>
            <p:ph type="body" idx="1"/>
          </p:nvPr>
        </p:nvSpPr>
        <p:spPr>
          <a:xfrm>
            <a:off x="37550" y="1013675"/>
            <a:ext cx="8982300" cy="3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Char char="❖"/>
            </a:pPr>
            <a:r>
              <a:rPr lang="en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Find similarities between many sequences</a:t>
            </a:r>
            <a:endParaRPr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endParaRPr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Char char="❖"/>
            </a:pPr>
            <a:r>
              <a:rPr lang="en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Based on Heuristic algorithms</a:t>
            </a:r>
            <a:endParaRPr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r>
              <a:rPr lang="en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e.g. ClustalW, ClustalX, Clust Omega, Muscle,  MAFFT, T-coffee.</a:t>
            </a:r>
            <a:endParaRPr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800"/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700"/>
              <a:buFont typeface="Poppins"/>
              <a:buNone/>
            </a:pPr>
            <a:r>
              <a:rPr lang="en" sz="3300" b="1">
                <a:latin typeface="STIX Two Text"/>
                <a:ea typeface="STIX Two Text"/>
                <a:cs typeface="STIX Two Text"/>
                <a:sym typeface="STIX Two Text"/>
              </a:rPr>
              <a:t>Types of multiple sequence alignment</a:t>
            </a:r>
            <a:endParaRPr sz="3300" b="1"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58" name="Google Shape;158;p10"/>
          <p:cNvSpPr txBox="1">
            <a:spLocks noGrp="1"/>
          </p:cNvSpPr>
          <p:nvPr>
            <p:ph type="body" idx="4294967295"/>
          </p:nvPr>
        </p:nvSpPr>
        <p:spPr>
          <a:xfrm>
            <a:off x="3969572" y="1459670"/>
            <a:ext cx="4776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Alignment with a reference genome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9" name="Google Shape;159;p10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7448" y="1183748"/>
            <a:ext cx="3413750" cy="8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0" descr="Background patter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1925" y="3081275"/>
            <a:ext cx="3329275" cy="82397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0"/>
          <p:cNvSpPr txBox="1"/>
          <p:nvPr/>
        </p:nvSpPr>
        <p:spPr>
          <a:xfrm>
            <a:off x="3969575" y="3369548"/>
            <a:ext cx="46842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Noto Sans Symbols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Alignment without a reference genome</a:t>
            </a:r>
            <a:endParaRPr sz="1800" b="1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>
            <a:spLocks noGrp="1"/>
          </p:cNvSpPr>
          <p:nvPr>
            <p:ph type="title"/>
          </p:nvPr>
        </p:nvSpPr>
        <p:spPr>
          <a:xfrm>
            <a:off x="19775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700"/>
              <a:buFont typeface="Poppins"/>
              <a:buNone/>
            </a:pPr>
            <a:r>
              <a:rPr lang="en" sz="3200" b="1">
                <a:latin typeface="STIX Two Text"/>
                <a:ea typeface="STIX Two Text"/>
                <a:cs typeface="STIX Two Text"/>
                <a:sym typeface="STIX Two Text"/>
              </a:rPr>
              <a:t>Types of multiple sequence alignment</a:t>
            </a:r>
            <a:endParaRPr sz="3200" b="1"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67" name="Google Shape;167;p11"/>
          <p:cNvSpPr txBox="1">
            <a:spLocks noGrp="1"/>
          </p:cNvSpPr>
          <p:nvPr>
            <p:ph type="body" idx="4294967295"/>
          </p:nvPr>
        </p:nvSpPr>
        <p:spPr>
          <a:xfrm>
            <a:off x="3969572" y="1873945"/>
            <a:ext cx="4776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ts val="1500"/>
              <a:buNone/>
            </a:pPr>
            <a:r>
              <a:rPr lang="en" b="1">
                <a:solidFill>
                  <a:schemeClr val="dk1"/>
                </a:solidFill>
              </a:rPr>
              <a:t>Alignment with a reference genome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8" name="Google Shape;168;p11" descr="Background patter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886" y="1671823"/>
            <a:ext cx="3449713" cy="89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1" descr="Background patter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4999" y="3212674"/>
            <a:ext cx="3235600" cy="80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1"/>
          <p:cNvSpPr txBox="1"/>
          <p:nvPr/>
        </p:nvSpPr>
        <p:spPr>
          <a:xfrm>
            <a:off x="3969572" y="2313172"/>
            <a:ext cx="4570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Faster and less computationally intensive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5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Ensures consistent coordinates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3969572" y="3383164"/>
            <a:ext cx="4776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Noto Sans Symbols"/>
              <a:buNone/>
            </a:pPr>
            <a:r>
              <a:rPr lang="en" sz="1500" b="1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Alignment without a reference genome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>
            <a:spLocks noGrp="1"/>
          </p:cNvSpPr>
          <p:nvPr>
            <p:ph type="title"/>
          </p:nvPr>
        </p:nvSpPr>
        <p:spPr>
          <a:xfrm>
            <a:off x="0" y="-6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700"/>
              <a:buFont typeface="Poppins"/>
              <a:buNone/>
            </a:pPr>
            <a:r>
              <a:rPr lang="en" sz="3200" b="1">
                <a:latin typeface="STIX Two Text"/>
                <a:ea typeface="STIX Two Text"/>
                <a:cs typeface="STIX Two Text"/>
                <a:sym typeface="STIX Two Text"/>
              </a:rPr>
              <a:t>Alignment with a reference genome</a:t>
            </a:r>
            <a:endParaRPr sz="3200" b="1"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77" name="Google Shape;177;p12"/>
          <p:cNvSpPr txBox="1"/>
          <p:nvPr/>
        </p:nvSpPr>
        <p:spPr>
          <a:xfrm>
            <a:off x="714375" y="4558280"/>
            <a:ext cx="77151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39700" marR="0" lvl="0" indent="-133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ato"/>
              <a:buChar char="●"/>
            </a:pPr>
            <a:r>
              <a:rPr lang="en" sz="15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Aligning to a reference genome gives us a baseline to call variants against</a:t>
            </a:r>
            <a:endParaRPr sz="11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8" name="Google Shape;178;p12"/>
          <p:cNvCxnSpPr/>
          <p:nvPr/>
        </p:nvCxnSpPr>
        <p:spPr>
          <a:xfrm>
            <a:off x="1352563" y="1252441"/>
            <a:ext cx="536700" cy="0"/>
          </a:xfrm>
          <a:prstGeom prst="straightConnector1">
            <a:avLst/>
          </a:prstGeom>
          <a:noFill/>
          <a:ln w="38100" cap="flat" cmpd="sng">
            <a:solidFill>
              <a:srgbClr val="F0634F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79" name="Google Shape;179;p12" descr="A screenshot of a cell phon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4185" y="1051178"/>
            <a:ext cx="5734072" cy="33952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12"/>
          <p:cNvCxnSpPr>
            <a:stCxn id="181" idx="1"/>
          </p:cNvCxnSpPr>
          <p:nvPr/>
        </p:nvCxnSpPr>
        <p:spPr>
          <a:xfrm rot="10800000">
            <a:off x="6433211" y="1625236"/>
            <a:ext cx="1363200" cy="1182900"/>
          </a:xfrm>
          <a:prstGeom prst="straightConnector1">
            <a:avLst/>
          </a:prstGeom>
          <a:noFill/>
          <a:ln w="38100" cap="flat" cmpd="sng">
            <a:solidFill>
              <a:srgbClr val="F0634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2" name="Google Shape;182;p12"/>
          <p:cNvSpPr txBox="1"/>
          <p:nvPr/>
        </p:nvSpPr>
        <p:spPr>
          <a:xfrm>
            <a:off x="356972" y="1088231"/>
            <a:ext cx="10179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Reference</a:t>
            </a:r>
            <a:endParaRPr sz="11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genome</a:t>
            </a:r>
            <a:endParaRPr sz="11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1" name="Google Shape;181;p12"/>
          <p:cNvSpPr txBox="1"/>
          <p:nvPr/>
        </p:nvSpPr>
        <p:spPr>
          <a:xfrm>
            <a:off x="7796411" y="2311786"/>
            <a:ext cx="11562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Single nucleotide variants, compared to reference</a:t>
            </a:r>
            <a:endParaRPr sz="11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3" name="Google Shape;183;p12"/>
          <p:cNvCxnSpPr/>
          <p:nvPr/>
        </p:nvCxnSpPr>
        <p:spPr>
          <a:xfrm flipH="1">
            <a:off x="6777296" y="594598"/>
            <a:ext cx="919800" cy="427800"/>
          </a:xfrm>
          <a:prstGeom prst="straightConnector1">
            <a:avLst/>
          </a:prstGeom>
          <a:noFill/>
          <a:ln w="38100" cap="flat" cmpd="sng">
            <a:solidFill>
              <a:srgbClr val="F0634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4" name="Google Shape;184;p12"/>
          <p:cNvSpPr txBox="1"/>
          <p:nvPr/>
        </p:nvSpPr>
        <p:spPr>
          <a:xfrm>
            <a:off x="7697096" y="254118"/>
            <a:ext cx="12555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Position along reference genome</a:t>
            </a:r>
            <a:endParaRPr sz="11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5" name="Google Shape;185;p12"/>
          <p:cNvCxnSpPr>
            <a:stCxn id="181" idx="1"/>
          </p:cNvCxnSpPr>
          <p:nvPr/>
        </p:nvCxnSpPr>
        <p:spPr>
          <a:xfrm rot="10800000">
            <a:off x="6433211" y="1841236"/>
            <a:ext cx="1363200" cy="966900"/>
          </a:xfrm>
          <a:prstGeom prst="straightConnector1">
            <a:avLst/>
          </a:prstGeom>
          <a:noFill/>
          <a:ln w="38100" cap="flat" cmpd="sng">
            <a:solidFill>
              <a:srgbClr val="F0634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6" name="Google Shape;186;p12"/>
          <p:cNvCxnSpPr>
            <a:stCxn id="181" idx="1"/>
          </p:cNvCxnSpPr>
          <p:nvPr/>
        </p:nvCxnSpPr>
        <p:spPr>
          <a:xfrm rot="10800000">
            <a:off x="6433211" y="2288536"/>
            <a:ext cx="1363200" cy="519600"/>
          </a:xfrm>
          <a:prstGeom prst="straightConnector1">
            <a:avLst/>
          </a:prstGeom>
          <a:noFill/>
          <a:ln w="38100" cap="flat" cmpd="sng">
            <a:solidFill>
              <a:srgbClr val="F0634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7" name="Google Shape;187;p12"/>
          <p:cNvSpPr txBox="1"/>
          <p:nvPr/>
        </p:nvSpPr>
        <p:spPr>
          <a:xfrm>
            <a:off x="468011" y="2273474"/>
            <a:ext cx="12780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Your assembled FASTA files, aligned to the reference</a:t>
            </a:r>
            <a:endParaRPr sz="11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1746031" y="1377244"/>
            <a:ext cx="87900" cy="3048600"/>
          </a:xfrm>
          <a:prstGeom prst="lef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F06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0634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89" name="Google Shape;189;p12"/>
          <p:cNvCxnSpPr>
            <a:stCxn id="181" idx="1"/>
          </p:cNvCxnSpPr>
          <p:nvPr/>
        </p:nvCxnSpPr>
        <p:spPr>
          <a:xfrm rot="10800000">
            <a:off x="6433211" y="2653936"/>
            <a:ext cx="1363200" cy="154200"/>
          </a:xfrm>
          <a:prstGeom prst="straightConnector1">
            <a:avLst/>
          </a:prstGeom>
          <a:noFill/>
          <a:ln w="38100" cap="flat" cmpd="sng">
            <a:solidFill>
              <a:srgbClr val="F0634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0" name="Google Shape;190;p12"/>
          <p:cNvCxnSpPr>
            <a:stCxn id="181" idx="1"/>
          </p:cNvCxnSpPr>
          <p:nvPr/>
        </p:nvCxnSpPr>
        <p:spPr>
          <a:xfrm flipH="1">
            <a:off x="6433211" y="2808136"/>
            <a:ext cx="1363200" cy="703200"/>
          </a:xfrm>
          <a:prstGeom prst="straightConnector1">
            <a:avLst/>
          </a:prstGeom>
          <a:noFill/>
          <a:ln w="38100" cap="flat" cmpd="sng">
            <a:solidFill>
              <a:srgbClr val="F0634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1" name="Google Shape;191;p12"/>
          <p:cNvCxnSpPr>
            <a:stCxn id="181" idx="1"/>
          </p:cNvCxnSpPr>
          <p:nvPr/>
        </p:nvCxnSpPr>
        <p:spPr>
          <a:xfrm flipH="1">
            <a:off x="6433211" y="2808136"/>
            <a:ext cx="1363200" cy="799800"/>
          </a:xfrm>
          <a:prstGeom prst="straightConnector1">
            <a:avLst/>
          </a:prstGeom>
          <a:noFill/>
          <a:ln w="38100" cap="flat" cmpd="sng">
            <a:solidFill>
              <a:srgbClr val="F0634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2" name="Google Shape;192;p12"/>
          <p:cNvCxnSpPr>
            <a:stCxn id="181" idx="1"/>
          </p:cNvCxnSpPr>
          <p:nvPr/>
        </p:nvCxnSpPr>
        <p:spPr>
          <a:xfrm flipH="1">
            <a:off x="6433211" y="2808136"/>
            <a:ext cx="1363200" cy="1448700"/>
          </a:xfrm>
          <a:prstGeom prst="straightConnector1">
            <a:avLst/>
          </a:prstGeom>
          <a:noFill/>
          <a:ln w="38100" cap="flat" cmpd="sng">
            <a:solidFill>
              <a:srgbClr val="F0634F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700"/>
              <a:buFont typeface="Poppins"/>
              <a:buNone/>
            </a:pPr>
            <a:r>
              <a:rPr lang="en" sz="3100" b="1">
                <a:latin typeface="STIX Two Text"/>
                <a:ea typeface="STIX Two Text"/>
                <a:cs typeface="STIX Two Text"/>
                <a:sym typeface="STIX Two Text"/>
              </a:rPr>
              <a:t>Selecting an appropriate reference genome</a:t>
            </a:r>
            <a:endParaRPr sz="3100" b="1"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37550" y="825975"/>
            <a:ext cx="9066900" cy="42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Noto Sans Symbols"/>
              <a:buNone/>
            </a:pPr>
            <a:r>
              <a:rPr lang="en" sz="15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Ways to choose a reference genome:</a:t>
            </a:r>
            <a:endParaRPr sz="15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595959"/>
              </a:buClr>
              <a:buSzPts val="1500"/>
              <a:buFont typeface="Noto Sans Symbols"/>
              <a:buNone/>
            </a:pPr>
            <a:endParaRPr sz="1500" b="1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❖"/>
            </a:pPr>
            <a:r>
              <a:rPr lang="en"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If possible, use the same reference genome as others working on the same outbreak</a:t>
            </a:r>
            <a:endParaRPr sz="11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520700" marR="0" lvl="1" indent="-1524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e.g., Wuhan-Hu-1 for SARS-CoV-2 </a:t>
            </a:r>
            <a:endParaRPr sz="11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520700" marR="0" lvl="1" indent="-1524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n"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e.g., Makona-Kissidougou-C15 for Ebola virus</a:t>
            </a:r>
            <a:endParaRPr sz="14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❖"/>
            </a:pPr>
            <a:r>
              <a:rPr lang="en"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Use the earliest sequence from the outbreak, if available.</a:t>
            </a:r>
            <a:endParaRPr sz="14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❖"/>
            </a:pPr>
            <a:r>
              <a:rPr lang="en"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Use a sequence from a prior outbreak in the same location.</a:t>
            </a:r>
            <a:endParaRPr sz="14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75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❖"/>
            </a:pPr>
            <a:r>
              <a:rPr lang="en"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Search NCBI RefSeq (https://www.ncbi.nlm.nih.gov/refseq/) for an established reference</a:t>
            </a:r>
            <a:endParaRPr sz="11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139700" marR="0" lvl="0" indent="-508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Symbols"/>
              <a:buNone/>
            </a:pPr>
            <a:endParaRPr sz="14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Symbols"/>
              <a:buNone/>
            </a:pPr>
            <a:r>
              <a:rPr lang="en" sz="1400" b="0" i="1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reference genome should always have a date </a:t>
            </a:r>
            <a:r>
              <a:rPr lang="en" sz="1400" b="1" i="1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before</a:t>
            </a:r>
            <a:r>
              <a:rPr lang="en" sz="1400" b="0" i="1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the earliest of your samples</a:t>
            </a:r>
            <a:endParaRPr sz="11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oppins"/>
              <a:buNone/>
            </a:pPr>
            <a:r>
              <a:rPr lang="en" sz="3000" b="1">
                <a:latin typeface="STIX Two Text"/>
                <a:ea typeface="STIX Two Text"/>
                <a:cs typeface="STIX Two Text"/>
                <a:sym typeface="STIX Two Text"/>
              </a:rPr>
              <a:t>Summary</a:t>
            </a:r>
            <a:endParaRPr sz="3000" b="1">
              <a:latin typeface="STIX Two Text"/>
              <a:ea typeface="STIX Two Text"/>
              <a:cs typeface="STIX Two Text"/>
              <a:sym typeface="STIX Two Text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0" y="774750"/>
            <a:ext cx="9144000" cy="43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54000" marR="0" lvl="0" indent="-254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❖"/>
            </a:pPr>
            <a:r>
              <a:rPr lang="en" sz="1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Multiple sequence alignment is required prior to phylogenetic analysis.</a:t>
            </a:r>
            <a:endParaRPr sz="19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342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254000" marR="0" lvl="0" indent="-2540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ato"/>
              <a:buChar char="❖"/>
            </a:pPr>
            <a:r>
              <a:rPr lang="en" sz="1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Alignment with a reference genome is faster and often preferred over reference-free alignment.</a:t>
            </a:r>
            <a:endParaRPr sz="19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254000" marR="0" lvl="0" indent="-254000" algn="l" rtl="0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900"/>
              <a:buFont typeface="Lato"/>
              <a:buChar char="❖"/>
            </a:pPr>
            <a:r>
              <a:rPr lang="en" sz="19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Always inspect your alignment to ensure quality.</a:t>
            </a:r>
            <a:endParaRPr sz="19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Microsoft Macintosh PowerPoint</Application>
  <PresentationFormat>On-screen Show (16:9)</PresentationFormat>
  <Paragraphs>104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Poppins Black</vt:lpstr>
      <vt:lpstr>STIX Two Text</vt:lpstr>
      <vt:lpstr>Arial</vt:lpstr>
      <vt:lpstr>Poppins</vt:lpstr>
      <vt:lpstr>Calibri</vt:lpstr>
      <vt:lpstr>Corbel</vt:lpstr>
      <vt:lpstr>Noto Sans Symbols</vt:lpstr>
      <vt:lpstr>Lato</vt:lpstr>
      <vt:lpstr>Simple Light</vt:lpstr>
      <vt:lpstr>Sequence Alignment</vt:lpstr>
      <vt:lpstr>Outline</vt:lpstr>
      <vt:lpstr>Genomic epidemiology workflow</vt:lpstr>
      <vt:lpstr>What is Sequence Alignment?</vt:lpstr>
      <vt:lpstr>PowerPoint Presentation</vt:lpstr>
      <vt:lpstr>Sequence alignment in molecular informatics </vt:lpstr>
      <vt:lpstr> Find important molecular regions – conserved across species. Determine the evolutionary constraints at work. Find mutations in a population or family of genes. Find similar looking sequence in a database.</vt:lpstr>
      <vt:lpstr>PowerPoint Presentation</vt:lpstr>
      <vt:lpstr>Types of Sequence Alignment</vt:lpstr>
      <vt:lpstr>Pairwise Alignment </vt:lpstr>
      <vt:lpstr>Global vs Local Alignment </vt:lpstr>
      <vt:lpstr>Multiple Sequence Alignment </vt:lpstr>
      <vt:lpstr>Types of multiple sequence alignment</vt:lpstr>
      <vt:lpstr>Types of multiple sequence alignment</vt:lpstr>
      <vt:lpstr>Alignment with a reference genome</vt:lpstr>
      <vt:lpstr>Selecting an appropriate reference genome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Paul Oluniyi</cp:lastModifiedBy>
  <cp:revision>2</cp:revision>
  <dcterms:modified xsi:type="dcterms:W3CDTF">2026-10-02T23:25:48Z</dcterms:modified>
</cp:coreProperties>
</file>