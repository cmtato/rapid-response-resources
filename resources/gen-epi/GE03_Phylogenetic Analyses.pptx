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Roboto"/>
      <p:regular r:id="rId42"/>
      <p:bold r:id="rId43"/>
      <p:italic r:id="rId44"/>
      <p:boldItalic r:id="rId45"/>
    </p:embeddedFont>
    <p:embeddedFont>
      <p:font typeface="Average"/>
      <p:regular r:id="rId46"/>
    </p:embeddedFont>
    <p:embeddedFont>
      <p:font typeface="Oswald"/>
      <p:regular r:id="rId47"/>
      <p:bold r:id="rId48"/>
    </p:embeddedFont>
    <p:embeddedFont>
      <p:font typeface="Open Sans Light"/>
      <p:regular r:id="rId49"/>
      <p:bold r:id="rId50"/>
      <p:italic r:id="rId51"/>
      <p:boldItalic r:id="rId52"/>
    </p:embeddedFont>
    <p:embeddedFont>
      <p:font typeface="Open Sans"/>
      <p:regular r:id="rId53"/>
      <p:bold r:id="rId54"/>
      <p:italic r:id="rId55"/>
      <p:boldItalic r:id="rId5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7" roundtripDataSignature="AMtx7miDGtAV5MjT8HxHxQ0XT+A3dAJl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89113A-0CCC-4827-B051-28423795929A}">
  <a:tblStyle styleId="{5389113A-0CCC-4827-B051-28423795929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font" Target="fonts/Roboto-regular.fntdata"/><Relationship Id="rId41" Type="http://schemas.openxmlformats.org/officeDocument/2006/relationships/slide" Target="slides/slide35.xml"/><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Average-regular.fntdata"/><Relationship Id="rId45"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Oswald-bold.fntdata"/><Relationship Id="rId47" Type="http://schemas.openxmlformats.org/officeDocument/2006/relationships/font" Target="fonts/Oswald-regular.fntdata"/><Relationship Id="rId49" Type="http://schemas.openxmlformats.org/officeDocument/2006/relationships/font" Target="fonts/OpenSansLight-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Light-italic.fntdata"/><Relationship Id="rId50" Type="http://schemas.openxmlformats.org/officeDocument/2006/relationships/font" Target="fonts/OpenSansLight-bold.fntdata"/><Relationship Id="rId53" Type="http://schemas.openxmlformats.org/officeDocument/2006/relationships/font" Target="fonts/OpenSans-regular.fntdata"/><Relationship Id="rId52" Type="http://schemas.openxmlformats.org/officeDocument/2006/relationships/font" Target="fonts/OpenSansLight-boldItalic.fntdata"/><Relationship Id="rId11" Type="http://schemas.openxmlformats.org/officeDocument/2006/relationships/slide" Target="slides/slide5.xml"/><Relationship Id="rId55" Type="http://schemas.openxmlformats.org/officeDocument/2006/relationships/font" Target="fonts/OpenSans-italic.fntdata"/><Relationship Id="rId10" Type="http://schemas.openxmlformats.org/officeDocument/2006/relationships/slide" Target="slides/slide4.xml"/><Relationship Id="rId54" Type="http://schemas.openxmlformats.org/officeDocument/2006/relationships/font" Target="fonts/OpenSans-bold.fntdata"/><Relationship Id="rId13" Type="http://schemas.openxmlformats.org/officeDocument/2006/relationships/slide" Target="slides/slide7.xml"/><Relationship Id="rId57" Type="http://customschemas.google.com/relationships/presentationmetadata" Target="metadata"/><Relationship Id="rId12" Type="http://schemas.openxmlformats.org/officeDocument/2006/relationships/slide" Target="slides/slide6.xml"/><Relationship Id="rId56" Type="http://schemas.openxmlformats.org/officeDocument/2006/relationships/font" Target="fonts/OpenSans-boldItalic.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SzPts val="1100"/>
              <a:buNone/>
            </a:pPr>
            <a:r>
              <a:rPr lang="en" sz="1800">
                <a:solidFill>
                  <a:schemeClr val="dk1"/>
                </a:solidFill>
                <a:latin typeface="Average"/>
                <a:ea typeface="Average"/>
                <a:cs typeface="Average"/>
                <a:sym typeface="Average"/>
              </a:rPr>
              <a:t>an estimate of the relationships among taxa (or sequences) and their hypothetical common ancestors</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 name="Google Shape;8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5275" lvl="0" marL="647700" rtl="0" algn="l">
              <a:lnSpc>
                <a:spcPct val="115000"/>
              </a:lnSpc>
              <a:spcBef>
                <a:spcPts val="1500"/>
              </a:spcBef>
              <a:spcAft>
                <a:spcPts val="0"/>
              </a:spcAft>
              <a:buClr>
                <a:schemeClr val="dk1"/>
              </a:buClr>
              <a:buSzPts val="1050"/>
              <a:buFont typeface="Open Sans"/>
              <a:buChar char="●"/>
            </a:pPr>
            <a:r>
              <a:rPr lang="en" sz="1050">
                <a:solidFill>
                  <a:schemeClr val="dk1"/>
                </a:solidFill>
                <a:latin typeface="Open Sans"/>
                <a:ea typeface="Open Sans"/>
                <a:cs typeface="Open Sans"/>
                <a:sym typeface="Open Sans"/>
              </a:rPr>
              <a:t>When first generated, consensus genomes from different samples will be of different lengths and will have different numbers of sites where the precise nucleotide is known. </a:t>
            </a:r>
            <a:endParaRPr sz="1050">
              <a:solidFill>
                <a:schemeClr val="dk1"/>
              </a:solidFill>
              <a:latin typeface="Open Sans"/>
              <a:ea typeface="Open Sans"/>
              <a:cs typeface="Open Sans"/>
              <a:sym typeface="Open Sans"/>
            </a:endParaRPr>
          </a:p>
          <a:p>
            <a:pPr indent="-295275" lvl="0" marL="647700" rtl="0" algn="l">
              <a:lnSpc>
                <a:spcPct val="115000"/>
              </a:lnSpc>
              <a:spcBef>
                <a:spcPts val="0"/>
              </a:spcBef>
              <a:spcAft>
                <a:spcPts val="0"/>
              </a:spcAft>
              <a:buClr>
                <a:schemeClr val="dk1"/>
              </a:buClr>
              <a:buSzPts val="1050"/>
              <a:buFont typeface="Open Sans"/>
              <a:buChar char="●"/>
            </a:pPr>
            <a:r>
              <a:rPr lang="en" sz="1050">
                <a:solidFill>
                  <a:schemeClr val="dk1"/>
                </a:solidFill>
                <a:latin typeface="Open Sans"/>
                <a:ea typeface="Open Sans"/>
                <a:cs typeface="Open Sans"/>
                <a:sym typeface="Open Sans"/>
              </a:rPr>
              <a:t>To make sure that we are comparing the same sites in the genome across all of the sequences in our data set, we must perform a multiple sequence alignment.</a:t>
            </a:r>
            <a:endParaRPr sz="1050">
              <a:solidFill>
                <a:schemeClr val="dk1"/>
              </a:solidFill>
              <a:latin typeface="Open Sans"/>
              <a:ea typeface="Open Sans"/>
              <a:cs typeface="Open Sans"/>
              <a:sym typeface="Open Sans"/>
            </a:endParaRPr>
          </a:p>
          <a:p>
            <a:pPr indent="-295275" lvl="0" marL="647700" rtl="0" algn="l">
              <a:lnSpc>
                <a:spcPct val="115000"/>
              </a:lnSpc>
              <a:spcBef>
                <a:spcPts val="0"/>
              </a:spcBef>
              <a:spcAft>
                <a:spcPts val="0"/>
              </a:spcAft>
              <a:buClr>
                <a:schemeClr val="dk1"/>
              </a:buClr>
              <a:buSzPts val="1050"/>
              <a:buFont typeface="Open Sans"/>
              <a:buChar char="●"/>
            </a:pPr>
            <a:r>
              <a:rPr lang="en" sz="1050">
                <a:solidFill>
                  <a:schemeClr val="dk1"/>
                </a:solidFill>
                <a:latin typeface="Open Sans"/>
                <a:ea typeface="Open Sans"/>
                <a:cs typeface="Open Sans"/>
                <a:sym typeface="Open Sans"/>
              </a:rPr>
              <a:t>When your sequences are all aligned, you can start to see patterns of shared and unique genetic changes. This pattern of shared genetic changes and unique mutations within a sequence is the information that we will encode in the phylogenetic tree.</a:t>
            </a:r>
            <a:endParaRPr sz="1050">
              <a:solidFill>
                <a:schemeClr val="dk1"/>
              </a:solidFill>
              <a:latin typeface="Open Sans"/>
              <a:ea typeface="Open Sans"/>
              <a:cs typeface="Open Sans"/>
              <a:sym typeface="Open Sans"/>
            </a:endParaRPr>
          </a:p>
          <a:p>
            <a:pPr indent="-295275" lvl="0" marL="647700" rtl="0" algn="l">
              <a:lnSpc>
                <a:spcPct val="115000"/>
              </a:lnSpc>
              <a:spcBef>
                <a:spcPts val="0"/>
              </a:spcBef>
              <a:spcAft>
                <a:spcPts val="0"/>
              </a:spcAft>
              <a:buClr>
                <a:schemeClr val="dk1"/>
              </a:buClr>
              <a:buSzPts val="1050"/>
              <a:buFont typeface="Open Sans"/>
              <a:buChar char="●"/>
            </a:pPr>
            <a:r>
              <a:rPr lang="en" sz="1050">
                <a:solidFill>
                  <a:schemeClr val="dk1"/>
                </a:solidFill>
                <a:latin typeface="Open Sans"/>
                <a:ea typeface="Open Sans"/>
                <a:cs typeface="Open Sans"/>
                <a:sym typeface="Open Sans"/>
              </a:rPr>
              <a:t>We build phylogenetic trees by hierarchically clustering sequences according to which mutations they share. When a mutation occurs on a branch, all the samples that descend from that branch will carry that mutation.</a:t>
            </a:r>
            <a:endParaRPr sz="1050">
              <a:solidFill>
                <a:schemeClr val="dk1"/>
              </a:solidFill>
              <a:latin typeface="Open Sans"/>
              <a:ea typeface="Open Sans"/>
              <a:cs typeface="Open Sans"/>
              <a:sym typeface="Open Sans"/>
            </a:endParaRPr>
          </a:p>
          <a:p>
            <a:pPr indent="-295275" lvl="0" marL="647700" rtl="0" algn="l">
              <a:lnSpc>
                <a:spcPct val="115000"/>
              </a:lnSpc>
              <a:spcBef>
                <a:spcPts val="0"/>
              </a:spcBef>
              <a:spcAft>
                <a:spcPts val="0"/>
              </a:spcAft>
              <a:buClr>
                <a:schemeClr val="dk1"/>
              </a:buClr>
              <a:buSzPts val="1050"/>
              <a:buFont typeface="Open Sans"/>
              <a:buChar char="●"/>
            </a:pPr>
            <a:r>
              <a:rPr lang="en" sz="1050">
                <a:solidFill>
                  <a:schemeClr val="dk1"/>
                </a:solidFill>
                <a:latin typeface="Open Sans"/>
                <a:ea typeface="Open Sans"/>
                <a:cs typeface="Open Sans"/>
                <a:sym typeface="Open Sans"/>
              </a:rPr>
              <a:t>Mutations that occur earlier in the tree are inherited by more samples. </a:t>
            </a:r>
            <a:endParaRPr sz="1050">
              <a:solidFill>
                <a:schemeClr val="dk1"/>
              </a:solidFill>
              <a:latin typeface="Open Sans"/>
              <a:ea typeface="Open Sans"/>
              <a:cs typeface="Open Sans"/>
              <a:sym typeface="Open Sans"/>
            </a:endParaRPr>
          </a:p>
          <a:p>
            <a:pPr indent="-295275" lvl="0" marL="647700" rtl="0" algn="l">
              <a:lnSpc>
                <a:spcPct val="115000"/>
              </a:lnSpc>
              <a:spcBef>
                <a:spcPts val="0"/>
              </a:spcBef>
              <a:spcAft>
                <a:spcPts val="0"/>
              </a:spcAft>
              <a:buClr>
                <a:schemeClr val="dk1"/>
              </a:buClr>
              <a:buSzPts val="1050"/>
              <a:buFont typeface="Open Sans"/>
              <a:buChar char="●"/>
            </a:pPr>
            <a:r>
              <a:rPr lang="en" sz="1050">
                <a:solidFill>
                  <a:schemeClr val="dk1"/>
                </a:solidFill>
                <a:latin typeface="Open Sans"/>
                <a:ea typeface="Open Sans"/>
                <a:cs typeface="Open Sans"/>
                <a:sym typeface="Open Sans"/>
              </a:rPr>
              <a:t>Mutations that occur on a terminal branch, or a branch leading to only one sample, are unique to that genome sequence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 sz="1200"/>
              <a:t>Step 1 </a:t>
            </a:r>
            <a:r>
              <a:rPr lang="en" sz="1200"/>
              <a:t>Outlining your research question is important for figuring out the type of tree you need (i.e. time tree or regular divergent tree) and the samples necessary to include.</a:t>
            </a:r>
            <a:endParaRPr sz="1200"/>
          </a:p>
          <a:p>
            <a:pPr indent="0" lvl="0" marL="0" rtl="0" algn="l">
              <a:lnSpc>
                <a:spcPct val="100000"/>
              </a:lnSpc>
              <a:spcBef>
                <a:spcPts val="0"/>
              </a:spcBef>
              <a:spcAft>
                <a:spcPts val="0"/>
              </a:spcAft>
              <a:buSzPts val="1100"/>
              <a:buNone/>
            </a:pPr>
            <a:r>
              <a:t/>
            </a:r>
            <a:endParaRPr b="1" sz="1200"/>
          </a:p>
          <a:p>
            <a:pPr indent="0" lvl="0" marL="0" rtl="0" algn="l">
              <a:lnSpc>
                <a:spcPct val="100000"/>
              </a:lnSpc>
              <a:spcBef>
                <a:spcPts val="0"/>
              </a:spcBef>
              <a:spcAft>
                <a:spcPts val="0"/>
              </a:spcAft>
              <a:buSzPts val="1100"/>
              <a:buNone/>
            </a:pPr>
            <a:r>
              <a:rPr b="1" lang="en" sz="1200"/>
              <a:t>Step 2</a:t>
            </a:r>
            <a:r>
              <a:rPr lang="en" sz="1200"/>
              <a:t> is the most important. </a:t>
            </a:r>
            <a:r>
              <a:rPr lang="en" sz="1200">
                <a:solidFill>
                  <a:srgbClr val="2A2A2A"/>
                </a:solidFill>
              </a:rPr>
              <a:t> If not done well, the tree will be invalid or impossible to interpret or both. If done wisely, the remaining steps are easy, essentially mechanical, operations that will result in a robust meaningful tree. The most basic assumption of phylogenetic analysis is that all the sequences on a tree are homologous, that is, descended from a common ancestor. Alignment programs will align sequences, homologous or not. All tree-building programs will make a tree from that alignment. However, if the sequences are not actually descended from a common ancestor, the tree will be meaningless and may quite well be misleading. The most reliable way to identify sequences that are homologous to the sequence of interest is to do a Basic Local Alignment Search Tool (BLAST) search (</a:t>
            </a:r>
            <a:r>
              <a:rPr lang="en" sz="1200">
                <a:solidFill>
                  <a:srgbClr val="006FB7"/>
                </a:solidFill>
              </a:rPr>
              <a:t>Altschul et al. 1997</a:t>
            </a:r>
            <a:r>
              <a:rPr lang="en" sz="1200">
                <a:solidFill>
                  <a:srgbClr val="2A2A2A"/>
                </a:solidFill>
              </a:rPr>
              <a:t>) using the sequence of interest as a query.</a:t>
            </a:r>
            <a:endParaRPr sz="1200">
              <a:solidFill>
                <a:srgbClr val="2A2A2A"/>
              </a:solidFill>
            </a:endParaRPr>
          </a:p>
          <a:p>
            <a:pPr indent="0" lvl="0" marL="0" rtl="0" algn="l">
              <a:lnSpc>
                <a:spcPct val="100000"/>
              </a:lnSpc>
              <a:spcBef>
                <a:spcPts val="0"/>
              </a:spcBef>
              <a:spcAft>
                <a:spcPts val="0"/>
              </a:spcAft>
              <a:buSzPts val="1100"/>
              <a:buNone/>
            </a:pPr>
            <a:r>
              <a:t/>
            </a:r>
            <a:endParaRPr sz="1200">
              <a:solidFill>
                <a:srgbClr val="2A2A2A"/>
              </a:solidFill>
            </a:endParaRPr>
          </a:p>
          <a:p>
            <a:pPr indent="0" lvl="0" marL="0" rtl="0" algn="l">
              <a:lnSpc>
                <a:spcPct val="100000"/>
              </a:lnSpc>
              <a:spcBef>
                <a:spcPts val="0"/>
              </a:spcBef>
              <a:spcAft>
                <a:spcPts val="0"/>
              </a:spcAft>
              <a:buSzPts val="1100"/>
              <a:buNone/>
            </a:pPr>
            <a:r>
              <a:rPr b="1" lang="en" sz="1200">
                <a:solidFill>
                  <a:srgbClr val="2A2A2A"/>
                </a:solidFill>
              </a:rPr>
              <a:t>Step 3</a:t>
            </a:r>
            <a:r>
              <a:rPr lang="en" sz="1200">
                <a:solidFill>
                  <a:srgbClr val="2A2A2A"/>
                </a:solidFill>
              </a:rPr>
              <a:t> (covered in previous lectures so skip) is to align those sequences. </a:t>
            </a:r>
            <a:r>
              <a:rPr lang="en" sz="1200">
                <a:solidFill>
                  <a:srgbClr val="333333"/>
                </a:solidFill>
              </a:rPr>
              <a:t>it is highly recommended to inspect alignments by eye, with highlighting of sites that are different from a reference or consensus of the entire alignment. Sections of sequences that are misaligned, contain sequencing or assembly errors will be very easy to spot this way. Get into the habit of going back to your multiple sequence alignments every time you see particularly long branches or sequences that seem out of place in phylogenetic trees.</a:t>
            </a:r>
            <a:r>
              <a:rPr lang="en" sz="1200">
                <a:solidFill>
                  <a:srgbClr val="2A2A2A"/>
                </a:solidFill>
              </a:rPr>
              <a:t> Once the alignment is complete, you will see that gaps have been introduced into the sequences. Those gaps represent historical insertions or deletions, and their purpose is to bring homologous sites into alignment in the same column. It should be appreciated that just as a phylogenetic tree is an “estimate” of relationships among sequences, an alignment is just an estimate of the positions of historical insertions and deletions. The quality of the alignment can affect the quality of a phylogenetic tree.</a:t>
            </a:r>
            <a:endParaRPr sz="1200">
              <a:solidFill>
                <a:srgbClr val="2A2A2A"/>
              </a:solidFill>
            </a:endParaRPr>
          </a:p>
          <a:p>
            <a:pPr indent="0" lvl="0" marL="0" rtl="0" algn="l">
              <a:lnSpc>
                <a:spcPct val="100000"/>
              </a:lnSpc>
              <a:spcBef>
                <a:spcPts val="0"/>
              </a:spcBef>
              <a:spcAft>
                <a:spcPts val="0"/>
              </a:spcAft>
              <a:buSzPts val="1100"/>
              <a:buNone/>
            </a:pPr>
            <a:r>
              <a:t/>
            </a:r>
            <a:endParaRPr sz="1200">
              <a:solidFill>
                <a:srgbClr val="2A2A2A"/>
              </a:solidFill>
            </a:endParaRPr>
          </a:p>
          <a:p>
            <a:pPr indent="0" lvl="0" marL="0" rtl="0" algn="l">
              <a:lnSpc>
                <a:spcPct val="100000"/>
              </a:lnSpc>
              <a:spcBef>
                <a:spcPts val="0"/>
              </a:spcBef>
              <a:spcAft>
                <a:spcPts val="0"/>
              </a:spcAft>
              <a:buSzPts val="1100"/>
              <a:buNone/>
            </a:pPr>
            <a:r>
              <a:rPr b="1" lang="en" sz="1200">
                <a:solidFill>
                  <a:srgbClr val="2A2A2A"/>
                </a:solidFill>
              </a:rPr>
              <a:t>Step 4 </a:t>
            </a:r>
            <a:r>
              <a:rPr lang="en" sz="1200">
                <a:solidFill>
                  <a:srgbClr val="2A2A2A"/>
                </a:solidFill>
              </a:rPr>
              <a:t>There are various approaches to doing this, which we will focus on for the remainder of this session.</a:t>
            </a:r>
            <a:endParaRPr sz="1200">
              <a:solidFill>
                <a:srgbClr val="2A2A2A"/>
              </a:solidFill>
            </a:endParaRPr>
          </a:p>
          <a:p>
            <a:pPr indent="0" lvl="0" marL="0" rtl="0" algn="l">
              <a:lnSpc>
                <a:spcPct val="100000"/>
              </a:lnSpc>
              <a:spcBef>
                <a:spcPts val="0"/>
              </a:spcBef>
              <a:spcAft>
                <a:spcPts val="0"/>
              </a:spcAft>
              <a:buSzPts val="1100"/>
              <a:buNone/>
            </a:pPr>
            <a:r>
              <a:t/>
            </a:r>
            <a:endParaRPr sz="1200">
              <a:solidFill>
                <a:srgbClr val="2A2A2A"/>
              </a:solidFill>
            </a:endParaRPr>
          </a:p>
          <a:p>
            <a:pPr indent="0" lvl="0" marL="0" rtl="0" algn="l">
              <a:lnSpc>
                <a:spcPct val="100000"/>
              </a:lnSpc>
              <a:spcBef>
                <a:spcPts val="0"/>
              </a:spcBef>
              <a:spcAft>
                <a:spcPts val="0"/>
              </a:spcAft>
              <a:buSzPts val="1100"/>
              <a:buNone/>
            </a:pPr>
            <a:r>
              <a:rPr b="1" lang="en" sz="1200">
                <a:solidFill>
                  <a:srgbClr val="2A2A2A"/>
                </a:solidFill>
              </a:rPr>
              <a:t>Step 5 </a:t>
            </a:r>
            <a:r>
              <a:rPr lang="en" sz="1200">
                <a:solidFill>
                  <a:srgbClr val="2A2A2A"/>
                </a:solidFill>
              </a:rPr>
              <a:t>Assessing the reliability of a tree can be done using non parametric resampling techniques like bootstrapping or jackkniffing, which combine alignment subsampling and consensus trees to get support values on branches.</a:t>
            </a:r>
            <a:endParaRPr sz="1200">
              <a:solidFill>
                <a:srgbClr val="2A2A2A"/>
              </a:solidFill>
            </a:endParaRPr>
          </a:p>
          <a:p>
            <a:pPr indent="0" lvl="0" marL="0" rtl="0" algn="l">
              <a:lnSpc>
                <a:spcPct val="100000"/>
              </a:lnSpc>
              <a:spcBef>
                <a:spcPts val="0"/>
              </a:spcBef>
              <a:spcAft>
                <a:spcPts val="0"/>
              </a:spcAft>
              <a:buSzPts val="1100"/>
              <a:buNone/>
            </a:pPr>
            <a:r>
              <a:t/>
            </a:r>
            <a:endParaRPr sz="1200">
              <a:solidFill>
                <a:srgbClr val="2A2A2A"/>
              </a:solidFill>
            </a:endParaRPr>
          </a:p>
          <a:p>
            <a:pPr indent="0" lvl="0" marL="0" rtl="0" algn="l">
              <a:lnSpc>
                <a:spcPct val="100000"/>
              </a:lnSpc>
              <a:spcBef>
                <a:spcPts val="0"/>
              </a:spcBef>
              <a:spcAft>
                <a:spcPts val="0"/>
              </a:spcAft>
              <a:buSzPts val="1100"/>
              <a:buNone/>
            </a:pPr>
            <a:r>
              <a:rPr b="1" lang="en" sz="1200">
                <a:solidFill>
                  <a:srgbClr val="2A2A2A"/>
                </a:solidFill>
              </a:rPr>
              <a:t>Step 6</a:t>
            </a:r>
            <a:r>
              <a:rPr lang="en" sz="1200">
                <a:solidFill>
                  <a:srgbClr val="2A2A2A"/>
                </a:solidFill>
              </a:rPr>
              <a:t> A phylogenetic tree is useful as both an analysis and communication tool for policy makers and publications. A tree covers a lot of explicit and implicit information, some of which can be misleading so it is important to include any limitations along with the figure.</a:t>
            </a:r>
            <a:endParaRPr sz="1200">
              <a:solidFill>
                <a:srgbClr val="2A2A2A"/>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400">
                <a:solidFill>
                  <a:schemeClr val="dk1"/>
                </a:solidFill>
                <a:latin typeface="Average"/>
                <a:ea typeface="Average"/>
                <a:cs typeface="Average"/>
                <a:sym typeface="Average"/>
              </a:rPr>
              <a:t>Distance based:</a:t>
            </a:r>
            <a:endParaRPr sz="1400">
              <a:solidFill>
                <a:schemeClr val="dk1"/>
              </a:solidFill>
              <a:latin typeface="Average"/>
              <a:ea typeface="Average"/>
              <a:cs typeface="Average"/>
              <a:sym typeface="Average"/>
            </a:endParaRPr>
          </a:p>
          <a:p>
            <a:pPr indent="0" lvl="0" marL="0" rtl="0" algn="l">
              <a:lnSpc>
                <a:spcPct val="115000"/>
              </a:lnSpc>
              <a:spcBef>
                <a:spcPts val="1200"/>
              </a:spcBef>
              <a:spcAft>
                <a:spcPts val="0"/>
              </a:spcAft>
              <a:buSzPts val="1100"/>
              <a:buNone/>
            </a:pPr>
            <a:r>
              <a:rPr lang="en" sz="1400">
                <a:solidFill>
                  <a:schemeClr val="dk1"/>
                </a:solidFill>
                <a:latin typeface="Average"/>
                <a:ea typeface="Average"/>
                <a:cs typeface="Average"/>
                <a:sym typeface="Average"/>
              </a:rPr>
              <a:t>-&gt;try to fit a tree to a matrix of pairwise genetic distances. Once you have the matrix, you represent it in a tree by embedding the distance between samples as the tree traversal distance. </a:t>
            </a:r>
            <a:r>
              <a:rPr lang="en" sz="1300">
                <a:solidFill>
                  <a:srgbClr val="333333"/>
                </a:solidFill>
                <a:latin typeface="Average"/>
                <a:ea typeface="Average"/>
                <a:cs typeface="Average"/>
                <a:sym typeface="Average"/>
              </a:rPr>
              <a:t>We advise generally avoiding distance matrix methods altogether because the trees recovered by these algorithms are representations of the similarity between the samples, rather than an explicit model of how the sequences have evolved. </a:t>
            </a:r>
            <a:endParaRPr sz="1500">
              <a:solidFill>
                <a:schemeClr val="dk1"/>
              </a:solidFill>
              <a:latin typeface="Average"/>
              <a:ea typeface="Average"/>
              <a:cs typeface="Average"/>
              <a:sym typeface="Average"/>
            </a:endParaRPr>
          </a:p>
          <a:p>
            <a:pPr indent="0" lvl="0" marL="0" rtl="0" algn="l">
              <a:lnSpc>
                <a:spcPct val="115000"/>
              </a:lnSpc>
              <a:spcBef>
                <a:spcPts val="1200"/>
              </a:spcBef>
              <a:spcAft>
                <a:spcPts val="0"/>
              </a:spcAft>
              <a:buSzPts val="1100"/>
              <a:buNone/>
            </a:pPr>
            <a:r>
              <a:rPr lang="en" sz="1400">
                <a:solidFill>
                  <a:schemeClr val="dk1"/>
                </a:solidFill>
                <a:latin typeface="Average"/>
                <a:ea typeface="Average"/>
                <a:cs typeface="Average"/>
                <a:sym typeface="Average"/>
              </a:rPr>
              <a:t>Character methods:</a:t>
            </a:r>
            <a:endParaRPr sz="1400">
              <a:solidFill>
                <a:schemeClr val="dk1"/>
              </a:solidFill>
              <a:latin typeface="Average"/>
              <a:ea typeface="Average"/>
              <a:cs typeface="Average"/>
              <a:sym typeface="Average"/>
            </a:endParaRPr>
          </a:p>
          <a:p>
            <a:pPr indent="0" lvl="0" marL="0" rtl="0" algn="l">
              <a:lnSpc>
                <a:spcPct val="115000"/>
              </a:lnSpc>
              <a:spcBef>
                <a:spcPts val="1200"/>
              </a:spcBef>
              <a:spcAft>
                <a:spcPts val="0"/>
              </a:spcAft>
              <a:buSzPts val="1100"/>
              <a:buNone/>
            </a:pPr>
            <a:r>
              <a:rPr lang="en" sz="1400">
                <a:solidFill>
                  <a:schemeClr val="dk1"/>
                </a:solidFill>
                <a:latin typeface="Average"/>
                <a:ea typeface="Average"/>
                <a:cs typeface="Average"/>
                <a:sym typeface="Average"/>
              </a:rPr>
              <a:t>-&gt;skip the pairwise matrix and go directly from the sequences to the tree and choose a topology based on scoring. They are explicit models of how the sequences have evolved.</a:t>
            </a:r>
            <a:endParaRPr sz="1400">
              <a:solidFill>
                <a:schemeClr val="dk1"/>
              </a:solidFill>
              <a:latin typeface="Average"/>
              <a:ea typeface="Average"/>
              <a:cs typeface="Average"/>
              <a:sym typeface="Average"/>
            </a:endParaRPr>
          </a:p>
          <a:p>
            <a:pPr indent="0" lvl="0" marL="0" rtl="0" algn="l">
              <a:lnSpc>
                <a:spcPct val="115000"/>
              </a:lnSpc>
              <a:spcBef>
                <a:spcPts val="1200"/>
              </a:spcBef>
              <a:spcAft>
                <a:spcPts val="0"/>
              </a:spcAft>
              <a:buSzPts val="1100"/>
              <a:buNone/>
            </a:pPr>
            <a:r>
              <a:t/>
            </a:r>
            <a:endParaRPr sz="1400">
              <a:solidFill>
                <a:schemeClr val="dk1"/>
              </a:solidFill>
              <a:latin typeface="Average"/>
              <a:ea typeface="Average"/>
              <a:cs typeface="Average"/>
              <a:sym typeface="Average"/>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17500" lvl="1" marL="914400" rtl="0" algn="l">
              <a:lnSpc>
                <a:spcPct val="115000"/>
              </a:lnSpc>
              <a:spcBef>
                <a:spcPts val="0"/>
              </a:spcBef>
              <a:spcAft>
                <a:spcPts val="0"/>
              </a:spcAft>
              <a:buClr>
                <a:schemeClr val="dk1"/>
              </a:buClr>
              <a:buSzPts val="1400"/>
              <a:buFont typeface="Average"/>
              <a:buChar char="○"/>
            </a:pPr>
            <a:r>
              <a:rPr lang="en" sz="1400">
                <a:solidFill>
                  <a:schemeClr val="dk1"/>
                </a:solidFill>
                <a:latin typeface="Average"/>
                <a:ea typeface="Average"/>
                <a:cs typeface="Average"/>
                <a:sym typeface="Average"/>
              </a:rPr>
              <a:t>Matrix of SNP differences between sequences</a:t>
            </a:r>
            <a:endParaRPr sz="1400">
              <a:solidFill>
                <a:schemeClr val="dk1"/>
              </a:solidFill>
              <a:latin typeface="Average"/>
              <a:ea typeface="Average"/>
              <a:cs typeface="Average"/>
              <a:sym typeface="Average"/>
            </a:endParaRPr>
          </a:p>
          <a:p>
            <a:pPr indent="-317500" lvl="1" marL="914400" rtl="0" algn="l">
              <a:lnSpc>
                <a:spcPct val="115000"/>
              </a:lnSpc>
              <a:spcBef>
                <a:spcPts val="0"/>
              </a:spcBef>
              <a:spcAft>
                <a:spcPts val="0"/>
              </a:spcAft>
              <a:buClr>
                <a:schemeClr val="dk1"/>
              </a:buClr>
              <a:buSzPts val="1400"/>
              <a:buFont typeface="Average"/>
              <a:buChar char="○"/>
            </a:pPr>
            <a:r>
              <a:rPr lang="en" sz="1400">
                <a:solidFill>
                  <a:schemeClr val="dk1"/>
                </a:solidFill>
                <a:latin typeface="Average"/>
                <a:ea typeface="Average"/>
                <a:cs typeface="Average"/>
                <a:sym typeface="Average"/>
              </a:rPr>
              <a:t>Sequences that are closely related are clustered first</a:t>
            </a:r>
            <a:endParaRPr sz="1400">
              <a:solidFill>
                <a:schemeClr val="dk1"/>
              </a:solidFill>
              <a:latin typeface="Average"/>
              <a:ea typeface="Average"/>
              <a:cs typeface="Average"/>
              <a:sym typeface="Average"/>
            </a:endParaRPr>
          </a:p>
          <a:p>
            <a:pPr indent="-317500" lvl="1" marL="914400" rtl="0" algn="l">
              <a:lnSpc>
                <a:spcPct val="115000"/>
              </a:lnSpc>
              <a:spcBef>
                <a:spcPts val="0"/>
              </a:spcBef>
              <a:spcAft>
                <a:spcPts val="0"/>
              </a:spcAft>
              <a:buClr>
                <a:schemeClr val="dk1"/>
              </a:buClr>
              <a:buSzPts val="1400"/>
              <a:buFont typeface="Average"/>
              <a:buChar char="○"/>
            </a:pPr>
            <a:r>
              <a:rPr lang="en" sz="1400">
                <a:solidFill>
                  <a:schemeClr val="dk1"/>
                </a:solidFill>
                <a:latin typeface="Average"/>
                <a:ea typeface="Average"/>
                <a:cs typeface="Average"/>
                <a:sym typeface="Average"/>
              </a:rPr>
              <a:t>Prone to error as they are extremely sensitive to unequal rates in different lineages. Now, there are better and more effective methods to cope with non-ultrametricity and non-clock like behavior.</a:t>
            </a:r>
            <a:endParaRPr sz="1400">
              <a:solidFill>
                <a:schemeClr val="dk1"/>
              </a:solidFill>
              <a:latin typeface="Average"/>
              <a:ea typeface="Average"/>
              <a:cs typeface="Average"/>
              <a:sym typeface="Average"/>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Given each alignment column, label the internal nodes to minimize the number of required substitutions.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After it aligns the sequences, it identifies informative sites, and then chooses the tree topology with the fewest total substitutions. </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1200"/>
              </a:spcAft>
              <a:buClr>
                <a:schemeClr val="dk1"/>
              </a:buClr>
              <a:buSzPts val="1100"/>
              <a:buFont typeface="Arial"/>
              <a:buNone/>
            </a:pPr>
            <a:r>
              <a:rPr lang="en" sz="1200">
                <a:solidFill>
                  <a:schemeClr val="dk1"/>
                </a:solidFill>
              </a:rPr>
              <a:t>informative sites are those with two sites of characters and each happens at least twice.</a:t>
            </a:r>
            <a:endParaRP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After it aligns the sequences, it identifies informative sites, and then chooses the tree topology with the fewest total substitutions.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After it aligns the sequences, it identifies informative sites, and then chooses the tree topology with the fewest total substitutions.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1" name="Google Shape;25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chemeClr val="dk1"/>
                </a:solidFill>
                <a:latin typeface="Average"/>
                <a:ea typeface="Average"/>
                <a:cs typeface="Average"/>
                <a:sym typeface="Average"/>
              </a:rPr>
              <a:t>You have sequences and a probabilistic model considering many different parameters. The model iterates over many possible tree topologies and chooses the best tree for how the observed data was produced. Essentially, you are getting one tree that has a higher probability that is preferred over the other possibilities. The best likelihood higher probability tree is the most suitable based on the observations. </a:t>
            </a:r>
            <a:endParaRPr sz="1200">
              <a:solidFill>
                <a:schemeClr val="dk1"/>
              </a:solidFill>
              <a:latin typeface="Average"/>
              <a:ea typeface="Average"/>
              <a:cs typeface="Average"/>
              <a:sym typeface="Average"/>
            </a:endParaRPr>
          </a:p>
          <a:p>
            <a:pPr indent="0" lvl="0" marL="0" rtl="0" algn="l">
              <a:lnSpc>
                <a:spcPct val="100000"/>
              </a:lnSpc>
              <a:spcBef>
                <a:spcPts val="1200"/>
              </a:spcBef>
              <a:spcAft>
                <a:spcPts val="0"/>
              </a:spcAft>
              <a:buSzPts val="1100"/>
              <a:buNone/>
            </a:pPr>
            <a:r>
              <a:t/>
            </a:r>
            <a:endParaRPr sz="1200">
              <a:latin typeface="Average"/>
              <a:ea typeface="Average"/>
              <a:cs typeface="Average"/>
              <a:sym typeface="Average"/>
            </a:endParaRPr>
          </a:p>
          <a:p>
            <a:pPr indent="0" lvl="0" marL="0" rtl="0" algn="l">
              <a:lnSpc>
                <a:spcPct val="100000"/>
              </a:lnSpc>
              <a:spcBef>
                <a:spcPts val="0"/>
              </a:spcBef>
              <a:spcAft>
                <a:spcPts val="0"/>
              </a:spcAft>
              <a:buSzPts val="1100"/>
              <a:buNone/>
            </a:pPr>
            <a:r>
              <a:rPr lang="en" sz="1200">
                <a:latin typeface="Average"/>
                <a:ea typeface="Average"/>
                <a:cs typeface="Average"/>
                <a:sym typeface="Average"/>
              </a:rPr>
              <a:t>Maximum likelihood methods are used in many different statistical analyses and can also be used as an optimality measure for choosing a preferred tree or set of trees. Essentially, you are getting one tree that has a higher probability that is preferred over the other possibilities. The best likelihood higher probability tree is the most suitable based on the observations. </a:t>
            </a:r>
            <a:r>
              <a:rPr lang="en" sz="1200">
                <a:solidFill>
                  <a:schemeClr val="dk1"/>
                </a:solidFill>
                <a:latin typeface="Average"/>
                <a:ea typeface="Average"/>
                <a:cs typeface="Average"/>
                <a:sym typeface="Average"/>
              </a:rPr>
              <a:t>By employing a substitution model, ML calculates the total likelihood of ancestral sequences evolving to internal nodes and eventually to existing sequences. Likelihood of the model= best estimate is the set of parameter values which gives you the highest probability.</a:t>
            </a:r>
            <a:endParaRPr sz="1200">
              <a:solidFill>
                <a:schemeClr val="dk1"/>
              </a:solidFill>
              <a:latin typeface="Average"/>
              <a:ea typeface="Average"/>
              <a:cs typeface="Average"/>
              <a:sym typeface="Average"/>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5" name="Google Shape;26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Maximum likelihood methods are used in many different statistical analyses and can also be used as an optimality measure for choosing a preferred tree or set of trees.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Given the model, what is the probability of your data/observations. What is the best estimate of the parameter values, find the parameter values that give you the highest probability of what we have observed. What is the value of p that gives us the highest likelihood of observing 7 heads.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3" name="Google Shape;27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Maximum likelihood methods are used in many different statistical analyses and can also be used as an optimality measure for choosing a preferred tree or set of trees. Essentially, you are getting one tree that has a higher probability that is preferred over the other possibilities. The best likelihood higher probability tree is the most suitable based on the observations.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Tries to calculate the probability at each site based on the observations and parameters to try to consider all the possible scenarios at which the tips of the tree could have evolved.</a:t>
            </a:r>
            <a:endParaRPr/>
          </a:p>
          <a:p>
            <a:pPr indent="0" lvl="0" marL="0" rtl="0" algn="l">
              <a:lnSpc>
                <a:spcPct val="100000"/>
              </a:lnSpc>
              <a:spcBef>
                <a:spcPts val="0"/>
              </a:spcBef>
              <a:spcAft>
                <a:spcPts val="0"/>
              </a:spcAft>
              <a:buSzPts val="1100"/>
              <a:buNone/>
            </a:pPr>
            <a:r>
              <a:rPr lang="en"/>
              <a:t>The likelihood for the full tree is the product of the likelihood at each site. There will have one tree that will have the maximum likelihood of all the trees.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1" name="Google Shape;30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Clr>
                <a:schemeClr val="dk1"/>
              </a:buClr>
              <a:buSzPts val="1100"/>
              <a:buFont typeface="Arial"/>
              <a:buNone/>
            </a:pPr>
            <a:r>
              <a:rPr lang="en" sz="1400">
                <a:solidFill>
                  <a:schemeClr val="dk1"/>
                </a:solidFill>
                <a:latin typeface="Average"/>
                <a:ea typeface="Average"/>
                <a:cs typeface="Average"/>
                <a:sym typeface="Average"/>
              </a:rPr>
              <a:t>Resampling techniques involve generating a series of sequence alignments by sampling columns from the original sequence alignment. Each of these alignments (known as pseudoreplicates) is then used to build an individual phylogenetic tree. A consensus tree can then be constructed by combining information from the set of generated trees or the topologies that occur can be sorted by their frequency.</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7" name="Google Shape;307;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8" name="Google Shape;32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5" name="Google Shape;33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sz="1200">
                <a:solidFill>
                  <a:srgbClr val="333333"/>
                </a:solidFill>
              </a:rPr>
              <a:t>For beginners and advanced users alike, interpreting a phylogenetic tree can present a challenge because the y-axis in a phylogenetic tree is meaningless. It is used to lay out all of the tips so they do not overlap - the proximity of any two tips along the y-axis </a:t>
            </a:r>
            <a:r>
              <a:rPr i="1" lang="en" sz="1200">
                <a:solidFill>
                  <a:srgbClr val="333333"/>
                </a:solidFill>
              </a:rPr>
              <a:t>does not indicate anything about their relatedness</a:t>
            </a:r>
            <a:r>
              <a:rPr lang="en" sz="1200">
                <a:solidFill>
                  <a:srgbClr val="333333"/>
                </a:solidFill>
              </a:rPr>
              <a:t>. This also means that the branching in a phylogeny can be rotated without altering the meaning of the diagram in any way. Because phylogenies sacrifice an entire dimension for clearly laying tips, there is also a limit on how much information can be packed into simple phylogenetic tree figures</a:t>
            </a:r>
            <a:endParaRPr sz="1200">
              <a:solidFill>
                <a:srgbClr val="333333"/>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200">
                <a:solidFill>
                  <a:srgbClr val="333333"/>
                </a:solidFill>
              </a:rPr>
              <a:t>When looking at a genetic divergence phylogenetic tree, you will typically see that branch lengths are scaled in terms of a normalized number of substitutions </a:t>
            </a:r>
            <a:r>
              <a:rPr i="1" lang="en" sz="1200">
                <a:solidFill>
                  <a:srgbClr val="333333"/>
                </a:solidFill>
              </a:rPr>
              <a:t>per site in the genome</a:t>
            </a:r>
            <a:r>
              <a:rPr lang="en" sz="1200">
                <a:solidFill>
                  <a:srgbClr val="333333"/>
                </a:solidFill>
              </a:rPr>
              <a:t>. For increased interpretability, branches in genetic divergence trees may also be scaled in terms of total number of substitutions observed across the </a:t>
            </a:r>
            <a:r>
              <a:rPr i="1" lang="en" sz="1200">
                <a:solidFill>
                  <a:srgbClr val="333333"/>
                </a:solidFill>
              </a:rPr>
              <a:t>entire genome</a:t>
            </a:r>
            <a:r>
              <a:rPr lang="en" sz="1200">
                <a:solidFill>
                  <a:srgbClr val="333333"/>
                </a:solidFill>
              </a:rPr>
              <a:t>. Either way, both of these scalings represent an amount of sequence change that has occurred. the length of a branch leading to a tip is scaled according to the number of mutations that are observed within that sample’s sequence, but not in other samples in the tree. If the numbers of mutations that are unique to a sample are very large, it is often an indicator of a sequence quality issue (for example, a sequencing error, or a bioinformatics issue with genome assembly).</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0" name="Google Shape;380;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5275" lvl="0" marL="647700" rtl="0" algn="l">
              <a:lnSpc>
                <a:spcPct val="115000"/>
              </a:lnSpc>
              <a:spcBef>
                <a:spcPts val="1500"/>
              </a:spcBef>
              <a:spcAft>
                <a:spcPts val="0"/>
              </a:spcAft>
              <a:buClr>
                <a:schemeClr val="dk1"/>
              </a:buClr>
              <a:buSzPts val="1050"/>
              <a:buFont typeface="Open Sans"/>
              <a:buChar char="●"/>
            </a:pPr>
            <a:r>
              <a:rPr lang="en" sz="1050">
                <a:solidFill>
                  <a:schemeClr val="dk1"/>
                </a:solidFill>
                <a:latin typeface="Open Sans"/>
                <a:ea typeface="Open Sans"/>
                <a:cs typeface="Open Sans"/>
                <a:sym typeface="Open Sans"/>
              </a:rPr>
              <a:t>In a temporally-resolved tree, the x-axis will be given in calendar time (or absolute time), rather than in the amount of divergence.</a:t>
            </a:r>
            <a:endParaRPr sz="1050">
              <a:solidFill>
                <a:schemeClr val="dk1"/>
              </a:solidFill>
              <a:latin typeface="Open Sans"/>
              <a:ea typeface="Open Sans"/>
              <a:cs typeface="Open Sans"/>
              <a:sym typeface="Open Sans"/>
            </a:endParaRPr>
          </a:p>
          <a:p>
            <a:pPr indent="-295275" lvl="0" marL="647700" rtl="0" algn="l">
              <a:lnSpc>
                <a:spcPct val="115000"/>
              </a:lnSpc>
              <a:spcBef>
                <a:spcPts val="0"/>
              </a:spcBef>
              <a:spcAft>
                <a:spcPts val="0"/>
              </a:spcAft>
              <a:buClr>
                <a:schemeClr val="dk1"/>
              </a:buClr>
              <a:buSzPts val="1050"/>
              <a:buFont typeface="Open Sans"/>
              <a:buChar char="●"/>
            </a:pPr>
            <a:r>
              <a:rPr lang="en" sz="1050">
                <a:solidFill>
                  <a:schemeClr val="dk1"/>
                </a:solidFill>
                <a:latin typeface="Open Sans"/>
                <a:ea typeface="Open Sans"/>
                <a:cs typeface="Open Sans"/>
                <a:sym typeface="Open Sans"/>
              </a:rPr>
              <a:t>The x-axis position of tips is given by the date that a sample was collected from an individual. The sampling date of a sample is usually specified in the metadata attached to a sample.</a:t>
            </a:r>
            <a:endParaRPr sz="1050">
              <a:solidFill>
                <a:schemeClr val="dk1"/>
              </a:solidFill>
              <a:latin typeface="Open Sans"/>
              <a:ea typeface="Open Sans"/>
              <a:cs typeface="Open Sans"/>
              <a:sym typeface="Open Sans"/>
            </a:endParaRPr>
          </a:p>
          <a:p>
            <a:pPr indent="0" lvl="0" marL="0" rtl="0" algn="l">
              <a:lnSpc>
                <a:spcPct val="100000"/>
              </a:lnSpc>
              <a:spcBef>
                <a:spcPts val="2600"/>
              </a:spcBef>
              <a:spcAft>
                <a:spcPts val="0"/>
              </a:spcAft>
              <a:buSzPts val="1100"/>
              <a:buNone/>
            </a:pPr>
            <a:r>
              <a:t/>
            </a:r>
            <a:endParaRPr sz="1200">
              <a:solidFill>
                <a:srgbClr val="333333"/>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8" name="Google Shape;388;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500"/>
              </a:spcBef>
              <a:spcAft>
                <a:spcPts val="0"/>
              </a:spcAft>
              <a:buSzPts val="1100"/>
              <a:buNone/>
            </a:pPr>
            <a:r>
              <a:rPr lang="en" sz="1050">
                <a:solidFill>
                  <a:schemeClr val="dk1"/>
                </a:solidFill>
                <a:latin typeface="Open Sans"/>
                <a:ea typeface="Open Sans"/>
                <a:cs typeface="Open Sans"/>
                <a:sym typeface="Open Sans"/>
              </a:rPr>
              <a:t>The x-axis position of internal nodes represents when we infer that those inferred ancestral viruses likely circulated. Typically those positions will be specified with a point estimate of the date, and a confidence interval around the point estimate. Estimating the inferred age of the samples we did not sequence. “When did these sequences emerge?” Do an example from the slide.</a:t>
            </a:r>
            <a:endParaRPr sz="1050">
              <a:solidFill>
                <a:schemeClr val="dk1"/>
              </a:solidFill>
              <a:latin typeface="Open Sans"/>
              <a:ea typeface="Open Sans"/>
              <a:cs typeface="Open Sans"/>
              <a:sym typeface="Open Sans"/>
            </a:endParaRPr>
          </a:p>
          <a:p>
            <a:pPr indent="0" lvl="0" marL="0" rtl="0" algn="l">
              <a:lnSpc>
                <a:spcPct val="115000"/>
              </a:lnSpc>
              <a:spcBef>
                <a:spcPts val="2600"/>
              </a:spcBef>
              <a:spcAft>
                <a:spcPts val="2600"/>
              </a:spcAft>
              <a:buSzPts val="1100"/>
              <a:buNone/>
            </a:pPr>
            <a:r>
              <a:t/>
            </a:r>
            <a:endParaRPr sz="1050">
              <a:solidFill>
                <a:schemeClr val="dk1"/>
              </a:solidFill>
              <a:latin typeface="Open Sans"/>
              <a:ea typeface="Open Sans"/>
              <a:cs typeface="Open Sans"/>
              <a:sym typeface="Open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6" name="Google Shape;396;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a:solidFill>
                  <a:schemeClr val="dk1"/>
                </a:solidFill>
              </a:rPr>
              <a:t>You can calculate a root-to-tip distance for a sample by summing up the branch lengths between the root of the tree and a tip.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Molecular clock, the evolutionary rate, or the substitution rate are all synonyms that describe this concept. These are different from the intrinsic mutation rate of a pathogen. </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Estimates of molecular clocks are improved by serial sampling, which means that genomic sequence data are collected consistently over time, rather than in large batches at once.</a:t>
            </a:r>
            <a:endParaRPr>
              <a:solidFill>
                <a:schemeClr val="dk1"/>
              </a:solidFill>
            </a:endParaRPr>
          </a:p>
          <a:p>
            <a:pPr indent="0" lvl="0" marL="0" rtl="0" algn="l">
              <a:lnSpc>
                <a:spcPct val="115000"/>
              </a:lnSpc>
              <a:spcBef>
                <a:spcPts val="1200"/>
              </a:spcBef>
              <a:spcAft>
                <a:spcPts val="0"/>
              </a:spcAft>
              <a:buSzPts val="1100"/>
              <a:buNone/>
            </a:pPr>
            <a:r>
              <a:rPr lang="en">
                <a:solidFill>
                  <a:schemeClr val="dk1"/>
                </a:solidFill>
              </a:rPr>
              <a:t>What is shown here is a strict clock. It is considered a strict clock because it fits the same evolutionary rate to all branches in the tree.</a:t>
            </a:r>
            <a:endParaRPr>
              <a:solidFill>
                <a:schemeClr val="dk1"/>
              </a:solidFill>
            </a:endParaRPr>
          </a:p>
          <a:p>
            <a:pPr indent="0" lvl="0" marL="0" rtl="0" algn="l">
              <a:lnSpc>
                <a:spcPct val="115000"/>
              </a:lnSpc>
              <a:spcBef>
                <a:spcPts val="1200"/>
              </a:spcBef>
              <a:spcAft>
                <a:spcPts val="1200"/>
              </a:spcAft>
              <a:buSzPts val="1100"/>
              <a:buNone/>
            </a:pPr>
            <a:r>
              <a:rPr lang="en">
                <a:solidFill>
                  <a:schemeClr val="dk1"/>
                </a:solidFill>
              </a:rPr>
              <a:t>The rate estimate comes from the slope of a regression line through a scatter plot of the root-to-tip distances plotted as a function of sampling date.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4" name="Google Shape;40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5275" lvl="0" marL="457200" rtl="0" algn="l">
              <a:lnSpc>
                <a:spcPct val="115000"/>
              </a:lnSpc>
              <a:spcBef>
                <a:spcPts val="0"/>
              </a:spcBef>
              <a:spcAft>
                <a:spcPts val="0"/>
              </a:spcAft>
              <a:buClr>
                <a:schemeClr val="dk1"/>
              </a:buClr>
              <a:buSzPts val="1050"/>
              <a:buFont typeface="Open Sans"/>
              <a:buChar char="●"/>
            </a:pPr>
            <a:r>
              <a:rPr b="1" lang="en" sz="1050">
                <a:solidFill>
                  <a:srgbClr val="5F6368"/>
                </a:solidFill>
                <a:latin typeface="Roboto"/>
                <a:ea typeface="Roboto"/>
                <a:cs typeface="Roboto"/>
                <a:sym typeface="Roboto"/>
              </a:rPr>
              <a:t>The speed at which mutations are observed over time</a:t>
            </a:r>
            <a:r>
              <a:rPr lang="en" sz="1050">
                <a:solidFill>
                  <a:srgbClr val="4D5156"/>
                </a:solidFill>
                <a:latin typeface="Roboto"/>
                <a:ea typeface="Roboto"/>
                <a:cs typeface="Roboto"/>
                <a:sym typeface="Roboto"/>
              </a:rPr>
              <a:t> is known as the evolutionary rate (how fast is the molecular clock ticking).</a:t>
            </a:r>
            <a:endParaRPr>
              <a:solidFill>
                <a:schemeClr val="dk1"/>
              </a:solidFill>
            </a:endParaRPr>
          </a:p>
          <a:p>
            <a:pPr indent="-295275" lvl="0" marL="457200" rtl="0" algn="l">
              <a:lnSpc>
                <a:spcPct val="115000"/>
              </a:lnSpc>
              <a:spcBef>
                <a:spcPts val="0"/>
              </a:spcBef>
              <a:spcAft>
                <a:spcPts val="0"/>
              </a:spcAft>
              <a:buClr>
                <a:schemeClr val="dk1"/>
              </a:buClr>
              <a:buSzPts val="1050"/>
              <a:buFont typeface="Open Sans"/>
              <a:buChar char="●"/>
            </a:pPr>
            <a:r>
              <a:rPr lang="en">
                <a:solidFill>
                  <a:schemeClr val="dk1"/>
                </a:solidFill>
              </a:rPr>
              <a:t>The evolutionary rate represents the amount of genetic divergence we expect to accrue over a certain amount of time on average.</a:t>
            </a:r>
            <a:endParaRPr>
              <a:solidFill>
                <a:schemeClr val="dk1"/>
              </a:solidFill>
            </a:endParaRPr>
          </a:p>
          <a:p>
            <a:pPr indent="-295275" lvl="0" marL="457200" rtl="0" algn="l">
              <a:lnSpc>
                <a:spcPct val="115000"/>
              </a:lnSpc>
              <a:spcBef>
                <a:spcPts val="0"/>
              </a:spcBef>
              <a:spcAft>
                <a:spcPts val="0"/>
              </a:spcAft>
              <a:buClr>
                <a:schemeClr val="dk1"/>
              </a:buClr>
              <a:buSzPts val="1050"/>
              <a:buFont typeface="Open Sans"/>
              <a:buChar char="●"/>
            </a:pPr>
            <a:r>
              <a:rPr lang="en">
                <a:solidFill>
                  <a:schemeClr val="dk1"/>
                </a:solidFill>
              </a:rPr>
              <a:t>It can be given in as a non-normalized (as it is here) or normalized rate (if you divided by the genome to get the # of substitutions per nucleotide site per year). Non-normalized is easier to interpret.</a:t>
            </a:r>
            <a:endParaRPr>
              <a:solidFill>
                <a:schemeClr val="dk1"/>
              </a:solidFill>
            </a:endParaRPr>
          </a:p>
          <a:p>
            <a:pPr indent="-295275" lvl="0" marL="457200" rtl="0" algn="l">
              <a:lnSpc>
                <a:spcPct val="115000"/>
              </a:lnSpc>
              <a:spcBef>
                <a:spcPts val="0"/>
              </a:spcBef>
              <a:spcAft>
                <a:spcPts val="0"/>
              </a:spcAft>
              <a:buClr>
                <a:schemeClr val="dk1"/>
              </a:buClr>
              <a:buSzPts val="1050"/>
              <a:buFont typeface="Open Sans"/>
              <a:buChar char="●"/>
            </a:pPr>
            <a:r>
              <a:rPr lang="en">
                <a:solidFill>
                  <a:schemeClr val="dk1"/>
                </a:solidFill>
              </a:rPr>
              <a:t>And, because it is the # of substitutions we observe it can vary by dataset, even for the same pathogen species. </a:t>
            </a:r>
            <a:r>
              <a:rPr lang="en" sz="1050">
                <a:solidFill>
                  <a:schemeClr val="dk1"/>
                </a:solidFill>
                <a:latin typeface="Open Sans"/>
                <a:ea typeface="Open Sans"/>
                <a:cs typeface="Open Sans"/>
                <a:sym typeface="Open Sans"/>
              </a:rPr>
              <a:t>the rate at which we see substitutions depends on more than just the rate at which mutations occur (which is intrinsic to the pathogen); it also depends on factors such as the timescale over which you sample and the strength of selection. (too much, you capture deleterious mutation that usually are purged and would be mixed). If sampling over longer timescale you have time to remove these and estimate a slightly lower rate.</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4" name="Google Shape;414;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rgbClr val="333333"/>
                </a:solidFill>
              </a:rPr>
              <a:t>Coming back to ruling linkage out, what is the threshold at which there are “enough” mutations separating sequences that you can consider them to be unlinked? Like many things, the answer is “it depends”. And it depends on both the evolutionary rate of your pathogen of interest, and average length of the serial interval between two cases in a direct infection. Given that both these variables have distributions, it is best to think about sequence divergence and case linkage probabilistically. In the figures below we show probability distributions for whether cases are directly-linked given that their consensus genome sequences are separated by </a:t>
            </a:r>
            <a:r>
              <a:rPr i="1" lang="en" sz="1200">
                <a:solidFill>
                  <a:srgbClr val="333333"/>
                </a:solidFill>
              </a:rPr>
              <a:t>x</a:t>
            </a:r>
            <a:r>
              <a:rPr lang="en" sz="1200">
                <a:solidFill>
                  <a:srgbClr val="333333"/>
                </a:solidFill>
              </a:rPr>
              <a:t> mutations. We show these plots for two different (theoretical) viral pathogens with different evolutionary rates and different genome lengths to illustrate how thresholds can change depending on the pathogen and the rate of transmission.</a:t>
            </a:r>
            <a:endParaRPr sz="1200">
              <a:solidFill>
                <a:srgbClr val="333333"/>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1200">
                <a:solidFill>
                  <a:srgbClr val="333333"/>
                </a:solidFill>
              </a:rPr>
              <a:t>Coming back to ruling linkage out, what is the threshold at which there are “enough” mutations separating sequences that you can consider them to be unlinked? Like many things, the answer is “it depends”. And it depends on both the evolutionary rate of your pathogen of interest, and average length of the serial interval between two cases in a direct infection. Given that both these variables have distributions, it is best to think about sequence divergence and case linkage probabilistically. In the figures we show probability distributions for whether cases are directly-linked given that their consensus genome sequences are separated by </a:t>
            </a:r>
            <a:r>
              <a:rPr i="1" lang="en" sz="1200">
                <a:solidFill>
                  <a:srgbClr val="333333"/>
                </a:solidFill>
              </a:rPr>
              <a:t>x</a:t>
            </a:r>
            <a:r>
              <a:rPr lang="en" sz="1200">
                <a:solidFill>
                  <a:srgbClr val="333333"/>
                </a:solidFill>
              </a:rPr>
              <a:t> mutations.</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3" name="Google Shape;443;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 careful about directionality!</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rPr lang="en" sz="1200">
                <a:solidFill>
                  <a:srgbClr val="333333"/>
                </a:solidFill>
                <a:highlight>
                  <a:srgbClr val="FFFFFF"/>
                </a:highlight>
              </a:rPr>
              <a:t>Let’s walk through an example to illustrate this principle. Imagine you have two cases of a viral respiratory disease from the same household, with symptom onset dates roughly 3 days apart. Given the shared setting that these two people live in, and the timing of their infections, it seems likely that this pair of cases would represent an instance of household transmission, in which the case with the earlier symptom onset date likely infected the person with the later symptom onset date. Having genomic sequencing capacity in your public health lab, you take those two case’s diagnostic specimens and sequence the viral genomes. You look at the consensus genomes and see that despite these cases coming from the same household, the sequences are quite divergent from each other. Given the evolutionary rate of this respiratory virus, you estimate that you would need roughly 6 months worth of transmission to accumulate the total number of nucleotide differences observed between those two sequences. Furthermore, the two cases’ sequences are more related to other genome sequences collected in the area than they are to each other. You conclude that despite the shared living space and the timing of symptom onset, these two cases are not actually linked, and that it’s more probable that they were each independently infected in different settings outside the home. The divergence between their consensus genomes allows you to easily rule out linkage between them.</a:t>
            </a:r>
            <a:endParaRPr sz="1200">
              <a:solidFill>
                <a:srgbClr val="333333"/>
              </a:solidFill>
              <a:highlight>
                <a:srgbClr val="FFFFFF"/>
              </a:highlight>
            </a:endParaRPr>
          </a:p>
          <a:p>
            <a:pPr indent="0" lvl="0" marL="0" rtl="0" algn="l">
              <a:lnSpc>
                <a:spcPct val="115000"/>
              </a:lnSpc>
              <a:spcBef>
                <a:spcPts val="1000"/>
              </a:spcBef>
              <a:spcAft>
                <a:spcPts val="0"/>
              </a:spcAft>
              <a:buClr>
                <a:schemeClr val="dk1"/>
              </a:buClr>
              <a:buSzPts val="1100"/>
              <a:buFont typeface="Arial"/>
              <a:buNone/>
            </a:pPr>
            <a:r>
              <a:rPr lang="en" sz="1200">
                <a:solidFill>
                  <a:srgbClr val="333333"/>
                </a:solidFill>
                <a:highlight>
                  <a:srgbClr val="FFFFFF"/>
                </a:highlight>
              </a:rPr>
              <a:t>In contrast, imagine you take that same household pair, and they have identical genome sequences. Their infections are likely related, but you can’t tell from the genomic data who infected whom. Moreover, you can’t actually tell whether the transmission is even </a:t>
            </a:r>
            <a:r>
              <a:rPr i="1" lang="en" sz="1200">
                <a:solidFill>
                  <a:srgbClr val="333333"/>
                </a:solidFill>
                <a:highlight>
                  <a:srgbClr val="FFFFFF"/>
                </a:highlight>
              </a:rPr>
              <a:t>between</a:t>
            </a:r>
            <a:r>
              <a:rPr lang="en" sz="1200">
                <a:solidFill>
                  <a:srgbClr val="333333"/>
                </a:solidFill>
                <a:highlight>
                  <a:srgbClr val="FFFFFF"/>
                </a:highlight>
              </a:rPr>
              <a:t> these two cases. For instance, the household pair could both have been infected by a friend at a party they both attended, and they just had slightly different symptom onset rates. With identical genome sequences you can tell that the cases are likely related, but you often won’t know exactly </a:t>
            </a:r>
            <a:r>
              <a:rPr i="1" lang="en" sz="1200">
                <a:solidFill>
                  <a:srgbClr val="333333"/>
                </a:solidFill>
                <a:highlight>
                  <a:srgbClr val="FFFFFF"/>
                </a:highlight>
              </a:rPr>
              <a:t>how</a:t>
            </a:r>
            <a:r>
              <a:rPr lang="en" sz="1200">
                <a:solidFill>
                  <a:srgbClr val="333333"/>
                </a:solidFill>
                <a:highlight>
                  <a:srgbClr val="FFFFFF"/>
                </a:highlight>
              </a:rPr>
              <a:t> related, and it’s highly unlikely that you’ll be able to rule in a direct transmission event without pulling in additional sources of information.</a:t>
            </a:r>
            <a:endParaRPr sz="1200">
              <a:solidFill>
                <a:srgbClr val="333333"/>
              </a:solidFill>
              <a:highlight>
                <a:srgbClr val="FFFFFF"/>
              </a:highlight>
            </a:endParaRPr>
          </a:p>
          <a:p>
            <a:pPr indent="0" lvl="0" marL="0" rtl="0" algn="l">
              <a:lnSpc>
                <a:spcPct val="100000"/>
              </a:lnSpc>
              <a:spcBef>
                <a:spcPts val="100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Be careful about directionality!</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rPr lang="en" sz="1200">
                <a:solidFill>
                  <a:srgbClr val="333333"/>
                </a:solidFill>
                <a:highlight>
                  <a:srgbClr val="FFFFFF"/>
                </a:highlight>
              </a:rPr>
              <a:t>Let’s walk through an example to illustrate this principle. Imagine you have two cases of a viral respiratory disease from the same household, with symptom onset dates roughly 3 days apart. Given the shared setting that these two people live in, and the timing of their infections, it seems likely that this pair of cases would represent an instance of household transmission, in which the case with the earlier symptom onset date likely infected the person with the later symptom onset date. Having genomic sequencing capacity in your public health lab, you take those two case’s diagnostic specimens and sequence the viral genomes. You look at the consensus genomes and see that despite these cases coming from the same household, the sequences are quite divergent from each other. Given the evolutionary rate of this respiratory virus, you estimate that you would need roughly 6 months worth of transmission to accumulate the total number of nucleotide differences observed between those two sequences. Furthermore, the two cases’ sequences are more related to other genome sequences collected in the area than they are to each other. You conclude that despite the shared living space and the timing of symptom onset, these two cases are not actually linked, and that it’s more probable that they were each independently infected in different settings outside the home. The divergence between their consensus genomes allows you to easily rule out linkage between them.</a:t>
            </a:r>
            <a:endParaRPr sz="1200">
              <a:solidFill>
                <a:srgbClr val="333333"/>
              </a:solidFill>
              <a:highlight>
                <a:srgbClr val="FFFFFF"/>
              </a:highlight>
            </a:endParaRPr>
          </a:p>
          <a:p>
            <a:pPr indent="0" lvl="0" marL="0" rtl="0" algn="l">
              <a:lnSpc>
                <a:spcPct val="115000"/>
              </a:lnSpc>
              <a:spcBef>
                <a:spcPts val="1000"/>
              </a:spcBef>
              <a:spcAft>
                <a:spcPts val="0"/>
              </a:spcAft>
              <a:buClr>
                <a:schemeClr val="dk1"/>
              </a:buClr>
              <a:buSzPts val="1100"/>
              <a:buFont typeface="Arial"/>
              <a:buNone/>
            </a:pPr>
            <a:r>
              <a:rPr lang="en" sz="1200">
                <a:solidFill>
                  <a:srgbClr val="333333"/>
                </a:solidFill>
                <a:highlight>
                  <a:srgbClr val="FFFFFF"/>
                </a:highlight>
              </a:rPr>
              <a:t>In contrast, imagine you take that same household pair, and they have identical genome sequences. Their infections are likely related, but you can’t tell from the genomic data who infected whom. Moreover, you can’t actually tell whether the transmission is even </a:t>
            </a:r>
            <a:r>
              <a:rPr i="1" lang="en" sz="1200">
                <a:solidFill>
                  <a:srgbClr val="333333"/>
                </a:solidFill>
                <a:highlight>
                  <a:srgbClr val="FFFFFF"/>
                </a:highlight>
              </a:rPr>
              <a:t>between</a:t>
            </a:r>
            <a:r>
              <a:rPr lang="en" sz="1200">
                <a:solidFill>
                  <a:srgbClr val="333333"/>
                </a:solidFill>
                <a:highlight>
                  <a:srgbClr val="FFFFFF"/>
                </a:highlight>
              </a:rPr>
              <a:t> these two cases. For instance, the household pair could both have been infected by a friend at a party they both attended, and they just had slightly different symptom onset rates. With identical genome sequences you can tell that the cases are likely related, but you often won’t know exactly </a:t>
            </a:r>
            <a:r>
              <a:rPr i="1" lang="en" sz="1200">
                <a:solidFill>
                  <a:srgbClr val="333333"/>
                </a:solidFill>
                <a:highlight>
                  <a:srgbClr val="FFFFFF"/>
                </a:highlight>
              </a:rPr>
              <a:t>how</a:t>
            </a:r>
            <a:r>
              <a:rPr lang="en" sz="1200">
                <a:solidFill>
                  <a:srgbClr val="333333"/>
                </a:solidFill>
                <a:highlight>
                  <a:srgbClr val="FFFFFF"/>
                </a:highlight>
              </a:rPr>
              <a:t> related, and it’s highly unlikely that you’ll be able to rule in a direct transmission event without pulling in additional sources of information.</a:t>
            </a:r>
            <a:endParaRPr sz="1200">
              <a:solidFill>
                <a:srgbClr val="333333"/>
              </a:solidFill>
              <a:highlight>
                <a:srgbClr val="FFFFFF"/>
              </a:highlight>
            </a:endParaRPr>
          </a:p>
          <a:p>
            <a:pPr indent="0" lvl="0" marL="0" rtl="0" algn="l">
              <a:lnSpc>
                <a:spcPct val="100000"/>
              </a:lnSpc>
              <a:spcBef>
                <a:spcPts val="100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9" name="Google Shape;499;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37"/>
          <p:cNvGrpSpPr/>
          <p:nvPr/>
        </p:nvGrpSpPr>
        <p:grpSpPr>
          <a:xfrm>
            <a:off x="4350279" y="2855377"/>
            <a:ext cx="443589" cy="105632"/>
            <a:chOff x="4137525" y="2915950"/>
            <a:chExt cx="869100" cy="207000"/>
          </a:xfrm>
        </p:grpSpPr>
        <p:sp>
          <p:nvSpPr>
            <p:cNvPr id="11" name="Google Shape;11;p37"/>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37"/>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37"/>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4" name="Google Shape;14;p37"/>
          <p:cNvSpPr txBox="1"/>
          <p:nvPr>
            <p:ph type="ctrTitle"/>
          </p:nvPr>
        </p:nvSpPr>
        <p:spPr>
          <a:xfrm>
            <a:off x="671258" y="990800"/>
            <a:ext cx="7801500" cy="1730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5" name="Google Shape;15;p37"/>
          <p:cNvSpPr txBox="1"/>
          <p:nvPr>
            <p:ph idx="1" type="subTitle"/>
          </p:nvPr>
        </p:nvSpPr>
        <p:spPr>
          <a:xfrm>
            <a:off x="671250" y="3174876"/>
            <a:ext cx="78015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37"/>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3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38"/>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9"/>
          <p:cNvSpPr txBox="1"/>
          <p:nvPr>
            <p:ph type="title"/>
          </p:nvPr>
        </p:nvSpPr>
        <p:spPr>
          <a:xfrm>
            <a:off x="671250" y="2141250"/>
            <a:ext cx="7852200" cy="8610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3" name="Google Shape;23;p39"/>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6" name="Google Shape;26;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40"/>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1" name="Google Shape;31;p4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42"/>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43"/>
          <p:cNvSpPr txBox="1"/>
          <p:nvPr>
            <p:ph type="title"/>
          </p:nvPr>
        </p:nvSpPr>
        <p:spPr>
          <a:xfrm>
            <a:off x="490250" y="526350"/>
            <a:ext cx="62271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l">
              <a:lnSpc>
                <a:spcPct val="100000"/>
              </a:lnSpc>
              <a:spcBef>
                <a:spcPts val="0"/>
              </a:spcBef>
              <a:spcAft>
                <a:spcPts val="0"/>
              </a:spcAft>
              <a:buClr>
                <a:schemeClr val="lt1"/>
              </a:buClr>
              <a:buSzPts val="4800"/>
              <a:buNone/>
              <a:defRPr sz="4800">
                <a:solidFill>
                  <a:schemeClr val="lt1"/>
                </a:solidFill>
              </a:defRPr>
            </a:lvl2pPr>
            <a:lvl3pPr lvl="2" algn="l">
              <a:lnSpc>
                <a:spcPct val="100000"/>
              </a:lnSpc>
              <a:spcBef>
                <a:spcPts val="0"/>
              </a:spcBef>
              <a:spcAft>
                <a:spcPts val="0"/>
              </a:spcAft>
              <a:buClr>
                <a:schemeClr val="lt1"/>
              </a:buClr>
              <a:buSzPts val="4800"/>
              <a:buNone/>
              <a:defRPr sz="4800">
                <a:solidFill>
                  <a:schemeClr val="lt1"/>
                </a:solidFill>
              </a:defRPr>
            </a:lvl3pPr>
            <a:lvl4pPr lvl="3" algn="l">
              <a:lnSpc>
                <a:spcPct val="100000"/>
              </a:lnSpc>
              <a:spcBef>
                <a:spcPts val="0"/>
              </a:spcBef>
              <a:spcAft>
                <a:spcPts val="0"/>
              </a:spcAft>
              <a:buClr>
                <a:schemeClr val="lt1"/>
              </a:buClr>
              <a:buSzPts val="4800"/>
              <a:buNone/>
              <a:defRPr sz="4800">
                <a:solidFill>
                  <a:schemeClr val="lt1"/>
                </a:solidFill>
              </a:defRPr>
            </a:lvl4pPr>
            <a:lvl5pPr lvl="4" algn="l">
              <a:lnSpc>
                <a:spcPct val="100000"/>
              </a:lnSpc>
              <a:spcBef>
                <a:spcPts val="0"/>
              </a:spcBef>
              <a:spcAft>
                <a:spcPts val="0"/>
              </a:spcAft>
              <a:buClr>
                <a:schemeClr val="lt1"/>
              </a:buClr>
              <a:buSzPts val="4800"/>
              <a:buNone/>
              <a:defRPr sz="4800">
                <a:solidFill>
                  <a:schemeClr val="lt1"/>
                </a:solidFill>
              </a:defRPr>
            </a:lvl5pPr>
            <a:lvl6pPr lvl="5" algn="l">
              <a:lnSpc>
                <a:spcPct val="100000"/>
              </a:lnSpc>
              <a:spcBef>
                <a:spcPts val="0"/>
              </a:spcBef>
              <a:spcAft>
                <a:spcPts val="0"/>
              </a:spcAft>
              <a:buClr>
                <a:schemeClr val="lt1"/>
              </a:buClr>
              <a:buSzPts val="4800"/>
              <a:buNone/>
              <a:defRPr sz="4800">
                <a:solidFill>
                  <a:schemeClr val="lt1"/>
                </a:solidFill>
              </a:defRPr>
            </a:lvl6pPr>
            <a:lvl7pPr lvl="6" algn="l">
              <a:lnSpc>
                <a:spcPct val="100000"/>
              </a:lnSpc>
              <a:spcBef>
                <a:spcPts val="0"/>
              </a:spcBef>
              <a:spcAft>
                <a:spcPts val="0"/>
              </a:spcAft>
              <a:buClr>
                <a:schemeClr val="lt1"/>
              </a:buClr>
              <a:buSzPts val="4800"/>
              <a:buNone/>
              <a:defRPr sz="4800">
                <a:solidFill>
                  <a:schemeClr val="lt1"/>
                </a:solidFill>
              </a:defRPr>
            </a:lvl7pPr>
            <a:lvl8pPr lvl="7" algn="l">
              <a:lnSpc>
                <a:spcPct val="100000"/>
              </a:lnSpc>
              <a:spcBef>
                <a:spcPts val="0"/>
              </a:spcBef>
              <a:spcAft>
                <a:spcPts val="0"/>
              </a:spcAft>
              <a:buClr>
                <a:schemeClr val="lt1"/>
              </a:buClr>
              <a:buSzPts val="4800"/>
              <a:buNone/>
              <a:defRPr sz="4800">
                <a:solidFill>
                  <a:schemeClr val="lt1"/>
                </a:solidFill>
              </a:defRPr>
            </a:lvl8pPr>
            <a:lvl9pPr lvl="8" algn="l">
              <a:lnSpc>
                <a:spcPct val="100000"/>
              </a:lnSpc>
              <a:spcBef>
                <a:spcPts val="0"/>
              </a:spcBef>
              <a:spcAft>
                <a:spcPts val="0"/>
              </a:spcAft>
              <a:buClr>
                <a:schemeClr val="lt1"/>
              </a:buClr>
              <a:buSzPts val="4800"/>
              <a:buNone/>
              <a:defRPr sz="4800">
                <a:solidFill>
                  <a:schemeClr val="lt1"/>
                </a:solidFill>
              </a:defRPr>
            </a:lvl9pPr>
          </a:lstStyle>
          <a:p/>
        </p:txBody>
      </p:sp>
      <p:sp>
        <p:nvSpPr>
          <p:cNvPr id="38" name="Google Shape;38;p43"/>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4"/>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1" name="Google Shape;41;p44"/>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44"/>
          <p:cNvSpPr txBox="1"/>
          <p:nvPr>
            <p:ph type="title"/>
          </p:nvPr>
        </p:nvSpPr>
        <p:spPr>
          <a:xfrm>
            <a:off x="265500" y="1081400"/>
            <a:ext cx="4045200" cy="1710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3" name="Google Shape;43;p44"/>
          <p:cNvSpPr txBox="1"/>
          <p:nvPr>
            <p:ph idx="1" type="subTitle"/>
          </p:nvPr>
        </p:nvSpPr>
        <p:spPr>
          <a:xfrm>
            <a:off x="265500" y="28452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44"/>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45" name="Google Shape;45;p44"/>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45"/>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46"/>
          <p:cNvSpPr txBox="1"/>
          <p:nvPr>
            <p:ph hasCustomPrompt="1" type="title"/>
          </p:nvPr>
        </p:nvSpPr>
        <p:spPr>
          <a:xfrm>
            <a:off x="311700" y="1255275"/>
            <a:ext cx="8520600" cy="1890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1" name="Google Shape;51;p46"/>
          <p:cNvSpPr txBox="1"/>
          <p:nvPr>
            <p:ph idx="1" type="body"/>
          </p:nvPr>
        </p:nvSpPr>
        <p:spPr>
          <a:xfrm>
            <a:off x="311700" y="32284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2" name="Google Shape;52;p4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47"/>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1pPr>
            <a:lvl2pPr lvl="1"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2pPr>
            <a:lvl3pPr lvl="2"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3pPr>
            <a:lvl4pPr lvl="3"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4pPr>
            <a:lvl5pPr lvl="4"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5pPr>
            <a:lvl6pPr lvl="5"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6pPr>
            <a:lvl7pPr lvl="6"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7pPr>
            <a:lvl8pPr lvl="7"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8pPr>
            <a:lvl9pPr lvl="8" marR="0" rtl="0" algn="l">
              <a:lnSpc>
                <a:spcPct val="100000"/>
              </a:lnSpc>
              <a:spcBef>
                <a:spcPts val="0"/>
              </a:spcBef>
              <a:spcAft>
                <a:spcPts val="0"/>
              </a:spcAft>
              <a:buClr>
                <a:schemeClr val="dk1"/>
              </a:buClr>
              <a:buSzPts val="3000"/>
              <a:buFont typeface="Oswald"/>
              <a:buNone/>
              <a:defRPr b="0" i="0" sz="3000" u="none" cap="none" strike="noStrike">
                <a:solidFill>
                  <a:schemeClr val="dk1"/>
                </a:solidFill>
                <a:latin typeface="Oswald"/>
                <a:ea typeface="Oswald"/>
                <a:cs typeface="Oswald"/>
                <a:sym typeface="Oswald"/>
              </a:defRPr>
            </a:lvl9pPr>
          </a:lstStyle>
          <a:p/>
        </p:txBody>
      </p:sp>
      <p:sp>
        <p:nvSpPr>
          <p:cNvPr id="7" name="Google Shape;7;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accent3"/>
              </a:buClr>
              <a:buSzPts val="1800"/>
              <a:buFont typeface="Average"/>
              <a:buChar char="●"/>
              <a:defRPr b="0" i="0" sz="1800" u="none" cap="none" strike="noStrike">
                <a:solidFill>
                  <a:schemeClr val="accent3"/>
                </a:solidFill>
                <a:latin typeface="Average"/>
                <a:ea typeface="Average"/>
                <a:cs typeface="Average"/>
                <a:sym typeface="Average"/>
              </a:defRPr>
            </a:lvl1pPr>
            <a:lvl2pPr indent="-317500" lvl="1" marL="9144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2pPr>
            <a:lvl3pPr indent="-317500" lvl="2" marL="13716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3pPr>
            <a:lvl4pPr indent="-317500" lvl="3" marL="18288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4pPr>
            <a:lvl5pPr indent="-317500" lvl="4" marL="22860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5pPr>
            <a:lvl6pPr indent="-317500" lvl="5" marL="27432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6pPr>
            <a:lvl7pPr indent="-317500" lvl="6" marL="32004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7pPr>
            <a:lvl8pPr indent="-317500" lvl="7" marL="36576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8pPr>
            <a:lvl9pPr indent="-317500" lvl="8" marL="4114800" marR="0" rtl="0" algn="l">
              <a:lnSpc>
                <a:spcPct val="115000"/>
              </a:lnSpc>
              <a:spcBef>
                <a:spcPts val="0"/>
              </a:spcBef>
              <a:spcAft>
                <a:spcPts val="0"/>
              </a:spcAft>
              <a:buClr>
                <a:schemeClr val="accent3"/>
              </a:buClr>
              <a:buSzPts val="1400"/>
              <a:buFont typeface="Average"/>
              <a:buChar char="■"/>
              <a:defRPr b="0" i="0" sz="1400" u="none" cap="none" strike="noStrike">
                <a:solidFill>
                  <a:schemeClr val="accent3"/>
                </a:solidFill>
                <a:latin typeface="Average"/>
                <a:ea typeface="Average"/>
                <a:cs typeface="Average"/>
                <a:sym typeface="Average"/>
              </a:defRPr>
            </a:lvl9pPr>
          </a:lstStyle>
          <a:p/>
        </p:txBody>
      </p:sp>
      <p:sp>
        <p:nvSpPr>
          <p:cNvPr id="8" name="Google Shape;8;p36"/>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https://alliblk.github.io/genepi-book/index.html" TargetMode="Externa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9.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
          <p:cNvSpPr txBox="1"/>
          <p:nvPr>
            <p:ph type="ctrTitle"/>
          </p:nvPr>
        </p:nvSpPr>
        <p:spPr>
          <a:xfrm>
            <a:off x="671258" y="990800"/>
            <a:ext cx="7801500" cy="17301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800"/>
              <a:buNone/>
            </a:pPr>
            <a:r>
              <a:rPr lang="en"/>
              <a:t>Intro to Phylogenetic Analyses</a:t>
            </a:r>
            <a:endParaRPr/>
          </a:p>
        </p:txBody>
      </p:sp>
      <p:sp>
        <p:nvSpPr>
          <p:cNvPr id="60" name="Google Shape;60;p1"/>
          <p:cNvSpPr txBox="1"/>
          <p:nvPr>
            <p:ph idx="1" type="subTitle"/>
          </p:nvPr>
        </p:nvSpPr>
        <p:spPr>
          <a:xfrm>
            <a:off x="671250" y="3174876"/>
            <a:ext cx="78015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1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Outline</a:t>
            </a:r>
            <a:endParaRPr/>
          </a:p>
        </p:txBody>
      </p:sp>
      <p:sp>
        <p:nvSpPr>
          <p:cNvPr id="66" name="Google Shape;66;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Review: phylogenetic trees and applications for genomic epidemiology</a:t>
            </a:r>
            <a:endParaRPr/>
          </a:p>
          <a:p>
            <a:pPr indent="-342900" lvl="0" marL="457200" rtl="0" algn="l">
              <a:lnSpc>
                <a:spcPct val="115000"/>
              </a:lnSpc>
              <a:spcBef>
                <a:spcPts val="0"/>
              </a:spcBef>
              <a:spcAft>
                <a:spcPts val="0"/>
              </a:spcAft>
              <a:buSzPts val="1800"/>
              <a:buChar char="●"/>
            </a:pPr>
            <a:r>
              <a:rPr lang="en"/>
              <a:t>From sequences to trees</a:t>
            </a:r>
            <a:endParaRPr/>
          </a:p>
          <a:p>
            <a:pPr indent="-317500" lvl="1" marL="914400" rtl="0" algn="l">
              <a:lnSpc>
                <a:spcPct val="115000"/>
              </a:lnSpc>
              <a:spcBef>
                <a:spcPts val="0"/>
              </a:spcBef>
              <a:spcAft>
                <a:spcPts val="0"/>
              </a:spcAft>
              <a:buSzPts val="1400"/>
              <a:buChar char="○"/>
            </a:pPr>
            <a:r>
              <a:rPr lang="en"/>
              <a:t>Highlighting methods used</a:t>
            </a:r>
            <a:endParaRPr/>
          </a:p>
          <a:p>
            <a:pPr indent="-342900" lvl="0" marL="457200" rtl="0" algn="l">
              <a:lnSpc>
                <a:spcPct val="115000"/>
              </a:lnSpc>
              <a:spcBef>
                <a:spcPts val="0"/>
              </a:spcBef>
              <a:spcAft>
                <a:spcPts val="0"/>
              </a:spcAft>
              <a:buSzPts val="1800"/>
              <a:buChar char="●"/>
            </a:pPr>
            <a:r>
              <a:rPr lang="en"/>
              <a:t>Interpreting phylogenetic trees</a:t>
            </a:r>
            <a:endParaRPr/>
          </a:p>
          <a:p>
            <a:pPr indent="-317500" lvl="1" marL="914400" rtl="0" algn="l">
              <a:lnSpc>
                <a:spcPct val="115000"/>
              </a:lnSpc>
              <a:spcBef>
                <a:spcPts val="0"/>
              </a:spcBef>
              <a:spcAft>
                <a:spcPts val="0"/>
              </a:spcAft>
              <a:buSzPts val="1400"/>
              <a:buChar char="○"/>
            </a:pPr>
            <a:r>
              <a:rPr lang="en"/>
              <a:t>Terms</a:t>
            </a:r>
            <a:endParaRPr/>
          </a:p>
          <a:p>
            <a:pPr indent="-317500" lvl="1" marL="914400" rtl="0" algn="l">
              <a:lnSpc>
                <a:spcPct val="115000"/>
              </a:lnSpc>
              <a:spcBef>
                <a:spcPts val="0"/>
              </a:spcBef>
              <a:spcAft>
                <a:spcPts val="0"/>
              </a:spcAft>
              <a:buSzPts val="1400"/>
              <a:buChar char="○"/>
            </a:pPr>
            <a:r>
              <a:rPr lang="en"/>
              <a:t>Divergent trees and time trees</a:t>
            </a:r>
            <a:endParaRPr/>
          </a:p>
          <a:p>
            <a:pPr indent="-342900" lvl="0" marL="457200" rtl="0" algn="l">
              <a:lnSpc>
                <a:spcPct val="115000"/>
              </a:lnSpc>
              <a:spcBef>
                <a:spcPts val="0"/>
              </a:spcBef>
              <a:spcAft>
                <a:spcPts val="0"/>
              </a:spcAft>
              <a:buSzPts val="1800"/>
              <a:buChar char="●"/>
            </a:pPr>
            <a:r>
              <a:rPr lang="en"/>
              <a:t>Common phylogenetic tree misinterpretations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3"/>
          <p:cNvSpPr txBox="1"/>
          <p:nvPr>
            <p:ph type="title"/>
          </p:nvPr>
        </p:nvSpPr>
        <p:spPr>
          <a:xfrm>
            <a:off x="311700" y="2709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Phylogenetic trees are hierarchical diagrams that describe relationships between organisms</a:t>
            </a:r>
            <a:endParaRPr/>
          </a:p>
        </p:txBody>
      </p:sp>
      <p:sp>
        <p:nvSpPr>
          <p:cNvPr id="72" name="Google Shape;72;p3"/>
          <p:cNvSpPr txBox="1"/>
          <p:nvPr>
            <p:ph idx="1" type="body"/>
          </p:nvPr>
        </p:nvSpPr>
        <p:spPr>
          <a:xfrm>
            <a:off x="446275" y="1963075"/>
            <a:ext cx="3609000" cy="18357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Specifically, phylogenetic analyses are hypotheses of common descent, whereby sequences that have seemingly inherited the same mutations will cluster together.</a:t>
            </a:r>
            <a:endParaRPr>
              <a:solidFill>
                <a:schemeClr val="dk2"/>
              </a:solidFill>
            </a:endParaRPr>
          </a:p>
        </p:txBody>
      </p:sp>
      <p:sp>
        <p:nvSpPr>
          <p:cNvPr id="73" name="Google Shape;73;p3"/>
          <p:cNvSpPr txBox="1"/>
          <p:nvPr/>
        </p:nvSpPr>
        <p:spPr>
          <a:xfrm>
            <a:off x="4685925" y="4414000"/>
            <a:ext cx="4059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Image Source: </a:t>
            </a:r>
            <a:r>
              <a:rPr b="0" i="0" lang="en" sz="1400" u="sng" cap="none" strike="noStrike">
                <a:solidFill>
                  <a:schemeClr val="hlink"/>
                </a:solidFill>
                <a:latin typeface="Average"/>
                <a:ea typeface="Average"/>
                <a:cs typeface="Average"/>
                <a:sym typeface="Average"/>
                <a:hlinkClick r:id="rId3"/>
              </a:rPr>
              <a:t>https://alliblk.github.io/genepi-book/index.html</a:t>
            </a:r>
            <a:endParaRPr b="0" i="0" sz="1400" u="none" cap="none" strike="noStrike">
              <a:solidFill>
                <a:schemeClr val="dk1"/>
              </a:solidFill>
              <a:latin typeface="Average"/>
              <a:ea typeface="Average"/>
              <a:cs typeface="Average"/>
              <a:sym typeface="Average"/>
            </a:endParaRPr>
          </a:p>
        </p:txBody>
      </p:sp>
      <p:pic>
        <p:nvPicPr>
          <p:cNvPr id="74" name="Google Shape;74;p3"/>
          <p:cNvPicPr preferRelativeResize="0"/>
          <p:nvPr/>
        </p:nvPicPr>
        <p:blipFill rotWithShape="1">
          <a:blip r:embed="rId4">
            <a:alphaModFix/>
          </a:blip>
          <a:srcRect b="0" l="0" r="0" t="0"/>
          <a:stretch/>
        </p:blipFill>
        <p:spPr>
          <a:xfrm>
            <a:off x="4685925" y="1287275"/>
            <a:ext cx="3250376" cy="31872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Phylogenetic trees help us to…</a:t>
            </a:r>
            <a:endParaRPr/>
          </a:p>
        </p:txBody>
      </p:sp>
      <p:sp>
        <p:nvSpPr>
          <p:cNvPr id="80" name="Google Shape;80;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understand the relationships among the sequences, </a:t>
            </a:r>
            <a:endParaRPr/>
          </a:p>
          <a:p>
            <a:pPr indent="-342900" lvl="0" marL="457200" rtl="0" algn="l">
              <a:lnSpc>
                <a:spcPct val="115000"/>
              </a:lnSpc>
              <a:spcBef>
                <a:spcPts val="0"/>
              </a:spcBef>
              <a:spcAft>
                <a:spcPts val="0"/>
              </a:spcAft>
              <a:buSzPts val="1800"/>
              <a:buChar char="●"/>
            </a:pPr>
            <a:r>
              <a:rPr lang="en"/>
              <a:t>identify sources and sinks using phylogeography,</a:t>
            </a:r>
            <a:endParaRPr/>
          </a:p>
          <a:p>
            <a:pPr indent="-342900" lvl="0" marL="457200" rtl="0" algn="l">
              <a:lnSpc>
                <a:spcPct val="115000"/>
              </a:lnSpc>
              <a:spcBef>
                <a:spcPts val="0"/>
              </a:spcBef>
              <a:spcAft>
                <a:spcPts val="0"/>
              </a:spcAft>
              <a:buSzPts val="1800"/>
              <a:buChar char="●"/>
            </a:pPr>
            <a:r>
              <a:rPr lang="en"/>
              <a:t>estimate the start and stop of an outbreak,</a:t>
            </a:r>
            <a:endParaRPr/>
          </a:p>
          <a:p>
            <a:pPr indent="-342900" lvl="0" marL="457200" rtl="0" algn="l">
              <a:lnSpc>
                <a:spcPct val="115000"/>
              </a:lnSpc>
              <a:spcBef>
                <a:spcPts val="0"/>
              </a:spcBef>
              <a:spcAft>
                <a:spcPts val="0"/>
              </a:spcAft>
              <a:buSzPts val="1800"/>
              <a:buChar char="●"/>
            </a:pPr>
            <a:r>
              <a:rPr lang="en"/>
              <a:t>rule-out epi-linkages in an outbreak,</a:t>
            </a:r>
            <a:endParaRPr/>
          </a:p>
          <a:p>
            <a:pPr indent="-342900" lvl="0" marL="457200" rtl="0" algn="l">
              <a:lnSpc>
                <a:spcPct val="115000"/>
              </a:lnSpc>
              <a:spcBef>
                <a:spcPts val="0"/>
              </a:spcBef>
              <a:spcAft>
                <a:spcPts val="0"/>
              </a:spcAft>
              <a:buSzPts val="1800"/>
              <a:buChar char="●"/>
            </a:pPr>
            <a:r>
              <a:rPr lang="en"/>
              <a:t>identify emerging lineages,</a:t>
            </a:r>
            <a:endParaRPr/>
          </a:p>
          <a:p>
            <a:pPr indent="-342900" lvl="0" marL="457200" rtl="0" algn="l">
              <a:lnSpc>
                <a:spcPct val="115000"/>
              </a:lnSpc>
              <a:spcBef>
                <a:spcPts val="0"/>
              </a:spcBef>
              <a:spcAft>
                <a:spcPts val="0"/>
              </a:spcAft>
              <a:buSzPts val="1800"/>
              <a:buChar char="●"/>
            </a:pPr>
            <a:r>
              <a:rPr lang="en"/>
              <a:t>And so many more!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5"/>
          <p:cNvSpPr txBox="1"/>
          <p:nvPr>
            <p:ph type="title"/>
          </p:nvPr>
        </p:nvSpPr>
        <p:spPr>
          <a:xfrm>
            <a:off x="311700" y="2070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From sequences to a tree</a:t>
            </a:r>
            <a:endParaRPr/>
          </a:p>
        </p:txBody>
      </p:sp>
      <p:sp>
        <p:nvSpPr>
          <p:cNvPr id="86" name="Google Shape;86;p5"/>
          <p:cNvSpPr txBox="1"/>
          <p:nvPr>
            <p:ph idx="1" type="body"/>
          </p:nvPr>
        </p:nvSpPr>
        <p:spPr>
          <a:xfrm>
            <a:off x="311700" y="4542850"/>
            <a:ext cx="8520600" cy="4425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1200"/>
              </a:spcAft>
              <a:buSzPct val="108108"/>
              <a:buNone/>
            </a:pPr>
            <a:r>
              <a:rPr lang="en"/>
              <a:t>Source: https://alliblk.github.io/genepi-book/index.html</a:t>
            </a:r>
            <a:endParaRPr/>
          </a:p>
        </p:txBody>
      </p:sp>
      <p:pic>
        <p:nvPicPr>
          <p:cNvPr id="87" name="Google Shape;87;p5"/>
          <p:cNvPicPr preferRelativeResize="0"/>
          <p:nvPr/>
        </p:nvPicPr>
        <p:blipFill rotWithShape="1">
          <a:blip r:embed="rId3">
            <a:alphaModFix/>
          </a:blip>
          <a:srcRect b="0" l="0" r="0" t="0"/>
          <a:stretch/>
        </p:blipFill>
        <p:spPr>
          <a:xfrm>
            <a:off x="368525" y="953073"/>
            <a:ext cx="5584041" cy="34163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Steps in a phylogenetic analysis</a:t>
            </a:r>
            <a:endParaRPr/>
          </a:p>
        </p:txBody>
      </p:sp>
      <p:sp>
        <p:nvSpPr>
          <p:cNvPr id="93" name="Google Shape;93;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lang="en"/>
              <a:t>Determine your research question,</a:t>
            </a:r>
            <a:endParaRPr/>
          </a:p>
          <a:p>
            <a:pPr indent="-342900" lvl="0" marL="457200" rtl="0" algn="l">
              <a:lnSpc>
                <a:spcPct val="115000"/>
              </a:lnSpc>
              <a:spcBef>
                <a:spcPts val="0"/>
              </a:spcBef>
              <a:spcAft>
                <a:spcPts val="0"/>
              </a:spcAft>
              <a:buSzPts val="1800"/>
              <a:buAutoNum type="arabicPeriod"/>
            </a:pPr>
            <a:r>
              <a:rPr lang="en"/>
              <a:t>Identify and acquire a set of </a:t>
            </a:r>
            <a:r>
              <a:rPr i="1" lang="en"/>
              <a:t>homologous </a:t>
            </a:r>
            <a:r>
              <a:rPr lang="en"/>
              <a:t>sequences (include a reference sequence, focal sequences, and contextual sequences), </a:t>
            </a:r>
            <a:endParaRPr/>
          </a:p>
          <a:p>
            <a:pPr indent="-342900" lvl="0" marL="457200" rtl="0" algn="l">
              <a:lnSpc>
                <a:spcPct val="115000"/>
              </a:lnSpc>
              <a:spcBef>
                <a:spcPts val="0"/>
              </a:spcBef>
              <a:spcAft>
                <a:spcPts val="0"/>
              </a:spcAft>
              <a:buSzPts val="1800"/>
              <a:buAutoNum type="arabicPeriod"/>
            </a:pPr>
            <a:r>
              <a:rPr lang="en"/>
              <a:t>Perform multiple sequence alignment, </a:t>
            </a:r>
            <a:endParaRPr/>
          </a:p>
          <a:p>
            <a:pPr indent="-342900" lvl="0" marL="457200" rtl="0" algn="l">
              <a:lnSpc>
                <a:spcPct val="115000"/>
              </a:lnSpc>
              <a:spcBef>
                <a:spcPts val="0"/>
              </a:spcBef>
              <a:spcAft>
                <a:spcPts val="0"/>
              </a:spcAft>
              <a:buSzPts val="1800"/>
              <a:buAutoNum type="arabicPeriod"/>
            </a:pPr>
            <a:r>
              <a:rPr lang="en"/>
              <a:t>Estimate a tree from the aligned sequences using a statistical method, </a:t>
            </a:r>
            <a:endParaRPr/>
          </a:p>
          <a:p>
            <a:pPr indent="-342900" lvl="0" marL="457200" rtl="0" algn="l">
              <a:lnSpc>
                <a:spcPct val="115000"/>
              </a:lnSpc>
              <a:spcBef>
                <a:spcPts val="0"/>
              </a:spcBef>
              <a:spcAft>
                <a:spcPts val="0"/>
              </a:spcAft>
              <a:buSzPts val="1800"/>
              <a:buAutoNum type="arabicPeriod"/>
            </a:pPr>
            <a:r>
              <a:rPr lang="en"/>
              <a:t>Assess the reliability of a tree, </a:t>
            </a:r>
            <a:endParaRPr/>
          </a:p>
          <a:p>
            <a:pPr indent="-342900" lvl="0" marL="457200" rtl="0" algn="l">
              <a:lnSpc>
                <a:spcPct val="115000"/>
              </a:lnSpc>
              <a:spcBef>
                <a:spcPts val="0"/>
              </a:spcBef>
              <a:spcAft>
                <a:spcPts val="0"/>
              </a:spcAft>
              <a:buSzPts val="1800"/>
              <a:buAutoNum type="arabicPeriod"/>
            </a:pPr>
            <a:r>
              <a:rPr lang="en"/>
              <a:t>Interpret your tree and present findings to policy makers (if relevant) or add to publication to help convey results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7"/>
          <p:cNvSpPr txBox="1"/>
          <p:nvPr>
            <p:ph type="title"/>
          </p:nvPr>
        </p:nvSpPr>
        <p:spPr>
          <a:xfrm>
            <a:off x="311700" y="4365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Tree building methods</a:t>
            </a:r>
            <a:endParaRPr/>
          </a:p>
        </p:txBody>
      </p:sp>
      <p:sp>
        <p:nvSpPr>
          <p:cNvPr id="99" name="Google Shape;99;p7"/>
          <p:cNvSpPr txBox="1"/>
          <p:nvPr>
            <p:ph idx="1" type="body"/>
          </p:nvPr>
        </p:nvSpPr>
        <p:spPr>
          <a:xfrm>
            <a:off x="724275" y="1240525"/>
            <a:ext cx="34938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Distance based methods: </a:t>
            </a:r>
            <a:endParaRPr/>
          </a:p>
          <a:p>
            <a:pPr indent="-342900" lvl="0" marL="457200" rtl="0" algn="l">
              <a:lnSpc>
                <a:spcPct val="115000"/>
              </a:lnSpc>
              <a:spcBef>
                <a:spcPts val="1200"/>
              </a:spcBef>
              <a:spcAft>
                <a:spcPts val="0"/>
              </a:spcAft>
              <a:buSzPts val="1800"/>
              <a:buChar char="●"/>
            </a:pPr>
            <a:r>
              <a:rPr lang="en"/>
              <a:t>Unweighted Pair Group Method with Arithmetic Mean (UPGMA)</a:t>
            </a:r>
            <a:endParaRPr/>
          </a:p>
          <a:p>
            <a:pPr indent="-342900" lvl="0" marL="457200" rtl="0" algn="l">
              <a:lnSpc>
                <a:spcPct val="115000"/>
              </a:lnSpc>
              <a:spcBef>
                <a:spcPts val="0"/>
              </a:spcBef>
              <a:spcAft>
                <a:spcPts val="0"/>
              </a:spcAft>
              <a:buSzPts val="1800"/>
              <a:buChar char="●"/>
            </a:pPr>
            <a:r>
              <a:rPr lang="en"/>
              <a:t>Neighbor-Joining</a:t>
            </a:r>
            <a:endParaRPr/>
          </a:p>
        </p:txBody>
      </p:sp>
      <p:sp>
        <p:nvSpPr>
          <p:cNvPr id="100" name="Google Shape;100;p7"/>
          <p:cNvSpPr txBox="1"/>
          <p:nvPr>
            <p:ph idx="1" type="body"/>
          </p:nvPr>
        </p:nvSpPr>
        <p:spPr>
          <a:xfrm>
            <a:off x="4701475" y="1240525"/>
            <a:ext cx="36660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Discrete character methods:</a:t>
            </a:r>
            <a:endParaRPr/>
          </a:p>
          <a:p>
            <a:pPr indent="-342900" lvl="0" marL="457200" rtl="0" algn="l">
              <a:lnSpc>
                <a:spcPct val="115000"/>
              </a:lnSpc>
              <a:spcBef>
                <a:spcPts val="1200"/>
              </a:spcBef>
              <a:spcAft>
                <a:spcPts val="0"/>
              </a:spcAft>
              <a:buSzPts val="1800"/>
              <a:buChar char="●"/>
            </a:pPr>
            <a:r>
              <a:rPr lang="en"/>
              <a:t>Maximum parsimony</a:t>
            </a:r>
            <a:endParaRPr/>
          </a:p>
          <a:p>
            <a:pPr indent="-342900" lvl="0" marL="457200" rtl="0" algn="l">
              <a:lnSpc>
                <a:spcPct val="115000"/>
              </a:lnSpc>
              <a:spcBef>
                <a:spcPts val="0"/>
              </a:spcBef>
              <a:spcAft>
                <a:spcPts val="0"/>
              </a:spcAft>
              <a:buSzPts val="1800"/>
              <a:buChar char="●"/>
            </a:pPr>
            <a:r>
              <a:rPr lang="en"/>
              <a:t>Maximum likelihood</a:t>
            </a:r>
            <a:endParaRPr/>
          </a:p>
          <a:p>
            <a:pPr indent="-342900" lvl="0" marL="457200" rtl="0" algn="l">
              <a:lnSpc>
                <a:spcPct val="115000"/>
              </a:lnSpc>
              <a:spcBef>
                <a:spcPts val="0"/>
              </a:spcBef>
              <a:spcAft>
                <a:spcPts val="0"/>
              </a:spcAft>
              <a:buSzPts val="1800"/>
              <a:buChar char="●"/>
            </a:pPr>
            <a:r>
              <a:rPr lang="en"/>
              <a:t>Maximum a-Posteriori (Bayesian)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Distance Based Method UPGMA -&gt; simple but not often used </a:t>
            </a:r>
            <a:endParaRPr/>
          </a:p>
        </p:txBody>
      </p:sp>
      <p:sp>
        <p:nvSpPr>
          <p:cNvPr id="106" name="Google Shape;106;p8"/>
          <p:cNvSpPr txBox="1"/>
          <p:nvPr>
            <p:ph idx="1" type="body"/>
          </p:nvPr>
        </p:nvSpPr>
        <p:spPr>
          <a:xfrm>
            <a:off x="311700" y="1152475"/>
            <a:ext cx="8520600" cy="15435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 sequential clustering algorithm that builds a distance-based tree in a stepwise manner by:</a:t>
            </a:r>
            <a:endParaRPr/>
          </a:p>
          <a:p>
            <a:pPr indent="-317500" lvl="1" marL="914400" rtl="0" algn="l">
              <a:lnSpc>
                <a:spcPct val="115000"/>
              </a:lnSpc>
              <a:spcBef>
                <a:spcPts val="0"/>
              </a:spcBef>
              <a:spcAft>
                <a:spcPts val="0"/>
              </a:spcAft>
              <a:buSzPts val="1400"/>
              <a:buChar char="○"/>
            </a:pPr>
            <a:r>
              <a:rPr lang="en"/>
              <a:t>Grouping sequences that are most similar to each other </a:t>
            </a:r>
            <a:endParaRPr/>
          </a:p>
          <a:p>
            <a:pPr indent="-317500" lvl="1" marL="914400" rtl="0" algn="l">
              <a:lnSpc>
                <a:spcPct val="115000"/>
              </a:lnSpc>
              <a:spcBef>
                <a:spcPts val="0"/>
              </a:spcBef>
              <a:spcAft>
                <a:spcPts val="0"/>
              </a:spcAft>
              <a:buSzPts val="1400"/>
              <a:buChar char="○"/>
            </a:pPr>
            <a:r>
              <a:rPr lang="en"/>
              <a:t>Computing the distance from 1 cluster to other OTUs (d=d</a:t>
            </a:r>
            <a:r>
              <a:rPr baseline="-25000" lang="en"/>
              <a:t>(AB)</a:t>
            </a:r>
            <a:r>
              <a:rPr lang="en"/>
              <a:t> +d</a:t>
            </a:r>
            <a:r>
              <a:rPr baseline="-25000" lang="en"/>
              <a:t>C</a:t>
            </a:r>
            <a:r>
              <a:rPr lang="en"/>
              <a:t>/2)</a:t>
            </a:r>
            <a:endParaRPr/>
          </a:p>
          <a:p>
            <a:pPr indent="-317500" lvl="1" marL="914400" rtl="0" algn="l">
              <a:lnSpc>
                <a:spcPct val="115000"/>
              </a:lnSpc>
              <a:spcBef>
                <a:spcPts val="0"/>
              </a:spcBef>
              <a:spcAft>
                <a:spcPts val="0"/>
              </a:spcAft>
              <a:buSzPts val="1400"/>
              <a:buChar char="○"/>
            </a:pPr>
            <a:r>
              <a:rPr lang="en"/>
              <a:t>Repeat these steps until N=2</a:t>
            </a:r>
            <a:endParaRPr/>
          </a:p>
        </p:txBody>
      </p:sp>
      <p:cxnSp>
        <p:nvCxnSpPr>
          <p:cNvPr id="107" name="Google Shape;107;p8"/>
          <p:cNvCxnSpPr/>
          <p:nvPr/>
        </p:nvCxnSpPr>
        <p:spPr>
          <a:xfrm flipH="1" rot="10800000">
            <a:off x="8004375" y="3275063"/>
            <a:ext cx="495600" cy="5100"/>
          </a:xfrm>
          <a:prstGeom prst="straightConnector1">
            <a:avLst/>
          </a:prstGeom>
          <a:noFill/>
          <a:ln cap="flat" cmpd="sng" w="9525">
            <a:solidFill>
              <a:schemeClr val="dk2"/>
            </a:solidFill>
            <a:prstDash val="solid"/>
            <a:round/>
            <a:headEnd len="sm" w="sm" type="none"/>
            <a:tailEnd len="sm" w="sm" type="none"/>
          </a:ln>
        </p:spPr>
      </p:cxnSp>
      <p:cxnSp>
        <p:nvCxnSpPr>
          <p:cNvPr id="108" name="Google Shape;108;p8"/>
          <p:cNvCxnSpPr/>
          <p:nvPr/>
        </p:nvCxnSpPr>
        <p:spPr>
          <a:xfrm flipH="1" rot="10800000">
            <a:off x="8004375" y="3689675"/>
            <a:ext cx="495600" cy="5100"/>
          </a:xfrm>
          <a:prstGeom prst="straightConnector1">
            <a:avLst/>
          </a:prstGeom>
          <a:noFill/>
          <a:ln cap="flat" cmpd="sng" w="9525">
            <a:solidFill>
              <a:schemeClr val="dk2"/>
            </a:solidFill>
            <a:prstDash val="solid"/>
            <a:round/>
            <a:headEnd len="sm" w="sm" type="none"/>
            <a:tailEnd len="sm" w="sm" type="none"/>
          </a:ln>
        </p:spPr>
      </p:cxnSp>
      <p:sp>
        <p:nvSpPr>
          <p:cNvPr id="109" name="Google Shape;109;p8"/>
          <p:cNvSpPr txBox="1"/>
          <p:nvPr/>
        </p:nvSpPr>
        <p:spPr>
          <a:xfrm>
            <a:off x="8499975" y="3492125"/>
            <a:ext cx="30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A</a:t>
            </a:r>
            <a:endParaRPr b="0" i="0" sz="1400" u="none" cap="none" strike="noStrike">
              <a:solidFill>
                <a:srgbClr val="000000"/>
              </a:solidFill>
              <a:latin typeface="Average"/>
              <a:ea typeface="Average"/>
              <a:cs typeface="Average"/>
              <a:sym typeface="Average"/>
            </a:endParaRPr>
          </a:p>
        </p:txBody>
      </p:sp>
      <p:sp>
        <p:nvSpPr>
          <p:cNvPr id="110" name="Google Shape;110;p8"/>
          <p:cNvSpPr txBox="1"/>
          <p:nvPr/>
        </p:nvSpPr>
        <p:spPr>
          <a:xfrm>
            <a:off x="8499975" y="3077525"/>
            <a:ext cx="30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B</a:t>
            </a:r>
            <a:endParaRPr b="0" i="0" sz="1400" u="none" cap="none" strike="noStrike">
              <a:solidFill>
                <a:srgbClr val="000000"/>
              </a:solidFill>
              <a:latin typeface="Average"/>
              <a:ea typeface="Average"/>
              <a:cs typeface="Average"/>
              <a:sym typeface="Average"/>
            </a:endParaRPr>
          </a:p>
        </p:txBody>
      </p:sp>
      <p:cxnSp>
        <p:nvCxnSpPr>
          <p:cNvPr id="111" name="Google Shape;111;p8"/>
          <p:cNvCxnSpPr/>
          <p:nvPr/>
        </p:nvCxnSpPr>
        <p:spPr>
          <a:xfrm rot="10800000">
            <a:off x="8004375" y="3275063"/>
            <a:ext cx="5100" cy="414600"/>
          </a:xfrm>
          <a:prstGeom prst="straightConnector1">
            <a:avLst/>
          </a:prstGeom>
          <a:noFill/>
          <a:ln cap="flat" cmpd="sng" w="9525">
            <a:solidFill>
              <a:schemeClr val="dk2"/>
            </a:solidFill>
            <a:prstDash val="solid"/>
            <a:round/>
            <a:headEnd len="sm" w="sm" type="none"/>
            <a:tailEnd len="sm" w="sm" type="none"/>
          </a:ln>
        </p:spPr>
      </p:cxnSp>
      <p:cxnSp>
        <p:nvCxnSpPr>
          <p:cNvPr id="112" name="Google Shape;112;p8"/>
          <p:cNvCxnSpPr/>
          <p:nvPr/>
        </p:nvCxnSpPr>
        <p:spPr>
          <a:xfrm flipH="1" rot="10800000">
            <a:off x="7513875" y="3477725"/>
            <a:ext cx="495600" cy="5100"/>
          </a:xfrm>
          <a:prstGeom prst="straightConnector1">
            <a:avLst/>
          </a:prstGeom>
          <a:noFill/>
          <a:ln cap="flat" cmpd="sng" w="9525">
            <a:solidFill>
              <a:schemeClr val="dk2"/>
            </a:solidFill>
            <a:prstDash val="solid"/>
            <a:round/>
            <a:headEnd len="sm" w="sm" type="none"/>
            <a:tailEnd len="sm" w="sm" type="none"/>
          </a:ln>
        </p:spPr>
      </p:cxnSp>
      <p:cxnSp>
        <p:nvCxnSpPr>
          <p:cNvPr id="113" name="Google Shape;113;p8"/>
          <p:cNvCxnSpPr/>
          <p:nvPr/>
        </p:nvCxnSpPr>
        <p:spPr>
          <a:xfrm rot="10800000">
            <a:off x="7513875" y="3477725"/>
            <a:ext cx="10200" cy="717900"/>
          </a:xfrm>
          <a:prstGeom prst="straightConnector1">
            <a:avLst/>
          </a:prstGeom>
          <a:noFill/>
          <a:ln cap="flat" cmpd="sng" w="9525">
            <a:solidFill>
              <a:schemeClr val="dk2"/>
            </a:solidFill>
            <a:prstDash val="solid"/>
            <a:round/>
            <a:headEnd len="sm" w="sm" type="none"/>
            <a:tailEnd len="sm" w="sm" type="none"/>
          </a:ln>
        </p:spPr>
      </p:cxnSp>
      <p:cxnSp>
        <p:nvCxnSpPr>
          <p:cNvPr id="114" name="Google Shape;114;p8"/>
          <p:cNvCxnSpPr/>
          <p:nvPr/>
        </p:nvCxnSpPr>
        <p:spPr>
          <a:xfrm flipH="1" rot="10800000">
            <a:off x="7513875" y="4196050"/>
            <a:ext cx="1036800" cy="5100"/>
          </a:xfrm>
          <a:prstGeom prst="straightConnector1">
            <a:avLst/>
          </a:prstGeom>
          <a:noFill/>
          <a:ln cap="flat" cmpd="sng" w="9525">
            <a:solidFill>
              <a:schemeClr val="dk2"/>
            </a:solidFill>
            <a:prstDash val="solid"/>
            <a:round/>
            <a:headEnd len="sm" w="sm" type="none"/>
            <a:tailEnd len="sm" w="sm" type="none"/>
          </a:ln>
        </p:spPr>
      </p:cxnSp>
      <p:sp>
        <p:nvSpPr>
          <p:cNvPr id="115" name="Google Shape;115;p8"/>
          <p:cNvSpPr txBox="1"/>
          <p:nvPr/>
        </p:nvSpPr>
        <p:spPr>
          <a:xfrm>
            <a:off x="8499975" y="4035725"/>
            <a:ext cx="30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C</a:t>
            </a:r>
            <a:endParaRPr b="0" i="0" sz="1400" u="none" cap="none" strike="noStrike">
              <a:solidFill>
                <a:srgbClr val="000000"/>
              </a:solidFill>
              <a:latin typeface="Average"/>
              <a:ea typeface="Average"/>
              <a:cs typeface="Average"/>
              <a:sym typeface="Average"/>
            </a:endParaRPr>
          </a:p>
        </p:txBody>
      </p:sp>
      <p:graphicFrame>
        <p:nvGraphicFramePr>
          <p:cNvPr id="116" name="Google Shape;116;p8"/>
          <p:cNvGraphicFramePr/>
          <p:nvPr/>
        </p:nvGraphicFramePr>
        <p:xfrm>
          <a:off x="2803825" y="3052813"/>
          <a:ext cx="3000000" cy="3000000"/>
        </p:xfrm>
        <a:graphic>
          <a:graphicData uri="http://schemas.openxmlformats.org/drawingml/2006/table">
            <a:tbl>
              <a:tblPr>
                <a:noFill/>
                <a:tableStyleId>{5389113A-0CCC-4827-B051-28423795929A}</a:tableStyleId>
              </a:tblPr>
              <a:tblGrid>
                <a:gridCol w="382850"/>
                <a:gridCol w="600350"/>
                <a:gridCol w="614250"/>
                <a:gridCol w="662350"/>
              </a:tblGrid>
              <a:tr h="3749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A</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B</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C</a:t>
                      </a:r>
                      <a:endParaRPr sz="1400" u="none" cap="none" strike="noStrike">
                        <a:solidFill>
                          <a:schemeClr val="lt2"/>
                        </a:solidFill>
                      </a:endParaRPr>
                    </a:p>
                  </a:txBody>
                  <a:tcPr marT="91425" marB="91425" marR="91425" marL="91425"/>
                </a:tc>
              </a:tr>
              <a:tr h="5318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B</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accent3"/>
                          </a:solidFill>
                        </a:rPr>
                        <a:t>2</a:t>
                      </a:r>
                      <a:endParaRPr sz="1400" u="none" cap="none" strike="noStrike">
                        <a:solidFill>
                          <a:schemeClr val="accent3"/>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accent3"/>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r h="6972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C</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accent3"/>
                          </a:solidFill>
                        </a:rPr>
                        <a:t>4</a:t>
                      </a:r>
                      <a:endParaRPr sz="1400" u="none" cap="none" strike="noStrike">
                        <a:solidFill>
                          <a:schemeClr val="accent3"/>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accent3"/>
                          </a:solidFill>
                        </a:rPr>
                        <a:t>4</a:t>
                      </a:r>
                      <a:endParaRPr sz="1400" u="none" cap="none" strike="noStrike">
                        <a:solidFill>
                          <a:schemeClr val="accent3"/>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r>
            </a:tbl>
          </a:graphicData>
        </a:graphic>
      </p:graphicFrame>
      <p:graphicFrame>
        <p:nvGraphicFramePr>
          <p:cNvPr id="117" name="Google Shape;117;p8"/>
          <p:cNvGraphicFramePr/>
          <p:nvPr/>
        </p:nvGraphicFramePr>
        <p:xfrm>
          <a:off x="5578925" y="3375800"/>
          <a:ext cx="3000000" cy="3000000"/>
        </p:xfrm>
        <a:graphic>
          <a:graphicData uri="http://schemas.openxmlformats.org/drawingml/2006/table">
            <a:tbl>
              <a:tblPr>
                <a:noFill/>
                <a:tableStyleId>{5389113A-0CCC-4827-B051-28423795929A}</a:tableStyleId>
              </a:tblPr>
              <a:tblGrid>
                <a:gridCol w="382850"/>
                <a:gridCol w="711625"/>
                <a:gridCol w="502975"/>
              </a:tblGrid>
              <a:tr h="3929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(A, B)</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C</a:t>
                      </a:r>
                      <a:endParaRPr sz="1400" u="none" cap="none" strike="noStrike">
                        <a:solidFill>
                          <a:schemeClr val="lt2"/>
                        </a:solidFill>
                      </a:endParaRPr>
                    </a:p>
                  </a:txBody>
                  <a:tcPr marT="91425" marB="91425" marR="91425" marL="91425"/>
                </a:tc>
              </a:tr>
              <a:tr h="8076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C</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accent3"/>
                          </a:solidFill>
                        </a:rPr>
                        <a:t>4</a:t>
                      </a:r>
                      <a:endParaRPr sz="1400" u="none" cap="none" strike="noStrike">
                        <a:solidFill>
                          <a:schemeClr val="accent3"/>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accent3"/>
                        </a:solidFill>
                      </a:endParaRPr>
                    </a:p>
                  </a:txBody>
                  <a:tcPr marT="91425" marB="91425" marR="91425" marL="91425"/>
                </a:tc>
              </a:tr>
            </a:tbl>
          </a:graphicData>
        </a:graphic>
      </p:graphicFrame>
      <p:sp>
        <p:nvSpPr>
          <p:cNvPr id="118" name="Google Shape;118;p8"/>
          <p:cNvSpPr txBox="1"/>
          <p:nvPr/>
        </p:nvSpPr>
        <p:spPr>
          <a:xfrm>
            <a:off x="8129800" y="2830725"/>
            <a:ext cx="30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1</a:t>
            </a:r>
            <a:endParaRPr b="0" i="0" sz="1400" u="none" cap="none" strike="noStrike">
              <a:solidFill>
                <a:schemeClr val="accent3"/>
              </a:solidFill>
              <a:latin typeface="Average"/>
              <a:ea typeface="Average"/>
              <a:cs typeface="Average"/>
              <a:sym typeface="Average"/>
            </a:endParaRPr>
          </a:p>
        </p:txBody>
      </p:sp>
      <p:sp>
        <p:nvSpPr>
          <p:cNvPr id="119" name="Google Shape;119;p8"/>
          <p:cNvSpPr txBox="1"/>
          <p:nvPr/>
        </p:nvSpPr>
        <p:spPr>
          <a:xfrm>
            <a:off x="7976075" y="4196050"/>
            <a:ext cx="30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2</a:t>
            </a:r>
            <a:endParaRPr b="0" i="0" sz="1400" u="none" cap="none" strike="noStrike">
              <a:solidFill>
                <a:schemeClr val="accent3"/>
              </a:solidFill>
              <a:latin typeface="Average"/>
              <a:ea typeface="Average"/>
              <a:cs typeface="Average"/>
              <a:sym typeface="Average"/>
            </a:endParaRPr>
          </a:p>
        </p:txBody>
      </p:sp>
      <p:sp>
        <p:nvSpPr>
          <p:cNvPr id="120" name="Google Shape;120;p8"/>
          <p:cNvSpPr txBox="1"/>
          <p:nvPr/>
        </p:nvSpPr>
        <p:spPr>
          <a:xfrm>
            <a:off x="8191575" y="3665350"/>
            <a:ext cx="308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1</a:t>
            </a:r>
            <a:endParaRPr b="0" i="0" sz="1400" u="none" cap="none" strike="noStrike">
              <a:solidFill>
                <a:schemeClr val="accent3"/>
              </a:solidFill>
              <a:latin typeface="Average"/>
              <a:ea typeface="Average"/>
              <a:cs typeface="Average"/>
              <a:sym typeface="Average"/>
            </a:endParaRPr>
          </a:p>
        </p:txBody>
      </p:sp>
      <p:sp>
        <p:nvSpPr>
          <p:cNvPr id="121" name="Google Shape;121;p8"/>
          <p:cNvSpPr txBox="1"/>
          <p:nvPr/>
        </p:nvSpPr>
        <p:spPr>
          <a:xfrm>
            <a:off x="6166600" y="4596250"/>
            <a:ext cx="706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N=2</a:t>
            </a:r>
            <a:endParaRPr b="0" i="0" sz="1400" u="none" cap="none" strike="noStrike">
              <a:solidFill>
                <a:schemeClr val="accent3"/>
              </a:solidFill>
              <a:latin typeface="Average"/>
              <a:ea typeface="Average"/>
              <a:cs typeface="Average"/>
              <a:sym typeface="Average"/>
            </a:endParaRPr>
          </a:p>
        </p:txBody>
      </p:sp>
      <p:sp>
        <p:nvSpPr>
          <p:cNvPr id="122" name="Google Shape;122;p8"/>
          <p:cNvSpPr txBox="1"/>
          <p:nvPr/>
        </p:nvSpPr>
        <p:spPr>
          <a:xfrm>
            <a:off x="3530825" y="4678100"/>
            <a:ext cx="706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N=3</a:t>
            </a:r>
            <a:endParaRPr b="0" i="0" sz="1400" u="none" cap="none" strike="noStrike">
              <a:solidFill>
                <a:schemeClr val="accent3"/>
              </a:solidFill>
              <a:latin typeface="Average"/>
              <a:ea typeface="Average"/>
              <a:cs typeface="Average"/>
              <a:sym typeface="Average"/>
            </a:endParaRPr>
          </a:p>
        </p:txBody>
      </p:sp>
      <p:cxnSp>
        <p:nvCxnSpPr>
          <p:cNvPr id="123" name="Google Shape;123;p8"/>
          <p:cNvCxnSpPr/>
          <p:nvPr/>
        </p:nvCxnSpPr>
        <p:spPr>
          <a:xfrm flipH="1" rot="10800000">
            <a:off x="5156850" y="3974550"/>
            <a:ext cx="292800" cy="6300"/>
          </a:xfrm>
          <a:prstGeom prst="straightConnector1">
            <a:avLst/>
          </a:prstGeom>
          <a:noFill/>
          <a:ln cap="flat" cmpd="sng" w="9525">
            <a:solidFill>
              <a:schemeClr val="dk2"/>
            </a:solidFill>
            <a:prstDash val="solid"/>
            <a:round/>
            <a:headEnd len="sm" w="sm" type="none"/>
            <a:tailEnd len="med" w="med" type="triangle"/>
          </a:ln>
        </p:spPr>
      </p:cxnSp>
      <p:cxnSp>
        <p:nvCxnSpPr>
          <p:cNvPr id="124" name="Google Shape;124;p8"/>
          <p:cNvCxnSpPr/>
          <p:nvPr/>
        </p:nvCxnSpPr>
        <p:spPr>
          <a:xfrm flipH="1" rot="10800000">
            <a:off x="7176375" y="3929625"/>
            <a:ext cx="292800" cy="6300"/>
          </a:xfrm>
          <a:prstGeom prst="straightConnector1">
            <a:avLst/>
          </a:prstGeom>
          <a:noFill/>
          <a:ln cap="flat" cmpd="sng" w="9525">
            <a:solidFill>
              <a:schemeClr val="dk2"/>
            </a:solidFill>
            <a:prstDash val="solid"/>
            <a:round/>
            <a:headEnd len="sm" w="sm" type="none"/>
            <a:tailEnd len="med" w="med" type="triangle"/>
          </a:ln>
        </p:spPr>
      </p:cxnSp>
      <p:sp>
        <p:nvSpPr>
          <p:cNvPr id="125" name="Google Shape;125;p8"/>
          <p:cNvSpPr txBox="1"/>
          <p:nvPr/>
        </p:nvSpPr>
        <p:spPr>
          <a:xfrm>
            <a:off x="908525" y="3275075"/>
            <a:ext cx="12819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A  </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B </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C  </a:t>
            </a:r>
            <a:endParaRPr b="0" i="0" sz="1400" u="none" cap="none" strike="noStrike">
              <a:solidFill>
                <a:schemeClr val="dk1"/>
              </a:solidFill>
              <a:latin typeface="Average"/>
              <a:ea typeface="Average"/>
              <a:cs typeface="Average"/>
              <a:sym typeface="Average"/>
            </a:endParaRPr>
          </a:p>
        </p:txBody>
      </p:sp>
      <p:cxnSp>
        <p:nvCxnSpPr>
          <p:cNvPr id="126" name="Google Shape;126;p8"/>
          <p:cNvCxnSpPr/>
          <p:nvPr/>
        </p:nvCxnSpPr>
        <p:spPr>
          <a:xfrm flipH="1" rot="10800000">
            <a:off x="2311000" y="3765700"/>
            <a:ext cx="292800" cy="63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Distance Based Method NJ -&gt; similar to UPGMA, but more common  </a:t>
            </a:r>
            <a:endParaRPr/>
          </a:p>
        </p:txBody>
      </p:sp>
      <p:graphicFrame>
        <p:nvGraphicFramePr>
          <p:cNvPr id="132" name="Google Shape;132;p9"/>
          <p:cNvGraphicFramePr/>
          <p:nvPr/>
        </p:nvGraphicFramePr>
        <p:xfrm>
          <a:off x="506375" y="3052813"/>
          <a:ext cx="3000000" cy="3000000"/>
        </p:xfrm>
        <a:graphic>
          <a:graphicData uri="http://schemas.openxmlformats.org/drawingml/2006/table">
            <a:tbl>
              <a:tblPr>
                <a:noFill/>
                <a:tableStyleId>{5389113A-0CCC-4827-B051-28423795929A}</a:tableStyleId>
              </a:tblPr>
              <a:tblGrid>
                <a:gridCol w="382850"/>
                <a:gridCol w="600350"/>
                <a:gridCol w="614250"/>
              </a:tblGrid>
              <a:tr h="3587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A</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B</a:t>
                      </a:r>
                      <a:endParaRPr sz="1400" u="none" cap="none" strike="noStrike">
                        <a:solidFill>
                          <a:schemeClr val="lt2"/>
                        </a:solidFill>
                      </a:endParaRPr>
                    </a:p>
                  </a:txBody>
                  <a:tcPr marT="91425" marB="91425" marR="91425" marL="91425"/>
                </a:tc>
              </a:tr>
              <a:tr h="4396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B</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accent3"/>
                          </a:solidFill>
                        </a:rPr>
                        <a:t>5</a:t>
                      </a:r>
                      <a:endParaRPr sz="1400" u="none" cap="none" strike="noStrike">
                        <a:solidFill>
                          <a:schemeClr val="accent3"/>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accent3"/>
                        </a:solidFill>
                      </a:endParaRPr>
                    </a:p>
                  </a:txBody>
                  <a:tcPr marT="91425" marB="91425" marR="91425" marL="91425"/>
                </a:tc>
              </a:tr>
              <a:tr h="4949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C</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accent3"/>
                          </a:solidFill>
                        </a:rPr>
                        <a:t>4</a:t>
                      </a:r>
                      <a:endParaRPr sz="1400" u="none" cap="none" strike="noStrike">
                        <a:solidFill>
                          <a:schemeClr val="accent3"/>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accent3"/>
                          </a:solidFill>
                        </a:rPr>
                        <a:t>7</a:t>
                      </a:r>
                      <a:endParaRPr sz="1400" u="none" cap="none" strike="noStrike">
                        <a:solidFill>
                          <a:schemeClr val="accent3"/>
                        </a:solidFill>
                      </a:endParaRPr>
                    </a:p>
                  </a:txBody>
                  <a:tcPr marT="91425" marB="91425" marR="91425" marL="91425"/>
                </a:tc>
              </a:tr>
            </a:tbl>
          </a:graphicData>
        </a:graphic>
      </p:graphicFrame>
      <p:sp>
        <p:nvSpPr>
          <p:cNvPr id="133" name="Google Shape;133;p9"/>
          <p:cNvSpPr txBox="1"/>
          <p:nvPr/>
        </p:nvSpPr>
        <p:spPr>
          <a:xfrm>
            <a:off x="2661800" y="3042475"/>
            <a:ext cx="1966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M</a:t>
            </a:r>
            <a:r>
              <a:rPr b="0" baseline="-25000" i="0" lang="en" sz="1400" u="none" cap="none" strike="noStrike">
                <a:solidFill>
                  <a:schemeClr val="accent3"/>
                </a:solidFill>
                <a:latin typeface="Average"/>
                <a:ea typeface="Average"/>
                <a:cs typeface="Average"/>
                <a:sym typeface="Average"/>
              </a:rPr>
              <a:t>AB</a:t>
            </a:r>
            <a:r>
              <a:rPr b="0" i="0" lang="en" sz="1400" u="none" cap="none" strike="noStrike">
                <a:solidFill>
                  <a:schemeClr val="accent3"/>
                </a:solidFill>
                <a:latin typeface="Average"/>
                <a:ea typeface="Average"/>
                <a:cs typeface="Average"/>
                <a:sym typeface="Average"/>
              </a:rPr>
              <a:t>= 5 - (9+7)/N-2= -11</a:t>
            </a:r>
            <a:endParaRPr b="0" i="0" sz="1400" u="none" cap="none" strike="noStrike">
              <a:solidFill>
                <a:schemeClr val="accent3"/>
              </a:solidFill>
              <a:latin typeface="Average"/>
              <a:ea typeface="Average"/>
              <a:cs typeface="Average"/>
              <a:sym typeface="Average"/>
            </a:endParaRPr>
          </a:p>
        </p:txBody>
      </p:sp>
      <p:sp>
        <p:nvSpPr>
          <p:cNvPr id="134" name="Google Shape;134;p9"/>
          <p:cNvSpPr txBox="1"/>
          <p:nvPr/>
        </p:nvSpPr>
        <p:spPr>
          <a:xfrm>
            <a:off x="834900" y="4323875"/>
            <a:ext cx="571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r=9</a:t>
            </a:r>
            <a:endParaRPr b="0" i="0" sz="1400" u="none" cap="none" strike="noStrike">
              <a:solidFill>
                <a:schemeClr val="accent3"/>
              </a:solidFill>
              <a:latin typeface="Average"/>
              <a:ea typeface="Average"/>
              <a:cs typeface="Average"/>
              <a:sym typeface="Average"/>
            </a:endParaRPr>
          </a:p>
        </p:txBody>
      </p:sp>
      <p:sp>
        <p:nvSpPr>
          <p:cNvPr id="135" name="Google Shape;135;p9"/>
          <p:cNvSpPr txBox="1"/>
          <p:nvPr/>
        </p:nvSpPr>
        <p:spPr>
          <a:xfrm>
            <a:off x="1435250" y="4323875"/>
            <a:ext cx="571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r=7</a:t>
            </a:r>
            <a:endParaRPr b="0" i="0" sz="1400" u="none" cap="none" strike="noStrike">
              <a:solidFill>
                <a:schemeClr val="accent3"/>
              </a:solidFill>
              <a:latin typeface="Average"/>
              <a:ea typeface="Average"/>
              <a:cs typeface="Average"/>
              <a:sym typeface="Average"/>
            </a:endParaRPr>
          </a:p>
        </p:txBody>
      </p:sp>
      <p:cxnSp>
        <p:nvCxnSpPr>
          <p:cNvPr id="136" name="Google Shape;136;p9"/>
          <p:cNvCxnSpPr/>
          <p:nvPr/>
        </p:nvCxnSpPr>
        <p:spPr>
          <a:xfrm>
            <a:off x="2195463" y="3716275"/>
            <a:ext cx="374700" cy="3900"/>
          </a:xfrm>
          <a:prstGeom prst="straightConnector1">
            <a:avLst/>
          </a:prstGeom>
          <a:noFill/>
          <a:ln cap="flat" cmpd="sng" w="9525">
            <a:solidFill>
              <a:schemeClr val="dk2"/>
            </a:solidFill>
            <a:prstDash val="solid"/>
            <a:round/>
            <a:headEnd len="sm" w="sm" type="none"/>
            <a:tailEnd len="med" w="med" type="triangle"/>
          </a:ln>
        </p:spPr>
      </p:cxnSp>
      <p:sp>
        <p:nvSpPr>
          <p:cNvPr id="137" name="Google Shape;137;p9"/>
          <p:cNvSpPr txBox="1"/>
          <p:nvPr/>
        </p:nvSpPr>
        <p:spPr>
          <a:xfrm>
            <a:off x="2585600" y="3607150"/>
            <a:ext cx="2042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M</a:t>
            </a:r>
            <a:r>
              <a:rPr b="0" baseline="-25000" i="0" lang="en" sz="1400" u="none" cap="none" strike="noStrike">
                <a:solidFill>
                  <a:schemeClr val="accent3"/>
                </a:solidFill>
                <a:latin typeface="Average"/>
                <a:ea typeface="Average"/>
                <a:cs typeface="Average"/>
                <a:sym typeface="Average"/>
              </a:rPr>
              <a:t>AC</a:t>
            </a:r>
            <a:r>
              <a:rPr b="0" i="0" lang="en" sz="1400" u="none" cap="none" strike="noStrike">
                <a:solidFill>
                  <a:schemeClr val="accent3"/>
                </a:solidFill>
                <a:latin typeface="Average"/>
                <a:ea typeface="Average"/>
                <a:cs typeface="Average"/>
                <a:sym typeface="Average"/>
              </a:rPr>
              <a:t>= 4 - (9+11)/N-2= -16 </a:t>
            </a:r>
            <a:endParaRPr b="0" i="0" sz="1400" u="none" cap="none" strike="noStrike">
              <a:solidFill>
                <a:schemeClr val="accent3"/>
              </a:solidFill>
              <a:latin typeface="Average"/>
              <a:ea typeface="Average"/>
              <a:cs typeface="Average"/>
              <a:sym typeface="Average"/>
            </a:endParaRPr>
          </a:p>
        </p:txBody>
      </p:sp>
      <p:sp>
        <p:nvSpPr>
          <p:cNvPr id="138" name="Google Shape;138;p9"/>
          <p:cNvSpPr txBox="1"/>
          <p:nvPr/>
        </p:nvSpPr>
        <p:spPr>
          <a:xfrm>
            <a:off x="2661800" y="4171825"/>
            <a:ext cx="2042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M</a:t>
            </a:r>
            <a:r>
              <a:rPr b="0" baseline="-25000" i="0" lang="en" sz="1400" u="none" cap="none" strike="noStrike">
                <a:solidFill>
                  <a:schemeClr val="accent3"/>
                </a:solidFill>
                <a:latin typeface="Average"/>
                <a:ea typeface="Average"/>
                <a:cs typeface="Average"/>
                <a:sym typeface="Average"/>
              </a:rPr>
              <a:t>BC</a:t>
            </a:r>
            <a:r>
              <a:rPr b="0" i="0" lang="en" sz="1400" u="none" cap="none" strike="noStrike">
                <a:solidFill>
                  <a:schemeClr val="accent3"/>
                </a:solidFill>
                <a:latin typeface="Average"/>
                <a:ea typeface="Average"/>
                <a:cs typeface="Average"/>
                <a:sym typeface="Average"/>
              </a:rPr>
              <a:t>= 7 - (7+11)/N-2= -11</a:t>
            </a:r>
            <a:endParaRPr b="0" i="0" sz="1400" u="none" cap="none" strike="noStrike">
              <a:solidFill>
                <a:schemeClr val="accent3"/>
              </a:solidFill>
              <a:latin typeface="Average"/>
              <a:ea typeface="Average"/>
              <a:cs typeface="Average"/>
              <a:sym typeface="Average"/>
            </a:endParaRPr>
          </a:p>
        </p:txBody>
      </p:sp>
      <p:cxnSp>
        <p:nvCxnSpPr>
          <p:cNvPr id="139" name="Google Shape;139;p9"/>
          <p:cNvCxnSpPr/>
          <p:nvPr/>
        </p:nvCxnSpPr>
        <p:spPr>
          <a:xfrm>
            <a:off x="4726100" y="3716275"/>
            <a:ext cx="374700" cy="3900"/>
          </a:xfrm>
          <a:prstGeom prst="straightConnector1">
            <a:avLst/>
          </a:prstGeom>
          <a:noFill/>
          <a:ln cap="flat" cmpd="sng" w="9525">
            <a:solidFill>
              <a:schemeClr val="dk2"/>
            </a:solidFill>
            <a:prstDash val="solid"/>
            <a:round/>
            <a:headEnd len="sm" w="sm" type="none"/>
            <a:tailEnd len="med" w="med" type="triangle"/>
          </a:ln>
        </p:spPr>
      </p:cxnSp>
      <p:graphicFrame>
        <p:nvGraphicFramePr>
          <p:cNvPr id="140" name="Google Shape;140;p9"/>
          <p:cNvGraphicFramePr/>
          <p:nvPr/>
        </p:nvGraphicFramePr>
        <p:xfrm>
          <a:off x="5198900" y="3141838"/>
          <a:ext cx="3000000" cy="3000000"/>
        </p:xfrm>
        <a:graphic>
          <a:graphicData uri="http://schemas.openxmlformats.org/drawingml/2006/table">
            <a:tbl>
              <a:tblPr>
                <a:noFill/>
                <a:tableStyleId>{5389113A-0CCC-4827-B051-28423795929A}</a:tableStyleId>
              </a:tblPr>
              <a:tblGrid>
                <a:gridCol w="382850"/>
                <a:gridCol w="600350"/>
                <a:gridCol w="614250"/>
              </a:tblGrid>
              <a:tr h="3587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A</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B</a:t>
                      </a:r>
                      <a:endParaRPr sz="1400" u="none" cap="none" strike="noStrike">
                        <a:solidFill>
                          <a:schemeClr val="lt2"/>
                        </a:solidFill>
                      </a:endParaRPr>
                    </a:p>
                  </a:txBody>
                  <a:tcPr marT="91425" marB="91425" marR="91425" marL="91425"/>
                </a:tc>
              </a:tr>
              <a:tr h="4396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B</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accent3"/>
                          </a:solidFill>
                        </a:rPr>
                        <a:t>-11</a:t>
                      </a:r>
                      <a:endParaRPr sz="1400" u="none" cap="none" strike="noStrike">
                        <a:solidFill>
                          <a:schemeClr val="accent3"/>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accent3"/>
                        </a:solidFill>
                      </a:endParaRPr>
                    </a:p>
                  </a:txBody>
                  <a:tcPr marT="91425" marB="91425" marR="91425" marL="91425"/>
                </a:tc>
              </a:tr>
              <a:tr h="49495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lt2"/>
                          </a:solidFill>
                        </a:rPr>
                        <a:t>C</a:t>
                      </a:r>
                      <a:endParaRPr sz="1400" u="none" cap="none" strike="noStrike">
                        <a:solidFill>
                          <a:schemeClr val="lt2"/>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accent3"/>
                          </a:solidFill>
                        </a:rPr>
                        <a:t>-16</a:t>
                      </a:r>
                      <a:endParaRPr sz="1400" u="none" cap="none" strike="noStrike">
                        <a:solidFill>
                          <a:schemeClr val="accent3"/>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accent3"/>
                          </a:solidFill>
                        </a:rPr>
                        <a:t>-11</a:t>
                      </a:r>
                      <a:endParaRPr sz="1400" u="none" cap="none" strike="noStrike">
                        <a:solidFill>
                          <a:schemeClr val="accent3"/>
                        </a:solidFill>
                      </a:endParaRPr>
                    </a:p>
                  </a:txBody>
                  <a:tcPr marT="91425" marB="91425" marR="91425" marL="91425"/>
                </a:tc>
              </a:tr>
            </a:tbl>
          </a:graphicData>
        </a:graphic>
      </p:graphicFrame>
      <p:sp>
        <p:nvSpPr>
          <p:cNvPr id="141" name="Google Shape;141;p9"/>
          <p:cNvSpPr/>
          <p:nvPr/>
        </p:nvSpPr>
        <p:spPr>
          <a:xfrm>
            <a:off x="5627400" y="4063775"/>
            <a:ext cx="374700" cy="260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9"/>
          <p:cNvSpPr txBox="1"/>
          <p:nvPr/>
        </p:nvSpPr>
        <p:spPr>
          <a:xfrm>
            <a:off x="576225" y="4644950"/>
            <a:ext cx="1527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Calculate r</a:t>
            </a:r>
            <a:endParaRPr b="0" i="0" sz="1400" u="none" cap="none" strike="noStrike">
              <a:solidFill>
                <a:schemeClr val="accent3"/>
              </a:solidFill>
              <a:latin typeface="Average"/>
              <a:ea typeface="Average"/>
              <a:cs typeface="Average"/>
              <a:sym typeface="Average"/>
            </a:endParaRPr>
          </a:p>
        </p:txBody>
      </p:sp>
      <p:sp>
        <p:nvSpPr>
          <p:cNvPr id="143" name="Google Shape;143;p9"/>
          <p:cNvSpPr txBox="1"/>
          <p:nvPr/>
        </p:nvSpPr>
        <p:spPr>
          <a:xfrm>
            <a:off x="2781675" y="4644950"/>
            <a:ext cx="15276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Calculate M</a:t>
            </a:r>
            <a:endParaRPr b="0" i="0" sz="1400" u="none" cap="none" strike="noStrike">
              <a:solidFill>
                <a:schemeClr val="accent3"/>
              </a:solidFill>
              <a:latin typeface="Average"/>
              <a:ea typeface="Average"/>
              <a:cs typeface="Average"/>
              <a:sym typeface="Average"/>
            </a:endParaRPr>
          </a:p>
        </p:txBody>
      </p:sp>
      <p:sp>
        <p:nvSpPr>
          <p:cNvPr id="144" name="Google Shape;144;p9"/>
          <p:cNvSpPr txBox="1"/>
          <p:nvPr/>
        </p:nvSpPr>
        <p:spPr>
          <a:xfrm>
            <a:off x="5084500" y="4522825"/>
            <a:ext cx="23085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Identify minimal rate-corrected distance</a:t>
            </a:r>
            <a:endParaRPr b="0" i="0" sz="1400" u="none" cap="none" strike="noStrike">
              <a:solidFill>
                <a:schemeClr val="accent3"/>
              </a:solidFill>
              <a:latin typeface="Average"/>
              <a:ea typeface="Average"/>
              <a:cs typeface="Average"/>
              <a:sym typeface="Average"/>
            </a:endParaRPr>
          </a:p>
        </p:txBody>
      </p:sp>
      <p:cxnSp>
        <p:nvCxnSpPr>
          <p:cNvPr id="145" name="Google Shape;145;p9"/>
          <p:cNvCxnSpPr/>
          <p:nvPr/>
        </p:nvCxnSpPr>
        <p:spPr>
          <a:xfrm>
            <a:off x="6947850" y="3841525"/>
            <a:ext cx="374700" cy="3900"/>
          </a:xfrm>
          <a:prstGeom prst="straightConnector1">
            <a:avLst/>
          </a:prstGeom>
          <a:noFill/>
          <a:ln cap="flat" cmpd="sng" w="9525">
            <a:solidFill>
              <a:schemeClr val="dk2"/>
            </a:solidFill>
            <a:prstDash val="solid"/>
            <a:round/>
            <a:headEnd len="sm" w="sm" type="none"/>
            <a:tailEnd len="med" w="med" type="triangle"/>
          </a:ln>
        </p:spPr>
      </p:cxnSp>
      <p:sp>
        <p:nvSpPr>
          <p:cNvPr id="146" name="Google Shape;146;p9"/>
          <p:cNvSpPr txBox="1"/>
          <p:nvPr/>
        </p:nvSpPr>
        <p:spPr>
          <a:xfrm>
            <a:off x="6947850" y="2858125"/>
            <a:ext cx="2090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S</a:t>
            </a:r>
            <a:r>
              <a:rPr b="0" baseline="-25000" i="0" lang="en" sz="1400" u="none" cap="none" strike="noStrike">
                <a:solidFill>
                  <a:schemeClr val="accent3"/>
                </a:solidFill>
                <a:latin typeface="Average"/>
                <a:ea typeface="Average"/>
                <a:cs typeface="Average"/>
                <a:sym typeface="Average"/>
              </a:rPr>
              <a:t>AU</a:t>
            </a:r>
            <a:r>
              <a:rPr b="0" i="0" lang="en" sz="1400" u="none" cap="none" strike="noStrike">
                <a:solidFill>
                  <a:schemeClr val="accent3"/>
                </a:solidFill>
                <a:latin typeface="Average"/>
                <a:ea typeface="Average"/>
                <a:cs typeface="Average"/>
                <a:sym typeface="Average"/>
              </a:rPr>
              <a:t>=4/2 +(9-11)/2(4)~1.75 </a:t>
            </a:r>
            <a:endParaRPr b="0" i="0" sz="1400" u="none" cap="none" strike="noStrike">
              <a:solidFill>
                <a:schemeClr val="accent3"/>
              </a:solidFill>
              <a:latin typeface="Average"/>
              <a:ea typeface="Average"/>
              <a:cs typeface="Average"/>
              <a:sym typeface="Average"/>
            </a:endParaRPr>
          </a:p>
        </p:txBody>
      </p:sp>
      <p:sp>
        <p:nvSpPr>
          <p:cNvPr id="147" name="Google Shape;147;p9"/>
          <p:cNvSpPr txBox="1"/>
          <p:nvPr/>
        </p:nvSpPr>
        <p:spPr>
          <a:xfrm>
            <a:off x="6969900" y="3316075"/>
            <a:ext cx="2090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S</a:t>
            </a:r>
            <a:r>
              <a:rPr b="0" baseline="-25000" i="0" lang="en" sz="1400" u="none" cap="none" strike="noStrike">
                <a:solidFill>
                  <a:schemeClr val="accent3"/>
                </a:solidFill>
                <a:latin typeface="Average"/>
                <a:ea typeface="Average"/>
                <a:cs typeface="Average"/>
                <a:sym typeface="Average"/>
              </a:rPr>
              <a:t>CU</a:t>
            </a:r>
            <a:r>
              <a:rPr b="0" i="0" lang="en" sz="1400" u="none" cap="none" strike="noStrike">
                <a:solidFill>
                  <a:schemeClr val="accent3"/>
                </a:solidFill>
                <a:latin typeface="Average"/>
                <a:ea typeface="Average"/>
                <a:cs typeface="Average"/>
                <a:sym typeface="Average"/>
              </a:rPr>
              <a:t>=4/2 -1.75=.25 </a:t>
            </a:r>
            <a:endParaRPr b="0" i="0" sz="1400" u="none" cap="none" strike="noStrike">
              <a:solidFill>
                <a:schemeClr val="accent3"/>
              </a:solidFill>
              <a:latin typeface="Average"/>
              <a:ea typeface="Average"/>
              <a:cs typeface="Average"/>
              <a:sym typeface="Average"/>
            </a:endParaRPr>
          </a:p>
        </p:txBody>
      </p:sp>
      <p:sp>
        <p:nvSpPr>
          <p:cNvPr id="148" name="Google Shape;148;p9"/>
          <p:cNvSpPr txBox="1"/>
          <p:nvPr/>
        </p:nvSpPr>
        <p:spPr>
          <a:xfrm>
            <a:off x="6969900" y="3984025"/>
            <a:ext cx="2090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S</a:t>
            </a:r>
            <a:r>
              <a:rPr b="0" baseline="-25000" i="0" lang="en" sz="1400" u="none" cap="none" strike="noStrike">
                <a:solidFill>
                  <a:schemeClr val="accent3"/>
                </a:solidFill>
                <a:latin typeface="Average"/>
                <a:ea typeface="Average"/>
                <a:cs typeface="Average"/>
                <a:sym typeface="Average"/>
              </a:rPr>
              <a:t>BU</a:t>
            </a:r>
            <a:r>
              <a:rPr b="0" i="0" lang="en" sz="1400" u="none" cap="none" strike="noStrike">
                <a:solidFill>
                  <a:schemeClr val="accent3"/>
                </a:solidFill>
                <a:latin typeface="Average"/>
                <a:ea typeface="Average"/>
                <a:cs typeface="Average"/>
                <a:sym typeface="Average"/>
              </a:rPr>
              <a:t>=4/2 -1.75=.25 </a:t>
            </a:r>
            <a:endParaRPr b="0" i="0" sz="1400" u="none" cap="none" strike="noStrike">
              <a:solidFill>
                <a:schemeClr val="accent3"/>
              </a:solidFill>
              <a:latin typeface="Average"/>
              <a:ea typeface="Average"/>
              <a:cs typeface="Average"/>
              <a:sym typeface="Average"/>
            </a:endParaRPr>
          </a:p>
        </p:txBody>
      </p:sp>
      <p:sp>
        <p:nvSpPr>
          <p:cNvPr id="149" name="Google Shape;149;p9"/>
          <p:cNvSpPr/>
          <p:nvPr/>
        </p:nvSpPr>
        <p:spPr>
          <a:xfrm>
            <a:off x="348100" y="2993800"/>
            <a:ext cx="8690400" cy="2015100"/>
          </a:xfrm>
          <a:prstGeom prst="rect">
            <a:avLst/>
          </a:prstGeom>
          <a:solidFill>
            <a:srgbClr val="37474F"/>
          </a:solidFill>
          <a:ln cap="flat" cmpd="sng" w="9525">
            <a:solidFill>
              <a:srgbClr val="3747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9"/>
          <p:cNvSpPr txBox="1"/>
          <p:nvPr>
            <p:ph idx="1" type="body"/>
          </p:nvPr>
        </p:nvSpPr>
        <p:spPr>
          <a:xfrm>
            <a:off x="311700" y="1250450"/>
            <a:ext cx="8520600" cy="3758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A heuristic method for constructing the minimum evolution tree, which says the best tree is the one that minimizes the length of the tree. It does this by:</a:t>
            </a:r>
            <a:endParaRPr/>
          </a:p>
          <a:p>
            <a:pPr indent="-317500" lvl="1" marL="914400" rtl="0" algn="l">
              <a:lnSpc>
                <a:spcPct val="115000"/>
              </a:lnSpc>
              <a:spcBef>
                <a:spcPts val="0"/>
              </a:spcBef>
              <a:spcAft>
                <a:spcPts val="0"/>
              </a:spcAft>
              <a:buSzPts val="1400"/>
              <a:buChar char="○"/>
            </a:pPr>
            <a:r>
              <a:rPr lang="en"/>
              <a:t>Computing the net divergence for every endnode (r= d</a:t>
            </a:r>
            <a:r>
              <a:rPr baseline="-25000" lang="en"/>
              <a:t>AB</a:t>
            </a:r>
            <a:r>
              <a:rPr lang="en"/>
              <a:t>+ d</a:t>
            </a:r>
            <a:r>
              <a:rPr baseline="-25000" lang="en"/>
              <a:t>AC</a:t>
            </a:r>
            <a:r>
              <a:rPr lang="en"/>
              <a:t>)</a:t>
            </a:r>
            <a:endParaRPr/>
          </a:p>
          <a:p>
            <a:pPr indent="-317500" lvl="1" marL="914400" rtl="0" algn="l">
              <a:lnSpc>
                <a:spcPct val="115000"/>
              </a:lnSpc>
              <a:spcBef>
                <a:spcPts val="0"/>
              </a:spcBef>
              <a:spcAft>
                <a:spcPts val="0"/>
              </a:spcAft>
              <a:buSzPts val="1400"/>
              <a:buChar char="○"/>
            </a:pPr>
            <a:r>
              <a:rPr lang="en"/>
              <a:t>Create a rate-corrected distance matrix using the net divergence above (M= d</a:t>
            </a:r>
            <a:r>
              <a:rPr baseline="-25000" lang="en"/>
              <a:t>AB</a:t>
            </a:r>
            <a:r>
              <a:rPr lang="en"/>
              <a:t>- (r</a:t>
            </a:r>
            <a:r>
              <a:rPr baseline="-25000" lang="en"/>
              <a:t>A</a:t>
            </a:r>
            <a:r>
              <a:rPr lang="en"/>
              <a:t>+r</a:t>
            </a:r>
            <a:r>
              <a:rPr baseline="-25000" lang="en"/>
              <a:t>B</a:t>
            </a:r>
            <a:r>
              <a:rPr lang="en"/>
              <a:t>)/N-2)</a:t>
            </a:r>
            <a:endParaRPr/>
          </a:p>
          <a:p>
            <a:pPr indent="-317500" lvl="1" marL="914400" rtl="0" algn="l">
              <a:lnSpc>
                <a:spcPct val="115000"/>
              </a:lnSpc>
              <a:spcBef>
                <a:spcPts val="0"/>
              </a:spcBef>
              <a:spcAft>
                <a:spcPts val="0"/>
              </a:spcAft>
              <a:buSzPts val="1400"/>
              <a:buChar char="○"/>
            </a:pPr>
            <a:r>
              <a:rPr lang="en"/>
              <a:t>Create nodes for which the rate-corrected distance is minimal (S</a:t>
            </a:r>
            <a:r>
              <a:rPr baseline="-25000" lang="en"/>
              <a:t>AU</a:t>
            </a:r>
            <a:r>
              <a:rPr lang="en"/>
              <a:t>=d</a:t>
            </a:r>
            <a:r>
              <a:rPr baseline="-25000" lang="en"/>
              <a:t>AB</a:t>
            </a:r>
            <a:r>
              <a:rPr lang="en"/>
              <a:t>/2 +(r</a:t>
            </a:r>
            <a:r>
              <a:rPr baseline="-25000" lang="en"/>
              <a:t>A</a:t>
            </a:r>
            <a:r>
              <a:rPr lang="en"/>
              <a:t>-r</a:t>
            </a:r>
            <a:r>
              <a:rPr baseline="-25000" lang="en"/>
              <a:t>B</a:t>
            </a:r>
            <a:r>
              <a:rPr lang="en"/>
              <a:t>)/2(N-2))</a:t>
            </a:r>
            <a:endParaRPr/>
          </a:p>
          <a:p>
            <a:pPr indent="-317500" lvl="1" marL="914400" rtl="0" algn="l">
              <a:lnSpc>
                <a:spcPct val="115000"/>
              </a:lnSpc>
              <a:spcBef>
                <a:spcPts val="0"/>
              </a:spcBef>
              <a:spcAft>
                <a:spcPts val="0"/>
              </a:spcAft>
              <a:buSzPts val="1400"/>
              <a:buChar char="○"/>
            </a:pPr>
            <a:r>
              <a:rPr lang="en"/>
              <a:t>Compute the branch lengths for those nodes</a:t>
            </a:r>
            <a:endParaRPr/>
          </a:p>
          <a:p>
            <a:pPr indent="-317500" lvl="1" marL="914400" rtl="0" algn="l">
              <a:lnSpc>
                <a:spcPct val="115000"/>
              </a:lnSpc>
              <a:spcBef>
                <a:spcPts val="0"/>
              </a:spcBef>
              <a:spcAft>
                <a:spcPts val="0"/>
              </a:spcAft>
              <a:buSzPts val="1400"/>
              <a:buChar char="○"/>
            </a:pPr>
            <a:r>
              <a:rPr lang="en"/>
              <a:t>Repeat until N=2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Maximum Parsimony Method </a:t>
            </a:r>
            <a:endParaRPr/>
          </a:p>
        </p:txBody>
      </p:sp>
      <p:sp>
        <p:nvSpPr>
          <p:cNvPr id="156" name="Google Shape;156;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Constructs all possible trees (or possible placements on an existing tree) and looks for the tree which has the least number of substitutions or fewest evolutionary changes.</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157" name="Google Shape;157;p10"/>
          <p:cNvSpPr txBox="1"/>
          <p:nvPr/>
        </p:nvSpPr>
        <p:spPr>
          <a:xfrm>
            <a:off x="351900" y="2968900"/>
            <a:ext cx="18258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1   A A C T A</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2  A A C T C</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3  A G C C A </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4  A G G C C</a:t>
            </a:r>
            <a:endParaRPr b="0" i="0" sz="1400" u="none" cap="none" strike="noStrike">
              <a:solidFill>
                <a:schemeClr val="dk1"/>
              </a:solidFill>
              <a:latin typeface="Average"/>
              <a:ea typeface="Average"/>
              <a:cs typeface="Average"/>
              <a:sym typeface="Average"/>
            </a:endParaRPr>
          </a:p>
        </p:txBody>
      </p:sp>
      <p:sp>
        <p:nvSpPr>
          <p:cNvPr id="158" name="Google Shape;158;p10"/>
          <p:cNvSpPr txBox="1"/>
          <p:nvPr/>
        </p:nvSpPr>
        <p:spPr>
          <a:xfrm>
            <a:off x="444000" y="2457275"/>
            <a:ext cx="1825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MSA</a:t>
            </a:r>
            <a:endParaRPr b="0" i="0" sz="1400" u="none" cap="none" strike="noStrike">
              <a:solidFill>
                <a:schemeClr val="dk1"/>
              </a:solidFill>
              <a:latin typeface="Average"/>
              <a:ea typeface="Average"/>
              <a:cs typeface="Average"/>
              <a:sym typeface="Average"/>
            </a:endParaRPr>
          </a:p>
        </p:txBody>
      </p:sp>
      <p:cxnSp>
        <p:nvCxnSpPr>
          <p:cNvPr id="159" name="Google Shape;159;p10"/>
          <p:cNvCxnSpPr/>
          <p:nvPr/>
        </p:nvCxnSpPr>
        <p:spPr>
          <a:xfrm>
            <a:off x="2177700" y="3487300"/>
            <a:ext cx="494700" cy="3300"/>
          </a:xfrm>
          <a:prstGeom prst="straightConnector1">
            <a:avLst/>
          </a:prstGeom>
          <a:noFill/>
          <a:ln cap="flat" cmpd="sng" w="9525">
            <a:solidFill>
              <a:schemeClr val="dk2"/>
            </a:solidFill>
            <a:prstDash val="solid"/>
            <a:round/>
            <a:headEnd len="sm" w="sm" type="none"/>
            <a:tailEnd len="med" w="med" type="triangle"/>
          </a:ln>
        </p:spPr>
      </p:cxnSp>
      <p:sp>
        <p:nvSpPr>
          <p:cNvPr id="160" name="Google Shape;160;p10"/>
          <p:cNvSpPr txBox="1"/>
          <p:nvPr/>
        </p:nvSpPr>
        <p:spPr>
          <a:xfrm>
            <a:off x="2744325" y="3060775"/>
            <a:ext cx="20952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1   A A C T A</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2  A A C T C</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3  A G C C A </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4  A G G C C</a:t>
            </a:r>
            <a:endParaRPr b="0" i="0" sz="1400" u="none" cap="none" strike="noStrike">
              <a:solidFill>
                <a:schemeClr val="dk1"/>
              </a:solidFill>
              <a:latin typeface="Average"/>
              <a:ea typeface="Average"/>
              <a:cs typeface="Average"/>
              <a:sym typeface="Average"/>
            </a:endParaRPr>
          </a:p>
        </p:txBody>
      </p:sp>
      <p:sp>
        <p:nvSpPr>
          <p:cNvPr id="161" name="Google Shape;161;p10"/>
          <p:cNvSpPr txBox="1"/>
          <p:nvPr/>
        </p:nvSpPr>
        <p:spPr>
          <a:xfrm>
            <a:off x="2744325" y="2457275"/>
            <a:ext cx="2095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Identify Informative Sites</a:t>
            </a:r>
            <a:endParaRPr b="0" i="0" sz="1400" u="none" cap="none" strike="noStrike">
              <a:solidFill>
                <a:schemeClr val="dk1"/>
              </a:solidFill>
              <a:latin typeface="Average"/>
              <a:ea typeface="Average"/>
              <a:cs typeface="Average"/>
              <a:sym typeface="Average"/>
            </a:endParaRPr>
          </a:p>
        </p:txBody>
      </p:sp>
      <p:sp>
        <p:nvSpPr>
          <p:cNvPr id="162" name="Google Shape;162;p10"/>
          <p:cNvSpPr/>
          <p:nvPr/>
        </p:nvSpPr>
        <p:spPr>
          <a:xfrm>
            <a:off x="3793788" y="3175675"/>
            <a:ext cx="130500" cy="816900"/>
          </a:xfrm>
          <a:prstGeom prst="rect">
            <a:avLst/>
          </a:prstGeom>
          <a:noFill/>
          <a:ln cap="flat" cmpd="sng" w="2857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63" name="Google Shape;163;p10"/>
          <p:cNvSpPr/>
          <p:nvPr/>
        </p:nvSpPr>
        <p:spPr>
          <a:xfrm>
            <a:off x="4279738" y="3175675"/>
            <a:ext cx="130500" cy="816900"/>
          </a:xfrm>
          <a:prstGeom prst="rect">
            <a:avLst/>
          </a:prstGeom>
          <a:noFill/>
          <a:ln cap="flat" cmpd="sng" w="2857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64" name="Google Shape;164;p10"/>
          <p:cNvSpPr/>
          <p:nvPr/>
        </p:nvSpPr>
        <p:spPr>
          <a:xfrm>
            <a:off x="4124475" y="3175675"/>
            <a:ext cx="130500" cy="816900"/>
          </a:xfrm>
          <a:prstGeom prst="rect">
            <a:avLst/>
          </a:prstGeom>
          <a:noFill/>
          <a:ln cap="flat" cmpd="sng" w="2857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65" name="Google Shape;165;p10"/>
          <p:cNvSpPr txBox="1"/>
          <p:nvPr/>
        </p:nvSpPr>
        <p:spPr>
          <a:xfrm>
            <a:off x="5612325" y="2241875"/>
            <a:ext cx="2717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Count the # of changes to find the most parsimonious tree</a:t>
            </a:r>
            <a:endParaRPr b="0" i="0" sz="1400" u="none" cap="none" strike="noStrike">
              <a:solidFill>
                <a:schemeClr val="dk1"/>
              </a:solidFill>
              <a:latin typeface="Average"/>
              <a:ea typeface="Average"/>
              <a:cs typeface="Average"/>
              <a:sym typeface="Average"/>
            </a:endParaRPr>
          </a:p>
        </p:txBody>
      </p:sp>
      <p:cxnSp>
        <p:nvCxnSpPr>
          <p:cNvPr id="166" name="Google Shape;166;p10"/>
          <p:cNvCxnSpPr/>
          <p:nvPr/>
        </p:nvCxnSpPr>
        <p:spPr>
          <a:xfrm>
            <a:off x="4765675" y="3487300"/>
            <a:ext cx="494700" cy="3300"/>
          </a:xfrm>
          <a:prstGeom prst="straightConnector1">
            <a:avLst/>
          </a:prstGeom>
          <a:noFill/>
          <a:ln cap="flat" cmpd="sng" w="9525">
            <a:solidFill>
              <a:schemeClr val="dk2"/>
            </a:solidFill>
            <a:prstDash val="solid"/>
            <a:round/>
            <a:headEnd len="sm" w="sm" type="none"/>
            <a:tailEnd len="med" w="med" type="triangle"/>
          </a:ln>
        </p:spPr>
      </p:cxnSp>
      <p:pic>
        <p:nvPicPr>
          <p:cNvPr id="167" name="Google Shape;167;p10"/>
          <p:cNvPicPr preferRelativeResize="0"/>
          <p:nvPr/>
        </p:nvPicPr>
        <p:blipFill rotWithShape="1">
          <a:blip r:embed="rId3">
            <a:alphaModFix/>
          </a:blip>
          <a:srcRect b="0" l="0" r="0" t="0"/>
          <a:stretch/>
        </p:blipFill>
        <p:spPr>
          <a:xfrm>
            <a:off x="5540400" y="3060775"/>
            <a:ext cx="2538650" cy="6511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Maximum Parsimony Example</a:t>
            </a:r>
            <a:endParaRPr/>
          </a:p>
        </p:txBody>
      </p:sp>
      <p:sp>
        <p:nvSpPr>
          <p:cNvPr id="173" name="Google Shape;173;p11"/>
          <p:cNvSpPr txBox="1"/>
          <p:nvPr/>
        </p:nvSpPr>
        <p:spPr>
          <a:xfrm>
            <a:off x="108600" y="1680150"/>
            <a:ext cx="20232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1   A A C T A</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2  A A C T C</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3  A G C C A </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4  A G G C C</a:t>
            </a:r>
            <a:endParaRPr b="0" i="0" sz="1400" u="none" cap="none" strike="noStrike">
              <a:solidFill>
                <a:schemeClr val="dk1"/>
              </a:solidFill>
              <a:latin typeface="Average"/>
              <a:ea typeface="Average"/>
              <a:cs typeface="Average"/>
              <a:sym typeface="Average"/>
            </a:endParaRPr>
          </a:p>
        </p:txBody>
      </p:sp>
      <p:sp>
        <p:nvSpPr>
          <p:cNvPr id="174" name="Google Shape;174;p11"/>
          <p:cNvSpPr txBox="1"/>
          <p:nvPr/>
        </p:nvSpPr>
        <p:spPr>
          <a:xfrm>
            <a:off x="397950" y="1264425"/>
            <a:ext cx="1825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MSA</a:t>
            </a:r>
            <a:endParaRPr b="0" i="0" sz="1400" u="none" cap="none" strike="noStrike">
              <a:solidFill>
                <a:schemeClr val="dk1"/>
              </a:solidFill>
              <a:latin typeface="Average"/>
              <a:ea typeface="Average"/>
              <a:cs typeface="Average"/>
              <a:sym typeface="Average"/>
            </a:endParaRPr>
          </a:p>
        </p:txBody>
      </p:sp>
      <p:cxnSp>
        <p:nvCxnSpPr>
          <p:cNvPr id="175" name="Google Shape;175;p11"/>
          <p:cNvCxnSpPr/>
          <p:nvPr/>
        </p:nvCxnSpPr>
        <p:spPr>
          <a:xfrm>
            <a:off x="2085650" y="2091150"/>
            <a:ext cx="494700" cy="3300"/>
          </a:xfrm>
          <a:prstGeom prst="straightConnector1">
            <a:avLst/>
          </a:prstGeom>
          <a:noFill/>
          <a:ln cap="flat" cmpd="sng" w="9525">
            <a:solidFill>
              <a:schemeClr val="dk2"/>
            </a:solidFill>
            <a:prstDash val="solid"/>
            <a:round/>
            <a:headEnd len="sm" w="sm" type="none"/>
            <a:tailEnd len="med" w="med" type="triangle"/>
          </a:ln>
        </p:spPr>
      </p:cxnSp>
      <p:sp>
        <p:nvSpPr>
          <p:cNvPr id="176" name="Google Shape;176;p11"/>
          <p:cNvSpPr txBox="1"/>
          <p:nvPr/>
        </p:nvSpPr>
        <p:spPr>
          <a:xfrm>
            <a:off x="2725150" y="1664613"/>
            <a:ext cx="20952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1   A A C T A</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2  A A C T C</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3  A G C C A </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4  A G G C C</a:t>
            </a:r>
            <a:endParaRPr b="0" i="0" sz="1400" u="none" cap="none" strike="noStrike">
              <a:solidFill>
                <a:schemeClr val="dk1"/>
              </a:solidFill>
              <a:latin typeface="Average"/>
              <a:ea typeface="Average"/>
              <a:cs typeface="Average"/>
              <a:sym typeface="Average"/>
            </a:endParaRPr>
          </a:p>
        </p:txBody>
      </p:sp>
      <p:sp>
        <p:nvSpPr>
          <p:cNvPr id="177" name="Google Shape;177;p11"/>
          <p:cNvSpPr txBox="1"/>
          <p:nvPr/>
        </p:nvSpPr>
        <p:spPr>
          <a:xfrm>
            <a:off x="2672400" y="1310450"/>
            <a:ext cx="2095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Identify Informative Sites</a:t>
            </a:r>
            <a:endParaRPr b="0" i="0" sz="1400" u="none" cap="none" strike="noStrike">
              <a:solidFill>
                <a:schemeClr val="dk1"/>
              </a:solidFill>
              <a:latin typeface="Average"/>
              <a:ea typeface="Average"/>
              <a:cs typeface="Average"/>
              <a:sym typeface="Average"/>
            </a:endParaRPr>
          </a:p>
        </p:txBody>
      </p:sp>
      <p:sp>
        <p:nvSpPr>
          <p:cNvPr id="178" name="Google Shape;178;p11"/>
          <p:cNvSpPr/>
          <p:nvPr/>
        </p:nvSpPr>
        <p:spPr>
          <a:xfrm>
            <a:off x="3777125" y="1779525"/>
            <a:ext cx="130500" cy="816900"/>
          </a:xfrm>
          <a:prstGeom prst="rect">
            <a:avLst/>
          </a:prstGeom>
          <a:noFill/>
          <a:ln cap="flat" cmpd="sng" w="2857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79" name="Google Shape;179;p11"/>
          <p:cNvSpPr/>
          <p:nvPr/>
        </p:nvSpPr>
        <p:spPr>
          <a:xfrm>
            <a:off x="4109775" y="1779525"/>
            <a:ext cx="130500" cy="816900"/>
          </a:xfrm>
          <a:prstGeom prst="rect">
            <a:avLst/>
          </a:prstGeom>
          <a:noFill/>
          <a:ln cap="flat" cmpd="sng" w="2857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80" name="Google Shape;180;p11"/>
          <p:cNvSpPr/>
          <p:nvPr/>
        </p:nvSpPr>
        <p:spPr>
          <a:xfrm>
            <a:off x="4289050" y="1779525"/>
            <a:ext cx="130500" cy="816900"/>
          </a:xfrm>
          <a:prstGeom prst="rect">
            <a:avLst/>
          </a:prstGeom>
          <a:noFill/>
          <a:ln cap="flat" cmpd="sng" w="2857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181" name="Google Shape;181;p11"/>
          <p:cNvSpPr txBox="1"/>
          <p:nvPr/>
        </p:nvSpPr>
        <p:spPr>
          <a:xfrm>
            <a:off x="5566300" y="1141375"/>
            <a:ext cx="2717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Count the # of changes to find the most parsimonious tree</a:t>
            </a:r>
            <a:endParaRPr b="0" i="0" sz="1400" u="none" cap="none" strike="noStrike">
              <a:solidFill>
                <a:schemeClr val="dk1"/>
              </a:solidFill>
              <a:latin typeface="Average"/>
              <a:ea typeface="Average"/>
              <a:cs typeface="Average"/>
              <a:sym typeface="Average"/>
            </a:endParaRPr>
          </a:p>
        </p:txBody>
      </p:sp>
      <p:cxnSp>
        <p:nvCxnSpPr>
          <p:cNvPr id="182" name="Google Shape;182;p11"/>
          <p:cNvCxnSpPr/>
          <p:nvPr/>
        </p:nvCxnSpPr>
        <p:spPr>
          <a:xfrm>
            <a:off x="4857725" y="2091150"/>
            <a:ext cx="494700" cy="3300"/>
          </a:xfrm>
          <a:prstGeom prst="straightConnector1">
            <a:avLst/>
          </a:prstGeom>
          <a:noFill/>
          <a:ln cap="flat" cmpd="sng" w="9525">
            <a:solidFill>
              <a:schemeClr val="dk2"/>
            </a:solidFill>
            <a:prstDash val="solid"/>
            <a:round/>
            <a:headEnd len="sm" w="sm" type="none"/>
            <a:tailEnd len="med" w="med" type="triangle"/>
          </a:ln>
        </p:spPr>
      </p:cxnSp>
      <p:graphicFrame>
        <p:nvGraphicFramePr>
          <p:cNvPr id="183" name="Google Shape;183;p11"/>
          <p:cNvGraphicFramePr/>
          <p:nvPr/>
        </p:nvGraphicFramePr>
        <p:xfrm>
          <a:off x="995725" y="3291625"/>
          <a:ext cx="3000000" cy="3000000"/>
        </p:xfrm>
        <a:graphic>
          <a:graphicData uri="http://schemas.openxmlformats.org/drawingml/2006/table">
            <a:tbl>
              <a:tblPr>
                <a:noFill/>
                <a:tableStyleId>{5389113A-0CCC-4827-B051-28423795929A}</a:tableStyleId>
              </a:tblPr>
              <a:tblGrid>
                <a:gridCol w="1447800"/>
                <a:gridCol w="1447800"/>
                <a:gridCol w="1447800"/>
                <a:gridCol w="1447800"/>
                <a:gridCol w="144780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Position 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Position 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Position 5</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Total Changes</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Tree 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Tree 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Tree 3</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r>
            </a:tbl>
          </a:graphicData>
        </a:graphic>
      </p:graphicFrame>
      <p:cxnSp>
        <p:nvCxnSpPr>
          <p:cNvPr id="184" name="Google Shape;184;p11"/>
          <p:cNvCxnSpPr/>
          <p:nvPr/>
        </p:nvCxnSpPr>
        <p:spPr>
          <a:xfrm>
            <a:off x="5718225" y="1952025"/>
            <a:ext cx="324300" cy="405300"/>
          </a:xfrm>
          <a:prstGeom prst="straightConnector1">
            <a:avLst/>
          </a:prstGeom>
          <a:noFill/>
          <a:ln cap="flat" cmpd="sng" w="9525">
            <a:solidFill>
              <a:schemeClr val="dk2"/>
            </a:solidFill>
            <a:prstDash val="solid"/>
            <a:round/>
            <a:headEnd len="sm" w="sm" type="none"/>
            <a:tailEnd len="sm" w="sm" type="none"/>
          </a:ln>
        </p:spPr>
      </p:cxnSp>
      <p:cxnSp>
        <p:nvCxnSpPr>
          <p:cNvPr id="185" name="Google Shape;185;p11"/>
          <p:cNvCxnSpPr/>
          <p:nvPr/>
        </p:nvCxnSpPr>
        <p:spPr>
          <a:xfrm flipH="1">
            <a:off x="5820700" y="1962825"/>
            <a:ext cx="108300" cy="108600"/>
          </a:xfrm>
          <a:prstGeom prst="straightConnector1">
            <a:avLst/>
          </a:prstGeom>
          <a:noFill/>
          <a:ln cap="flat" cmpd="sng" w="9525">
            <a:solidFill>
              <a:schemeClr val="dk2"/>
            </a:solidFill>
            <a:prstDash val="solid"/>
            <a:round/>
            <a:headEnd len="sm" w="sm" type="none"/>
            <a:tailEnd len="sm" w="sm" type="none"/>
          </a:ln>
        </p:spPr>
      </p:cxnSp>
      <p:cxnSp>
        <p:nvCxnSpPr>
          <p:cNvPr id="186" name="Google Shape;186;p11"/>
          <p:cNvCxnSpPr/>
          <p:nvPr/>
        </p:nvCxnSpPr>
        <p:spPr>
          <a:xfrm flipH="1">
            <a:off x="5928875" y="1962825"/>
            <a:ext cx="221700" cy="234000"/>
          </a:xfrm>
          <a:prstGeom prst="straightConnector1">
            <a:avLst/>
          </a:prstGeom>
          <a:noFill/>
          <a:ln cap="flat" cmpd="sng" w="9525">
            <a:solidFill>
              <a:schemeClr val="dk2"/>
            </a:solidFill>
            <a:prstDash val="solid"/>
            <a:round/>
            <a:headEnd len="sm" w="sm" type="none"/>
            <a:tailEnd len="sm" w="sm" type="none"/>
          </a:ln>
        </p:spPr>
      </p:cxnSp>
      <p:cxnSp>
        <p:nvCxnSpPr>
          <p:cNvPr id="187" name="Google Shape;187;p11"/>
          <p:cNvCxnSpPr/>
          <p:nvPr/>
        </p:nvCxnSpPr>
        <p:spPr>
          <a:xfrm flipH="1">
            <a:off x="6042475" y="1952025"/>
            <a:ext cx="383700" cy="405300"/>
          </a:xfrm>
          <a:prstGeom prst="straightConnector1">
            <a:avLst/>
          </a:prstGeom>
          <a:noFill/>
          <a:ln cap="flat" cmpd="sng" w="9525">
            <a:solidFill>
              <a:schemeClr val="dk2"/>
            </a:solidFill>
            <a:prstDash val="solid"/>
            <a:round/>
            <a:headEnd len="sm" w="sm" type="none"/>
            <a:tailEnd len="sm" w="sm" type="none"/>
          </a:ln>
        </p:spPr>
      </p:cxnSp>
      <p:cxnSp>
        <p:nvCxnSpPr>
          <p:cNvPr id="188" name="Google Shape;188;p11"/>
          <p:cNvCxnSpPr/>
          <p:nvPr/>
        </p:nvCxnSpPr>
        <p:spPr>
          <a:xfrm>
            <a:off x="6756925" y="1952025"/>
            <a:ext cx="324300" cy="405300"/>
          </a:xfrm>
          <a:prstGeom prst="straightConnector1">
            <a:avLst/>
          </a:prstGeom>
          <a:noFill/>
          <a:ln cap="flat" cmpd="sng" w="9525">
            <a:solidFill>
              <a:schemeClr val="dk2"/>
            </a:solidFill>
            <a:prstDash val="solid"/>
            <a:round/>
            <a:headEnd len="sm" w="sm" type="none"/>
            <a:tailEnd len="sm" w="sm" type="none"/>
          </a:ln>
        </p:spPr>
      </p:cxnSp>
      <p:cxnSp>
        <p:nvCxnSpPr>
          <p:cNvPr id="189" name="Google Shape;189;p11"/>
          <p:cNvCxnSpPr/>
          <p:nvPr/>
        </p:nvCxnSpPr>
        <p:spPr>
          <a:xfrm flipH="1">
            <a:off x="6859400" y="1962825"/>
            <a:ext cx="108300" cy="108600"/>
          </a:xfrm>
          <a:prstGeom prst="straightConnector1">
            <a:avLst/>
          </a:prstGeom>
          <a:noFill/>
          <a:ln cap="flat" cmpd="sng" w="9525">
            <a:solidFill>
              <a:schemeClr val="dk2"/>
            </a:solidFill>
            <a:prstDash val="solid"/>
            <a:round/>
            <a:headEnd len="sm" w="sm" type="none"/>
            <a:tailEnd len="sm" w="sm" type="none"/>
          </a:ln>
        </p:spPr>
      </p:cxnSp>
      <p:cxnSp>
        <p:nvCxnSpPr>
          <p:cNvPr id="190" name="Google Shape;190;p11"/>
          <p:cNvCxnSpPr/>
          <p:nvPr/>
        </p:nvCxnSpPr>
        <p:spPr>
          <a:xfrm flipH="1">
            <a:off x="6967575" y="1962825"/>
            <a:ext cx="221700" cy="234000"/>
          </a:xfrm>
          <a:prstGeom prst="straightConnector1">
            <a:avLst/>
          </a:prstGeom>
          <a:noFill/>
          <a:ln cap="flat" cmpd="sng" w="9525">
            <a:solidFill>
              <a:schemeClr val="dk2"/>
            </a:solidFill>
            <a:prstDash val="solid"/>
            <a:round/>
            <a:headEnd len="sm" w="sm" type="none"/>
            <a:tailEnd len="sm" w="sm" type="none"/>
          </a:ln>
        </p:spPr>
      </p:cxnSp>
      <p:cxnSp>
        <p:nvCxnSpPr>
          <p:cNvPr id="191" name="Google Shape;191;p11"/>
          <p:cNvCxnSpPr/>
          <p:nvPr/>
        </p:nvCxnSpPr>
        <p:spPr>
          <a:xfrm flipH="1">
            <a:off x="7081175" y="1952025"/>
            <a:ext cx="383700" cy="405300"/>
          </a:xfrm>
          <a:prstGeom prst="straightConnector1">
            <a:avLst/>
          </a:prstGeom>
          <a:noFill/>
          <a:ln cap="flat" cmpd="sng" w="9525">
            <a:solidFill>
              <a:schemeClr val="dk2"/>
            </a:solidFill>
            <a:prstDash val="solid"/>
            <a:round/>
            <a:headEnd len="sm" w="sm" type="none"/>
            <a:tailEnd len="sm" w="sm" type="none"/>
          </a:ln>
        </p:spPr>
      </p:cxnSp>
      <p:cxnSp>
        <p:nvCxnSpPr>
          <p:cNvPr id="192" name="Google Shape;192;p11"/>
          <p:cNvCxnSpPr/>
          <p:nvPr/>
        </p:nvCxnSpPr>
        <p:spPr>
          <a:xfrm>
            <a:off x="7687575" y="1952025"/>
            <a:ext cx="324300" cy="405300"/>
          </a:xfrm>
          <a:prstGeom prst="straightConnector1">
            <a:avLst/>
          </a:prstGeom>
          <a:noFill/>
          <a:ln cap="flat" cmpd="sng" w="9525">
            <a:solidFill>
              <a:schemeClr val="dk2"/>
            </a:solidFill>
            <a:prstDash val="solid"/>
            <a:round/>
            <a:headEnd len="sm" w="sm" type="none"/>
            <a:tailEnd len="sm" w="sm" type="none"/>
          </a:ln>
        </p:spPr>
      </p:cxnSp>
      <p:cxnSp>
        <p:nvCxnSpPr>
          <p:cNvPr id="193" name="Google Shape;193;p11"/>
          <p:cNvCxnSpPr/>
          <p:nvPr/>
        </p:nvCxnSpPr>
        <p:spPr>
          <a:xfrm>
            <a:off x="7898350" y="1962825"/>
            <a:ext cx="116700" cy="145800"/>
          </a:xfrm>
          <a:prstGeom prst="straightConnector1">
            <a:avLst/>
          </a:prstGeom>
          <a:noFill/>
          <a:ln cap="flat" cmpd="sng" w="9525">
            <a:solidFill>
              <a:schemeClr val="dk2"/>
            </a:solidFill>
            <a:prstDash val="solid"/>
            <a:round/>
            <a:headEnd len="sm" w="sm" type="none"/>
            <a:tailEnd len="sm" w="sm" type="none"/>
          </a:ln>
        </p:spPr>
      </p:cxnSp>
      <p:cxnSp>
        <p:nvCxnSpPr>
          <p:cNvPr id="194" name="Google Shape;194;p11"/>
          <p:cNvCxnSpPr/>
          <p:nvPr/>
        </p:nvCxnSpPr>
        <p:spPr>
          <a:xfrm flipH="1">
            <a:off x="7909150" y="1962825"/>
            <a:ext cx="221700" cy="234000"/>
          </a:xfrm>
          <a:prstGeom prst="straightConnector1">
            <a:avLst/>
          </a:prstGeom>
          <a:noFill/>
          <a:ln cap="flat" cmpd="sng" w="9525">
            <a:solidFill>
              <a:schemeClr val="dk2"/>
            </a:solidFill>
            <a:prstDash val="solid"/>
            <a:round/>
            <a:headEnd len="sm" w="sm" type="none"/>
            <a:tailEnd len="sm" w="sm" type="none"/>
          </a:ln>
        </p:spPr>
      </p:cxnSp>
      <p:cxnSp>
        <p:nvCxnSpPr>
          <p:cNvPr id="195" name="Google Shape;195;p11"/>
          <p:cNvCxnSpPr/>
          <p:nvPr/>
        </p:nvCxnSpPr>
        <p:spPr>
          <a:xfrm flipH="1">
            <a:off x="8011825" y="1952025"/>
            <a:ext cx="383700" cy="405300"/>
          </a:xfrm>
          <a:prstGeom prst="straightConnector1">
            <a:avLst/>
          </a:prstGeom>
          <a:noFill/>
          <a:ln cap="flat" cmpd="sng" w="9525">
            <a:solidFill>
              <a:schemeClr val="dk2"/>
            </a:solidFill>
            <a:prstDash val="solid"/>
            <a:round/>
            <a:headEnd len="sm" w="sm" type="none"/>
            <a:tailEnd len="sm" w="sm" type="none"/>
          </a:ln>
        </p:spPr>
      </p:cxnSp>
      <p:sp>
        <p:nvSpPr>
          <p:cNvPr id="196" name="Google Shape;196;p11"/>
          <p:cNvSpPr txBox="1"/>
          <p:nvPr/>
        </p:nvSpPr>
        <p:spPr>
          <a:xfrm>
            <a:off x="5583325"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1</a:t>
            </a:r>
            <a:endParaRPr b="0" i="0" sz="1400" u="none" cap="none" strike="noStrike">
              <a:solidFill>
                <a:schemeClr val="dk1"/>
              </a:solidFill>
              <a:latin typeface="Average"/>
              <a:ea typeface="Average"/>
              <a:cs typeface="Average"/>
              <a:sym typeface="Average"/>
            </a:endParaRPr>
          </a:p>
        </p:txBody>
      </p:sp>
      <p:sp>
        <p:nvSpPr>
          <p:cNvPr id="197" name="Google Shape;197;p11"/>
          <p:cNvSpPr txBox="1"/>
          <p:nvPr/>
        </p:nvSpPr>
        <p:spPr>
          <a:xfrm>
            <a:off x="6632175"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1</a:t>
            </a:r>
            <a:endParaRPr b="0" i="0" sz="1400" u="none" cap="none" strike="noStrike">
              <a:solidFill>
                <a:schemeClr val="dk1"/>
              </a:solidFill>
              <a:latin typeface="Average"/>
              <a:ea typeface="Average"/>
              <a:cs typeface="Average"/>
              <a:sym typeface="Average"/>
            </a:endParaRPr>
          </a:p>
        </p:txBody>
      </p:sp>
      <p:sp>
        <p:nvSpPr>
          <p:cNvPr id="198" name="Google Shape;198;p11"/>
          <p:cNvSpPr txBox="1"/>
          <p:nvPr/>
        </p:nvSpPr>
        <p:spPr>
          <a:xfrm>
            <a:off x="7578350"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1</a:t>
            </a:r>
            <a:endParaRPr b="0" i="0" sz="1400" u="none" cap="none" strike="noStrike">
              <a:solidFill>
                <a:schemeClr val="dk1"/>
              </a:solidFill>
              <a:latin typeface="Average"/>
              <a:ea typeface="Average"/>
              <a:cs typeface="Average"/>
              <a:sym typeface="Average"/>
            </a:endParaRPr>
          </a:p>
        </p:txBody>
      </p:sp>
      <p:sp>
        <p:nvSpPr>
          <p:cNvPr id="199" name="Google Shape;199;p11"/>
          <p:cNvSpPr txBox="1"/>
          <p:nvPr/>
        </p:nvSpPr>
        <p:spPr>
          <a:xfrm>
            <a:off x="5989550"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3</a:t>
            </a:r>
            <a:endParaRPr b="0" i="0" sz="1400" u="none" cap="none" strike="noStrike">
              <a:solidFill>
                <a:schemeClr val="dk1"/>
              </a:solidFill>
              <a:latin typeface="Average"/>
              <a:ea typeface="Average"/>
              <a:cs typeface="Average"/>
              <a:sym typeface="Average"/>
            </a:endParaRPr>
          </a:p>
        </p:txBody>
      </p:sp>
      <p:sp>
        <p:nvSpPr>
          <p:cNvPr id="200" name="Google Shape;200;p11"/>
          <p:cNvSpPr txBox="1"/>
          <p:nvPr/>
        </p:nvSpPr>
        <p:spPr>
          <a:xfrm>
            <a:off x="7097488"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2</a:t>
            </a:r>
            <a:endParaRPr b="0" i="0" sz="1400" u="none" cap="none" strike="noStrike">
              <a:solidFill>
                <a:schemeClr val="dk1"/>
              </a:solidFill>
              <a:latin typeface="Average"/>
              <a:ea typeface="Average"/>
              <a:cs typeface="Average"/>
              <a:sym typeface="Average"/>
            </a:endParaRPr>
          </a:p>
        </p:txBody>
      </p:sp>
      <p:sp>
        <p:nvSpPr>
          <p:cNvPr id="201" name="Google Shape;201;p11"/>
          <p:cNvSpPr txBox="1"/>
          <p:nvPr/>
        </p:nvSpPr>
        <p:spPr>
          <a:xfrm>
            <a:off x="8318463"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4</a:t>
            </a:r>
            <a:endParaRPr b="0" i="0" sz="1400" u="none" cap="none" strike="noStrike">
              <a:solidFill>
                <a:schemeClr val="dk1"/>
              </a:solidFill>
              <a:latin typeface="Average"/>
              <a:ea typeface="Average"/>
              <a:cs typeface="Average"/>
              <a:sym typeface="Average"/>
            </a:endParaRPr>
          </a:p>
        </p:txBody>
      </p:sp>
      <p:sp>
        <p:nvSpPr>
          <p:cNvPr id="202" name="Google Shape;202;p11"/>
          <p:cNvSpPr txBox="1"/>
          <p:nvPr/>
        </p:nvSpPr>
        <p:spPr>
          <a:xfrm>
            <a:off x="5772463"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2</a:t>
            </a:r>
            <a:endParaRPr b="0" i="0" sz="1400" u="none" cap="none" strike="noStrike">
              <a:solidFill>
                <a:schemeClr val="dk1"/>
              </a:solidFill>
              <a:latin typeface="Average"/>
              <a:ea typeface="Average"/>
              <a:cs typeface="Average"/>
              <a:sym typeface="Average"/>
            </a:endParaRPr>
          </a:p>
        </p:txBody>
      </p:sp>
      <p:sp>
        <p:nvSpPr>
          <p:cNvPr id="203" name="Google Shape;203;p11"/>
          <p:cNvSpPr txBox="1"/>
          <p:nvPr/>
        </p:nvSpPr>
        <p:spPr>
          <a:xfrm>
            <a:off x="6880763" y="1664625"/>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3</a:t>
            </a:r>
            <a:endParaRPr b="0" i="0" sz="1400" u="none" cap="none" strike="noStrike">
              <a:solidFill>
                <a:schemeClr val="dk1"/>
              </a:solidFill>
              <a:latin typeface="Average"/>
              <a:ea typeface="Average"/>
              <a:cs typeface="Average"/>
              <a:sym typeface="Average"/>
            </a:endParaRPr>
          </a:p>
        </p:txBody>
      </p:sp>
      <p:sp>
        <p:nvSpPr>
          <p:cNvPr id="204" name="Google Shape;204;p11"/>
          <p:cNvSpPr txBox="1"/>
          <p:nvPr/>
        </p:nvSpPr>
        <p:spPr>
          <a:xfrm>
            <a:off x="8043663"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2</a:t>
            </a:r>
            <a:endParaRPr b="0" i="0" sz="1400" u="none" cap="none" strike="noStrike">
              <a:solidFill>
                <a:schemeClr val="dk1"/>
              </a:solidFill>
              <a:latin typeface="Average"/>
              <a:ea typeface="Average"/>
              <a:cs typeface="Average"/>
              <a:sym typeface="Average"/>
            </a:endParaRPr>
          </a:p>
        </p:txBody>
      </p:sp>
      <p:sp>
        <p:nvSpPr>
          <p:cNvPr id="205" name="Google Shape;205;p11"/>
          <p:cNvSpPr txBox="1"/>
          <p:nvPr/>
        </p:nvSpPr>
        <p:spPr>
          <a:xfrm>
            <a:off x="6293100"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4</a:t>
            </a:r>
            <a:endParaRPr b="0" i="0" sz="1400" u="none" cap="none" strike="noStrike">
              <a:solidFill>
                <a:schemeClr val="dk1"/>
              </a:solidFill>
              <a:latin typeface="Average"/>
              <a:ea typeface="Average"/>
              <a:cs typeface="Average"/>
              <a:sym typeface="Average"/>
            </a:endParaRPr>
          </a:p>
        </p:txBody>
      </p:sp>
      <p:sp>
        <p:nvSpPr>
          <p:cNvPr id="206" name="Google Shape;206;p11"/>
          <p:cNvSpPr txBox="1"/>
          <p:nvPr/>
        </p:nvSpPr>
        <p:spPr>
          <a:xfrm>
            <a:off x="7316925"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4</a:t>
            </a:r>
            <a:endParaRPr b="0" i="0" sz="1400" u="none" cap="none" strike="noStrike">
              <a:solidFill>
                <a:schemeClr val="dk1"/>
              </a:solidFill>
              <a:latin typeface="Average"/>
              <a:ea typeface="Average"/>
              <a:cs typeface="Average"/>
              <a:sym typeface="Average"/>
            </a:endParaRPr>
          </a:p>
        </p:txBody>
      </p:sp>
      <p:sp>
        <p:nvSpPr>
          <p:cNvPr id="207" name="Google Shape;207;p11"/>
          <p:cNvSpPr txBox="1"/>
          <p:nvPr/>
        </p:nvSpPr>
        <p:spPr>
          <a:xfrm>
            <a:off x="7770175" y="1664625"/>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3</a:t>
            </a:r>
            <a:endParaRPr b="0" i="0" sz="1400" u="none" cap="none" strike="noStrike">
              <a:solidFill>
                <a:schemeClr val="dk1"/>
              </a:solidFill>
              <a:latin typeface="Average"/>
              <a:ea typeface="Average"/>
              <a:cs typeface="Average"/>
              <a:sym typeface="Averag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Maximum Parsimony Example</a:t>
            </a:r>
            <a:endParaRPr/>
          </a:p>
        </p:txBody>
      </p:sp>
      <p:sp>
        <p:nvSpPr>
          <p:cNvPr id="213" name="Google Shape;213;p12"/>
          <p:cNvSpPr txBox="1"/>
          <p:nvPr/>
        </p:nvSpPr>
        <p:spPr>
          <a:xfrm>
            <a:off x="108600" y="1680150"/>
            <a:ext cx="20232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1   A A C T A</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2  A A C T C</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3  A G C C A </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4  A G G C C</a:t>
            </a:r>
            <a:endParaRPr b="0" i="0" sz="1400" u="none" cap="none" strike="noStrike">
              <a:solidFill>
                <a:schemeClr val="dk1"/>
              </a:solidFill>
              <a:latin typeface="Average"/>
              <a:ea typeface="Average"/>
              <a:cs typeface="Average"/>
              <a:sym typeface="Average"/>
            </a:endParaRPr>
          </a:p>
        </p:txBody>
      </p:sp>
      <p:sp>
        <p:nvSpPr>
          <p:cNvPr id="214" name="Google Shape;214;p12"/>
          <p:cNvSpPr txBox="1"/>
          <p:nvPr/>
        </p:nvSpPr>
        <p:spPr>
          <a:xfrm>
            <a:off x="397950" y="1264425"/>
            <a:ext cx="1825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MSA</a:t>
            </a:r>
            <a:endParaRPr b="0" i="0" sz="1400" u="none" cap="none" strike="noStrike">
              <a:solidFill>
                <a:schemeClr val="dk1"/>
              </a:solidFill>
              <a:latin typeface="Average"/>
              <a:ea typeface="Average"/>
              <a:cs typeface="Average"/>
              <a:sym typeface="Average"/>
            </a:endParaRPr>
          </a:p>
        </p:txBody>
      </p:sp>
      <p:cxnSp>
        <p:nvCxnSpPr>
          <p:cNvPr id="215" name="Google Shape;215;p12"/>
          <p:cNvCxnSpPr/>
          <p:nvPr/>
        </p:nvCxnSpPr>
        <p:spPr>
          <a:xfrm>
            <a:off x="2085650" y="2091150"/>
            <a:ext cx="494700" cy="3300"/>
          </a:xfrm>
          <a:prstGeom prst="straightConnector1">
            <a:avLst/>
          </a:prstGeom>
          <a:noFill/>
          <a:ln cap="flat" cmpd="sng" w="9525">
            <a:solidFill>
              <a:schemeClr val="dk2"/>
            </a:solidFill>
            <a:prstDash val="solid"/>
            <a:round/>
            <a:headEnd len="sm" w="sm" type="none"/>
            <a:tailEnd len="med" w="med" type="triangle"/>
          </a:ln>
        </p:spPr>
      </p:cxnSp>
      <p:sp>
        <p:nvSpPr>
          <p:cNvPr id="216" name="Google Shape;216;p12"/>
          <p:cNvSpPr txBox="1"/>
          <p:nvPr/>
        </p:nvSpPr>
        <p:spPr>
          <a:xfrm>
            <a:off x="2725150" y="1664613"/>
            <a:ext cx="20952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1   A A C T A</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2  A A C T C</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3  A G C C A </a:t>
            </a:r>
            <a:endParaRPr b="0" i="0" sz="14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Sample 4  A G G C C</a:t>
            </a:r>
            <a:endParaRPr b="0" i="0" sz="1400" u="none" cap="none" strike="noStrike">
              <a:solidFill>
                <a:schemeClr val="dk1"/>
              </a:solidFill>
              <a:latin typeface="Average"/>
              <a:ea typeface="Average"/>
              <a:cs typeface="Average"/>
              <a:sym typeface="Average"/>
            </a:endParaRPr>
          </a:p>
        </p:txBody>
      </p:sp>
      <p:sp>
        <p:nvSpPr>
          <p:cNvPr id="217" name="Google Shape;217;p12"/>
          <p:cNvSpPr txBox="1"/>
          <p:nvPr/>
        </p:nvSpPr>
        <p:spPr>
          <a:xfrm>
            <a:off x="2672400" y="1310450"/>
            <a:ext cx="2095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Identify Informative Sites</a:t>
            </a:r>
            <a:endParaRPr b="0" i="0" sz="1400" u="none" cap="none" strike="noStrike">
              <a:solidFill>
                <a:schemeClr val="dk1"/>
              </a:solidFill>
              <a:latin typeface="Average"/>
              <a:ea typeface="Average"/>
              <a:cs typeface="Average"/>
              <a:sym typeface="Average"/>
            </a:endParaRPr>
          </a:p>
        </p:txBody>
      </p:sp>
      <p:sp>
        <p:nvSpPr>
          <p:cNvPr id="218" name="Google Shape;218;p12"/>
          <p:cNvSpPr/>
          <p:nvPr/>
        </p:nvSpPr>
        <p:spPr>
          <a:xfrm>
            <a:off x="3777125" y="1779525"/>
            <a:ext cx="130500" cy="816900"/>
          </a:xfrm>
          <a:prstGeom prst="rect">
            <a:avLst/>
          </a:prstGeom>
          <a:noFill/>
          <a:ln cap="flat" cmpd="sng" w="2857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19" name="Google Shape;219;p12"/>
          <p:cNvSpPr/>
          <p:nvPr/>
        </p:nvSpPr>
        <p:spPr>
          <a:xfrm>
            <a:off x="4109775" y="1779525"/>
            <a:ext cx="130500" cy="816900"/>
          </a:xfrm>
          <a:prstGeom prst="rect">
            <a:avLst/>
          </a:prstGeom>
          <a:noFill/>
          <a:ln cap="flat" cmpd="sng" w="2857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20" name="Google Shape;220;p12"/>
          <p:cNvSpPr/>
          <p:nvPr/>
        </p:nvSpPr>
        <p:spPr>
          <a:xfrm>
            <a:off x="4289050" y="1779525"/>
            <a:ext cx="130500" cy="816900"/>
          </a:xfrm>
          <a:prstGeom prst="rect">
            <a:avLst/>
          </a:prstGeom>
          <a:noFill/>
          <a:ln cap="flat" cmpd="sng" w="28575">
            <a:solidFill>
              <a:srgbClr val="674EA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221" name="Google Shape;221;p12"/>
          <p:cNvSpPr txBox="1"/>
          <p:nvPr/>
        </p:nvSpPr>
        <p:spPr>
          <a:xfrm>
            <a:off x="5566300" y="1141375"/>
            <a:ext cx="2717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Count the # of changes to find the most parsimonious tree</a:t>
            </a:r>
            <a:endParaRPr b="0" i="0" sz="1400" u="none" cap="none" strike="noStrike">
              <a:solidFill>
                <a:schemeClr val="dk1"/>
              </a:solidFill>
              <a:latin typeface="Average"/>
              <a:ea typeface="Average"/>
              <a:cs typeface="Average"/>
              <a:sym typeface="Average"/>
            </a:endParaRPr>
          </a:p>
        </p:txBody>
      </p:sp>
      <p:cxnSp>
        <p:nvCxnSpPr>
          <p:cNvPr id="222" name="Google Shape;222;p12"/>
          <p:cNvCxnSpPr/>
          <p:nvPr/>
        </p:nvCxnSpPr>
        <p:spPr>
          <a:xfrm>
            <a:off x="4857725" y="2091150"/>
            <a:ext cx="494700" cy="3300"/>
          </a:xfrm>
          <a:prstGeom prst="straightConnector1">
            <a:avLst/>
          </a:prstGeom>
          <a:noFill/>
          <a:ln cap="flat" cmpd="sng" w="9525">
            <a:solidFill>
              <a:schemeClr val="dk2"/>
            </a:solidFill>
            <a:prstDash val="solid"/>
            <a:round/>
            <a:headEnd len="sm" w="sm" type="none"/>
            <a:tailEnd len="med" w="med" type="triangle"/>
          </a:ln>
        </p:spPr>
      </p:cxnSp>
      <p:graphicFrame>
        <p:nvGraphicFramePr>
          <p:cNvPr id="223" name="Google Shape;223;p12"/>
          <p:cNvGraphicFramePr/>
          <p:nvPr/>
        </p:nvGraphicFramePr>
        <p:xfrm>
          <a:off x="995725" y="3291625"/>
          <a:ext cx="3000000" cy="3000000"/>
        </p:xfrm>
        <a:graphic>
          <a:graphicData uri="http://schemas.openxmlformats.org/drawingml/2006/table">
            <a:tbl>
              <a:tblPr>
                <a:noFill/>
                <a:tableStyleId>{5389113A-0CCC-4827-B051-28423795929A}</a:tableStyleId>
              </a:tblPr>
              <a:tblGrid>
                <a:gridCol w="1447800"/>
                <a:gridCol w="1447800"/>
                <a:gridCol w="1447800"/>
                <a:gridCol w="1447800"/>
                <a:gridCol w="144780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Position 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Position 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Position 5</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Total Changes</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Tree 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Tree 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5</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Tree 3</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6</a:t>
                      </a:r>
                      <a:endParaRPr sz="1400" u="none" cap="none" strike="noStrike">
                        <a:solidFill>
                          <a:schemeClr val="dk1"/>
                        </a:solidFill>
                      </a:endParaRPr>
                    </a:p>
                  </a:txBody>
                  <a:tcPr marT="91425" marB="91425" marR="91425" marL="91425"/>
                </a:tc>
              </a:tr>
            </a:tbl>
          </a:graphicData>
        </a:graphic>
      </p:graphicFrame>
      <p:cxnSp>
        <p:nvCxnSpPr>
          <p:cNvPr id="224" name="Google Shape;224;p12"/>
          <p:cNvCxnSpPr/>
          <p:nvPr/>
        </p:nvCxnSpPr>
        <p:spPr>
          <a:xfrm>
            <a:off x="5718225" y="1952025"/>
            <a:ext cx="324300" cy="405300"/>
          </a:xfrm>
          <a:prstGeom prst="straightConnector1">
            <a:avLst/>
          </a:prstGeom>
          <a:noFill/>
          <a:ln cap="flat" cmpd="sng" w="9525">
            <a:solidFill>
              <a:schemeClr val="dk2"/>
            </a:solidFill>
            <a:prstDash val="solid"/>
            <a:round/>
            <a:headEnd len="sm" w="sm" type="none"/>
            <a:tailEnd len="sm" w="sm" type="none"/>
          </a:ln>
        </p:spPr>
      </p:cxnSp>
      <p:cxnSp>
        <p:nvCxnSpPr>
          <p:cNvPr id="225" name="Google Shape;225;p12"/>
          <p:cNvCxnSpPr/>
          <p:nvPr/>
        </p:nvCxnSpPr>
        <p:spPr>
          <a:xfrm flipH="1">
            <a:off x="5820700" y="1962825"/>
            <a:ext cx="108300" cy="108600"/>
          </a:xfrm>
          <a:prstGeom prst="straightConnector1">
            <a:avLst/>
          </a:prstGeom>
          <a:noFill/>
          <a:ln cap="flat" cmpd="sng" w="9525">
            <a:solidFill>
              <a:schemeClr val="dk2"/>
            </a:solidFill>
            <a:prstDash val="solid"/>
            <a:round/>
            <a:headEnd len="sm" w="sm" type="none"/>
            <a:tailEnd len="sm" w="sm" type="none"/>
          </a:ln>
        </p:spPr>
      </p:cxnSp>
      <p:cxnSp>
        <p:nvCxnSpPr>
          <p:cNvPr id="226" name="Google Shape;226;p12"/>
          <p:cNvCxnSpPr/>
          <p:nvPr/>
        </p:nvCxnSpPr>
        <p:spPr>
          <a:xfrm flipH="1">
            <a:off x="5928875" y="1962825"/>
            <a:ext cx="221700" cy="234000"/>
          </a:xfrm>
          <a:prstGeom prst="straightConnector1">
            <a:avLst/>
          </a:prstGeom>
          <a:noFill/>
          <a:ln cap="flat" cmpd="sng" w="9525">
            <a:solidFill>
              <a:schemeClr val="dk2"/>
            </a:solidFill>
            <a:prstDash val="solid"/>
            <a:round/>
            <a:headEnd len="sm" w="sm" type="none"/>
            <a:tailEnd len="sm" w="sm" type="none"/>
          </a:ln>
        </p:spPr>
      </p:cxnSp>
      <p:cxnSp>
        <p:nvCxnSpPr>
          <p:cNvPr id="227" name="Google Shape;227;p12"/>
          <p:cNvCxnSpPr/>
          <p:nvPr/>
        </p:nvCxnSpPr>
        <p:spPr>
          <a:xfrm flipH="1">
            <a:off x="6042475" y="1952025"/>
            <a:ext cx="383700" cy="405300"/>
          </a:xfrm>
          <a:prstGeom prst="straightConnector1">
            <a:avLst/>
          </a:prstGeom>
          <a:noFill/>
          <a:ln cap="flat" cmpd="sng" w="9525">
            <a:solidFill>
              <a:schemeClr val="dk2"/>
            </a:solidFill>
            <a:prstDash val="solid"/>
            <a:round/>
            <a:headEnd len="sm" w="sm" type="none"/>
            <a:tailEnd len="sm" w="sm" type="none"/>
          </a:ln>
        </p:spPr>
      </p:cxnSp>
      <p:cxnSp>
        <p:nvCxnSpPr>
          <p:cNvPr id="228" name="Google Shape;228;p12"/>
          <p:cNvCxnSpPr/>
          <p:nvPr/>
        </p:nvCxnSpPr>
        <p:spPr>
          <a:xfrm>
            <a:off x="6756925" y="1952025"/>
            <a:ext cx="324300" cy="405300"/>
          </a:xfrm>
          <a:prstGeom prst="straightConnector1">
            <a:avLst/>
          </a:prstGeom>
          <a:noFill/>
          <a:ln cap="flat" cmpd="sng" w="9525">
            <a:solidFill>
              <a:schemeClr val="dk2"/>
            </a:solidFill>
            <a:prstDash val="solid"/>
            <a:round/>
            <a:headEnd len="sm" w="sm" type="none"/>
            <a:tailEnd len="sm" w="sm" type="none"/>
          </a:ln>
        </p:spPr>
      </p:cxnSp>
      <p:cxnSp>
        <p:nvCxnSpPr>
          <p:cNvPr id="229" name="Google Shape;229;p12"/>
          <p:cNvCxnSpPr/>
          <p:nvPr/>
        </p:nvCxnSpPr>
        <p:spPr>
          <a:xfrm flipH="1">
            <a:off x="6859400" y="1962825"/>
            <a:ext cx="108300" cy="108600"/>
          </a:xfrm>
          <a:prstGeom prst="straightConnector1">
            <a:avLst/>
          </a:prstGeom>
          <a:noFill/>
          <a:ln cap="flat" cmpd="sng" w="9525">
            <a:solidFill>
              <a:schemeClr val="dk2"/>
            </a:solidFill>
            <a:prstDash val="solid"/>
            <a:round/>
            <a:headEnd len="sm" w="sm" type="none"/>
            <a:tailEnd len="sm" w="sm" type="none"/>
          </a:ln>
        </p:spPr>
      </p:cxnSp>
      <p:cxnSp>
        <p:nvCxnSpPr>
          <p:cNvPr id="230" name="Google Shape;230;p12"/>
          <p:cNvCxnSpPr/>
          <p:nvPr/>
        </p:nvCxnSpPr>
        <p:spPr>
          <a:xfrm flipH="1">
            <a:off x="6967575" y="1962825"/>
            <a:ext cx="221700" cy="234000"/>
          </a:xfrm>
          <a:prstGeom prst="straightConnector1">
            <a:avLst/>
          </a:prstGeom>
          <a:noFill/>
          <a:ln cap="flat" cmpd="sng" w="9525">
            <a:solidFill>
              <a:schemeClr val="dk2"/>
            </a:solidFill>
            <a:prstDash val="solid"/>
            <a:round/>
            <a:headEnd len="sm" w="sm" type="none"/>
            <a:tailEnd len="sm" w="sm" type="none"/>
          </a:ln>
        </p:spPr>
      </p:cxnSp>
      <p:cxnSp>
        <p:nvCxnSpPr>
          <p:cNvPr id="231" name="Google Shape;231;p12"/>
          <p:cNvCxnSpPr/>
          <p:nvPr/>
        </p:nvCxnSpPr>
        <p:spPr>
          <a:xfrm flipH="1">
            <a:off x="7081175" y="1952025"/>
            <a:ext cx="383700" cy="405300"/>
          </a:xfrm>
          <a:prstGeom prst="straightConnector1">
            <a:avLst/>
          </a:prstGeom>
          <a:noFill/>
          <a:ln cap="flat" cmpd="sng" w="9525">
            <a:solidFill>
              <a:schemeClr val="dk2"/>
            </a:solidFill>
            <a:prstDash val="solid"/>
            <a:round/>
            <a:headEnd len="sm" w="sm" type="none"/>
            <a:tailEnd len="sm" w="sm" type="none"/>
          </a:ln>
        </p:spPr>
      </p:cxnSp>
      <p:cxnSp>
        <p:nvCxnSpPr>
          <p:cNvPr id="232" name="Google Shape;232;p12"/>
          <p:cNvCxnSpPr/>
          <p:nvPr/>
        </p:nvCxnSpPr>
        <p:spPr>
          <a:xfrm>
            <a:off x="7687575" y="1952025"/>
            <a:ext cx="324300" cy="405300"/>
          </a:xfrm>
          <a:prstGeom prst="straightConnector1">
            <a:avLst/>
          </a:prstGeom>
          <a:noFill/>
          <a:ln cap="flat" cmpd="sng" w="9525">
            <a:solidFill>
              <a:schemeClr val="dk2"/>
            </a:solidFill>
            <a:prstDash val="solid"/>
            <a:round/>
            <a:headEnd len="sm" w="sm" type="none"/>
            <a:tailEnd len="sm" w="sm" type="none"/>
          </a:ln>
        </p:spPr>
      </p:cxnSp>
      <p:cxnSp>
        <p:nvCxnSpPr>
          <p:cNvPr id="233" name="Google Shape;233;p12"/>
          <p:cNvCxnSpPr/>
          <p:nvPr/>
        </p:nvCxnSpPr>
        <p:spPr>
          <a:xfrm>
            <a:off x="7898350" y="1962825"/>
            <a:ext cx="116700" cy="145800"/>
          </a:xfrm>
          <a:prstGeom prst="straightConnector1">
            <a:avLst/>
          </a:prstGeom>
          <a:noFill/>
          <a:ln cap="flat" cmpd="sng" w="9525">
            <a:solidFill>
              <a:schemeClr val="dk2"/>
            </a:solidFill>
            <a:prstDash val="solid"/>
            <a:round/>
            <a:headEnd len="sm" w="sm" type="none"/>
            <a:tailEnd len="sm" w="sm" type="none"/>
          </a:ln>
        </p:spPr>
      </p:cxnSp>
      <p:cxnSp>
        <p:nvCxnSpPr>
          <p:cNvPr id="234" name="Google Shape;234;p12"/>
          <p:cNvCxnSpPr/>
          <p:nvPr/>
        </p:nvCxnSpPr>
        <p:spPr>
          <a:xfrm flipH="1">
            <a:off x="7909150" y="1962825"/>
            <a:ext cx="221700" cy="234000"/>
          </a:xfrm>
          <a:prstGeom prst="straightConnector1">
            <a:avLst/>
          </a:prstGeom>
          <a:noFill/>
          <a:ln cap="flat" cmpd="sng" w="9525">
            <a:solidFill>
              <a:schemeClr val="dk2"/>
            </a:solidFill>
            <a:prstDash val="solid"/>
            <a:round/>
            <a:headEnd len="sm" w="sm" type="none"/>
            <a:tailEnd len="sm" w="sm" type="none"/>
          </a:ln>
        </p:spPr>
      </p:cxnSp>
      <p:cxnSp>
        <p:nvCxnSpPr>
          <p:cNvPr id="235" name="Google Shape;235;p12"/>
          <p:cNvCxnSpPr/>
          <p:nvPr/>
        </p:nvCxnSpPr>
        <p:spPr>
          <a:xfrm flipH="1">
            <a:off x="8011825" y="1952025"/>
            <a:ext cx="383700" cy="405300"/>
          </a:xfrm>
          <a:prstGeom prst="straightConnector1">
            <a:avLst/>
          </a:prstGeom>
          <a:noFill/>
          <a:ln cap="flat" cmpd="sng" w="9525">
            <a:solidFill>
              <a:schemeClr val="dk2"/>
            </a:solidFill>
            <a:prstDash val="solid"/>
            <a:round/>
            <a:headEnd len="sm" w="sm" type="none"/>
            <a:tailEnd len="sm" w="sm" type="none"/>
          </a:ln>
        </p:spPr>
      </p:cxnSp>
      <p:sp>
        <p:nvSpPr>
          <p:cNvPr id="236" name="Google Shape;236;p12"/>
          <p:cNvSpPr txBox="1"/>
          <p:nvPr/>
        </p:nvSpPr>
        <p:spPr>
          <a:xfrm>
            <a:off x="5583325"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1</a:t>
            </a:r>
            <a:endParaRPr b="0" i="0" sz="1400" u="none" cap="none" strike="noStrike">
              <a:solidFill>
                <a:schemeClr val="dk1"/>
              </a:solidFill>
              <a:latin typeface="Average"/>
              <a:ea typeface="Average"/>
              <a:cs typeface="Average"/>
              <a:sym typeface="Average"/>
            </a:endParaRPr>
          </a:p>
        </p:txBody>
      </p:sp>
      <p:sp>
        <p:nvSpPr>
          <p:cNvPr id="237" name="Google Shape;237;p12"/>
          <p:cNvSpPr txBox="1"/>
          <p:nvPr/>
        </p:nvSpPr>
        <p:spPr>
          <a:xfrm>
            <a:off x="6632175"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1</a:t>
            </a:r>
            <a:endParaRPr b="0" i="0" sz="1400" u="none" cap="none" strike="noStrike">
              <a:solidFill>
                <a:schemeClr val="dk1"/>
              </a:solidFill>
              <a:latin typeface="Average"/>
              <a:ea typeface="Average"/>
              <a:cs typeface="Average"/>
              <a:sym typeface="Average"/>
            </a:endParaRPr>
          </a:p>
        </p:txBody>
      </p:sp>
      <p:sp>
        <p:nvSpPr>
          <p:cNvPr id="238" name="Google Shape;238;p12"/>
          <p:cNvSpPr txBox="1"/>
          <p:nvPr/>
        </p:nvSpPr>
        <p:spPr>
          <a:xfrm>
            <a:off x="7578350"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1</a:t>
            </a:r>
            <a:endParaRPr b="0" i="0" sz="1400" u="none" cap="none" strike="noStrike">
              <a:solidFill>
                <a:schemeClr val="dk1"/>
              </a:solidFill>
              <a:latin typeface="Average"/>
              <a:ea typeface="Average"/>
              <a:cs typeface="Average"/>
              <a:sym typeface="Average"/>
            </a:endParaRPr>
          </a:p>
        </p:txBody>
      </p:sp>
      <p:sp>
        <p:nvSpPr>
          <p:cNvPr id="239" name="Google Shape;239;p12"/>
          <p:cNvSpPr txBox="1"/>
          <p:nvPr/>
        </p:nvSpPr>
        <p:spPr>
          <a:xfrm>
            <a:off x="5989550"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3</a:t>
            </a:r>
            <a:endParaRPr b="0" i="0" sz="1400" u="none" cap="none" strike="noStrike">
              <a:solidFill>
                <a:schemeClr val="dk1"/>
              </a:solidFill>
              <a:latin typeface="Average"/>
              <a:ea typeface="Average"/>
              <a:cs typeface="Average"/>
              <a:sym typeface="Average"/>
            </a:endParaRPr>
          </a:p>
        </p:txBody>
      </p:sp>
      <p:sp>
        <p:nvSpPr>
          <p:cNvPr id="240" name="Google Shape;240;p12"/>
          <p:cNvSpPr txBox="1"/>
          <p:nvPr/>
        </p:nvSpPr>
        <p:spPr>
          <a:xfrm>
            <a:off x="7097488"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2</a:t>
            </a:r>
            <a:endParaRPr b="0" i="0" sz="1400" u="none" cap="none" strike="noStrike">
              <a:solidFill>
                <a:schemeClr val="dk1"/>
              </a:solidFill>
              <a:latin typeface="Average"/>
              <a:ea typeface="Average"/>
              <a:cs typeface="Average"/>
              <a:sym typeface="Average"/>
            </a:endParaRPr>
          </a:p>
        </p:txBody>
      </p:sp>
      <p:sp>
        <p:nvSpPr>
          <p:cNvPr id="241" name="Google Shape;241;p12"/>
          <p:cNvSpPr txBox="1"/>
          <p:nvPr/>
        </p:nvSpPr>
        <p:spPr>
          <a:xfrm>
            <a:off x="8318463"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4</a:t>
            </a:r>
            <a:endParaRPr b="0" i="0" sz="1400" u="none" cap="none" strike="noStrike">
              <a:solidFill>
                <a:schemeClr val="dk1"/>
              </a:solidFill>
              <a:latin typeface="Average"/>
              <a:ea typeface="Average"/>
              <a:cs typeface="Average"/>
              <a:sym typeface="Average"/>
            </a:endParaRPr>
          </a:p>
        </p:txBody>
      </p:sp>
      <p:sp>
        <p:nvSpPr>
          <p:cNvPr id="242" name="Google Shape;242;p12"/>
          <p:cNvSpPr txBox="1"/>
          <p:nvPr/>
        </p:nvSpPr>
        <p:spPr>
          <a:xfrm>
            <a:off x="5772463"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2</a:t>
            </a:r>
            <a:endParaRPr b="0" i="0" sz="1400" u="none" cap="none" strike="noStrike">
              <a:solidFill>
                <a:schemeClr val="dk1"/>
              </a:solidFill>
              <a:latin typeface="Average"/>
              <a:ea typeface="Average"/>
              <a:cs typeface="Average"/>
              <a:sym typeface="Average"/>
            </a:endParaRPr>
          </a:p>
        </p:txBody>
      </p:sp>
      <p:sp>
        <p:nvSpPr>
          <p:cNvPr id="243" name="Google Shape;243;p12"/>
          <p:cNvSpPr txBox="1"/>
          <p:nvPr/>
        </p:nvSpPr>
        <p:spPr>
          <a:xfrm>
            <a:off x="6880763" y="1664625"/>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3</a:t>
            </a:r>
            <a:endParaRPr b="0" i="0" sz="1400" u="none" cap="none" strike="noStrike">
              <a:solidFill>
                <a:schemeClr val="dk1"/>
              </a:solidFill>
              <a:latin typeface="Average"/>
              <a:ea typeface="Average"/>
              <a:cs typeface="Average"/>
              <a:sym typeface="Average"/>
            </a:endParaRPr>
          </a:p>
        </p:txBody>
      </p:sp>
      <p:sp>
        <p:nvSpPr>
          <p:cNvPr id="244" name="Google Shape;244;p12"/>
          <p:cNvSpPr txBox="1"/>
          <p:nvPr/>
        </p:nvSpPr>
        <p:spPr>
          <a:xfrm>
            <a:off x="8043663"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2</a:t>
            </a:r>
            <a:endParaRPr b="0" i="0" sz="1400" u="none" cap="none" strike="noStrike">
              <a:solidFill>
                <a:schemeClr val="dk1"/>
              </a:solidFill>
              <a:latin typeface="Average"/>
              <a:ea typeface="Average"/>
              <a:cs typeface="Average"/>
              <a:sym typeface="Average"/>
            </a:endParaRPr>
          </a:p>
        </p:txBody>
      </p:sp>
      <p:sp>
        <p:nvSpPr>
          <p:cNvPr id="245" name="Google Shape;245;p12"/>
          <p:cNvSpPr txBox="1"/>
          <p:nvPr/>
        </p:nvSpPr>
        <p:spPr>
          <a:xfrm>
            <a:off x="6293100"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4</a:t>
            </a:r>
            <a:endParaRPr b="0" i="0" sz="1400" u="none" cap="none" strike="noStrike">
              <a:solidFill>
                <a:schemeClr val="dk1"/>
              </a:solidFill>
              <a:latin typeface="Average"/>
              <a:ea typeface="Average"/>
              <a:cs typeface="Average"/>
              <a:sym typeface="Average"/>
            </a:endParaRPr>
          </a:p>
        </p:txBody>
      </p:sp>
      <p:sp>
        <p:nvSpPr>
          <p:cNvPr id="246" name="Google Shape;246;p12"/>
          <p:cNvSpPr txBox="1"/>
          <p:nvPr/>
        </p:nvSpPr>
        <p:spPr>
          <a:xfrm>
            <a:off x="7316925" y="1680150"/>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4</a:t>
            </a:r>
            <a:endParaRPr b="0" i="0" sz="1400" u="none" cap="none" strike="noStrike">
              <a:solidFill>
                <a:schemeClr val="dk1"/>
              </a:solidFill>
              <a:latin typeface="Average"/>
              <a:ea typeface="Average"/>
              <a:cs typeface="Average"/>
              <a:sym typeface="Average"/>
            </a:endParaRPr>
          </a:p>
        </p:txBody>
      </p:sp>
      <p:sp>
        <p:nvSpPr>
          <p:cNvPr id="247" name="Google Shape;247;p12"/>
          <p:cNvSpPr txBox="1"/>
          <p:nvPr/>
        </p:nvSpPr>
        <p:spPr>
          <a:xfrm>
            <a:off x="7770175" y="1664625"/>
            <a:ext cx="243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3</a:t>
            </a:r>
            <a:endParaRPr b="0" i="0" sz="1400" u="none" cap="none" strike="noStrike">
              <a:solidFill>
                <a:schemeClr val="dk1"/>
              </a:solidFill>
              <a:latin typeface="Average"/>
              <a:ea typeface="Average"/>
              <a:cs typeface="Average"/>
              <a:sym typeface="Average"/>
            </a:endParaRPr>
          </a:p>
        </p:txBody>
      </p:sp>
      <p:sp>
        <p:nvSpPr>
          <p:cNvPr id="248" name="Google Shape;248;p12"/>
          <p:cNvSpPr/>
          <p:nvPr/>
        </p:nvSpPr>
        <p:spPr>
          <a:xfrm>
            <a:off x="897625" y="3741850"/>
            <a:ext cx="1021500" cy="308100"/>
          </a:xfrm>
          <a:prstGeom prst="ellipse">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Maximum Likelihood Method </a:t>
            </a:r>
            <a:endParaRPr/>
          </a:p>
        </p:txBody>
      </p:sp>
      <p:sp>
        <p:nvSpPr>
          <p:cNvPr id="254" name="Google Shape;254;p13"/>
          <p:cNvSpPr txBox="1"/>
          <p:nvPr/>
        </p:nvSpPr>
        <p:spPr>
          <a:xfrm>
            <a:off x="396525" y="1855925"/>
            <a:ext cx="18258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verage"/>
                <a:ea typeface="Average"/>
                <a:cs typeface="Average"/>
                <a:sym typeface="Average"/>
              </a:rPr>
              <a:t>MSA</a:t>
            </a:r>
            <a:endParaRPr b="0" i="0" sz="1800" u="none" cap="none" strike="noStrike">
              <a:solidFill>
                <a:schemeClr val="dk1"/>
              </a:solidFill>
              <a:latin typeface="Average"/>
              <a:ea typeface="Average"/>
              <a:cs typeface="Average"/>
              <a:sym typeface="Average"/>
            </a:endParaRPr>
          </a:p>
        </p:txBody>
      </p:sp>
      <p:sp>
        <p:nvSpPr>
          <p:cNvPr id="255" name="Google Shape;255;p13"/>
          <p:cNvSpPr txBox="1"/>
          <p:nvPr/>
        </p:nvSpPr>
        <p:spPr>
          <a:xfrm>
            <a:off x="396525" y="2623625"/>
            <a:ext cx="17337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Average"/>
                <a:ea typeface="Average"/>
                <a:cs typeface="Average"/>
                <a:sym typeface="Average"/>
              </a:rPr>
              <a:t>Sample 1   AACGT</a:t>
            </a:r>
            <a:endParaRPr b="0" i="0" sz="15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Average"/>
                <a:ea typeface="Average"/>
                <a:cs typeface="Average"/>
                <a:sym typeface="Average"/>
              </a:rPr>
              <a:t>Sample 2  ACCGG</a:t>
            </a:r>
            <a:endParaRPr b="0" i="0" sz="15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Average"/>
                <a:ea typeface="Average"/>
                <a:cs typeface="Average"/>
                <a:sym typeface="Average"/>
              </a:rPr>
              <a:t>Sample 3  ACCAA </a:t>
            </a:r>
            <a:endParaRPr b="0" i="0" sz="1500" u="none" cap="none" strike="noStrike">
              <a:solidFill>
                <a:schemeClr val="dk1"/>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chemeClr val="dk1"/>
                </a:solidFill>
                <a:latin typeface="Average"/>
                <a:ea typeface="Average"/>
                <a:cs typeface="Average"/>
                <a:sym typeface="Average"/>
              </a:rPr>
              <a:t>Sample 4  AAGAG</a:t>
            </a:r>
            <a:endParaRPr b="0" i="0" sz="1500" u="none" cap="none" strike="noStrike">
              <a:solidFill>
                <a:schemeClr val="dk1"/>
              </a:solidFill>
              <a:latin typeface="Average"/>
              <a:ea typeface="Average"/>
              <a:cs typeface="Average"/>
              <a:sym typeface="Average"/>
            </a:endParaRPr>
          </a:p>
        </p:txBody>
      </p:sp>
      <p:cxnSp>
        <p:nvCxnSpPr>
          <p:cNvPr id="256" name="Google Shape;256;p13"/>
          <p:cNvCxnSpPr/>
          <p:nvPr/>
        </p:nvCxnSpPr>
        <p:spPr>
          <a:xfrm>
            <a:off x="2130225" y="3054225"/>
            <a:ext cx="494700" cy="3300"/>
          </a:xfrm>
          <a:prstGeom prst="straightConnector1">
            <a:avLst/>
          </a:prstGeom>
          <a:noFill/>
          <a:ln cap="flat" cmpd="sng" w="9525">
            <a:solidFill>
              <a:schemeClr val="dk2"/>
            </a:solidFill>
            <a:prstDash val="solid"/>
            <a:round/>
            <a:headEnd len="sm" w="sm" type="none"/>
            <a:tailEnd len="med" w="med" type="triangle"/>
          </a:ln>
        </p:spPr>
      </p:cxnSp>
      <p:sp>
        <p:nvSpPr>
          <p:cNvPr id="257" name="Google Shape;257;p13"/>
          <p:cNvSpPr txBox="1"/>
          <p:nvPr/>
        </p:nvSpPr>
        <p:spPr>
          <a:xfrm>
            <a:off x="2752425" y="2588525"/>
            <a:ext cx="23526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verage"/>
                <a:ea typeface="Average"/>
                <a:cs typeface="Average"/>
                <a:sym typeface="Average"/>
              </a:rPr>
              <a:t>tree topology, branch length, nucleotide frequencies, substitution rates, etc.</a:t>
            </a:r>
            <a:endParaRPr b="0" i="0" sz="1800" u="none" cap="none" strike="noStrike">
              <a:solidFill>
                <a:schemeClr val="dk1"/>
              </a:solidFill>
              <a:latin typeface="Average"/>
              <a:ea typeface="Average"/>
              <a:cs typeface="Average"/>
              <a:sym typeface="Average"/>
            </a:endParaRPr>
          </a:p>
        </p:txBody>
      </p:sp>
      <p:sp>
        <p:nvSpPr>
          <p:cNvPr id="258" name="Google Shape;258;p13"/>
          <p:cNvSpPr txBox="1"/>
          <p:nvPr/>
        </p:nvSpPr>
        <p:spPr>
          <a:xfrm>
            <a:off x="311575" y="1017725"/>
            <a:ext cx="85206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verage"/>
                <a:ea typeface="Average"/>
                <a:cs typeface="Average"/>
                <a:sym typeface="Average"/>
              </a:rPr>
              <a:t>Apply a probabilistic model with parameters to estimate the evolution from an ancestral sequence.</a:t>
            </a:r>
            <a:endParaRPr b="0" i="0" sz="1800" u="none" cap="none" strike="noStrike">
              <a:solidFill>
                <a:schemeClr val="dk1"/>
              </a:solidFill>
              <a:latin typeface="Average"/>
              <a:ea typeface="Average"/>
              <a:cs typeface="Average"/>
              <a:sym typeface="Average"/>
            </a:endParaRPr>
          </a:p>
        </p:txBody>
      </p:sp>
      <p:cxnSp>
        <p:nvCxnSpPr>
          <p:cNvPr id="259" name="Google Shape;259;p13"/>
          <p:cNvCxnSpPr/>
          <p:nvPr/>
        </p:nvCxnSpPr>
        <p:spPr>
          <a:xfrm>
            <a:off x="5227275" y="3145325"/>
            <a:ext cx="494700" cy="3300"/>
          </a:xfrm>
          <a:prstGeom prst="straightConnector1">
            <a:avLst/>
          </a:prstGeom>
          <a:noFill/>
          <a:ln cap="flat" cmpd="sng" w="9525">
            <a:solidFill>
              <a:schemeClr val="dk2"/>
            </a:solidFill>
            <a:prstDash val="solid"/>
            <a:round/>
            <a:headEnd len="sm" w="sm" type="none"/>
            <a:tailEnd len="med" w="med" type="triangle"/>
          </a:ln>
        </p:spPr>
      </p:cxnSp>
      <p:sp>
        <p:nvSpPr>
          <p:cNvPr id="260" name="Google Shape;260;p13"/>
          <p:cNvSpPr txBox="1"/>
          <p:nvPr/>
        </p:nvSpPr>
        <p:spPr>
          <a:xfrm>
            <a:off x="5990275" y="1928450"/>
            <a:ext cx="26706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verage"/>
                <a:ea typeface="Average"/>
                <a:cs typeface="Average"/>
                <a:sym typeface="Average"/>
              </a:rPr>
              <a:t>Iterate over many trees and parameters.</a:t>
            </a:r>
            <a:endParaRPr b="0" i="0" sz="1800" u="none" cap="none" strike="noStrike">
              <a:solidFill>
                <a:schemeClr val="dk1"/>
              </a:solidFill>
              <a:latin typeface="Average"/>
              <a:ea typeface="Average"/>
              <a:cs typeface="Average"/>
              <a:sym typeface="Average"/>
            </a:endParaRPr>
          </a:p>
        </p:txBody>
      </p:sp>
      <p:sp>
        <p:nvSpPr>
          <p:cNvPr id="261" name="Google Shape;261;p13"/>
          <p:cNvSpPr txBox="1"/>
          <p:nvPr/>
        </p:nvSpPr>
        <p:spPr>
          <a:xfrm>
            <a:off x="6076875" y="2839175"/>
            <a:ext cx="2670600" cy="1015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verage"/>
                <a:ea typeface="Average"/>
                <a:cs typeface="Average"/>
                <a:sym typeface="Average"/>
              </a:rPr>
              <a:t>One tree that is most suitable based on observed sequences.</a:t>
            </a:r>
            <a:endParaRPr b="0" i="0" sz="1800" u="none" cap="none" strike="noStrike">
              <a:solidFill>
                <a:schemeClr val="dk1"/>
              </a:solidFill>
              <a:latin typeface="Average"/>
              <a:ea typeface="Average"/>
              <a:cs typeface="Average"/>
              <a:sym typeface="Average"/>
            </a:endParaRPr>
          </a:p>
        </p:txBody>
      </p:sp>
      <p:sp>
        <p:nvSpPr>
          <p:cNvPr id="262" name="Google Shape;262;p13"/>
          <p:cNvSpPr txBox="1"/>
          <p:nvPr/>
        </p:nvSpPr>
        <p:spPr>
          <a:xfrm>
            <a:off x="2829275" y="1926850"/>
            <a:ext cx="23526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verage"/>
                <a:ea typeface="Average"/>
                <a:cs typeface="Average"/>
                <a:sym typeface="Average"/>
              </a:rPr>
              <a:t>Parameters: </a:t>
            </a:r>
            <a:endParaRPr b="0" i="0" sz="1400" u="none" cap="none" strike="noStrike">
              <a:solidFill>
                <a:srgbClr val="000000"/>
              </a:solidFill>
              <a:latin typeface="Average"/>
              <a:ea typeface="Average"/>
              <a:cs typeface="Average"/>
              <a:sym typeface="Averag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Maximum Likelihood Coin Toss Example </a:t>
            </a:r>
            <a:endParaRPr/>
          </a:p>
        </p:txBody>
      </p:sp>
      <p:sp>
        <p:nvSpPr>
          <p:cNvPr id="268" name="Google Shape;268;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Data: coin toss 10 times (7 heads, 3 tails)</a:t>
            </a:r>
            <a:endParaRPr/>
          </a:p>
          <a:p>
            <a:pPr indent="-342900" lvl="0" marL="457200" rtl="0" algn="l">
              <a:lnSpc>
                <a:spcPct val="115000"/>
              </a:lnSpc>
              <a:spcBef>
                <a:spcPts val="0"/>
              </a:spcBef>
              <a:spcAft>
                <a:spcPts val="0"/>
              </a:spcAft>
              <a:buSzPts val="1800"/>
              <a:buChar char="●"/>
            </a:pPr>
            <a:r>
              <a:rPr lang="en"/>
              <a:t>Model: </a:t>
            </a:r>
            <a:endParaRPr/>
          </a:p>
          <a:p>
            <a:pPr indent="0" lvl="0" marL="914400" rtl="0" algn="l">
              <a:lnSpc>
                <a:spcPct val="115000"/>
              </a:lnSpc>
              <a:spcBef>
                <a:spcPts val="1200"/>
              </a:spcBef>
              <a:spcAft>
                <a:spcPts val="0"/>
              </a:spcAft>
              <a:buSzPts val="1800"/>
              <a:buNone/>
            </a:pPr>
            <a:r>
              <a:rPr lang="en"/>
              <a:t>    p for heads, </a:t>
            </a:r>
            <a:endParaRPr/>
          </a:p>
          <a:p>
            <a:pPr indent="0" lvl="0" marL="914400" rtl="0" algn="l">
              <a:lnSpc>
                <a:spcPct val="115000"/>
              </a:lnSpc>
              <a:spcBef>
                <a:spcPts val="1200"/>
              </a:spcBef>
              <a:spcAft>
                <a:spcPts val="0"/>
              </a:spcAft>
              <a:buSzPts val="1800"/>
              <a:buNone/>
            </a:pPr>
            <a:r>
              <a:rPr lang="en"/>
              <a:t>    1-p for tails</a:t>
            </a:r>
            <a:endParaRPr/>
          </a:p>
          <a:p>
            <a:pPr indent="0" lvl="0" marL="457200" rtl="0" algn="l">
              <a:lnSpc>
                <a:spcPct val="115000"/>
              </a:lnSpc>
              <a:spcBef>
                <a:spcPts val="1200"/>
              </a:spcBef>
              <a:spcAft>
                <a:spcPts val="0"/>
              </a:spcAft>
              <a:buSzPts val="1800"/>
              <a:buNone/>
            </a:pPr>
            <a:r>
              <a:rPr lang="en"/>
              <a:t>P(heads)= n  p</a:t>
            </a:r>
            <a:r>
              <a:rPr baseline="30000" lang="en"/>
              <a:t>h</a:t>
            </a:r>
            <a:r>
              <a:rPr lang="en"/>
              <a:t> (1-p)</a:t>
            </a:r>
            <a:r>
              <a:rPr baseline="30000" lang="en"/>
              <a:t>n-h</a:t>
            </a:r>
            <a:endParaRPr baseline="30000"/>
          </a:p>
          <a:p>
            <a:pPr indent="0" lvl="0" marL="457200" rtl="0" algn="l">
              <a:lnSpc>
                <a:spcPct val="115000"/>
              </a:lnSpc>
              <a:spcBef>
                <a:spcPts val="1200"/>
              </a:spcBef>
              <a:spcAft>
                <a:spcPts val="0"/>
              </a:spcAft>
              <a:buSzPts val="1800"/>
              <a:buNone/>
            </a:pPr>
            <a:r>
              <a:rPr lang="en"/>
              <a:t>	          h </a:t>
            </a:r>
            <a:endParaRPr/>
          </a:p>
          <a:p>
            <a:pPr indent="0" lvl="0" marL="0" rtl="0" algn="l">
              <a:lnSpc>
                <a:spcPct val="115000"/>
              </a:lnSpc>
              <a:spcBef>
                <a:spcPts val="1200"/>
              </a:spcBef>
              <a:spcAft>
                <a:spcPts val="1200"/>
              </a:spcAft>
              <a:buSzPts val="1800"/>
              <a:buNone/>
            </a:pPr>
            <a:r>
              <a:rPr lang="en"/>
              <a:t>Goal: Find the highest estimate for p that fits the data observed (h=7). </a:t>
            </a:r>
            <a:endParaRPr/>
          </a:p>
        </p:txBody>
      </p:sp>
      <p:sp>
        <p:nvSpPr>
          <p:cNvPr id="269" name="Google Shape;269;p14"/>
          <p:cNvSpPr/>
          <p:nvPr/>
        </p:nvSpPr>
        <p:spPr>
          <a:xfrm>
            <a:off x="1857175" y="3058225"/>
            <a:ext cx="237900" cy="572700"/>
          </a:xfrm>
          <a:prstGeom prst="bracketPair">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14"/>
          <p:cNvSpPr txBox="1"/>
          <p:nvPr/>
        </p:nvSpPr>
        <p:spPr>
          <a:xfrm>
            <a:off x="4410975" y="4474000"/>
            <a:ext cx="45210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Source: https://www.youtube.com/watch?v=xDKUIegYpWM</a:t>
            </a:r>
            <a:endParaRPr b="0" i="0" sz="1400" u="none" cap="none" strike="noStrike">
              <a:solidFill>
                <a:schemeClr val="accent3"/>
              </a:solidFill>
              <a:latin typeface="Average"/>
              <a:ea typeface="Average"/>
              <a:cs typeface="Average"/>
              <a:sym typeface="Averag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Maximum Likelihood Coin Toss Example </a:t>
            </a:r>
            <a:endParaRPr/>
          </a:p>
          <a:p>
            <a:pPr indent="0" lvl="0" marL="0" rtl="0" algn="l">
              <a:lnSpc>
                <a:spcPct val="100000"/>
              </a:lnSpc>
              <a:spcBef>
                <a:spcPts val="0"/>
              </a:spcBef>
              <a:spcAft>
                <a:spcPts val="0"/>
              </a:spcAft>
              <a:buSzPct val="111111"/>
              <a:buNone/>
            </a:pPr>
            <a:r>
              <a:rPr lang="en"/>
              <a:t> </a:t>
            </a:r>
            <a:endParaRPr/>
          </a:p>
        </p:txBody>
      </p:sp>
      <p:sp>
        <p:nvSpPr>
          <p:cNvPr id="276" name="Google Shape;276;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800"/>
              <a:buNone/>
            </a:pPr>
            <a:r>
              <a:rPr lang="en"/>
              <a:t>Let’s try p=.2. What is the probability distribution of outcomes?</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n"/>
              <a:t>Probability of observing 7 head tosses at p=.2 after 10 tosses? .001 (very low!)</a:t>
            </a:r>
            <a:endParaRPr/>
          </a:p>
        </p:txBody>
      </p:sp>
      <p:pic>
        <p:nvPicPr>
          <p:cNvPr id="277" name="Google Shape;277;p15"/>
          <p:cNvPicPr preferRelativeResize="0"/>
          <p:nvPr/>
        </p:nvPicPr>
        <p:blipFill rotWithShape="1">
          <a:blip r:embed="rId3">
            <a:alphaModFix/>
          </a:blip>
          <a:srcRect b="0" l="0" r="0" t="0"/>
          <a:stretch/>
        </p:blipFill>
        <p:spPr>
          <a:xfrm>
            <a:off x="489200" y="1555050"/>
            <a:ext cx="4351724" cy="2571750"/>
          </a:xfrm>
          <a:prstGeom prst="rect">
            <a:avLst/>
          </a:prstGeom>
          <a:noFill/>
          <a:ln>
            <a:noFill/>
          </a:ln>
        </p:spPr>
      </p:pic>
      <p:sp>
        <p:nvSpPr>
          <p:cNvPr id="278" name="Google Shape;278;p15"/>
          <p:cNvSpPr txBox="1"/>
          <p:nvPr/>
        </p:nvSpPr>
        <p:spPr>
          <a:xfrm>
            <a:off x="2087975" y="3757500"/>
            <a:ext cx="1949400" cy="3693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verage"/>
                <a:ea typeface="Average"/>
                <a:cs typeface="Average"/>
                <a:sym typeface="Average"/>
              </a:rPr>
              <a:t>Number of heads</a:t>
            </a:r>
            <a:endParaRPr b="0" i="0" sz="1200" u="none" cap="none" strike="noStrike">
              <a:solidFill>
                <a:srgbClr val="000000"/>
              </a:solidFill>
              <a:latin typeface="Average"/>
              <a:ea typeface="Average"/>
              <a:cs typeface="Average"/>
              <a:sym typeface="Average"/>
            </a:endParaRPr>
          </a:p>
        </p:txBody>
      </p:sp>
      <p:cxnSp>
        <p:nvCxnSpPr>
          <p:cNvPr id="279" name="Google Shape;279;p15"/>
          <p:cNvCxnSpPr/>
          <p:nvPr/>
        </p:nvCxnSpPr>
        <p:spPr>
          <a:xfrm>
            <a:off x="3572200" y="2863025"/>
            <a:ext cx="0" cy="628200"/>
          </a:xfrm>
          <a:prstGeom prst="straightConnector1">
            <a:avLst/>
          </a:prstGeom>
          <a:noFill/>
          <a:ln cap="flat" cmpd="sng" w="9525">
            <a:solidFill>
              <a:schemeClr val="dk2"/>
            </a:solidFill>
            <a:prstDash val="solid"/>
            <a:round/>
            <a:headEnd len="sm" w="sm" type="none"/>
            <a:tailEnd len="med" w="med" type="triangle"/>
          </a:ln>
        </p:spPr>
      </p:cxnSp>
      <p:sp>
        <p:nvSpPr>
          <p:cNvPr id="280" name="Google Shape;280;p15"/>
          <p:cNvSpPr txBox="1"/>
          <p:nvPr/>
        </p:nvSpPr>
        <p:spPr>
          <a:xfrm>
            <a:off x="3133500" y="4598950"/>
            <a:ext cx="5815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Source: https://www.omnicalculator.com/statistics/coin-flip-probability</a:t>
            </a:r>
            <a:endParaRPr b="0" i="0" sz="1400" u="none" cap="none" strike="noStrike">
              <a:solidFill>
                <a:schemeClr val="accent3"/>
              </a:solidFill>
              <a:latin typeface="Average"/>
              <a:ea typeface="Average"/>
              <a:cs typeface="Average"/>
              <a:sym typeface="Average"/>
            </a:endParaRPr>
          </a:p>
        </p:txBody>
      </p:sp>
      <p:sp>
        <p:nvSpPr>
          <p:cNvPr id="281" name="Google Shape;281;p15"/>
          <p:cNvSpPr txBox="1"/>
          <p:nvPr/>
        </p:nvSpPr>
        <p:spPr>
          <a:xfrm rot="-5400000">
            <a:off x="-300850" y="2504000"/>
            <a:ext cx="1949400" cy="3693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verage"/>
                <a:ea typeface="Average"/>
                <a:cs typeface="Average"/>
                <a:sym typeface="Average"/>
              </a:rPr>
              <a:t>Probability of success</a:t>
            </a:r>
            <a:endParaRPr b="0" i="0" sz="1200" u="none" cap="none" strike="noStrike">
              <a:solidFill>
                <a:srgbClr val="000000"/>
              </a:solidFill>
              <a:latin typeface="Average"/>
              <a:ea typeface="Average"/>
              <a:cs typeface="Average"/>
              <a:sym typeface="Averag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Maximum Likelihood Coin Toss Example </a:t>
            </a:r>
            <a:endParaRPr/>
          </a:p>
          <a:p>
            <a:pPr indent="0" lvl="0" marL="0" rtl="0" algn="l">
              <a:lnSpc>
                <a:spcPct val="100000"/>
              </a:lnSpc>
              <a:spcBef>
                <a:spcPts val="0"/>
              </a:spcBef>
              <a:spcAft>
                <a:spcPts val="0"/>
              </a:spcAft>
              <a:buSzPct val="111111"/>
              <a:buNone/>
            </a:pPr>
            <a:r>
              <a:rPr lang="en"/>
              <a:t> </a:t>
            </a:r>
            <a:endParaRPr/>
          </a:p>
        </p:txBody>
      </p:sp>
      <p:sp>
        <p:nvSpPr>
          <p:cNvPr id="287" name="Google Shape;287;p16"/>
          <p:cNvSpPr txBox="1"/>
          <p:nvPr>
            <p:ph idx="1" type="body"/>
          </p:nvPr>
        </p:nvSpPr>
        <p:spPr>
          <a:xfrm>
            <a:off x="311700" y="1017725"/>
            <a:ext cx="8637000" cy="3656400"/>
          </a:xfrm>
          <a:prstGeom prst="rect">
            <a:avLst/>
          </a:prstGeom>
          <a:noFill/>
          <a:ln>
            <a:noFill/>
          </a:ln>
        </p:spPr>
        <p:txBody>
          <a:bodyPr anchorCtr="0" anchor="t" bIns="91425" lIns="91425" spcFirstLastPara="1" rIns="91425" wrap="square" tIns="91425">
            <a:normAutofit fontScale="77500" lnSpcReduction="20000"/>
          </a:bodyPr>
          <a:lstStyle/>
          <a:p>
            <a:pPr indent="0" lvl="0" marL="0" rtl="0" algn="l">
              <a:lnSpc>
                <a:spcPct val="115000"/>
              </a:lnSpc>
              <a:spcBef>
                <a:spcPts val="0"/>
              </a:spcBef>
              <a:spcAft>
                <a:spcPts val="0"/>
              </a:spcAft>
              <a:buSzPct val="100981"/>
              <a:buNone/>
            </a:pPr>
            <a:r>
              <a:rPr lang="en" sz="2300"/>
              <a:t>After multiple iterations trying different p values, you would find…</a:t>
            </a:r>
            <a:endParaRPr sz="2300"/>
          </a:p>
          <a:p>
            <a:pPr indent="0" lvl="0" marL="0" rtl="0" algn="l">
              <a:lnSpc>
                <a:spcPct val="115000"/>
              </a:lnSpc>
              <a:spcBef>
                <a:spcPts val="1200"/>
              </a:spcBef>
              <a:spcAft>
                <a:spcPts val="0"/>
              </a:spcAft>
              <a:buSzPct val="129032"/>
              <a:buNone/>
            </a:pPr>
            <a:r>
              <a:t/>
            </a:r>
            <a:endParaRPr/>
          </a:p>
          <a:p>
            <a:pPr indent="0" lvl="0" marL="0" rtl="0" algn="l">
              <a:lnSpc>
                <a:spcPct val="115000"/>
              </a:lnSpc>
              <a:spcBef>
                <a:spcPts val="1200"/>
              </a:spcBef>
              <a:spcAft>
                <a:spcPts val="0"/>
              </a:spcAft>
              <a:buSzPct val="129032"/>
              <a:buNone/>
            </a:pPr>
            <a:r>
              <a:t/>
            </a:r>
            <a:endParaRPr/>
          </a:p>
          <a:p>
            <a:pPr indent="0" lvl="0" marL="0" rtl="0" algn="l">
              <a:lnSpc>
                <a:spcPct val="115000"/>
              </a:lnSpc>
              <a:spcBef>
                <a:spcPts val="1200"/>
              </a:spcBef>
              <a:spcAft>
                <a:spcPts val="0"/>
              </a:spcAft>
              <a:buSzPct val="129032"/>
              <a:buNone/>
            </a:pPr>
            <a:r>
              <a:t/>
            </a:r>
            <a:endParaRPr/>
          </a:p>
          <a:p>
            <a:pPr indent="0" lvl="0" marL="0" rtl="0" algn="l">
              <a:lnSpc>
                <a:spcPct val="115000"/>
              </a:lnSpc>
              <a:spcBef>
                <a:spcPts val="1200"/>
              </a:spcBef>
              <a:spcAft>
                <a:spcPts val="0"/>
              </a:spcAft>
              <a:buSzPct val="129032"/>
              <a:buNone/>
            </a:pPr>
            <a:r>
              <a:t/>
            </a:r>
            <a:endParaRPr/>
          </a:p>
          <a:p>
            <a:pPr indent="0" lvl="0" marL="0" rtl="0" algn="l">
              <a:lnSpc>
                <a:spcPct val="115000"/>
              </a:lnSpc>
              <a:spcBef>
                <a:spcPts val="1200"/>
              </a:spcBef>
              <a:spcAft>
                <a:spcPts val="0"/>
              </a:spcAft>
              <a:buSzPct val="129032"/>
              <a:buNone/>
            </a:pPr>
            <a:r>
              <a:t/>
            </a:r>
            <a:endParaRPr/>
          </a:p>
          <a:p>
            <a:pPr indent="0" lvl="0" marL="0" rtl="0" algn="l">
              <a:lnSpc>
                <a:spcPct val="115000"/>
              </a:lnSpc>
              <a:spcBef>
                <a:spcPts val="1200"/>
              </a:spcBef>
              <a:spcAft>
                <a:spcPts val="0"/>
              </a:spcAft>
              <a:buSzPct val="129032"/>
              <a:buNone/>
            </a:pPr>
            <a:r>
              <a:t/>
            </a:r>
            <a:endParaRPr/>
          </a:p>
          <a:p>
            <a:pPr indent="0" lvl="0" marL="0" rtl="0" algn="l">
              <a:lnSpc>
                <a:spcPct val="115000"/>
              </a:lnSpc>
              <a:spcBef>
                <a:spcPts val="1200"/>
              </a:spcBef>
              <a:spcAft>
                <a:spcPts val="0"/>
              </a:spcAft>
              <a:buSzPct val="100981"/>
              <a:buNone/>
            </a:pPr>
            <a:r>
              <a:t/>
            </a:r>
            <a:endParaRPr sz="2300"/>
          </a:p>
          <a:p>
            <a:pPr indent="0" lvl="0" marL="0" rtl="0" algn="l">
              <a:lnSpc>
                <a:spcPct val="115000"/>
              </a:lnSpc>
              <a:spcBef>
                <a:spcPts val="1200"/>
              </a:spcBef>
              <a:spcAft>
                <a:spcPts val="1200"/>
              </a:spcAft>
              <a:buSzPct val="100981"/>
              <a:buNone/>
            </a:pPr>
            <a:r>
              <a:rPr lang="en" sz="2300"/>
              <a:t>Probability of observing 7 head tosses at p=.7 after 10 tosses? .27 (the highest probability compared to all other p values)</a:t>
            </a:r>
            <a:endParaRPr sz="2300"/>
          </a:p>
        </p:txBody>
      </p:sp>
      <p:sp>
        <p:nvSpPr>
          <p:cNvPr id="288" name="Google Shape;288;p16"/>
          <p:cNvSpPr txBox="1"/>
          <p:nvPr/>
        </p:nvSpPr>
        <p:spPr>
          <a:xfrm>
            <a:off x="3133500" y="4598950"/>
            <a:ext cx="5815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Source: https://www.omnicalculator.com/statistics/coin-flip-probability</a:t>
            </a:r>
            <a:endParaRPr b="0" i="0" sz="1400" u="none" cap="none" strike="noStrike">
              <a:solidFill>
                <a:schemeClr val="accent3"/>
              </a:solidFill>
              <a:latin typeface="Average"/>
              <a:ea typeface="Average"/>
              <a:cs typeface="Average"/>
              <a:sym typeface="Average"/>
            </a:endParaRPr>
          </a:p>
        </p:txBody>
      </p:sp>
      <p:pic>
        <p:nvPicPr>
          <p:cNvPr id="289" name="Google Shape;289;p16"/>
          <p:cNvPicPr preferRelativeResize="0"/>
          <p:nvPr/>
        </p:nvPicPr>
        <p:blipFill rotWithShape="1">
          <a:blip r:embed="rId3">
            <a:alphaModFix/>
          </a:blip>
          <a:srcRect b="0" l="0" r="0" t="0"/>
          <a:stretch/>
        </p:blipFill>
        <p:spPr>
          <a:xfrm>
            <a:off x="437725" y="1391613"/>
            <a:ext cx="4404750" cy="2647524"/>
          </a:xfrm>
          <a:prstGeom prst="rect">
            <a:avLst/>
          </a:prstGeom>
          <a:noFill/>
          <a:ln>
            <a:noFill/>
          </a:ln>
        </p:spPr>
      </p:pic>
      <p:sp>
        <p:nvSpPr>
          <p:cNvPr id="290" name="Google Shape;290;p16"/>
          <p:cNvSpPr txBox="1"/>
          <p:nvPr/>
        </p:nvSpPr>
        <p:spPr>
          <a:xfrm>
            <a:off x="2202625" y="3669825"/>
            <a:ext cx="1949400" cy="3693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verage"/>
                <a:ea typeface="Average"/>
                <a:cs typeface="Average"/>
                <a:sym typeface="Average"/>
              </a:rPr>
              <a:t>Number of heads</a:t>
            </a:r>
            <a:endParaRPr b="0" i="0" sz="1200" u="none" cap="none" strike="noStrike">
              <a:solidFill>
                <a:srgbClr val="000000"/>
              </a:solidFill>
              <a:latin typeface="Average"/>
              <a:ea typeface="Average"/>
              <a:cs typeface="Average"/>
              <a:sym typeface="Average"/>
            </a:endParaRPr>
          </a:p>
        </p:txBody>
      </p:sp>
      <p:cxnSp>
        <p:nvCxnSpPr>
          <p:cNvPr id="291" name="Google Shape;291;p16"/>
          <p:cNvCxnSpPr/>
          <p:nvPr/>
        </p:nvCxnSpPr>
        <p:spPr>
          <a:xfrm>
            <a:off x="3557600" y="1464675"/>
            <a:ext cx="0" cy="258600"/>
          </a:xfrm>
          <a:prstGeom prst="straightConnector1">
            <a:avLst/>
          </a:prstGeom>
          <a:noFill/>
          <a:ln cap="flat" cmpd="sng" w="9525">
            <a:solidFill>
              <a:schemeClr val="dk2"/>
            </a:solidFill>
            <a:prstDash val="solid"/>
            <a:round/>
            <a:headEnd len="sm" w="sm" type="none"/>
            <a:tailEnd len="med" w="med" type="triangle"/>
          </a:ln>
        </p:spPr>
      </p:cxnSp>
      <p:sp>
        <p:nvSpPr>
          <p:cNvPr id="292" name="Google Shape;292;p16"/>
          <p:cNvSpPr txBox="1"/>
          <p:nvPr/>
        </p:nvSpPr>
        <p:spPr>
          <a:xfrm rot="-5400000">
            <a:off x="-352325" y="2387100"/>
            <a:ext cx="1949400" cy="3693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verage"/>
                <a:ea typeface="Average"/>
                <a:cs typeface="Average"/>
                <a:sym typeface="Average"/>
              </a:rPr>
              <a:t>Probability of success</a:t>
            </a:r>
            <a:endParaRPr b="0" i="0" sz="1200" u="none" cap="none" strike="noStrike">
              <a:solidFill>
                <a:srgbClr val="000000"/>
              </a:solidFill>
              <a:latin typeface="Average"/>
              <a:ea typeface="Average"/>
              <a:cs typeface="Average"/>
              <a:sym typeface="Averag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17"/>
          <p:cNvSpPr txBox="1"/>
          <p:nvPr>
            <p:ph type="title"/>
          </p:nvPr>
        </p:nvSpPr>
        <p:spPr>
          <a:xfrm>
            <a:off x="311700" y="2872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Maximum Likelihood Tree for Phylogenetic Trees</a:t>
            </a:r>
            <a:endParaRPr/>
          </a:p>
        </p:txBody>
      </p:sp>
      <p:sp>
        <p:nvSpPr>
          <p:cNvPr id="298" name="Google Shape;298;p17"/>
          <p:cNvSpPr txBox="1"/>
          <p:nvPr>
            <p:ph idx="1" type="body"/>
          </p:nvPr>
        </p:nvSpPr>
        <p:spPr>
          <a:xfrm>
            <a:off x="311700" y="859950"/>
            <a:ext cx="8520600" cy="3895200"/>
          </a:xfrm>
          <a:prstGeom prst="rect">
            <a:avLst/>
          </a:prstGeom>
          <a:noFill/>
          <a:ln>
            <a:noFill/>
          </a:ln>
        </p:spPr>
        <p:txBody>
          <a:bodyPr anchorCtr="0" anchor="t" bIns="91425" lIns="91425" spcFirstLastPara="1" rIns="91425" wrap="square" tIns="91425">
            <a:noAutofit/>
          </a:bodyPr>
          <a:lstStyle/>
          <a:p>
            <a:pPr indent="-332105" lvl="0" marL="457200" rtl="0" algn="l">
              <a:lnSpc>
                <a:spcPct val="95000"/>
              </a:lnSpc>
              <a:spcBef>
                <a:spcPts val="0"/>
              </a:spcBef>
              <a:spcAft>
                <a:spcPts val="0"/>
              </a:spcAft>
              <a:buSzPts val="1630"/>
              <a:buChar char="●"/>
            </a:pPr>
            <a:r>
              <a:rPr lang="en" sz="1629"/>
              <a:t>Observed data: MSA</a:t>
            </a:r>
            <a:endParaRPr sz="1629"/>
          </a:p>
          <a:p>
            <a:pPr indent="0" lvl="0" marL="457200" rtl="0" algn="l">
              <a:lnSpc>
                <a:spcPct val="95000"/>
              </a:lnSpc>
              <a:spcBef>
                <a:spcPts val="1200"/>
              </a:spcBef>
              <a:spcAft>
                <a:spcPts val="0"/>
              </a:spcAft>
              <a:buSzPts val="1800"/>
              <a:buNone/>
            </a:pPr>
            <a:r>
              <a:t/>
            </a:r>
            <a:endParaRPr sz="1629"/>
          </a:p>
          <a:p>
            <a:pPr indent="-332105" lvl="0" marL="457200" rtl="0" algn="l">
              <a:lnSpc>
                <a:spcPct val="95000"/>
              </a:lnSpc>
              <a:spcBef>
                <a:spcPts val="1200"/>
              </a:spcBef>
              <a:spcAft>
                <a:spcPts val="0"/>
              </a:spcAft>
              <a:buSzPts val="1630"/>
              <a:buChar char="●"/>
            </a:pPr>
            <a:r>
              <a:rPr lang="en" sz="1629"/>
              <a:t>Model: how one ancestral sequence has evolved into the MSA.</a:t>
            </a:r>
            <a:endParaRPr sz="1629"/>
          </a:p>
          <a:p>
            <a:pPr indent="0" lvl="0" marL="457200" rtl="0" algn="l">
              <a:lnSpc>
                <a:spcPct val="95000"/>
              </a:lnSpc>
              <a:spcBef>
                <a:spcPts val="1200"/>
              </a:spcBef>
              <a:spcAft>
                <a:spcPts val="0"/>
              </a:spcAft>
              <a:buSzPts val="935"/>
              <a:buNone/>
            </a:pPr>
            <a:r>
              <a:rPr lang="en" sz="1629"/>
              <a:t>Parameters: </a:t>
            </a:r>
            <a:endParaRPr sz="1629"/>
          </a:p>
          <a:p>
            <a:pPr indent="457200" lvl="0" marL="457200" rtl="0" algn="l">
              <a:lnSpc>
                <a:spcPct val="95000"/>
              </a:lnSpc>
              <a:spcBef>
                <a:spcPts val="1200"/>
              </a:spcBef>
              <a:spcAft>
                <a:spcPts val="0"/>
              </a:spcAft>
              <a:buSzPts val="935"/>
              <a:buNone/>
            </a:pPr>
            <a:r>
              <a:rPr lang="en" sz="1629"/>
              <a:t>tree shape, </a:t>
            </a:r>
            <a:endParaRPr sz="1629"/>
          </a:p>
          <a:p>
            <a:pPr indent="457200" lvl="0" marL="457200" rtl="0" algn="l">
              <a:lnSpc>
                <a:spcPct val="95000"/>
              </a:lnSpc>
              <a:spcBef>
                <a:spcPts val="1200"/>
              </a:spcBef>
              <a:spcAft>
                <a:spcPts val="0"/>
              </a:spcAft>
              <a:buSzPts val="935"/>
              <a:buNone/>
            </a:pPr>
            <a:r>
              <a:rPr lang="en" sz="1629"/>
              <a:t>branch length, </a:t>
            </a:r>
            <a:endParaRPr sz="1629"/>
          </a:p>
          <a:p>
            <a:pPr indent="457200" lvl="0" marL="457200" rtl="0" algn="l">
              <a:lnSpc>
                <a:spcPct val="95000"/>
              </a:lnSpc>
              <a:spcBef>
                <a:spcPts val="1200"/>
              </a:spcBef>
              <a:spcAft>
                <a:spcPts val="0"/>
              </a:spcAft>
              <a:buSzPts val="935"/>
              <a:buNone/>
            </a:pPr>
            <a:r>
              <a:rPr lang="en" sz="1629"/>
              <a:t>nucleotide frequencies, </a:t>
            </a:r>
            <a:endParaRPr sz="1629"/>
          </a:p>
          <a:p>
            <a:pPr indent="457200" lvl="0" marL="457200" rtl="0" algn="l">
              <a:lnSpc>
                <a:spcPct val="95000"/>
              </a:lnSpc>
              <a:spcBef>
                <a:spcPts val="1200"/>
              </a:spcBef>
              <a:spcAft>
                <a:spcPts val="0"/>
              </a:spcAft>
              <a:buSzPts val="935"/>
              <a:buNone/>
            </a:pPr>
            <a:r>
              <a:rPr lang="en" sz="1629"/>
              <a:t>substitution rates, etc.</a:t>
            </a:r>
            <a:endParaRPr sz="1629"/>
          </a:p>
          <a:p>
            <a:pPr indent="0" lvl="0" marL="0" rtl="0" algn="l">
              <a:lnSpc>
                <a:spcPct val="95000"/>
              </a:lnSpc>
              <a:spcBef>
                <a:spcPts val="1200"/>
              </a:spcBef>
              <a:spcAft>
                <a:spcPts val="0"/>
              </a:spcAft>
              <a:buSzPts val="935"/>
              <a:buNone/>
            </a:pPr>
            <a:r>
              <a:t/>
            </a:r>
            <a:endParaRPr sz="1629"/>
          </a:p>
          <a:p>
            <a:pPr indent="-332105" lvl="0" marL="457200" rtl="0" algn="l">
              <a:lnSpc>
                <a:spcPct val="95000"/>
              </a:lnSpc>
              <a:spcBef>
                <a:spcPts val="1200"/>
              </a:spcBef>
              <a:spcAft>
                <a:spcPts val="0"/>
              </a:spcAft>
              <a:buSzPts val="1630"/>
              <a:buChar char="●"/>
            </a:pPr>
            <a:r>
              <a:rPr lang="en" sz="1629"/>
              <a:t>Goal: Iterate and perform a heuristic search for the maximum or best values for the parameters on the input data.  Very computationally intense!</a:t>
            </a:r>
            <a:endParaRPr sz="1629"/>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Assess tree reliability using resampling techniques</a:t>
            </a:r>
            <a:endParaRPr/>
          </a:p>
        </p:txBody>
      </p:sp>
      <p:sp>
        <p:nvSpPr>
          <p:cNvPr id="304" name="Google Shape;304;p18"/>
          <p:cNvSpPr txBox="1"/>
          <p:nvPr>
            <p:ph idx="1" type="body"/>
          </p:nvPr>
        </p:nvSpPr>
        <p:spPr>
          <a:xfrm>
            <a:off x="311700" y="1152475"/>
            <a:ext cx="8520600" cy="3824700"/>
          </a:xfrm>
          <a:prstGeom prst="rect">
            <a:avLst/>
          </a:prstGeom>
          <a:noFill/>
          <a:ln>
            <a:noFill/>
          </a:ln>
        </p:spPr>
        <p:txBody>
          <a:bodyPr anchorCtr="0" anchor="t" bIns="91425" lIns="91425" spcFirstLastPara="1" rIns="91425" wrap="square" tIns="91425">
            <a:normAutofit/>
          </a:bodyPr>
          <a:lstStyle/>
          <a:p>
            <a:pPr indent="-317500" lvl="0" marL="457200" rtl="0" algn="l">
              <a:lnSpc>
                <a:spcPct val="115000"/>
              </a:lnSpc>
              <a:spcBef>
                <a:spcPts val="0"/>
              </a:spcBef>
              <a:spcAft>
                <a:spcPts val="0"/>
              </a:spcAft>
              <a:buSzPts val="1400"/>
              <a:buChar char="●"/>
            </a:pPr>
            <a:r>
              <a:rPr lang="en" sz="1400"/>
              <a:t>Bootstrapping:</a:t>
            </a:r>
            <a:endParaRPr sz="1400"/>
          </a:p>
          <a:p>
            <a:pPr indent="-317500" lvl="1" marL="914400" rtl="0" algn="l">
              <a:lnSpc>
                <a:spcPct val="115000"/>
              </a:lnSpc>
              <a:spcBef>
                <a:spcPts val="0"/>
              </a:spcBef>
              <a:spcAft>
                <a:spcPts val="0"/>
              </a:spcAft>
              <a:buSzPts val="1400"/>
              <a:buChar char="○"/>
            </a:pPr>
            <a:r>
              <a:rPr lang="en"/>
              <a:t>Helpful to estimate the error in situations in which the underlying sampling distribution is either unknown or difficult to derive.  </a:t>
            </a:r>
            <a:endParaRPr/>
          </a:p>
          <a:p>
            <a:pPr indent="-317500" lvl="1" marL="914400" rtl="0" algn="l">
              <a:lnSpc>
                <a:spcPct val="115000"/>
              </a:lnSpc>
              <a:spcBef>
                <a:spcPts val="0"/>
              </a:spcBef>
              <a:spcAft>
                <a:spcPts val="0"/>
              </a:spcAft>
              <a:buSzPts val="1400"/>
              <a:buChar char="○"/>
            </a:pPr>
            <a:r>
              <a:rPr lang="en"/>
              <a:t>The bootstrap approximates the underlying distribution by resampling from the original dataset (constructed by randomly sampling columns of the original alignment with replacement until an alignment of the same size is obtained). For each artificial dataset, a tree is constructed and the proportion of each clade among all the bootstrap replicates is computed. This proportion is taken as the statistical confidence supporting the monophyly of the subset.</a:t>
            </a:r>
            <a:endParaRPr/>
          </a:p>
          <a:p>
            <a:pPr indent="-342900" lvl="0" marL="457200" rtl="0" algn="l">
              <a:lnSpc>
                <a:spcPct val="115000"/>
              </a:lnSpc>
              <a:spcBef>
                <a:spcPts val="0"/>
              </a:spcBef>
              <a:spcAft>
                <a:spcPts val="0"/>
              </a:spcAft>
              <a:buSzPts val="1800"/>
              <a:buChar char="●"/>
            </a:pPr>
            <a:r>
              <a:rPr lang="en" sz="1400"/>
              <a:t>Jackknifing:                                                                                                                                                                                                                                                                                                                                                                                                                                                                                                                                                                                                                                                                                                                                                                                                                                                                                                                                                                                                                                                                                                                                                                                                                                                                                                                                                                                                                                                                                                                                                                                                                 </a:t>
            </a:r>
            <a:endParaRPr sz="1400"/>
          </a:p>
          <a:p>
            <a:pPr indent="-317500" lvl="1" marL="914400" rtl="0" algn="l">
              <a:lnSpc>
                <a:spcPct val="115000"/>
              </a:lnSpc>
              <a:spcBef>
                <a:spcPts val="0"/>
              </a:spcBef>
              <a:spcAft>
                <a:spcPts val="0"/>
              </a:spcAft>
              <a:buSzPts val="1400"/>
              <a:buChar char="○"/>
            </a:pPr>
            <a:r>
              <a:rPr lang="en"/>
              <a:t>Helpful to evaluate the reliability of specific clades. </a:t>
            </a:r>
            <a:endParaRPr/>
          </a:p>
          <a:p>
            <a:pPr indent="-317500" lvl="1" marL="914400" rtl="0" algn="l">
              <a:lnSpc>
                <a:spcPct val="115000"/>
              </a:lnSpc>
              <a:spcBef>
                <a:spcPts val="0"/>
              </a:spcBef>
              <a:spcAft>
                <a:spcPts val="0"/>
              </a:spcAft>
              <a:buSzPts val="1400"/>
              <a:buChar char="○"/>
            </a:pPr>
            <a:r>
              <a:rPr lang="en"/>
              <a:t>The jackknife generates replicate data sets by randomly purging half of the sites from the original alignment. Trees are reconstructed for each replicate and the proportion of each clade among all the bootstrap replicates can be considered a measure of robustness of the monophyly of the taxa subset.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Picking a tree method depends on the question you are asking.</a:t>
            </a:r>
            <a:endParaRPr/>
          </a:p>
        </p:txBody>
      </p:sp>
      <p:sp>
        <p:nvSpPr>
          <p:cNvPr id="310" name="Google Shape;310;p19"/>
          <p:cNvSpPr txBox="1"/>
          <p:nvPr>
            <p:ph idx="1" type="body"/>
          </p:nvPr>
        </p:nvSpPr>
        <p:spPr>
          <a:xfrm>
            <a:off x="311700" y="1152475"/>
            <a:ext cx="42603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u="sng"/>
              <a:t>Maximum Parsimony (i.e. UShER)</a:t>
            </a:r>
            <a:endParaRPr u="sng"/>
          </a:p>
          <a:p>
            <a:pPr indent="0" lvl="0" marL="0" rtl="0" algn="l">
              <a:lnSpc>
                <a:spcPct val="115000"/>
              </a:lnSpc>
              <a:spcBef>
                <a:spcPts val="1200"/>
              </a:spcBef>
              <a:spcAft>
                <a:spcPts val="0"/>
              </a:spcAft>
              <a:buSzPts val="1800"/>
              <a:buNone/>
            </a:pPr>
            <a:r>
              <a:rPr lang="en"/>
              <a:t>Best for understanding which sequences are most closely related to yours.</a:t>
            </a:r>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n"/>
              <a:t>Pro: easy and fast!</a:t>
            </a:r>
            <a:endParaRPr/>
          </a:p>
          <a:p>
            <a:pPr indent="0" lvl="0" marL="0" rtl="0" algn="l">
              <a:lnSpc>
                <a:spcPct val="115000"/>
              </a:lnSpc>
              <a:spcBef>
                <a:spcPts val="1200"/>
              </a:spcBef>
              <a:spcAft>
                <a:spcPts val="1200"/>
              </a:spcAft>
              <a:buSzPts val="1800"/>
              <a:buNone/>
            </a:pPr>
            <a:r>
              <a:rPr lang="en"/>
              <a:t>Con: limited in the types of questions you can answer.</a:t>
            </a:r>
            <a:endParaRPr/>
          </a:p>
        </p:txBody>
      </p:sp>
      <p:sp>
        <p:nvSpPr>
          <p:cNvPr id="311" name="Google Shape;311;p19"/>
          <p:cNvSpPr txBox="1"/>
          <p:nvPr>
            <p:ph idx="1" type="body"/>
          </p:nvPr>
        </p:nvSpPr>
        <p:spPr>
          <a:xfrm>
            <a:off x="4572000" y="1152475"/>
            <a:ext cx="42603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u="sng"/>
              <a:t>Maximum  Likelihood (i.e. Nextstrain)</a:t>
            </a:r>
            <a:endParaRPr u="sng"/>
          </a:p>
          <a:p>
            <a:pPr indent="0" lvl="0" marL="0" rtl="0" algn="l">
              <a:lnSpc>
                <a:spcPct val="115000"/>
              </a:lnSpc>
              <a:spcBef>
                <a:spcPts val="1200"/>
              </a:spcBef>
              <a:spcAft>
                <a:spcPts val="0"/>
              </a:spcAft>
              <a:buSzPts val="1800"/>
              <a:buNone/>
            </a:pPr>
            <a:r>
              <a:rPr lang="en"/>
              <a:t>Best for identifying transmission dynamics, doing phylogeographic studies, and making inferences related to time.</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lang="en"/>
              <a:t>Pro: can answer many different questions.</a:t>
            </a:r>
            <a:endParaRPr/>
          </a:p>
          <a:p>
            <a:pPr indent="0" lvl="0" marL="0" rtl="0" algn="l">
              <a:lnSpc>
                <a:spcPct val="115000"/>
              </a:lnSpc>
              <a:spcBef>
                <a:spcPts val="1200"/>
              </a:spcBef>
              <a:spcAft>
                <a:spcPts val="1200"/>
              </a:spcAft>
              <a:buSzPts val="1800"/>
              <a:buNone/>
            </a:pPr>
            <a:r>
              <a:rPr lang="en"/>
              <a:t>Con: can be slow, require command line, and be computationally intense.</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0"/>
          <p:cNvSpPr txBox="1"/>
          <p:nvPr>
            <p:ph type="title"/>
          </p:nvPr>
        </p:nvSpPr>
        <p:spPr>
          <a:xfrm>
            <a:off x="311700" y="15595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Interpreting a tree</a:t>
            </a:r>
            <a:endParaRPr/>
          </a:p>
        </p:txBody>
      </p:sp>
      <p:pic>
        <p:nvPicPr>
          <p:cNvPr id="317" name="Google Shape;317;p20"/>
          <p:cNvPicPr preferRelativeResize="0"/>
          <p:nvPr/>
        </p:nvPicPr>
        <p:blipFill rotWithShape="1">
          <a:blip r:embed="rId3">
            <a:alphaModFix/>
          </a:blip>
          <a:srcRect b="0" l="0" r="0" t="0"/>
          <a:stretch/>
        </p:blipFill>
        <p:spPr>
          <a:xfrm>
            <a:off x="311700" y="649725"/>
            <a:ext cx="5923348" cy="3997100"/>
          </a:xfrm>
          <a:prstGeom prst="rect">
            <a:avLst/>
          </a:prstGeom>
          <a:noFill/>
          <a:ln>
            <a:noFill/>
          </a:ln>
        </p:spPr>
      </p:pic>
      <p:sp>
        <p:nvSpPr>
          <p:cNvPr id="318" name="Google Shape;318;p20"/>
          <p:cNvSpPr txBox="1"/>
          <p:nvPr/>
        </p:nvSpPr>
        <p:spPr>
          <a:xfrm>
            <a:off x="182100" y="4527900"/>
            <a:ext cx="8779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Source: https://help.czgenepi.org/hc/en-us/articles/9009239323156-Genomic-epi-basics-Practice-reading-phylogenetic-trees</a:t>
            </a:r>
            <a:endParaRPr b="0" i="0" sz="1400" u="none" cap="none" strike="noStrike">
              <a:solidFill>
                <a:schemeClr val="dk1"/>
              </a:solidFill>
              <a:latin typeface="Average"/>
              <a:ea typeface="Average"/>
              <a:cs typeface="Average"/>
              <a:sym typeface="Average"/>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1"/>
          <p:cNvSpPr txBox="1"/>
          <p:nvPr>
            <p:ph type="title"/>
          </p:nvPr>
        </p:nvSpPr>
        <p:spPr>
          <a:xfrm>
            <a:off x="311700" y="1732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Interpreting a tree</a:t>
            </a:r>
            <a:endParaRPr/>
          </a:p>
          <a:p>
            <a:pPr indent="0" lvl="0" marL="0" rtl="0" algn="l">
              <a:lnSpc>
                <a:spcPct val="100000"/>
              </a:lnSpc>
              <a:spcBef>
                <a:spcPts val="0"/>
              </a:spcBef>
              <a:spcAft>
                <a:spcPts val="0"/>
              </a:spcAft>
              <a:buSzPct val="111111"/>
              <a:buNone/>
            </a:pPr>
            <a:r>
              <a:t/>
            </a:r>
            <a:endParaRPr/>
          </a:p>
        </p:txBody>
      </p:sp>
      <p:pic>
        <p:nvPicPr>
          <p:cNvPr id="324" name="Google Shape;324;p21"/>
          <p:cNvPicPr preferRelativeResize="0"/>
          <p:nvPr/>
        </p:nvPicPr>
        <p:blipFill rotWithShape="1">
          <a:blip r:embed="rId3">
            <a:alphaModFix/>
          </a:blip>
          <a:srcRect b="0" l="0" r="0" t="0"/>
          <a:stretch/>
        </p:blipFill>
        <p:spPr>
          <a:xfrm>
            <a:off x="469275" y="660950"/>
            <a:ext cx="7430277" cy="4027149"/>
          </a:xfrm>
          <a:prstGeom prst="rect">
            <a:avLst/>
          </a:prstGeom>
          <a:noFill/>
          <a:ln>
            <a:noFill/>
          </a:ln>
        </p:spPr>
      </p:pic>
      <p:sp>
        <p:nvSpPr>
          <p:cNvPr id="325" name="Google Shape;325;p21"/>
          <p:cNvSpPr txBox="1"/>
          <p:nvPr/>
        </p:nvSpPr>
        <p:spPr>
          <a:xfrm>
            <a:off x="197050" y="4527900"/>
            <a:ext cx="876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Source: https://help.czgenepi.org/hc/en-us/articles/9009239323156-Genomic-epi-basics-Practice-reading-phylogenetic-trees</a:t>
            </a:r>
            <a:endParaRPr b="0" i="0" sz="1400" u="none" cap="none" strike="noStrike">
              <a:solidFill>
                <a:schemeClr val="dk1"/>
              </a:solidFill>
              <a:latin typeface="Average"/>
              <a:ea typeface="Average"/>
              <a:cs typeface="Average"/>
              <a:sym typeface="Averag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2"/>
          <p:cNvSpPr txBox="1"/>
          <p:nvPr>
            <p:ph type="title"/>
          </p:nvPr>
        </p:nvSpPr>
        <p:spPr>
          <a:xfrm>
            <a:off x="311700" y="2215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Interpreting a tree</a:t>
            </a:r>
            <a:endParaRPr/>
          </a:p>
          <a:p>
            <a:pPr indent="0" lvl="0" marL="0" rtl="0" algn="l">
              <a:lnSpc>
                <a:spcPct val="100000"/>
              </a:lnSpc>
              <a:spcBef>
                <a:spcPts val="0"/>
              </a:spcBef>
              <a:spcAft>
                <a:spcPts val="0"/>
              </a:spcAft>
              <a:buSzPct val="111111"/>
              <a:buNone/>
            </a:pPr>
            <a:r>
              <a:t/>
            </a:r>
            <a:endParaRPr/>
          </a:p>
        </p:txBody>
      </p:sp>
      <p:pic>
        <p:nvPicPr>
          <p:cNvPr id="331" name="Google Shape;331;p22"/>
          <p:cNvPicPr preferRelativeResize="0"/>
          <p:nvPr/>
        </p:nvPicPr>
        <p:blipFill rotWithShape="1">
          <a:blip r:embed="rId3">
            <a:alphaModFix/>
          </a:blip>
          <a:srcRect b="0" l="0" r="0" t="0"/>
          <a:stretch/>
        </p:blipFill>
        <p:spPr>
          <a:xfrm>
            <a:off x="433199" y="717675"/>
            <a:ext cx="5931525" cy="3991026"/>
          </a:xfrm>
          <a:prstGeom prst="rect">
            <a:avLst/>
          </a:prstGeom>
          <a:noFill/>
          <a:ln>
            <a:noFill/>
          </a:ln>
        </p:spPr>
      </p:pic>
      <p:sp>
        <p:nvSpPr>
          <p:cNvPr id="332" name="Google Shape;332;p22"/>
          <p:cNvSpPr txBox="1"/>
          <p:nvPr/>
        </p:nvSpPr>
        <p:spPr>
          <a:xfrm>
            <a:off x="197050" y="4527900"/>
            <a:ext cx="876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Source: https://help.czgenepi.org/hc/en-us/articles/9009239323156-Genomic-epi-basics-Practice-reading-phylogenetic-trees</a:t>
            </a:r>
            <a:endParaRPr b="0" i="0" sz="1400" u="none" cap="none" strike="noStrike">
              <a:solidFill>
                <a:schemeClr val="dk1"/>
              </a:solidFill>
              <a:latin typeface="Average"/>
              <a:ea typeface="Average"/>
              <a:cs typeface="Average"/>
              <a:sym typeface="Average"/>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23"/>
          <p:cNvSpPr txBox="1"/>
          <p:nvPr>
            <p:ph type="title"/>
          </p:nvPr>
        </p:nvSpPr>
        <p:spPr>
          <a:xfrm>
            <a:off x="311700" y="258000"/>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Interpreting a tree</a:t>
            </a:r>
            <a:endParaRPr/>
          </a:p>
          <a:p>
            <a:pPr indent="0" lvl="0" marL="0" rtl="0" algn="l">
              <a:lnSpc>
                <a:spcPct val="100000"/>
              </a:lnSpc>
              <a:spcBef>
                <a:spcPts val="0"/>
              </a:spcBef>
              <a:spcAft>
                <a:spcPts val="0"/>
              </a:spcAft>
              <a:buSzPct val="111111"/>
              <a:buNone/>
            </a:pPr>
            <a:r>
              <a:t/>
            </a:r>
            <a:endParaRPr/>
          </a:p>
        </p:txBody>
      </p:sp>
      <p:pic>
        <p:nvPicPr>
          <p:cNvPr id="338" name="Google Shape;338;p23"/>
          <p:cNvPicPr preferRelativeResize="0"/>
          <p:nvPr/>
        </p:nvPicPr>
        <p:blipFill rotWithShape="1">
          <a:blip r:embed="rId3">
            <a:alphaModFix/>
          </a:blip>
          <a:srcRect b="0" l="0" r="0" t="0"/>
          <a:stretch/>
        </p:blipFill>
        <p:spPr>
          <a:xfrm>
            <a:off x="543673" y="771175"/>
            <a:ext cx="6364073" cy="3896749"/>
          </a:xfrm>
          <a:prstGeom prst="rect">
            <a:avLst/>
          </a:prstGeom>
          <a:noFill/>
          <a:ln>
            <a:noFill/>
          </a:ln>
        </p:spPr>
      </p:pic>
      <p:sp>
        <p:nvSpPr>
          <p:cNvPr id="339" name="Google Shape;339;p23"/>
          <p:cNvSpPr txBox="1"/>
          <p:nvPr/>
        </p:nvSpPr>
        <p:spPr>
          <a:xfrm>
            <a:off x="197050" y="4527900"/>
            <a:ext cx="876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Source: https://help.czgenepi.org/hc/en-us/articles/9009239323156-Genomic-epi-basics-Practice-reading-phylogenetic-trees</a:t>
            </a:r>
            <a:endParaRPr b="0" i="0" sz="1400" u="none" cap="none" strike="noStrike">
              <a:solidFill>
                <a:schemeClr val="dk1"/>
              </a:solidFill>
              <a:latin typeface="Average"/>
              <a:ea typeface="Average"/>
              <a:cs typeface="Average"/>
              <a:sym typeface="Average"/>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4"/>
          <p:cNvSpPr/>
          <p:nvPr/>
        </p:nvSpPr>
        <p:spPr>
          <a:xfrm>
            <a:off x="5489150" y="3465100"/>
            <a:ext cx="385200" cy="281100"/>
          </a:xfrm>
          <a:prstGeom prst="curvedUpArrow">
            <a:avLst>
              <a:gd fmla="val 25000" name="adj1"/>
              <a:gd fmla="val 50000" name="adj2"/>
              <a:gd fmla="val 25000" name="adj3"/>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Interpreting the Y-axis </a:t>
            </a:r>
            <a:endParaRPr/>
          </a:p>
        </p:txBody>
      </p:sp>
      <p:sp>
        <p:nvSpPr>
          <p:cNvPr id="346" name="Google Shape;346;p24"/>
          <p:cNvSpPr txBox="1"/>
          <p:nvPr>
            <p:ph idx="1" type="body"/>
          </p:nvPr>
        </p:nvSpPr>
        <p:spPr>
          <a:xfrm>
            <a:off x="383350" y="1202150"/>
            <a:ext cx="8520600" cy="853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Y-axis is meaningless, so branches in the tree can be rotated without altering the meaning of the diagram.</a:t>
            </a:r>
            <a:endParaRPr/>
          </a:p>
        </p:txBody>
      </p:sp>
      <p:cxnSp>
        <p:nvCxnSpPr>
          <p:cNvPr id="347" name="Google Shape;347;p24"/>
          <p:cNvCxnSpPr/>
          <p:nvPr/>
        </p:nvCxnSpPr>
        <p:spPr>
          <a:xfrm flipH="1">
            <a:off x="1991425" y="2904800"/>
            <a:ext cx="580500" cy="11100"/>
          </a:xfrm>
          <a:prstGeom prst="straightConnector1">
            <a:avLst/>
          </a:prstGeom>
          <a:noFill/>
          <a:ln cap="flat" cmpd="sng" w="76200">
            <a:solidFill>
              <a:schemeClr val="dk1"/>
            </a:solidFill>
            <a:prstDash val="solid"/>
            <a:round/>
            <a:headEnd len="sm" w="sm" type="none"/>
            <a:tailEnd len="sm" w="sm" type="none"/>
          </a:ln>
        </p:spPr>
      </p:cxnSp>
      <p:cxnSp>
        <p:nvCxnSpPr>
          <p:cNvPr id="348" name="Google Shape;348;p24"/>
          <p:cNvCxnSpPr/>
          <p:nvPr/>
        </p:nvCxnSpPr>
        <p:spPr>
          <a:xfrm flipH="1">
            <a:off x="1991150" y="2448050"/>
            <a:ext cx="571800" cy="9000"/>
          </a:xfrm>
          <a:prstGeom prst="straightConnector1">
            <a:avLst/>
          </a:prstGeom>
          <a:noFill/>
          <a:ln cap="flat" cmpd="sng" w="76200">
            <a:solidFill>
              <a:schemeClr val="dk1"/>
            </a:solidFill>
            <a:prstDash val="solid"/>
            <a:round/>
            <a:headEnd len="sm" w="sm" type="none"/>
            <a:tailEnd len="sm" w="sm" type="none"/>
          </a:ln>
        </p:spPr>
      </p:cxnSp>
      <p:cxnSp>
        <p:nvCxnSpPr>
          <p:cNvPr id="349" name="Google Shape;349;p24"/>
          <p:cNvCxnSpPr/>
          <p:nvPr/>
        </p:nvCxnSpPr>
        <p:spPr>
          <a:xfrm rot="10800000">
            <a:off x="2020200" y="2448200"/>
            <a:ext cx="5400" cy="456600"/>
          </a:xfrm>
          <a:prstGeom prst="straightConnector1">
            <a:avLst/>
          </a:prstGeom>
          <a:noFill/>
          <a:ln cap="flat" cmpd="sng" w="76200">
            <a:solidFill>
              <a:schemeClr val="dk1"/>
            </a:solidFill>
            <a:prstDash val="solid"/>
            <a:round/>
            <a:headEnd len="sm" w="sm" type="none"/>
            <a:tailEnd len="sm" w="sm" type="none"/>
          </a:ln>
        </p:spPr>
      </p:cxnSp>
      <p:cxnSp>
        <p:nvCxnSpPr>
          <p:cNvPr id="350" name="Google Shape;350;p24"/>
          <p:cNvCxnSpPr/>
          <p:nvPr/>
        </p:nvCxnSpPr>
        <p:spPr>
          <a:xfrm flipH="1">
            <a:off x="1437050" y="3379350"/>
            <a:ext cx="2089500" cy="10800"/>
          </a:xfrm>
          <a:prstGeom prst="straightConnector1">
            <a:avLst/>
          </a:prstGeom>
          <a:noFill/>
          <a:ln cap="flat" cmpd="sng" w="76200">
            <a:solidFill>
              <a:schemeClr val="dk1"/>
            </a:solidFill>
            <a:prstDash val="solid"/>
            <a:round/>
            <a:headEnd len="sm" w="sm" type="none"/>
            <a:tailEnd len="sm" w="sm" type="none"/>
          </a:ln>
        </p:spPr>
      </p:cxnSp>
      <p:cxnSp>
        <p:nvCxnSpPr>
          <p:cNvPr id="351" name="Google Shape;351;p24"/>
          <p:cNvCxnSpPr/>
          <p:nvPr/>
        </p:nvCxnSpPr>
        <p:spPr>
          <a:xfrm rot="10800000">
            <a:off x="1434275" y="2619650"/>
            <a:ext cx="12300" cy="809400"/>
          </a:xfrm>
          <a:prstGeom prst="straightConnector1">
            <a:avLst/>
          </a:prstGeom>
          <a:noFill/>
          <a:ln cap="flat" cmpd="sng" w="76200">
            <a:solidFill>
              <a:schemeClr val="dk1"/>
            </a:solidFill>
            <a:prstDash val="solid"/>
            <a:round/>
            <a:headEnd len="sm" w="sm" type="none"/>
            <a:tailEnd len="sm" w="sm" type="none"/>
          </a:ln>
        </p:spPr>
      </p:cxnSp>
      <p:cxnSp>
        <p:nvCxnSpPr>
          <p:cNvPr id="352" name="Google Shape;352;p24"/>
          <p:cNvCxnSpPr/>
          <p:nvPr/>
        </p:nvCxnSpPr>
        <p:spPr>
          <a:xfrm>
            <a:off x="1389725" y="2618200"/>
            <a:ext cx="630600" cy="1500"/>
          </a:xfrm>
          <a:prstGeom prst="straightConnector1">
            <a:avLst/>
          </a:prstGeom>
          <a:noFill/>
          <a:ln cap="flat" cmpd="sng" w="76200">
            <a:solidFill>
              <a:schemeClr val="dk1"/>
            </a:solidFill>
            <a:prstDash val="solid"/>
            <a:round/>
            <a:headEnd len="sm" w="sm" type="none"/>
            <a:tailEnd len="sm" w="sm" type="none"/>
          </a:ln>
        </p:spPr>
      </p:cxnSp>
      <p:cxnSp>
        <p:nvCxnSpPr>
          <p:cNvPr id="353" name="Google Shape;353;p24"/>
          <p:cNvCxnSpPr/>
          <p:nvPr/>
        </p:nvCxnSpPr>
        <p:spPr>
          <a:xfrm>
            <a:off x="815975" y="2998775"/>
            <a:ext cx="630600" cy="1500"/>
          </a:xfrm>
          <a:prstGeom prst="straightConnector1">
            <a:avLst/>
          </a:prstGeom>
          <a:noFill/>
          <a:ln cap="flat" cmpd="sng" w="76200">
            <a:solidFill>
              <a:schemeClr val="dk1"/>
            </a:solidFill>
            <a:prstDash val="solid"/>
            <a:round/>
            <a:headEnd len="sm" w="sm" type="none"/>
            <a:tailEnd len="sm" w="sm" type="none"/>
          </a:ln>
        </p:spPr>
      </p:cxnSp>
      <p:cxnSp>
        <p:nvCxnSpPr>
          <p:cNvPr id="354" name="Google Shape;354;p24"/>
          <p:cNvCxnSpPr/>
          <p:nvPr/>
        </p:nvCxnSpPr>
        <p:spPr>
          <a:xfrm flipH="1">
            <a:off x="5943550" y="3716800"/>
            <a:ext cx="629700" cy="9600"/>
          </a:xfrm>
          <a:prstGeom prst="straightConnector1">
            <a:avLst/>
          </a:prstGeom>
          <a:noFill/>
          <a:ln cap="flat" cmpd="sng" w="76200">
            <a:solidFill>
              <a:schemeClr val="dk1"/>
            </a:solidFill>
            <a:prstDash val="solid"/>
            <a:round/>
            <a:headEnd len="sm" w="sm" type="none"/>
            <a:tailEnd len="sm" w="sm" type="none"/>
          </a:ln>
        </p:spPr>
      </p:cxnSp>
      <p:cxnSp>
        <p:nvCxnSpPr>
          <p:cNvPr id="355" name="Google Shape;355;p24"/>
          <p:cNvCxnSpPr/>
          <p:nvPr/>
        </p:nvCxnSpPr>
        <p:spPr>
          <a:xfrm rot="10800000">
            <a:off x="5968150" y="3260200"/>
            <a:ext cx="5400" cy="456600"/>
          </a:xfrm>
          <a:prstGeom prst="straightConnector1">
            <a:avLst/>
          </a:prstGeom>
          <a:noFill/>
          <a:ln cap="flat" cmpd="sng" w="76200">
            <a:solidFill>
              <a:schemeClr val="dk1"/>
            </a:solidFill>
            <a:prstDash val="solid"/>
            <a:round/>
            <a:headEnd len="sm" w="sm" type="none"/>
            <a:tailEnd len="sm" w="sm" type="none"/>
          </a:ln>
        </p:spPr>
      </p:cxnSp>
      <p:cxnSp>
        <p:nvCxnSpPr>
          <p:cNvPr id="356" name="Google Shape;356;p24"/>
          <p:cNvCxnSpPr/>
          <p:nvPr/>
        </p:nvCxnSpPr>
        <p:spPr>
          <a:xfrm>
            <a:off x="5377650" y="2573325"/>
            <a:ext cx="2078100" cy="6300"/>
          </a:xfrm>
          <a:prstGeom prst="straightConnector1">
            <a:avLst/>
          </a:prstGeom>
          <a:noFill/>
          <a:ln cap="flat" cmpd="sng" w="76200">
            <a:solidFill>
              <a:schemeClr val="dk1"/>
            </a:solidFill>
            <a:prstDash val="solid"/>
            <a:round/>
            <a:headEnd len="sm" w="sm" type="none"/>
            <a:tailEnd len="sm" w="sm" type="none"/>
          </a:ln>
        </p:spPr>
      </p:cxnSp>
      <p:cxnSp>
        <p:nvCxnSpPr>
          <p:cNvPr id="357" name="Google Shape;357;p24"/>
          <p:cNvCxnSpPr/>
          <p:nvPr/>
        </p:nvCxnSpPr>
        <p:spPr>
          <a:xfrm rot="10800000">
            <a:off x="5411000" y="2591450"/>
            <a:ext cx="12300" cy="809400"/>
          </a:xfrm>
          <a:prstGeom prst="straightConnector1">
            <a:avLst/>
          </a:prstGeom>
          <a:noFill/>
          <a:ln cap="flat" cmpd="sng" w="76200">
            <a:solidFill>
              <a:schemeClr val="dk1"/>
            </a:solidFill>
            <a:prstDash val="solid"/>
            <a:round/>
            <a:headEnd len="sm" w="sm" type="none"/>
            <a:tailEnd len="sm" w="sm" type="none"/>
          </a:ln>
        </p:spPr>
      </p:cxnSp>
      <p:cxnSp>
        <p:nvCxnSpPr>
          <p:cNvPr id="358" name="Google Shape;358;p24"/>
          <p:cNvCxnSpPr/>
          <p:nvPr/>
        </p:nvCxnSpPr>
        <p:spPr>
          <a:xfrm>
            <a:off x="5366450" y="3402000"/>
            <a:ext cx="630600" cy="1500"/>
          </a:xfrm>
          <a:prstGeom prst="straightConnector1">
            <a:avLst/>
          </a:prstGeom>
          <a:noFill/>
          <a:ln cap="flat" cmpd="sng" w="76200">
            <a:solidFill>
              <a:schemeClr val="dk1"/>
            </a:solidFill>
            <a:prstDash val="solid"/>
            <a:round/>
            <a:headEnd len="sm" w="sm" type="none"/>
            <a:tailEnd len="sm" w="sm" type="none"/>
          </a:ln>
        </p:spPr>
      </p:cxnSp>
      <p:cxnSp>
        <p:nvCxnSpPr>
          <p:cNvPr id="359" name="Google Shape;359;p24"/>
          <p:cNvCxnSpPr/>
          <p:nvPr/>
        </p:nvCxnSpPr>
        <p:spPr>
          <a:xfrm>
            <a:off x="4792700" y="2970575"/>
            <a:ext cx="630600" cy="1500"/>
          </a:xfrm>
          <a:prstGeom prst="straightConnector1">
            <a:avLst/>
          </a:prstGeom>
          <a:noFill/>
          <a:ln cap="flat" cmpd="sng" w="76200">
            <a:solidFill>
              <a:schemeClr val="dk1"/>
            </a:solidFill>
            <a:prstDash val="solid"/>
            <a:round/>
            <a:headEnd len="sm" w="sm" type="none"/>
            <a:tailEnd len="sm" w="sm" type="none"/>
          </a:ln>
        </p:spPr>
      </p:cxnSp>
      <p:cxnSp>
        <p:nvCxnSpPr>
          <p:cNvPr id="360" name="Google Shape;360;p24"/>
          <p:cNvCxnSpPr/>
          <p:nvPr/>
        </p:nvCxnSpPr>
        <p:spPr>
          <a:xfrm flipH="1">
            <a:off x="5943550" y="3260200"/>
            <a:ext cx="629700" cy="9600"/>
          </a:xfrm>
          <a:prstGeom prst="straightConnector1">
            <a:avLst/>
          </a:prstGeom>
          <a:noFill/>
          <a:ln cap="flat" cmpd="sng" w="76200">
            <a:solidFill>
              <a:schemeClr val="dk1"/>
            </a:solidFill>
            <a:prstDash val="solid"/>
            <a:round/>
            <a:headEnd len="sm" w="sm" type="none"/>
            <a:tailEnd len="sm" w="sm" type="none"/>
          </a:ln>
        </p:spPr>
      </p:cxnSp>
      <p:sp>
        <p:nvSpPr>
          <p:cNvPr id="361" name="Google Shape;361;p24"/>
          <p:cNvSpPr/>
          <p:nvPr/>
        </p:nvSpPr>
        <p:spPr>
          <a:xfrm>
            <a:off x="3658775" y="2457050"/>
            <a:ext cx="1019700" cy="954300"/>
          </a:xfrm>
          <a:prstGeom prst="mathEqual">
            <a:avLst>
              <a:gd fmla="val 23520" name="adj1"/>
              <a:gd fmla="val 1176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24"/>
          <p:cNvSpPr txBox="1"/>
          <p:nvPr/>
        </p:nvSpPr>
        <p:spPr>
          <a:xfrm>
            <a:off x="2662200" y="2225850"/>
            <a:ext cx="45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A</a:t>
            </a:r>
            <a:endParaRPr b="0" i="0" sz="1400" u="none" cap="none" strike="noStrike">
              <a:solidFill>
                <a:schemeClr val="dk1"/>
              </a:solidFill>
              <a:latin typeface="Average"/>
              <a:ea typeface="Average"/>
              <a:cs typeface="Average"/>
              <a:sym typeface="Average"/>
            </a:endParaRPr>
          </a:p>
        </p:txBody>
      </p:sp>
      <p:sp>
        <p:nvSpPr>
          <p:cNvPr id="363" name="Google Shape;363;p24"/>
          <p:cNvSpPr txBox="1"/>
          <p:nvPr/>
        </p:nvSpPr>
        <p:spPr>
          <a:xfrm>
            <a:off x="6573250" y="3521500"/>
            <a:ext cx="45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A</a:t>
            </a:r>
            <a:endParaRPr b="0" i="0" sz="1400" u="none" cap="none" strike="noStrike">
              <a:solidFill>
                <a:schemeClr val="dk1"/>
              </a:solidFill>
              <a:latin typeface="Average"/>
              <a:ea typeface="Average"/>
              <a:cs typeface="Average"/>
              <a:sym typeface="Average"/>
            </a:endParaRPr>
          </a:p>
        </p:txBody>
      </p:sp>
      <p:sp>
        <p:nvSpPr>
          <p:cNvPr id="364" name="Google Shape;364;p24"/>
          <p:cNvSpPr txBox="1"/>
          <p:nvPr/>
        </p:nvSpPr>
        <p:spPr>
          <a:xfrm>
            <a:off x="6573250" y="3064900"/>
            <a:ext cx="45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B</a:t>
            </a:r>
            <a:endParaRPr b="0" i="0" sz="1400" u="none" cap="none" strike="noStrike">
              <a:solidFill>
                <a:schemeClr val="dk1"/>
              </a:solidFill>
              <a:latin typeface="Average"/>
              <a:ea typeface="Average"/>
              <a:cs typeface="Average"/>
              <a:sym typeface="Average"/>
            </a:endParaRPr>
          </a:p>
        </p:txBody>
      </p:sp>
      <p:sp>
        <p:nvSpPr>
          <p:cNvPr id="365" name="Google Shape;365;p24"/>
          <p:cNvSpPr txBox="1"/>
          <p:nvPr/>
        </p:nvSpPr>
        <p:spPr>
          <a:xfrm>
            <a:off x="3526550" y="3202650"/>
            <a:ext cx="45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C</a:t>
            </a:r>
            <a:endParaRPr b="0" i="0" sz="1400" u="none" cap="none" strike="noStrike">
              <a:solidFill>
                <a:schemeClr val="dk1"/>
              </a:solidFill>
              <a:latin typeface="Average"/>
              <a:ea typeface="Average"/>
              <a:cs typeface="Average"/>
              <a:sym typeface="Average"/>
            </a:endParaRPr>
          </a:p>
        </p:txBody>
      </p:sp>
      <p:sp>
        <p:nvSpPr>
          <p:cNvPr id="366" name="Google Shape;366;p24"/>
          <p:cNvSpPr txBox="1"/>
          <p:nvPr/>
        </p:nvSpPr>
        <p:spPr>
          <a:xfrm>
            <a:off x="7455950" y="2371650"/>
            <a:ext cx="385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C</a:t>
            </a:r>
            <a:endParaRPr b="0" i="0" sz="1400" u="none" cap="none" strike="noStrike">
              <a:solidFill>
                <a:schemeClr val="dk1"/>
              </a:solidFill>
              <a:latin typeface="Average"/>
              <a:ea typeface="Average"/>
              <a:cs typeface="Average"/>
              <a:sym typeface="Average"/>
            </a:endParaRPr>
          </a:p>
        </p:txBody>
      </p:sp>
      <p:sp>
        <p:nvSpPr>
          <p:cNvPr id="367" name="Google Shape;367;p24"/>
          <p:cNvSpPr txBox="1"/>
          <p:nvPr/>
        </p:nvSpPr>
        <p:spPr>
          <a:xfrm>
            <a:off x="2599225" y="2710250"/>
            <a:ext cx="459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B</a:t>
            </a:r>
            <a:endParaRPr b="0" i="0" sz="1400" u="none" cap="none" strike="noStrike">
              <a:solidFill>
                <a:schemeClr val="dk1"/>
              </a:solidFill>
              <a:latin typeface="Average"/>
              <a:ea typeface="Average"/>
              <a:cs typeface="Average"/>
              <a:sym typeface="Average"/>
            </a:endParaRPr>
          </a:p>
        </p:txBody>
      </p:sp>
      <p:sp>
        <p:nvSpPr>
          <p:cNvPr id="368" name="Google Shape;368;p24"/>
          <p:cNvSpPr/>
          <p:nvPr/>
        </p:nvSpPr>
        <p:spPr>
          <a:xfrm>
            <a:off x="4915400" y="3098400"/>
            <a:ext cx="385200" cy="281100"/>
          </a:xfrm>
          <a:prstGeom prst="curvedUpArrow">
            <a:avLst>
              <a:gd fmla="val 25000" name="adj1"/>
              <a:gd fmla="val 50000" name="adj2"/>
              <a:gd fmla="val 25000" name="adj3"/>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p24"/>
          <p:cNvSpPr txBox="1"/>
          <p:nvPr/>
        </p:nvSpPr>
        <p:spPr>
          <a:xfrm>
            <a:off x="1401950" y="3521500"/>
            <a:ext cx="215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T3456C, A6789G, C1234G</a:t>
            </a:r>
            <a:endParaRPr b="0" i="0" sz="1400" u="none" cap="none" strike="noStrike">
              <a:solidFill>
                <a:schemeClr val="dk1"/>
              </a:solidFill>
              <a:latin typeface="Average"/>
              <a:ea typeface="Average"/>
              <a:cs typeface="Average"/>
              <a:sym typeface="Average"/>
            </a:endParaRPr>
          </a:p>
        </p:txBody>
      </p:sp>
      <p:sp>
        <p:nvSpPr>
          <p:cNvPr id="370" name="Google Shape;370;p24"/>
          <p:cNvSpPr txBox="1"/>
          <p:nvPr/>
        </p:nvSpPr>
        <p:spPr>
          <a:xfrm>
            <a:off x="5366450" y="2117325"/>
            <a:ext cx="2159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T3456C, A6789G, C1234G</a:t>
            </a:r>
            <a:endParaRPr b="0" i="0" sz="1400" u="none" cap="none" strike="noStrike">
              <a:solidFill>
                <a:schemeClr val="dk1"/>
              </a:solidFill>
              <a:latin typeface="Average"/>
              <a:ea typeface="Average"/>
              <a:cs typeface="Average"/>
              <a:sym typeface="Average"/>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5"/>
          <p:cNvSpPr txBox="1"/>
          <p:nvPr>
            <p:ph type="title"/>
          </p:nvPr>
        </p:nvSpPr>
        <p:spPr>
          <a:xfrm>
            <a:off x="311700" y="20697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Interpreting branch lengths (divergence tree)</a:t>
            </a:r>
            <a:endParaRPr/>
          </a:p>
          <a:p>
            <a:pPr indent="0" lvl="0" marL="0" rtl="0" algn="l">
              <a:lnSpc>
                <a:spcPct val="100000"/>
              </a:lnSpc>
              <a:spcBef>
                <a:spcPts val="0"/>
              </a:spcBef>
              <a:spcAft>
                <a:spcPts val="0"/>
              </a:spcAft>
              <a:buSzPct val="111111"/>
              <a:buNone/>
            </a:pPr>
            <a:r>
              <a:t/>
            </a:r>
            <a:endParaRPr/>
          </a:p>
        </p:txBody>
      </p:sp>
      <p:pic>
        <p:nvPicPr>
          <p:cNvPr id="376" name="Google Shape;376;p25"/>
          <p:cNvPicPr preferRelativeResize="0"/>
          <p:nvPr/>
        </p:nvPicPr>
        <p:blipFill rotWithShape="1">
          <a:blip r:embed="rId3">
            <a:alphaModFix/>
          </a:blip>
          <a:srcRect b="0" l="0" r="0" t="0"/>
          <a:stretch/>
        </p:blipFill>
        <p:spPr>
          <a:xfrm>
            <a:off x="487727" y="779675"/>
            <a:ext cx="5533599" cy="3858399"/>
          </a:xfrm>
          <a:prstGeom prst="rect">
            <a:avLst/>
          </a:prstGeom>
          <a:noFill/>
          <a:ln>
            <a:noFill/>
          </a:ln>
        </p:spPr>
      </p:pic>
      <p:sp>
        <p:nvSpPr>
          <p:cNvPr id="377" name="Google Shape;377;p25"/>
          <p:cNvSpPr txBox="1"/>
          <p:nvPr/>
        </p:nvSpPr>
        <p:spPr>
          <a:xfrm>
            <a:off x="197050" y="4527900"/>
            <a:ext cx="8764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Source: https://help.czgenepi.org/hc/en-us/articles/9009239323156-Genomic-epi-basics-Practice-reading-phylogenetic-trees</a:t>
            </a:r>
            <a:endParaRPr b="0" i="0" sz="1400" u="none" cap="none" strike="noStrike">
              <a:solidFill>
                <a:schemeClr val="dk1"/>
              </a:solidFill>
              <a:latin typeface="Average"/>
              <a:ea typeface="Average"/>
              <a:cs typeface="Average"/>
              <a:sym typeface="Averag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Interpreting time trees </a:t>
            </a:r>
            <a:endParaRPr/>
          </a:p>
        </p:txBody>
      </p:sp>
      <p:sp>
        <p:nvSpPr>
          <p:cNvPr id="383" name="Google Shape;383;p26"/>
          <p:cNvSpPr txBox="1"/>
          <p:nvPr>
            <p:ph idx="1" type="body"/>
          </p:nvPr>
        </p:nvSpPr>
        <p:spPr>
          <a:xfrm>
            <a:off x="311700" y="1017725"/>
            <a:ext cx="8520600" cy="784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X-axis measures divergence in time that has passed since the root and the position of tips is given by the date that a sample was collected from an individual.</a:t>
            </a:r>
            <a:endParaRPr/>
          </a:p>
        </p:txBody>
      </p:sp>
      <p:pic>
        <p:nvPicPr>
          <p:cNvPr id="384" name="Google Shape;384;p26"/>
          <p:cNvPicPr preferRelativeResize="0"/>
          <p:nvPr/>
        </p:nvPicPr>
        <p:blipFill rotWithShape="1">
          <a:blip r:embed="rId3">
            <a:alphaModFix/>
          </a:blip>
          <a:srcRect b="0" l="0" r="0" t="0"/>
          <a:stretch/>
        </p:blipFill>
        <p:spPr>
          <a:xfrm>
            <a:off x="2716099" y="1696775"/>
            <a:ext cx="5659100" cy="3197051"/>
          </a:xfrm>
          <a:prstGeom prst="rect">
            <a:avLst/>
          </a:prstGeom>
          <a:noFill/>
          <a:ln>
            <a:noFill/>
          </a:ln>
        </p:spPr>
      </p:pic>
      <p:sp>
        <p:nvSpPr>
          <p:cNvPr id="385" name="Google Shape;385;p26"/>
          <p:cNvSpPr txBox="1"/>
          <p:nvPr/>
        </p:nvSpPr>
        <p:spPr>
          <a:xfrm>
            <a:off x="219250" y="3900850"/>
            <a:ext cx="23970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https://help.czgenepi.org/hc/en-us/articles/6238581606932-Module-6-Using-evolutionary-rates-to-infer-time-trees-</a:t>
            </a:r>
            <a:endParaRPr b="0" i="0" sz="1400" u="none" cap="none" strike="noStrike">
              <a:solidFill>
                <a:schemeClr val="dk1"/>
              </a:solidFill>
              <a:latin typeface="Average"/>
              <a:ea typeface="Average"/>
              <a:cs typeface="Average"/>
              <a:sym typeface="Average"/>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27"/>
          <p:cNvSpPr txBox="1"/>
          <p:nvPr>
            <p:ph type="title"/>
          </p:nvPr>
        </p:nvSpPr>
        <p:spPr>
          <a:xfrm>
            <a:off x="311700" y="271075"/>
            <a:ext cx="8520600" cy="8814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3000"/>
              <a:buNone/>
            </a:pPr>
            <a:r>
              <a:rPr lang="en"/>
              <a:t>Time trees help us estimate when sequences emerged.</a:t>
            </a:r>
            <a:endParaRPr/>
          </a:p>
        </p:txBody>
      </p:sp>
      <p:sp>
        <p:nvSpPr>
          <p:cNvPr id="391" name="Google Shape;391;p2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The x-axis position of internal nodes represents when we infer that those inferred ancestral viruses likely circulated.</a:t>
            </a:r>
            <a:endParaRPr/>
          </a:p>
        </p:txBody>
      </p:sp>
      <p:sp>
        <p:nvSpPr>
          <p:cNvPr id="392" name="Google Shape;392;p27"/>
          <p:cNvSpPr txBox="1"/>
          <p:nvPr/>
        </p:nvSpPr>
        <p:spPr>
          <a:xfrm>
            <a:off x="219250" y="3900850"/>
            <a:ext cx="23970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https://help.czgenepi.org/hc/en-us/articles/6238581606932-Module-6-Using-evolutionary-rates-to-infer-time-trees-</a:t>
            </a:r>
            <a:endParaRPr b="0" i="0" sz="1400" u="none" cap="none" strike="noStrike">
              <a:solidFill>
                <a:schemeClr val="dk1"/>
              </a:solidFill>
              <a:latin typeface="Average"/>
              <a:ea typeface="Average"/>
              <a:cs typeface="Average"/>
              <a:sym typeface="Average"/>
            </a:endParaRPr>
          </a:p>
        </p:txBody>
      </p:sp>
      <p:pic>
        <p:nvPicPr>
          <p:cNvPr id="393" name="Google Shape;393;p27"/>
          <p:cNvPicPr preferRelativeResize="0"/>
          <p:nvPr/>
        </p:nvPicPr>
        <p:blipFill rotWithShape="1">
          <a:blip r:embed="rId3">
            <a:alphaModFix/>
          </a:blip>
          <a:srcRect b="0" l="0" r="0" t="0"/>
          <a:stretch/>
        </p:blipFill>
        <p:spPr>
          <a:xfrm>
            <a:off x="3391150" y="1873625"/>
            <a:ext cx="5441152" cy="30739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Molecular clocks help us go from a divergence tree to a time tree</a:t>
            </a:r>
            <a:endParaRPr/>
          </a:p>
        </p:txBody>
      </p:sp>
      <p:sp>
        <p:nvSpPr>
          <p:cNvPr id="399" name="Google Shape;399;p28"/>
          <p:cNvSpPr txBox="1"/>
          <p:nvPr>
            <p:ph idx="1" type="body"/>
          </p:nvPr>
        </p:nvSpPr>
        <p:spPr>
          <a:xfrm>
            <a:off x="239250" y="992350"/>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Creating a time tree requires a molecular clock to translate the genetic divergence data into temporal information. We infer a molecular clock via root-to-tip distance plots. </a:t>
            </a:r>
            <a:endParaRPr/>
          </a:p>
        </p:txBody>
      </p:sp>
      <p:pic>
        <p:nvPicPr>
          <p:cNvPr id="400" name="Google Shape;400;p28"/>
          <p:cNvPicPr preferRelativeResize="0"/>
          <p:nvPr/>
        </p:nvPicPr>
        <p:blipFill rotWithShape="1">
          <a:blip r:embed="rId3">
            <a:alphaModFix/>
          </a:blip>
          <a:srcRect b="0" l="0" r="0" t="0"/>
          <a:stretch/>
        </p:blipFill>
        <p:spPr>
          <a:xfrm>
            <a:off x="1440750" y="1786100"/>
            <a:ext cx="6117601" cy="3211124"/>
          </a:xfrm>
          <a:prstGeom prst="rect">
            <a:avLst/>
          </a:prstGeom>
          <a:noFill/>
          <a:ln>
            <a:noFill/>
          </a:ln>
        </p:spPr>
      </p:pic>
      <p:sp>
        <p:nvSpPr>
          <p:cNvPr id="401" name="Google Shape;401;p28"/>
          <p:cNvSpPr txBox="1"/>
          <p:nvPr/>
        </p:nvSpPr>
        <p:spPr>
          <a:xfrm>
            <a:off x="3517250" y="1859475"/>
            <a:ext cx="2616600" cy="4002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verage"/>
                <a:ea typeface="Average"/>
                <a:cs typeface="Average"/>
                <a:sym typeface="Average"/>
              </a:rPr>
              <a:t>Rate Estimate: 25 subs per year</a:t>
            </a:r>
            <a:endParaRPr b="0" i="0" sz="1400" u="none" cap="none" strike="noStrike">
              <a:solidFill>
                <a:srgbClr val="000000"/>
              </a:solidFill>
              <a:latin typeface="Average"/>
              <a:ea typeface="Average"/>
              <a:cs typeface="Average"/>
              <a:sym typeface="Averag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Evolutionary rates tell us how fast the molecular clock is “ticking”</a:t>
            </a:r>
            <a:endParaRPr/>
          </a:p>
        </p:txBody>
      </p:sp>
      <p:sp>
        <p:nvSpPr>
          <p:cNvPr id="407" name="Google Shape;407;p29"/>
          <p:cNvSpPr txBox="1"/>
          <p:nvPr>
            <p:ph idx="1" type="body"/>
          </p:nvPr>
        </p:nvSpPr>
        <p:spPr>
          <a:xfrm>
            <a:off x="311700" y="93282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Evolutionary rates describe the number of substitutions we </a:t>
            </a:r>
            <a:r>
              <a:rPr lang="en" u="sng"/>
              <a:t>observe</a:t>
            </a:r>
            <a:r>
              <a:rPr lang="en"/>
              <a:t> at the consensus level over time. </a:t>
            </a:r>
            <a:endParaRPr/>
          </a:p>
        </p:txBody>
      </p:sp>
      <p:sp>
        <p:nvSpPr>
          <p:cNvPr id="408" name="Google Shape;408;p29"/>
          <p:cNvSpPr txBox="1"/>
          <p:nvPr/>
        </p:nvSpPr>
        <p:spPr>
          <a:xfrm>
            <a:off x="408275" y="3682050"/>
            <a:ext cx="17583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chemeClr val="dk1"/>
                </a:solidFill>
                <a:latin typeface="Average"/>
                <a:ea typeface="Average"/>
                <a:cs typeface="Average"/>
                <a:sym typeface="Average"/>
              </a:rPr>
              <a:t>Source: https://help.czgenepi.org/hc/en-us/articles/6238561735316-Module-5-Interpreting-and-working-with-evolutionary-rates-</a:t>
            </a:r>
            <a:endParaRPr b="0" i="0" sz="1200" u="none" cap="none" strike="noStrike">
              <a:solidFill>
                <a:schemeClr val="dk1"/>
              </a:solidFill>
              <a:latin typeface="Average"/>
              <a:ea typeface="Average"/>
              <a:cs typeface="Average"/>
              <a:sym typeface="Average"/>
            </a:endParaRPr>
          </a:p>
        </p:txBody>
      </p:sp>
      <p:pic>
        <p:nvPicPr>
          <p:cNvPr id="409" name="Google Shape;409;p29"/>
          <p:cNvPicPr preferRelativeResize="0"/>
          <p:nvPr/>
        </p:nvPicPr>
        <p:blipFill rotWithShape="1">
          <a:blip r:embed="rId3">
            <a:alphaModFix/>
          </a:blip>
          <a:srcRect b="0" l="0" r="0" t="0"/>
          <a:stretch/>
        </p:blipFill>
        <p:spPr>
          <a:xfrm>
            <a:off x="2323608" y="1662725"/>
            <a:ext cx="6508692" cy="3416401"/>
          </a:xfrm>
          <a:prstGeom prst="rect">
            <a:avLst/>
          </a:prstGeom>
          <a:noFill/>
          <a:ln>
            <a:noFill/>
          </a:ln>
        </p:spPr>
      </p:pic>
      <p:sp>
        <p:nvSpPr>
          <p:cNvPr id="410" name="Google Shape;410;p29"/>
          <p:cNvSpPr txBox="1"/>
          <p:nvPr/>
        </p:nvSpPr>
        <p:spPr>
          <a:xfrm>
            <a:off x="4454350" y="1654150"/>
            <a:ext cx="2616600" cy="400200"/>
          </a:xfrm>
          <a:prstGeom prst="rect">
            <a:avLst/>
          </a:prstGeom>
          <a:solidFill>
            <a:schemeClr val="dk1"/>
          </a:solid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verage"/>
                <a:ea typeface="Average"/>
                <a:cs typeface="Average"/>
                <a:sym typeface="Average"/>
              </a:rPr>
              <a:t>Rate Estimate: 25 subs per year</a:t>
            </a:r>
            <a:endParaRPr b="0" i="0" sz="1400" u="none" cap="none" strike="noStrike">
              <a:solidFill>
                <a:srgbClr val="000000"/>
              </a:solidFill>
              <a:latin typeface="Average"/>
              <a:ea typeface="Average"/>
              <a:cs typeface="Average"/>
              <a:sym typeface="Average"/>
            </a:endParaRPr>
          </a:p>
        </p:txBody>
      </p:sp>
      <p:sp>
        <p:nvSpPr>
          <p:cNvPr id="411" name="Google Shape;411;p29"/>
          <p:cNvSpPr/>
          <p:nvPr/>
        </p:nvSpPr>
        <p:spPr>
          <a:xfrm>
            <a:off x="4454350" y="1678150"/>
            <a:ext cx="2616600" cy="352200"/>
          </a:xfrm>
          <a:prstGeom prst="flowChartConnector">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0"/>
          <p:cNvSpPr/>
          <p:nvPr/>
        </p:nvSpPr>
        <p:spPr>
          <a:xfrm>
            <a:off x="5016775" y="1386075"/>
            <a:ext cx="3927300" cy="2443200"/>
          </a:xfrm>
          <a:prstGeom prst="rect">
            <a:avLst/>
          </a:prstGeom>
          <a:solidFill>
            <a:schemeClr val="dk1"/>
          </a:solidFill>
          <a:ln cap="flat" cmpd="sng" w="9525">
            <a:solidFill>
              <a:srgbClr val="9E9E9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7" name="Google Shape;417;p30"/>
          <p:cNvSpPr txBox="1"/>
          <p:nvPr>
            <p:ph idx="1" type="body"/>
          </p:nvPr>
        </p:nvSpPr>
        <p:spPr>
          <a:xfrm>
            <a:off x="290250" y="1104075"/>
            <a:ext cx="4790700" cy="3756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Evolutionary rates can help us estimate how much transmission has passed among cases with a few mutations apart from one another.</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Clr>
                <a:schemeClr val="dk1"/>
              </a:buClr>
              <a:buSzPts val="1100"/>
              <a:buFont typeface="Arial"/>
              <a:buNone/>
            </a:pPr>
            <a:r>
              <a:rPr lang="en"/>
              <a:t>In order to assess relatedness, epidemiologists often set a threshold for when enough mutations have occurred that they can be considered unlinked.</a:t>
            </a:r>
            <a:endParaRPr>
              <a:latin typeface="Open Sans Light"/>
              <a:ea typeface="Open Sans Light"/>
              <a:cs typeface="Open Sans Light"/>
              <a:sym typeface="Open Sans Light"/>
            </a:endParaRPr>
          </a:p>
        </p:txBody>
      </p:sp>
      <p:sp>
        <p:nvSpPr>
          <p:cNvPr id="418" name="Google Shape;418;p30"/>
          <p:cNvSpPr txBox="1"/>
          <p:nvPr/>
        </p:nvSpPr>
        <p:spPr>
          <a:xfrm>
            <a:off x="199950" y="200400"/>
            <a:ext cx="87441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dk1"/>
                </a:solidFill>
                <a:latin typeface="Oswald"/>
                <a:ea typeface="Oswald"/>
                <a:cs typeface="Oswald"/>
                <a:sym typeface="Oswald"/>
              </a:rPr>
              <a:t>Using evolutionary rates to assess relatedness between cases</a:t>
            </a:r>
            <a:endParaRPr b="0" i="0" sz="2400" u="none" cap="none" strike="noStrike">
              <a:solidFill>
                <a:srgbClr val="FFFFFF"/>
              </a:solidFill>
              <a:latin typeface="Open Sans Light"/>
              <a:ea typeface="Open Sans Light"/>
              <a:cs typeface="Open Sans Light"/>
              <a:sym typeface="Open Sans Light"/>
            </a:endParaRPr>
          </a:p>
        </p:txBody>
      </p:sp>
      <p:pic>
        <p:nvPicPr>
          <p:cNvPr id="419" name="Google Shape;419;p30"/>
          <p:cNvPicPr preferRelativeResize="0"/>
          <p:nvPr/>
        </p:nvPicPr>
        <p:blipFill rotWithShape="1">
          <a:blip r:embed="rId3">
            <a:alphaModFix/>
          </a:blip>
          <a:srcRect b="0" l="0" r="0" t="0"/>
          <a:stretch/>
        </p:blipFill>
        <p:spPr>
          <a:xfrm>
            <a:off x="5145375" y="1455600"/>
            <a:ext cx="3680799" cy="23526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cxnSp>
        <p:nvCxnSpPr>
          <p:cNvPr id="424" name="Google Shape;424;p31"/>
          <p:cNvCxnSpPr/>
          <p:nvPr/>
        </p:nvCxnSpPr>
        <p:spPr>
          <a:xfrm rot="10800000">
            <a:off x="6046625" y="2864075"/>
            <a:ext cx="764400" cy="1200"/>
          </a:xfrm>
          <a:prstGeom prst="straightConnector1">
            <a:avLst/>
          </a:prstGeom>
          <a:noFill/>
          <a:ln cap="flat" cmpd="sng" w="38100">
            <a:solidFill>
              <a:schemeClr val="dk2"/>
            </a:solidFill>
            <a:prstDash val="solid"/>
            <a:round/>
            <a:headEnd len="sm" w="sm" type="none"/>
            <a:tailEnd len="sm" w="sm" type="none"/>
          </a:ln>
        </p:spPr>
      </p:cxnSp>
      <p:cxnSp>
        <p:nvCxnSpPr>
          <p:cNvPr id="425" name="Google Shape;425;p31"/>
          <p:cNvCxnSpPr/>
          <p:nvPr/>
        </p:nvCxnSpPr>
        <p:spPr>
          <a:xfrm>
            <a:off x="6027425" y="847125"/>
            <a:ext cx="10500" cy="2032500"/>
          </a:xfrm>
          <a:prstGeom prst="straightConnector1">
            <a:avLst/>
          </a:prstGeom>
          <a:noFill/>
          <a:ln cap="flat" cmpd="sng" w="38100">
            <a:solidFill>
              <a:schemeClr val="dk2"/>
            </a:solidFill>
            <a:prstDash val="solid"/>
            <a:round/>
            <a:headEnd len="sm" w="sm" type="none"/>
            <a:tailEnd len="sm" w="sm" type="none"/>
          </a:ln>
        </p:spPr>
      </p:cxnSp>
      <p:sp>
        <p:nvSpPr>
          <p:cNvPr id="426" name="Google Shape;426;p31"/>
          <p:cNvSpPr/>
          <p:nvPr/>
        </p:nvSpPr>
        <p:spPr>
          <a:xfrm>
            <a:off x="6780000" y="2684363"/>
            <a:ext cx="463800" cy="360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31"/>
          <p:cNvSpPr/>
          <p:nvPr/>
        </p:nvSpPr>
        <p:spPr>
          <a:xfrm>
            <a:off x="5838400" y="2340888"/>
            <a:ext cx="463800" cy="360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31"/>
          <p:cNvSpPr/>
          <p:nvPr/>
        </p:nvSpPr>
        <p:spPr>
          <a:xfrm>
            <a:off x="5797625" y="1610600"/>
            <a:ext cx="463800" cy="360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31"/>
          <p:cNvSpPr/>
          <p:nvPr/>
        </p:nvSpPr>
        <p:spPr>
          <a:xfrm>
            <a:off x="5797625" y="921800"/>
            <a:ext cx="463800" cy="360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0" name="Google Shape;430;p31"/>
          <p:cNvSpPr txBox="1"/>
          <p:nvPr>
            <p:ph idx="1" type="body"/>
          </p:nvPr>
        </p:nvSpPr>
        <p:spPr>
          <a:xfrm>
            <a:off x="311700" y="812400"/>
            <a:ext cx="3965700" cy="37566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431" name="Google Shape;431;p31"/>
          <p:cNvSpPr txBox="1"/>
          <p:nvPr/>
        </p:nvSpPr>
        <p:spPr>
          <a:xfrm>
            <a:off x="199950" y="165900"/>
            <a:ext cx="87441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n" sz="3000" u="none" cap="none" strike="noStrike">
                <a:solidFill>
                  <a:schemeClr val="dk1"/>
                </a:solidFill>
                <a:latin typeface="Oswald"/>
                <a:ea typeface="Oswald"/>
                <a:cs typeface="Oswald"/>
                <a:sym typeface="Oswald"/>
              </a:rPr>
              <a:t>Using evolutionary rates to assess relatedness between cases</a:t>
            </a:r>
            <a:endParaRPr b="0" i="0" sz="2400" u="none" cap="none" strike="noStrike">
              <a:solidFill>
                <a:srgbClr val="FFFFFF"/>
              </a:solidFill>
              <a:latin typeface="Open Sans Light"/>
              <a:ea typeface="Open Sans Light"/>
              <a:cs typeface="Open Sans Light"/>
              <a:sym typeface="Open Sans Light"/>
            </a:endParaRPr>
          </a:p>
        </p:txBody>
      </p:sp>
      <p:sp>
        <p:nvSpPr>
          <p:cNvPr id="432" name="Google Shape;432;p31"/>
          <p:cNvSpPr txBox="1"/>
          <p:nvPr/>
        </p:nvSpPr>
        <p:spPr>
          <a:xfrm>
            <a:off x="508500" y="1776475"/>
            <a:ext cx="4121400" cy="212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Evolutionary rate:</a:t>
            </a:r>
            <a:endParaRPr b="0" i="0" sz="1400" u="none" cap="none" strike="noStrike">
              <a:solidFill>
                <a:schemeClr val="accent3"/>
              </a:solidFill>
              <a:latin typeface="Average"/>
              <a:ea typeface="Average"/>
              <a:cs typeface="Average"/>
              <a:sym typeface="Average"/>
            </a:endParaRPr>
          </a:p>
          <a:p>
            <a:pPr indent="-317500" lvl="0" marL="457200" marR="0" rtl="0" algn="l">
              <a:lnSpc>
                <a:spcPct val="100000"/>
              </a:lnSpc>
              <a:spcBef>
                <a:spcPts val="0"/>
              </a:spcBef>
              <a:spcAft>
                <a:spcPts val="0"/>
              </a:spcAft>
              <a:buClr>
                <a:schemeClr val="accent3"/>
              </a:buClr>
              <a:buSzPts val="1400"/>
              <a:buFont typeface="Average"/>
              <a:buChar char="●"/>
            </a:pPr>
            <a:r>
              <a:rPr b="0" i="0" lang="en" sz="1400" u="none" cap="none" strike="noStrike">
                <a:solidFill>
                  <a:schemeClr val="accent3"/>
                </a:solidFill>
                <a:latin typeface="Average"/>
                <a:ea typeface="Average"/>
                <a:cs typeface="Average"/>
                <a:sym typeface="Average"/>
              </a:rPr>
              <a:t>~25 mutations per year x 1 year /12 months</a:t>
            </a:r>
            <a:endParaRPr b="0" i="0" sz="1400" u="none" cap="none" strike="noStrike">
              <a:solidFill>
                <a:schemeClr val="accent3"/>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3"/>
              </a:solidFill>
              <a:latin typeface="Average"/>
              <a:ea typeface="Average"/>
              <a:cs typeface="Average"/>
              <a:sym typeface="Average"/>
            </a:endParaRPr>
          </a:p>
          <a:p>
            <a:pPr indent="-317500" lvl="0" marL="457200" marR="0" rtl="0" algn="l">
              <a:lnSpc>
                <a:spcPct val="100000"/>
              </a:lnSpc>
              <a:spcBef>
                <a:spcPts val="0"/>
              </a:spcBef>
              <a:spcAft>
                <a:spcPts val="0"/>
              </a:spcAft>
              <a:buClr>
                <a:schemeClr val="accent3"/>
              </a:buClr>
              <a:buSzPts val="1400"/>
              <a:buFont typeface="Average"/>
              <a:buChar char="●"/>
            </a:pPr>
            <a:r>
              <a:rPr b="0" i="0" lang="en" sz="1400" u="none" cap="none" strike="noStrike">
                <a:solidFill>
                  <a:schemeClr val="accent3"/>
                </a:solidFill>
                <a:latin typeface="Average"/>
                <a:ea typeface="Average"/>
                <a:cs typeface="Average"/>
                <a:sym typeface="Average"/>
              </a:rPr>
              <a:t>~2 mutations per month</a:t>
            </a:r>
            <a:endParaRPr b="0" i="0" sz="1400" u="none" cap="none" strike="noStrike">
              <a:solidFill>
                <a:schemeClr val="accent3"/>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3"/>
              </a:solidFill>
              <a:latin typeface="Average"/>
              <a:ea typeface="Average"/>
              <a:cs typeface="Average"/>
              <a:sym typeface="Average"/>
            </a:endParaRPr>
          </a:p>
          <a:p>
            <a:pPr indent="-317500" lvl="0" marL="457200" marR="0" rtl="0" algn="l">
              <a:lnSpc>
                <a:spcPct val="100000"/>
              </a:lnSpc>
              <a:spcBef>
                <a:spcPts val="0"/>
              </a:spcBef>
              <a:spcAft>
                <a:spcPts val="0"/>
              </a:spcAft>
              <a:buClr>
                <a:schemeClr val="accent3"/>
              </a:buClr>
              <a:buSzPts val="1400"/>
              <a:buFont typeface="Average"/>
              <a:buChar char="●"/>
            </a:pPr>
            <a:r>
              <a:rPr b="0" i="0" lang="en" sz="1400" u="none" cap="none" strike="noStrike">
                <a:solidFill>
                  <a:schemeClr val="accent3"/>
                </a:solidFill>
                <a:latin typeface="Average"/>
                <a:ea typeface="Average"/>
                <a:cs typeface="Average"/>
                <a:sym typeface="Average"/>
              </a:rPr>
              <a:t>~1 mutation every 2 weeks</a:t>
            </a:r>
            <a:endParaRPr b="0" i="0" sz="1400" u="none" cap="none" strike="noStrike">
              <a:solidFill>
                <a:schemeClr val="accent3"/>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3"/>
              </a:solidFill>
              <a:latin typeface="Average"/>
              <a:ea typeface="Average"/>
              <a:cs typeface="Average"/>
              <a:sym typeface="Average"/>
            </a:endParaRPr>
          </a:p>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Serial interval between direct infections:</a:t>
            </a:r>
            <a:endParaRPr b="0" i="0" sz="1400" u="none" cap="none" strike="noStrike">
              <a:solidFill>
                <a:schemeClr val="accent3"/>
              </a:solidFill>
              <a:latin typeface="Average"/>
              <a:ea typeface="Average"/>
              <a:cs typeface="Average"/>
              <a:sym typeface="Average"/>
            </a:endParaRPr>
          </a:p>
          <a:p>
            <a:pPr indent="-317500" lvl="0" marL="457200" marR="0" rtl="0" algn="l">
              <a:lnSpc>
                <a:spcPct val="100000"/>
              </a:lnSpc>
              <a:spcBef>
                <a:spcPts val="0"/>
              </a:spcBef>
              <a:spcAft>
                <a:spcPts val="0"/>
              </a:spcAft>
              <a:buClr>
                <a:schemeClr val="accent3"/>
              </a:buClr>
              <a:buSzPts val="1400"/>
              <a:buFont typeface="Average"/>
              <a:buChar char="●"/>
            </a:pPr>
            <a:r>
              <a:rPr b="0" i="0" lang="en" sz="1400" u="none" cap="none" strike="noStrike">
                <a:solidFill>
                  <a:schemeClr val="accent3"/>
                </a:solidFill>
                <a:latin typeface="Average"/>
                <a:ea typeface="Average"/>
                <a:cs typeface="Average"/>
                <a:sym typeface="Average"/>
              </a:rPr>
              <a:t>~5 days</a:t>
            </a:r>
            <a:endParaRPr b="0" i="0" sz="1400" u="none" cap="none" strike="noStrike">
              <a:solidFill>
                <a:schemeClr val="accent3"/>
              </a:solidFill>
              <a:latin typeface="Average"/>
              <a:ea typeface="Average"/>
              <a:cs typeface="Average"/>
              <a:sym typeface="Average"/>
            </a:endParaRPr>
          </a:p>
        </p:txBody>
      </p:sp>
      <p:sp>
        <p:nvSpPr>
          <p:cNvPr id="433" name="Google Shape;433;p31"/>
          <p:cNvSpPr txBox="1"/>
          <p:nvPr/>
        </p:nvSpPr>
        <p:spPr>
          <a:xfrm>
            <a:off x="455650" y="1170825"/>
            <a:ext cx="3121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accent3"/>
                </a:solidFill>
                <a:latin typeface="Average"/>
                <a:ea typeface="Average"/>
                <a:cs typeface="Average"/>
                <a:sym typeface="Average"/>
              </a:rPr>
              <a:t>SARS-CoV-2 Example:</a:t>
            </a:r>
            <a:endParaRPr b="0" i="0" sz="1400" u="none" cap="none" strike="noStrike">
              <a:solidFill>
                <a:schemeClr val="accent3"/>
              </a:solidFill>
              <a:latin typeface="Average"/>
              <a:ea typeface="Average"/>
              <a:cs typeface="Average"/>
              <a:sym typeface="Average"/>
            </a:endParaRPr>
          </a:p>
        </p:txBody>
      </p:sp>
      <p:sp>
        <p:nvSpPr>
          <p:cNvPr id="434" name="Google Shape;434;p31"/>
          <p:cNvSpPr txBox="1"/>
          <p:nvPr/>
        </p:nvSpPr>
        <p:spPr>
          <a:xfrm>
            <a:off x="5874899" y="3149175"/>
            <a:ext cx="1591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0	            1          </a:t>
            </a:r>
            <a:endParaRPr b="0" i="0" sz="1400" u="none" cap="none" strike="noStrike">
              <a:solidFill>
                <a:schemeClr val="dk1"/>
              </a:solidFill>
              <a:latin typeface="Average"/>
              <a:ea typeface="Average"/>
              <a:cs typeface="Average"/>
              <a:sym typeface="Average"/>
            </a:endParaRPr>
          </a:p>
        </p:txBody>
      </p:sp>
      <p:sp>
        <p:nvSpPr>
          <p:cNvPr id="435" name="Google Shape;435;p31"/>
          <p:cNvSpPr txBox="1"/>
          <p:nvPr/>
        </p:nvSpPr>
        <p:spPr>
          <a:xfrm>
            <a:off x="5874900" y="883875"/>
            <a:ext cx="69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A</a:t>
            </a:r>
            <a:endParaRPr b="0" i="0" sz="1400" u="none" cap="none" strike="noStrike">
              <a:solidFill>
                <a:schemeClr val="dk1"/>
              </a:solidFill>
              <a:latin typeface="Average"/>
              <a:ea typeface="Average"/>
              <a:cs typeface="Average"/>
              <a:sym typeface="Average"/>
            </a:endParaRPr>
          </a:p>
        </p:txBody>
      </p:sp>
      <p:sp>
        <p:nvSpPr>
          <p:cNvPr id="436" name="Google Shape;436;p31"/>
          <p:cNvSpPr txBox="1"/>
          <p:nvPr/>
        </p:nvSpPr>
        <p:spPr>
          <a:xfrm>
            <a:off x="5874900" y="1571022"/>
            <a:ext cx="69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B</a:t>
            </a:r>
            <a:endParaRPr b="0" i="0" sz="1400" u="none" cap="none" strike="noStrike">
              <a:solidFill>
                <a:schemeClr val="dk1"/>
              </a:solidFill>
              <a:latin typeface="Average"/>
              <a:ea typeface="Average"/>
              <a:cs typeface="Average"/>
              <a:sym typeface="Average"/>
            </a:endParaRPr>
          </a:p>
        </p:txBody>
      </p:sp>
      <p:sp>
        <p:nvSpPr>
          <p:cNvPr id="437" name="Google Shape;437;p31"/>
          <p:cNvSpPr txBox="1"/>
          <p:nvPr/>
        </p:nvSpPr>
        <p:spPr>
          <a:xfrm>
            <a:off x="6819726" y="2644775"/>
            <a:ext cx="58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D</a:t>
            </a:r>
            <a:endParaRPr b="0" i="0" sz="1400" u="none" cap="none" strike="noStrike">
              <a:solidFill>
                <a:schemeClr val="dk1"/>
              </a:solidFill>
              <a:latin typeface="Average"/>
              <a:ea typeface="Average"/>
              <a:cs typeface="Average"/>
              <a:sym typeface="Average"/>
            </a:endParaRPr>
          </a:p>
        </p:txBody>
      </p:sp>
      <p:sp>
        <p:nvSpPr>
          <p:cNvPr id="438" name="Google Shape;438;p31"/>
          <p:cNvSpPr txBox="1"/>
          <p:nvPr/>
        </p:nvSpPr>
        <p:spPr>
          <a:xfrm>
            <a:off x="5874900" y="2321085"/>
            <a:ext cx="69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C</a:t>
            </a:r>
            <a:endParaRPr b="0" i="0" sz="1400" u="none" cap="none" strike="noStrike">
              <a:solidFill>
                <a:schemeClr val="dk1"/>
              </a:solidFill>
              <a:latin typeface="Average"/>
              <a:ea typeface="Average"/>
              <a:cs typeface="Average"/>
              <a:sym typeface="Average"/>
            </a:endParaRPr>
          </a:p>
        </p:txBody>
      </p:sp>
      <p:sp>
        <p:nvSpPr>
          <p:cNvPr id="439" name="Google Shape;439;p31"/>
          <p:cNvSpPr txBox="1"/>
          <p:nvPr/>
        </p:nvSpPr>
        <p:spPr>
          <a:xfrm>
            <a:off x="4861650" y="3326125"/>
            <a:ext cx="430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440" name="Google Shape;440;p31"/>
          <p:cNvSpPr txBox="1"/>
          <p:nvPr/>
        </p:nvSpPr>
        <p:spPr>
          <a:xfrm>
            <a:off x="4811550" y="3653575"/>
            <a:ext cx="37182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CACACA"/>
                </a:solidFill>
                <a:latin typeface="Average"/>
                <a:ea typeface="Average"/>
                <a:cs typeface="Average"/>
                <a:sym typeface="Average"/>
              </a:rPr>
              <a:t>About 2 weeks have passed between Samples A-C and Sample D.  And, they could be separated by 1 to 2 transmission events. These samples are likely related, but can we say anything about directionality?</a:t>
            </a:r>
            <a:endParaRPr b="0" i="0" sz="1400" u="none" cap="none" strike="noStrike">
              <a:solidFill>
                <a:srgbClr val="CACACA"/>
              </a:solidFill>
              <a:latin typeface="Average"/>
              <a:ea typeface="Average"/>
              <a:cs typeface="Average"/>
              <a:sym typeface="Average"/>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Common misinterpretations of phylogenetic trees</a:t>
            </a:r>
            <a:endParaRPr/>
          </a:p>
        </p:txBody>
      </p:sp>
      <p:sp>
        <p:nvSpPr>
          <p:cNvPr id="446" name="Google Shape;446;p32"/>
          <p:cNvSpPr txBox="1"/>
          <p:nvPr>
            <p:ph idx="1" type="body"/>
          </p:nvPr>
        </p:nvSpPr>
        <p:spPr>
          <a:xfrm>
            <a:off x="311700" y="1195425"/>
            <a:ext cx="8520600" cy="35217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Misconception: A phylogenetic tree = A transmission diagram</a:t>
            </a:r>
            <a:endParaRPr/>
          </a:p>
          <a:p>
            <a:pPr indent="0" lvl="0" marL="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n"/>
              <a:t>Were cases A, B, C, and D all exposed to the same source? And, the minority variant transmitted to D?</a:t>
            </a:r>
            <a:endParaRPr/>
          </a:p>
          <a:p>
            <a:pPr indent="0" lvl="0" marL="45720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t/>
            </a:r>
            <a:endParaRPr/>
          </a:p>
        </p:txBody>
      </p:sp>
      <p:sp>
        <p:nvSpPr>
          <p:cNvPr id="447" name="Google Shape;447;p32"/>
          <p:cNvSpPr txBox="1"/>
          <p:nvPr/>
        </p:nvSpPr>
        <p:spPr>
          <a:xfrm>
            <a:off x="4266550" y="4669050"/>
            <a:ext cx="4750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Source: https://alliblk.github.io/genepi-book/index.html</a:t>
            </a:r>
            <a:endParaRPr b="0" i="0" sz="1400" u="none" cap="none" strike="noStrike">
              <a:solidFill>
                <a:schemeClr val="dk1"/>
              </a:solidFill>
              <a:latin typeface="Average"/>
              <a:ea typeface="Average"/>
              <a:cs typeface="Average"/>
              <a:sym typeface="Average"/>
            </a:endParaRPr>
          </a:p>
        </p:txBody>
      </p:sp>
      <p:cxnSp>
        <p:nvCxnSpPr>
          <p:cNvPr id="448" name="Google Shape;448;p32"/>
          <p:cNvCxnSpPr/>
          <p:nvPr/>
        </p:nvCxnSpPr>
        <p:spPr>
          <a:xfrm>
            <a:off x="7586750" y="632825"/>
            <a:ext cx="0" cy="837000"/>
          </a:xfrm>
          <a:prstGeom prst="straightConnector1">
            <a:avLst/>
          </a:prstGeom>
          <a:noFill/>
          <a:ln cap="flat" cmpd="sng" w="9525">
            <a:solidFill>
              <a:schemeClr val="dk1"/>
            </a:solidFill>
            <a:prstDash val="solid"/>
            <a:round/>
            <a:headEnd len="sm" w="sm" type="none"/>
            <a:tailEnd len="sm" w="sm" type="none"/>
          </a:ln>
        </p:spPr>
      </p:cxnSp>
      <p:sp>
        <p:nvSpPr>
          <p:cNvPr id="449" name="Google Shape;449;p32"/>
          <p:cNvSpPr/>
          <p:nvPr/>
        </p:nvSpPr>
        <p:spPr>
          <a:xfrm>
            <a:off x="7494650" y="722350"/>
            <a:ext cx="184200" cy="173700"/>
          </a:xfrm>
          <a:prstGeom prst="ellipse">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0" name="Google Shape;450;p32"/>
          <p:cNvSpPr/>
          <p:nvPr/>
        </p:nvSpPr>
        <p:spPr>
          <a:xfrm>
            <a:off x="7494650" y="964475"/>
            <a:ext cx="184200" cy="173700"/>
          </a:xfrm>
          <a:prstGeom prst="ellipse">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32"/>
          <p:cNvSpPr/>
          <p:nvPr/>
        </p:nvSpPr>
        <p:spPr>
          <a:xfrm>
            <a:off x="7494650" y="1206600"/>
            <a:ext cx="184200" cy="173700"/>
          </a:xfrm>
          <a:prstGeom prst="ellipse">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52" name="Google Shape;452;p32"/>
          <p:cNvCxnSpPr/>
          <p:nvPr/>
        </p:nvCxnSpPr>
        <p:spPr>
          <a:xfrm>
            <a:off x="7592025" y="1469900"/>
            <a:ext cx="526500" cy="5400"/>
          </a:xfrm>
          <a:prstGeom prst="straightConnector1">
            <a:avLst/>
          </a:prstGeom>
          <a:noFill/>
          <a:ln cap="flat" cmpd="sng" w="9525">
            <a:solidFill>
              <a:schemeClr val="dk2"/>
            </a:solidFill>
            <a:prstDash val="solid"/>
            <a:round/>
            <a:headEnd len="sm" w="sm" type="none"/>
            <a:tailEnd len="sm" w="sm" type="none"/>
          </a:ln>
        </p:spPr>
      </p:cxnSp>
      <p:sp>
        <p:nvSpPr>
          <p:cNvPr id="453" name="Google Shape;453;p32"/>
          <p:cNvSpPr/>
          <p:nvPr/>
        </p:nvSpPr>
        <p:spPr>
          <a:xfrm>
            <a:off x="7883975" y="1385750"/>
            <a:ext cx="184200" cy="173700"/>
          </a:xfrm>
          <a:prstGeom prst="ellipse">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4" name="Google Shape;454;p32"/>
          <p:cNvSpPr txBox="1"/>
          <p:nvPr/>
        </p:nvSpPr>
        <p:spPr>
          <a:xfrm>
            <a:off x="7470950" y="1480425"/>
            <a:ext cx="95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0	1</a:t>
            </a:r>
            <a:endParaRPr b="0" i="0" sz="1400" u="none" cap="none" strike="noStrike">
              <a:solidFill>
                <a:schemeClr val="dk1"/>
              </a:solidFill>
              <a:latin typeface="Average"/>
              <a:ea typeface="Average"/>
              <a:cs typeface="Average"/>
              <a:sym typeface="Average"/>
            </a:endParaRPr>
          </a:p>
        </p:txBody>
      </p:sp>
      <p:sp>
        <p:nvSpPr>
          <p:cNvPr id="455" name="Google Shape;455;p32"/>
          <p:cNvSpPr txBox="1"/>
          <p:nvPr/>
        </p:nvSpPr>
        <p:spPr>
          <a:xfrm>
            <a:off x="7455200" y="609100"/>
            <a:ext cx="26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A</a:t>
            </a:r>
            <a:endParaRPr b="0" i="0" sz="1400" u="none" cap="none" strike="noStrike">
              <a:solidFill>
                <a:schemeClr val="dk1"/>
              </a:solidFill>
              <a:latin typeface="Average"/>
              <a:ea typeface="Average"/>
              <a:cs typeface="Average"/>
              <a:sym typeface="Average"/>
            </a:endParaRPr>
          </a:p>
        </p:txBody>
      </p:sp>
      <p:sp>
        <p:nvSpPr>
          <p:cNvPr id="456" name="Google Shape;456;p32"/>
          <p:cNvSpPr txBox="1"/>
          <p:nvPr/>
        </p:nvSpPr>
        <p:spPr>
          <a:xfrm>
            <a:off x="7455200" y="829925"/>
            <a:ext cx="26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B</a:t>
            </a:r>
            <a:endParaRPr b="0" i="0" sz="1400" u="none" cap="none" strike="noStrike">
              <a:solidFill>
                <a:schemeClr val="dk1"/>
              </a:solidFill>
              <a:latin typeface="Average"/>
              <a:ea typeface="Average"/>
              <a:cs typeface="Average"/>
              <a:sym typeface="Average"/>
            </a:endParaRPr>
          </a:p>
        </p:txBody>
      </p:sp>
      <p:sp>
        <p:nvSpPr>
          <p:cNvPr id="457" name="Google Shape;457;p32"/>
          <p:cNvSpPr txBox="1"/>
          <p:nvPr/>
        </p:nvSpPr>
        <p:spPr>
          <a:xfrm>
            <a:off x="7415750" y="1093350"/>
            <a:ext cx="26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C</a:t>
            </a:r>
            <a:endParaRPr b="0" i="0" sz="1400" u="none" cap="none" strike="noStrike">
              <a:solidFill>
                <a:schemeClr val="dk1"/>
              </a:solidFill>
              <a:latin typeface="Average"/>
              <a:ea typeface="Average"/>
              <a:cs typeface="Average"/>
              <a:sym typeface="Average"/>
            </a:endParaRPr>
          </a:p>
        </p:txBody>
      </p:sp>
      <p:sp>
        <p:nvSpPr>
          <p:cNvPr id="458" name="Google Shape;458;p32"/>
          <p:cNvSpPr txBox="1"/>
          <p:nvPr/>
        </p:nvSpPr>
        <p:spPr>
          <a:xfrm>
            <a:off x="7818500" y="1272500"/>
            <a:ext cx="26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D</a:t>
            </a:r>
            <a:endParaRPr b="0" i="0" sz="1400" u="none" cap="none" strike="noStrike">
              <a:solidFill>
                <a:schemeClr val="dk1"/>
              </a:solidFill>
              <a:latin typeface="Average"/>
              <a:ea typeface="Average"/>
              <a:cs typeface="Average"/>
              <a:sym typeface="Average"/>
            </a:endParaRPr>
          </a:p>
        </p:txBody>
      </p:sp>
      <p:sp>
        <p:nvSpPr>
          <p:cNvPr id="459" name="Google Shape;459;p32"/>
          <p:cNvSpPr/>
          <p:nvPr/>
        </p:nvSpPr>
        <p:spPr>
          <a:xfrm>
            <a:off x="1735425" y="3351975"/>
            <a:ext cx="321900" cy="321900"/>
          </a:xfrm>
          <a:prstGeom prst="ellipse">
            <a:avLst/>
          </a:prstGeom>
          <a:solidFill>
            <a:srgbClr val="4285F4"/>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0" name="Google Shape;460;p32"/>
          <p:cNvSpPr/>
          <p:nvPr/>
        </p:nvSpPr>
        <p:spPr>
          <a:xfrm>
            <a:off x="1735425" y="3351975"/>
            <a:ext cx="321900" cy="321900"/>
          </a:xfrm>
          <a:prstGeom prst="pie">
            <a:avLst>
              <a:gd fmla="val 0" name="adj1"/>
              <a:gd fmla="val 16200000" name="adj2"/>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61" name="Google Shape;461;p32"/>
          <p:cNvCxnSpPr>
            <a:stCxn id="460" idx="0"/>
            <a:endCxn id="462" idx="1"/>
          </p:cNvCxnSpPr>
          <p:nvPr/>
        </p:nvCxnSpPr>
        <p:spPr>
          <a:xfrm flipH="1" rot="10800000">
            <a:off x="2057325" y="2957025"/>
            <a:ext cx="546300" cy="555900"/>
          </a:xfrm>
          <a:prstGeom prst="straightConnector1">
            <a:avLst/>
          </a:prstGeom>
          <a:noFill/>
          <a:ln cap="flat" cmpd="sng" w="9525">
            <a:solidFill>
              <a:schemeClr val="dk1"/>
            </a:solidFill>
            <a:prstDash val="solid"/>
            <a:round/>
            <a:headEnd len="sm" w="sm" type="none"/>
            <a:tailEnd len="med" w="med" type="triangle"/>
          </a:ln>
        </p:spPr>
      </p:cxnSp>
      <p:cxnSp>
        <p:nvCxnSpPr>
          <p:cNvPr id="463" name="Google Shape;463;p32"/>
          <p:cNvCxnSpPr>
            <a:stCxn id="460" idx="0"/>
          </p:cNvCxnSpPr>
          <p:nvPr/>
        </p:nvCxnSpPr>
        <p:spPr>
          <a:xfrm flipH="1" rot="10800000">
            <a:off x="2057325" y="3506325"/>
            <a:ext cx="546600" cy="6600"/>
          </a:xfrm>
          <a:prstGeom prst="straightConnector1">
            <a:avLst/>
          </a:prstGeom>
          <a:noFill/>
          <a:ln cap="flat" cmpd="sng" w="9525">
            <a:solidFill>
              <a:schemeClr val="dk1"/>
            </a:solidFill>
            <a:prstDash val="solid"/>
            <a:round/>
            <a:headEnd len="sm" w="sm" type="none"/>
            <a:tailEnd len="med" w="med" type="triangle"/>
          </a:ln>
        </p:spPr>
      </p:cxnSp>
      <p:cxnSp>
        <p:nvCxnSpPr>
          <p:cNvPr id="464" name="Google Shape;464;p32"/>
          <p:cNvCxnSpPr/>
          <p:nvPr/>
        </p:nvCxnSpPr>
        <p:spPr>
          <a:xfrm>
            <a:off x="2057325" y="3528075"/>
            <a:ext cx="432600" cy="236400"/>
          </a:xfrm>
          <a:prstGeom prst="straightConnector1">
            <a:avLst/>
          </a:prstGeom>
          <a:noFill/>
          <a:ln cap="flat" cmpd="sng" w="9525">
            <a:solidFill>
              <a:schemeClr val="dk1"/>
            </a:solidFill>
            <a:prstDash val="solid"/>
            <a:round/>
            <a:headEnd len="sm" w="sm" type="none"/>
            <a:tailEnd len="med" w="med" type="triangle"/>
          </a:ln>
        </p:spPr>
      </p:cxnSp>
      <p:sp>
        <p:nvSpPr>
          <p:cNvPr id="462" name="Google Shape;462;p32"/>
          <p:cNvSpPr/>
          <p:nvPr/>
        </p:nvSpPr>
        <p:spPr>
          <a:xfrm>
            <a:off x="2556425" y="2909875"/>
            <a:ext cx="321900" cy="321900"/>
          </a:xfrm>
          <a:prstGeom prst="ellipse">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
        <p:nvSpPr>
          <p:cNvPr id="465" name="Google Shape;465;p32"/>
          <p:cNvSpPr/>
          <p:nvPr/>
        </p:nvSpPr>
        <p:spPr>
          <a:xfrm>
            <a:off x="2648725" y="3268350"/>
            <a:ext cx="321900" cy="321900"/>
          </a:xfrm>
          <a:prstGeom prst="ellipse">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a:t>
            </a:r>
            <a:endParaRPr b="0" i="0" sz="1400" u="none" cap="none" strike="noStrike">
              <a:solidFill>
                <a:srgbClr val="000000"/>
              </a:solidFill>
              <a:latin typeface="Arial"/>
              <a:ea typeface="Arial"/>
              <a:cs typeface="Arial"/>
              <a:sym typeface="Arial"/>
            </a:endParaRPr>
          </a:p>
        </p:txBody>
      </p:sp>
      <p:sp>
        <p:nvSpPr>
          <p:cNvPr id="466" name="Google Shape;466;p32"/>
          <p:cNvSpPr/>
          <p:nvPr/>
        </p:nvSpPr>
        <p:spPr>
          <a:xfrm>
            <a:off x="2603925" y="3626825"/>
            <a:ext cx="321900" cy="321900"/>
          </a:xfrm>
          <a:prstGeom prst="ellipse">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cxnSp>
        <p:nvCxnSpPr>
          <p:cNvPr id="467" name="Google Shape;467;p32"/>
          <p:cNvCxnSpPr>
            <a:stCxn id="460" idx="0"/>
          </p:cNvCxnSpPr>
          <p:nvPr/>
        </p:nvCxnSpPr>
        <p:spPr>
          <a:xfrm>
            <a:off x="2057325" y="3512925"/>
            <a:ext cx="432600" cy="393000"/>
          </a:xfrm>
          <a:prstGeom prst="straightConnector1">
            <a:avLst/>
          </a:prstGeom>
          <a:noFill/>
          <a:ln cap="flat" cmpd="sng" w="9525">
            <a:solidFill>
              <a:schemeClr val="dk1"/>
            </a:solidFill>
            <a:prstDash val="solid"/>
            <a:round/>
            <a:headEnd len="sm" w="sm" type="none"/>
            <a:tailEnd len="med" w="med" type="triangle"/>
          </a:ln>
        </p:spPr>
      </p:cxnSp>
      <p:sp>
        <p:nvSpPr>
          <p:cNvPr id="468" name="Google Shape;468;p32"/>
          <p:cNvSpPr/>
          <p:nvPr/>
        </p:nvSpPr>
        <p:spPr>
          <a:xfrm>
            <a:off x="2438625" y="3905975"/>
            <a:ext cx="321900" cy="321900"/>
          </a:xfrm>
          <a:prstGeom prst="ellipse">
            <a:avLst/>
          </a:prstGeom>
          <a:solidFill>
            <a:srgbClr val="3D85C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
            </a:r>
            <a:endParaRPr b="0" i="0" sz="1400" u="none" cap="none" strike="noStrike">
              <a:solidFill>
                <a:srgbClr val="000000"/>
              </a:solidFill>
              <a:latin typeface="Arial"/>
              <a:ea typeface="Arial"/>
              <a:cs typeface="Arial"/>
              <a:sym typeface="Arial"/>
            </a:endParaRPr>
          </a:p>
        </p:txBody>
      </p:sp>
      <p:sp>
        <p:nvSpPr>
          <p:cNvPr id="469" name="Google Shape;469;p32"/>
          <p:cNvSpPr txBox="1"/>
          <p:nvPr/>
        </p:nvSpPr>
        <p:spPr>
          <a:xfrm>
            <a:off x="433725" y="3268350"/>
            <a:ext cx="1301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Unsequenced source</a:t>
            </a:r>
            <a:endParaRPr b="0" i="0" sz="1400" u="none" cap="none" strike="noStrike">
              <a:solidFill>
                <a:schemeClr val="dk1"/>
              </a:solidFill>
              <a:latin typeface="Average"/>
              <a:ea typeface="Average"/>
              <a:cs typeface="Average"/>
              <a:sym typeface="Average"/>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Common misinterpretations of phylogenetic trees</a:t>
            </a:r>
            <a:endParaRPr/>
          </a:p>
        </p:txBody>
      </p:sp>
      <p:sp>
        <p:nvSpPr>
          <p:cNvPr id="475" name="Google Shape;475;p33"/>
          <p:cNvSpPr txBox="1"/>
          <p:nvPr>
            <p:ph idx="1" type="body"/>
          </p:nvPr>
        </p:nvSpPr>
        <p:spPr>
          <a:xfrm>
            <a:off x="311700" y="1152475"/>
            <a:ext cx="8520600" cy="38568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Misconception: A phylogenetic tree = A transmission tree</a:t>
            </a:r>
            <a:endParaRPr/>
          </a:p>
          <a:p>
            <a:pPr indent="0" lvl="0" marL="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n"/>
              <a:t>Were cases A, B, C, and D all exposed to the same source? And, the minority variant transmitted to D?</a:t>
            </a:r>
            <a:endParaRPr/>
          </a:p>
          <a:p>
            <a:pPr indent="-342900" lvl="0" marL="457200" rtl="0" algn="l">
              <a:lnSpc>
                <a:spcPct val="115000"/>
              </a:lnSpc>
              <a:spcBef>
                <a:spcPts val="0"/>
              </a:spcBef>
              <a:spcAft>
                <a:spcPts val="0"/>
              </a:spcAft>
              <a:buSzPts val="1800"/>
              <a:buChar char="●"/>
            </a:pPr>
            <a:r>
              <a:rPr lang="en"/>
              <a:t>Did case A (for example) infect B and C, and then case C infected D?</a:t>
            </a:r>
            <a:endParaRPr/>
          </a:p>
          <a:p>
            <a:pPr indent="0" lvl="0" marL="45720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n"/>
              <a:t>Be careful with directionality!</a:t>
            </a:r>
            <a:endParaRPr/>
          </a:p>
        </p:txBody>
      </p:sp>
      <p:sp>
        <p:nvSpPr>
          <p:cNvPr id="476" name="Google Shape;476;p33"/>
          <p:cNvSpPr txBox="1"/>
          <p:nvPr/>
        </p:nvSpPr>
        <p:spPr>
          <a:xfrm>
            <a:off x="4266550" y="4669050"/>
            <a:ext cx="4750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Source: https://alliblk.github.io/genepi-book/index.html</a:t>
            </a:r>
            <a:endParaRPr b="0" i="0" sz="1400" u="none" cap="none" strike="noStrike">
              <a:solidFill>
                <a:schemeClr val="dk1"/>
              </a:solidFill>
              <a:latin typeface="Average"/>
              <a:ea typeface="Average"/>
              <a:cs typeface="Average"/>
              <a:sym typeface="Average"/>
            </a:endParaRPr>
          </a:p>
        </p:txBody>
      </p:sp>
      <p:cxnSp>
        <p:nvCxnSpPr>
          <p:cNvPr id="477" name="Google Shape;477;p33"/>
          <p:cNvCxnSpPr/>
          <p:nvPr/>
        </p:nvCxnSpPr>
        <p:spPr>
          <a:xfrm>
            <a:off x="7586750" y="632825"/>
            <a:ext cx="0" cy="837000"/>
          </a:xfrm>
          <a:prstGeom prst="straightConnector1">
            <a:avLst/>
          </a:prstGeom>
          <a:noFill/>
          <a:ln cap="flat" cmpd="sng" w="9525">
            <a:solidFill>
              <a:schemeClr val="dk1"/>
            </a:solidFill>
            <a:prstDash val="solid"/>
            <a:round/>
            <a:headEnd len="sm" w="sm" type="none"/>
            <a:tailEnd len="sm" w="sm" type="none"/>
          </a:ln>
        </p:spPr>
      </p:cxnSp>
      <p:sp>
        <p:nvSpPr>
          <p:cNvPr id="478" name="Google Shape;478;p33"/>
          <p:cNvSpPr/>
          <p:nvPr/>
        </p:nvSpPr>
        <p:spPr>
          <a:xfrm>
            <a:off x="7494650" y="722350"/>
            <a:ext cx="184200" cy="173700"/>
          </a:xfrm>
          <a:prstGeom prst="ellipse">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9" name="Google Shape;479;p33"/>
          <p:cNvSpPr/>
          <p:nvPr/>
        </p:nvSpPr>
        <p:spPr>
          <a:xfrm>
            <a:off x="7494650" y="964475"/>
            <a:ext cx="184200" cy="173700"/>
          </a:xfrm>
          <a:prstGeom prst="ellipse">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p33"/>
          <p:cNvSpPr/>
          <p:nvPr/>
        </p:nvSpPr>
        <p:spPr>
          <a:xfrm>
            <a:off x="7494650" y="1206600"/>
            <a:ext cx="184200" cy="173700"/>
          </a:xfrm>
          <a:prstGeom prst="ellipse">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81" name="Google Shape;481;p33"/>
          <p:cNvCxnSpPr/>
          <p:nvPr/>
        </p:nvCxnSpPr>
        <p:spPr>
          <a:xfrm>
            <a:off x="7592025" y="1469900"/>
            <a:ext cx="526500" cy="5400"/>
          </a:xfrm>
          <a:prstGeom prst="straightConnector1">
            <a:avLst/>
          </a:prstGeom>
          <a:noFill/>
          <a:ln cap="flat" cmpd="sng" w="9525">
            <a:solidFill>
              <a:schemeClr val="dk2"/>
            </a:solidFill>
            <a:prstDash val="solid"/>
            <a:round/>
            <a:headEnd len="sm" w="sm" type="none"/>
            <a:tailEnd len="sm" w="sm" type="none"/>
          </a:ln>
        </p:spPr>
      </p:cxnSp>
      <p:sp>
        <p:nvSpPr>
          <p:cNvPr id="482" name="Google Shape;482;p33"/>
          <p:cNvSpPr/>
          <p:nvPr/>
        </p:nvSpPr>
        <p:spPr>
          <a:xfrm>
            <a:off x="7883975" y="1385750"/>
            <a:ext cx="184200" cy="173700"/>
          </a:xfrm>
          <a:prstGeom prst="ellipse">
            <a:avLst/>
          </a:prstGeom>
          <a:solidFill>
            <a:srgbClr val="0000FF"/>
          </a:solid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33"/>
          <p:cNvSpPr txBox="1"/>
          <p:nvPr/>
        </p:nvSpPr>
        <p:spPr>
          <a:xfrm>
            <a:off x="7470950" y="1480425"/>
            <a:ext cx="95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0	1</a:t>
            </a:r>
            <a:endParaRPr b="0" i="0" sz="1400" u="none" cap="none" strike="noStrike">
              <a:solidFill>
                <a:schemeClr val="dk1"/>
              </a:solidFill>
              <a:latin typeface="Average"/>
              <a:ea typeface="Average"/>
              <a:cs typeface="Average"/>
              <a:sym typeface="Average"/>
            </a:endParaRPr>
          </a:p>
        </p:txBody>
      </p:sp>
      <p:sp>
        <p:nvSpPr>
          <p:cNvPr id="484" name="Google Shape;484;p33"/>
          <p:cNvSpPr txBox="1"/>
          <p:nvPr/>
        </p:nvSpPr>
        <p:spPr>
          <a:xfrm>
            <a:off x="7455200" y="609100"/>
            <a:ext cx="26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A</a:t>
            </a:r>
            <a:endParaRPr b="0" i="0" sz="1400" u="none" cap="none" strike="noStrike">
              <a:solidFill>
                <a:schemeClr val="dk1"/>
              </a:solidFill>
              <a:latin typeface="Average"/>
              <a:ea typeface="Average"/>
              <a:cs typeface="Average"/>
              <a:sym typeface="Average"/>
            </a:endParaRPr>
          </a:p>
        </p:txBody>
      </p:sp>
      <p:sp>
        <p:nvSpPr>
          <p:cNvPr id="485" name="Google Shape;485;p33"/>
          <p:cNvSpPr txBox="1"/>
          <p:nvPr/>
        </p:nvSpPr>
        <p:spPr>
          <a:xfrm>
            <a:off x="7455200" y="829925"/>
            <a:ext cx="26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B</a:t>
            </a:r>
            <a:endParaRPr b="0" i="0" sz="1400" u="none" cap="none" strike="noStrike">
              <a:solidFill>
                <a:schemeClr val="dk1"/>
              </a:solidFill>
              <a:latin typeface="Average"/>
              <a:ea typeface="Average"/>
              <a:cs typeface="Average"/>
              <a:sym typeface="Average"/>
            </a:endParaRPr>
          </a:p>
        </p:txBody>
      </p:sp>
      <p:sp>
        <p:nvSpPr>
          <p:cNvPr id="486" name="Google Shape;486;p33"/>
          <p:cNvSpPr txBox="1"/>
          <p:nvPr/>
        </p:nvSpPr>
        <p:spPr>
          <a:xfrm>
            <a:off x="7415750" y="1093350"/>
            <a:ext cx="26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C</a:t>
            </a:r>
            <a:endParaRPr b="0" i="0" sz="1400" u="none" cap="none" strike="noStrike">
              <a:solidFill>
                <a:schemeClr val="dk1"/>
              </a:solidFill>
              <a:latin typeface="Average"/>
              <a:ea typeface="Average"/>
              <a:cs typeface="Average"/>
              <a:sym typeface="Average"/>
            </a:endParaRPr>
          </a:p>
        </p:txBody>
      </p:sp>
      <p:sp>
        <p:nvSpPr>
          <p:cNvPr id="487" name="Google Shape;487;p33"/>
          <p:cNvSpPr txBox="1"/>
          <p:nvPr/>
        </p:nvSpPr>
        <p:spPr>
          <a:xfrm>
            <a:off x="7818500" y="1272500"/>
            <a:ext cx="263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D</a:t>
            </a:r>
            <a:endParaRPr b="0" i="0" sz="1400" u="none" cap="none" strike="noStrike">
              <a:solidFill>
                <a:schemeClr val="dk1"/>
              </a:solidFill>
              <a:latin typeface="Average"/>
              <a:ea typeface="Average"/>
              <a:cs typeface="Average"/>
              <a:sym typeface="Average"/>
            </a:endParaRPr>
          </a:p>
        </p:txBody>
      </p:sp>
      <p:cxnSp>
        <p:nvCxnSpPr>
          <p:cNvPr id="488" name="Google Shape;488;p33"/>
          <p:cNvCxnSpPr/>
          <p:nvPr/>
        </p:nvCxnSpPr>
        <p:spPr>
          <a:xfrm flipH="1" rot="10800000">
            <a:off x="1765350" y="3246025"/>
            <a:ext cx="456000" cy="258300"/>
          </a:xfrm>
          <a:prstGeom prst="straightConnector1">
            <a:avLst/>
          </a:prstGeom>
          <a:noFill/>
          <a:ln cap="flat" cmpd="sng" w="9525">
            <a:solidFill>
              <a:schemeClr val="dk1"/>
            </a:solidFill>
            <a:prstDash val="solid"/>
            <a:round/>
            <a:headEnd len="sm" w="sm" type="none"/>
            <a:tailEnd len="med" w="med" type="triangle"/>
          </a:ln>
        </p:spPr>
      </p:cxnSp>
      <p:cxnSp>
        <p:nvCxnSpPr>
          <p:cNvPr id="489" name="Google Shape;489;p33"/>
          <p:cNvCxnSpPr/>
          <p:nvPr/>
        </p:nvCxnSpPr>
        <p:spPr>
          <a:xfrm flipH="1" rot="10800000">
            <a:off x="1765350" y="3497725"/>
            <a:ext cx="546600" cy="6600"/>
          </a:xfrm>
          <a:prstGeom prst="straightConnector1">
            <a:avLst/>
          </a:prstGeom>
          <a:noFill/>
          <a:ln cap="flat" cmpd="sng" w="9525">
            <a:solidFill>
              <a:schemeClr val="dk1"/>
            </a:solidFill>
            <a:prstDash val="solid"/>
            <a:round/>
            <a:headEnd len="sm" w="sm" type="none"/>
            <a:tailEnd len="med" w="med" type="triangle"/>
          </a:ln>
        </p:spPr>
      </p:cxnSp>
      <p:cxnSp>
        <p:nvCxnSpPr>
          <p:cNvPr id="490" name="Google Shape;490;p33"/>
          <p:cNvCxnSpPr/>
          <p:nvPr/>
        </p:nvCxnSpPr>
        <p:spPr>
          <a:xfrm>
            <a:off x="2695650" y="3497725"/>
            <a:ext cx="646200" cy="0"/>
          </a:xfrm>
          <a:prstGeom prst="straightConnector1">
            <a:avLst/>
          </a:prstGeom>
          <a:noFill/>
          <a:ln cap="flat" cmpd="sng" w="9525">
            <a:solidFill>
              <a:schemeClr val="dk1"/>
            </a:solidFill>
            <a:prstDash val="solid"/>
            <a:round/>
            <a:headEnd len="sm" w="sm" type="none"/>
            <a:tailEnd len="med" w="med" type="triangle"/>
          </a:ln>
        </p:spPr>
      </p:cxnSp>
      <p:sp>
        <p:nvSpPr>
          <p:cNvPr id="491" name="Google Shape;491;p33"/>
          <p:cNvSpPr/>
          <p:nvPr/>
        </p:nvSpPr>
        <p:spPr>
          <a:xfrm>
            <a:off x="1443450" y="3340075"/>
            <a:ext cx="321900" cy="321900"/>
          </a:xfrm>
          <a:prstGeom prst="ellipse">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A</a:t>
            </a:r>
            <a:endParaRPr b="0" i="0" sz="1400" u="none" cap="none" strike="noStrike">
              <a:solidFill>
                <a:srgbClr val="000000"/>
              </a:solidFill>
              <a:latin typeface="Arial"/>
              <a:ea typeface="Arial"/>
              <a:cs typeface="Arial"/>
              <a:sym typeface="Arial"/>
            </a:endParaRPr>
          </a:p>
        </p:txBody>
      </p:sp>
      <p:sp>
        <p:nvSpPr>
          <p:cNvPr id="492" name="Google Shape;492;p33"/>
          <p:cNvSpPr/>
          <p:nvPr/>
        </p:nvSpPr>
        <p:spPr>
          <a:xfrm>
            <a:off x="2221350" y="3018175"/>
            <a:ext cx="321900" cy="321900"/>
          </a:xfrm>
          <a:prstGeom prst="ellipse">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B</a:t>
            </a:r>
            <a:endParaRPr b="0" i="0" sz="1400" u="none" cap="none" strike="noStrike">
              <a:solidFill>
                <a:srgbClr val="000000"/>
              </a:solidFill>
              <a:latin typeface="Arial"/>
              <a:ea typeface="Arial"/>
              <a:cs typeface="Arial"/>
              <a:sym typeface="Arial"/>
            </a:endParaRPr>
          </a:p>
        </p:txBody>
      </p:sp>
      <p:sp>
        <p:nvSpPr>
          <p:cNvPr id="493" name="Google Shape;493;p33"/>
          <p:cNvSpPr/>
          <p:nvPr/>
        </p:nvSpPr>
        <p:spPr>
          <a:xfrm>
            <a:off x="2373750" y="3340075"/>
            <a:ext cx="321900" cy="321900"/>
          </a:xfrm>
          <a:prstGeom prst="ellipse">
            <a:avLst/>
          </a:prstGeom>
          <a:solidFill>
            <a:srgbClr val="FFAB40"/>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C</a:t>
            </a:r>
            <a:endParaRPr b="0" i="0" sz="1400" u="none" cap="none" strike="noStrike">
              <a:solidFill>
                <a:srgbClr val="000000"/>
              </a:solidFill>
              <a:latin typeface="Arial"/>
              <a:ea typeface="Arial"/>
              <a:cs typeface="Arial"/>
              <a:sym typeface="Arial"/>
            </a:endParaRPr>
          </a:p>
        </p:txBody>
      </p:sp>
      <p:sp>
        <p:nvSpPr>
          <p:cNvPr id="494" name="Google Shape;494;p33"/>
          <p:cNvSpPr/>
          <p:nvPr/>
        </p:nvSpPr>
        <p:spPr>
          <a:xfrm>
            <a:off x="3393425" y="3340075"/>
            <a:ext cx="321900" cy="321900"/>
          </a:xfrm>
          <a:prstGeom prst="ellipse">
            <a:avLst/>
          </a:prstGeom>
          <a:solidFill>
            <a:srgbClr val="3D85C6"/>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Arial"/>
                <a:ea typeface="Arial"/>
                <a:cs typeface="Arial"/>
                <a:sym typeface="Arial"/>
              </a:rPr>
              <a:t>D</a:t>
            </a:r>
            <a:endParaRPr b="0" i="0" sz="1400" u="none" cap="none" strike="noStrike">
              <a:solidFill>
                <a:srgbClr val="000000"/>
              </a:solidFill>
              <a:latin typeface="Arial"/>
              <a:ea typeface="Arial"/>
              <a:cs typeface="Arial"/>
              <a:sym typeface="Arial"/>
            </a:endParaRPr>
          </a:p>
        </p:txBody>
      </p:sp>
      <p:sp>
        <p:nvSpPr>
          <p:cNvPr id="495" name="Google Shape;495;p33"/>
          <p:cNvSpPr txBox="1"/>
          <p:nvPr/>
        </p:nvSpPr>
        <p:spPr>
          <a:xfrm>
            <a:off x="1703850" y="3584700"/>
            <a:ext cx="839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CACACA"/>
                </a:solidFill>
                <a:latin typeface="Average"/>
                <a:ea typeface="Average"/>
                <a:cs typeface="Average"/>
                <a:sym typeface="Average"/>
              </a:rPr>
              <a:t>5 days</a:t>
            </a:r>
            <a:endParaRPr b="0" i="0" sz="1400" u="none" cap="none" strike="noStrike">
              <a:solidFill>
                <a:srgbClr val="CACACA"/>
              </a:solidFill>
              <a:latin typeface="Average"/>
              <a:ea typeface="Average"/>
              <a:cs typeface="Average"/>
              <a:sym typeface="Average"/>
            </a:endParaRPr>
          </a:p>
        </p:txBody>
      </p:sp>
      <p:sp>
        <p:nvSpPr>
          <p:cNvPr id="496" name="Google Shape;496;p33"/>
          <p:cNvSpPr txBox="1"/>
          <p:nvPr/>
        </p:nvSpPr>
        <p:spPr>
          <a:xfrm>
            <a:off x="2646400" y="3584700"/>
            <a:ext cx="839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CACACA"/>
                </a:solidFill>
                <a:latin typeface="Average"/>
                <a:ea typeface="Average"/>
                <a:cs typeface="Average"/>
                <a:sym typeface="Average"/>
              </a:rPr>
              <a:t>5 days</a:t>
            </a:r>
            <a:endParaRPr b="0" i="0" sz="1400" u="none" cap="none" strike="noStrike">
              <a:solidFill>
                <a:srgbClr val="CACACA"/>
              </a:solidFill>
              <a:latin typeface="Average"/>
              <a:ea typeface="Average"/>
              <a:cs typeface="Average"/>
              <a:sym typeface="Average"/>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4"/>
          <p:cNvSpPr txBox="1"/>
          <p:nvPr>
            <p:ph type="title"/>
          </p:nvPr>
        </p:nvSpPr>
        <p:spPr>
          <a:xfrm>
            <a:off x="311700" y="2735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Phylogenetic trees are more useful for ruling cases out using a threshold, than ruling cases in.</a:t>
            </a:r>
            <a:endParaRPr/>
          </a:p>
        </p:txBody>
      </p:sp>
      <p:sp>
        <p:nvSpPr>
          <p:cNvPr id="502" name="Google Shape;502;p34"/>
          <p:cNvSpPr txBox="1"/>
          <p:nvPr>
            <p:ph idx="1" type="body"/>
          </p:nvPr>
        </p:nvSpPr>
        <p:spPr>
          <a:xfrm>
            <a:off x="465150" y="1419850"/>
            <a:ext cx="3091500" cy="28350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Can we rule out any cases for the SARS-CoV-2 outbreak shown on the phylogenetic tree on the right? </a:t>
            </a:r>
            <a:endParaRPr/>
          </a:p>
          <a:p>
            <a:pPr indent="0" lvl="0" marL="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1200"/>
              </a:spcAft>
              <a:buSzPts val="1800"/>
              <a:buNone/>
            </a:pPr>
            <a:r>
              <a:rPr lang="en"/>
              <a:t>Yes! Too much time has passed for these cases to be considered directly linked.</a:t>
            </a:r>
            <a:endParaRPr/>
          </a:p>
        </p:txBody>
      </p:sp>
      <p:sp>
        <p:nvSpPr>
          <p:cNvPr id="503" name="Google Shape;503;p34"/>
          <p:cNvSpPr txBox="1"/>
          <p:nvPr/>
        </p:nvSpPr>
        <p:spPr>
          <a:xfrm>
            <a:off x="4266550" y="4669050"/>
            <a:ext cx="4750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Source: https://alliblk.github.io/genepi-book/index.html</a:t>
            </a:r>
            <a:endParaRPr b="0" i="0" sz="1400" u="none" cap="none" strike="noStrike">
              <a:solidFill>
                <a:schemeClr val="dk1"/>
              </a:solidFill>
              <a:latin typeface="Average"/>
              <a:ea typeface="Average"/>
              <a:cs typeface="Average"/>
              <a:sym typeface="Average"/>
            </a:endParaRPr>
          </a:p>
        </p:txBody>
      </p:sp>
      <p:cxnSp>
        <p:nvCxnSpPr>
          <p:cNvPr id="504" name="Google Shape;504;p34"/>
          <p:cNvCxnSpPr/>
          <p:nvPr/>
        </p:nvCxnSpPr>
        <p:spPr>
          <a:xfrm>
            <a:off x="3872150" y="1633725"/>
            <a:ext cx="10500" cy="2032500"/>
          </a:xfrm>
          <a:prstGeom prst="straightConnector1">
            <a:avLst/>
          </a:prstGeom>
          <a:noFill/>
          <a:ln cap="flat" cmpd="sng" w="38100">
            <a:solidFill>
              <a:schemeClr val="dk2"/>
            </a:solidFill>
            <a:prstDash val="solid"/>
            <a:round/>
            <a:headEnd len="sm" w="sm" type="none"/>
            <a:tailEnd len="sm" w="sm" type="none"/>
          </a:ln>
        </p:spPr>
      </p:cxnSp>
      <p:sp>
        <p:nvSpPr>
          <p:cNvPr id="505" name="Google Shape;505;p34"/>
          <p:cNvSpPr txBox="1"/>
          <p:nvPr/>
        </p:nvSpPr>
        <p:spPr>
          <a:xfrm>
            <a:off x="3872151" y="3666225"/>
            <a:ext cx="269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0	  1             2           3            4       </a:t>
            </a:r>
            <a:endParaRPr b="0" i="0" sz="1400" u="none" cap="none" strike="noStrike">
              <a:solidFill>
                <a:schemeClr val="dk1"/>
              </a:solidFill>
              <a:latin typeface="Average"/>
              <a:ea typeface="Average"/>
              <a:cs typeface="Average"/>
              <a:sym typeface="Average"/>
            </a:endParaRPr>
          </a:p>
        </p:txBody>
      </p:sp>
      <p:sp>
        <p:nvSpPr>
          <p:cNvPr id="506" name="Google Shape;506;p34"/>
          <p:cNvSpPr/>
          <p:nvPr/>
        </p:nvSpPr>
        <p:spPr>
          <a:xfrm>
            <a:off x="3680150" y="1633713"/>
            <a:ext cx="463800" cy="360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34"/>
          <p:cNvSpPr/>
          <p:nvPr/>
        </p:nvSpPr>
        <p:spPr>
          <a:xfrm>
            <a:off x="3645500" y="2211138"/>
            <a:ext cx="463800" cy="360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8" name="Google Shape;508;p34"/>
          <p:cNvSpPr/>
          <p:nvPr/>
        </p:nvSpPr>
        <p:spPr>
          <a:xfrm>
            <a:off x="3645500" y="2896213"/>
            <a:ext cx="463800" cy="360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09" name="Google Shape;509;p34"/>
          <p:cNvCxnSpPr/>
          <p:nvPr/>
        </p:nvCxnSpPr>
        <p:spPr>
          <a:xfrm rot="10800000">
            <a:off x="3872150" y="3666225"/>
            <a:ext cx="2355000" cy="5400"/>
          </a:xfrm>
          <a:prstGeom prst="straightConnector1">
            <a:avLst/>
          </a:prstGeom>
          <a:noFill/>
          <a:ln cap="flat" cmpd="sng" w="38100">
            <a:solidFill>
              <a:schemeClr val="dk2"/>
            </a:solidFill>
            <a:prstDash val="solid"/>
            <a:round/>
            <a:headEnd len="sm" w="sm" type="none"/>
            <a:tailEnd len="sm" w="sm" type="none"/>
          </a:ln>
        </p:spPr>
      </p:cxnSp>
      <p:sp>
        <p:nvSpPr>
          <p:cNvPr id="510" name="Google Shape;510;p34"/>
          <p:cNvSpPr txBox="1"/>
          <p:nvPr/>
        </p:nvSpPr>
        <p:spPr>
          <a:xfrm>
            <a:off x="3747350" y="1613925"/>
            <a:ext cx="69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A</a:t>
            </a:r>
            <a:endParaRPr b="0" i="0" sz="1400" u="none" cap="none" strike="noStrike">
              <a:solidFill>
                <a:schemeClr val="dk1"/>
              </a:solidFill>
              <a:latin typeface="Average"/>
              <a:ea typeface="Average"/>
              <a:cs typeface="Average"/>
              <a:sym typeface="Average"/>
            </a:endParaRPr>
          </a:p>
        </p:txBody>
      </p:sp>
      <p:sp>
        <p:nvSpPr>
          <p:cNvPr id="511" name="Google Shape;511;p34"/>
          <p:cNvSpPr txBox="1"/>
          <p:nvPr/>
        </p:nvSpPr>
        <p:spPr>
          <a:xfrm>
            <a:off x="3680150" y="2191347"/>
            <a:ext cx="69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B</a:t>
            </a:r>
            <a:endParaRPr b="0" i="0" sz="1400" u="none" cap="none" strike="noStrike">
              <a:solidFill>
                <a:schemeClr val="dk1"/>
              </a:solidFill>
              <a:latin typeface="Average"/>
              <a:ea typeface="Average"/>
              <a:cs typeface="Average"/>
              <a:sym typeface="Average"/>
            </a:endParaRPr>
          </a:p>
        </p:txBody>
      </p:sp>
      <p:sp>
        <p:nvSpPr>
          <p:cNvPr id="512" name="Google Shape;512;p34"/>
          <p:cNvSpPr txBox="1"/>
          <p:nvPr/>
        </p:nvSpPr>
        <p:spPr>
          <a:xfrm>
            <a:off x="3680150" y="2876435"/>
            <a:ext cx="69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C</a:t>
            </a:r>
            <a:endParaRPr b="0" i="0" sz="1400" u="none" cap="none" strike="noStrike">
              <a:solidFill>
                <a:schemeClr val="dk1"/>
              </a:solidFill>
              <a:latin typeface="Average"/>
              <a:ea typeface="Average"/>
              <a:cs typeface="Average"/>
              <a:sym typeface="Average"/>
            </a:endParaRPr>
          </a:p>
        </p:txBody>
      </p:sp>
      <p:sp>
        <p:nvSpPr>
          <p:cNvPr id="513" name="Google Shape;513;p34"/>
          <p:cNvSpPr/>
          <p:nvPr/>
        </p:nvSpPr>
        <p:spPr>
          <a:xfrm>
            <a:off x="6192800" y="3445663"/>
            <a:ext cx="463800" cy="3606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34"/>
          <p:cNvSpPr txBox="1"/>
          <p:nvPr/>
        </p:nvSpPr>
        <p:spPr>
          <a:xfrm>
            <a:off x="6227151" y="3425875"/>
            <a:ext cx="58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verage"/>
                <a:ea typeface="Average"/>
                <a:cs typeface="Average"/>
                <a:sym typeface="Average"/>
              </a:rPr>
              <a:t>D</a:t>
            </a:r>
            <a:endParaRPr b="0" i="0" sz="1400" u="none" cap="none" strike="noStrike">
              <a:solidFill>
                <a:schemeClr val="dk1"/>
              </a:solidFill>
              <a:latin typeface="Average"/>
              <a:ea typeface="Average"/>
              <a:cs typeface="Average"/>
              <a:sym typeface="Average"/>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Summary</a:t>
            </a:r>
            <a:endParaRPr/>
          </a:p>
        </p:txBody>
      </p:sp>
      <p:sp>
        <p:nvSpPr>
          <p:cNvPr id="520" name="Google Shape;520;p35"/>
          <p:cNvSpPr txBox="1"/>
          <p:nvPr>
            <p:ph idx="1" type="body"/>
          </p:nvPr>
        </p:nvSpPr>
        <p:spPr>
          <a:xfrm>
            <a:off x="311700" y="1152475"/>
            <a:ext cx="8520600" cy="36765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Maximum parsimony and maximum likelihood methods are robust and efficient tree building techniques for genomic epidemiology studies.</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n"/>
              <a:t>Divergence trees can be translated into temporally resolved trees using molecular clocks. These trees estimate an evolutionary rate, which helps assess relatedness between cases.</a:t>
            </a:r>
            <a:endParaRPr/>
          </a:p>
          <a:p>
            <a:pPr indent="0" lvl="0" marL="457200" rtl="0" algn="l">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n"/>
              <a:t>Phylogenetic trees provide explicit and implicit information, some of which can be misleading. Be cautious about assigning directionality and help your audience with the interpretation.</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