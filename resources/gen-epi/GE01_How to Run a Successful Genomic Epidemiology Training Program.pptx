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Light" panose="020F0502020204030203" pitchFamily="34" charset="0"/>
      <p:regular r:id="rId22"/>
      <p:italic r:id="rId23"/>
    </p:embeddedFont>
    <p:embeddedFont>
      <p:font typeface="Poppins" pitchFamily="2" charset="77"/>
      <p:regular r:id="rId24"/>
      <p:bold r:id="rId25"/>
      <p:italic r:id="rId26"/>
      <p:boldItalic r:id="rId27"/>
    </p:embeddedFont>
    <p:embeddedFont>
      <p:font typeface="STIX Two Text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BhM3JXOw2L86EUzBEERVysdNV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55" d="100"/>
          <a:sy n="155" d="100"/>
        </p:scale>
        <p:origin x="59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Contributions: allowing us to tailor interventions and focus where biggest problems are: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Linkages: validating contact tracing inferences, and highlighting possible discrepancies or unreported exposures.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Evaluations: get critical feedback on how well our response efforts are working!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69e2836f3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69e2836f3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9e2836f3a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69e2836f3a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9e2836f3a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69e2836f3a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9e2836f3a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69e2836f3a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9e2836f3a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9e2836f3a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9e2836f3a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9e2836f3a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9e2836f3a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9e2836f3a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9e2836f3a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9e2836f3a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9e2836f3a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69e2836f3a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69e2836f3a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69e2836f3a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2" name="Google Shape;22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5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5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5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SubT-BodyCopy- Image">
  <p:cSld name="Title-SubT-BodyCopy- Imag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56"/>
          <p:cNvCxnSpPr/>
          <p:nvPr/>
        </p:nvCxnSpPr>
        <p:spPr>
          <a:xfrm>
            <a:off x="0" y="4763328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E7E6E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3" name="Google Shape;53;p56"/>
          <p:cNvSpPr/>
          <p:nvPr/>
        </p:nvSpPr>
        <p:spPr>
          <a:xfrm>
            <a:off x="349557" y="4859439"/>
            <a:ext cx="865800" cy="203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888B8D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" name="Google Shape;54;p56"/>
          <p:cNvGrpSpPr/>
          <p:nvPr/>
        </p:nvGrpSpPr>
        <p:grpSpPr>
          <a:xfrm>
            <a:off x="0" y="4762914"/>
            <a:ext cx="9144000" cy="381038"/>
            <a:chOff x="0" y="0"/>
            <a:chExt cx="24384000" cy="1016100"/>
          </a:xfrm>
        </p:grpSpPr>
        <p:sp>
          <p:nvSpPr>
            <p:cNvPr id="55" name="Google Shape;55;p56"/>
            <p:cNvSpPr/>
            <p:nvPr/>
          </p:nvSpPr>
          <p:spPr>
            <a:xfrm>
              <a:off x="0" y="0"/>
              <a:ext cx="24384000" cy="1016100"/>
            </a:xfrm>
            <a:prstGeom prst="rect">
              <a:avLst/>
            </a:prstGeom>
            <a:solidFill>
              <a:srgbClr val="282E31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177800" marR="0" lvl="0" indent="-1778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" name="Google Shape;56;p56"/>
            <p:cNvSpPr/>
            <p:nvPr/>
          </p:nvSpPr>
          <p:spPr>
            <a:xfrm>
              <a:off x="893232" y="258505"/>
              <a:ext cx="2309100" cy="542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177800" marR="0" lvl="0" indent="-1778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7" name="Google Shape;57;p56"/>
          <p:cNvSpPr/>
          <p:nvPr/>
        </p:nvSpPr>
        <p:spPr>
          <a:xfrm>
            <a:off x="684" y="4763"/>
            <a:ext cx="9142500" cy="382500"/>
          </a:xfrm>
          <a:prstGeom prst="rect">
            <a:avLst/>
          </a:prstGeom>
          <a:solidFill>
            <a:schemeClr val="accent1">
              <a:alpha val="8627"/>
            </a:scheme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888B8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8" name="Google Shape;58;p56"/>
          <p:cNvCxnSpPr/>
          <p:nvPr/>
        </p:nvCxnSpPr>
        <p:spPr>
          <a:xfrm>
            <a:off x="8686958" y="4763328"/>
            <a:ext cx="0" cy="380100"/>
          </a:xfrm>
          <a:prstGeom prst="straightConnector1">
            <a:avLst/>
          </a:prstGeom>
          <a:noFill/>
          <a:ln w="12700" cap="flat" cmpd="sng">
            <a:solidFill>
              <a:srgbClr val="E7E6E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9" name="Google Shape;59;p56"/>
          <p:cNvSpPr txBox="1">
            <a:spLocks noGrp="1"/>
          </p:cNvSpPr>
          <p:nvPr>
            <p:ph type="sldNum" idx="12"/>
          </p:nvPr>
        </p:nvSpPr>
        <p:spPr>
          <a:xfrm>
            <a:off x="8690445" y="4862958"/>
            <a:ext cx="460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56" descr="CZIBioHub-Constellation.png"/>
          <p:cNvPicPr preferRelativeResize="0"/>
          <p:nvPr/>
        </p:nvPicPr>
        <p:blipFill rotWithShape="1">
          <a:blip r:embed="rId4">
            <a:alphaModFix/>
          </a:blip>
          <a:srcRect b="90073"/>
          <a:stretch/>
        </p:blipFill>
        <p:spPr>
          <a:xfrm>
            <a:off x="1881270" y="-30830"/>
            <a:ext cx="7029616" cy="39248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6"/>
          <p:cNvSpPr txBox="1">
            <a:spLocks noGrp="1"/>
          </p:cNvSpPr>
          <p:nvPr>
            <p:ph type="body" idx="1"/>
          </p:nvPr>
        </p:nvSpPr>
        <p:spPr>
          <a:xfrm>
            <a:off x="378875" y="1196151"/>
            <a:ext cx="36357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457200" lvl="0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6"/>
          <p:cNvSpPr txBox="1">
            <a:spLocks noGrp="1"/>
          </p:cNvSpPr>
          <p:nvPr>
            <p:ph type="body" idx="2"/>
          </p:nvPr>
        </p:nvSpPr>
        <p:spPr>
          <a:xfrm>
            <a:off x="378875" y="2672981"/>
            <a:ext cx="3635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None/>
              <a:defRPr sz="1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6"/>
          <p:cNvSpPr>
            <a:spLocks noGrp="1"/>
          </p:cNvSpPr>
          <p:nvPr>
            <p:ph type="pic" idx="3"/>
          </p:nvPr>
        </p:nvSpPr>
        <p:spPr>
          <a:xfrm>
            <a:off x="4143015" y="381796"/>
            <a:ext cx="4512600" cy="3698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6"/>
          <p:cNvSpPr txBox="1">
            <a:spLocks noGrp="1"/>
          </p:cNvSpPr>
          <p:nvPr>
            <p:ph type="title"/>
          </p:nvPr>
        </p:nvSpPr>
        <p:spPr>
          <a:xfrm>
            <a:off x="379760" y="4763"/>
            <a:ext cx="78867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lv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FullPg-Bullets">
  <p:cSld name="Title-FullPg-Bulle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/>
          <p:nvPr/>
        </p:nvSpPr>
        <p:spPr>
          <a:xfrm>
            <a:off x="684" y="4763"/>
            <a:ext cx="9142500" cy="382500"/>
          </a:xfrm>
          <a:prstGeom prst="rect">
            <a:avLst/>
          </a:prstGeom>
          <a:solidFill>
            <a:schemeClr val="accent1">
              <a:alpha val="8627"/>
            </a:schemeClr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888B8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" name="Google Shape;67;p57"/>
          <p:cNvSpPr/>
          <p:nvPr/>
        </p:nvSpPr>
        <p:spPr>
          <a:xfrm>
            <a:off x="349557" y="4859439"/>
            <a:ext cx="865800" cy="203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888B8D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8" name="Google Shape;68;p57"/>
          <p:cNvGrpSpPr/>
          <p:nvPr/>
        </p:nvGrpSpPr>
        <p:grpSpPr>
          <a:xfrm>
            <a:off x="0" y="4762914"/>
            <a:ext cx="9144000" cy="381038"/>
            <a:chOff x="0" y="0"/>
            <a:chExt cx="24384000" cy="1016100"/>
          </a:xfrm>
        </p:grpSpPr>
        <p:sp>
          <p:nvSpPr>
            <p:cNvPr id="69" name="Google Shape;69;p57"/>
            <p:cNvSpPr/>
            <p:nvPr/>
          </p:nvSpPr>
          <p:spPr>
            <a:xfrm>
              <a:off x="0" y="0"/>
              <a:ext cx="24384000" cy="1016100"/>
            </a:xfrm>
            <a:prstGeom prst="rect">
              <a:avLst/>
            </a:prstGeom>
            <a:solidFill>
              <a:srgbClr val="282E31"/>
            </a:solid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177800" marR="0" lvl="0" indent="-1778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" name="Google Shape;70;p57"/>
            <p:cNvSpPr/>
            <p:nvPr/>
          </p:nvSpPr>
          <p:spPr>
            <a:xfrm>
              <a:off x="893232" y="258505"/>
              <a:ext cx="2309100" cy="5421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177800" marR="0" lvl="0" indent="-1778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71" name="Google Shape;71;p57"/>
          <p:cNvCxnSpPr/>
          <p:nvPr/>
        </p:nvCxnSpPr>
        <p:spPr>
          <a:xfrm>
            <a:off x="0" y="4763328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E7E6E6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2" name="Google Shape;72;p57"/>
          <p:cNvCxnSpPr/>
          <p:nvPr/>
        </p:nvCxnSpPr>
        <p:spPr>
          <a:xfrm>
            <a:off x="8686958" y="4763328"/>
            <a:ext cx="0" cy="380100"/>
          </a:xfrm>
          <a:prstGeom prst="straightConnector1">
            <a:avLst/>
          </a:prstGeom>
          <a:noFill/>
          <a:ln w="12700" cap="flat" cmpd="sng">
            <a:solidFill>
              <a:srgbClr val="E7E6E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3" name="Google Shape;73;p57"/>
          <p:cNvSpPr txBox="1">
            <a:spLocks noGrp="1"/>
          </p:cNvSpPr>
          <p:nvPr>
            <p:ph type="sldNum" idx="12"/>
          </p:nvPr>
        </p:nvSpPr>
        <p:spPr>
          <a:xfrm>
            <a:off x="8696009" y="4862958"/>
            <a:ext cx="4539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>
            <a:lvl1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800"/>
              <a:buFont typeface="Lato"/>
              <a:buNone/>
              <a:defRPr sz="800" b="0" i="0" u="none" strike="noStrike" cap="none">
                <a:solidFill>
                  <a:srgbClr val="888B8D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57" descr="CZIBioHub-Constellation.png"/>
          <p:cNvPicPr preferRelativeResize="0"/>
          <p:nvPr/>
        </p:nvPicPr>
        <p:blipFill rotWithShape="1">
          <a:blip r:embed="rId4">
            <a:alphaModFix/>
          </a:blip>
          <a:srcRect b="90073"/>
          <a:stretch/>
        </p:blipFill>
        <p:spPr>
          <a:xfrm>
            <a:off x="1881270" y="-30830"/>
            <a:ext cx="7029616" cy="39248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7"/>
          <p:cNvSpPr txBox="1">
            <a:spLocks noGrp="1"/>
          </p:cNvSpPr>
          <p:nvPr>
            <p:ph type="body" idx="1"/>
          </p:nvPr>
        </p:nvSpPr>
        <p:spPr>
          <a:xfrm>
            <a:off x="381000" y="285980"/>
            <a:ext cx="8312100" cy="4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57"/>
          <p:cNvSpPr txBox="1">
            <a:spLocks noGrp="1"/>
          </p:cNvSpPr>
          <p:nvPr>
            <p:ph type="body" idx="2"/>
          </p:nvPr>
        </p:nvSpPr>
        <p:spPr>
          <a:xfrm>
            <a:off x="381471" y="5885"/>
            <a:ext cx="78867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w/ tree">
  <p:cSld name="Blank w/ tre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8"/>
          <p:cNvSpPr txBox="1">
            <a:spLocks noGrp="1"/>
          </p:cNvSpPr>
          <p:nvPr>
            <p:ph type="title"/>
          </p:nvPr>
        </p:nvSpPr>
        <p:spPr>
          <a:xfrm>
            <a:off x="688657" y="295656"/>
            <a:ext cx="78237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Poppins"/>
              <a:buNone/>
              <a:defRPr sz="2700" b="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8"/>
          <p:cNvSpPr txBox="1">
            <a:spLocks noGrp="1"/>
          </p:cNvSpPr>
          <p:nvPr>
            <p:ph type="body" idx="1"/>
          </p:nvPr>
        </p:nvSpPr>
        <p:spPr>
          <a:xfrm>
            <a:off x="688657" y="1151334"/>
            <a:ext cx="7823700" cy="3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marL="2743200" lvl="5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>
            <a:endParaRPr/>
          </a:p>
        </p:txBody>
      </p:sp>
      <p:pic>
        <p:nvPicPr>
          <p:cNvPr id="80" name="Google Shape;80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953000"/>
            <a:ext cx="91440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5CC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112725" y="660850"/>
            <a:ext cx="8962200" cy="25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b="1">
                <a:solidFill>
                  <a:schemeClr val="lt1"/>
                </a:solidFill>
                <a:latin typeface="STIX Two Text"/>
                <a:ea typeface="STIX Two Text"/>
                <a:cs typeface="STIX Two Text"/>
                <a:sym typeface="STIX Two Text"/>
              </a:rPr>
              <a:t>How to Run a Successful Genomic Epidemiology Training Program</a:t>
            </a:r>
            <a:endParaRPr sz="3200" b="1">
              <a:solidFill>
                <a:schemeClr val="lt1"/>
              </a:solidFill>
              <a:latin typeface="STIX Two Text"/>
              <a:ea typeface="STIX Two Text"/>
              <a:cs typeface="STIX Two Text"/>
              <a:sym typeface="STIX Two Tex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200" b="1">
              <a:solidFill>
                <a:schemeClr val="accent3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311700" y="3217150"/>
            <a:ext cx="8520600" cy="11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800" dirty="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5" descr="Content Placeholder 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3308" y="1660057"/>
            <a:ext cx="2498743" cy="29070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/>
          <p:nvPr/>
        </p:nvSpPr>
        <p:spPr>
          <a:xfrm>
            <a:off x="6119099" y="4567125"/>
            <a:ext cx="1930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Andersen et al. 2015.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>
            <a:spLocks noGrp="1"/>
          </p:cNvSpPr>
          <p:nvPr>
            <p:ph type="title" idx="4294967295"/>
          </p:nvPr>
        </p:nvSpPr>
        <p:spPr>
          <a:xfrm>
            <a:off x="688657" y="295656"/>
            <a:ext cx="78237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Poppins"/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What is pathogen genomic epidemiology ?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688657" y="989566"/>
            <a:ext cx="78237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254000" marR="0" lvl="0" indent="-25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•"/>
            </a:pPr>
            <a:r>
              <a:rPr lang="en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Epidemiology of infectious diseases using pathogen sequencing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5"/>
          <p:cNvSpPr txBox="1">
            <a:spLocks noGrp="1"/>
          </p:cNvSpPr>
          <p:nvPr>
            <p:ph type="body" idx="4294967295"/>
          </p:nvPr>
        </p:nvSpPr>
        <p:spPr>
          <a:xfrm>
            <a:off x="649455" y="1788136"/>
            <a:ext cx="4908300" cy="27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3937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" b="1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Sequencing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determining the nucleotide composition of a genome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50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937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" b="1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Genome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the set of genetic information in an organism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50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937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•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Genomic epidemiology is central to infectious disease public health surveillance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263850" y="1886250"/>
            <a:ext cx="86163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50">
                <a:latin typeface="Lato"/>
                <a:ea typeface="Lato"/>
                <a:cs typeface="Lato"/>
                <a:sym typeface="Lato"/>
              </a:rPr>
              <a:t>Genomic epidemiology is a discipline where we seek to understand the </a:t>
            </a:r>
            <a:r>
              <a:rPr lang="en" sz="2350" b="1">
                <a:latin typeface="Lato"/>
                <a:ea typeface="Lato"/>
                <a:cs typeface="Lato"/>
                <a:sym typeface="Lato"/>
              </a:rPr>
              <a:t>distribution</a:t>
            </a:r>
            <a:r>
              <a:rPr lang="en" sz="2350">
                <a:latin typeface="Lato"/>
                <a:ea typeface="Lato"/>
                <a:cs typeface="Lato"/>
                <a:sym typeface="Lato"/>
              </a:rPr>
              <a:t> of infectious diseases in a population and </a:t>
            </a:r>
            <a:r>
              <a:rPr lang="en" sz="2350" b="1">
                <a:latin typeface="Lato"/>
                <a:ea typeface="Lato"/>
                <a:cs typeface="Lato"/>
                <a:sym typeface="Lato"/>
              </a:rPr>
              <a:t>determinants of those patterns</a:t>
            </a:r>
            <a:r>
              <a:rPr lang="en" sz="2350">
                <a:latin typeface="Lato"/>
                <a:ea typeface="Lato"/>
                <a:cs typeface="Lato"/>
                <a:sym typeface="Lato"/>
              </a:rPr>
              <a:t> from </a:t>
            </a:r>
            <a:r>
              <a:rPr lang="en" sz="2350" b="1">
                <a:latin typeface="Lato"/>
                <a:ea typeface="Lato"/>
                <a:cs typeface="Lato"/>
                <a:sym typeface="Lato"/>
              </a:rPr>
              <a:t>pathogen genetic sequence data</a:t>
            </a:r>
            <a:r>
              <a:rPr lang="en" sz="2350">
                <a:latin typeface="Lato"/>
                <a:ea typeface="Lato"/>
                <a:cs typeface="Lato"/>
                <a:sym typeface="Lato"/>
              </a:rPr>
              <a:t>.</a:t>
            </a:r>
            <a:endParaRPr sz="235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1"/>
          <p:cNvSpPr txBox="1">
            <a:spLocks noGrp="1"/>
          </p:cNvSpPr>
          <p:nvPr>
            <p:ph type="title"/>
          </p:nvPr>
        </p:nvSpPr>
        <p:spPr>
          <a:xfrm>
            <a:off x="0" y="1463700"/>
            <a:ext cx="8469600" cy="22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20"/>
              <a:buFont typeface="Lato"/>
              <a:buChar char="●"/>
            </a:pPr>
            <a:r>
              <a:rPr lang="en" sz="2220">
                <a:latin typeface="Lato"/>
                <a:ea typeface="Lato"/>
                <a:cs typeface="Lato"/>
                <a:sym typeface="Lato"/>
              </a:rPr>
              <a:t>Helping us understand the contributions of different epidemic processes to outbreaks.</a:t>
            </a:r>
            <a:endParaRPr sz="2220"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220"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20"/>
              <a:buFont typeface="Lato"/>
              <a:buChar char="●"/>
            </a:pPr>
            <a:r>
              <a:rPr lang="en" sz="2220">
                <a:latin typeface="Lato"/>
                <a:ea typeface="Lato"/>
                <a:cs typeface="Lato"/>
                <a:sym typeface="Lato"/>
              </a:rPr>
              <a:t>Investigating possible linkages between cases.</a:t>
            </a:r>
            <a:endParaRPr sz="2220"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220"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20"/>
              <a:buFont typeface="Lato"/>
              <a:buChar char="●"/>
            </a:pPr>
            <a:r>
              <a:rPr lang="en" sz="2220">
                <a:latin typeface="Lato"/>
                <a:ea typeface="Lato"/>
                <a:cs typeface="Lato"/>
                <a:sym typeface="Lato"/>
              </a:rPr>
              <a:t>Evaluating how well our interventions are performing.</a:t>
            </a:r>
            <a:endParaRPr sz="222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Genomic epidemiology can inform public health action. 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9e2836f3a_1_0"/>
          <p:cNvSpPr txBox="1">
            <a:spLocks noGrp="1"/>
          </p:cNvSpPr>
          <p:nvPr>
            <p:ph type="title"/>
          </p:nvPr>
        </p:nvSpPr>
        <p:spPr>
          <a:xfrm>
            <a:off x="90400" y="116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Objectives of the Training Program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g269e2836f3a_1_0"/>
          <p:cNvSpPr txBox="1">
            <a:spLocks noGrp="1"/>
          </p:cNvSpPr>
          <p:nvPr>
            <p:ph type="body" idx="1"/>
          </p:nvPr>
        </p:nvSpPr>
        <p:spPr>
          <a:xfrm>
            <a:off x="90400" y="824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Lato"/>
              <a:buChar char="❖"/>
            </a:pPr>
            <a:r>
              <a:rPr lang="en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Course description.</a:t>
            </a: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Lato"/>
              <a:buChar char="❖"/>
            </a:pPr>
            <a:r>
              <a:rPr lang="en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Specific goals and outcomes for participants.</a:t>
            </a: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Lato"/>
              <a:buChar char="❖"/>
            </a:pPr>
            <a:r>
              <a:rPr lang="en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Target audience (e.g., epidemiologists, public health professionals, lab technicians).</a:t>
            </a: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Lato"/>
              <a:buChar char="❖"/>
            </a:pPr>
            <a:r>
              <a:rPr lang="en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Duration and format of the program.</a:t>
            </a: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69e2836f3a_1_6"/>
          <p:cNvSpPr txBox="1">
            <a:spLocks noGrp="1"/>
          </p:cNvSpPr>
          <p:nvPr>
            <p:ph type="title"/>
          </p:nvPr>
        </p:nvSpPr>
        <p:spPr>
          <a:xfrm>
            <a:off x="36975" y="55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Curriculum Design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g269e2836f3a_1_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Lato"/>
              <a:buChar char="❖"/>
            </a:pPr>
            <a:r>
              <a:rPr lang="en" sz="22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Core topics to cover (e.g., sample design, sequence alignment, phylogenetic analysis, etc).</a:t>
            </a:r>
            <a:endParaRPr sz="22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2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Lato"/>
              <a:buChar char="❖"/>
            </a:pPr>
            <a:r>
              <a:rPr lang="en" sz="22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Hands-on training components.</a:t>
            </a:r>
            <a:endParaRPr sz="22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2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83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Lato"/>
              <a:buChar char="❖"/>
            </a:pPr>
            <a:r>
              <a:rPr lang="en" sz="22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Balance between theoretical knowledge and practical skills.</a:t>
            </a:r>
            <a:endParaRPr sz="22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69e2836f3a_1_17"/>
          <p:cNvSpPr txBox="1">
            <a:spLocks noGrp="1"/>
          </p:cNvSpPr>
          <p:nvPr>
            <p:ph type="title"/>
          </p:nvPr>
        </p:nvSpPr>
        <p:spPr>
          <a:xfrm>
            <a:off x="59850" y="6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Faculty and Facilitators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g269e2836f3a_1_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Importance of experienced educators and researchers.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Collaboration with universities, research institutions, and public health organizations.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Guest lectures and workshops by leading experts.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9e2836f3a_1_23"/>
          <p:cNvSpPr txBox="1">
            <a:spLocks noGrp="1"/>
          </p:cNvSpPr>
          <p:nvPr>
            <p:ph type="title"/>
          </p:nvPr>
        </p:nvSpPr>
        <p:spPr>
          <a:xfrm>
            <a:off x="0" y="48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Integrating Technology and Tools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g269e2836f3a_1_23"/>
          <p:cNvSpPr txBox="1">
            <a:spLocks noGrp="1"/>
          </p:cNvSpPr>
          <p:nvPr>
            <p:ph type="body" idx="1"/>
          </p:nvPr>
        </p:nvSpPr>
        <p:spPr>
          <a:xfrm>
            <a:off x="0" y="9922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Overview of essential genomic epidemiology tools and software.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Incorporating data analysis and bioinformatics training.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Access to genomic databases and resources.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9e2836f3a_1_29"/>
          <p:cNvSpPr txBox="1">
            <a:spLocks noGrp="1"/>
          </p:cNvSpPr>
          <p:nvPr>
            <p:ph type="title"/>
          </p:nvPr>
        </p:nvSpPr>
        <p:spPr>
          <a:xfrm>
            <a:off x="0" y="329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Case Studies and Real-world Applications</a:t>
            </a:r>
            <a:endParaRPr sz="2400" b="1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g269e2836f3a_1_29"/>
          <p:cNvSpPr txBox="1">
            <a:spLocks noGrp="1"/>
          </p:cNvSpPr>
          <p:nvPr>
            <p:ph type="body" idx="1"/>
          </p:nvPr>
        </p:nvSpPr>
        <p:spPr>
          <a:xfrm>
            <a:off x="52225" y="9616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Use of case studies to illustrate concepts.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Encouraging problem-solving and critical thinking.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Interaction with ongoing research and public health initiatives.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9e2836f3a_1_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Assessment and Evaluation</a:t>
            </a:r>
            <a:endParaRPr sz="2400" b="1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g269e2836f3a_1_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Methods for assessing participant progress (projects, practicals, etc).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Continuous feedback mechanism.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6957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Certifications and credits for professional development.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69e2836f3a_1_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Challenges and Solutions</a:t>
            </a:r>
            <a:endParaRPr sz="2400" b="1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g269e2836f3a_1_43"/>
          <p:cNvSpPr txBox="1">
            <a:spLocks noGrp="1"/>
          </p:cNvSpPr>
          <p:nvPr>
            <p:ph type="body" idx="1"/>
          </p:nvPr>
        </p:nvSpPr>
        <p:spPr>
          <a:xfrm>
            <a:off x="36975" y="915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Common challenges in genomic epidemiology education (e.g., resource limitations, keeping pace with rapid advancements).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Strategies to overcome these challenges.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9e2836f3a_1_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Future Directions and Opportunities</a:t>
            </a:r>
            <a:endParaRPr sz="2400" b="1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g269e2836f3a_1_50"/>
          <p:cNvSpPr txBox="1">
            <a:spLocks noGrp="1"/>
          </p:cNvSpPr>
          <p:nvPr>
            <p:ph type="body" idx="1"/>
          </p:nvPr>
        </p:nvSpPr>
        <p:spPr>
          <a:xfrm>
            <a:off x="0" y="793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Emerging trends in genomic epidemiology.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Future skill requirements and job opportunities.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Long-term impact of the training program on public health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9e2836f3a_1_57"/>
          <p:cNvSpPr txBox="1">
            <a:spLocks noGrp="1"/>
          </p:cNvSpPr>
          <p:nvPr>
            <p:ph type="title"/>
          </p:nvPr>
        </p:nvSpPr>
        <p:spPr>
          <a:xfrm>
            <a:off x="0" y="40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lang="en" sz="2600" b="1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sz="2600" b="1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269e2836f3a_1_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Summarize key points.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Encourage participation and collaboration.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Lato"/>
              <a:buChar char="❖"/>
            </a:pPr>
            <a:r>
              <a:rPr lang="en" sz="2400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Contact information for further inquiries.</a:t>
            </a:r>
            <a:endParaRPr sz="2400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9e2836f3a_1_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Q&amp;A</a:t>
            </a:r>
            <a:endParaRPr sz="2400" b="1"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g269e2836f3a_1_64"/>
          <p:cNvSpPr txBox="1">
            <a:spLocks noGrp="1"/>
          </p:cNvSpPr>
          <p:nvPr>
            <p:ph type="body" idx="1"/>
          </p:nvPr>
        </p:nvSpPr>
        <p:spPr>
          <a:xfrm>
            <a:off x="53425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Lato"/>
              <a:buChar char="❖"/>
            </a:pPr>
            <a:r>
              <a:rPr lang="en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Invite questions from the audience.</a:t>
            </a: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Lato"/>
              <a:buChar char="❖"/>
            </a:pPr>
            <a:r>
              <a:rPr lang="en">
                <a:solidFill>
                  <a:srgbClr val="0D0D0D"/>
                </a:solidFill>
                <a:latin typeface="Lato"/>
                <a:ea typeface="Lato"/>
                <a:cs typeface="Lato"/>
                <a:sym typeface="Lato"/>
              </a:rPr>
              <a:t>Remember to use visuals like graphs, charts, and relevant images to make the presentation engaging. Also, consider the background of your audience to tailor the complexity of the content accordingly.</a:t>
            </a:r>
            <a:endParaRPr>
              <a:solidFill>
                <a:srgbClr val="0D0D0D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 txBox="1"/>
          <p:nvPr/>
        </p:nvSpPr>
        <p:spPr>
          <a:xfrm>
            <a:off x="232575" y="2182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0"/>
              <a:buFont typeface="Arial"/>
              <a:buNone/>
            </a:pPr>
            <a:r>
              <a:rPr lang="en" sz="282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2820" b="1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Macintosh PowerPoint</Application>
  <PresentationFormat>On-screen Show (16:9)</PresentationFormat>
  <Paragraphs>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Lato</vt:lpstr>
      <vt:lpstr>Lato Light</vt:lpstr>
      <vt:lpstr>STIX Two Text</vt:lpstr>
      <vt:lpstr>Poppins</vt:lpstr>
      <vt:lpstr>Arial</vt:lpstr>
      <vt:lpstr>Simple Light</vt:lpstr>
      <vt:lpstr>How to Run a Successful Genomic Epidemiology Training Program </vt:lpstr>
      <vt:lpstr>What is pathogen genomic epidemiology ?</vt:lpstr>
      <vt:lpstr>PowerPoint Presentation</vt:lpstr>
      <vt:lpstr>Helping us understand the contributions of different epidemic processes to outbreaks.  Investigating possible linkages between cases.  Evaluating how well our interventions are performing.</vt:lpstr>
      <vt:lpstr>Objectives of the Training Program</vt:lpstr>
      <vt:lpstr>Curriculum Design</vt:lpstr>
      <vt:lpstr>Faculty and Facilitators</vt:lpstr>
      <vt:lpstr>Integrating Technology and Tools</vt:lpstr>
      <vt:lpstr>Case Studies and Real-world Applications </vt:lpstr>
      <vt:lpstr>Assessment and Evaluation </vt:lpstr>
      <vt:lpstr>Challenges and Solutions </vt:lpstr>
      <vt:lpstr>Future Directions and Opportunities </vt:lpstr>
      <vt:lpstr>Conclusion </vt:lpstr>
      <vt:lpstr>Q&amp;A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 Oluniyi</cp:lastModifiedBy>
  <cp:revision>1</cp:revision>
  <dcterms:modified xsi:type="dcterms:W3CDTF">2026-10-02T23:37:54Z</dcterms:modified>
</cp:coreProperties>
</file>