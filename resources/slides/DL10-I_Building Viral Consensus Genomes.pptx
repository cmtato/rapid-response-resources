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3" r:id="rId1"/>
    <p:sldMasterId id="2147483724" r:id="rId2"/>
    <p:sldMasterId id="2147483725" r:id="rId3"/>
    <p:sldMasterId id="2147483726" r:id="rId4"/>
    <p:sldMasterId id="2147483727" r:id="rId5"/>
  </p:sldMasterIdLst>
  <p:notesMasterIdLst>
    <p:notesMasterId r:id="rId36"/>
  </p:notesMasterIdLst>
  <p:sldIdLst>
    <p:sldId id="285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16x9"/>
  <p:notesSz cx="6858000" cy="9144000"/>
  <p:embeddedFontLs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Open Sans" panose="020B0606030504020204" pitchFamily="34" charset="0"/>
      <p:regular r:id="rId41"/>
      <p:bold r:id="rId42"/>
      <p:italic r:id="rId43"/>
      <p:boldItalic r:id="rId44"/>
    </p:embeddedFont>
    <p:embeddedFont>
      <p:font typeface="Poppins" pitchFamily="2" charset="77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>
      <p:cViewPr varScale="1">
        <p:scale>
          <a:sx n="145" d="100"/>
          <a:sy n="145" d="100"/>
        </p:scale>
        <p:origin x="7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3.fntdata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5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1" name="Google Shape;3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d9e411ade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2d9e411ade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ca4db0eb2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2ca4db0eb2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ca4db0eb2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2ca4db0eb2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Edit to specify read qc and add host removal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ca4db0eb2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ca4db0eb23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ca4db0eb23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ca4db0eb23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ca4db0eb23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g2ca4db0eb23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ea36ff24e_0_100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1" name="Google Shape;421;g31ea36ff24e_0_1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1ea36ff24e_0_11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0" name="Google Shape;600;g31ea36ff24e_0_1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1ea36ff24e_0_13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6" name="Google Shape;786;g31ea36ff24e_0_1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1ea36ff24e_0_154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2" name="Google Shape;962;g31ea36ff24e_0_1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1ea36ff24e_0_1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1ea36ff24e_0_1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1ea36ff24e_0_17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3" name="Google Shape;1143;g31ea36ff24e_0_1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8" name="Google Shape;131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5" name="Google Shape;13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2ca4db0eb2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8" name="Google Shape;1338;g2ca4db0eb2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d9e411ade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d9e411ade3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d9e411ade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d9e411ade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1" name="Google Shape;13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da27f8215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3" name="Google Shape;1373;g2da27f8215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6" name="Google Shape;13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9" name="Google Shape;143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8" name="Google Shape;144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Option: fill gaps with reference sequence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9" name="Google Shape;150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2ca4db0eb2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2ca4db0eb2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2ca4db0eb23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2ca4db0eb23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pic>
        <p:nvPicPr>
          <p:cNvPr id="53" name="Google Shape;53;p13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1">
  <p:cSld name="TITLE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pic>
        <p:nvPicPr>
          <p:cNvPr id="60" name="Google Shape;60;p15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TITLE_AND_BODY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>
  <p:cSld name="TITLE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pic>
        <p:nvPicPr>
          <p:cNvPr id="122" name="Google Shape;122;p31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l Slide">
  <p:cSld name="General Slid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33"/>
          <p:cNvSpPr/>
          <p:nvPr/>
        </p:nvSpPr>
        <p:spPr>
          <a:xfrm>
            <a:off x="0" y="-9"/>
            <a:ext cx="9144000" cy="627000"/>
          </a:xfrm>
          <a:prstGeom prst="rect">
            <a:avLst/>
          </a:prstGeom>
          <a:gradFill>
            <a:gsLst>
              <a:gs pos="0">
                <a:srgbClr val="DDEAF6"/>
              </a:gs>
              <a:gs pos="10000">
                <a:srgbClr val="DDEAF6"/>
              </a:gs>
              <a:gs pos="55000">
                <a:srgbClr val="A1C1E4"/>
              </a:gs>
              <a:gs pos="100000">
                <a:srgbClr val="90B8E4"/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3" descr=" Biohub Logo V2.pdf"/>
          <p:cNvPicPr preferRelativeResize="0"/>
          <p:nvPr/>
        </p:nvPicPr>
        <p:blipFill rotWithShape="1">
          <a:blip r:embed="rId2">
            <a:alphaModFix/>
          </a:blip>
          <a:srcRect l="24284" t="34386" r="58248" b="34255"/>
          <a:stretch/>
        </p:blipFill>
        <p:spPr>
          <a:xfrm>
            <a:off x="158122" y="48182"/>
            <a:ext cx="826758" cy="83487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1" name="Google Shape;131;p33"/>
          <p:cNvSpPr txBox="1">
            <a:spLocks noGrp="1"/>
          </p:cNvSpPr>
          <p:nvPr>
            <p:ph type="body" idx="1"/>
          </p:nvPr>
        </p:nvSpPr>
        <p:spPr>
          <a:xfrm>
            <a:off x="158353" y="9953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33"/>
          <p:cNvSpPr txBox="1">
            <a:spLocks noGrp="1"/>
          </p:cNvSpPr>
          <p:nvPr>
            <p:ph type="body" idx="2"/>
          </p:nvPr>
        </p:nvSpPr>
        <p:spPr>
          <a:xfrm>
            <a:off x="1197769" y="48183"/>
            <a:ext cx="70032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1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ayout">
  <p:cSld name="Blank Layou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3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1">
  <p:cSld name="TITLE_3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pic>
        <p:nvPicPr>
          <p:cNvPr id="140" name="Google Shape;140;p35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7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149" name="Google Shape;149;p37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9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1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41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1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4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3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3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4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4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44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4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5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4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6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46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46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4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7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47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4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4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4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6" name="Google Shape;196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525" y="4820575"/>
            <a:ext cx="203075" cy="2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50"/>
          <p:cNvSpPr txBox="1"/>
          <p:nvPr/>
        </p:nvSpPr>
        <p:spPr>
          <a:xfrm>
            <a:off x="381000" y="4779538"/>
            <a:ext cx="18003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IDseq</a:t>
            </a:r>
            <a:endParaRPr sz="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50"/>
          <p:cNvSpPr txBox="1">
            <a:spLocks noGrp="1"/>
          </p:cNvSpPr>
          <p:nvPr>
            <p:ph type="sldNum" idx="12"/>
          </p:nvPr>
        </p:nvSpPr>
        <p:spPr>
          <a:xfrm>
            <a:off x="8723298" y="4724750"/>
            <a:ext cx="34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 type="blank">
  <p:cSld name="BLANK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" name="Google Shape;205;p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3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53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214" name="Google Shape;214;p53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5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55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55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22" name="Google Shape;222;p5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6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5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7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57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57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5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9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59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5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0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60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60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6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1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6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2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62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62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6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3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63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6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6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6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1" name="Google Shape;261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7525" y="4820575"/>
            <a:ext cx="203075" cy="2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67"/>
          <p:cNvSpPr txBox="1"/>
          <p:nvPr/>
        </p:nvSpPr>
        <p:spPr>
          <a:xfrm>
            <a:off x="381000" y="4779538"/>
            <a:ext cx="18003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IDseq</a:t>
            </a:r>
            <a:endParaRPr sz="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67"/>
          <p:cNvSpPr txBox="1">
            <a:spLocks noGrp="1"/>
          </p:cNvSpPr>
          <p:nvPr>
            <p:ph type="sldNum" idx="12"/>
          </p:nvPr>
        </p:nvSpPr>
        <p:spPr>
          <a:xfrm>
            <a:off x="8723298" y="4724750"/>
            <a:ext cx="341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 type="blank">
  <p:cSld name="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3" name="Google Shape;273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80" name="Google Shape;280;p7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1" name="Google Shape;281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4" name="Google Shape;284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8" name="Google Shape;288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2" name="Google Shape;292;p7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3" name="Google Shape;293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9" name="Google Shape;299;p7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0" name="Google Shape;300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3" name="Google Shape;303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7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7" name="Google Shape;307;p7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08" name="Google Shape;308;p7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9" name="Google Shape;309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12" name="Google Shape;312;p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5" name="Google Shape;315;p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6" name="Google Shape;316;p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9" name="Google Shape;209;p52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0" name="Google Shape;210;p5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9.xml"/><Relationship Id="rId5" Type="http://schemas.openxmlformats.org/officeDocument/2006/relationships/hyperlink" Target="https://github.com/FelixKrueger/TrimGalore" TargetMode="External"/><Relationship Id="rId4" Type="http://schemas.openxmlformats.org/officeDocument/2006/relationships/hyperlink" Target="https://github.com/lh3/minimap2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9.xml"/><Relationship Id="rId4" Type="http://schemas.openxmlformats.org/officeDocument/2006/relationships/hyperlink" Target="https://andersen-lab.github.io/ivar/html/manualpage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ndersen-lab.github.io/ivar/html/manualpag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9.xml"/><Relationship Id="rId4" Type="http://schemas.openxmlformats.org/officeDocument/2006/relationships/hyperlink" Target="https://www.htslib.org/doc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respiratory-research.biomedcentral.com/articles/10.1186/s12931-020-01581-z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lades.nextstrain.org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www.genomedetective.com/app/typingtool/viru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81"/>
          <p:cNvCxnSpPr/>
          <p:nvPr/>
        </p:nvCxnSpPr>
        <p:spPr>
          <a:xfrm>
            <a:off x="476250" y="1961037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24" name="Google Shape;324;p81"/>
          <p:cNvSpPr txBox="1"/>
          <p:nvPr/>
        </p:nvSpPr>
        <p:spPr>
          <a:xfrm>
            <a:off x="476250" y="1442602"/>
            <a:ext cx="844175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4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Virus Consensus Genomes</a:t>
            </a:r>
            <a:endParaRPr sz="4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5" name="Google Shape;325;p81" descr="Monitor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000" y="1795509"/>
            <a:ext cx="2460639" cy="2460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81" descr="DNA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346503">
            <a:off x="586486" y="2626701"/>
            <a:ext cx="566355" cy="566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81" descr="Bar graph with upward trend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2929" y="2328484"/>
            <a:ext cx="595423" cy="595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81" descr="Pie chart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32929" y="2867809"/>
            <a:ext cx="515453" cy="515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81" descr="Virus genome assembly and consensus sequence from reads - YouTube"/>
          <p:cNvPicPr preferRelativeResize="0"/>
          <p:nvPr/>
        </p:nvPicPr>
        <p:blipFill rotWithShape="1">
          <a:blip r:embed="rId7">
            <a:alphaModFix/>
          </a:blip>
          <a:srcRect l="1751" t="31157" r="34583" b="15693"/>
          <a:stretch/>
        </p:blipFill>
        <p:spPr>
          <a:xfrm>
            <a:off x="498949" y="2252491"/>
            <a:ext cx="1921672" cy="120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8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89368" y="76200"/>
            <a:ext cx="1578432" cy="5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2"/>
          <p:cNvSpPr txBox="1">
            <a:spLocks noGrp="1"/>
          </p:cNvSpPr>
          <p:nvPr>
            <p:ph type="title"/>
          </p:nvPr>
        </p:nvSpPr>
        <p:spPr>
          <a:xfrm>
            <a:off x="633413" y="-190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300">
                <a:latin typeface="Arial"/>
                <a:ea typeface="Arial"/>
                <a:cs typeface="Arial"/>
                <a:sym typeface="Arial"/>
              </a:rPr>
              <a:t>Outline 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2"/>
          <p:cNvSpPr txBox="1">
            <a:spLocks noGrp="1"/>
          </p:cNvSpPr>
          <p:nvPr>
            <p:ph type="body" idx="1"/>
          </p:nvPr>
        </p:nvSpPr>
        <p:spPr>
          <a:xfrm>
            <a:off x="576650" y="983025"/>
            <a:ext cx="7877100" cy="35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</a:rPr>
              <a:t>Consensus genomes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CZ ID’s workflow for generating viral consensus genomes</a:t>
            </a:r>
            <a:endParaRPr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">
                <a:solidFill>
                  <a:schemeClr val="dk1"/>
                </a:solidFill>
              </a:rPr>
              <a:t>CZ ID’s assembly report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8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345" name="Google Shape;345;p83"/>
          <p:cNvPicPr preferRelativeResize="0"/>
          <p:nvPr/>
        </p:nvPicPr>
        <p:blipFill rotWithShape="1">
          <a:blip r:embed="rId3">
            <a:alphaModFix/>
          </a:blip>
          <a:srcRect t="5793"/>
          <a:stretch/>
        </p:blipFill>
        <p:spPr>
          <a:xfrm>
            <a:off x="460050" y="1320206"/>
            <a:ext cx="8223902" cy="3759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2"/>
              </a:srgbClr>
            </a:outerShdw>
          </a:effectLst>
        </p:spPr>
      </p:pic>
      <p:sp>
        <p:nvSpPr>
          <p:cNvPr id="346" name="Google Shape;346;p83"/>
          <p:cNvSpPr txBox="1"/>
          <p:nvPr/>
        </p:nvSpPr>
        <p:spPr>
          <a:xfrm>
            <a:off x="246975" y="167725"/>
            <a:ext cx="86898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Genome se</a:t>
            </a:r>
            <a:r>
              <a:rPr lang="en" sz="2600">
                <a:solidFill>
                  <a:schemeClr val="dk1"/>
                </a:solidFill>
              </a:rPr>
              <a:t>quences </a:t>
            </a:r>
            <a:r>
              <a:rPr lang="en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lang="en" sz="2600">
                <a:solidFill>
                  <a:schemeClr val="dk1"/>
                </a:solidFill>
              </a:rPr>
              <a:t>i</a:t>
            </a:r>
            <a:r>
              <a:rPr lang="en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mportant! What we </a:t>
            </a:r>
            <a:r>
              <a:rPr lang="en" sz="2600">
                <a:solidFill>
                  <a:schemeClr val="dk1"/>
                </a:solidFill>
              </a:rPr>
              <a:t>sequence are consensus genomes.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4"/>
          <p:cNvSpPr txBox="1"/>
          <p:nvPr/>
        </p:nvSpPr>
        <p:spPr>
          <a:xfrm>
            <a:off x="142800" y="68275"/>
            <a:ext cx="90012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200" b="1" i="0" u="none" strike="noStrike" cap="none">
                <a:solidFill>
                  <a:srgbClr val="000000"/>
                </a:solidFill>
              </a:rPr>
              <a:t>Consensus </a:t>
            </a:r>
            <a:r>
              <a:rPr lang="en" sz="2200" b="1"/>
              <a:t>g</a:t>
            </a:r>
            <a:r>
              <a:rPr lang="en" sz="2200" b="1" i="0" u="none" strike="noStrike" cap="none">
                <a:solidFill>
                  <a:srgbClr val="000000"/>
                </a:solidFill>
              </a:rPr>
              <a:t>enomes</a:t>
            </a:r>
            <a:r>
              <a:rPr lang="en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200"/>
              <a:t>Represent the </a:t>
            </a:r>
            <a:r>
              <a:rPr lang="en" sz="2200" u="sng"/>
              <a:t>most frequently observed nucleotide</a:t>
            </a:r>
            <a:r>
              <a:rPr lang="en" sz="2200"/>
              <a:t> at each site in the genome at the time of sample collection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4"/>
          <p:cNvSpPr txBox="1"/>
          <p:nvPr/>
        </p:nvSpPr>
        <p:spPr>
          <a:xfrm>
            <a:off x="4286350" y="1598850"/>
            <a:ext cx="21837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GG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>
                <a:solidFill>
                  <a:srgbClr val="4A86E8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sz="18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4A86E8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>
                <a:solidFill>
                  <a:srgbClr val="4A86E8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>
                <a:solidFill>
                  <a:srgbClr val="4A86E8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3" name="Google Shape;353;p84"/>
          <p:cNvSpPr txBox="1"/>
          <p:nvPr/>
        </p:nvSpPr>
        <p:spPr>
          <a:xfrm>
            <a:off x="3172175" y="2011275"/>
            <a:ext cx="10653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4"/>
          <p:cNvSpPr txBox="1"/>
          <p:nvPr/>
        </p:nvSpPr>
        <p:spPr>
          <a:xfrm>
            <a:off x="2448025" y="3535275"/>
            <a:ext cx="17622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Consensus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4"/>
          <p:cNvSpPr/>
          <p:nvPr/>
        </p:nvSpPr>
        <p:spPr>
          <a:xfrm>
            <a:off x="4132825" y="1652600"/>
            <a:ext cx="29700" cy="1204200"/>
          </a:xfrm>
          <a:prstGeom prst="leftBracket">
            <a:avLst>
              <a:gd name="adj" fmla="val 8333"/>
            </a:avLst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4"/>
          <p:cNvSpPr txBox="1"/>
          <p:nvPr/>
        </p:nvSpPr>
        <p:spPr>
          <a:xfrm>
            <a:off x="2524225" y="2925675"/>
            <a:ext cx="17622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4"/>
          <p:cNvSpPr/>
          <p:nvPr/>
        </p:nvSpPr>
        <p:spPr>
          <a:xfrm>
            <a:off x="2189100" y="3041525"/>
            <a:ext cx="342900" cy="311700"/>
          </a:xfrm>
          <a:prstGeom prst="star4">
            <a:avLst>
              <a:gd name="adj" fmla="val 125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4"/>
          <p:cNvSpPr/>
          <p:nvPr/>
        </p:nvSpPr>
        <p:spPr>
          <a:xfrm>
            <a:off x="2033225" y="2972250"/>
            <a:ext cx="232200" cy="196200"/>
          </a:xfrm>
          <a:prstGeom prst="star4">
            <a:avLst>
              <a:gd name="adj" fmla="val 125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4"/>
          <p:cNvSpPr/>
          <p:nvPr/>
        </p:nvSpPr>
        <p:spPr>
          <a:xfrm>
            <a:off x="2033225" y="3200850"/>
            <a:ext cx="232200" cy="196200"/>
          </a:xfrm>
          <a:prstGeom prst="star4">
            <a:avLst>
              <a:gd name="adj" fmla="val 125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5"/>
          <p:cNvSpPr txBox="1"/>
          <p:nvPr/>
        </p:nvSpPr>
        <p:spPr>
          <a:xfrm>
            <a:off x="142800" y="68275"/>
            <a:ext cx="90012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200" b="1" i="0" u="none" strike="noStrike" cap="none">
                <a:solidFill>
                  <a:srgbClr val="000000"/>
                </a:solidFill>
              </a:rPr>
              <a:t>Consensus </a:t>
            </a:r>
            <a:r>
              <a:rPr lang="en" sz="2200" b="1"/>
              <a:t>g</a:t>
            </a:r>
            <a:r>
              <a:rPr lang="en" sz="2200" b="1" i="0" u="none" strike="noStrike" cap="none">
                <a:solidFill>
                  <a:srgbClr val="000000"/>
                </a:solidFill>
              </a:rPr>
              <a:t>enomes</a:t>
            </a:r>
            <a:r>
              <a:rPr lang="en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200"/>
              <a:t>Some sites may display high diversity and the majority rule for calling a base cannot be applied. These sites can be defined with the </a:t>
            </a:r>
            <a:r>
              <a:rPr lang="en" sz="2200" u="sng"/>
              <a:t>ambiguity code</a:t>
            </a:r>
            <a:r>
              <a:rPr lang="en" sz="2200"/>
              <a:t>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125" y="2182475"/>
            <a:ext cx="3066301" cy="170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550" y="1414475"/>
            <a:ext cx="2677799" cy="366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6"/>
          <p:cNvSpPr txBox="1"/>
          <p:nvPr/>
        </p:nvSpPr>
        <p:spPr>
          <a:xfrm>
            <a:off x="142800" y="68275"/>
            <a:ext cx="90012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200" b="1" i="0" u="none" strike="noStrike" cap="none">
                <a:solidFill>
                  <a:srgbClr val="000000"/>
                </a:solidFill>
              </a:rPr>
              <a:t>Consensus </a:t>
            </a:r>
            <a:r>
              <a:rPr lang="en" sz="2200" b="1"/>
              <a:t>g</a:t>
            </a:r>
            <a:r>
              <a:rPr lang="en" sz="2200" b="1" i="0" u="none" strike="noStrike" cap="none">
                <a:solidFill>
                  <a:srgbClr val="000000"/>
                </a:solidFill>
              </a:rPr>
              <a:t>enomes</a:t>
            </a:r>
            <a:r>
              <a:rPr lang="en"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200"/>
              <a:t>Some sites may display high diversity and the majority rule for calling a base cannot be applied. These sites can be defined with the ambiguity code.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6"/>
          <p:cNvSpPr txBox="1"/>
          <p:nvPr/>
        </p:nvSpPr>
        <p:spPr>
          <a:xfrm>
            <a:off x="4286350" y="1598850"/>
            <a:ext cx="21837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4A86E8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GG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800" b="1"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4A86E8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99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434343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>
                <a:solidFill>
                  <a:srgbClr val="4A86E8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rgbClr val="4A86E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rgbClr val="99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GG</a:t>
            </a: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GG</a:t>
            </a: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solidFill>
                  <a:srgbClr val="888888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TT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800" b="1" i="0" u="none" strike="noStrike" cap="none">
                <a:solidFill>
                  <a:srgbClr val="FF00FF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800" b="1" i="0" u="none" strike="noStrike" cap="none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800" b="1" i="0" u="none" strike="noStrike" cap="none">
                <a:solidFill>
                  <a:srgbClr val="999999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sz="18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3" name="Google Shape;373;p86"/>
          <p:cNvSpPr txBox="1"/>
          <p:nvPr/>
        </p:nvSpPr>
        <p:spPr>
          <a:xfrm>
            <a:off x="3172175" y="2011275"/>
            <a:ext cx="10653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6"/>
          <p:cNvSpPr txBox="1"/>
          <p:nvPr/>
        </p:nvSpPr>
        <p:spPr>
          <a:xfrm>
            <a:off x="2448025" y="3535275"/>
            <a:ext cx="17622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Consensus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6"/>
          <p:cNvSpPr/>
          <p:nvPr/>
        </p:nvSpPr>
        <p:spPr>
          <a:xfrm>
            <a:off x="4132825" y="1652600"/>
            <a:ext cx="29700" cy="1204200"/>
          </a:xfrm>
          <a:prstGeom prst="leftBracket">
            <a:avLst>
              <a:gd name="adj" fmla="val 8333"/>
            </a:avLst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6"/>
          <p:cNvSpPr txBox="1"/>
          <p:nvPr/>
        </p:nvSpPr>
        <p:spPr>
          <a:xfrm>
            <a:off x="2524225" y="2925675"/>
            <a:ext cx="17622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6"/>
          <p:cNvSpPr/>
          <p:nvPr/>
        </p:nvSpPr>
        <p:spPr>
          <a:xfrm>
            <a:off x="2189100" y="3041525"/>
            <a:ext cx="342900" cy="311700"/>
          </a:xfrm>
          <a:prstGeom prst="star4">
            <a:avLst>
              <a:gd name="adj" fmla="val 125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6"/>
          <p:cNvSpPr/>
          <p:nvPr/>
        </p:nvSpPr>
        <p:spPr>
          <a:xfrm>
            <a:off x="2033225" y="2972250"/>
            <a:ext cx="232200" cy="196200"/>
          </a:xfrm>
          <a:prstGeom prst="star4">
            <a:avLst>
              <a:gd name="adj" fmla="val 125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6"/>
          <p:cNvSpPr/>
          <p:nvPr/>
        </p:nvSpPr>
        <p:spPr>
          <a:xfrm>
            <a:off x="2033225" y="3200850"/>
            <a:ext cx="232200" cy="196200"/>
          </a:xfrm>
          <a:prstGeom prst="star4">
            <a:avLst>
              <a:gd name="adj" fmla="val 125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6"/>
          <p:cNvSpPr txBox="1"/>
          <p:nvPr/>
        </p:nvSpPr>
        <p:spPr>
          <a:xfrm>
            <a:off x="5457700" y="4390875"/>
            <a:ext cx="3421500" cy="4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Ns - considered “missing data”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1" name="Google Shape;381;p86"/>
          <p:cNvSpPr/>
          <p:nvPr/>
        </p:nvSpPr>
        <p:spPr>
          <a:xfrm>
            <a:off x="4334175" y="3979800"/>
            <a:ext cx="232200" cy="3117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86"/>
          <p:cNvSpPr/>
          <p:nvPr/>
        </p:nvSpPr>
        <p:spPr>
          <a:xfrm>
            <a:off x="5684050" y="3979800"/>
            <a:ext cx="232200" cy="3117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7"/>
          <p:cNvSpPr/>
          <p:nvPr/>
        </p:nvSpPr>
        <p:spPr>
          <a:xfrm>
            <a:off x="258075" y="1061823"/>
            <a:ext cx="1484400" cy="690300"/>
          </a:xfrm>
          <a:prstGeom prst="roundRect">
            <a:avLst>
              <a:gd name="adj" fmla="val 16667"/>
            </a:avLst>
          </a:prstGeom>
          <a:solidFill>
            <a:srgbClr val="1B386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Upload </a:t>
            </a:r>
            <a:r>
              <a:rPr lang="en"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Files </a:t>
            </a:r>
            <a:endParaRPr sz="14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87"/>
          <p:cNvSpPr/>
          <p:nvPr/>
        </p:nvSpPr>
        <p:spPr>
          <a:xfrm>
            <a:off x="258075" y="1896350"/>
            <a:ext cx="1484400" cy="690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Genome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Assembly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9" name="Google Shape;389;p87"/>
          <p:cNvSpPr/>
          <p:nvPr/>
        </p:nvSpPr>
        <p:spPr>
          <a:xfrm>
            <a:off x="258075" y="2728000"/>
            <a:ext cx="1484400" cy="69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Assembly QC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" name="Google Shape;390;p87"/>
          <p:cNvSpPr/>
          <p:nvPr/>
        </p:nvSpPr>
        <p:spPr>
          <a:xfrm>
            <a:off x="258075" y="3559650"/>
            <a:ext cx="1484400" cy="69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Alignment &amp; Phylogeny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87"/>
          <p:cNvSpPr txBox="1"/>
          <p:nvPr/>
        </p:nvSpPr>
        <p:spPr>
          <a:xfrm>
            <a:off x="329850" y="137450"/>
            <a:ext cx="8285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>
                <a:solidFill>
                  <a:srgbClr val="1C4587"/>
                </a:solidFill>
              </a:rPr>
              <a:t>Workflow for Generating</a:t>
            </a:r>
            <a:r>
              <a:rPr lang="en" sz="28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Consensus Genomes</a:t>
            </a:r>
            <a:endParaRPr sz="28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7"/>
          <p:cNvSpPr/>
          <p:nvPr/>
        </p:nvSpPr>
        <p:spPr>
          <a:xfrm>
            <a:off x="886860" y="1761572"/>
            <a:ext cx="187795" cy="131901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7"/>
          <p:cNvSpPr/>
          <p:nvPr/>
        </p:nvSpPr>
        <p:spPr>
          <a:xfrm>
            <a:off x="906377" y="2596099"/>
            <a:ext cx="187800" cy="13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87"/>
          <p:cNvSpPr/>
          <p:nvPr/>
        </p:nvSpPr>
        <p:spPr>
          <a:xfrm>
            <a:off x="906377" y="3418322"/>
            <a:ext cx="187800" cy="13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Files</a:t>
            </a:r>
            <a:endParaRPr/>
          </a:p>
        </p:txBody>
      </p:sp>
      <p:sp>
        <p:nvSpPr>
          <p:cNvPr id="400" name="Google Shape;400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Sequencing file(s)</a:t>
            </a:r>
            <a:r>
              <a:rPr lang="en"/>
              <a:t> - Raw sequence reads in FASTQ format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Reference sequence</a:t>
            </a:r>
            <a:r>
              <a:rPr lang="en"/>
              <a:t> - Reference sequence you would like use to assemble the viral consensus genome by mapping reads against it (FASTA format).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should select a reference sequence that is most similar to the genome sequence you are trying to assemble 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Primer BED file</a:t>
            </a:r>
            <a:r>
              <a:rPr lang="en"/>
              <a:t> - File specifying primer positions when using viral sequence data obtained through primer spiking for target enrichment or PCR-based assays. Not required for data obtained through metagenomic sequencing.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025" y="128000"/>
            <a:ext cx="7655525" cy="49393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06" name="Google Shape;406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10" y="59667"/>
            <a:ext cx="995022" cy="324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90"/>
          <p:cNvSpPr/>
          <p:nvPr/>
        </p:nvSpPr>
        <p:spPr>
          <a:xfrm>
            <a:off x="258075" y="1061823"/>
            <a:ext cx="1484400" cy="69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Upload Files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2" name="Google Shape;412;p90"/>
          <p:cNvSpPr/>
          <p:nvPr/>
        </p:nvSpPr>
        <p:spPr>
          <a:xfrm>
            <a:off x="258075" y="1896350"/>
            <a:ext cx="1484400" cy="6903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Genome </a:t>
            </a:r>
            <a:r>
              <a:rPr lang="en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Assembly</a:t>
            </a:r>
            <a:endParaRPr sz="14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3" name="Google Shape;413;p90"/>
          <p:cNvSpPr/>
          <p:nvPr/>
        </p:nvSpPr>
        <p:spPr>
          <a:xfrm>
            <a:off x="258075" y="2728000"/>
            <a:ext cx="1484400" cy="69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Assembly QC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p90"/>
          <p:cNvSpPr/>
          <p:nvPr/>
        </p:nvSpPr>
        <p:spPr>
          <a:xfrm>
            <a:off x="258075" y="3559650"/>
            <a:ext cx="1484400" cy="69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Alignment &amp; Phylogeny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90"/>
          <p:cNvSpPr txBox="1"/>
          <p:nvPr/>
        </p:nvSpPr>
        <p:spPr>
          <a:xfrm>
            <a:off x="329850" y="137450"/>
            <a:ext cx="828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>
                <a:solidFill>
                  <a:srgbClr val="1C4587"/>
                </a:solidFill>
              </a:rPr>
              <a:t>Workflow for Generating</a:t>
            </a:r>
            <a:r>
              <a:rPr lang="en" sz="28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Consensus Genomes</a:t>
            </a:r>
            <a:endParaRPr sz="28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0"/>
          <p:cNvSpPr/>
          <p:nvPr/>
        </p:nvSpPr>
        <p:spPr>
          <a:xfrm>
            <a:off x="886860" y="1761572"/>
            <a:ext cx="187800" cy="13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0"/>
          <p:cNvSpPr/>
          <p:nvPr/>
        </p:nvSpPr>
        <p:spPr>
          <a:xfrm>
            <a:off x="906377" y="2596099"/>
            <a:ext cx="187800" cy="13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90"/>
          <p:cNvSpPr/>
          <p:nvPr/>
        </p:nvSpPr>
        <p:spPr>
          <a:xfrm>
            <a:off x="906377" y="3418322"/>
            <a:ext cx="187800" cy="13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1"/>
          <p:cNvSpPr/>
          <p:nvPr/>
        </p:nvSpPr>
        <p:spPr>
          <a:xfrm>
            <a:off x="191850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4" name="Google Shape;424;p91"/>
          <p:cNvGrpSpPr/>
          <p:nvPr/>
        </p:nvGrpSpPr>
        <p:grpSpPr>
          <a:xfrm>
            <a:off x="1457325" y="1373581"/>
            <a:ext cx="285900" cy="2278521"/>
            <a:chOff x="1381125" y="1373581"/>
            <a:chExt cx="285900" cy="2278521"/>
          </a:xfrm>
        </p:grpSpPr>
        <p:sp>
          <p:nvSpPr>
            <p:cNvPr id="425" name="Google Shape;425;p91"/>
            <p:cNvSpPr/>
            <p:nvPr/>
          </p:nvSpPr>
          <p:spPr>
            <a:xfrm>
              <a:off x="1381125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6" name="Google Shape;426;p91"/>
            <p:cNvSpPr/>
            <p:nvPr/>
          </p:nvSpPr>
          <p:spPr>
            <a:xfrm>
              <a:off x="1381125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7" name="Google Shape;427;p91"/>
            <p:cNvSpPr/>
            <p:nvPr/>
          </p:nvSpPr>
          <p:spPr>
            <a:xfrm>
              <a:off x="1381125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8" name="Google Shape;428;p91"/>
            <p:cNvSpPr/>
            <p:nvPr/>
          </p:nvSpPr>
          <p:spPr>
            <a:xfrm>
              <a:off x="1381125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9" name="Google Shape;429;p91"/>
            <p:cNvSpPr/>
            <p:nvPr/>
          </p:nvSpPr>
          <p:spPr>
            <a:xfrm>
              <a:off x="1381125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0" name="Google Shape;430;p91"/>
            <p:cNvSpPr/>
            <p:nvPr/>
          </p:nvSpPr>
          <p:spPr>
            <a:xfrm>
              <a:off x="1381125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1" name="Google Shape;431;p91"/>
            <p:cNvSpPr/>
            <p:nvPr/>
          </p:nvSpPr>
          <p:spPr>
            <a:xfrm>
              <a:off x="1381125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2" name="Google Shape;432;p91"/>
            <p:cNvSpPr/>
            <p:nvPr/>
          </p:nvSpPr>
          <p:spPr>
            <a:xfrm>
              <a:off x="1381125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3" name="Google Shape;433;p91"/>
            <p:cNvSpPr/>
            <p:nvPr/>
          </p:nvSpPr>
          <p:spPr>
            <a:xfrm>
              <a:off x="1381125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4" name="Google Shape;434;p91"/>
            <p:cNvSpPr/>
            <p:nvPr/>
          </p:nvSpPr>
          <p:spPr>
            <a:xfrm>
              <a:off x="1381125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5" name="Google Shape;435;p91"/>
            <p:cNvSpPr/>
            <p:nvPr/>
          </p:nvSpPr>
          <p:spPr>
            <a:xfrm>
              <a:off x="1381125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6" name="Google Shape;436;p91"/>
            <p:cNvSpPr/>
            <p:nvPr/>
          </p:nvSpPr>
          <p:spPr>
            <a:xfrm>
              <a:off x="1381125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7" name="Google Shape;437;p91"/>
            <p:cNvSpPr/>
            <p:nvPr/>
          </p:nvSpPr>
          <p:spPr>
            <a:xfrm>
              <a:off x="1381125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8" name="Google Shape;438;p91"/>
            <p:cNvSpPr/>
            <p:nvPr/>
          </p:nvSpPr>
          <p:spPr>
            <a:xfrm>
              <a:off x="1381125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39" name="Google Shape;439;p91"/>
            <p:cNvSpPr/>
            <p:nvPr/>
          </p:nvSpPr>
          <p:spPr>
            <a:xfrm>
              <a:off x="1381125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0" name="Google Shape;440;p91"/>
            <p:cNvSpPr/>
            <p:nvPr/>
          </p:nvSpPr>
          <p:spPr>
            <a:xfrm>
              <a:off x="1381125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1" name="Google Shape;441;p91"/>
            <p:cNvSpPr/>
            <p:nvPr/>
          </p:nvSpPr>
          <p:spPr>
            <a:xfrm>
              <a:off x="1381125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2" name="Google Shape;442;p91"/>
            <p:cNvSpPr/>
            <p:nvPr/>
          </p:nvSpPr>
          <p:spPr>
            <a:xfrm>
              <a:off x="1381125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3" name="Google Shape;443;p91"/>
            <p:cNvSpPr/>
            <p:nvPr/>
          </p:nvSpPr>
          <p:spPr>
            <a:xfrm>
              <a:off x="1381125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4" name="Google Shape;444;p91"/>
            <p:cNvSpPr/>
            <p:nvPr/>
          </p:nvSpPr>
          <p:spPr>
            <a:xfrm>
              <a:off x="1381125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5" name="Google Shape;445;p91"/>
            <p:cNvSpPr/>
            <p:nvPr/>
          </p:nvSpPr>
          <p:spPr>
            <a:xfrm>
              <a:off x="1381125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46" name="Google Shape;446;p91"/>
            <p:cNvSpPr/>
            <p:nvPr/>
          </p:nvSpPr>
          <p:spPr>
            <a:xfrm>
              <a:off x="1381125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447" name="Google Shape;447;p91"/>
          <p:cNvSpPr txBox="1"/>
          <p:nvPr/>
        </p:nvSpPr>
        <p:spPr>
          <a:xfrm>
            <a:off x="2942763" y="1539150"/>
            <a:ext cx="1876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reference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8" name="Google Shape;448;p91"/>
          <p:cNvGrpSpPr/>
          <p:nvPr/>
        </p:nvGrpSpPr>
        <p:grpSpPr>
          <a:xfrm>
            <a:off x="167021" y="979767"/>
            <a:ext cx="828000" cy="2672335"/>
            <a:chOff x="167021" y="979767"/>
            <a:chExt cx="828000" cy="2672335"/>
          </a:xfrm>
        </p:grpSpPr>
        <p:sp>
          <p:nvSpPr>
            <p:cNvPr id="449" name="Google Shape;449;p91"/>
            <p:cNvSpPr/>
            <p:nvPr/>
          </p:nvSpPr>
          <p:spPr>
            <a:xfrm>
              <a:off x="400050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0" name="Google Shape;450;p91"/>
            <p:cNvSpPr/>
            <p:nvPr/>
          </p:nvSpPr>
          <p:spPr>
            <a:xfrm>
              <a:off x="400050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1" name="Google Shape;451;p91"/>
            <p:cNvSpPr/>
            <p:nvPr/>
          </p:nvSpPr>
          <p:spPr>
            <a:xfrm>
              <a:off x="400050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2" name="Google Shape;452;p91"/>
            <p:cNvSpPr/>
            <p:nvPr/>
          </p:nvSpPr>
          <p:spPr>
            <a:xfrm>
              <a:off x="400050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3" name="Google Shape;453;p91"/>
            <p:cNvSpPr/>
            <p:nvPr/>
          </p:nvSpPr>
          <p:spPr>
            <a:xfrm>
              <a:off x="400050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4" name="Google Shape;454;p91"/>
            <p:cNvSpPr/>
            <p:nvPr/>
          </p:nvSpPr>
          <p:spPr>
            <a:xfrm>
              <a:off x="400050" y="2169873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5" name="Google Shape;455;p91"/>
            <p:cNvSpPr/>
            <p:nvPr/>
          </p:nvSpPr>
          <p:spPr>
            <a:xfrm>
              <a:off x="400050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6" name="Google Shape;456;p91"/>
            <p:cNvSpPr/>
            <p:nvPr/>
          </p:nvSpPr>
          <p:spPr>
            <a:xfrm>
              <a:off x="400050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7" name="Google Shape;457;p91"/>
            <p:cNvSpPr/>
            <p:nvPr/>
          </p:nvSpPr>
          <p:spPr>
            <a:xfrm>
              <a:off x="400050" y="2612257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8" name="Google Shape;458;p91"/>
            <p:cNvSpPr/>
            <p:nvPr/>
          </p:nvSpPr>
          <p:spPr>
            <a:xfrm>
              <a:off x="400050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59" name="Google Shape;459;p91"/>
            <p:cNvSpPr/>
            <p:nvPr/>
          </p:nvSpPr>
          <p:spPr>
            <a:xfrm>
              <a:off x="400050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0" name="Google Shape;460;p91"/>
            <p:cNvSpPr/>
            <p:nvPr/>
          </p:nvSpPr>
          <p:spPr>
            <a:xfrm>
              <a:off x="400050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1" name="Google Shape;461;p91"/>
            <p:cNvSpPr/>
            <p:nvPr/>
          </p:nvSpPr>
          <p:spPr>
            <a:xfrm>
              <a:off x="400050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2" name="Google Shape;462;p91"/>
            <p:cNvSpPr/>
            <p:nvPr/>
          </p:nvSpPr>
          <p:spPr>
            <a:xfrm>
              <a:off x="400050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3" name="Google Shape;463;p91"/>
            <p:cNvSpPr/>
            <p:nvPr/>
          </p:nvSpPr>
          <p:spPr>
            <a:xfrm>
              <a:off x="400050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4" name="Google Shape;464;p91"/>
            <p:cNvSpPr/>
            <p:nvPr/>
          </p:nvSpPr>
          <p:spPr>
            <a:xfrm>
              <a:off x="400050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5" name="Google Shape;465;p91"/>
            <p:cNvSpPr/>
            <p:nvPr/>
          </p:nvSpPr>
          <p:spPr>
            <a:xfrm>
              <a:off x="400050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6" name="Google Shape;466;p91"/>
            <p:cNvSpPr/>
            <p:nvPr/>
          </p:nvSpPr>
          <p:spPr>
            <a:xfrm>
              <a:off x="400050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7" name="Google Shape;467;p91"/>
            <p:cNvSpPr/>
            <p:nvPr/>
          </p:nvSpPr>
          <p:spPr>
            <a:xfrm>
              <a:off x="400050" y="1462058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8" name="Google Shape;468;p91"/>
            <p:cNvSpPr/>
            <p:nvPr/>
          </p:nvSpPr>
          <p:spPr>
            <a:xfrm>
              <a:off x="400050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9" name="Google Shape;469;p91"/>
            <p:cNvSpPr/>
            <p:nvPr/>
          </p:nvSpPr>
          <p:spPr>
            <a:xfrm>
              <a:off x="400050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0" name="Google Shape;470;p91"/>
            <p:cNvSpPr/>
            <p:nvPr/>
          </p:nvSpPr>
          <p:spPr>
            <a:xfrm>
              <a:off x="400050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1" name="Google Shape;471;p91"/>
            <p:cNvSpPr/>
            <p:nvPr/>
          </p:nvSpPr>
          <p:spPr>
            <a:xfrm>
              <a:off x="400050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2" name="Google Shape;472;p91"/>
            <p:cNvSpPr/>
            <p:nvPr/>
          </p:nvSpPr>
          <p:spPr>
            <a:xfrm>
              <a:off x="400050" y="2523780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3" name="Google Shape;473;p91"/>
            <p:cNvSpPr/>
            <p:nvPr/>
          </p:nvSpPr>
          <p:spPr>
            <a:xfrm>
              <a:off x="400050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4" name="Google Shape;474;p91"/>
            <p:cNvSpPr/>
            <p:nvPr/>
          </p:nvSpPr>
          <p:spPr>
            <a:xfrm>
              <a:off x="400050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5" name="Google Shape;475;p91"/>
            <p:cNvSpPr txBox="1"/>
            <p:nvPr/>
          </p:nvSpPr>
          <p:spPr>
            <a:xfrm>
              <a:off x="167021" y="979767"/>
              <a:ext cx="8280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Helvetica Neue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Raw reads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91"/>
          <p:cNvSpPr txBox="1"/>
          <p:nvPr/>
        </p:nvSpPr>
        <p:spPr>
          <a:xfrm>
            <a:off x="2849475" y="2698975"/>
            <a:ext cx="21867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SARS-CoV-2 Reference Genome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7" name="Google Shape;477;p91"/>
          <p:cNvGrpSpPr/>
          <p:nvPr/>
        </p:nvGrpSpPr>
        <p:grpSpPr>
          <a:xfrm>
            <a:off x="3013283" y="2081063"/>
            <a:ext cx="2186789" cy="594569"/>
            <a:chOff x="2557375" y="1471481"/>
            <a:chExt cx="2476825" cy="594569"/>
          </a:xfrm>
        </p:grpSpPr>
        <p:sp>
          <p:nvSpPr>
            <p:cNvPr id="478" name="Google Shape;478;p91"/>
            <p:cNvSpPr/>
            <p:nvPr/>
          </p:nvSpPr>
          <p:spPr>
            <a:xfrm>
              <a:off x="2709800" y="1587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9" name="Google Shape;479;p91"/>
            <p:cNvSpPr/>
            <p:nvPr/>
          </p:nvSpPr>
          <p:spPr>
            <a:xfrm>
              <a:off x="2557375" y="187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0" name="Google Shape;480;p91"/>
            <p:cNvSpPr/>
            <p:nvPr/>
          </p:nvSpPr>
          <p:spPr>
            <a:xfrm>
              <a:off x="268515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1" name="Google Shape;481;p91"/>
            <p:cNvSpPr/>
            <p:nvPr/>
          </p:nvSpPr>
          <p:spPr>
            <a:xfrm>
              <a:off x="2620850" y="1683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2" name="Google Shape;482;p91"/>
            <p:cNvSpPr/>
            <p:nvPr/>
          </p:nvSpPr>
          <p:spPr>
            <a:xfrm>
              <a:off x="2557375" y="19994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3" name="Google Shape;483;p91"/>
            <p:cNvSpPr/>
            <p:nvPr/>
          </p:nvSpPr>
          <p:spPr>
            <a:xfrm>
              <a:off x="3096063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4" name="Google Shape;484;p91"/>
            <p:cNvSpPr/>
            <p:nvPr/>
          </p:nvSpPr>
          <p:spPr>
            <a:xfrm>
              <a:off x="28810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5" name="Google Shape;485;p91"/>
            <p:cNvSpPr/>
            <p:nvPr/>
          </p:nvSpPr>
          <p:spPr>
            <a:xfrm>
              <a:off x="3719275" y="1471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6" name="Google Shape;486;p91"/>
            <p:cNvSpPr/>
            <p:nvPr/>
          </p:nvSpPr>
          <p:spPr>
            <a:xfrm>
              <a:off x="37236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7" name="Google Shape;487;p91"/>
            <p:cNvSpPr/>
            <p:nvPr/>
          </p:nvSpPr>
          <p:spPr>
            <a:xfrm>
              <a:off x="3653300" y="1661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8" name="Google Shape;488;p91"/>
            <p:cNvSpPr/>
            <p:nvPr/>
          </p:nvSpPr>
          <p:spPr>
            <a:xfrm>
              <a:off x="3775700" y="1566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9" name="Google Shape;489;p91"/>
            <p:cNvSpPr/>
            <p:nvPr/>
          </p:nvSpPr>
          <p:spPr>
            <a:xfrm>
              <a:off x="3202500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0" name="Google Shape;490;p91"/>
            <p:cNvSpPr/>
            <p:nvPr/>
          </p:nvSpPr>
          <p:spPr>
            <a:xfrm>
              <a:off x="3540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1" name="Google Shape;491;p91"/>
            <p:cNvSpPr/>
            <p:nvPr/>
          </p:nvSpPr>
          <p:spPr>
            <a:xfrm>
              <a:off x="42033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2" name="Google Shape;492;p91"/>
            <p:cNvSpPr/>
            <p:nvPr/>
          </p:nvSpPr>
          <p:spPr>
            <a:xfrm>
              <a:off x="300522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3" name="Google Shape;493;p91"/>
            <p:cNvSpPr/>
            <p:nvPr/>
          </p:nvSpPr>
          <p:spPr>
            <a:xfrm>
              <a:off x="3381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4" name="Google Shape;494;p91"/>
            <p:cNvSpPr/>
            <p:nvPr/>
          </p:nvSpPr>
          <p:spPr>
            <a:xfrm>
              <a:off x="40653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5" name="Google Shape;495;p91"/>
            <p:cNvSpPr/>
            <p:nvPr/>
          </p:nvSpPr>
          <p:spPr>
            <a:xfrm>
              <a:off x="474830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6" name="Google Shape;496;p91"/>
            <p:cNvSpPr/>
            <p:nvPr/>
          </p:nvSpPr>
          <p:spPr>
            <a:xfrm>
              <a:off x="4528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7" name="Google Shape;497;p91"/>
            <p:cNvSpPr/>
            <p:nvPr/>
          </p:nvSpPr>
          <p:spPr>
            <a:xfrm>
              <a:off x="4674100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8" name="Google Shape;498;p91"/>
            <p:cNvSpPr/>
            <p:nvPr/>
          </p:nvSpPr>
          <p:spPr>
            <a:xfrm>
              <a:off x="4748300" y="15863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9" name="Google Shape;499;p91"/>
            <p:cNvSpPr/>
            <p:nvPr/>
          </p:nvSpPr>
          <p:spPr>
            <a:xfrm>
              <a:off x="4443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0" name="Google Shape;500;p91"/>
            <p:cNvSpPr/>
            <p:nvPr/>
          </p:nvSpPr>
          <p:spPr>
            <a:xfrm>
              <a:off x="3995000" y="16583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501" name="Google Shape;501;p91"/>
          <p:cNvGrpSpPr/>
          <p:nvPr/>
        </p:nvGrpSpPr>
        <p:grpSpPr>
          <a:xfrm>
            <a:off x="3241872" y="4105750"/>
            <a:ext cx="2186767" cy="225525"/>
            <a:chOff x="6125625" y="2784200"/>
            <a:chExt cx="2476800" cy="225525"/>
          </a:xfrm>
        </p:grpSpPr>
        <p:sp>
          <p:nvSpPr>
            <p:cNvPr id="502" name="Google Shape;502;p91"/>
            <p:cNvSpPr/>
            <p:nvPr/>
          </p:nvSpPr>
          <p:spPr>
            <a:xfrm>
              <a:off x="6125625" y="2943125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3" name="Google Shape;503;p91"/>
            <p:cNvSpPr/>
            <p:nvPr/>
          </p:nvSpPr>
          <p:spPr>
            <a:xfrm>
              <a:off x="6125625" y="2784200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04" name="Google Shape;504;p91"/>
          <p:cNvSpPr/>
          <p:nvPr/>
        </p:nvSpPr>
        <p:spPr>
          <a:xfrm rot="5400000">
            <a:off x="57059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91"/>
          <p:cNvSpPr txBox="1"/>
          <p:nvPr/>
        </p:nvSpPr>
        <p:spPr>
          <a:xfrm>
            <a:off x="5492575" y="4014200"/>
            <a:ext cx="828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Consensus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06" name="Google Shape;506;p91"/>
          <p:cNvGrpSpPr/>
          <p:nvPr/>
        </p:nvGrpSpPr>
        <p:grpSpPr>
          <a:xfrm>
            <a:off x="6407498" y="1992925"/>
            <a:ext cx="2186789" cy="698700"/>
            <a:chOff x="2623813" y="3128950"/>
            <a:chExt cx="2476825" cy="698700"/>
          </a:xfrm>
        </p:grpSpPr>
        <p:sp>
          <p:nvSpPr>
            <p:cNvPr id="507" name="Google Shape;507;p91"/>
            <p:cNvSpPr/>
            <p:nvPr/>
          </p:nvSpPr>
          <p:spPr>
            <a:xfrm>
              <a:off x="2763738" y="333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8" name="Google Shape;508;p91"/>
            <p:cNvSpPr/>
            <p:nvPr/>
          </p:nvSpPr>
          <p:spPr>
            <a:xfrm>
              <a:off x="2623813" y="3619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9" name="Google Shape;509;p91"/>
            <p:cNvSpPr/>
            <p:nvPr/>
          </p:nvSpPr>
          <p:spPr>
            <a:xfrm>
              <a:off x="275158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0" name="Google Shape;510;p91"/>
            <p:cNvSpPr/>
            <p:nvPr/>
          </p:nvSpPr>
          <p:spPr>
            <a:xfrm>
              <a:off x="2687288" y="3428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1" name="Google Shape;511;p91"/>
            <p:cNvSpPr/>
            <p:nvPr/>
          </p:nvSpPr>
          <p:spPr>
            <a:xfrm>
              <a:off x="2623813" y="374520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2" name="Google Shape;512;p91"/>
            <p:cNvSpPr/>
            <p:nvPr/>
          </p:nvSpPr>
          <p:spPr>
            <a:xfrm>
              <a:off x="3162500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3" name="Google Shape;513;p91"/>
            <p:cNvSpPr/>
            <p:nvPr/>
          </p:nvSpPr>
          <p:spPr>
            <a:xfrm>
              <a:off x="29475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4" name="Google Shape;514;p91"/>
            <p:cNvSpPr/>
            <p:nvPr/>
          </p:nvSpPr>
          <p:spPr>
            <a:xfrm>
              <a:off x="3785713" y="3217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5" name="Google Shape;515;p91"/>
            <p:cNvSpPr/>
            <p:nvPr/>
          </p:nvSpPr>
          <p:spPr>
            <a:xfrm>
              <a:off x="37901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6" name="Google Shape;516;p91"/>
            <p:cNvSpPr/>
            <p:nvPr/>
          </p:nvSpPr>
          <p:spPr>
            <a:xfrm>
              <a:off x="3719738" y="3407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7" name="Google Shape;517;p91"/>
            <p:cNvSpPr/>
            <p:nvPr/>
          </p:nvSpPr>
          <p:spPr>
            <a:xfrm>
              <a:off x="3842138" y="3312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8" name="Google Shape;518;p91"/>
            <p:cNvSpPr/>
            <p:nvPr/>
          </p:nvSpPr>
          <p:spPr>
            <a:xfrm>
              <a:off x="3268938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9" name="Google Shape;519;p91"/>
            <p:cNvSpPr/>
            <p:nvPr/>
          </p:nvSpPr>
          <p:spPr>
            <a:xfrm>
              <a:off x="3607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0" name="Google Shape;520;p91"/>
            <p:cNvSpPr/>
            <p:nvPr/>
          </p:nvSpPr>
          <p:spPr>
            <a:xfrm>
              <a:off x="42698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1" name="Google Shape;521;p91"/>
            <p:cNvSpPr/>
            <p:nvPr/>
          </p:nvSpPr>
          <p:spPr>
            <a:xfrm>
              <a:off x="307166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2" name="Google Shape;522;p91"/>
            <p:cNvSpPr/>
            <p:nvPr/>
          </p:nvSpPr>
          <p:spPr>
            <a:xfrm>
              <a:off x="3448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3" name="Google Shape;523;p91"/>
            <p:cNvSpPr/>
            <p:nvPr/>
          </p:nvSpPr>
          <p:spPr>
            <a:xfrm>
              <a:off x="41318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4" name="Google Shape;524;p91"/>
            <p:cNvSpPr/>
            <p:nvPr/>
          </p:nvSpPr>
          <p:spPr>
            <a:xfrm>
              <a:off x="481473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5" name="Google Shape;525;p91"/>
            <p:cNvSpPr/>
            <p:nvPr/>
          </p:nvSpPr>
          <p:spPr>
            <a:xfrm>
              <a:off x="4595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6" name="Google Shape;526;p91"/>
            <p:cNvSpPr/>
            <p:nvPr/>
          </p:nvSpPr>
          <p:spPr>
            <a:xfrm>
              <a:off x="4740538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7" name="Google Shape;527;p91"/>
            <p:cNvSpPr/>
            <p:nvPr/>
          </p:nvSpPr>
          <p:spPr>
            <a:xfrm>
              <a:off x="4814738" y="33321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8" name="Google Shape;528;p91"/>
            <p:cNvSpPr/>
            <p:nvPr/>
          </p:nvSpPr>
          <p:spPr>
            <a:xfrm>
              <a:off x="4510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9" name="Google Shape;529;p91"/>
            <p:cNvSpPr/>
            <p:nvPr/>
          </p:nvSpPr>
          <p:spPr>
            <a:xfrm>
              <a:off x="4061438" y="34040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0" name="Google Shape;530;p91"/>
            <p:cNvSpPr/>
            <p:nvPr/>
          </p:nvSpPr>
          <p:spPr>
            <a:xfrm>
              <a:off x="275084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1" name="Google Shape;531;p91"/>
            <p:cNvSpPr/>
            <p:nvPr/>
          </p:nvSpPr>
          <p:spPr>
            <a:xfrm>
              <a:off x="3272255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2" name="Google Shape;532;p91"/>
            <p:cNvSpPr/>
            <p:nvPr/>
          </p:nvSpPr>
          <p:spPr>
            <a:xfrm>
              <a:off x="361533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3" name="Google Shape;533;p91"/>
            <p:cNvSpPr/>
            <p:nvPr/>
          </p:nvSpPr>
          <p:spPr>
            <a:xfrm>
              <a:off x="426518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34" name="Google Shape;534;p91"/>
            <p:cNvSpPr/>
            <p:nvPr/>
          </p:nvSpPr>
          <p:spPr>
            <a:xfrm>
              <a:off x="481615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535" name="Google Shape;535;p91"/>
            <p:cNvCxnSpPr/>
            <p:nvPr/>
          </p:nvCxnSpPr>
          <p:spPr>
            <a:xfrm rot="10800000">
              <a:off x="275427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36" name="Google Shape;536;p91"/>
            <p:cNvCxnSpPr/>
            <p:nvPr/>
          </p:nvCxnSpPr>
          <p:spPr>
            <a:xfrm rot="10800000">
              <a:off x="28583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37" name="Google Shape;537;p91"/>
            <p:cNvCxnSpPr/>
            <p:nvPr/>
          </p:nvCxnSpPr>
          <p:spPr>
            <a:xfrm rot="10800000">
              <a:off x="32680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38" name="Google Shape;538;p91"/>
            <p:cNvCxnSpPr/>
            <p:nvPr/>
          </p:nvCxnSpPr>
          <p:spPr>
            <a:xfrm rot="10800000">
              <a:off x="33730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39" name="Google Shape;539;p91"/>
            <p:cNvCxnSpPr/>
            <p:nvPr/>
          </p:nvCxnSpPr>
          <p:spPr>
            <a:xfrm rot="10800000">
              <a:off x="36139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0" name="Google Shape;540;p91"/>
            <p:cNvCxnSpPr/>
            <p:nvPr/>
          </p:nvCxnSpPr>
          <p:spPr>
            <a:xfrm rot="10800000">
              <a:off x="37266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1" name="Google Shape;541;p91"/>
            <p:cNvCxnSpPr/>
            <p:nvPr/>
          </p:nvCxnSpPr>
          <p:spPr>
            <a:xfrm rot="10800000">
              <a:off x="42692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2" name="Google Shape;542;p91"/>
            <p:cNvCxnSpPr/>
            <p:nvPr/>
          </p:nvCxnSpPr>
          <p:spPr>
            <a:xfrm rot="10800000">
              <a:off x="4373288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3" name="Google Shape;543;p91"/>
            <p:cNvCxnSpPr/>
            <p:nvPr/>
          </p:nvCxnSpPr>
          <p:spPr>
            <a:xfrm rot="10800000">
              <a:off x="481522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544" name="Google Shape;544;p91"/>
            <p:cNvCxnSpPr/>
            <p:nvPr/>
          </p:nvCxnSpPr>
          <p:spPr>
            <a:xfrm rot="10800000">
              <a:off x="49205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545" name="Google Shape;545;p91"/>
            <p:cNvSpPr/>
            <p:nvPr/>
          </p:nvSpPr>
          <p:spPr>
            <a:xfrm>
              <a:off x="481615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6" name="Google Shape;546;p91"/>
            <p:cNvSpPr/>
            <p:nvPr/>
          </p:nvSpPr>
          <p:spPr>
            <a:xfrm>
              <a:off x="4816152" y="33321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7" name="Google Shape;547;p91"/>
            <p:cNvSpPr/>
            <p:nvPr/>
          </p:nvSpPr>
          <p:spPr>
            <a:xfrm>
              <a:off x="4265180" y="362365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8" name="Google Shape;548;p91"/>
            <p:cNvSpPr/>
            <p:nvPr/>
          </p:nvSpPr>
          <p:spPr>
            <a:xfrm>
              <a:off x="3615330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9" name="Google Shape;549;p91"/>
            <p:cNvSpPr/>
            <p:nvPr/>
          </p:nvSpPr>
          <p:spPr>
            <a:xfrm>
              <a:off x="3272255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0" name="Google Shape;550;p91"/>
            <p:cNvSpPr/>
            <p:nvPr/>
          </p:nvSpPr>
          <p:spPr>
            <a:xfrm>
              <a:off x="275084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51" name="Google Shape;551;p91"/>
            <p:cNvSpPr/>
            <p:nvPr/>
          </p:nvSpPr>
          <p:spPr>
            <a:xfrm>
              <a:off x="2750842" y="33335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552" name="Google Shape;552;p91"/>
          <p:cNvGrpSpPr/>
          <p:nvPr/>
        </p:nvGrpSpPr>
        <p:grpSpPr>
          <a:xfrm>
            <a:off x="6384533" y="3592513"/>
            <a:ext cx="2307855" cy="914400"/>
            <a:chOff x="5102488" y="2899700"/>
            <a:chExt cx="2600400" cy="914400"/>
          </a:xfrm>
        </p:grpSpPr>
        <p:sp>
          <p:nvSpPr>
            <p:cNvPr id="553" name="Google Shape;553;p91"/>
            <p:cNvSpPr/>
            <p:nvPr/>
          </p:nvSpPr>
          <p:spPr>
            <a:xfrm>
              <a:off x="5102488" y="2899700"/>
              <a:ext cx="26004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4" name="Google Shape;554;p91"/>
            <p:cNvGrpSpPr/>
            <p:nvPr/>
          </p:nvGrpSpPr>
          <p:grpSpPr>
            <a:xfrm>
              <a:off x="5164263" y="3031369"/>
              <a:ext cx="2476832" cy="594569"/>
              <a:chOff x="5452738" y="3217231"/>
              <a:chExt cx="2476832" cy="594569"/>
            </a:xfrm>
          </p:grpSpPr>
          <p:sp>
            <p:nvSpPr>
              <p:cNvPr id="555" name="Google Shape;555;p91"/>
              <p:cNvSpPr/>
              <p:nvPr/>
            </p:nvSpPr>
            <p:spPr>
              <a:xfrm>
                <a:off x="5687271" y="3333525"/>
                <a:ext cx="1914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56" name="Google Shape;556;p91"/>
              <p:cNvSpPr/>
              <p:nvPr/>
            </p:nvSpPr>
            <p:spPr>
              <a:xfrm>
                <a:off x="5452738" y="36192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57" name="Google Shape;557;p91"/>
              <p:cNvSpPr/>
              <p:nvPr/>
            </p:nvSpPr>
            <p:spPr>
              <a:xfrm>
                <a:off x="56872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58" name="Google Shape;558;p91"/>
              <p:cNvSpPr/>
              <p:nvPr/>
            </p:nvSpPr>
            <p:spPr>
              <a:xfrm>
                <a:off x="5516213" y="34287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59" name="Google Shape;559;p91"/>
              <p:cNvSpPr/>
              <p:nvPr/>
            </p:nvSpPr>
            <p:spPr>
              <a:xfrm>
                <a:off x="5452738" y="3745200"/>
                <a:ext cx="2476800" cy="66600"/>
              </a:xfrm>
              <a:prstGeom prst="rect">
                <a:avLst/>
              </a:prstGeom>
              <a:solidFill>
                <a:srgbClr val="0076B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0" name="Google Shape;560;p91"/>
              <p:cNvSpPr/>
              <p:nvPr/>
            </p:nvSpPr>
            <p:spPr>
              <a:xfrm>
                <a:off x="5991425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1" name="Google Shape;561;p91"/>
              <p:cNvSpPr/>
              <p:nvPr/>
            </p:nvSpPr>
            <p:spPr>
              <a:xfrm>
                <a:off x="57764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2" name="Google Shape;562;p91"/>
              <p:cNvSpPr/>
              <p:nvPr/>
            </p:nvSpPr>
            <p:spPr>
              <a:xfrm>
                <a:off x="6614638" y="32172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3" name="Google Shape;563;p91"/>
              <p:cNvSpPr/>
              <p:nvPr/>
            </p:nvSpPr>
            <p:spPr>
              <a:xfrm>
                <a:off x="66190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4" name="Google Shape;564;p91"/>
              <p:cNvSpPr/>
              <p:nvPr/>
            </p:nvSpPr>
            <p:spPr>
              <a:xfrm>
                <a:off x="6548663" y="34077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5" name="Google Shape;565;p91"/>
              <p:cNvSpPr/>
              <p:nvPr/>
            </p:nvSpPr>
            <p:spPr>
              <a:xfrm>
                <a:off x="6671063" y="33124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6" name="Google Shape;566;p91"/>
              <p:cNvSpPr/>
              <p:nvPr/>
            </p:nvSpPr>
            <p:spPr>
              <a:xfrm>
                <a:off x="6204670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7" name="Google Shape;567;p91"/>
              <p:cNvSpPr/>
              <p:nvPr/>
            </p:nvSpPr>
            <p:spPr>
              <a:xfrm>
                <a:off x="6563244" y="3619975"/>
                <a:ext cx="1587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8" name="Google Shape;568;p91"/>
              <p:cNvSpPr/>
              <p:nvPr/>
            </p:nvSpPr>
            <p:spPr>
              <a:xfrm>
                <a:off x="7205545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69" name="Google Shape;569;p91"/>
              <p:cNvSpPr/>
              <p:nvPr/>
            </p:nvSpPr>
            <p:spPr>
              <a:xfrm>
                <a:off x="590058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70" name="Google Shape;570;p91"/>
              <p:cNvSpPr/>
              <p:nvPr/>
            </p:nvSpPr>
            <p:spPr>
              <a:xfrm>
                <a:off x="6277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71" name="Google Shape;571;p91"/>
              <p:cNvSpPr/>
              <p:nvPr/>
            </p:nvSpPr>
            <p:spPr>
              <a:xfrm>
                <a:off x="69607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72" name="Google Shape;572;p91"/>
              <p:cNvSpPr/>
              <p:nvPr/>
            </p:nvSpPr>
            <p:spPr>
              <a:xfrm>
                <a:off x="77504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73" name="Google Shape;573;p91"/>
              <p:cNvSpPr/>
              <p:nvPr/>
            </p:nvSpPr>
            <p:spPr>
              <a:xfrm>
                <a:off x="74241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74" name="Google Shape;574;p91"/>
              <p:cNvSpPr/>
              <p:nvPr/>
            </p:nvSpPr>
            <p:spPr>
              <a:xfrm>
                <a:off x="7569463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75" name="Google Shape;575;p91"/>
              <p:cNvSpPr/>
              <p:nvPr/>
            </p:nvSpPr>
            <p:spPr>
              <a:xfrm>
                <a:off x="7750470" y="33321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76" name="Google Shape;576;p91"/>
              <p:cNvSpPr/>
              <p:nvPr/>
            </p:nvSpPr>
            <p:spPr>
              <a:xfrm>
                <a:off x="7339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577" name="Google Shape;577;p91"/>
              <p:cNvSpPr/>
              <p:nvPr/>
            </p:nvSpPr>
            <p:spPr>
              <a:xfrm>
                <a:off x="6890363" y="34040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578" name="Google Shape;578;p91"/>
          <p:cNvSpPr/>
          <p:nvPr/>
        </p:nvSpPr>
        <p:spPr>
          <a:xfrm>
            <a:off x="7418625" y="2909263"/>
            <a:ext cx="357000" cy="544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9" name="Google Shape;579;p91"/>
          <p:cNvGrpSpPr/>
          <p:nvPr/>
        </p:nvGrpSpPr>
        <p:grpSpPr>
          <a:xfrm>
            <a:off x="261415" y="4105738"/>
            <a:ext cx="2186767" cy="225525"/>
            <a:chOff x="6125625" y="1600925"/>
            <a:chExt cx="2476800" cy="225525"/>
          </a:xfrm>
        </p:grpSpPr>
        <p:sp>
          <p:nvSpPr>
            <p:cNvPr id="580" name="Google Shape;580;p91"/>
            <p:cNvSpPr/>
            <p:nvPr/>
          </p:nvSpPr>
          <p:spPr>
            <a:xfrm>
              <a:off x="6125625" y="17598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81" name="Google Shape;581;p91"/>
            <p:cNvSpPr/>
            <p:nvPr/>
          </p:nvSpPr>
          <p:spPr>
            <a:xfrm>
              <a:off x="6125625" y="1600925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82" name="Google Shape;582;p91"/>
            <p:cNvSpPr/>
            <p:nvPr/>
          </p:nvSpPr>
          <p:spPr>
            <a:xfrm>
              <a:off x="6515761" y="1600938"/>
              <a:ext cx="53400" cy="66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83" name="Google Shape;583;p91"/>
            <p:cNvSpPr/>
            <p:nvPr/>
          </p:nvSpPr>
          <p:spPr>
            <a:xfrm>
              <a:off x="6631297" y="1600938"/>
              <a:ext cx="53400" cy="66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84" name="Google Shape;584;p91"/>
            <p:cNvSpPr/>
            <p:nvPr/>
          </p:nvSpPr>
          <p:spPr>
            <a:xfrm>
              <a:off x="7826641" y="1600938"/>
              <a:ext cx="53400" cy="66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85" name="Google Shape;585;p91"/>
          <p:cNvSpPr txBox="1"/>
          <p:nvPr/>
        </p:nvSpPr>
        <p:spPr>
          <a:xfrm>
            <a:off x="3066375" y="3748750"/>
            <a:ext cx="175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Consensus Sequence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91"/>
          <p:cNvSpPr/>
          <p:nvPr/>
        </p:nvSpPr>
        <p:spPr>
          <a:xfrm>
            <a:off x="555105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Trim Primers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91"/>
          <p:cNvSpPr/>
          <p:nvPr/>
        </p:nvSpPr>
        <p:spPr>
          <a:xfrm rot="5400000">
            <a:off x="26615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91"/>
          <p:cNvSpPr txBox="1"/>
          <p:nvPr/>
        </p:nvSpPr>
        <p:spPr>
          <a:xfrm>
            <a:off x="2524375" y="4014200"/>
            <a:ext cx="654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Variants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p91"/>
          <p:cNvSpPr/>
          <p:nvPr/>
        </p:nvSpPr>
        <p:spPr>
          <a:xfrm>
            <a:off x="1847325" y="1334125"/>
            <a:ext cx="6917400" cy="350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91"/>
          <p:cNvSpPr/>
          <p:nvPr/>
        </p:nvSpPr>
        <p:spPr>
          <a:xfrm>
            <a:off x="167025" y="3967525"/>
            <a:ext cx="2940600" cy="87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91"/>
          <p:cNvSpPr txBox="1"/>
          <p:nvPr/>
        </p:nvSpPr>
        <p:spPr>
          <a:xfrm>
            <a:off x="1845675" y="65911"/>
            <a:ext cx="59286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Genome</a:t>
            </a:r>
            <a:r>
              <a:rPr lang="en" sz="2800">
                <a:solidFill>
                  <a:schemeClr val="dk1"/>
                </a:solidFill>
              </a:rPr>
              <a:t> Assembly Pipeline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91"/>
          <p:cNvSpPr/>
          <p:nvPr/>
        </p:nvSpPr>
        <p:spPr>
          <a:xfrm>
            <a:off x="7979100" y="0"/>
            <a:ext cx="1164900" cy="69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91"/>
          <p:cNvSpPr txBox="1"/>
          <p:nvPr/>
        </p:nvSpPr>
        <p:spPr>
          <a:xfrm>
            <a:off x="2288357" y="2414916"/>
            <a:ext cx="4576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91"/>
          <p:cNvSpPr txBox="1"/>
          <p:nvPr/>
        </p:nvSpPr>
        <p:spPr>
          <a:xfrm>
            <a:off x="2288357" y="2414916"/>
            <a:ext cx="4576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5" name="Google Shape;595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0" y="59667"/>
            <a:ext cx="995022" cy="3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91"/>
          <p:cNvSpPr/>
          <p:nvPr/>
        </p:nvSpPr>
        <p:spPr>
          <a:xfrm>
            <a:off x="770625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Validation/</a:t>
            </a: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uman Read</a:t>
            </a: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Removal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91"/>
          <p:cNvSpPr txBox="1"/>
          <p:nvPr/>
        </p:nvSpPr>
        <p:spPr>
          <a:xfrm>
            <a:off x="3893750" y="1148525"/>
            <a:ext cx="4764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Required files</a:t>
            </a:r>
            <a:endParaRPr/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Raw reads (Illumina FASTQ files)</a:t>
            </a:r>
            <a:endParaRPr/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Reference sequence (FASTA format)</a:t>
            </a:r>
            <a:endParaRPr/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BED primer file (Optional)</a:t>
            </a:r>
            <a:endParaRPr/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Reads capped at 50M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Pipeline only removes human host reads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2"/>
          <p:cNvSpPr/>
          <p:nvPr/>
        </p:nvSpPr>
        <p:spPr>
          <a:xfrm>
            <a:off x="1842300" y="2230525"/>
            <a:ext cx="713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Alignment/QC/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realignment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3" name="Google Shape;603;p92"/>
          <p:cNvGrpSpPr/>
          <p:nvPr/>
        </p:nvGrpSpPr>
        <p:grpSpPr>
          <a:xfrm>
            <a:off x="1457325" y="1373581"/>
            <a:ext cx="285900" cy="2278521"/>
            <a:chOff x="1381125" y="1373581"/>
            <a:chExt cx="285900" cy="2278521"/>
          </a:xfrm>
        </p:grpSpPr>
        <p:sp>
          <p:nvSpPr>
            <p:cNvPr id="604" name="Google Shape;604;p92"/>
            <p:cNvSpPr/>
            <p:nvPr/>
          </p:nvSpPr>
          <p:spPr>
            <a:xfrm>
              <a:off x="1381125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05" name="Google Shape;605;p92"/>
            <p:cNvSpPr/>
            <p:nvPr/>
          </p:nvSpPr>
          <p:spPr>
            <a:xfrm>
              <a:off x="1381125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06" name="Google Shape;606;p92"/>
            <p:cNvSpPr/>
            <p:nvPr/>
          </p:nvSpPr>
          <p:spPr>
            <a:xfrm>
              <a:off x="1381125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07" name="Google Shape;607;p92"/>
            <p:cNvSpPr/>
            <p:nvPr/>
          </p:nvSpPr>
          <p:spPr>
            <a:xfrm>
              <a:off x="1381125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08" name="Google Shape;608;p92"/>
            <p:cNvSpPr/>
            <p:nvPr/>
          </p:nvSpPr>
          <p:spPr>
            <a:xfrm>
              <a:off x="1381125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09" name="Google Shape;609;p92"/>
            <p:cNvSpPr/>
            <p:nvPr/>
          </p:nvSpPr>
          <p:spPr>
            <a:xfrm>
              <a:off x="1381125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0" name="Google Shape;610;p92"/>
            <p:cNvSpPr/>
            <p:nvPr/>
          </p:nvSpPr>
          <p:spPr>
            <a:xfrm>
              <a:off x="1381125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1" name="Google Shape;611;p92"/>
            <p:cNvSpPr/>
            <p:nvPr/>
          </p:nvSpPr>
          <p:spPr>
            <a:xfrm>
              <a:off x="1381125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2" name="Google Shape;612;p92"/>
            <p:cNvSpPr/>
            <p:nvPr/>
          </p:nvSpPr>
          <p:spPr>
            <a:xfrm>
              <a:off x="1381125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3" name="Google Shape;613;p92"/>
            <p:cNvSpPr/>
            <p:nvPr/>
          </p:nvSpPr>
          <p:spPr>
            <a:xfrm>
              <a:off x="1381125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4" name="Google Shape;614;p92"/>
            <p:cNvSpPr/>
            <p:nvPr/>
          </p:nvSpPr>
          <p:spPr>
            <a:xfrm>
              <a:off x="1381125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5" name="Google Shape;615;p92"/>
            <p:cNvSpPr/>
            <p:nvPr/>
          </p:nvSpPr>
          <p:spPr>
            <a:xfrm>
              <a:off x="1381125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6" name="Google Shape;616;p92"/>
            <p:cNvSpPr/>
            <p:nvPr/>
          </p:nvSpPr>
          <p:spPr>
            <a:xfrm>
              <a:off x="1381125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7" name="Google Shape;617;p92"/>
            <p:cNvSpPr/>
            <p:nvPr/>
          </p:nvSpPr>
          <p:spPr>
            <a:xfrm>
              <a:off x="1381125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8" name="Google Shape;618;p92"/>
            <p:cNvSpPr/>
            <p:nvPr/>
          </p:nvSpPr>
          <p:spPr>
            <a:xfrm>
              <a:off x="1381125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19" name="Google Shape;619;p92"/>
            <p:cNvSpPr/>
            <p:nvPr/>
          </p:nvSpPr>
          <p:spPr>
            <a:xfrm>
              <a:off x="1381125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0" name="Google Shape;620;p92"/>
            <p:cNvSpPr/>
            <p:nvPr/>
          </p:nvSpPr>
          <p:spPr>
            <a:xfrm>
              <a:off x="1381125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1" name="Google Shape;621;p92"/>
            <p:cNvSpPr/>
            <p:nvPr/>
          </p:nvSpPr>
          <p:spPr>
            <a:xfrm>
              <a:off x="1381125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2" name="Google Shape;622;p92"/>
            <p:cNvSpPr/>
            <p:nvPr/>
          </p:nvSpPr>
          <p:spPr>
            <a:xfrm>
              <a:off x="1381125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3" name="Google Shape;623;p92"/>
            <p:cNvSpPr/>
            <p:nvPr/>
          </p:nvSpPr>
          <p:spPr>
            <a:xfrm>
              <a:off x="1381125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4" name="Google Shape;624;p92"/>
            <p:cNvSpPr/>
            <p:nvPr/>
          </p:nvSpPr>
          <p:spPr>
            <a:xfrm>
              <a:off x="1381125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5" name="Google Shape;625;p92"/>
            <p:cNvSpPr/>
            <p:nvPr/>
          </p:nvSpPr>
          <p:spPr>
            <a:xfrm>
              <a:off x="1381125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626" name="Google Shape;626;p92"/>
          <p:cNvSpPr txBox="1"/>
          <p:nvPr/>
        </p:nvSpPr>
        <p:spPr>
          <a:xfrm>
            <a:off x="2714163" y="1539150"/>
            <a:ext cx="1876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reference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7" name="Google Shape;627;p92"/>
          <p:cNvGrpSpPr/>
          <p:nvPr/>
        </p:nvGrpSpPr>
        <p:grpSpPr>
          <a:xfrm>
            <a:off x="167021" y="979767"/>
            <a:ext cx="828000" cy="2672335"/>
            <a:chOff x="167021" y="979767"/>
            <a:chExt cx="828000" cy="2672335"/>
          </a:xfrm>
        </p:grpSpPr>
        <p:sp>
          <p:nvSpPr>
            <p:cNvPr id="628" name="Google Shape;628;p92"/>
            <p:cNvSpPr/>
            <p:nvPr/>
          </p:nvSpPr>
          <p:spPr>
            <a:xfrm>
              <a:off x="400050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29" name="Google Shape;629;p92"/>
            <p:cNvSpPr/>
            <p:nvPr/>
          </p:nvSpPr>
          <p:spPr>
            <a:xfrm>
              <a:off x="400050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0" name="Google Shape;630;p92"/>
            <p:cNvSpPr/>
            <p:nvPr/>
          </p:nvSpPr>
          <p:spPr>
            <a:xfrm>
              <a:off x="400050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1" name="Google Shape;631;p92"/>
            <p:cNvSpPr/>
            <p:nvPr/>
          </p:nvSpPr>
          <p:spPr>
            <a:xfrm>
              <a:off x="400050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2" name="Google Shape;632;p92"/>
            <p:cNvSpPr/>
            <p:nvPr/>
          </p:nvSpPr>
          <p:spPr>
            <a:xfrm>
              <a:off x="400050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3" name="Google Shape;633;p92"/>
            <p:cNvSpPr/>
            <p:nvPr/>
          </p:nvSpPr>
          <p:spPr>
            <a:xfrm>
              <a:off x="400050" y="2169873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4" name="Google Shape;634;p92"/>
            <p:cNvSpPr/>
            <p:nvPr/>
          </p:nvSpPr>
          <p:spPr>
            <a:xfrm>
              <a:off x="400050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5" name="Google Shape;635;p92"/>
            <p:cNvSpPr/>
            <p:nvPr/>
          </p:nvSpPr>
          <p:spPr>
            <a:xfrm>
              <a:off x="400050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6" name="Google Shape;636;p92"/>
            <p:cNvSpPr/>
            <p:nvPr/>
          </p:nvSpPr>
          <p:spPr>
            <a:xfrm>
              <a:off x="400050" y="2612257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7" name="Google Shape;637;p92"/>
            <p:cNvSpPr/>
            <p:nvPr/>
          </p:nvSpPr>
          <p:spPr>
            <a:xfrm>
              <a:off x="400050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8" name="Google Shape;638;p92"/>
            <p:cNvSpPr/>
            <p:nvPr/>
          </p:nvSpPr>
          <p:spPr>
            <a:xfrm>
              <a:off x="400050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9" name="Google Shape;639;p92"/>
            <p:cNvSpPr/>
            <p:nvPr/>
          </p:nvSpPr>
          <p:spPr>
            <a:xfrm>
              <a:off x="400050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0" name="Google Shape;640;p92"/>
            <p:cNvSpPr/>
            <p:nvPr/>
          </p:nvSpPr>
          <p:spPr>
            <a:xfrm>
              <a:off x="400050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1" name="Google Shape;641;p92"/>
            <p:cNvSpPr/>
            <p:nvPr/>
          </p:nvSpPr>
          <p:spPr>
            <a:xfrm>
              <a:off x="400050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2" name="Google Shape;642;p92"/>
            <p:cNvSpPr/>
            <p:nvPr/>
          </p:nvSpPr>
          <p:spPr>
            <a:xfrm>
              <a:off x="400050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3" name="Google Shape;643;p92"/>
            <p:cNvSpPr/>
            <p:nvPr/>
          </p:nvSpPr>
          <p:spPr>
            <a:xfrm>
              <a:off x="400050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4" name="Google Shape;644;p92"/>
            <p:cNvSpPr/>
            <p:nvPr/>
          </p:nvSpPr>
          <p:spPr>
            <a:xfrm>
              <a:off x="400050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5" name="Google Shape;645;p92"/>
            <p:cNvSpPr/>
            <p:nvPr/>
          </p:nvSpPr>
          <p:spPr>
            <a:xfrm>
              <a:off x="400050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6" name="Google Shape;646;p92"/>
            <p:cNvSpPr/>
            <p:nvPr/>
          </p:nvSpPr>
          <p:spPr>
            <a:xfrm>
              <a:off x="400050" y="1462058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7" name="Google Shape;647;p92"/>
            <p:cNvSpPr/>
            <p:nvPr/>
          </p:nvSpPr>
          <p:spPr>
            <a:xfrm>
              <a:off x="400050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8" name="Google Shape;648;p92"/>
            <p:cNvSpPr/>
            <p:nvPr/>
          </p:nvSpPr>
          <p:spPr>
            <a:xfrm>
              <a:off x="400050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49" name="Google Shape;649;p92"/>
            <p:cNvSpPr/>
            <p:nvPr/>
          </p:nvSpPr>
          <p:spPr>
            <a:xfrm>
              <a:off x="400050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0" name="Google Shape;650;p92"/>
            <p:cNvSpPr/>
            <p:nvPr/>
          </p:nvSpPr>
          <p:spPr>
            <a:xfrm>
              <a:off x="400050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1" name="Google Shape;651;p92"/>
            <p:cNvSpPr/>
            <p:nvPr/>
          </p:nvSpPr>
          <p:spPr>
            <a:xfrm>
              <a:off x="400050" y="2523780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2" name="Google Shape;652;p92"/>
            <p:cNvSpPr/>
            <p:nvPr/>
          </p:nvSpPr>
          <p:spPr>
            <a:xfrm>
              <a:off x="400050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3" name="Google Shape;653;p92"/>
            <p:cNvSpPr/>
            <p:nvPr/>
          </p:nvSpPr>
          <p:spPr>
            <a:xfrm>
              <a:off x="400050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4" name="Google Shape;654;p92"/>
            <p:cNvSpPr txBox="1"/>
            <p:nvPr/>
          </p:nvSpPr>
          <p:spPr>
            <a:xfrm>
              <a:off x="167021" y="979767"/>
              <a:ext cx="8280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Helvetica Neue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Raw reads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5" name="Google Shape;655;p92"/>
          <p:cNvSpPr txBox="1"/>
          <p:nvPr/>
        </p:nvSpPr>
        <p:spPr>
          <a:xfrm>
            <a:off x="2468475" y="2698975"/>
            <a:ext cx="21867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Genome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6" name="Google Shape;656;p92"/>
          <p:cNvGrpSpPr/>
          <p:nvPr/>
        </p:nvGrpSpPr>
        <p:grpSpPr>
          <a:xfrm>
            <a:off x="2556083" y="2081063"/>
            <a:ext cx="2186789" cy="594569"/>
            <a:chOff x="2557375" y="1471481"/>
            <a:chExt cx="2476825" cy="594569"/>
          </a:xfrm>
        </p:grpSpPr>
        <p:sp>
          <p:nvSpPr>
            <p:cNvPr id="657" name="Google Shape;657;p92"/>
            <p:cNvSpPr/>
            <p:nvPr/>
          </p:nvSpPr>
          <p:spPr>
            <a:xfrm>
              <a:off x="2709800" y="1587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8" name="Google Shape;658;p92"/>
            <p:cNvSpPr/>
            <p:nvPr/>
          </p:nvSpPr>
          <p:spPr>
            <a:xfrm>
              <a:off x="2557375" y="187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59" name="Google Shape;659;p92"/>
            <p:cNvSpPr/>
            <p:nvPr/>
          </p:nvSpPr>
          <p:spPr>
            <a:xfrm>
              <a:off x="268515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0" name="Google Shape;660;p92"/>
            <p:cNvSpPr/>
            <p:nvPr/>
          </p:nvSpPr>
          <p:spPr>
            <a:xfrm>
              <a:off x="2620850" y="1683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1" name="Google Shape;661;p92"/>
            <p:cNvSpPr/>
            <p:nvPr/>
          </p:nvSpPr>
          <p:spPr>
            <a:xfrm>
              <a:off x="2557375" y="19994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2" name="Google Shape;662;p92"/>
            <p:cNvSpPr/>
            <p:nvPr/>
          </p:nvSpPr>
          <p:spPr>
            <a:xfrm>
              <a:off x="3096063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3" name="Google Shape;663;p92"/>
            <p:cNvSpPr/>
            <p:nvPr/>
          </p:nvSpPr>
          <p:spPr>
            <a:xfrm>
              <a:off x="28810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4" name="Google Shape;664;p92"/>
            <p:cNvSpPr/>
            <p:nvPr/>
          </p:nvSpPr>
          <p:spPr>
            <a:xfrm>
              <a:off x="3719275" y="1471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5" name="Google Shape;665;p92"/>
            <p:cNvSpPr/>
            <p:nvPr/>
          </p:nvSpPr>
          <p:spPr>
            <a:xfrm>
              <a:off x="37236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6" name="Google Shape;666;p92"/>
            <p:cNvSpPr/>
            <p:nvPr/>
          </p:nvSpPr>
          <p:spPr>
            <a:xfrm>
              <a:off x="3653300" y="1661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7" name="Google Shape;667;p92"/>
            <p:cNvSpPr/>
            <p:nvPr/>
          </p:nvSpPr>
          <p:spPr>
            <a:xfrm>
              <a:off x="3775700" y="1566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8" name="Google Shape;668;p92"/>
            <p:cNvSpPr/>
            <p:nvPr/>
          </p:nvSpPr>
          <p:spPr>
            <a:xfrm>
              <a:off x="3202500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69" name="Google Shape;669;p92"/>
            <p:cNvSpPr/>
            <p:nvPr/>
          </p:nvSpPr>
          <p:spPr>
            <a:xfrm>
              <a:off x="3540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0" name="Google Shape;670;p92"/>
            <p:cNvSpPr/>
            <p:nvPr/>
          </p:nvSpPr>
          <p:spPr>
            <a:xfrm>
              <a:off x="42033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1" name="Google Shape;671;p92"/>
            <p:cNvSpPr/>
            <p:nvPr/>
          </p:nvSpPr>
          <p:spPr>
            <a:xfrm>
              <a:off x="300522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2" name="Google Shape;672;p92"/>
            <p:cNvSpPr/>
            <p:nvPr/>
          </p:nvSpPr>
          <p:spPr>
            <a:xfrm>
              <a:off x="3381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3" name="Google Shape;673;p92"/>
            <p:cNvSpPr/>
            <p:nvPr/>
          </p:nvSpPr>
          <p:spPr>
            <a:xfrm>
              <a:off x="40653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4" name="Google Shape;674;p92"/>
            <p:cNvSpPr/>
            <p:nvPr/>
          </p:nvSpPr>
          <p:spPr>
            <a:xfrm>
              <a:off x="474830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5" name="Google Shape;675;p92"/>
            <p:cNvSpPr/>
            <p:nvPr/>
          </p:nvSpPr>
          <p:spPr>
            <a:xfrm>
              <a:off x="4528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6" name="Google Shape;676;p92"/>
            <p:cNvSpPr/>
            <p:nvPr/>
          </p:nvSpPr>
          <p:spPr>
            <a:xfrm>
              <a:off x="4674100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7" name="Google Shape;677;p92"/>
            <p:cNvSpPr/>
            <p:nvPr/>
          </p:nvSpPr>
          <p:spPr>
            <a:xfrm>
              <a:off x="4748300" y="15863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8" name="Google Shape;678;p92"/>
            <p:cNvSpPr/>
            <p:nvPr/>
          </p:nvSpPr>
          <p:spPr>
            <a:xfrm>
              <a:off x="4443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79" name="Google Shape;679;p92"/>
            <p:cNvSpPr/>
            <p:nvPr/>
          </p:nvSpPr>
          <p:spPr>
            <a:xfrm>
              <a:off x="3995000" y="16583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680" name="Google Shape;680;p92"/>
          <p:cNvGrpSpPr/>
          <p:nvPr/>
        </p:nvGrpSpPr>
        <p:grpSpPr>
          <a:xfrm>
            <a:off x="3241872" y="4105750"/>
            <a:ext cx="2186767" cy="225525"/>
            <a:chOff x="6125625" y="2784200"/>
            <a:chExt cx="2476800" cy="225525"/>
          </a:xfrm>
        </p:grpSpPr>
        <p:sp>
          <p:nvSpPr>
            <p:cNvPr id="681" name="Google Shape;681;p92"/>
            <p:cNvSpPr/>
            <p:nvPr/>
          </p:nvSpPr>
          <p:spPr>
            <a:xfrm>
              <a:off x="6125625" y="2943125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82" name="Google Shape;682;p92"/>
            <p:cNvSpPr/>
            <p:nvPr/>
          </p:nvSpPr>
          <p:spPr>
            <a:xfrm>
              <a:off x="6125625" y="2784200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683" name="Google Shape;683;p92"/>
          <p:cNvSpPr/>
          <p:nvPr/>
        </p:nvSpPr>
        <p:spPr>
          <a:xfrm rot="5400000">
            <a:off x="57059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92"/>
          <p:cNvSpPr txBox="1"/>
          <p:nvPr/>
        </p:nvSpPr>
        <p:spPr>
          <a:xfrm>
            <a:off x="5492575" y="4014200"/>
            <a:ext cx="828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Consensus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85" name="Google Shape;685;p92"/>
          <p:cNvGrpSpPr/>
          <p:nvPr/>
        </p:nvGrpSpPr>
        <p:grpSpPr>
          <a:xfrm>
            <a:off x="6407498" y="1992925"/>
            <a:ext cx="2186789" cy="698700"/>
            <a:chOff x="2623813" y="3128950"/>
            <a:chExt cx="2476825" cy="698700"/>
          </a:xfrm>
        </p:grpSpPr>
        <p:sp>
          <p:nvSpPr>
            <p:cNvPr id="686" name="Google Shape;686;p92"/>
            <p:cNvSpPr/>
            <p:nvPr/>
          </p:nvSpPr>
          <p:spPr>
            <a:xfrm>
              <a:off x="2763738" y="333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87" name="Google Shape;687;p92"/>
            <p:cNvSpPr/>
            <p:nvPr/>
          </p:nvSpPr>
          <p:spPr>
            <a:xfrm>
              <a:off x="2623813" y="3619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88" name="Google Shape;688;p92"/>
            <p:cNvSpPr/>
            <p:nvPr/>
          </p:nvSpPr>
          <p:spPr>
            <a:xfrm>
              <a:off x="275158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89" name="Google Shape;689;p92"/>
            <p:cNvSpPr/>
            <p:nvPr/>
          </p:nvSpPr>
          <p:spPr>
            <a:xfrm>
              <a:off x="2687288" y="3428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0" name="Google Shape;690;p92"/>
            <p:cNvSpPr/>
            <p:nvPr/>
          </p:nvSpPr>
          <p:spPr>
            <a:xfrm>
              <a:off x="2623813" y="374520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1" name="Google Shape;691;p92"/>
            <p:cNvSpPr/>
            <p:nvPr/>
          </p:nvSpPr>
          <p:spPr>
            <a:xfrm>
              <a:off x="3162500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2" name="Google Shape;692;p92"/>
            <p:cNvSpPr/>
            <p:nvPr/>
          </p:nvSpPr>
          <p:spPr>
            <a:xfrm>
              <a:off x="29475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3" name="Google Shape;693;p92"/>
            <p:cNvSpPr/>
            <p:nvPr/>
          </p:nvSpPr>
          <p:spPr>
            <a:xfrm>
              <a:off x="3785713" y="3217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4" name="Google Shape;694;p92"/>
            <p:cNvSpPr/>
            <p:nvPr/>
          </p:nvSpPr>
          <p:spPr>
            <a:xfrm>
              <a:off x="37901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5" name="Google Shape;695;p92"/>
            <p:cNvSpPr/>
            <p:nvPr/>
          </p:nvSpPr>
          <p:spPr>
            <a:xfrm>
              <a:off x="3719738" y="3407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6" name="Google Shape;696;p92"/>
            <p:cNvSpPr/>
            <p:nvPr/>
          </p:nvSpPr>
          <p:spPr>
            <a:xfrm>
              <a:off x="3842138" y="3312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7" name="Google Shape;697;p92"/>
            <p:cNvSpPr/>
            <p:nvPr/>
          </p:nvSpPr>
          <p:spPr>
            <a:xfrm>
              <a:off x="3268938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8" name="Google Shape;698;p92"/>
            <p:cNvSpPr/>
            <p:nvPr/>
          </p:nvSpPr>
          <p:spPr>
            <a:xfrm>
              <a:off x="3607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99" name="Google Shape;699;p92"/>
            <p:cNvSpPr/>
            <p:nvPr/>
          </p:nvSpPr>
          <p:spPr>
            <a:xfrm>
              <a:off x="42698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0" name="Google Shape;700;p92"/>
            <p:cNvSpPr/>
            <p:nvPr/>
          </p:nvSpPr>
          <p:spPr>
            <a:xfrm>
              <a:off x="307166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1" name="Google Shape;701;p92"/>
            <p:cNvSpPr/>
            <p:nvPr/>
          </p:nvSpPr>
          <p:spPr>
            <a:xfrm>
              <a:off x="3448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2" name="Google Shape;702;p92"/>
            <p:cNvSpPr/>
            <p:nvPr/>
          </p:nvSpPr>
          <p:spPr>
            <a:xfrm>
              <a:off x="41318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3" name="Google Shape;703;p92"/>
            <p:cNvSpPr/>
            <p:nvPr/>
          </p:nvSpPr>
          <p:spPr>
            <a:xfrm>
              <a:off x="481473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4" name="Google Shape;704;p92"/>
            <p:cNvSpPr/>
            <p:nvPr/>
          </p:nvSpPr>
          <p:spPr>
            <a:xfrm>
              <a:off x="4595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5" name="Google Shape;705;p92"/>
            <p:cNvSpPr/>
            <p:nvPr/>
          </p:nvSpPr>
          <p:spPr>
            <a:xfrm>
              <a:off x="4740538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6" name="Google Shape;706;p92"/>
            <p:cNvSpPr/>
            <p:nvPr/>
          </p:nvSpPr>
          <p:spPr>
            <a:xfrm>
              <a:off x="4814738" y="33321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7" name="Google Shape;707;p92"/>
            <p:cNvSpPr/>
            <p:nvPr/>
          </p:nvSpPr>
          <p:spPr>
            <a:xfrm>
              <a:off x="4510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8" name="Google Shape;708;p92"/>
            <p:cNvSpPr/>
            <p:nvPr/>
          </p:nvSpPr>
          <p:spPr>
            <a:xfrm>
              <a:off x="4061438" y="34040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9" name="Google Shape;709;p92"/>
            <p:cNvSpPr/>
            <p:nvPr/>
          </p:nvSpPr>
          <p:spPr>
            <a:xfrm>
              <a:off x="275084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0" name="Google Shape;710;p92"/>
            <p:cNvSpPr/>
            <p:nvPr/>
          </p:nvSpPr>
          <p:spPr>
            <a:xfrm>
              <a:off x="3272255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1" name="Google Shape;711;p92"/>
            <p:cNvSpPr/>
            <p:nvPr/>
          </p:nvSpPr>
          <p:spPr>
            <a:xfrm>
              <a:off x="361533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2" name="Google Shape;712;p92"/>
            <p:cNvSpPr/>
            <p:nvPr/>
          </p:nvSpPr>
          <p:spPr>
            <a:xfrm>
              <a:off x="426518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13" name="Google Shape;713;p92"/>
            <p:cNvSpPr/>
            <p:nvPr/>
          </p:nvSpPr>
          <p:spPr>
            <a:xfrm>
              <a:off x="481615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714" name="Google Shape;714;p92"/>
            <p:cNvCxnSpPr/>
            <p:nvPr/>
          </p:nvCxnSpPr>
          <p:spPr>
            <a:xfrm rot="10800000">
              <a:off x="275427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15" name="Google Shape;715;p92"/>
            <p:cNvCxnSpPr/>
            <p:nvPr/>
          </p:nvCxnSpPr>
          <p:spPr>
            <a:xfrm rot="10800000">
              <a:off x="28583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16" name="Google Shape;716;p92"/>
            <p:cNvCxnSpPr/>
            <p:nvPr/>
          </p:nvCxnSpPr>
          <p:spPr>
            <a:xfrm rot="10800000">
              <a:off x="32680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17" name="Google Shape;717;p92"/>
            <p:cNvCxnSpPr/>
            <p:nvPr/>
          </p:nvCxnSpPr>
          <p:spPr>
            <a:xfrm rot="10800000">
              <a:off x="33730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18" name="Google Shape;718;p92"/>
            <p:cNvCxnSpPr/>
            <p:nvPr/>
          </p:nvCxnSpPr>
          <p:spPr>
            <a:xfrm rot="10800000">
              <a:off x="36139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19" name="Google Shape;719;p92"/>
            <p:cNvCxnSpPr/>
            <p:nvPr/>
          </p:nvCxnSpPr>
          <p:spPr>
            <a:xfrm rot="10800000">
              <a:off x="37266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20" name="Google Shape;720;p92"/>
            <p:cNvCxnSpPr/>
            <p:nvPr/>
          </p:nvCxnSpPr>
          <p:spPr>
            <a:xfrm rot="10800000">
              <a:off x="42692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21" name="Google Shape;721;p92"/>
            <p:cNvCxnSpPr/>
            <p:nvPr/>
          </p:nvCxnSpPr>
          <p:spPr>
            <a:xfrm rot="10800000">
              <a:off x="4373288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22" name="Google Shape;722;p92"/>
            <p:cNvCxnSpPr/>
            <p:nvPr/>
          </p:nvCxnSpPr>
          <p:spPr>
            <a:xfrm rot="10800000">
              <a:off x="481522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723" name="Google Shape;723;p92"/>
            <p:cNvCxnSpPr/>
            <p:nvPr/>
          </p:nvCxnSpPr>
          <p:spPr>
            <a:xfrm rot="10800000">
              <a:off x="49205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724" name="Google Shape;724;p92"/>
            <p:cNvSpPr/>
            <p:nvPr/>
          </p:nvSpPr>
          <p:spPr>
            <a:xfrm>
              <a:off x="481615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5" name="Google Shape;725;p92"/>
            <p:cNvSpPr/>
            <p:nvPr/>
          </p:nvSpPr>
          <p:spPr>
            <a:xfrm>
              <a:off x="4816152" y="33321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6" name="Google Shape;726;p92"/>
            <p:cNvSpPr/>
            <p:nvPr/>
          </p:nvSpPr>
          <p:spPr>
            <a:xfrm>
              <a:off x="4265180" y="362365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7" name="Google Shape;727;p92"/>
            <p:cNvSpPr/>
            <p:nvPr/>
          </p:nvSpPr>
          <p:spPr>
            <a:xfrm>
              <a:off x="3615330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8" name="Google Shape;728;p92"/>
            <p:cNvSpPr/>
            <p:nvPr/>
          </p:nvSpPr>
          <p:spPr>
            <a:xfrm>
              <a:off x="3272255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29" name="Google Shape;729;p92"/>
            <p:cNvSpPr/>
            <p:nvPr/>
          </p:nvSpPr>
          <p:spPr>
            <a:xfrm>
              <a:off x="275084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30" name="Google Shape;730;p92"/>
            <p:cNvSpPr/>
            <p:nvPr/>
          </p:nvSpPr>
          <p:spPr>
            <a:xfrm>
              <a:off x="2750842" y="33335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731" name="Google Shape;731;p92"/>
          <p:cNvGrpSpPr/>
          <p:nvPr/>
        </p:nvGrpSpPr>
        <p:grpSpPr>
          <a:xfrm>
            <a:off x="6384533" y="3592513"/>
            <a:ext cx="2307855" cy="914400"/>
            <a:chOff x="5102488" y="2899700"/>
            <a:chExt cx="2600400" cy="914400"/>
          </a:xfrm>
        </p:grpSpPr>
        <p:sp>
          <p:nvSpPr>
            <p:cNvPr id="732" name="Google Shape;732;p92"/>
            <p:cNvSpPr/>
            <p:nvPr/>
          </p:nvSpPr>
          <p:spPr>
            <a:xfrm>
              <a:off x="5102488" y="2899700"/>
              <a:ext cx="26004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3" name="Google Shape;733;p92"/>
            <p:cNvGrpSpPr/>
            <p:nvPr/>
          </p:nvGrpSpPr>
          <p:grpSpPr>
            <a:xfrm>
              <a:off x="5164263" y="3031369"/>
              <a:ext cx="2476832" cy="594569"/>
              <a:chOff x="5452738" y="3217231"/>
              <a:chExt cx="2476832" cy="594569"/>
            </a:xfrm>
          </p:grpSpPr>
          <p:sp>
            <p:nvSpPr>
              <p:cNvPr id="734" name="Google Shape;734;p92"/>
              <p:cNvSpPr/>
              <p:nvPr/>
            </p:nvSpPr>
            <p:spPr>
              <a:xfrm>
                <a:off x="5687271" y="3333525"/>
                <a:ext cx="1914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35" name="Google Shape;735;p92"/>
              <p:cNvSpPr/>
              <p:nvPr/>
            </p:nvSpPr>
            <p:spPr>
              <a:xfrm>
                <a:off x="5452738" y="36192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36" name="Google Shape;736;p92"/>
              <p:cNvSpPr/>
              <p:nvPr/>
            </p:nvSpPr>
            <p:spPr>
              <a:xfrm>
                <a:off x="56872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37" name="Google Shape;737;p92"/>
              <p:cNvSpPr/>
              <p:nvPr/>
            </p:nvSpPr>
            <p:spPr>
              <a:xfrm>
                <a:off x="5516213" y="34287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38" name="Google Shape;738;p92"/>
              <p:cNvSpPr/>
              <p:nvPr/>
            </p:nvSpPr>
            <p:spPr>
              <a:xfrm>
                <a:off x="5452738" y="3745200"/>
                <a:ext cx="2476800" cy="66600"/>
              </a:xfrm>
              <a:prstGeom prst="rect">
                <a:avLst/>
              </a:prstGeom>
              <a:solidFill>
                <a:srgbClr val="0076B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39" name="Google Shape;739;p92"/>
              <p:cNvSpPr/>
              <p:nvPr/>
            </p:nvSpPr>
            <p:spPr>
              <a:xfrm>
                <a:off x="5991425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0" name="Google Shape;740;p92"/>
              <p:cNvSpPr/>
              <p:nvPr/>
            </p:nvSpPr>
            <p:spPr>
              <a:xfrm>
                <a:off x="57764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1" name="Google Shape;741;p92"/>
              <p:cNvSpPr/>
              <p:nvPr/>
            </p:nvSpPr>
            <p:spPr>
              <a:xfrm>
                <a:off x="6614638" y="32172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2" name="Google Shape;742;p92"/>
              <p:cNvSpPr/>
              <p:nvPr/>
            </p:nvSpPr>
            <p:spPr>
              <a:xfrm>
                <a:off x="66190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3" name="Google Shape;743;p92"/>
              <p:cNvSpPr/>
              <p:nvPr/>
            </p:nvSpPr>
            <p:spPr>
              <a:xfrm>
                <a:off x="6548663" y="34077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4" name="Google Shape;744;p92"/>
              <p:cNvSpPr/>
              <p:nvPr/>
            </p:nvSpPr>
            <p:spPr>
              <a:xfrm>
                <a:off x="6671063" y="33124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5" name="Google Shape;745;p92"/>
              <p:cNvSpPr/>
              <p:nvPr/>
            </p:nvSpPr>
            <p:spPr>
              <a:xfrm>
                <a:off x="6204670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6" name="Google Shape;746;p92"/>
              <p:cNvSpPr/>
              <p:nvPr/>
            </p:nvSpPr>
            <p:spPr>
              <a:xfrm>
                <a:off x="6563244" y="3619975"/>
                <a:ext cx="1587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7" name="Google Shape;747;p92"/>
              <p:cNvSpPr/>
              <p:nvPr/>
            </p:nvSpPr>
            <p:spPr>
              <a:xfrm>
                <a:off x="7205545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8" name="Google Shape;748;p92"/>
              <p:cNvSpPr/>
              <p:nvPr/>
            </p:nvSpPr>
            <p:spPr>
              <a:xfrm>
                <a:off x="590058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49" name="Google Shape;749;p92"/>
              <p:cNvSpPr/>
              <p:nvPr/>
            </p:nvSpPr>
            <p:spPr>
              <a:xfrm>
                <a:off x="6277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50" name="Google Shape;750;p92"/>
              <p:cNvSpPr/>
              <p:nvPr/>
            </p:nvSpPr>
            <p:spPr>
              <a:xfrm>
                <a:off x="69607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51" name="Google Shape;751;p92"/>
              <p:cNvSpPr/>
              <p:nvPr/>
            </p:nvSpPr>
            <p:spPr>
              <a:xfrm>
                <a:off x="77504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52" name="Google Shape;752;p92"/>
              <p:cNvSpPr/>
              <p:nvPr/>
            </p:nvSpPr>
            <p:spPr>
              <a:xfrm>
                <a:off x="74241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53" name="Google Shape;753;p92"/>
              <p:cNvSpPr/>
              <p:nvPr/>
            </p:nvSpPr>
            <p:spPr>
              <a:xfrm>
                <a:off x="7569463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54" name="Google Shape;754;p92"/>
              <p:cNvSpPr/>
              <p:nvPr/>
            </p:nvSpPr>
            <p:spPr>
              <a:xfrm>
                <a:off x="7750470" y="33321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55" name="Google Shape;755;p92"/>
              <p:cNvSpPr/>
              <p:nvPr/>
            </p:nvSpPr>
            <p:spPr>
              <a:xfrm>
                <a:off x="7339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756" name="Google Shape;756;p92"/>
              <p:cNvSpPr/>
              <p:nvPr/>
            </p:nvSpPr>
            <p:spPr>
              <a:xfrm>
                <a:off x="6890363" y="34040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757" name="Google Shape;757;p92"/>
          <p:cNvSpPr/>
          <p:nvPr/>
        </p:nvSpPr>
        <p:spPr>
          <a:xfrm>
            <a:off x="7418625" y="2909263"/>
            <a:ext cx="357000" cy="544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8" name="Google Shape;758;p92"/>
          <p:cNvGrpSpPr/>
          <p:nvPr/>
        </p:nvGrpSpPr>
        <p:grpSpPr>
          <a:xfrm>
            <a:off x="261415" y="4105738"/>
            <a:ext cx="2186767" cy="225525"/>
            <a:chOff x="6125625" y="1600925"/>
            <a:chExt cx="2476800" cy="225525"/>
          </a:xfrm>
        </p:grpSpPr>
        <p:sp>
          <p:nvSpPr>
            <p:cNvPr id="759" name="Google Shape;759;p92"/>
            <p:cNvSpPr/>
            <p:nvPr/>
          </p:nvSpPr>
          <p:spPr>
            <a:xfrm>
              <a:off x="6125625" y="17598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0" name="Google Shape;760;p92"/>
            <p:cNvSpPr/>
            <p:nvPr/>
          </p:nvSpPr>
          <p:spPr>
            <a:xfrm>
              <a:off x="6125625" y="1600925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1" name="Google Shape;761;p92"/>
            <p:cNvSpPr/>
            <p:nvPr/>
          </p:nvSpPr>
          <p:spPr>
            <a:xfrm>
              <a:off x="6515761" y="1600938"/>
              <a:ext cx="53400" cy="66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2" name="Google Shape;762;p92"/>
            <p:cNvSpPr/>
            <p:nvPr/>
          </p:nvSpPr>
          <p:spPr>
            <a:xfrm>
              <a:off x="6631297" y="1600938"/>
              <a:ext cx="53400" cy="66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63" name="Google Shape;763;p92"/>
            <p:cNvSpPr/>
            <p:nvPr/>
          </p:nvSpPr>
          <p:spPr>
            <a:xfrm>
              <a:off x="7826641" y="1600938"/>
              <a:ext cx="53400" cy="66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764" name="Google Shape;764;p92"/>
          <p:cNvSpPr txBox="1"/>
          <p:nvPr/>
        </p:nvSpPr>
        <p:spPr>
          <a:xfrm>
            <a:off x="3066375" y="3748750"/>
            <a:ext cx="175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Consensus Sequence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92"/>
          <p:cNvSpPr/>
          <p:nvPr/>
        </p:nvSpPr>
        <p:spPr>
          <a:xfrm>
            <a:off x="524625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Trim Primers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92"/>
          <p:cNvSpPr/>
          <p:nvPr/>
        </p:nvSpPr>
        <p:spPr>
          <a:xfrm rot="5400000">
            <a:off x="26615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92"/>
          <p:cNvSpPr txBox="1"/>
          <p:nvPr/>
        </p:nvSpPr>
        <p:spPr>
          <a:xfrm>
            <a:off x="2524375" y="4014200"/>
            <a:ext cx="654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Variants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Google Shape;768;p92"/>
          <p:cNvSpPr/>
          <p:nvPr/>
        </p:nvSpPr>
        <p:spPr>
          <a:xfrm>
            <a:off x="5123850" y="1334125"/>
            <a:ext cx="3708600" cy="350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92"/>
          <p:cNvSpPr/>
          <p:nvPr/>
        </p:nvSpPr>
        <p:spPr>
          <a:xfrm>
            <a:off x="167025" y="3748750"/>
            <a:ext cx="8746800" cy="10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92"/>
          <p:cNvSpPr/>
          <p:nvPr/>
        </p:nvSpPr>
        <p:spPr>
          <a:xfrm>
            <a:off x="7979100" y="0"/>
            <a:ext cx="1164900" cy="69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2"/>
          <p:cNvSpPr/>
          <p:nvPr/>
        </p:nvSpPr>
        <p:spPr>
          <a:xfrm>
            <a:off x="770625" y="2230525"/>
            <a:ext cx="713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Validation/</a:t>
            </a: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H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uman Read</a:t>
            </a: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Removal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2" name="Google Shape;772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0" y="59667"/>
            <a:ext cx="995022" cy="3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92"/>
          <p:cNvSpPr txBox="1"/>
          <p:nvPr/>
        </p:nvSpPr>
        <p:spPr>
          <a:xfrm>
            <a:off x="1845675" y="65911"/>
            <a:ext cx="59286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Genome</a:t>
            </a:r>
            <a:r>
              <a:rPr lang="en" sz="2800">
                <a:solidFill>
                  <a:schemeClr val="dk1"/>
                </a:solidFill>
              </a:rPr>
              <a:t> Assembly Pipeline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92"/>
          <p:cNvSpPr txBox="1"/>
          <p:nvPr/>
        </p:nvSpPr>
        <p:spPr>
          <a:xfrm>
            <a:off x="7936350" y="1326600"/>
            <a:ext cx="123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5" name="Google Shape;775;p92"/>
          <p:cNvSpPr txBox="1"/>
          <p:nvPr/>
        </p:nvSpPr>
        <p:spPr>
          <a:xfrm>
            <a:off x="5692400" y="1373575"/>
            <a:ext cx="32214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Notes: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Alignment software: </a:t>
            </a:r>
            <a:r>
              <a:rPr lang="en" u="sng">
                <a:solidFill>
                  <a:schemeClr val="hlink"/>
                </a:solidFill>
                <a:hlinkClick r:id="rId4"/>
              </a:rPr>
              <a:t>minimap2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Mapped reads undergo QC;  software: </a:t>
            </a:r>
            <a:r>
              <a:rPr lang="en" u="sng">
                <a:solidFill>
                  <a:schemeClr val="hlink"/>
                </a:solidFill>
                <a:hlinkClick r:id="rId5"/>
              </a:rPr>
              <a:t>Trim Galore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Trim low quality bases (&lt;Q20)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Trim adapters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Trim short reads (&lt; 20bp)</a:t>
            </a:r>
            <a:endParaRPr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After QC, remaining reads are remapped to reference (minimap2)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6" name="Google Shape;776;p92"/>
          <p:cNvSpPr/>
          <p:nvPr/>
        </p:nvSpPr>
        <p:spPr>
          <a:xfrm>
            <a:off x="4139103" y="2184326"/>
            <a:ext cx="252300" cy="66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7" name="Google Shape;777;p92"/>
          <p:cNvSpPr/>
          <p:nvPr/>
        </p:nvSpPr>
        <p:spPr>
          <a:xfrm>
            <a:off x="3224703" y="2184326"/>
            <a:ext cx="252300" cy="66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8" name="Google Shape;778;p92"/>
          <p:cNvSpPr/>
          <p:nvPr/>
        </p:nvSpPr>
        <p:spPr>
          <a:xfrm>
            <a:off x="4344429" y="2084852"/>
            <a:ext cx="252300" cy="66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9" name="Google Shape;779;p92"/>
          <p:cNvSpPr/>
          <p:nvPr/>
        </p:nvSpPr>
        <p:spPr>
          <a:xfrm>
            <a:off x="2972829" y="2084852"/>
            <a:ext cx="252300" cy="666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0" name="Google Shape;780;p92"/>
          <p:cNvSpPr txBox="1"/>
          <p:nvPr/>
        </p:nvSpPr>
        <p:spPr>
          <a:xfrm>
            <a:off x="4303524" y="1848265"/>
            <a:ext cx="3570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20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1" name="Google Shape;781;p92"/>
          <p:cNvSpPr txBox="1"/>
          <p:nvPr/>
        </p:nvSpPr>
        <p:spPr>
          <a:xfrm>
            <a:off x="4121472" y="1948859"/>
            <a:ext cx="3570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20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2" name="Google Shape;782;p92"/>
          <p:cNvSpPr txBox="1"/>
          <p:nvPr/>
        </p:nvSpPr>
        <p:spPr>
          <a:xfrm>
            <a:off x="3193638" y="1950328"/>
            <a:ext cx="3570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20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3" name="Google Shape;783;p92"/>
          <p:cNvSpPr txBox="1"/>
          <p:nvPr/>
        </p:nvSpPr>
        <p:spPr>
          <a:xfrm>
            <a:off x="2953401" y="1850854"/>
            <a:ext cx="3570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8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 sz="2000">
              <a:solidFill>
                <a:srgbClr val="98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93"/>
          <p:cNvSpPr/>
          <p:nvPr/>
        </p:nvSpPr>
        <p:spPr>
          <a:xfrm>
            <a:off x="191850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9" name="Google Shape;789;p93"/>
          <p:cNvGrpSpPr/>
          <p:nvPr/>
        </p:nvGrpSpPr>
        <p:grpSpPr>
          <a:xfrm>
            <a:off x="1457325" y="1373581"/>
            <a:ext cx="285900" cy="2278521"/>
            <a:chOff x="1381125" y="1373581"/>
            <a:chExt cx="285900" cy="2278521"/>
          </a:xfrm>
        </p:grpSpPr>
        <p:sp>
          <p:nvSpPr>
            <p:cNvPr id="790" name="Google Shape;790;p93"/>
            <p:cNvSpPr/>
            <p:nvPr/>
          </p:nvSpPr>
          <p:spPr>
            <a:xfrm>
              <a:off x="1381125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1" name="Google Shape;791;p93"/>
            <p:cNvSpPr/>
            <p:nvPr/>
          </p:nvSpPr>
          <p:spPr>
            <a:xfrm>
              <a:off x="1381125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2" name="Google Shape;792;p93"/>
            <p:cNvSpPr/>
            <p:nvPr/>
          </p:nvSpPr>
          <p:spPr>
            <a:xfrm>
              <a:off x="1381125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3" name="Google Shape;793;p93"/>
            <p:cNvSpPr/>
            <p:nvPr/>
          </p:nvSpPr>
          <p:spPr>
            <a:xfrm>
              <a:off x="1381125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4" name="Google Shape;794;p93"/>
            <p:cNvSpPr/>
            <p:nvPr/>
          </p:nvSpPr>
          <p:spPr>
            <a:xfrm>
              <a:off x="1381125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5" name="Google Shape;795;p93"/>
            <p:cNvSpPr/>
            <p:nvPr/>
          </p:nvSpPr>
          <p:spPr>
            <a:xfrm>
              <a:off x="1381125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6" name="Google Shape;796;p93"/>
            <p:cNvSpPr/>
            <p:nvPr/>
          </p:nvSpPr>
          <p:spPr>
            <a:xfrm>
              <a:off x="1381125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7" name="Google Shape;797;p93"/>
            <p:cNvSpPr/>
            <p:nvPr/>
          </p:nvSpPr>
          <p:spPr>
            <a:xfrm>
              <a:off x="1381125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8" name="Google Shape;798;p93"/>
            <p:cNvSpPr/>
            <p:nvPr/>
          </p:nvSpPr>
          <p:spPr>
            <a:xfrm>
              <a:off x="1381125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99" name="Google Shape;799;p93"/>
            <p:cNvSpPr/>
            <p:nvPr/>
          </p:nvSpPr>
          <p:spPr>
            <a:xfrm>
              <a:off x="1381125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0" name="Google Shape;800;p93"/>
            <p:cNvSpPr/>
            <p:nvPr/>
          </p:nvSpPr>
          <p:spPr>
            <a:xfrm>
              <a:off x="1381125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1" name="Google Shape;801;p93"/>
            <p:cNvSpPr/>
            <p:nvPr/>
          </p:nvSpPr>
          <p:spPr>
            <a:xfrm>
              <a:off x="1381125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2" name="Google Shape;802;p93"/>
            <p:cNvSpPr/>
            <p:nvPr/>
          </p:nvSpPr>
          <p:spPr>
            <a:xfrm>
              <a:off x="1381125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3" name="Google Shape;803;p93"/>
            <p:cNvSpPr/>
            <p:nvPr/>
          </p:nvSpPr>
          <p:spPr>
            <a:xfrm>
              <a:off x="1381125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4" name="Google Shape;804;p93"/>
            <p:cNvSpPr/>
            <p:nvPr/>
          </p:nvSpPr>
          <p:spPr>
            <a:xfrm>
              <a:off x="1381125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5" name="Google Shape;805;p93"/>
            <p:cNvSpPr/>
            <p:nvPr/>
          </p:nvSpPr>
          <p:spPr>
            <a:xfrm>
              <a:off x="1381125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6" name="Google Shape;806;p93"/>
            <p:cNvSpPr/>
            <p:nvPr/>
          </p:nvSpPr>
          <p:spPr>
            <a:xfrm>
              <a:off x="1381125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7" name="Google Shape;807;p93"/>
            <p:cNvSpPr/>
            <p:nvPr/>
          </p:nvSpPr>
          <p:spPr>
            <a:xfrm>
              <a:off x="1381125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8" name="Google Shape;808;p93"/>
            <p:cNvSpPr/>
            <p:nvPr/>
          </p:nvSpPr>
          <p:spPr>
            <a:xfrm>
              <a:off x="1381125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09" name="Google Shape;809;p93"/>
            <p:cNvSpPr/>
            <p:nvPr/>
          </p:nvSpPr>
          <p:spPr>
            <a:xfrm>
              <a:off x="1381125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0" name="Google Shape;810;p93"/>
            <p:cNvSpPr/>
            <p:nvPr/>
          </p:nvSpPr>
          <p:spPr>
            <a:xfrm>
              <a:off x="1381125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1" name="Google Shape;811;p93"/>
            <p:cNvSpPr/>
            <p:nvPr/>
          </p:nvSpPr>
          <p:spPr>
            <a:xfrm>
              <a:off x="1381125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812" name="Google Shape;812;p93"/>
          <p:cNvSpPr txBox="1"/>
          <p:nvPr/>
        </p:nvSpPr>
        <p:spPr>
          <a:xfrm>
            <a:off x="2942763" y="1539150"/>
            <a:ext cx="1876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reference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3" name="Google Shape;813;p93"/>
          <p:cNvGrpSpPr/>
          <p:nvPr/>
        </p:nvGrpSpPr>
        <p:grpSpPr>
          <a:xfrm>
            <a:off x="167021" y="979767"/>
            <a:ext cx="828000" cy="2672335"/>
            <a:chOff x="167021" y="979767"/>
            <a:chExt cx="828000" cy="2672335"/>
          </a:xfrm>
        </p:grpSpPr>
        <p:sp>
          <p:nvSpPr>
            <p:cNvPr id="814" name="Google Shape;814;p93"/>
            <p:cNvSpPr/>
            <p:nvPr/>
          </p:nvSpPr>
          <p:spPr>
            <a:xfrm>
              <a:off x="400050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5" name="Google Shape;815;p93"/>
            <p:cNvSpPr/>
            <p:nvPr/>
          </p:nvSpPr>
          <p:spPr>
            <a:xfrm>
              <a:off x="400050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6" name="Google Shape;816;p93"/>
            <p:cNvSpPr/>
            <p:nvPr/>
          </p:nvSpPr>
          <p:spPr>
            <a:xfrm>
              <a:off x="400050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7" name="Google Shape;817;p93"/>
            <p:cNvSpPr/>
            <p:nvPr/>
          </p:nvSpPr>
          <p:spPr>
            <a:xfrm>
              <a:off x="400050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8" name="Google Shape;818;p93"/>
            <p:cNvSpPr/>
            <p:nvPr/>
          </p:nvSpPr>
          <p:spPr>
            <a:xfrm>
              <a:off x="400050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19" name="Google Shape;819;p93"/>
            <p:cNvSpPr/>
            <p:nvPr/>
          </p:nvSpPr>
          <p:spPr>
            <a:xfrm>
              <a:off x="400050" y="2169873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0" name="Google Shape;820;p93"/>
            <p:cNvSpPr/>
            <p:nvPr/>
          </p:nvSpPr>
          <p:spPr>
            <a:xfrm>
              <a:off x="400050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1" name="Google Shape;821;p93"/>
            <p:cNvSpPr/>
            <p:nvPr/>
          </p:nvSpPr>
          <p:spPr>
            <a:xfrm>
              <a:off x="400050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2" name="Google Shape;822;p93"/>
            <p:cNvSpPr/>
            <p:nvPr/>
          </p:nvSpPr>
          <p:spPr>
            <a:xfrm>
              <a:off x="400050" y="2612257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3" name="Google Shape;823;p93"/>
            <p:cNvSpPr/>
            <p:nvPr/>
          </p:nvSpPr>
          <p:spPr>
            <a:xfrm>
              <a:off x="400050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4" name="Google Shape;824;p93"/>
            <p:cNvSpPr/>
            <p:nvPr/>
          </p:nvSpPr>
          <p:spPr>
            <a:xfrm>
              <a:off x="400050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5" name="Google Shape;825;p93"/>
            <p:cNvSpPr/>
            <p:nvPr/>
          </p:nvSpPr>
          <p:spPr>
            <a:xfrm>
              <a:off x="400050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6" name="Google Shape;826;p93"/>
            <p:cNvSpPr/>
            <p:nvPr/>
          </p:nvSpPr>
          <p:spPr>
            <a:xfrm>
              <a:off x="400050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7" name="Google Shape;827;p93"/>
            <p:cNvSpPr/>
            <p:nvPr/>
          </p:nvSpPr>
          <p:spPr>
            <a:xfrm>
              <a:off x="400050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8" name="Google Shape;828;p93"/>
            <p:cNvSpPr/>
            <p:nvPr/>
          </p:nvSpPr>
          <p:spPr>
            <a:xfrm>
              <a:off x="400050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29" name="Google Shape;829;p93"/>
            <p:cNvSpPr/>
            <p:nvPr/>
          </p:nvSpPr>
          <p:spPr>
            <a:xfrm>
              <a:off x="400050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0" name="Google Shape;830;p93"/>
            <p:cNvSpPr/>
            <p:nvPr/>
          </p:nvSpPr>
          <p:spPr>
            <a:xfrm>
              <a:off x="400050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1" name="Google Shape;831;p93"/>
            <p:cNvSpPr/>
            <p:nvPr/>
          </p:nvSpPr>
          <p:spPr>
            <a:xfrm>
              <a:off x="400050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2" name="Google Shape;832;p93"/>
            <p:cNvSpPr/>
            <p:nvPr/>
          </p:nvSpPr>
          <p:spPr>
            <a:xfrm>
              <a:off x="400050" y="1462058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3" name="Google Shape;833;p93"/>
            <p:cNvSpPr/>
            <p:nvPr/>
          </p:nvSpPr>
          <p:spPr>
            <a:xfrm>
              <a:off x="400050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4" name="Google Shape;834;p93"/>
            <p:cNvSpPr/>
            <p:nvPr/>
          </p:nvSpPr>
          <p:spPr>
            <a:xfrm>
              <a:off x="400050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5" name="Google Shape;835;p93"/>
            <p:cNvSpPr/>
            <p:nvPr/>
          </p:nvSpPr>
          <p:spPr>
            <a:xfrm>
              <a:off x="400050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6" name="Google Shape;836;p93"/>
            <p:cNvSpPr/>
            <p:nvPr/>
          </p:nvSpPr>
          <p:spPr>
            <a:xfrm>
              <a:off x="400050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7" name="Google Shape;837;p93"/>
            <p:cNvSpPr/>
            <p:nvPr/>
          </p:nvSpPr>
          <p:spPr>
            <a:xfrm>
              <a:off x="400050" y="2523780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8" name="Google Shape;838;p93"/>
            <p:cNvSpPr/>
            <p:nvPr/>
          </p:nvSpPr>
          <p:spPr>
            <a:xfrm>
              <a:off x="400050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39" name="Google Shape;839;p93"/>
            <p:cNvSpPr/>
            <p:nvPr/>
          </p:nvSpPr>
          <p:spPr>
            <a:xfrm>
              <a:off x="400050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0" name="Google Shape;840;p93"/>
            <p:cNvSpPr txBox="1"/>
            <p:nvPr/>
          </p:nvSpPr>
          <p:spPr>
            <a:xfrm>
              <a:off x="167021" y="979767"/>
              <a:ext cx="8280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Helvetica Neue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Raw reads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1" name="Google Shape;841;p93"/>
          <p:cNvSpPr txBox="1"/>
          <p:nvPr/>
        </p:nvSpPr>
        <p:spPr>
          <a:xfrm>
            <a:off x="2849475" y="2698975"/>
            <a:ext cx="21867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Genome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2" name="Google Shape;842;p93"/>
          <p:cNvGrpSpPr/>
          <p:nvPr/>
        </p:nvGrpSpPr>
        <p:grpSpPr>
          <a:xfrm>
            <a:off x="3013283" y="2081063"/>
            <a:ext cx="2186789" cy="594569"/>
            <a:chOff x="2557375" y="1471481"/>
            <a:chExt cx="2476825" cy="594569"/>
          </a:xfrm>
        </p:grpSpPr>
        <p:sp>
          <p:nvSpPr>
            <p:cNvPr id="843" name="Google Shape;843;p93"/>
            <p:cNvSpPr/>
            <p:nvPr/>
          </p:nvSpPr>
          <p:spPr>
            <a:xfrm>
              <a:off x="2709800" y="1587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4" name="Google Shape;844;p93"/>
            <p:cNvSpPr/>
            <p:nvPr/>
          </p:nvSpPr>
          <p:spPr>
            <a:xfrm>
              <a:off x="2557375" y="187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5" name="Google Shape;845;p93"/>
            <p:cNvSpPr/>
            <p:nvPr/>
          </p:nvSpPr>
          <p:spPr>
            <a:xfrm>
              <a:off x="268515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6" name="Google Shape;846;p93"/>
            <p:cNvSpPr/>
            <p:nvPr/>
          </p:nvSpPr>
          <p:spPr>
            <a:xfrm>
              <a:off x="2620850" y="1683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7" name="Google Shape;847;p93"/>
            <p:cNvSpPr/>
            <p:nvPr/>
          </p:nvSpPr>
          <p:spPr>
            <a:xfrm>
              <a:off x="2557375" y="19994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8" name="Google Shape;848;p93"/>
            <p:cNvSpPr/>
            <p:nvPr/>
          </p:nvSpPr>
          <p:spPr>
            <a:xfrm>
              <a:off x="3096063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49" name="Google Shape;849;p93"/>
            <p:cNvSpPr/>
            <p:nvPr/>
          </p:nvSpPr>
          <p:spPr>
            <a:xfrm>
              <a:off x="28810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0" name="Google Shape;850;p93"/>
            <p:cNvSpPr/>
            <p:nvPr/>
          </p:nvSpPr>
          <p:spPr>
            <a:xfrm>
              <a:off x="3719275" y="1471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1" name="Google Shape;851;p93"/>
            <p:cNvSpPr/>
            <p:nvPr/>
          </p:nvSpPr>
          <p:spPr>
            <a:xfrm>
              <a:off x="37236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2" name="Google Shape;852;p93"/>
            <p:cNvSpPr/>
            <p:nvPr/>
          </p:nvSpPr>
          <p:spPr>
            <a:xfrm>
              <a:off x="3653300" y="1661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3" name="Google Shape;853;p93"/>
            <p:cNvSpPr/>
            <p:nvPr/>
          </p:nvSpPr>
          <p:spPr>
            <a:xfrm>
              <a:off x="3775700" y="1566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4" name="Google Shape;854;p93"/>
            <p:cNvSpPr/>
            <p:nvPr/>
          </p:nvSpPr>
          <p:spPr>
            <a:xfrm>
              <a:off x="3202500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5" name="Google Shape;855;p93"/>
            <p:cNvSpPr/>
            <p:nvPr/>
          </p:nvSpPr>
          <p:spPr>
            <a:xfrm>
              <a:off x="3540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6" name="Google Shape;856;p93"/>
            <p:cNvSpPr/>
            <p:nvPr/>
          </p:nvSpPr>
          <p:spPr>
            <a:xfrm>
              <a:off x="42033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7" name="Google Shape;857;p93"/>
            <p:cNvSpPr/>
            <p:nvPr/>
          </p:nvSpPr>
          <p:spPr>
            <a:xfrm>
              <a:off x="300522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8" name="Google Shape;858;p93"/>
            <p:cNvSpPr/>
            <p:nvPr/>
          </p:nvSpPr>
          <p:spPr>
            <a:xfrm>
              <a:off x="3381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59" name="Google Shape;859;p93"/>
            <p:cNvSpPr/>
            <p:nvPr/>
          </p:nvSpPr>
          <p:spPr>
            <a:xfrm>
              <a:off x="40653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0" name="Google Shape;860;p93"/>
            <p:cNvSpPr/>
            <p:nvPr/>
          </p:nvSpPr>
          <p:spPr>
            <a:xfrm>
              <a:off x="474830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1" name="Google Shape;861;p93"/>
            <p:cNvSpPr/>
            <p:nvPr/>
          </p:nvSpPr>
          <p:spPr>
            <a:xfrm>
              <a:off x="4528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2" name="Google Shape;862;p93"/>
            <p:cNvSpPr/>
            <p:nvPr/>
          </p:nvSpPr>
          <p:spPr>
            <a:xfrm>
              <a:off x="4674100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3" name="Google Shape;863;p93"/>
            <p:cNvSpPr/>
            <p:nvPr/>
          </p:nvSpPr>
          <p:spPr>
            <a:xfrm>
              <a:off x="4748300" y="15863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4" name="Google Shape;864;p93"/>
            <p:cNvSpPr/>
            <p:nvPr/>
          </p:nvSpPr>
          <p:spPr>
            <a:xfrm>
              <a:off x="4443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5" name="Google Shape;865;p93"/>
            <p:cNvSpPr/>
            <p:nvPr/>
          </p:nvSpPr>
          <p:spPr>
            <a:xfrm>
              <a:off x="3995000" y="16583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866" name="Google Shape;866;p93"/>
          <p:cNvGrpSpPr/>
          <p:nvPr/>
        </p:nvGrpSpPr>
        <p:grpSpPr>
          <a:xfrm>
            <a:off x="3241872" y="4105750"/>
            <a:ext cx="2186767" cy="225525"/>
            <a:chOff x="6125625" y="2784200"/>
            <a:chExt cx="2476800" cy="225525"/>
          </a:xfrm>
        </p:grpSpPr>
        <p:sp>
          <p:nvSpPr>
            <p:cNvPr id="867" name="Google Shape;867;p93"/>
            <p:cNvSpPr/>
            <p:nvPr/>
          </p:nvSpPr>
          <p:spPr>
            <a:xfrm>
              <a:off x="6125625" y="2943125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68" name="Google Shape;868;p93"/>
            <p:cNvSpPr/>
            <p:nvPr/>
          </p:nvSpPr>
          <p:spPr>
            <a:xfrm>
              <a:off x="6125625" y="2784200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869" name="Google Shape;869;p93"/>
          <p:cNvSpPr/>
          <p:nvPr/>
        </p:nvSpPr>
        <p:spPr>
          <a:xfrm rot="5400000">
            <a:off x="57059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93"/>
          <p:cNvSpPr txBox="1"/>
          <p:nvPr/>
        </p:nvSpPr>
        <p:spPr>
          <a:xfrm>
            <a:off x="5492575" y="4014200"/>
            <a:ext cx="828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Consensus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871" name="Google Shape;871;p93"/>
          <p:cNvGrpSpPr/>
          <p:nvPr/>
        </p:nvGrpSpPr>
        <p:grpSpPr>
          <a:xfrm>
            <a:off x="6407498" y="1992925"/>
            <a:ext cx="2186789" cy="698700"/>
            <a:chOff x="2623813" y="3128950"/>
            <a:chExt cx="2476825" cy="698700"/>
          </a:xfrm>
        </p:grpSpPr>
        <p:sp>
          <p:nvSpPr>
            <p:cNvPr id="872" name="Google Shape;872;p93"/>
            <p:cNvSpPr/>
            <p:nvPr/>
          </p:nvSpPr>
          <p:spPr>
            <a:xfrm>
              <a:off x="2763738" y="333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3" name="Google Shape;873;p93"/>
            <p:cNvSpPr/>
            <p:nvPr/>
          </p:nvSpPr>
          <p:spPr>
            <a:xfrm>
              <a:off x="2623813" y="3619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4" name="Google Shape;874;p93"/>
            <p:cNvSpPr/>
            <p:nvPr/>
          </p:nvSpPr>
          <p:spPr>
            <a:xfrm>
              <a:off x="275158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5" name="Google Shape;875;p93"/>
            <p:cNvSpPr/>
            <p:nvPr/>
          </p:nvSpPr>
          <p:spPr>
            <a:xfrm>
              <a:off x="2687288" y="3428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6" name="Google Shape;876;p93"/>
            <p:cNvSpPr/>
            <p:nvPr/>
          </p:nvSpPr>
          <p:spPr>
            <a:xfrm>
              <a:off x="2623813" y="374520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7" name="Google Shape;877;p93"/>
            <p:cNvSpPr/>
            <p:nvPr/>
          </p:nvSpPr>
          <p:spPr>
            <a:xfrm>
              <a:off x="3162500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8" name="Google Shape;878;p93"/>
            <p:cNvSpPr/>
            <p:nvPr/>
          </p:nvSpPr>
          <p:spPr>
            <a:xfrm>
              <a:off x="29475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79" name="Google Shape;879;p93"/>
            <p:cNvSpPr/>
            <p:nvPr/>
          </p:nvSpPr>
          <p:spPr>
            <a:xfrm>
              <a:off x="3785713" y="3217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0" name="Google Shape;880;p93"/>
            <p:cNvSpPr/>
            <p:nvPr/>
          </p:nvSpPr>
          <p:spPr>
            <a:xfrm>
              <a:off x="37901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1" name="Google Shape;881;p93"/>
            <p:cNvSpPr/>
            <p:nvPr/>
          </p:nvSpPr>
          <p:spPr>
            <a:xfrm>
              <a:off x="3719738" y="3407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2" name="Google Shape;882;p93"/>
            <p:cNvSpPr/>
            <p:nvPr/>
          </p:nvSpPr>
          <p:spPr>
            <a:xfrm>
              <a:off x="3842138" y="3312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3" name="Google Shape;883;p93"/>
            <p:cNvSpPr/>
            <p:nvPr/>
          </p:nvSpPr>
          <p:spPr>
            <a:xfrm>
              <a:off x="3268938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4" name="Google Shape;884;p93"/>
            <p:cNvSpPr/>
            <p:nvPr/>
          </p:nvSpPr>
          <p:spPr>
            <a:xfrm>
              <a:off x="3607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5" name="Google Shape;885;p93"/>
            <p:cNvSpPr/>
            <p:nvPr/>
          </p:nvSpPr>
          <p:spPr>
            <a:xfrm>
              <a:off x="42698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6" name="Google Shape;886;p93"/>
            <p:cNvSpPr/>
            <p:nvPr/>
          </p:nvSpPr>
          <p:spPr>
            <a:xfrm>
              <a:off x="307166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7" name="Google Shape;887;p93"/>
            <p:cNvSpPr/>
            <p:nvPr/>
          </p:nvSpPr>
          <p:spPr>
            <a:xfrm>
              <a:off x="3448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8" name="Google Shape;888;p93"/>
            <p:cNvSpPr/>
            <p:nvPr/>
          </p:nvSpPr>
          <p:spPr>
            <a:xfrm>
              <a:off x="41318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9" name="Google Shape;889;p93"/>
            <p:cNvSpPr/>
            <p:nvPr/>
          </p:nvSpPr>
          <p:spPr>
            <a:xfrm>
              <a:off x="481473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0" name="Google Shape;890;p93"/>
            <p:cNvSpPr/>
            <p:nvPr/>
          </p:nvSpPr>
          <p:spPr>
            <a:xfrm>
              <a:off x="4595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1" name="Google Shape;891;p93"/>
            <p:cNvSpPr/>
            <p:nvPr/>
          </p:nvSpPr>
          <p:spPr>
            <a:xfrm>
              <a:off x="4740538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2" name="Google Shape;892;p93"/>
            <p:cNvSpPr/>
            <p:nvPr/>
          </p:nvSpPr>
          <p:spPr>
            <a:xfrm>
              <a:off x="4814738" y="33321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3" name="Google Shape;893;p93"/>
            <p:cNvSpPr/>
            <p:nvPr/>
          </p:nvSpPr>
          <p:spPr>
            <a:xfrm>
              <a:off x="4510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4" name="Google Shape;894;p93"/>
            <p:cNvSpPr/>
            <p:nvPr/>
          </p:nvSpPr>
          <p:spPr>
            <a:xfrm>
              <a:off x="4061438" y="34040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5" name="Google Shape;895;p93"/>
            <p:cNvSpPr/>
            <p:nvPr/>
          </p:nvSpPr>
          <p:spPr>
            <a:xfrm>
              <a:off x="275084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6" name="Google Shape;896;p93"/>
            <p:cNvSpPr/>
            <p:nvPr/>
          </p:nvSpPr>
          <p:spPr>
            <a:xfrm>
              <a:off x="3272255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7" name="Google Shape;897;p93"/>
            <p:cNvSpPr/>
            <p:nvPr/>
          </p:nvSpPr>
          <p:spPr>
            <a:xfrm>
              <a:off x="361533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8" name="Google Shape;898;p93"/>
            <p:cNvSpPr/>
            <p:nvPr/>
          </p:nvSpPr>
          <p:spPr>
            <a:xfrm>
              <a:off x="426518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9" name="Google Shape;899;p93"/>
            <p:cNvSpPr/>
            <p:nvPr/>
          </p:nvSpPr>
          <p:spPr>
            <a:xfrm>
              <a:off x="481615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900" name="Google Shape;900;p93"/>
            <p:cNvCxnSpPr/>
            <p:nvPr/>
          </p:nvCxnSpPr>
          <p:spPr>
            <a:xfrm rot="10800000">
              <a:off x="275427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1" name="Google Shape;901;p93"/>
            <p:cNvCxnSpPr/>
            <p:nvPr/>
          </p:nvCxnSpPr>
          <p:spPr>
            <a:xfrm rot="10800000">
              <a:off x="28583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2" name="Google Shape;902;p93"/>
            <p:cNvCxnSpPr/>
            <p:nvPr/>
          </p:nvCxnSpPr>
          <p:spPr>
            <a:xfrm rot="10800000">
              <a:off x="32680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3" name="Google Shape;903;p93"/>
            <p:cNvCxnSpPr/>
            <p:nvPr/>
          </p:nvCxnSpPr>
          <p:spPr>
            <a:xfrm rot="10800000">
              <a:off x="33730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4" name="Google Shape;904;p93"/>
            <p:cNvCxnSpPr/>
            <p:nvPr/>
          </p:nvCxnSpPr>
          <p:spPr>
            <a:xfrm rot="10800000">
              <a:off x="36139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5" name="Google Shape;905;p93"/>
            <p:cNvCxnSpPr/>
            <p:nvPr/>
          </p:nvCxnSpPr>
          <p:spPr>
            <a:xfrm rot="10800000">
              <a:off x="37266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6" name="Google Shape;906;p93"/>
            <p:cNvCxnSpPr/>
            <p:nvPr/>
          </p:nvCxnSpPr>
          <p:spPr>
            <a:xfrm rot="10800000">
              <a:off x="42692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7" name="Google Shape;907;p93"/>
            <p:cNvCxnSpPr/>
            <p:nvPr/>
          </p:nvCxnSpPr>
          <p:spPr>
            <a:xfrm rot="10800000">
              <a:off x="4373288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8" name="Google Shape;908;p93"/>
            <p:cNvCxnSpPr/>
            <p:nvPr/>
          </p:nvCxnSpPr>
          <p:spPr>
            <a:xfrm rot="10800000">
              <a:off x="481522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909" name="Google Shape;909;p93"/>
            <p:cNvCxnSpPr/>
            <p:nvPr/>
          </p:nvCxnSpPr>
          <p:spPr>
            <a:xfrm rot="10800000">
              <a:off x="49205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910" name="Google Shape;910;p93"/>
            <p:cNvSpPr/>
            <p:nvPr/>
          </p:nvSpPr>
          <p:spPr>
            <a:xfrm>
              <a:off x="481615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1" name="Google Shape;911;p93"/>
            <p:cNvSpPr/>
            <p:nvPr/>
          </p:nvSpPr>
          <p:spPr>
            <a:xfrm>
              <a:off x="4816152" y="33321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2" name="Google Shape;912;p93"/>
            <p:cNvSpPr/>
            <p:nvPr/>
          </p:nvSpPr>
          <p:spPr>
            <a:xfrm>
              <a:off x="4265180" y="362365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3" name="Google Shape;913;p93"/>
            <p:cNvSpPr/>
            <p:nvPr/>
          </p:nvSpPr>
          <p:spPr>
            <a:xfrm>
              <a:off x="3615330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4" name="Google Shape;914;p93"/>
            <p:cNvSpPr/>
            <p:nvPr/>
          </p:nvSpPr>
          <p:spPr>
            <a:xfrm>
              <a:off x="3272255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5" name="Google Shape;915;p93"/>
            <p:cNvSpPr/>
            <p:nvPr/>
          </p:nvSpPr>
          <p:spPr>
            <a:xfrm>
              <a:off x="275084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16" name="Google Shape;916;p93"/>
            <p:cNvSpPr/>
            <p:nvPr/>
          </p:nvSpPr>
          <p:spPr>
            <a:xfrm>
              <a:off x="2750842" y="33335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917" name="Google Shape;917;p93"/>
          <p:cNvGrpSpPr/>
          <p:nvPr/>
        </p:nvGrpSpPr>
        <p:grpSpPr>
          <a:xfrm>
            <a:off x="6384533" y="3592513"/>
            <a:ext cx="2307855" cy="914400"/>
            <a:chOff x="5102488" y="2899700"/>
            <a:chExt cx="2600400" cy="914400"/>
          </a:xfrm>
        </p:grpSpPr>
        <p:sp>
          <p:nvSpPr>
            <p:cNvPr id="918" name="Google Shape;918;p93"/>
            <p:cNvSpPr/>
            <p:nvPr/>
          </p:nvSpPr>
          <p:spPr>
            <a:xfrm>
              <a:off x="5102488" y="2899700"/>
              <a:ext cx="26004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9" name="Google Shape;919;p93"/>
            <p:cNvGrpSpPr/>
            <p:nvPr/>
          </p:nvGrpSpPr>
          <p:grpSpPr>
            <a:xfrm>
              <a:off x="5164263" y="3031369"/>
              <a:ext cx="2476832" cy="594569"/>
              <a:chOff x="5452738" y="3217231"/>
              <a:chExt cx="2476832" cy="594569"/>
            </a:xfrm>
          </p:grpSpPr>
          <p:sp>
            <p:nvSpPr>
              <p:cNvPr id="920" name="Google Shape;920;p93"/>
              <p:cNvSpPr/>
              <p:nvPr/>
            </p:nvSpPr>
            <p:spPr>
              <a:xfrm>
                <a:off x="5687271" y="3333525"/>
                <a:ext cx="1914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1" name="Google Shape;921;p93"/>
              <p:cNvSpPr/>
              <p:nvPr/>
            </p:nvSpPr>
            <p:spPr>
              <a:xfrm>
                <a:off x="5452738" y="36192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2" name="Google Shape;922;p93"/>
              <p:cNvSpPr/>
              <p:nvPr/>
            </p:nvSpPr>
            <p:spPr>
              <a:xfrm>
                <a:off x="56872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3" name="Google Shape;923;p93"/>
              <p:cNvSpPr/>
              <p:nvPr/>
            </p:nvSpPr>
            <p:spPr>
              <a:xfrm>
                <a:off x="5516213" y="34287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4" name="Google Shape;924;p93"/>
              <p:cNvSpPr/>
              <p:nvPr/>
            </p:nvSpPr>
            <p:spPr>
              <a:xfrm>
                <a:off x="5452738" y="3745200"/>
                <a:ext cx="2476800" cy="66600"/>
              </a:xfrm>
              <a:prstGeom prst="rect">
                <a:avLst/>
              </a:prstGeom>
              <a:solidFill>
                <a:srgbClr val="0076B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5" name="Google Shape;925;p93"/>
              <p:cNvSpPr/>
              <p:nvPr/>
            </p:nvSpPr>
            <p:spPr>
              <a:xfrm>
                <a:off x="5991425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6" name="Google Shape;926;p93"/>
              <p:cNvSpPr/>
              <p:nvPr/>
            </p:nvSpPr>
            <p:spPr>
              <a:xfrm>
                <a:off x="57764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7" name="Google Shape;927;p93"/>
              <p:cNvSpPr/>
              <p:nvPr/>
            </p:nvSpPr>
            <p:spPr>
              <a:xfrm>
                <a:off x="6614638" y="32172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8" name="Google Shape;928;p93"/>
              <p:cNvSpPr/>
              <p:nvPr/>
            </p:nvSpPr>
            <p:spPr>
              <a:xfrm>
                <a:off x="66190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29" name="Google Shape;929;p93"/>
              <p:cNvSpPr/>
              <p:nvPr/>
            </p:nvSpPr>
            <p:spPr>
              <a:xfrm>
                <a:off x="6548663" y="34077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0" name="Google Shape;930;p93"/>
              <p:cNvSpPr/>
              <p:nvPr/>
            </p:nvSpPr>
            <p:spPr>
              <a:xfrm>
                <a:off x="6671063" y="33124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1" name="Google Shape;931;p93"/>
              <p:cNvSpPr/>
              <p:nvPr/>
            </p:nvSpPr>
            <p:spPr>
              <a:xfrm>
                <a:off x="6204670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2" name="Google Shape;932;p93"/>
              <p:cNvSpPr/>
              <p:nvPr/>
            </p:nvSpPr>
            <p:spPr>
              <a:xfrm>
                <a:off x="6563244" y="3619975"/>
                <a:ext cx="1587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3" name="Google Shape;933;p93"/>
              <p:cNvSpPr/>
              <p:nvPr/>
            </p:nvSpPr>
            <p:spPr>
              <a:xfrm>
                <a:off x="7205545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4" name="Google Shape;934;p93"/>
              <p:cNvSpPr/>
              <p:nvPr/>
            </p:nvSpPr>
            <p:spPr>
              <a:xfrm>
                <a:off x="590058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5" name="Google Shape;935;p93"/>
              <p:cNvSpPr/>
              <p:nvPr/>
            </p:nvSpPr>
            <p:spPr>
              <a:xfrm>
                <a:off x="6277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6" name="Google Shape;936;p93"/>
              <p:cNvSpPr/>
              <p:nvPr/>
            </p:nvSpPr>
            <p:spPr>
              <a:xfrm>
                <a:off x="69607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7" name="Google Shape;937;p93"/>
              <p:cNvSpPr/>
              <p:nvPr/>
            </p:nvSpPr>
            <p:spPr>
              <a:xfrm>
                <a:off x="77504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8" name="Google Shape;938;p93"/>
              <p:cNvSpPr/>
              <p:nvPr/>
            </p:nvSpPr>
            <p:spPr>
              <a:xfrm>
                <a:off x="74241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39" name="Google Shape;939;p93"/>
              <p:cNvSpPr/>
              <p:nvPr/>
            </p:nvSpPr>
            <p:spPr>
              <a:xfrm>
                <a:off x="7569463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40" name="Google Shape;940;p93"/>
              <p:cNvSpPr/>
              <p:nvPr/>
            </p:nvSpPr>
            <p:spPr>
              <a:xfrm>
                <a:off x="7750470" y="33321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41" name="Google Shape;941;p93"/>
              <p:cNvSpPr/>
              <p:nvPr/>
            </p:nvSpPr>
            <p:spPr>
              <a:xfrm>
                <a:off x="7339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942" name="Google Shape;942;p93"/>
              <p:cNvSpPr/>
              <p:nvPr/>
            </p:nvSpPr>
            <p:spPr>
              <a:xfrm>
                <a:off x="6890363" y="34040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943" name="Google Shape;943;p93"/>
          <p:cNvSpPr/>
          <p:nvPr/>
        </p:nvSpPr>
        <p:spPr>
          <a:xfrm>
            <a:off x="7418625" y="2909263"/>
            <a:ext cx="357000" cy="544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" name="Google Shape;944;p93"/>
          <p:cNvGrpSpPr/>
          <p:nvPr/>
        </p:nvGrpSpPr>
        <p:grpSpPr>
          <a:xfrm>
            <a:off x="261415" y="4105738"/>
            <a:ext cx="2186767" cy="225525"/>
            <a:chOff x="6125625" y="1600925"/>
            <a:chExt cx="2476800" cy="225525"/>
          </a:xfrm>
        </p:grpSpPr>
        <p:sp>
          <p:nvSpPr>
            <p:cNvPr id="945" name="Google Shape;945;p93"/>
            <p:cNvSpPr/>
            <p:nvPr/>
          </p:nvSpPr>
          <p:spPr>
            <a:xfrm>
              <a:off x="6125625" y="17598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6" name="Google Shape;946;p93"/>
            <p:cNvSpPr/>
            <p:nvPr/>
          </p:nvSpPr>
          <p:spPr>
            <a:xfrm>
              <a:off x="6125625" y="1600925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7" name="Google Shape;947;p93"/>
            <p:cNvSpPr/>
            <p:nvPr/>
          </p:nvSpPr>
          <p:spPr>
            <a:xfrm>
              <a:off x="6515761" y="1600938"/>
              <a:ext cx="53400" cy="66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8" name="Google Shape;948;p93"/>
            <p:cNvSpPr/>
            <p:nvPr/>
          </p:nvSpPr>
          <p:spPr>
            <a:xfrm>
              <a:off x="6631297" y="1600938"/>
              <a:ext cx="53400" cy="66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49" name="Google Shape;949;p93"/>
            <p:cNvSpPr/>
            <p:nvPr/>
          </p:nvSpPr>
          <p:spPr>
            <a:xfrm>
              <a:off x="7826641" y="1600938"/>
              <a:ext cx="53400" cy="66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50" name="Google Shape;950;p93"/>
          <p:cNvSpPr txBox="1"/>
          <p:nvPr/>
        </p:nvSpPr>
        <p:spPr>
          <a:xfrm>
            <a:off x="3066375" y="3748750"/>
            <a:ext cx="175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Consensus Sequence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93"/>
          <p:cNvSpPr/>
          <p:nvPr/>
        </p:nvSpPr>
        <p:spPr>
          <a:xfrm>
            <a:off x="555105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Trim Primers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3"/>
          <p:cNvSpPr/>
          <p:nvPr/>
        </p:nvSpPr>
        <p:spPr>
          <a:xfrm rot="5400000">
            <a:off x="26615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93"/>
          <p:cNvSpPr txBox="1"/>
          <p:nvPr/>
        </p:nvSpPr>
        <p:spPr>
          <a:xfrm>
            <a:off x="2524375" y="4014200"/>
            <a:ext cx="654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Variants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4" name="Google Shape;954;p93"/>
          <p:cNvSpPr/>
          <p:nvPr/>
        </p:nvSpPr>
        <p:spPr>
          <a:xfrm>
            <a:off x="167025" y="3748750"/>
            <a:ext cx="6105600" cy="10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93"/>
          <p:cNvSpPr/>
          <p:nvPr/>
        </p:nvSpPr>
        <p:spPr>
          <a:xfrm>
            <a:off x="7979100" y="0"/>
            <a:ext cx="1164900" cy="69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6" name="Google Shape;956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0" y="59667"/>
            <a:ext cx="995022" cy="3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93"/>
          <p:cNvSpPr/>
          <p:nvPr/>
        </p:nvSpPr>
        <p:spPr>
          <a:xfrm>
            <a:off x="770625" y="2230525"/>
            <a:ext cx="5826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QC/ H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uman Read</a:t>
            </a: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Removal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93"/>
          <p:cNvSpPr txBox="1"/>
          <p:nvPr/>
        </p:nvSpPr>
        <p:spPr>
          <a:xfrm>
            <a:off x="1845675" y="65911"/>
            <a:ext cx="59286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Genome</a:t>
            </a:r>
            <a:r>
              <a:rPr lang="en" sz="2800">
                <a:solidFill>
                  <a:schemeClr val="dk1"/>
                </a:solidFill>
              </a:rPr>
              <a:t> Assembly Pipeline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93"/>
          <p:cNvSpPr txBox="1"/>
          <p:nvPr/>
        </p:nvSpPr>
        <p:spPr>
          <a:xfrm>
            <a:off x="1614074" y="4184550"/>
            <a:ext cx="5140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Notes: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Software for trimming primers (soft-clipping): </a:t>
            </a:r>
            <a:r>
              <a:rPr lang="en" u="sng">
                <a:solidFill>
                  <a:schemeClr val="hlink"/>
                </a:solidFill>
                <a:hlinkClick r:id="rId4"/>
              </a:rPr>
              <a:t>iVar</a:t>
            </a:r>
            <a:endParaRPr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94"/>
          <p:cNvSpPr/>
          <p:nvPr/>
        </p:nvSpPr>
        <p:spPr>
          <a:xfrm>
            <a:off x="191850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5" name="Google Shape;965;p94"/>
          <p:cNvGrpSpPr/>
          <p:nvPr/>
        </p:nvGrpSpPr>
        <p:grpSpPr>
          <a:xfrm>
            <a:off x="1457325" y="1373581"/>
            <a:ext cx="285900" cy="2278521"/>
            <a:chOff x="1381125" y="1373581"/>
            <a:chExt cx="285900" cy="2278521"/>
          </a:xfrm>
        </p:grpSpPr>
        <p:sp>
          <p:nvSpPr>
            <p:cNvPr id="966" name="Google Shape;966;p94"/>
            <p:cNvSpPr/>
            <p:nvPr/>
          </p:nvSpPr>
          <p:spPr>
            <a:xfrm>
              <a:off x="1381125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7" name="Google Shape;967;p94"/>
            <p:cNvSpPr/>
            <p:nvPr/>
          </p:nvSpPr>
          <p:spPr>
            <a:xfrm>
              <a:off x="1381125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8" name="Google Shape;968;p94"/>
            <p:cNvSpPr/>
            <p:nvPr/>
          </p:nvSpPr>
          <p:spPr>
            <a:xfrm>
              <a:off x="1381125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69" name="Google Shape;969;p94"/>
            <p:cNvSpPr/>
            <p:nvPr/>
          </p:nvSpPr>
          <p:spPr>
            <a:xfrm>
              <a:off x="1381125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0" name="Google Shape;970;p94"/>
            <p:cNvSpPr/>
            <p:nvPr/>
          </p:nvSpPr>
          <p:spPr>
            <a:xfrm>
              <a:off x="1381125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1" name="Google Shape;971;p94"/>
            <p:cNvSpPr/>
            <p:nvPr/>
          </p:nvSpPr>
          <p:spPr>
            <a:xfrm>
              <a:off x="1381125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2" name="Google Shape;972;p94"/>
            <p:cNvSpPr/>
            <p:nvPr/>
          </p:nvSpPr>
          <p:spPr>
            <a:xfrm>
              <a:off x="1381125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3" name="Google Shape;973;p94"/>
            <p:cNvSpPr/>
            <p:nvPr/>
          </p:nvSpPr>
          <p:spPr>
            <a:xfrm>
              <a:off x="1381125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4" name="Google Shape;974;p94"/>
            <p:cNvSpPr/>
            <p:nvPr/>
          </p:nvSpPr>
          <p:spPr>
            <a:xfrm>
              <a:off x="1381125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5" name="Google Shape;975;p94"/>
            <p:cNvSpPr/>
            <p:nvPr/>
          </p:nvSpPr>
          <p:spPr>
            <a:xfrm>
              <a:off x="1381125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6" name="Google Shape;976;p94"/>
            <p:cNvSpPr/>
            <p:nvPr/>
          </p:nvSpPr>
          <p:spPr>
            <a:xfrm>
              <a:off x="1381125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7" name="Google Shape;977;p94"/>
            <p:cNvSpPr/>
            <p:nvPr/>
          </p:nvSpPr>
          <p:spPr>
            <a:xfrm>
              <a:off x="1381125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8" name="Google Shape;978;p94"/>
            <p:cNvSpPr/>
            <p:nvPr/>
          </p:nvSpPr>
          <p:spPr>
            <a:xfrm>
              <a:off x="1381125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79" name="Google Shape;979;p94"/>
            <p:cNvSpPr/>
            <p:nvPr/>
          </p:nvSpPr>
          <p:spPr>
            <a:xfrm>
              <a:off x="1381125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0" name="Google Shape;980;p94"/>
            <p:cNvSpPr/>
            <p:nvPr/>
          </p:nvSpPr>
          <p:spPr>
            <a:xfrm>
              <a:off x="1381125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1" name="Google Shape;981;p94"/>
            <p:cNvSpPr/>
            <p:nvPr/>
          </p:nvSpPr>
          <p:spPr>
            <a:xfrm>
              <a:off x="1381125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2" name="Google Shape;982;p94"/>
            <p:cNvSpPr/>
            <p:nvPr/>
          </p:nvSpPr>
          <p:spPr>
            <a:xfrm>
              <a:off x="1381125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3" name="Google Shape;983;p94"/>
            <p:cNvSpPr/>
            <p:nvPr/>
          </p:nvSpPr>
          <p:spPr>
            <a:xfrm>
              <a:off x="1381125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4" name="Google Shape;984;p94"/>
            <p:cNvSpPr/>
            <p:nvPr/>
          </p:nvSpPr>
          <p:spPr>
            <a:xfrm>
              <a:off x="1381125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5" name="Google Shape;985;p94"/>
            <p:cNvSpPr/>
            <p:nvPr/>
          </p:nvSpPr>
          <p:spPr>
            <a:xfrm>
              <a:off x="1381125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6" name="Google Shape;986;p94"/>
            <p:cNvSpPr/>
            <p:nvPr/>
          </p:nvSpPr>
          <p:spPr>
            <a:xfrm>
              <a:off x="1381125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87" name="Google Shape;987;p94"/>
            <p:cNvSpPr/>
            <p:nvPr/>
          </p:nvSpPr>
          <p:spPr>
            <a:xfrm>
              <a:off x="1381125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988" name="Google Shape;988;p94"/>
          <p:cNvSpPr txBox="1"/>
          <p:nvPr/>
        </p:nvSpPr>
        <p:spPr>
          <a:xfrm>
            <a:off x="2942763" y="1539150"/>
            <a:ext cx="1876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reference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9" name="Google Shape;989;p94"/>
          <p:cNvGrpSpPr/>
          <p:nvPr/>
        </p:nvGrpSpPr>
        <p:grpSpPr>
          <a:xfrm>
            <a:off x="167021" y="979767"/>
            <a:ext cx="828000" cy="2672335"/>
            <a:chOff x="167021" y="979767"/>
            <a:chExt cx="828000" cy="2672335"/>
          </a:xfrm>
        </p:grpSpPr>
        <p:sp>
          <p:nvSpPr>
            <p:cNvPr id="990" name="Google Shape;990;p94"/>
            <p:cNvSpPr/>
            <p:nvPr/>
          </p:nvSpPr>
          <p:spPr>
            <a:xfrm>
              <a:off x="400050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1" name="Google Shape;991;p94"/>
            <p:cNvSpPr/>
            <p:nvPr/>
          </p:nvSpPr>
          <p:spPr>
            <a:xfrm>
              <a:off x="400050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2" name="Google Shape;992;p94"/>
            <p:cNvSpPr/>
            <p:nvPr/>
          </p:nvSpPr>
          <p:spPr>
            <a:xfrm>
              <a:off x="400050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3" name="Google Shape;993;p94"/>
            <p:cNvSpPr/>
            <p:nvPr/>
          </p:nvSpPr>
          <p:spPr>
            <a:xfrm>
              <a:off x="400050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4" name="Google Shape;994;p94"/>
            <p:cNvSpPr/>
            <p:nvPr/>
          </p:nvSpPr>
          <p:spPr>
            <a:xfrm>
              <a:off x="400050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5" name="Google Shape;995;p94"/>
            <p:cNvSpPr/>
            <p:nvPr/>
          </p:nvSpPr>
          <p:spPr>
            <a:xfrm>
              <a:off x="400050" y="2169873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6" name="Google Shape;996;p94"/>
            <p:cNvSpPr/>
            <p:nvPr/>
          </p:nvSpPr>
          <p:spPr>
            <a:xfrm>
              <a:off x="400050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7" name="Google Shape;997;p94"/>
            <p:cNvSpPr/>
            <p:nvPr/>
          </p:nvSpPr>
          <p:spPr>
            <a:xfrm>
              <a:off x="400050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8" name="Google Shape;998;p94"/>
            <p:cNvSpPr/>
            <p:nvPr/>
          </p:nvSpPr>
          <p:spPr>
            <a:xfrm>
              <a:off x="400050" y="2612257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99" name="Google Shape;999;p94"/>
            <p:cNvSpPr/>
            <p:nvPr/>
          </p:nvSpPr>
          <p:spPr>
            <a:xfrm>
              <a:off x="400050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0" name="Google Shape;1000;p94"/>
            <p:cNvSpPr/>
            <p:nvPr/>
          </p:nvSpPr>
          <p:spPr>
            <a:xfrm>
              <a:off x="400050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1" name="Google Shape;1001;p94"/>
            <p:cNvSpPr/>
            <p:nvPr/>
          </p:nvSpPr>
          <p:spPr>
            <a:xfrm>
              <a:off x="400050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2" name="Google Shape;1002;p94"/>
            <p:cNvSpPr/>
            <p:nvPr/>
          </p:nvSpPr>
          <p:spPr>
            <a:xfrm>
              <a:off x="400050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3" name="Google Shape;1003;p94"/>
            <p:cNvSpPr/>
            <p:nvPr/>
          </p:nvSpPr>
          <p:spPr>
            <a:xfrm>
              <a:off x="400050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4" name="Google Shape;1004;p94"/>
            <p:cNvSpPr/>
            <p:nvPr/>
          </p:nvSpPr>
          <p:spPr>
            <a:xfrm>
              <a:off x="400050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5" name="Google Shape;1005;p94"/>
            <p:cNvSpPr/>
            <p:nvPr/>
          </p:nvSpPr>
          <p:spPr>
            <a:xfrm>
              <a:off x="400050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6" name="Google Shape;1006;p94"/>
            <p:cNvSpPr/>
            <p:nvPr/>
          </p:nvSpPr>
          <p:spPr>
            <a:xfrm>
              <a:off x="400050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7" name="Google Shape;1007;p94"/>
            <p:cNvSpPr/>
            <p:nvPr/>
          </p:nvSpPr>
          <p:spPr>
            <a:xfrm>
              <a:off x="400050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8" name="Google Shape;1008;p94"/>
            <p:cNvSpPr/>
            <p:nvPr/>
          </p:nvSpPr>
          <p:spPr>
            <a:xfrm>
              <a:off x="400050" y="1462058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09" name="Google Shape;1009;p94"/>
            <p:cNvSpPr/>
            <p:nvPr/>
          </p:nvSpPr>
          <p:spPr>
            <a:xfrm>
              <a:off x="400050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0" name="Google Shape;1010;p94"/>
            <p:cNvSpPr/>
            <p:nvPr/>
          </p:nvSpPr>
          <p:spPr>
            <a:xfrm>
              <a:off x="400050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1" name="Google Shape;1011;p94"/>
            <p:cNvSpPr/>
            <p:nvPr/>
          </p:nvSpPr>
          <p:spPr>
            <a:xfrm>
              <a:off x="400050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2" name="Google Shape;1012;p94"/>
            <p:cNvSpPr/>
            <p:nvPr/>
          </p:nvSpPr>
          <p:spPr>
            <a:xfrm>
              <a:off x="400050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3" name="Google Shape;1013;p94"/>
            <p:cNvSpPr/>
            <p:nvPr/>
          </p:nvSpPr>
          <p:spPr>
            <a:xfrm>
              <a:off x="400050" y="2523780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4" name="Google Shape;1014;p94"/>
            <p:cNvSpPr/>
            <p:nvPr/>
          </p:nvSpPr>
          <p:spPr>
            <a:xfrm>
              <a:off x="400050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5" name="Google Shape;1015;p94"/>
            <p:cNvSpPr/>
            <p:nvPr/>
          </p:nvSpPr>
          <p:spPr>
            <a:xfrm>
              <a:off x="400050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16" name="Google Shape;1016;p94"/>
            <p:cNvSpPr txBox="1"/>
            <p:nvPr/>
          </p:nvSpPr>
          <p:spPr>
            <a:xfrm>
              <a:off x="167021" y="979767"/>
              <a:ext cx="8280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Helvetica Neue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Raw reads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7" name="Google Shape;1017;p94"/>
          <p:cNvSpPr txBox="1"/>
          <p:nvPr/>
        </p:nvSpPr>
        <p:spPr>
          <a:xfrm>
            <a:off x="2849475" y="2698975"/>
            <a:ext cx="21867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Genome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8" name="Google Shape;1018;p94"/>
          <p:cNvGrpSpPr/>
          <p:nvPr/>
        </p:nvGrpSpPr>
        <p:grpSpPr>
          <a:xfrm>
            <a:off x="3013283" y="2081063"/>
            <a:ext cx="2186789" cy="594569"/>
            <a:chOff x="2557375" y="1471481"/>
            <a:chExt cx="2476825" cy="594569"/>
          </a:xfrm>
        </p:grpSpPr>
        <p:sp>
          <p:nvSpPr>
            <p:cNvPr id="1019" name="Google Shape;1019;p94"/>
            <p:cNvSpPr/>
            <p:nvPr/>
          </p:nvSpPr>
          <p:spPr>
            <a:xfrm>
              <a:off x="2709800" y="1587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0" name="Google Shape;1020;p94"/>
            <p:cNvSpPr/>
            <p:nvPr/>
          </p:nvSpPr>
          <p:spPr>
            <a:xfrm>
              <a:off x="2557375" y="187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1" name="Google Shape;1021;p94"/>
            <p:cNvSpPr/>
            <p:nvPr/>
          </p:nvSpPr>
          <p:spPr>
            <a:xfrm>
              <a:off x="268515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2" name="Google Shape;1022;p94"/>
            <p:cNvSpPr/>
            <p:nvPr/>
          </p:nvSpPr>
          <p:spPr>
            <a:xfrm>
              <a:off x="2620850" y="1683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3" name="Google Shape;1023;p94"/>
            <p:cNvSpPr/>
            <p:nvPr/>
          </p:nvSpPr>
          <p:spPr>
            <a:xfrm>
              <a:off x="2557375" y="19994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4" name="Google Shape;1024;p94"/>
            <p:cNvSpPr/>
            <p:nvPr/>
          </p:nvSpPr>
          <p:spPr>
            <a:xfrm>
              <a:off x="3096063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5" name="Google Shape;1025;p94"/>
            <p:cNvSpPr/>
            <p:nvPr/>
          </p:nvSpPr>
          <p:spPr>
            <a:xfrm>
              <a:off x="28810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6" name="Google Shape;1026;p94"/>
            <p:cNvSpPr/>
            <p:nvPr/>
          </p:nvSpPr>
          <p:spPr>
            <a:xfrm>
              <a:off x="3719275" y="1471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7" name="Google Shape;1027;p94"/>
            <p:cNvSpPr/>
            <p:nvPr/>
          </p:nvSpPr>
          <p:spPr>
            <a:xfrm>
              <a:off x="37236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8" name="Google Shape;1028;p94"/>
            <p:cNvSpPr/>
            <p:nvPr/>
          </p:nvSpPr>
          <p:spPr>
            <a:xfrm>
              <a:off x="3653300" y="1661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29" name="Google Shape;1029;p94"/>
            <p:cNvSpPr/>
            <p:nvPr/>
          </p:nvSpPr>
          <p:spPr>
            <a:xfrm>
              <a:off x="3775700" y="1566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0" name="Google Shape;1030;p94"/>
            <p:cNvSpPr/>
            <p:nvPr/>
          </p:nvSpPr>
          <p:spPr>
            <a:xfrm>
              <a:off x="3202500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1" name="Google Shape;1031;p94"/>
            <p:cNvSpPr/>
            <p:nvPr/>
          </p:nvSpPr>
          <p:spPr>
            <a:xfrm>
              <a:off x="3540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2" name="Google Shape;1032;p94"/>
            <p:cNvSpPr/>
            <p:nvPr/>
          </p:nvSpPr>
          <p:spPr>
            <a:xfrm>
              <a:off x="42033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3" name="Google Shape;1033;p94"/>
            <p:cNvSpPr/>
            <p:nvPr/>
          </p:nvSpPr>
          <p:spPr>
            <a:xfrm>
              <a:off x="300522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4" name="Google Shape;1034;p94"/>
            <p:cNvSpPr/>
            <p:nvPr/>
          </p:nvSpPr>
          <p:spPr>
            <a:xfrm>
              <a:off x="3381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5" name="Google Shape;1035;p94"/>
            <p:cNvSpPr/>
            <p:nvPr/>
          </p:nvSpPr>
          <p:spPr>
            <a:xfrm>
              <a:off x="40653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6" name="Google Shape;1036;p94"/>
            <p:cNvSpPr/>
            <p:nvPr/>
          </p:nvSpPr>
          <p:spPr>
            <a:xfrm>
              <a:off x="474830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7" name="Google Shape;1037;p94"/>
            <p:cNvSpPr/>
            <p:nvPr/>
          </p:nvSpPr>
          <p:spPr>
            <a:xfrm>
              <a:off x="4528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8" name="Google Shape;1038;p94"/>
            <p:cNvSpPr/>
            <p:nvPr/>
          </p:nvSpPr>
          <p:spPr>
            <a:xfrm>
              <a:off x="4674100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39" name="Google Shape;1039;p94"/>
            <p:cNvSpPr/>
            <p:nvPr/>
          </p:nvSpPr>
          <p:spPr>
            <a:xfrm>
              <a:off x="4748300" y="15863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0" name="Google Shape;1040;p94"/>
            <p:cNvSpPr/>
            <p:nvPr/>
          </p:nvSpPr>
          <p:spPr>
            <a:xfrm>
              <a:off x="4443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1" name="Google Shape;1041;p94"/>
            <p:cNvSpPr/>
            <p:nvPr/>
          </p:nvSpPr>
          <p:spPr>
            <a:xfrm>
              <a:off x="3995000" y="16583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042" name="Google Shape;1042;p94"/>
          <p:cNvGrpSpPr/>
          <p:nvPr/>
        </p:nvGrpSpPr>
        <p:grpSpPr>
          <a:xfrm>
            <a:off x="3241872" y="4105750"/>
            <a:ext cx="2186767" cy="225525"/>
            <a:chOff x="6125625" y="2784200"/>
            <a:chExt cx="2476800" cy="225525"/>
          </a:xfrm>
        </p:grpSpPr>
        <p:sp>
          <p:nvSpPr>
            <p:cNvPr id="1043" name="Google Shape;1043;p94"/>
            <p:cNvSpPr/>
            <p:nvPr/>
          </p:nvSpPr>
          <p:spPr>
            <a:xfrm>
              <a:off x="6125625" y="2943125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4" name="Google Shape;1044;p94"/>
            <p:cNvSpPr/>
            <p:nvPr/>
          </p:nvSpPr>
          <p:spPr>
            <a:xfrm>
              <a:off x="6125625" y="2784200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045" name="Google Shape;1045;p94"/>
          <p:cNvSpPr/>
          <p:nvPr/>
        </p:nvSpPr>
        <p:spPr>
          <a:xfrm rot="5400000">
            <a:off x="57059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94"/>
          <p:cNvSpPr txBox="1"/>
          <p:nvPr/>
        </p:nvSpPr>
        <p:spPr>
          <a:xfrm>
            <a:off x="5492575" y="4014200"/>
            <a:ext cx="828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Consensus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047" name="Google Shape;1047;p94"/>
          <p:cNvGrpSpPr/>
          <p:nvPr/>
        </p:nvGrpSpPr>
        <p:grpSpPr>
          <a:xfrm>
            <a:off x="6407498" y="1992925"/>
            <a:ext cx="2186789" cy="698700"/>
            <a:chOff x="2623813" y="3128950"/>
            <a:chExt cx="2476825" cy="698700"/>
          </a:xfrm>
        </p:grpSpPr>
        <p:sp>
          <p:nvSpPr>
            <p:cNvPr id="1048" name="Google Shape;1048;p94"/>
            <p:cNvSpPr/>
            <p:nvPr/>
          </p:nvSpPr>
          <p:spPr>
            <a:xfrm>
              <a:off x="2763738" y="333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9" name="Google Shape;1049;p94"/>
            <p:cNvSpPr/>
            <p:nvPr/>
          </p:nvSpPr>
          <p:spPr>
            <a:xfrm>
              <a:off x="2623813" y="3619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0" name="Google Shape;1050;p94"/>
            <p:cNvSpPr/>
            <p:nvPr/>
          </p:nvSpPr>
          <p:spPr>
            <a:xfrm>
              <a:off x="275158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1" name="Google Shape;1051;p94"/>
            <p:cNvSpPr/>
            <p:nvPr/>
          </p:nvSpPr>
          <p:spPr>
            <a:xfrm>
              <a:off x="2687288" y="3428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2" name="Google Shape;1052;p94"/>
            <p:cNvSpPr/>
            <p:nvPr/>
          </p:nvSpPr>
          <p:spPr>
            <a:xfrm>
              <a:off x="2623813" y="374520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3" name="Google Shape;1053;p94"/>
            <p:cNvSpPr/>
            <p:nvPr/>
          </p:nvSpPr>
          <p:spPr>
            <a:xfrm>
              <a:off x="3162500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4" name="Google Shape;1054;p94"/>
            <p:cNvSpPr/>
            <p:nvPr/>
          </p:nvSpPr>
          <p:spPr>
            <a:xfrm>
              <a:off x="29475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5" name="Google Shape;1055;p94"/>
            <p:cNvSpPr/>
            <p:nvPr/>
          </p:nvSpPr>
          <p:spPr>
            <a:xfrm>
              <a:off x="3785713" y="3217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6" name="Google Shape;1056;p94"/>
            <p:cNvSpPr/>
            <p:nvPr/>
          </p:nvSpPr>
          <p:spPr>
            <a:xfrm>
              <a:off x="37901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7" name="Google Shape;1057;p94"/>
            <p:cNvSpPr/>
            <p:nvPr/>
          </p:nvSpPr>
          <p:spPr>
            <a:xfrm>
              <a:off x="3719738" y="3407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8" name="Google Shape;1058;p94"/>
            <p:cNvSpPr/>
            <p:nvPr/>
          </p:nvSpPr>
          <p:spPr>
            <a:xfrm>
              <a:off x="3842138" y="3312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9" name="Google Shape;1059;p94"/>
            <p:cNvSpPr/>
            <p:nvPr/>
          </p:nvSpPr>
          <p:spPr>
            <a:xfrm>
              <a:off x="3268938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0" name="Google Shape;1060;p94"/>
            <p:cNvSpPr/>
            <p:nvPr/>
          </p:nvSpPr>
          <p:spPr>
            <a:xfrm>
              <a:off x="3607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1" name="Google Shape;1061;p94"/>
            <p:cNvSpPr/>
            <p:nvPr/>
          </p:nvSpPr>
          <p:spPr>
            <a:xfrm>
              <a:off x="42698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2" name="Google Shape;1062;p94"/>
            <p:cNvSpPr/>
            <p:nvPr/>
          </p:nvSpPr>
          <p:spPr>
            <a:xfrm>
              <a:off x="307166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3" name="Google Shape;1063;p94"/>
            <p:cNvSpPr/>
            <p:nvPr/>
          </p:nvSpPr>
          <p:spPr>
            <a:xfrm>
              <a:off x="3448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4" name="Google Shape;1064;p94"/>
            <p:cNvSpPr/>
            <p:nvPr/>
          </p:nvSpPr>
          <p:spPr>
            <a:xfrm>
              <a:off x="41318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5" name="Google Shape;1065;p94"/>
            <p:cNvSpPr/>
            <p:nvPr/>
          </p:nvSpPr>
          <p:spPr>
            <a:xfrm>
              <a:off x="481473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6" name="Google Shape;1066;p94"/>
            <p:cNvSpPr/>
            <p:nvPr/>
          </p:nvSpPr>
          <p:spPr>
            <a:xfrm>
              <a:off x="4595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7" name="Google Shape;1067;p94"/>
            <p:cNvSpPr/>
            <p:nvPr/>
          </p:nvSpPr>
          <p:spPr>
            <a:xfrm>
              <a:off x="4740538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8" name="Google Shape;1068;p94"/>
            <p:cNvSpPr/>
            <p:nvPr/>
          </p:nvSpPr>
          <p:spPr>
            <a:xfrm>
              <a:off x="4814738" y="33321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69" name="Google Shape;1069;p94"/>
            <p:cNvSpPr/>
            <p:nvPr/>
          </p:nvSpPr>
          <p:spPr>
            <a:xfrm>
              <a:off x="4510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0" name="Google Shape;1070;p94"/>
            <p:cNvSpPr/>
            <p:nvPr/>
          </p:nvSpPr>
          <p:spPr>
            <a:xfrm>
              <a:off x="4061438" y="34040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1" name="Google Shape;1071;p94"/>
            <p:cNvSpPr/>
            <p:nvPr/>
          </p:nvSpPr>
          <p:spPr>
            <a:xfrm>
              <a:off x="275084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2" name="Google Shape;1072;p94"/>
            <p:cNvSpPr/>
            <p:nvPr/>
          </p:nvSpPr>
          <p:spPr>
            <a:xfrm>
              <a:off x="3272255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3" name="Google Shape;1073;p94"/>
            <p:cNvSpPr/>
            <p:nvPr/>
          </p:nvSpPr>
          <p:spPr>
            <a:xfrm>
              <a:off x="361533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4" name="Google Shape;1074;p94"/>
            <p:cNvSpPr/>
            <p:nvPr/>
          </p:nvSpPr>
          <p:spPr>
            <a:xfrm>
              <a:off x="426518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75" name="Google Shape;1075;p94"/>
            <p:cNvSpPr/>
            <p:nvPr/>
          </p:nvSpPr>
          <p:spPr>
            <a:xfrm>
              <a:off x="481615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1076" name="Google Shape;1076;p94"/>
            <p:cNvCxnSpPr/>
            <p:nvPr/>
          </p:nvCxnSpPr>
          <p:spPr>
            <a:xfrm rot="10800000">
              <a:off x="275427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77" name="Google Shape;1077;p94"/>
            <p:cNvCxnSpPr/>
            <p:nvPr/>
          </p:nvCxnSpPr>
          <p:spPr>
            <a:xfrm rot="10800000">
              <a:off x="28583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78" name="Google Shape;1078;p94"/>
            <p:cNvCxnSpPr/>
            <p:nvPr/>
          </p:nvCxnSpPr>
          <p:spPr>
            <a:xfrm rot="10800000">
              <a:off x="32680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79" name="Google Shape;1079;p94"/>
            <p:cNvCxnSpPr/>
            <p:nvPr/>
          </p:nvCxnSpPr>
          <p:spPr>
            <a:xfrm rot="10800000">
              <a:off x="33730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80" name="Google Shape;1080;p94"/>
            <p:cNvCxnSpPr/>
            <p:nvPr/>
          </p:nvCxnSpPr>
          <p:spPr>
            <a:xfrm rot="10800000">
              <a:off x="36139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81" name="Google Shape;1081;p94"/>
            <p:cNvCxnSpPr/>
            <p:nvPr/>
          </p:nvCxnSpPr>
          <p:spPr>
            <a:xfrm rot="10800000">
              <a:off x="37266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82" name="Google Shape;1082;p94"/>
            <p:cNvCxnSpPr/>
            <p:nvPr/>
          </p:nvCxnSpPr>
          <p:spPr>
            <a:xfrm rot="10800000">
              <a:off x="42692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83" name="Google Shape;1083;p94"/>
            <p:cNvCxnSpPr/>
            <p:nvPr/>
          </p:nvCxnSpPr>
          <p:spPr>
            <a:xfrm rot="10800000">
              <a:off x="4373288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84" name="Google Shape;1084;p94"/>
            <p:cNvCxnSpPr/>
            <p:nvPr/>
          </p:nvCxnSpPr>
          <p:spPr>
            <a:xfrm rot="10800000">
              <a:off x="481522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085" name="Google Shape;1085;p94"/>
            <p:cNvCxnSpPr/>
            <p:nvPr/>
          </p:nvCxnSpPr>
          <p:spPr>
            <a:xfrm rot="10800000">
              <a:off x="49205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086" name="Google Shape;1086;p94"/>
            <p:cNvSpPr/>
            <p:nvPr/>
          </p:nvSpPr>
          <p:spPr>
            <a:xfrm>
              <a:off x="481615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7" name="Google Shape;1087;p94"/>
            <p:cNvSpPr/>
            <p:nvPr/>
          </p:nvSpPr>
          <p:spPr>
            <a:xfrm>
              <a:off x="4816152" y="33321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8" name="Google Shape;1088;p94"/>
            <p:cNvSpPr/>
            <p:nvPr/>
          </p:nvSpPr>
          <p:spPr>
            <a:xfrm>
              <a:off x="4265180" y="362365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89" name="Google Shape;1089;p94"/>
            <p:cNvSpPr/>
            <p:nvPr/>
          </p:nvSpPr>
          <p:spPr>
            <a:xfrm>
              <a:off x="3615330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0" name="Google Shape;1090;p94"/>
            <p:cNvSpPr/>
            <p:nvPr/>
          </p:nvSpPr>
          <p:spPr>
            <a:xfrm>
              <a:off x="3272255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1" name="Google Shape;1091;p94"/>
            <p:cNvSpPr/>
            <p:nvPr/>
          </p:nvSpPr>
          <p:spPr>
            <a:xfrm>
              <a:off x="275084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92" name="Google Shape;1092;p94"/>
            <p:cNvSpPr/>
            <p:nvPr/>
          </p:nvSpPr>
          <p:spPr>
            <a:xfrm>
              <a:off x="2750842" y="33335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093" name="Google Shape;1093;p94"/>
          <p:cNvGrpSpPr/>
          <p:nvPr/>
        </p:nvGrpSpPr>
        <p:grpSpPr>
          <a:xfrm>
            <a:off x="6384533" y="3592513"/>
            <a:ext cx="2307855" cy="914400"/>
            <a:chOff x="5102488" y="2899700"/>
            <a:chExt cx="2600400" cy="914400"/>
          </a:xfrm>
        </p:grpSpPr>
        <p:sp>
          <p:nvSpPr>
            <p:cNvPr id="1094" name="Google Shape;1094;p94"/>
            <p:cNvSpPr/>
            <p:nvPr/>
          </p:nvSpPr>
          <p:spPr>
            <a:xfrm>
              <a:off x="5102488" y="2899700"/>
              <a:ext cx="26004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5" name="Google Shape;1095;p94"/>
            <p:cNvGrpSpPr/>
            <p:nvPr/>
          </p:nvGrpSpPr>
          <p:grpSpPr>
            <a:xfrm>
              <a:off x="5164263" y="3031369"/>
              <a:ext cx="2476832" cy="594569"/>
              <a:chOff x="5452738" y="3217231"/>
              <a:chExt cx="2476832" cy="594569"/>
            </a:xfrm>
          </p:grpSpPr>
          <p:sp>
            <p:nvSpPr>
              <p:cNvPr id="1096" name="Google Shape;1096;p94"/>
              <p:cNvSpPr/>
              <p:nvPr/>
            </p:nvSpPr>
            <p:spPr>
              <a:xfrm>
                <a:off x="5687271" y="3333525"/>
                <a:ext cx="1914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97" name="Google Shape;1097;p94"/>
              <p:cNvSpPr/>
              <p:nvPr/>
            </p:nvSpPr>
            <p:spPr>
              <a:xfrm>
                <a:off x="5452738" y="36192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98" name="Google Shape;1098;p94"/>
              <p:cNvSpPr/>
              <p:nvPr/>
            </p:nvSpPr>
            <p:spPr>
              <a:xfrm>
                <a:off x="56872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099" name="Google Shape;1099;p94"/>
              <p:cNvSpPr/>
              <p:nvPr/>
            </p:nvSpPr>
            <p:spPr>
              <a:xfrm>
                <a:off x="5516213" y="34287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0" name="Google Shape;1100;p94"/>
              <p:cNvSpPr/>
              <p:nvPr/>
            </p:nvSpPr>
            <p:spPr>
              <a:xfrm>
                <a:off x="5452738" y="3745200"/>
                <a:ext cx="2476800" cy="66600"/>
              </a:xfrm>
              <a:prstGeom prst="rect">
                <a:avLst/>
              </a:prstGeom>
              <a:solidFill>
                <a:srgbClr val="0076B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1" name="Google Shape;1101;p94"/>
              <p:cNvSpPr/>
              <p:nvPr/>
            </p:nvSpPr>
            <p:spPr>
              <a:xfrm>
                <a:off x="5991425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2" name="Google Shape;1102;p94"/>
              <p:cNvSpPr/>
              <p:nvPr/>
            </p:nvSpPr>
            <p:spPr>
              <a:xfrm>
                <a:off x="57764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3" name="Google Shape;1103;p94"/>
              <p:cNvSpPr/>
              <p:nvPr/>
            </p:nvSpPr>
            <p:spPr>
              <a:xfrm>
                <a:off x="6614638" y="32172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4" name="Google Shape;1104;p94"/>
              <p:cNvSpPr/>
              <p:nvPr/>
            </p:nvSpPr>
            <p:spPr>
              <a:xfrm>
                <a:off x="66190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5" name="Google Shape;1105;p94"/>
              <p:cNvSpPr/>
              <p:nvPr/>
            </p:nvSpPr>
            <p:spPr>
              <a:xfrm>
                <a:off x="6548663" y="34077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6" name="Google Shape;1106;p94"/>
              <p:cNvSpPr/>
              <p:nvPr/>
            </p:nvSpPr>
            <p:spPr>
              <a:xfrm>
                <a:off x="6671063" y="33124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7" name="Google Shape;1107;p94"/>
              <p:cNvSpPr/>
              <p:nvPr/>
            </p:nvSpPr>
            <p:spPr>
              <a:xfrm>
                <a:off x="6204670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8" name="Google Shape;1108;p94"/>
              <p:cNvSpPr/>
              <p:nvPr/>
            </p:nvSpPr>
            <p:spPr>
              <a:xfrm>
                <a:off x="6563244" y="3619975"/>
                <a:ext cx="1587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09" name="Google Shape;1109;p94"/>
              <p:cNvSpPr/>
              <p:nvPr/>
            </p:nvSpPr>
            <p:spPr>
              <a:xfrm>
                <a:off x="7205545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0" name="Google Shape;1110;p94"/>
              <p:cNvSpPr/>
              <p:nvPr/>
            </p:nvSpPr>
            <p:spPr>
              <a:xfrm>
                <a:off x="590058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1" name="Google Shape;1111;p94"/>
              <p:cNvSpPr/>
              <p:nvPr/>
            </p:nvSpPr>
            <p:spPr>
              <a:xfrm>
                <a:off x="6277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2" name="Google Shape;1112;p94"/>
              <p:cNvSpPr/>
              <p:nvPr/>
            </p:nvSpPr>
            <p:spPr>
              <a:xfrm>
                <a:off x="69607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3" name="Google Shape;1113;p94"/>
              <p:cNvSpPr/>
              <p:nvPr/>
            </p:nvSpPr>
            <p:spPr>
              <a:xfrm>
                <a:off x="77504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4" name="Google Shape;1114;p94"/>
              <p:cNvSpPr/>
              <p:nvPr/>
            </p:nvSpPr>
            <p:spPr>
              <a:xfrm>
                <a:off x="74241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5" name="Google Shape;1115;p94"/>
              <p:cNvSpPr/>
              <p:nvPr/>
            </p:nvSpPr>
            <p:spPr>
              <a:xfrm>
                <a:off x="7569463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6" name="Google Shape;1116;p94"/>
              <p:cNvSpPr/>
              <p:nvPr/>
            </p:nvSpPr>
            <p:spPr>
              <a:xfrm>
                <a:off x="7750470" y="33321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7" name="Google Shape;1117;p94"/>
              <p:cNvSpPr/>
              <p:nvPr/>
            </p:nvSpPr>
            <p:spPr>
              <a:xfrm>
                <a:off x="7339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118" name="Google Shape;1118;p94"/>
              <p:cNvSpPr/>
              <p:nvPr/>
            </p:nvSpPr>
            <p:spPr>
              <a:xfrm>
                <a:off x="6890363" y="34040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1119" name="Google Shape;1119;p94"/>
          <p:cNvSpPr/>
          <p:nvPr/>
        </p:nvSpPr>
        <p:spPr>
          <a:xfrm>
            <a:off x="7418625" y="2909263"/>
            <a:ext cx="357000" cy="544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0" name="Google Shape;1120;p94"/>
          <p:cNvGrpSpPr/>
          <p:nvPr/>
        </p:nvGrpSpPr>
        <p:grpSpPr>
          <a:xfrm>
            <a:off x="261415" y="4105738"/>
            <a:ext cx="2186767" cy="225525"/>
            <a:chOff x="6125625" y="1600925"/>
            <a:chExt cx="2476800" cy="225525"/>
          </a:xfrm>
        </p:grpSpPr>
        <p:sp>
          <p:nvSpPr>
            <p:cNvPr id="1121" name="Google Shape;1121;p94"/>
            <p:cNvSpPr/>
            <p:nvPr/>
          </p:nvSpPr>
          <p:spPr>
            <a:xfrm>
              <a:off x="6125625" y="17598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2" name="Google Shape;1122;p94"/>
            <p:cNvSpPr/>
            <p:nvPr/>
          </p:nvSpPr>
          <p:spPr>
            <a:xfrm>
              <a:off x="6125625" y="1600925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3" name="Google Shape;1123;p94"/>
            <p:cNvSpPr/>
            <p:nvPr/>
          </p:nvSpPr>
          <p:spPr>
            <a:xfrm>
              <a:off x="6515761" y="1600938"/>
              <a:ext cx="53400" cy="66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4" name="Google Shape;1124;p94"/>
            <p:cNvSpPr/>
            <p:nvPr/>
          </p:nvSpPr>
          <p:spPr>
            <a:xfrm>
              <a:off x="6631297" y="1600938"/>
              <a:ext cx="53400" cy="66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25" name="Google Shape;1125;p94"/>
            <p:cNvSpPr/>
            <p:nvPr/>
          </p:nvSpPr>
          <p:spPr>
            <a:xfrm>
              <a:off x="7826641" y="1600938"/>
              <a:ext cx="53400" cy="66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26" name="Google Shape;1126;p94"/>
          <p:cNvSpPr txBox="1"/>
          <p:nvPr/>
        </p:nvSpPr>
        <p:spPr>
          <a:xfrm>
            <a:off x="3066375" y="3748750"/>
            <a:ext cx="175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Consensus Sequence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94"/>
          <p:cNvSpPr/>
          <p:nvPr/>
        </p:nvSpPr>
        <p:spPr>
          <a:xfrm>
            <a:off x="555105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Trim Primers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94"/>
          <p:cNvSpPr/>
          <p:nvPr/>
        </p:nvSpPr>
        <p:spPr>
          <a:xfrm rot="5400000">
            <a:off x="26615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94"/>
          <p:cNvSpPr txBox="1"/>
          <p:nvPr/>
        </p:nvSpPr>
        <p:spPr>
          <a:xfrm>
            <a:off x="2524375" y="4014200"/>
            <a:ext cx="654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Variants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0" name="Google Shape;1130;p94"/>
          <p:cNvSpPr/>
          <p:nvPr/>
        </p:nvSpPr>
        <p:spPr>
          <a:xfrm>
            <a:off x="167025" y="3748750"/>
            <a:ext cx="3011700" cy="10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94"/>
          <p:cNvSpPr/>
          <p:nvPr/>
        </p:nvSpPr>
        <p:spPr>
          <a:xfrm>
            <a:off x="7979100" y="0"/>
            <a:ext cx="1164900" cy="69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2" name="Google Shape;113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0" y="59667"/>
            <a:ext cx="995022" cy="3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94"/>
          <p:cNvSpPr/>
          <p:nvPr/>
        </p:nvSpPr>
        <p:spPr>
          <a:xfrm>
            <a:off x="770625" y="2230525"/>
            <a:ext cx="5826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QC/ H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uman Read</a:t>
            </a: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Removal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94"/>
          <p:cNvSpPr txBox="1"/>
          <p:nvPr/>
        </p:nvSpPr>
        <p:spPr>
          <a:xfrm>
            <a:off x="1845675" y="65911"/>
            <a:ext cx="59286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Genome</a:t>
            </a:r>
            <a:r>
              <a:rPr lang="en" sz="2800">
                <a:solidFill>
                  <a:schemeClr val="dk1"/>
                </a:solidFill>
              </a:rPr>
              <a:t> Assembly Pipeline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5"/>
          <p:cNvSpPr txBox="1">
            <a:spLocks noGrp="1"/>
          </p:cNvSpPr>
          <p:nvPr>
            <p:ph type="title"/>
          </p:nvPr>
        </p:nvSpPr>
        <p:spPr>
          <a:xfrm>
            <a:off x="311700" y="200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Consensus Genome Sequence</a:t>
            </a:r>
            <a:endParaRPr/>
          </a:p>
        </p:txBody>
      </p:sp>
      <p:sp>
        <p:nvSpPr>
          <p:cNvPr id="1140" name="Google Shape;1140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Software for calling consensus: </a:t>
            </a:r>
            <a:r>
              <a:rPr lang="en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iVar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Minimum depth to call bases:</a:t>
            </a:r>
            <a:endParaRPr sz="1800">
              <a:solidFill>
                <a:schemeClr val="dk1"/>
              </a:solidFill>
            </a:endParaRPr>
          </a:p>
          <a:p>
            <a:pPr marL="137160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n" sz="1800">
                <a:solidFill>
                  <a:schemeClr val="dk1"/>
                </a:solidFill>
              </a:rPr>
              <a:t>Amplicon data (BED file provided): 10 reads</a:t>
            </a:r>
            <a:endParaRPr sz="1800">
              <a:solidFill>
                <a:schemeClr val="dk1"/>
              </a:solidFill>
            </a:endParaRPr>
          </a:p>
          <a:p>
            <a:pPr marL="137160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n" sz="1800">
                <a:solidFill>
                  <a:schemeClr val="dk1"/>
                </a:solidFill>
              </a:rPr>
              <a:t>mNGS data (no BED file): 5 reads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Quality threshold: Q20</a:t>
            </a:r>
            <a:endParaRPr sz="1800">
              <a:solidFill>
                <a:schemeClr val="dk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Frequency threshold: 0.75 (to call a specific base, it should be observed at &gt; 75% frequency)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6"/>
          <p:cNvSpPr/>
          <p:nvPr/>
        </p:nvSpPr>
        <p:spPr>
          <a:xfrm>
            <a:off x="191850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6" name="Google Shape;1146;p96"/>
          <p:cNvGrpSpPr/>
          <p:nvPr/>
        </p:nvGrpSpPr>
        <p:grpSpPr>
          <a:xfrm>
            <a:off x="1457325" y="1373581"/>
            <a:ext cx="285900" cy="2278521"/>
            <a:chOff x="1381125" y="1373581"/>
            <a:chExt cx="285900" cy="2278521"/>
          </a:xfrm>
        </p:grpSpPr>
        <p:sp>
          <p:nvSpPr>
            <p:cNvPr id="1147" name="Google Shape;1147;p96"/>
            <p:cNvSpPr/>
            <p:nvPr/>
          </p:nvSpPr>
          <p:spPr>
            <a:xfrm>
              <a:off x="1381125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8" name="Google Shape;1148;p96"/>
            <p:cNvSpPr/>
            <p:nvPr/>
          </p:nvSpPr>
          <p:spPr>
            <a:xfrm>
              <a:off x="1381125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49" name="Google Shape;1149;p96"/>
            <p:cNvSpPr/>
            <p:nvPr/>
          </p:nvSpPr>
          <p:spPr>
            <a:xfrm>
              <a:off x="1381125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0" name="Google Shape;1150;p96"/>
            <p:cNvSpPr/>
            <p:nvPr/>
          </p:nvSpPr>
          <p:spPr>
            <a:xfrm>
              <a:off x="1381125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1" name="Google Shape;1151;p96"/>
            <p:cNvSpPr/>
            <p:nvPr/>
          </p:nvSpPr>
          <p:spPr>
            <a:xfrm>
              <a:off x="1381125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2" name="Google Shape;1152;p96"/>
            <p:cNvSpPr/>
            <p:nvPr/>
          </p:nvSpPr>
          <p:spPr>
            <a:xfrm>
              <a:off x="1381125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3" name="Google Shape;1153;p96"/>
            <p:cNvSpPr/>
            <p:nvPr/>
          </p:nvSpPr>
          <p:spPr>
            <a:xfrm>
              <a:off x="1381125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4" name="Google Shape;1154;p96"/>
            <p:cNvSpPr/>
            <p:nvPr/>
          </p:nvSpPr>
          <p:spPr>
            <a:xfrm>
              <a:off x="1381125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5" name="Google Shape;1155;p96"/>
            <p:cNvSpPr/>
            <p:nvPr/>
          </p:nvSpPr>
          <p:spPr>
            <a:xfrm>
              <a:off x="1381125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6" name="Google Shape;1156;p96"/>
            <p:cNvSpPr/>
            <p:nvPr/>
          </p:nvSpPr>
          <p:spPr>
            <a:xfrm>
              <a:off x="1381125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7" name="Google Shape;1157;p96"/>
            <p:cNvSpPr/>
            <p:nvPr/>
          </p:nvSpPr>
          <p:spPr>
            <a:xfrm>
              <a:off x="1381125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8" name="Google Shape;1158;p96"/>
            <p:cNvSpPr/>
            <p:nvPr/>
          </p:nvSpPr>
          <p:spPr>
            <a:xfrm>
              <a:off x="1381125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9" name="Google Shape;1159;p96"/>
            <p:cNvSpPr/>
            <p:nvPr/>
          </p:nvSpPr>
          <p:spPr>
            <a:xfrm>
              <a:off x="1381125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0" name="Google Shape;1160;p96"/>
            <p:cNvSpPr/>
            <p:nvPr/>
          </p:nvSpPr>
          <p:spPr>
            <a:xfrm>
              <a:off x="1381125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1" name="Google Shape;1161;p96"/>
            <p:cNvSpPr/>
            <p:nvPr/>
          </p:nvSpPr>
          <p:spPr>
            <a:xfrm>
              <a:off x="1381125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2" name="Google Shape;1162;p96"/>
            <p:cNvSpPr/>
            <p:nvPr/>
          </p:nvSpPr>
          <p:spPr>
            <a:xfrm>
              <a:off x="1381125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3" name="Google Shape;1163;p96"/>
            <p:cNvSpPr/>
            <p:nvPr/>
          </p:nvSpPr>
          <p:spPr>
            <a:xfrm>
              <a:off x="1381125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4" name="Google Shape;1164;p96"/>
            <p:cNvSpPr/>
            <p:nvPr/>
          </p:nvSpPr>
          <p:spPr>
            <a:xfrm>
              <a:off x="1381125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5" name="Google Shape;1165;p96"/>
            <p:cNvSpPr/>
            <p:nvPr/>
          </p:nvSpPr>
          <p:spPr>
            <a:xfrm>
              <a:off x="1381125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6" name="Google Shape;1166;p96"/>
            <p:cNvSpPr/>
            <p:nvPr/>
          </p:nvSpPr>
          <p:spPr>
            <a:xfrm>
              <a:off x="1381125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7" name="Google Shape;1167;p96"/>
            <p:cNvSpPr/>
            <p:nvPr/>
          </p:nvSpPr>
          <p:spPr>
            <a:xfrm>
              <a:off x="1381125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68" name="Google Shape;1168;p96"/>
            <p:cNvSpPr/>
            <p:nvPr/>
          </p:nvSpPr>
          <p:spPr>
            <a:xfrm>
              <a:off x="1381125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169" name="Google Shape;1169;p96"/>
          <p:cNvSpPr txBox="1"/>
          <p:nvPr/>
        </p:nvSpPr>
        <p:spPr>
          <a:xfrm>
            <a:off x="2942763" y="1539150"/>
            <a:ext cx="1876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reference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0" name="Google Shape;1170;p96"/>
          <p:cNvGrpSpPr/>
          <p:nvPr/>
        </p:nvGrpSpPr>
        <p:grpSpPr>
          <a:xfrm>
            <a:off x="167021" y="979767"/>
            <a:ext cx="828000" cy="2672335"/>
            <a:chOff x="167021" y="979767"/>
            <a:chExt cx="828000" cy="2672335"/>
          </a:xfrm>
        </p:grpSpPr>
        <p:sp>
          <p:nvSpPr>
            <p:cNvPr id="1171" name="Google Shape;1171;p96"/>
            <p:cNvSpPr/>
            <p:nvPr/>
          </p:nvSpPr>
          <p:spPr>
            <a:xfrm>
              <a:off x="400050" y="2435303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2" name="Google Shape;1172;p96"/>
            <p:cNvSpPr/>
            <p:nvPr/>
          </p:nvSpPr>
          <p:spPr>
            <a:xfrm>
              <a:off x="400050" y="208139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3" name="Google Shape;1173;p96"/>
            <p:cNvSpPr/>
            <p:nvPr/>
          </p:nvSpPr>
          <p:spPr>
            <a:xfrm>
              <a:off x="400050" y="278921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4" name="Google Shape;1174;p96"/>
            <p:cNvSpPr/>
            <p:nvPr/>
          </p:nvSpPr>
          <p:spPr>
            <a:xfrm>
              <a:off x="400050" y="296616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5" name="Google Shape;1175;p96"/>
            <p:cNvSpPr/>
            <p:nvPr/>
          </p:nvSpPr>
          <p:spPr>
            <a:xfrm>
              <a:off x="400050" y="172748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6" name="Google Shape;1176;p96"/>
            <p:cNvSpPr/>
            <p:nvPr/>
          </p:nvSpPr>
          <p:spPr>
            <a:xfrm>
              <a:off x="400050" y="2169873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7" name="Google Shape;1177;p96"/>
            <p:cNvSpPr/>
            <p:nvPr/>
          </p:nvSpPr>
          <p:spPr>
            <a:xfrm>
              <a:off x="400050" y="163901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8" name="Google Shape;1178;p96"/>
            <p:cNvSpPr/>
            <p:nvPr/>
          </p:nvSpPr>
          <p:spPr>
            <a:xfrm>
              <a:off x="400050" y="23468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79" name="Google Shape;1179;p96"/>
            <p:cNvSpPr/>
            <p:nvPr/>
          </p:nvSpPr>
          <p:spPr>
            <a:xfrm>
              <a:off x="400050" y="2612257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0" name="Google Shape;1180;p96"/>
            <p:cNvSpPr/>
            <p:nvPr/>
          </p:nvSpPr>
          <p:spPr>
            <a:xfrm>
              <a:off x="400050" y="2700734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1" name="Google Shape;1181;p96"/>
            <p:cNvSpPr/>
            <p:nvPr/>
          </p:nvSpPr>
          <p:spPr>
            <a:xfrm>
              <a:off x="400050" y="2877687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2" name="Google Shape;1182;p96"/>
            <p:cNvSpPr/>
            <p:nvPr/>
          </p:nvSpPr>
          <p:spPr>
            <a:xfrm>
              <a:off x="400050" y="2258350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3" name="Google Shape;1183;p96"/>
            <p:cNvSpPr/>
            <p:nvPr/>
          </p:nvSpPr>
          <p:spPr>
            <a:xfrm>
              <a:off x="400050" y="305464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4" name="Google Shape;1184;p96"/>
            <p:cNvSpPr/>
            <p:nvPr/>
          </p:nvSpPr>
          <p:spPr>
            <a:xfrm>
              <a:off x="400050" y="3143118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5" name="Google Shape;1185;p96"/>
            <p:cNvSpPr/>
            <p:nvPr/>
          </p:nvSpPr>
          <p:spPr>
            <a:xfrm>
              <a:off x="400050" y="181596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6" name="Google Shape;1186;p96"/>
            <p:cNvSpPr/>
            <p:nvPr/>
          </p:nvSpPr>
          <p:spPr>
            <a:xfrm>
              <a:off x="400050" y="190444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7" name="Google Shape;1187;p96"/>
            <p:cNvSpPr/>
            <p:nvPr/>
          </p:nvSpPr>
          <p:spPr>
            <a:xfrm>
              <a:off x="400050" y="323159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8" name="Google Shape;1188;p96"/>
            <p:cNvSpPr/>
            <p:nvPr/>
          </p:nvSpPr>
          <p:spPr>
            <a:xfrm>
              <a:off x="400050" y="332007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89" name="Google Shape;1189;p96"/>
            <p:cNvSpPr/>
            <p:nvPr/>
          </p:nvSpPr>
          <p:spPr>
            <a:xfrm>
              <a:off x="400050" y="1462058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0" name="Google Shape;1190;p96"/>
            <p:cNvSpPr/>
            <p:nvPr/>
          </p:nvSpPr>
          <p:spPr>
            <a:xfrm>
              <a:off x="400050" y="1373581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1" name="Google Shape;1191;p96"/>
            <p:cNvSpPr/>
            <p:nvPr/>
          </p:nvSpPr>
          <p:spPr>
            <a:xfrm>
              <a:off x="400050" y="340854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2" name="Google Shape;1192;p96"/>
            <p:cNvSpPr/>
            <p:nvPr/>
          </p:nvSpPr>
          <p:spPr>
            <a:xfrm>
              <a:off x="400050" y="1992919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3" name="Google Shape;1193;p96"/>
            <p:cNvSpPr/>
            <p:nvPr/>
          </p:nvSpPr>
          <p:spPr>
            <a:xfrm>
              <a:off x="400050" y="1550535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4" name="Google Shape;1194;p96"/>
            <p:cNvSpPr/>
            <p:nvPr/>
          </p:nvSpPr>
          <p:spPr>
            <a:xfrm>
              <a:off x="400050" y="2523780"/>
              <a:ext cx="285900" cy="666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5" name="Google Shape;1195;p96"/>
            <p:cNvSpPr/>
            <p:nvPr/>
          </p:nvSpPr>
          <p:spPr>
            <a:xfrm>
              <a:off x="400050" y="3497026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6" name="Google Shape;1196;p96"/>
            <p:cNvSpPr/>
            <p:nvPr/>
          </p:nvSpPr>
          <p:spPr>
            <a:xfrm>
              <a:off x="400050" y="3585502"/>
              <a:ext cx="285900" cy="66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97" name="Google Shape;1197;p96"/>
            <p:cNvSpPr txBox="1"/>
            <p:nvPr/>
          </p:nvSpPr>
          <p:spPr>
            <a:xfrm>
              <a:off x="167021" y="979767"/>
              <a:ext cx="828000" cy="21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" tIns="19050" rIns="19050" bIns="190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Helvetica Neue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Raw reads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8" name="Google Shape;1198;p96"/>
          <p:cNvSpPr txBox="1"/>
          <p:nvPr/>
        </p:nvSpPr>
        <p:spPr>
          <a:xfrm>
            <a:off x="2849475" y="2698975"/>
            <a:ext cx="21867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Genome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9" name="Google Shape;1199;p96"/>
          <p:cNvGrpSpPr/>
          <p:nvPr/>
        </p:nvGrpSpPr>
        <p:grpSpPr>
          <a:xfrm>
            <a:off x="3013283" y="2081063"/>
            <a:ext cx="2186789" cy="594569"/>
            <a:chOff x="2557375" y="1471481"/>
            <a:chExt cx="2476825" cy="594569"/>
          </a:xfrm>
        </p:grpSpPr>
        <p:sp>
          <p:nvSpPr>
            <p:cNvPr id="1200" name="Google Shape;1200;p96"/>
            <p:cNvSpPr/>
            <p:nvPr/>
          </p:nvSpPr>
          <p:spPr>
            <a:xfrm>
              <a:off x="2709800" y="1587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1" name="Google Shape;1201;p96"/>
            <p:cNvSpPr/>
            <p:nvPr/>
          </p:nvSpPr>
          <p:spPr>
            <a:xfrm>
              <a:off x="2557375" y="187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2" name="Google Shape;1202;p96"/>
            <p:cNvSpPr/>
            <p:nvPr/>
          </p:nvSpPr>
          <p:spPr>
            <a:xfrm>
              <a:off x="268515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3" name="Google Shape;1203;p96"/>
            <p:cNvSpPr/>
            <p:nvPr/>
          </p:nvSpPr>
          <p:spPr>
            <a:xfrm>
              <a:off x="2620850" y="1683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4" name="Google Shape;1204;p96"/>
            <p:cNvSpPr/>
            <p:nvPr/>
          </p:nvSpPr>
          <p:spPr>
            <a:xfrm>
              <a:off x="2557375" y="19994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5" name="Google Shape;1205;p96"/>
            <p:cNvSpPr/>
            <p:nvPr/>
          </p:nvSpPr>
          <p:spPr>
            <a:xfrm>
              <a:off x="3096063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6" name="Google Shape;1206;p96"/>
            <p:cNvSpPr/>
            <p:nvPr/>
          </p:nvSpPr>
          <p:spPr>
            <a:xfrm>
              <a:off x="28810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7" name="Google Shape;1207;p96"/>
            <p:cNvSpPr/>
            <p:nvPr/>
          </p:nvSpPr>
          <p:spPr>
            <a:xfrm>
              <a:off x="3719275" y="1471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8" name="Google Shape;1208;p96"/>
            <p:cNvSpPr/>
            <p:nvPr/>
          </p:nvSpPr>
          <p:spPr>
            <a:xfrm>
              <a:off x="37236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09" name="Google Shape;1209;p96"/>
            <p:cNvSpPr/>
            <p:nvPr/>
          </p:nvSpPr>
          <p:spPr>
            <a:xfrm>
              <a:off x="3653300" y="1661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0" name="Google Shape;1210;p96"/>
            <p:cNvSpPr/>
            <p:nvPr/>
          </p:nvSpPr>
          <p:spPr>
            <a:xfrm>
              <a:off x="3775700" y="1566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1" name="Google Shape;1211;p96"/>
            <p:cNvSpPr/>
            <p:nvPr/>
          </p:nvSpPr>
          <p:spPr>
            <a:xfrm>
              <a:off x="3202500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2" name="Google Shape;1212;p96"/>
            <p:cNvSpPr/>
            <p:nvPr/>
          </p:nvSpPr>
          <p:spPr>
            <a:xfrm>
              <a:off x="3540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3" name="Google Shape;1213;p96"/>
            <p:cNvSpPr/>
            <p:nvPr/>
          </p:nvSpPr>
          <p:spPr>
            <a:xfrm>
              <a:off x="42033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4" name="Google Shape;1214;p96"/>
            <p:cNvSpPr/>
            <p:nvPr/>
          </p:nvSpPr>
          <p:spPr>
            <a:xfrm>
              <a:off x="300522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5" name="Google Shape;1215;p96"/>
            <p:cNvSpPr/>
            <p:nvPr/>
          </p:nvSpPr>
          <p:spPr>
            <a:xfrm>
              <a:off x="3381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6" name="Google Shape;1216;p96"/>
            <p:cNvSpPr/>
            <p:nvPr/>
          </p:nvSpPr>
          <p:spPr>
            <a:xfrm>
              <a:off x="4065375" y="17681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7" name="Google Shape;1217;p96"/>
            <p:cNvSpPr/>
            <p:nvPr/>
          </p:nvSpPr>
          <p:spPr>
            <a:xfrm>
              <a:off x="4748300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8" name="Google Shape;1218;p96"/>
            <p:cNvSpPr/>
            <p:nvPr/>
          </p:nvSpPr>
          <p:spPr>
            <a:xfrm>
              <a:off x="4528775" y="1874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9" name="Google Shape;1219;p96"/>
            <p:cNvSpPr/>
            <p:nvPr/>
          </p:nvSpPr>
          <p:spPr>
            <a:xfrm>
              <a:off x="4674100" y="16823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0" name="Google Shape;1220;p96"/>
            <p:cNvSpPr/>
            <p:nvPr/>
          </p:nvSpPr>
          <p:spPr>
            <a:xfrm>
              <a:off x="4748300" y="15863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1" name="Google Shape;1221;p96"/>
            <p:cNvSpPr/>
            <p:nvPr/>
          </p:nvSpPr>
          <p:spPr>
            <a:xfrm>
              <a:off x="4443975" y="1778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2" name="Google Shape;1222;p96"/>
            <p:cNvSpPr/>
            <p:nvPr/>
          </p:nvSpPr>
          <p:spPr>
            <a:xfrm>
              <a:off x="3995000" y="165830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223" name="Google Shape;1223;p96"/>
          <p:cNvGrpSpPr/>
          <p:nvPr/>
        </p:nvGrpSpPr>
        <p:grpSpPr>
          <a:xfrm>
            <a:off x="3241872" y="4105750"/>
            <a:ext cx="2186767" cy="225525"/>
            <a:chOff x="6125625" y="2784200"/>
            <a:chExt cx="2476800" cy="225525"/>
          </a:xfrm>
        </p:grpSpPr>
        <p:sp>
          <p:nvSpPr>
            <p:cNvPr id="1224" name="Google Shape;1224;p96"/>
            <p:cNvSpPr/>
            <p:nvPr/>
          </p:nvSpPr>
          <p:spPr>
            <a:xfrm>
              <a:off x="6125625" y="2943125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5" name="Google Shape;1225;p96"/>
            <p:cNvSpPr/>
            <p:nvPr/>
          </p:nvSpPr>
          <p:spPr>
            <a:xfrm>
              <a:off x="6125625" y="2784200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226" name="Google Shape;1226;p96"/>
          <p:cNvSpPr/>
          <p:nvPr/>
        </p:nvSpPr>
        <p:spPr>
          <a:xfrm rot="5400000">
            <a:off x="57059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96"/>
          <p:cNvSpPr txBox="1"/>
          <p:nvPr/>
        </p:nvSpPr>
        <p:spPr>
          <a:xfrm>
            <a:off x="5492575" y="4014200"/>
            <a:ext cx="8280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Consensus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228" name="Google Shape;1228;p96"/>
          <p:cNvGrpSpPr/>
          <p:nvPr/>
        </p:nvGrpSpPr>
        <p:grpSpPr>
          <a:xfrm>
            <a:off x="6407498" y="1992925"/>
            <a:ext cx="2186789" cy="698700"/>
            <a:chOff x="2623813" y="3128950"/>
            <a:chExt cx="2476825" cy="698700"/>
          </a:xfrm>
        </p:grpSpPr>
        <p:sp>
          <p:nvSpPr>
            <p:cNvPr id="1229" name="Google Shape;1229;p96"/>
            <p:cNvSpPr/>
            <p:nvPr/>
          </p:nvSpPr>
          <p:spPr>
            <a:xfrm>
              <a:off x="2763738" y="33335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0" name="Google Shape;1230;p96"/>
            <p:cNvSpPr/>
            <p:nvPr/>
          </p:nvSpPr>
          <p:spPr>
            <a:xfrm>
              <a:off x="2623813" y="36192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1" name="Google Shape;1231;p96"/>
            <p:cNvSpPr/>
            <p:nvPr/>
          </p:nvSpPr>
          <p:spPr>
            <a:xfrm>
              <a:off x="275158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2" name="Google Shape;1232;p96"/>
            <p:cNvSpPr/>
            <p:nvPr/>
          </p:nvSpPr>
          <p:spPr>
            <a:xfrm>
              <a:off x="2687288" y="34287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3" name="Google Shape;1233;p96"/>
            <p:cNvSpPr/>
            <p:nvPr/>
          </p:nvSpPr>
          <p:spPr>
            <a:xfrm>
              <a:off x="2623813" y="374520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4" name="Google Shape;1234;p96"/>
            <p:cNvSpPr/>
            <p:nvPr/>
          </p:nvSpPr>
          <p:spPr>
            <a:xfrm>
              <a:off x="3162500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5" name="Google Shape;1235;p96"/>
            <p:cNvSpPr/>
            <p:nvPr/>
          </p:nvSpPr>
          <p:spPr>
            <a:xfrm>
              <a:off x="29475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6" name="Google Shape;1236;p96"/>
            <p:cNvSpPr/>
            <p:nvPr/>
          </p:nvSpPr>
          <p:spPr>
            <a:xfrm>
              <a:off x="3785713" y="32172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7" name="Google Shape;1237;p96"/>
            <p:cNvSpPr/>
            <p:nvPr/>
          </p:nvSpPr>
          <p:spPr>
            <a:xfrm>
              <a:off x="37901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8" name="Google Shape;1238;p96"/>
            <p:cNvSpPr/>
            <p:nvPr/>
          </p:nvSpPr>
          <p:spPr>
            <a:xfrm>
              <a:off x="3719738" y="34077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9" name="Google Shape;1239;p96"/>
            <p:cNvSpPr/>
            <p:nvPr/>
          </p:nvSpPr>
          <p:spPr>
            <a:xfrm>
              <a:off x="3842138" y="33124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0" name="Google Shape;1240;p96"/>
            <p:cNvSpPr/>
            <p:nvPr/>
          </p:nvSpPr>
          <p:spPr>
            <a:xfrm>
              <a:off x="3268938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1" name="Google Shape;1241;p96"/>
            <p:cNvSpPr/>
            <p:nvPr/>
          </p:nvSpPr>
          <p:spPr>
            <a:xfrm>
              <a:off x="3607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2" name="Google Shape;1242;p96"/>
            <p:cNvSpPr/>
            <p:nvPr/>
          </p:nvSpPr>
          <p:spPr>
            <a:xfrm>
              <a:off x="42698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3" name="Google Shape;1243;p96"/>
            <p:cNvSpPr/>
            <p:nvPr/>
          </p:nvSpPr>
          <p:spPr>
            <a:xfrm>
              <a:off x="307166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4" name="Google Shape;1244;p96"/>
            <p:cNvSpPr/>
            <p:nvPr/>
          </p:nvSpPr>
          <p:spPr>
            <a:xfrm>
              <a:off x="3448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5" name="Google Shape;1245;p96"/>
            <p:cNvSpPr/>
            <p:nvPr/>
          </p:nvSpPr>
          <p:spPr>
            <a:xfrm>
              <a:off x="4131813" y="35138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6" name="Google Shape;1246;p96"/>
            <p:cNvSpPr/>
            <p:nvPr/>
          </p:nvSpPr>
          <p:spPr>
            <a:xfrm>
              <a:off x="4814738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7" name="Google Shape;1247;p96"/>
            <p:cNvSpPr/>
            <p:nvPr/>
          </p:nvSpPr>
          <p:spPr>
            <a:xfrm>
              <a:off x="4595213" y="36199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8" name="Google Shape;1248;p96"/>
            <p:cNvSpPr/>
            <p:nvPr/>
          </p:nvSpPr>
          <p:spPr>
            <a:xfrm>
              <a:off x="4740538" y="342808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49" name="Google Shape;1249;p96"/>
            <p:cNvSpPr/>
            <p:nvPr/>
          </p:nvSpPr>
          <p:spPr>
            <a:xfrm>
              <a:off x="4814738" y="33321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0" name="Google Shape;1250;p96"/>
            <p:cNvSpPr/>
            <p:nvPr/>
          </p:nvSpPr>
          <p:spPr>
            <a:xfrm>
              <a:off x="4510413" y="3524031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1" name="Google Shape;1251;p96"/>
            <p:cNvSpPr/>
            <p:nvPr/>
          </p:nvSpPr>
          <p:spPr>
            <a:xfrm>
              <a:off x="4061438" y="3404056"/>
              <a:ext cx="2859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2" name="Google Shape;1252;p96"/>
            <p:cNvSpPr/>
            <p:nvPr/>
          </p:nvSpPr>
          <p:spPr>
            <a:xfrm>
              <a:off x="275084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3" name="Google Shape;1253;p96"/>
            <p:cNvSpPr/>
            <p:nvPr/>
          </p:nvSpPr>
          <p:spPr>
            <a:xfrm>
              <a:off x="3272255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4" name="Google Shape;1254;p96"/>
            <p:cNvSpPr/>
            <p:nvPr/>
          </p:nvSpPr>
          <p:spPr>
            <a:xfrm>
              <a:off x="361533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5" name="Google Shape;1255;p96"/>
            <p:cNvSpPr/>
            <p:nvPr/>
          </p:nvSpPr>
          <p:spPr>
            <a:xfrm>
              <a:off x="4265180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56" name="Google Shape;1256;p96"/>
            <p:cNvSpPr/>
            <p:nvPr/>
          </p:nvSpPr>
          <p:spPr>
            <a:xfrm>
              <a:off x="4816152" y="374520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1257" name="Google Shape;1257;p96"/>
            <p:cNvCxnSpPr/>
            <p:nvPr/>
          </p:nvCxnSpPr>
          <p:spPr>
            <a:xfrm rot="10800000">
              <a:off x="275427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58" name="Google Shape;1258;p96"/>
            <p:cNvCxnSpPr/>
            <p:nvPr/>
          </p:nvCxnSpPr>
          <p:spPr>
            <a:xfrm rot="10800000">
              <a:off x="28583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59" name="Google Shape;1259;p96"/>
            <p:cNvCxnSpPr/>
            <p:nvPr/>
          </p:nvCxnSpPr>
          <p:spPr>
            <a:xfrm rot="10800000">
              <a:off x="32680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60" name="Google Shape;1260;p96"/>
            <p:cNvCxnSpPr/>
            <p:nvPr/>
          </p:nvCxnSpPr>
          <p:spPr>
            <a:xfrm rot="10800000">
              <a:off x="33730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61" name="Google Shape;1261;p96"/>
            <p:cNvCxnSpPr/>
            <p:nvPr/>
          </p:nvCxnSpPr>
          <p:spPr>
            <a:xfrm rot="10800000">
              <a:off x="36139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62" name="Google Shape;1262;p96"/>
            <p:cNvCxnSpPr/>
            <p:nvPr/>
          </p:nvCxnSpPr>
          <p:spPr>
            <a:xfrm rot="10800000">
              <a:off x="372666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63" name="Google Shape;1263;p96"/>
            <p:cNvCxnSpPr/>
            <p:nvPr/>
          </p:nvCxnSpPr>
          <p:spPr>
            <a:xfrm rot="10800000">
              <a:off x="4269213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64" name="Google Shape;1264;p96"/>
            <p:cNvCxnSpPr/>
            <p:nvPr/>
          </p:nvCxnSpPr>
          <p:spPr>
            <a:xfrm rot="10800000">
              <a:off x="4373288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65" name="Google Shape;1265;p96"/>
            <p:cNvCxnSpPr/>
            <p:nvPr/>
          </p:nvCxnSpPr>
          <p:spPr>
            <a:xfrm rot="10800000">
              <a:off x="4815225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266" name="Google Shape;1266;p96"/>
            <p:cNvCxnSpPr/>
            <p:nvPr/>
          </p:nvCxnSpPr>
          <p:spPr>
            <a:xfrm rot="10800000">
              <a:off x="4920550" y="3128950"/>
              <a:ext cx="0" cy="698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267" name="Google Shape;1267;p96"/>
            <p:cNvSpPr/>
            <p:nvPr/>
          </p:nvSpPr>
          <p:spPr>
            <a:xfrm>
              <a:off x="481615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68" name="Google Shape;1268;p96"/>
            <p:cNvSpPr/>
            <p:nvPr/>
          </p:nvSpPr>
          <p:spPr>
            <a:xfrm>
              <a:off x="4816152" y="33321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69" name="Google Shape;1269;p96"/>
            <p:cNvSpPr/>
            <p:nvPr/>
          </p:nvSpPr>
          <p:spPr>
            <a:xfrm>
              <a:off x="4265180" y="3623650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0" name="Google Shape;1270;p96"/>
            <p:cNvSpPr/>
            <p:nvPr/>
          </p:nvSpPr>
          <p:spPr>
            <a:xfrm>
              <a:off x="3615330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1" name="Google Shape;1271;p96"/>
            <p:cNvSpPr/>
            <p:nvPr/>
          </p:nvSpPr>
          <p:spPr>
            <a:xfrm>
              <a:off x="3272255" y="361997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2" name="Google Shape;1272;p96"/>
            <p:cNvSpPr/>
            <p:nvPr/>
          </p:nvSpPr>
          <p:spPr>
            <a:xfrm>
              <a:off x="2750842" y="35240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3" name="Google Shape;1273;p96"/>
            <p:cNvSpPr/>
            <p:nvPr/>
          </p:nvSpPr>
          <p:spPr>
            <a:xfrm>
              <a:off x="2750842" y="3333525"/>
              <a:ext cx="104400" cy="66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274" name="Google Shape;1274;p96"/>
          <p:cNvGrpSpPr/>
          <p:nvPr/>
        </p:nvGrpSpPr>
        <p:grpSpPr>
          <a:xfrm>
            <a:off x="6384533" y="3592513"/>
            <a:ext cx="2307855" cy="914400"/>
            <a:chOff x="5102488" y="2899700"/>
            <a:chExt cx="2600400" cy="914400"/>
          </a:xfrm>
        </p:grpSpPr>
        <p:sp>
          <p:nvSpPr>
            <p:cNvPr id="1275" name="Google Shape;1275;p96"/>
            <p:cNvSpPr/>
            <p:nvPr/>
          </p:nvSpPr>
          <p:spPr>
            <a:xfrm>
              <a:off x="5102488" y="2899700"/>
              <a:ext cx="26004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6" name="Google Shape;1276;p96"/>
            <p:cNvGrpSpPr/>
            <p:nvPr/>
          </p:nvGrpSpPr>
          <p:grpSpPr>
            <a:xfrm>
              <a:off x="5164263" y="3031369"/>
              <a:ext cx="2476832" cy="594569"/>
              <a:chOff x="5452738" y="3217231"/>
              <a:chExt cx="2476832" cy="594569"/>
            </a:xfrm>
          </p:grpSpPr>
          <p:sp>
            <p:nvSpPr>
              <p:cNvPr id="1277" name="Google Shape;1277;p96"/>
              <p:cNvSpPr/>
              <p:nvPr/>
            </p:nvSpPr>
            <p:spPr>
              <a:xfrm>
                <a:off x="5687271" y="3333525"/>
                <a:ext cx="1914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78" name="Google Shape;1278;p96"/>
              <p:cNvSpPr/>
              <p:nvPr/>
            </p:nvSpPr>
            <p:spPr>
              <a:xfrm>
                <a:off x="5452738" y="36192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79" name="Google Shape;1279;p96"/>
              <p:cNvSpPr/>
              <p:nvPr/>
            </p:nvSpPr>
            <p:spPr>
              <a:xfrm>
                <a:off x="56872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0" name="Google Shape;1280;p96"/>
              <p:cNvSpPr/>
              <p:nvPr/>
            </p:nvSpPr>
            <p:spPr>
              <a:xfrm>
                <a:off x="5516213" y="34287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1" name="Google Shape;1281;p96"/>
              <p:cNvSpPr/>
              <p:nvPr/>
            </p:nvSpPr>
            <p:spPr>
              <a:xfrm>
                <a:off x="5452738" y="3745200"/>
                <a:ext cx="2476800" cy="66600"/>
              </a:xfrm>
              <a:prstGeom prst="rect">
                <a:avLst/>
              </a:prstGeom>
              <a:solidFill>
                <a:srgbClr val="0076B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2" name="Google Shape;1282;p96"/>
              <p:cNvSpPr/>
              <p:nvPr/>
            </p:nvSpPr>
            <p:spPr>
              <a:xfrm>
                <a:off x="5991425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3" name="Google Shape;1283;p96"/>
              <p:cNvSpPr/>
              <p:nvPr/>
            </p:nvSpPr>
            <p:spPr>
              <a:xfrm>
                <a:off x="57764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4" name="Google Shape;1284;p96"/>
              <p:cNvSpPr/>
              <p:nvPr/>
            </p:nvSpPr>
            <p:spPr>
              <a:xfrm>
                <a:off x="6614638" y="32172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5" name="Google Shape;1285;p96"/>
              <p:cNvSpPr/>
              <p:nvPr/>
            </p:nvSpPr>
            <p:spPr>
              <a:xfrm>
                <a:off x="66190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6" name="Google Shape;1286;p96"/>
              <p:cNvSpPr/>
              <p:nvPr/>
            </p:nvSpPr>
            <p:spPr>
              <a:xfrm>
                <a:off x="6548663" y="34077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7" name="Google Shape;1287;p96"/>
              <p:cNvSpPr/>
              <p:nvPr/>
            </p:nvSpPr>
            <p:spPr>
              <a:xfrm>
                <a:off x="6671063" y="33124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8" name="Google Shape;1288;p96"/>
              <p:cNvSpPr/>
              <p:nvPr/>
            </p:nvSpPr>
            <p:spPr>
              <a:xfrm>
                <a:off x="6204670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89" name="Google Shape;1289;p96"/>
              <p:cNvSpPr/>
              <p:nvPr/>
            </p:nvSpPr>
            <p:spPr>
              <a:xfrm>
                <a:off x="6563244" y="3619975"/>
                <a:ext cx="1587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0" name="Google Shape;1290;p96"/>
              <p:cNvSpPr/>
              <p:nvPr/>
            </p:nvSpPr>
            <p:spPr>
              <a:xfrm>
                <a:off x="7205545" y="361997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1" name="Google Shape;1291;p96"/>
              <p:cNvSpPr/>
              <p:nvPr/>
            </p:nvSpPr>
            <p:spPr>
              <a:xfrm>
                <a:off x="590058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2" name="Google Shape;1292;p96"/>
              <p:cNvSpPr/>
              <p:nvPr/>
            </p:nvSpPr>
            <p:spPr>
              <a:xfrm>
                <a:off x="6277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3" name="Google Shape;1293;p96"/>
              <p:cNvSpPr/>
              <p:nvPr/>
            </p:nvSpPr>
            <p:spPr>
              <a:xfrm>
                <a:off x="6960738" y="35138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4" name="Google Shape;1294;p96"/>
              <p:cNvSpPr/>
              <p:nvPr/>
            </p:nvSpPr>
            <p:spPr>
              <a:xfrm>
                <a:off x="7750470" y="35240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5" name="Google Shape;1295;p96"/>
              <p:cNvSpPr/>
              <p:nvPr/>
            </p:nvSpPr>
            <p:spPr>
              <a:xfrm>
                <a:off x="7424138" y="36199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6" name="Google Shape;1296;p96"/>
              <p:cNvSpPr/>
              <p:nvPr/>
            </p:nvSpPr>
            <p:spPr>
              <a:xfrm>
                <a:off x="7569463" y="342808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7" name="Google Shape;1297;p96"/>
              <p:cNvSpPr/>
              <p:nvPr/>
            </p:nvSpPr>
            <p:spPr>
              <a:xfrm>
                <a:off x="7750470" y="3332125"/>
                <a:ext cx="1791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8" name="Google Shape;1298;p96"/>
              <p:cNvSpPr/>
              <p:nvPr/>
            </p:nvSpPr>
            <p:spPr>
              <a:xfrm>
                <a:off x="7339338" y="3524031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1299" name="Google Shape;1299;p96"/>
              <p:cNvSpPr/>
              <p:nvPr/>
            </p:nvSpPr>
            <p:spPr>
              <a:xfrm>
                <a:off x="6890363" y="3404056"/>
                <a:ext cx="285900" cy="66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Helvetica Neue"/>
                  <a:buNone/>
                </a:pPr>
                <a:endParaRPr sz="1200" b="0" i="0" u="none" strike="noStrike" cap="non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1300" name="Google Shape;1300;p96"/>
          <p:cNvSpPr/>
          <p:nvPr/>
        </p:nvSpPr>
        <p:spPr>
          <a:xfrm>
            <a:off x="7418625" y="2909263"/>
            <a:ext cx="357000" cy="5445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1" name="Google Shape;1301;p96"/>
          <p:cNvGrpSpPr/>
          <p:nvPr/>
        </p:nvGrpSpPr>
        <p:grpSpPr>
          <a:xfrm>
            <a:off x="261415" y="4105738"/>
            <a:ext cx="2186767" cy="225525"/>
            <a:chOff x="6125625" y="1600925"/>
            <a:chExt cx="2476800" cy="225525"/>
          </a:xfrm>
        </p:grpSpPr>
        <p:sp>
          <p:nvSpPr>
            <p:cNvPr id="1302" name="Google Shape;1302;p96"/>
            <p:cNvSpPr/>
            <p:nvPr/>
          </p:nvSpPr>
          <p:spPr>
            <a:xfrm>
              <a:off x="6125625" y="1759850"/>
              <a:ext cx="2476800" cy="66600"/>
            </a:xfrm>
            <a:prstGeom prst="rect">
              <a:avLst/>
            </a:prstGeom>
            <a:solidFill>
              <a:srgbClr val="0076B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3" name="Google Shape;1303;p96"/>
            <p:cNvSpPr/>
            <p:nvPr/>
          </p:nvSpPr>
          <p:spPr>
            <a:xfrm>
              <a:off x="6125625" y="1600925"/>
              <a:ext cx="2476800" cy="6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4" name="Google Shape;1304;p96"/>
            <p:cNvSpPr/>
            <p:nvPr/>
          </p:nvSpPr>
          <p:spPr>
            <a:xfrm>
              <a:off x="6515761" y="1600938"/>
              <a:ext cx="53400" cy="66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5" name="Google Shape;1305;p96"/>
            <p:cNvSpPr/>
            <p:nvPr/>
          </p:nvSpPr>
          <p:spPr>
            <a:xfrm>
              <a:off x="6631297" y="1600938"/>
              <a:ext cx="53400" cy="66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6" name="Google Shape;1306;p96"/>
            <p:cNvSpPr/>
            <p:nvPr/>
          </p:nvSpPr>
          <p:spPr>
            <a:xfrm>
              <a:off x="7826641" y="1600938"/>
              <a:ext cx="53400" cy="66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307" name="Google Shape;1307;p96"/>
          <p:cNvSpPr txBox="1"/>
          <p:nvPr/>
        </p:nvSpPr>
        <p:spPr>
          <a:xfrm>
            <a:off x="3066375" y="3748750"/>
            <a:ext cx="175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Consensus Sequence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96"/>
          <p:cNvSpPr/>
          <p:nvPr/>
        </p:nvSpPr>
        <p:spPr>
          <a:xfrm>
            <a:off x="5551050" y="2230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Trim Primers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96"/>
          <p:cNvSpPr/>
          <p:nvPr/>
        </p:nvSpPr>
        <p:spPr>
          <a:xfrm rot="5400000">
            <a:off x="2661598" y="3922725"/>
            <a:ext cx="357000" cy="643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96"/>
          <p:cNvSpPr txBox="1"/>
          <p:nvPr/>
        </p:nvSpPr>
        <p:spPr>
          <a:xfrm>
            <a:off x="2524375" y="4014200"/>
            <a:ext cx="654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Variants</a:t>
            </a:r>
            <a:endParaRPr sz="900" b="0" i="1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1" name="Google Shape;1311;p96"/>
          <p:cNvSpPr/>
          <p:nvPr/>
        </p:nvSpPr>
        <p:spPr>
          <a:xfrm>
            <a:off x="7979100" y="0"/>
            <a:ext cx="1164900" cy="69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2" name="Google Shape;1312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0" y="59667"/>
            <a:ext cx="995022" cy="3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96"/>
          <p:cNvSpPr/>
          <p:nvPr/>
        </p:nvSpPr>
        <p:spPr>
          <a:xfrm>
            <a:off x="770625" y="2230525"/>
            <a:ext cx="5826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QC/ H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uman Read</a:t>
            </a:r>
            <a:r>
              <a:rPr lang="en" sz="9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 sz="900" i="1">
                <a:latin typeface="Helvetica Neue"/>
                <a:ea typeface="Helvetica Neue"/>
                <a:cs typeface="Helvetica Neue"/>
                <a:sym typeface="Helvetica Neue"/>
              </a:rPr>
              <a:t>Removal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96"/>
          <p:cNvSpPr txBox="1"/>
          <p:nvPr/>
        </p:nvSpPr>
        <p:spPr>
          <a:xfrm>
            <a:off x="1845675" y="65911"/>
            <a:ext cx="59286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Genome</a:t>
            </a:r>
            <a:r>
              <a:rPr lang="en" sz="2800">
                <a:solidFill>
                  <a:schemeClr val="dk1"/>
                </a:solidFill>
              </a:rPr>
              <a:t> Assembly Pipeline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96"/>
          <p:cNvSpPr txBox="1"/>
          <p:nvPr/>
        </p:nvSpPr>
        <p:spPr>
          <a:xfrm>
            <a:off x="-1" y="4506925"/>
            <a:ext cx="4952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Notes: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Variant calling software: </a:t>
            </a:r>
            <a:r>
              <a:rPr lang="en" u="sng">
                <a:solidFill>
                  <a:schemeClr val="hlink"/>
                </a:solidFill>
                <a:hlinkClick r:id="rId4"/>
              </a:rPr>
              <a:t>BCFtools and samtools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97"/>
          <p:cNvPicPr preferRelativeResize="0"/>
          <p:nvPr/>
        </p:nvPicPr>
        <p:blipFill rotWithShape="1">
          <a:blip r:embed="rId3">
            <a:alphaModFix/>
          </a:blip>
          <a:srcRect l="13958" t="22058" r="13979" b="13425"/>
          <a:stretch/>
        </p:blipFill>
        <p:spPr>
          <a:xfrm>
            <a:off x="247475" y="625000"/>
            <a:ext cx="8708077" cy="4385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97"/>
          <p:cNvSpPr txBox="1"/>
          <p:nvPr/>
        </p:nvSpPr>
        <p:spPr>
          <a:xfrm>
            <a:off x="904650" y="62511"/>
            <a:ext cx="73347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/>
              <a:t>Genome Report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2" name="Google Shape;1322;p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10" y="59667"/>
            <a:ext cx="995021" cy="324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98"/>
          <p:cNvSpPr/>
          <p:nvPr/>
        </p:nvSpPr>
        <p:spPr>
          <a:xfrm>
            <a:off x="258075" y="1071250"/>
            <a:ext cx="1708500" cy="69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Upload Files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8" name="Google Shape;1328;p98"/>
          <p:cNvSpPr/>
          <p:nvPr/>
        </p:nvSpPr>
        <p:spPr>
          <a:xfrm>
            <a:off x="258075" y="1896350"/>
            <a:ext cx="1708500" cy="69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Genome Assembly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9" name="Google Shape;1329;p98"/>
          <p:cNvSpPr/>
          <p:nvPr/>
        </p:nvSpPr>
        <p:spPr>
          <a:xfrm>
            <a:off x="258075" y="2728000"/>
            <a:ext cx="1708500" cy="690300"/>
          </a:xfrm>
          <a:prstGeom prst="roundRect">
            <a:avLst>
              <a:gd name="adj" fmla="val 16667"/>
            </a:avLst>
          </a:prstGeom>
          <a:solidFill>
            <a:srgbClr val="1C45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Assembly QC</a:t>
            </a:r>
            <a:endParaRPr sz="14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0" name="Google Shape;1330;p98"/>
          <p:cNvSpPr/>
          <p:nvPr/>
        </p:nvSpPr>
        <p:spPr>
          <a:xfrm>
            <a:off x="258075" y="3559650"/>
            <a:ext cx="1708500" cy="690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Alignment &amp; Phylogeny</a:t>
            </a:r>
            <a:endParaRPr sz="1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1" name="Google Shape;1331;p98"/>
          <p:cNvSpPr txBox="1"/>
          <p:nvPr/>
        </p:nvSpPr>
        <p:spPr>
          <a:xfrm>
            <a:off x="2086975" y="2904862"/>
            <a:ext cx="71712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Can I use the asse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mbled </a:t>
            </a:r>
            <a:r>
              <a:rPr lang="en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consensus genome for downstream analyses?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2" name="Google Shape;1332;p98"/>
          <p:cNvSpPr/>
          <p:nvPr/>
        </p:nvSpPr>
        <p:spPr>
          <a:xfrm>
            <a:off x="1018428" y="1761572"/>
            <a:ext cx="187800" cy="13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98"/>
          <p:cNvSpPr/>
          <p:nvPr/>
        </p:nvSpPr>
        <p:spPr>
          <a:xfrm>
            <a:off x="1018428" y="2596099"/>
            <a:ext cx="187800" cy="13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98"/>
          <p:cNvSpPr/>
          <p:nvPr/>
        </p:nvSpPr>
        <p:spPr>
          <a:xfrm>
            <a:off x="1018428" y="3418322"/>
            <a:ext cx="187800" cy="132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F3F3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98"/>
          <p:cNvSpPr txBox="1"/>
          <p:nvPr/>
        </p:nvSpPr>
        <p:spPr>
          <a:xfrm>
            <a:off x="329850" y="137450"/>
            <a:ext cx="828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>
                <a:solidFill>
                  <a:srgbClr val="1C4587"/>
                </a:solidFill>
              </a:rPr>
              <a:t>Workflow for Generating</a:t>
            </a:r>
            <a:r>
              <a:rPr lang="en" sz="2800" b="0" i="0" u="none" strike="noStrike" cap="non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Consensus Genomes</a:t>
            </a:r>
            <a:endParaRPr sz="2800" b="0" i="0" u="none" strike="noStrike" cap="non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0" name="Google Shape;1340;p99"/>
          <p:cNvPicPr preferRelativeResize="0"/>
          <p:nvPr/>
        </p:nvPicPr>
        <p:blipFill rotWithShape="1">
          <a:blip r:embed="rId3">
            <a:alphaModFix/>
          </a:blip>
          <a:srcRect l="13958" t="22058" r="13980" b="13426"/>
          <a:stretch/>
        </p:blipFill>
        <p:spPr>
          <a:xfrm>
            <a:off x="247475" y="625000"/>
            <a:ext cx="8708075" cy="4385353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99"/>
          <p:cNvSpPr txBox="1"/>
          <p:nvPr/>
        </p:nvSpPr>
        <p:spPr>
          <a:xfrm>
            <a:off x="904650" y="62511"/>
            <a:ext cx="73347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QC Check</a:t>
            </a:r>
            <a:r>
              <a:rPr lang="en" sz="2800"/>
              <a:t>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2" name="Google Shape;1342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10" y="59667"/>
            <a:ext cx="995022" cy="3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1343" name="Google Shape;1343;p99"/>
          <p:cNvSpPr/>
          <p:nvPr/>
        </p:nvSpPr>
        <p:spPr>
          <a:xfrm>
            <a:off x="3002325" y="1936975"/>
            <a:ext cx="5748600" cy="7332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99"/>
          <p:cNvSpPr/>
          <p:nvPr/>
        </p:nvSpPr>
        <p:spPr>
          <a:xfrm>
            <a:off x="454975" y="3171600"/>
            <a:ext cx="8295900" cy="1646100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99"/>
          <p:cNvSpPr txBox="1"/>
          <p:nvPr/>
        </p:nvSpPr>
        <p:spPr>
          <a:xfrm>
            <a:off x="4680275" y="1577375"/>
            <a:ext cx="21063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Assembly Metrics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46" name="Google Shape;1346;p99"/>
          <p:cNvSpPr txBox="1"/>
          <p:nvPr/>
        </p:nvSpPr>
        <p:spPr>
          <a:xfrm>
            <a:off x="3436250" y="2799300"/>
            <a:ext cx="2106300" cy="3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Coverage Stats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100"/>
          <p:cNvSpPr txBox="1">
            <a:spLocks noGrp="1"/>
          </p:cNvSpPr>
          <p:nvPr>
            <p:ph type="title"/>
          </p:nvPr>
        </p:nvSpPr>
        <p:spPr>
          <a:xfrm>
            <a:off x="311700" y="76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Genome QC: Assembly Metrics</a:t>
            </a:r>
            <a:endParaRPr sz="2400"/>
          </a:p>
        </p:txBody>
      </p:sp>
      <p:sp>
        <p:nvSpPr>
          <p:cNvPr id="1352" name="Google Shape;1352;p100"/>
          <p:cNvSpPr txBox="1">
            <a:spLocks noGrp="1"/>
          </p:cNvSpPr>
          <p:nvPr>
            <p:ph type="body" idx="1"/>
          </p:nvPr>
        </p:nvSpPr>
        <p:spPr>
          <a:xfrm>
            <a:off x="311700" y="877500"/>
            <a:ext cx="8672100" cy="3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Mapped Reads</a:t>
            </a:r>
            <a:r>
              <a:rPr lang="en" sz="1800"/>
              <a:t> - Number of reads aligning to the reference accession.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GC Content</a:t>
            </a:r>
            <a:r>
              <a:rPr lang="en" sz="1800"/>
              <a:t> - Percentage of bases in the consensus that are either guanine (G) or cytosine (C) (should be close %GC of the reference sequence).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SNPs</a:t>
            </a:r>
            <a:r>
              <a:rPr lang="en" sz="1800"/>
              <a:t> (</a:t>
            </a:r>
            <a:r>
              <a:rPr lang="en" sz="1800" u="sng"/>
              <a:t>s</a:t>
            </a:r>
            <a:r>
              <a:rPr lang="en" sz="1800"/>
              <a:t>ingle </a:t>
            </a:r>
            <a:r>
              <a:rPr lang="en" sz="1800" u="sng"/>
              <a:t>n</a:t>
            </a:r>
            <a:r>
              <a:rPr lang="en" sz="1800"/>
              <a:t>ucleotide </a:t>
            </a:r>
            <a:r>
              <a:rPr lang="en" sz="1800" u="sng"/>
              <a:t>p</a:t>
            </a:r>
            <a:r>
              <a:rPr lang="en" sz="1800"/>
              <a:t>olymorphisms) - Represent single nucleotide variations between the reference accession and consensus genome.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% Identity (id)</a:t>
            </a:r>
            <a:r>
              <a:rPr lang="en" sz="1800"/>
              <a:t> - Percentage of nucleotides in the consensus genome that are identical to those in the reference accession.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01"/>
          <p:cNvSpPr txBox="1">
            <a:spLocks noGrp="1"/>
          </p:cNvSpPr>
          <p:nvPr>
            <p:ph type="title"/>
          </p:nvPr>
        </p:nvSpPr>
        <p:spPr>
          <a:xfrm>
            <a:off x="311700" y="116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Genome QC: Assembly Metrics (Continued)</a:t>
            </a:r>
            <a:endParaRPr sz="2400"/>
          </a:p>
        </p:txBody>
      </p:sp>
      <p:sp>
        <p:nvSpPr>
          <p:cNvPr id="1358" name="Google Shape;1358;p101"/>
          <p:cNvSpPr txBox="1">
            <a:spLocks noGrp="1"/>
          </p:cNvSpPr>
          <p:nvPr>
            <p:ph type="body" idx="1"/>
          </p:nvPr>
        </p:nvSpPr>
        <p:spPr>
          <a:xfrm>
            <a:off x="311700" y="796750"/>
            <a:ext cx="8672100" cy="3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Informative Bases </a:t>
            </a:r>
            <a:r>
              <a:rPr lang="en" sz="1800"/>
              <a:t>- Number of nucleotides that are A,T,C, or G. CZ ID’s consensus genome pipeline only calls nucleotides supported by at least 5 (mNGS data) or 10 (amplicon data) reads.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% Genome Called</a:t>
            </a:r>
            <a:r>
              <a:rPr lang="en" sz="1800"/>
              <a:t> - Percentage of the genome meeting thresholds for calling consensus bases. The closer this number is to 100%, the better.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Missing Bases</a:t>
            </a:r>
            <a:r>
              <a:rPr lang="en" sz="1800"/>
              <a:t> - Number of Ns in the consensus genome.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Ambiguous Bases</a:t>
            </a:r>
            <a:r>
              <a:rPr lang="en" sz="1800"/>
              <a:t> - Number of degenerate bases (non-C, T, G, or A) in the consensus genome. CZ ID’s consensus genome pipeline only calls nucleotides that are detected at least at 75% frequency.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3" name="Google Shape;1363;p102"/>
          <p:cNvCxnSpPr/>
          <p:nvPr/>
        </p:nvCxnSpPr>
        <p:spPr>
          <a:xfrm rot="10800000">
            <a:off x="1014800" y="1918375"/>
            <a:ext cx="0" cy="577500"/>
          </a:xfrm>
          <a:prstGeom prst="straightConnector1">
            <a:avLst/>
          </a:prstGeom>
          <a:noFill/>
          <a:ln w="28575" cap="flat" cmpd="sng">
            <a:solidFill>
              <a:srgbClr val="FF644E"/>
            </a:solidFill>
            <a:prstDash val="dash"/>
            <a:round/>
            <a:headEnd type="diamond" w="med" len="med"/>
            <a:tailEnd type="diamond" w="med" len="med"/>
          </a:ln>
        </p:spPr>
      </p:cxnSp>
      <p:sp>
        <p:nvSpPr>
          <p:cNvPr id="1364" name="Google Shape;1364;p102"/>
          <p:cNvSpPr txBox="1"/>
          <p:nvPr/>
        </p:nvSpPr>
        <p:spPr>
          <a:xfrm>
            <a:off x="0" y="1879375"/>
            <a:ext cx="11643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Aligned to Reference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5" name="Google Shape;1365;p102"/>
          <p:cNvPicPr preferRelativeResize="0"/>
          <p:nvPr/>
        </p:nvPicPr>
        <p:blipFill rotWithShape="1">
          <a:blip r:embed="rId3">
            <a:alphaModFix/>
          </a:blip>
          <a:srcRect l="22197" t="66922" r="23754" b="19921"/>
          <a:stretch/>
        </p:blipFill>
        <p:spPr>
          <a:xfrm>
            <a:off x="1044500" y="1760425"/>
            <a:ext cx="7982848" cy="10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102"/>
          <p:cNvPicPr preferRelativeResize="0"/>
          <p:nvPr/>
        </p:nvPicPr>
        <p:blipFill rotWithShape="1">
          <a:blip r:embed="rId4">
            <a:alphaModFix/>
          </a:blip>
          <a:srcRect l="20849" t="64575" r="17612" b="18859"/>
          <a:stretch/>
        </p:blipFill>
        <p:spPr>
          <a:xfrm>
            <a:off x="1234025" y="3782775"/>
            <a:ext cx="7751347" cy="11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2"/>
          <p:cNvSpPr txBox="1"/>
          <p:nvPr/>
        </p:nvSpPr>
        <p:spPr>
          <a:xfrm>
            <a:off x="152400" y="3964750"/>
            <a:ext cx="11055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Aligned to Reference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68" name="Google Shape;1368;p102"/>
          <p:cNvCxnSpPr/>
          <p:nvPr/>
        </p:nvCxnSpPr>
        <p:spPr>
          <a:xfrm rot="10800000">
            <a:off x="1243400" y="3975775"/>
            <a:ext cx="0" cy="577500"/>
          </a:xfrm>
          <a:prstGeom prst="straightConnector1">
            <a:avLst/>
          </a:prstGeom>
          <a:noFill/>
          <a:ln w="28575" cap="flat" cmpd="sng">
            <a:solidFill>
              <a:srgbClr val="FF644E"/>
            </a:solidFill>
            <a:prstDash val="dash"/>
            <a:round/>
            <a:headEnd type="diamond" w="med" len="med"/>
            <a:tailEnd type="diamond" w="med" len="med"/>
          </a:ln>
        </p:spPr>
      </p:cxnSp>
      <p:sp>
        <p:nvSpPr>
          <p:cNvPr id="1369" name="Google Shape;1369;p102"/>
          <p:cNvSpPr txBox="1"/>
          <p:nvPr/>
        </p:nvSpPr>
        <p:spPr>
          <a:xfrm>
            <a:off x="364650" y="52300"/>
            <a:ext cx="84147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coverage plot is a great first QC check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0" name="Google Shape;1370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8575" y="691934"/>
            <a:ext cx="1498776" cy="75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5" name="Google Shape;1375;p103"/>
          <p:cNvCxnSpPr/>
          <p:nvPr/>
        </p:nvCxnSpPr>
        <p:spPr>
          <a:xfrm rot="10800000">
            <a:off x="1014800" y="1918375"/>
            <a:ext cx="0" cy="577500"/>
          </a:xfrm>
          <a:prstGeom prst="straightConnector1">
            <a:avLst/>
          </a:prstGeom>
          <a:noFill/>
          <a:ln w="28575" cap="flat" cmpd="sng">
            <a:solidFill>
              <a:srgbClr val="FF644E"/>
            </a:solidFill>
            <a:prstDash val="dash"/>
            <a:round/>
            <a:headEnd type="diamond" w="med" len="med"/>
            <a:tailEnd type="diamond" w="med" len="med"/>
          </a:ln>
        </p:spPr>
      </p:cxnSp>
      <p:sp>
        <p:nvSpPr>
          <p:cNvPr id="1376" name="Google Shape;1376;p103"/>
          <p:cNvSpPr txBox="1"/>
          <p:nvPr/>
        </p:nvSpPr>
        <p:spPr>
          <a:xfrm>
            <a:off x="0" y="1879375"/>
            <a:ext cx="11643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Aligned to Reference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77" name="Google Shape;1377;p103"/>
          <p:cNvPicPr preferRelativeResize="0"/>
          <p:nvPr/>
        </p:nvPicPr>
        <p:blipFill rotWithShape="1">
          <a:blip r:embed="rId3">
            <a:alphaModFix/>
          </a:blip>
          <a:srcRect l="22198" t="66922" r="23754" b="19921"/>
          <a:stretch/>
        </p:blipFill>
        <p:spPr>
          <a:xfrm>
            <a:off x="1044500" y="1760425"/>
            <a:ext cx="7982850" cy="10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103"/>
          <p:cNvPicPr preferRelativeResize="0"/>
          <p:nvPr/>
        </p:nvPicPr>
        <p:blipFill rotWithShape="1">
          <a:blip r:embed="rId4">
            <a:alphaModFix/>
          </a:blip>
          <a:srcRect l="20849" t="64574" r="17612" b="18860"/>
          <a:stretch/>
        </p:blipFill>
        <p:spPr>
          <a:xfrm>
            <a:off x="1234025" y="3782775"/>
            <a:ext cx="7751350" cy="1173623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103"/>
          <p:cNvSpPr txBox="1"/>
          <p:nvPr/>
        </p:nvSpPr>
        <p:spPr>
          <a:xfrm>
            <a:off x="152400" y="3964750"/>
            <a:ext cx="11055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Aligned to Reference</a:t>
            </a:r>
            <a:endParaRPr sz="1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80" name="Google Shape;1380;p103"/>
          <p:cNvCxnSpPr/>
          <p:nvPr/>
        </p:nvCxnSpPr>
        <p:spPr>
          <a:xfrm rot="10800000">
            <a:off x="1243400" y="3975775"/>
            <a:ext cx="0" cy="577500"/>
          </a:xfrm>
          <a:prstGeom prst="straightConnector1">
            <a:avLst/>
          </a:prstGeom>
          <a:noFill/>
          <a:ln w="28575" cap="flat" cmpd="sng">
            <a:solidFill>
              <a:srgbClr val="FF644E"/>
            </a:solidFill>
            <a:prstDash val="dash"/>
            <a:round/>
            <a:headEnd type="diamond" w="med" len="med"/>
            <a:tailEnd type="diamond" w="med" len="med"/>
          </a:ln>
        </p:spPr>
      </p:cxnSp>
      <p:sp>
        <p:nvSpPr>
          <p:cNvPr id="1381" name="Google Shape;1381;p103"/>
          <p:cNvSpPr txBox="1"/>
          <p:nvPr/>
        </p:nvSpPr>
        <p:spPr>
          <a:xfrm>
            <a:off x="364650" y="52300"/>
            <a:ext cx="84147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coverage plot is a great first QC check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2" name="Google Shape;1382;p103"/>
          <p:cNvPicPr preferRelativeResize="0"/>
          <p:nvPr/>
        </p:nvPicPr>
        <p:blipFill rotWithShape="1">
          <a:blip r:embed="rId5">
            <a:alphaModFix/>
          </a:blip>
          <a:srcRect l="50367"/>
          <a:stretch/>
        </p:blipFill>
        <p:spPr>
          <a:xfrm>
            <a:off x="8283451" y="3992613"/>
            <a:ext cx="743901" cy="753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103"/>
          <p:cNvPicPr preferRelativeResize="0"/>
          <p:nvPr/>
        </p:nvPicPr>
        <p:blipFill rotWithShape="1">
          <a:blip r:embed="rId5">
            <a:alphaModFix/>
          </a:blip>
          <a:srcRect r="50367"/>
          <a:stretch/>
        </p:blipFill>
        <p:spPr>
          <a:xfrm>
            <a:off x="8400100" y="1907238"/>
            <a:ext cx="743901" cy="75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8" name="Google Shape;1388;p104"/>
          <p:cNvCxnSpPr/>
          <p:nvPr/>
        </p:nvCxnSpPr>
        <p:spPr>
          <a:xfrm rot="10800000">
            <a:off x="1683875" y="1939931"/>
            <a:ext cx="0" cy="15309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diamond" w="med" len="med"/>
            <a:tailEnd type="diamond" w="med" len="med"/>
          </a:ln>
        </p:spPr>
      </p:cxnSp>
      <p:sp>
        <p:nvSpPr>
          <p:cNvPr id="1389" name="Google Shape;1389;p104"/>
          <p:cNvSpPr/>
          <p:nvPr/>
        </p:nvSpPr>
        <p:spPr>
          <a:xfrm>
            <a:off x="2166785" y="2301802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0" name="Google Shape;1390;p104"/>
          <p:cNvSpPr/>
          <p:nvPr/>
        </p:nvSpPr>
        <p:spPr>
          <a:xfrm>
            <a:off x="1779825" y="25875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1" name="Google Shape;1391;p104"/>
          <p:cNvSpPr/>
          <p:nvPr/>
        </p:nvSpPr>
        <p:spPr>
          <a:xfrm>
            <a:off x="2133184" y="24923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2" name="Google Shape;1392;p104"/>
          <p:cNvSpPr/>
          <p:nvPr/>
        </p:nvSpPr>
        <p:spPr>
          <a:xfrm>
            <a:off x="1955364" y="23970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3" name="Google Shape;1393;p104"/>
          <p:cNvSpPr/>
          <p:nvPr/>
        </p:nvSpPr>
        <p:spPr>
          <a:xfrm>
            <a:off x="1779825" y="3421593"/>
            <a:ext cx="6547800" cy="666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4" name="Google Shape;1394;p104"/>
          <p:cNvSpPr/>
          <p:nvPr/>
        </p:nvSpPr>
        <p:spPr>
          <a:xfrm>
            <a:off x="3802427" y="289474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5" name="Google Shape;1395;p104"/>
          <p:cNvSpPr/>
          <p:nvPr/>
        </p:nvSpPr>
        <p:spPr>
          <a:xfrm>
            <a:off x="2594338" y="25882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6" name="Google Shape;1396;p104"/>
          <p:cNvSpPr/>
          <p:nvPr/>
        </p:nvSpPr>
        <p:spPr>
          <a:xfrm>
            <a:off x="3427047" y="2588250"/>
            <a:ext cx="6171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7" name="Google Shape;1397;p104"/>
          <p:cNvSpPr/>
          <p:nvPr/>
        </p:nvSpPr>
        <p:spPr>
          <a:xfrm>
            <a:off x="2957444" y="24923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8" name="Google Shape;1398;p104"/>
          <p:cNvSpPr/>
          <p:nvPr/>
        </p:nvSpPr>
        <p:spPr>
          <a:xfrm>
            <a:off x="2076937" y="22065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9" name="Google Shape;1399;p104"/>
          <p:cNvSpPr/>
          <p:nvPr/>
        </p:nvSpPr>
        <p:spPr>
          <a:xfrm>
            <a:off x="2227686" y="211130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0" name="Google Shape;1400;p104"/>
          <p:cNvSpPr/>
          <p:nvPr/>
        </p:nvSpPr>
        <p:spPr>
          <a:xfrm>
            <a:off x="2794577" y="23970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1" name="Google Shape;1401;p104"/>
          <p:cNvSpPr/>
          <p:nvPr/>
        </p:nvSpPr>
        <p:spPr>
          <a:xfrm>
            <a:off x="2923841" y="22065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2" name="Google Shape;1402;p104"/>
          <p:cNvSpPr/>
          <p:nvPr/>
        </p:nvSpPr>
        <p:spPr>
          <a:xfrm>
            <a:off x="2227686" y="20160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3" name="Google Shape;1403;p104"/>
          <p:cNvSpPr/>
          <p:nvPr/>
        </p:nvSpPr>
        <p:spPr>
          <a:xfrm>
            <a:off x="2133176" y="192080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4" name="Google Shape;1404;p104"/>
          <p:cNvSpPr txBox="1"/>
          <p:nvPr/>
        </p:nvSpPr>
        <p:spPr>
          <a:xfrm>
            <a:off x="271400" y="1835000"/>
            <a:ext cx="13374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</a:rPr>
              <a:t>Raw Reads Aligned to Reference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05" name="Google Shape;1405;p104"/>
          <p:cNvSpPr txBox="1"/>
          <p:nvPr/>
        </p:nvSpPr>
        <p:spPr>
          <a:xfrm>
            <a:off x="271400" y="3195575"/>
            <a:ext cx="13374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</a:rPr>
              <a:t>Reference Genome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06" name="Google Shape;1406;p104"/>
          <p:cNvSpPr txBox="1"/>
          <p:nvPr/>
        </p:nvSpPr>
        <p:spPr>
          <a:xfrm>
            <a:off x="1391875" y="3948450"/>
            <a:ext cx="32172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b="1" i="0" u="none" strike="noStrike" cap="none">
                <a:solidFill>
                  <a:schemeClr val="accent5"/>
                </a:solidFill>
              </a:rPr>
              <a:t>Coverage Depth:</a:t>
            </a:r>
            <a:r>
              <a:rPr lang="en" i="0" u="none" strike="noStrike" cap="none">
                <a:solidFill>
                  <a:srgbClr val="000000"/>
                </a:solidFill>
              </a:rPr>
              <a:t> # of times a nucleotide is read during sequencing</a:t>
            </a:r>
            <a:endParaRPr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07" name="Google Shape;1407;p104"/>
          <p:cNvSpPr/>
          <p:nvPr/>
        </p:nvSpPr>
        <p:spPr>
          <a:xfrm>
            <a:off x="2166785" y="2987602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8" name="Google Shape;1408;p104"/>
          <p:cNvSpPr/>
          <p:nvPr/>
        </p:nvSpPr>
        <p:spPr>
          <a:xfrm>
            <a:off x="1779825" y="32733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9" name="Google Shape;1409;p104"/>
          <p:cNvSpPr/>
          <p:nvPr/>
        </p:nvSpPr>
        <p:spPr>
          <a:xfrm>
            <a:off x="2133184" y="31781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0" name="Google Shape;1410;p104"/>
          <p:cNvSpPr/>
          <p:nvPr/>
        </p:nvSpPr>
        <p:spPr>
          <a:xfrm>
            <a:off x="1955364" y="30828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1" name="Google Shape;1411;p104"/>
          <p:cNvSpPr/>
          <p:nvPr/>
        </p:nvSpPr>
        <p:spPr>
          <a:xfrm>
            <a:off x="3018352" y="298760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2" name="Google Shape;1412;p104"/>
          <p:cNvSpPr/>
          <p:nvPr/>
        </p:nvSpPr>
        <p:spPr>
          <a:xfrm>
            <a:off x="2594338" y="32740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3" name="Google Shape;1413;p104"/>
          <p:cNvSpPr/>
          <p:nvPr/>
        </p:nvSpPr>
        <p:spPr>
          <a:xfrm>
            <a:off x="3427047" y="3274050"/>
            <a:ext cx="6171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4" name="Google Shape;1414;p104"/>
          <p:cNvSpPr/>
          <p:nvPr/>
        </p:nvSpPr>
        <p:spPr>
          <a:xfrm>
            <a:off x="2957444" y="31781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5" name="Google Shape;1415;p104"/>
          <p:cNvSpPr/>
          <p:nvPr/>
        </p:nvSpPr>
        <p:spPr>
          <a:xfrm>
            <a:off x="2076937" y="28923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6" name="Google Shape;1416;p104"/>
          <p:cNvSpPr/>
          <p:nvPr/>
        </p:nvSpPr>
        <p:spPr>
          <a:xfrm>
            <a:off x="2227686" y="279710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7" name="Google Shape;1417;p104"/>
          <p:cNvSpPr/>
          <p:nvPr/>
        </p:nvSpPr>
        <p:spPr>
          <a:xfrm>
            <a:off x="2794577" y="30828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8" name="Google Shape;1418;p104"/>
          <p:cNvSpPr/>
          <p:nvPr/>
        </p:nvSpPr>
        <p:spPr>
          <a:xfrm>
            <a:off x="2923841" y="28923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9" name="Google Shape;1419;p104"/>
          <p:cNvSpPr/>
          <p:nvPr/>
        </p:nvSpPr>
        <p:spPr>
          <a:xfrm>
            <a:off x="2227686" y="27018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0" name="Google Shape;1420;p104"/>
          <p:cNvSpPr/>
          <p:nvPr/>
        </p:nvSpPr>
        <p:spPr>
          <a:xfrm>
            <a:off x="3109844" y="27209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1" name="Google Shape;1421;p104"/>
          <p:cNvSpPr/>
          <p:nvPr/>
        </p:nvSpPr>
        <p:spPr>
          <a:xfrm>
            <a:off x="3802434" y="3157117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2" name="Google Shape;1422;p104"/>
          <p:cNvSpPr/>
          <p:nvPr/>
        </p:nvSpPr>
        <p:spPr>
          <a:xfrm>
            <a:off x="3891741" y="3010626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3" name="Google Shape;1423;p104"/>
          <p:cNvSpPr/>
          <p:nvPr/>
        </p:nvSpPr>
        <p:spPr>
          <a:xfrm>
            <a:off x="3992022" y="2787079"/>
            <a:ext cx="6171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4" name="Google Shape;1424;p104"/>
          <p:cNvSpPr/>
          <p:nvPr/>
        </p:nvSpPr>
        <p:spPr>
          <a:xfrm>
            <a:off x="5631227" y="3168928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5" name="Google Shape;1425;p104"/>
          <p:cNvSpPr/>
          <p:nvPr/>
        </p:nvSpPr>
        <p:spPr>
          <a:xfrm>
            <a:off x="5720541" y="328481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6" name="Google Shape;1426;p104"/>
          <p:cNvSpPr/>
          <p:nvPr/>
        </p:nvSpPr>
        <p:spPr>
          <a:xfrm>
            <a:off x="5820822" y="3061263"/>
            <a:ext cx="6171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7" name="Google Shape;1427;p104"/>
          <p:cNvSpPr/>
          <p:nvPr/>
        </p:nvSpPr>
        <p:spPr>
          <a:xfrm>
            <a:off x="6469427" y="3168928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8" name="Google Shape;1428;p104"/>
          <p:cNvSpPr/>
          <p:nvPr/>
        </p:nvSpPr>
        <p:spPr>
          <a:xfrm>
            <a:off x="6558741" y="328481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9" name="Google Shape;1429;p104"/>
          <p:cNvSpPr/>
          <p:nvPr/>
        </p:nvSpPr>
        <p:spPr>
          <a:xfrm>
            <a:off x="7307627" y="3168928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0" name="Google Shape;1430;p104"/>
          <p:cNvSpPr/>
          <p:nvPr/>
        </p:nvSpPr>
        <p:spPr>
          <a:xfrm>
            <a:off x="7396941" y="328481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1" name="Google Shape;1431;p104"/>
          <p:cNvSpPr/>
          <p:nvPr/>
        </p:nvSpPr>
        <p:spPr>
          <a:xfrm>
            <a:off x="7497222" y="3061263"/>
            <a:ext cx="6171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2" name="Google Shape;1432;p104"/>
          <p:cNvSpPr txBox="1"/>
          <p:nvPr/>
        </p:nvSpPr>
        <p:spPr>
          <a:xfrm>
            <a:off x="6261425" y="1457794"/>
            <a:ext cx="73356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i="0" u="none" strike="noStrike" cap="none">
                <a:solidFill>
                  <a:srgbClr val="000000"/>
                </a:solidFill>
              </a:rPr>
              <a:t>Less depth</a:t>
            </a:r>
            <a:endParaRPr sz="15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33" name="Google Shape;1433;p104"/>
          <p:cNvSpPr txBox="1"/>
          <p:nvPr/>
        </p:nvSpPr>
        <p:spPr>
          <a:xfrm>
            <a:off x="2076925" y="1459825"/>
            <a:ext cx="15084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i="0" u="none" strike="noStrike" cap="none">
                <a:solidFill>
                  <a:srgbClr val="000000"/>
                </a:solidFill>
              </a:rPr>
              <a:t>More depth</a:t>
            </a:r>
            <a:endParaRPr sz="15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34" name="Google Shape;1434;p104"/>
          <p:cNvSpPr txBox="1"/>
          <p:nvPr/>
        </p:nvSpPr>
        <p:spPr>
          <a:xfrm>
            <a:off x="4293825" y="1459825"/>
            <a:ext cx="19677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i="0" u="none" strike="noStrike" cap="none">
                <a:solidFill>
                  <a:srgbClr val="000000"/>
                </a:solidFill>
              </a:rPr>
              <a:t>No coverage</a:t>
            </a:r>
            <a:endParaRPr sz="15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35" name="Google Shape;1435;p104"/>
          <p:cNvSpPr txBox="1"/>
          <p:nvPr/>
        </p:nvSpPr>
        <p:spPr>
          <a:xfrm>
            <a:off x="904200" y="46238"/>
            <a:ext cx="73356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there enough </a:t>
            </a:r>
            <a:r>
              <a:rPr lang="en" sz="2800"/>
              <a:t>coverage depth</a:t>
            </a:r>
            <a:r>
              <a:rPr lang="e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04"/>
          <p:cNvSpPr/>
          <p:nvPr/>
        </p:nvSpPr>
        <p:spPr>
          <a:xfrm>
            <a:off x="7455700" y="106125"/>
            <a:ext cx="1607400" cy="51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05"/>
          <p:cNvSpPr txBox="1">
            <a:spLocks noGrp="1"/>
          </p:cNvSpPr>
          <p:nvPr>
            <p:ph type="title"/>
          </p:nvPr>
        </p:nvSpPr>
        <p:spPr>
          <a:xfrm>
            <a:off x="311700" y="23763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Coverage Depth Matters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2" name="Google Shape;1442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419775"/>
            <a:ext cx="8839204" cy="1903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3" name="Google Shape;1443;p105"/>
          <p:cNvCxnSpPr/>
          <p:nvPr/>
        </p:nvCxnSpPr>
        <p:spPr>
          <a:xfrm rot="10800000" flipH="1">
            <a:off x="786600" y="3375450"/>
            <a:ext cx="8045700" cy="13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4" name="Google Shape;1444;p105"/>
          <p:cNvSpPr txBox="1"/>
          <p:nvPr/>
        </p:nvSpPr>
        <p:spPr>
          <a:xfrm>
            <a:off x="400775" y="912875"/>
            <a:ext cx="8045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2545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/>
              <a:t>For WGS data, a</a:t>
            </a:r>
            <a:r>
              <a:rPr lang="en" sz="1700" i="0" u="none" strike="noStrike" cap="none">
                <a:solidFill>
                  <a:srgbClr val="000000"/>
                </a:solidFill>
              </a:rPr>
              <a:t>ny area with coverage of  </a:t>
            </a:r>
            <a:r>
              <a:rPr lang="en" sz="1700" b="1"/>
              <a:t>&lt; </a:t>
            </a:r>
            <a:r>
              <a:rPr lang="en" sz="1700" b="1" i="0" u="none" strike="noStrike" cap="none">
                <a:solidFill>
                  <a:srgbClr val="000000"/>
                </a:solidFill>
              </a:rPr>
              <a:t>10 reads will be called an N</a:t>
            </a:r>
            <a:r>
              <a:rPr lang="en" sz="1700" i="0" u="none" strike="noStrike" cap="none">
                <a:solidFill>
                  <a:srgbClr val="000000"/>
                </a:solidFill>
              </a:rPr>
              <a:t> in the consensus genome (&lt; 5 reads will be called an N for</a:t>
            </a:r>
            <a:r>
              <a:rPr lang="en" sz="1700"/>
              <a:t> the </a:t>
            </a:r>
            <a:r>
              <a:rPr lang="en" sz="1700" i="0" u="none" strike="noStrike" cap="none">
                <a:solidFill>
                  <a:srgbClr val="000000"/>
                </a:solidFill>
              </a:rPr>
              <a:t>mNGS </a:t>
            </a:r>
            <a:r>
              <a:rPr lang="en" sz="1700"/>
              <a:t>consensus pipeline</a:t>
            </a:r>
            <a:r>
              <a:rPr lang="en" sz="1700" i="0" u="none" strike="noStrike" cap="none">
                <a:solidFill>
                  <a:srgbClr val="000000"/>
                </a:solidFill>
              </a:rPr>
              <a:t>)</a:t>
            </a:r>
            <a:endParaRPr sz="1700" i="0" u="none" strike="noStrike" cap="none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42545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 i="0" u="none" strike="noStrike" cap="none">
                <a:solidFill>
                  <a:srgbClr val="000000"/>
                </a:solidFill>
              </a:rPr>
              <a:t>Th</a:t>
            </a:r>
            <a:r>
              <a:rPr lang="en" sz="1700"/>
              <a:t>e </a:t>
            </a:r>
            <a:r>
              <a:rPr lang="en" sz="1700" i="0" u="none" strike="noStrike" cap="none">
                <a:solidFill>
                  <a:srgbClr val="000000"/>
                </a:solidFill>
              </a:rPr>
              <a:t>consensus genome below would </a:t>
            </a:r>
            <a:r>
              <a:rPr lang="en" sz="1700"/>
              <a:t>have</a:t>
            </a:r>
            <a:r>
              <a:rPr lang="en" sz="1700" i="0" u="none" strike="noStrike" cap="none">
                <a:solidFill>
                  <a:srgbClr val="000000"/>
                </a:solidFill>
              </a:rPr>
              <a:t> poor quality </a:t>
            </a:r>
            <a:endParaRPr sz="1700" i="0" u="none" strike="noStrike" cap="none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</a:t>
            </a:r>
            <a:r>
              <a:rPr lang="en" sz="1700" i="0" u="none" strike="noStrike" cap="none">
                <a:solidFill>
                  <a:srgbClr val="000000"/>
                </a:solidFill>
              </a:rPr>
              <a:t>m</a:t>
            </a:r>
            <a:r>
              <a:rPr lang="en" sz="1700"/>
              <a:t>ost base calls would be</a:t>
            </a:r>
            <a:r>
              <a:rPr lang="en" sz="1700" i="0" u="none" strike="noStrike" cap="none">
                <a:solidFill>
                  <a:srgbClr val="000000"/>
                </a:solidFill>
              </a:rPr>
              <a:t> Ns)</a:t>
            </a:r>
            <a:endParaRPr sz="1700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1445" name="Google Shape;1445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10" y="59667"/>
            <a:ext cx="995021" cy="324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06"/>
          <p:cNvSpPr txBox="1">
            <a:spLocks noGrp="1"/>
          </p:cNvSpPr>
          <p:nvPr>
            <p:ph type="body" idx="1"/>
          </p:nvPr>
        </p:nvSpPr>
        <p:spPr>
          <a:xfrm>
            <a:off x="219603" y="1699863"/>
            <a:ext cx="8853600" cy="3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7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1700"/>
          </a:p>
        </p:txBody>
      </p:sp>
      <p:sp>
        <p:nvSpPr>
          <p:cNvPr id="1451" name="Google Shape;1451;p106"/>
          <p:cNvSpPr txBox="1"/>
          <p:nvPr/>
        </p:nvSpPr>
        <p:spPr>
          <a:xfrm>
            <a:off x="904200" y="6123"/>
            <a:ext cx="73356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/>
              <a:t>Was most of the genome recovered (coverage breadth)?</a:t>
            </a:r>
            <a:r>
              <a:rPr lang="e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06"/>
          <p:cNvSpPr/>
          <p:nvPr/>
        </p:nvSpPr>
        <p:spPr>
          <a:xfrm>
            <a:off x="7979100" y="-76200"/>
            <a:ext cx="1164900" cy="69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06"/>
          <p:cNvSpPr/>
          <p:nvPr/>
        </p:nvSpPr>
        <p:spPr>
          <a:xfrm>
            <a:off x="2166785" y="1920802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4" name="Google Shape;1454;p106"/>
          <p:cNvSpPr/>
          <p:nvPr/>
        </p:nvSpPr>
        <p:spPr>
          <a:xfrm>
            <a:off x="1779825" y="22065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5" name="Google Shape;1455;p106"/>
          <p:cNvSpPr/>
          <p:nvPr/>
        </p:nvSpPr>
        <p:spPr>
          <a:xfrm>
            <a:off x="2133184" y="21113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6" name="Google Shape;1456;p106"/>
          <p:cNvSpPr/>
          <p:nvPr/>
        </p:nvSpPr>
        <p:spPr>
          <a:xfrm>
            <a:off x="1955364" y="20160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7" name="Google Shape;1457;p106"/>
          <p:cNvSpPr/>
          <p:nvPr/>
        </p:nvSpPr>
        <p:spPr>
          <a:xfrm>
            <a:off x="1779825" y="3040588"/>
            <a:ext cx="6849300" cy="894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8" name="Google Shape;1458;p106"/>
          <p:cNvSpPr/>
          <p:nvPr/>
        </p:nvSpPr>
        <p:spPr>
          <a:xfrm>
            <a:off x="3018352" y="192080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9" name="Google Shape;1459;p106"/>
          <p:cNvSpPr/>
          <p:nvPr/>
        </p:nvSpPr>
        <p:spPr>
          <a:xfrm>
            <a:off x="2594338" y="22072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0" name="Google Shape;1460;p106"/>
          <p:cNvSpPr/>
          <p:nvPr/>
        </p:nvSpPr>
        <p:spPr>
          <a:xfrm>
            <a:off x="4993037" y="182155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1" name="Google Shape;1461;p106"/>
          <p:cNvSpPr/>
          <p:nvPr/>
        </p:nvSpPr>
        <p:spPr>
          <a:xfrm>
            <a:off x="5005205" y="2101128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2" name="Google Shape;1462;p106"/>
          <p:cNvSpPr/>
          <p:nvPr/>
        </p:nvSpPr>
        <p:spPr>
          <a:xfrm>
            <a:off x="4810584" y="200736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3" name="Google Shape;1463;p106"/>
          <p:cNvSpPr/>
          <p:nvPr/>
        </p:nvSpPr>
        <p:spPr>
          <a:xfrm>
            <a:off x="5149079" y="1906276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4" name="Google Shape;1464;p106"/>
          <p:cNvSpPr/>
          <p:nvPr/>
        </p:nvSpPr>
        <p:spPr>
          <a:xfrm>
            <a:off x="3427047" y="2207250"/>
            <a:ext cx="6171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5" name="Google Shape;1465;p106"/>
          <p:cNvSpPr/>
          <p:nvPr/>
        </p:nvSpPr>
        <p:spPr>
          <a:xfrm>
            <a:off x="4499399" y="22072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6" name="Google Shape;1466;p106"/>
          <p:cNvSpPr/>
          <p:nvPr/>
        </p:nvSpPr>
        <p:spPr>
          <a:xfrm>
            <a:off x="6331806" y="22072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7" name="Google Shape;1467;p106"/>
          <p:cNvSpPr/>
          <p:nvPr/>
        </p:nvSpPr>
        <p:spPr>
          <a:xfrm>
            <a:off x="2957444" y="21113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8" name="Google Shape;1468;p106"/>
          <p:cNvSpPr/>
          <p:nvPr/>
        </p:nvSpPr>
        <p:spPr>
          <a:xfrm>
            <a:off x="5950170" y="2101128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9" name="Google Shape;1469;p106"/>
          <p:cNvSpPr/>
          <p:nvPr/>
        </p:nvSpPr>
        <p:spPr>
          <a:xfrm>
            <a:off x="7838785" y="21113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0" name="Google Shape;1470;p106"/>
          <p:cNvSpPr/>
          <p:nvPr/>
        </p:nvSpPr>
        <p:spPr>
          <a:xfrm>
            <a:off x="7231693" y="22072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1" name="Google Shape;1471;p106"/>
          <p:cNvSpPr/>
          <p:nvPr/>
        </p:nvSpPr>
        <p:spPr>
          <a:xfrm>
            <a:off x="7633587" y="20153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2" name="Google Shape;1472;p106"/>
          <p:cNvSpPr/>
          <p:nvPr/>
        </p:nvSpPr>
        <p:spPr>
          <a:xfrm>
            <a:off x="7838785" y="1919402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3" name="Google Shape;1473;p106"/>
          <p:cNvSpPr/>
          <p:nvPr/>
        </p:nvSpPr>
        <p:spPr>
          <a:xfrm>
            <a:off x="6997181" y="21113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4" name="Google Shape;1474;p106"/>
          <p:cNvSpPr/>
          <p:nvPr/>
        </p:nvSpPr>
        <p:spPr>
          <a:xfrm>
            <a:off x="5755549" y="200369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5" name="Google Shape;1475;p106"/>
          <p:cNvSpPr/>
          <p:nvPr/>
        </p:nvSpPr>
        <p:spPr>
          <a:xfrm>
            <a:off x="2076937" y="18255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6" name="Google Shape;1476;p106"/>
          <p:cNvSpPr/>
          <p:nvPr/>
        </p:nvSpPr>
        <p:spPr>
          <a:xfrm>
            <a:off x="2227686" y="173030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7" name="Google Shape;1477;p106"/>
          <p:cNvSpPr/>
          <p:nvPr/>
        </p:nvSpPr>
        <p:spPr>
          <a:xfrm>
            <a:off x="2794577" y="20160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8" name="Google Shape;1478;p106"/>
          <p:cNvSpPr/>
          <p:nvPr/>
        </p:nvSpPr>
        <p:spPr>
          <a:xfrm>
            <a:off x="5032356" y="173682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9" name="Google Shape;1479;p106"/>
          <p:cNvSpPr/>
          <p:nvPr/>
        </p:nvSpPr>
        <p:spPr>
          <a:xfrm>
            <a:off x="4993037" y="165210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0" name="Google Shape;1480;p106"/>
          <p:cNvSpPr/>
          <p:nvPr/>
        </p:nvSpPr>
        <p:spPr>
          <a:xfrm>
            <a:off x="5077268" y="156737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1" name="Google Shape;1481;p106"/>
          <p:cNvSpPr/>
          <p:nvPr/>
        </p:nvSpPr>
        <p:spPr>
          <a:xfrm>
            <a:off x="5397389" y="148265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2" name="Google Shape;1482;p106"/>
          <p:cNvSpPr/>
          <p:nvPr/>
        </p:nvSpPr>
        <p:spPr>
          <a:xfrm>
            <a:off x="5823021" y="182155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3" name="Google Shape;1483;p106"/>
          <p:cNvSpPr/>
          <p:nvPr/>
        </p:nvSpPr>
        <p:spPr>
          <a:xfrm>
            <a:off x="5978224" y="1906276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4" name="Google Shape;1484;p106"/>
          <p:cNvSpPr/>
          <p:nvPr/>
        </p:nvSpPr>
        <p:spPr>
          <a:xfrm>
            <a:off x="5978222" y="173682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5" name="Google Shape;1485;p106"/>
          <p:cNvSpPr/>
          <p:nvPr/>
        </p:nvSpPr>
        <p:spPr>
          <a:xfrm>
            <a:off x="5950160" y="165210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6" name="Google Shape;1486;p106"/>
          <p:cNvSpPr/>
          <p:nvPr/>
        </p:nvSpPr>
        <p:spPr>
          <a:xfrm>
            <a:off x="5897160" y="156737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7" name="Google Shape;1487;p106"/>
          <p:cNvSpPr/>
          <p:nvPr/>
        </p:nvSpPr>
        <p:spPr>
          <a:xfrm>
            <a:off x="5498471" y="139792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8" name="Google Shape;1488;p106"/>
          <p:cNvSpPr/>
          <p:nvPr/>
        </p:nvSpPr>
        <p:spPr>
          <a:xfrm>
            <a:off x="5644466" y="131320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9" name="Google Shape;1489;p106"/>
          <p:cNvSpPr/>
          <p:nvPr/>
        </p:nvSpPr>
        <p:spPr>
          <a:xfrm>
            <a:off x="5442302" y="122847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0" name="Google Shape;1490;p106"/>
          <p:cNvSpPr/>
          <p:nvPr/>
        </p:nvSpPr>
        <p:spPr>
          <a:xfrm>
            <a:off x="7633587" y="1823452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1" name="Google Shape;1491;p106"/>
          <p:cNvSpPr/>
          <p:nvPr/>
        </p:nvSpPr>
        <p:spPr>
          <a:xfrm>
            <a:off x="2923841" y="18255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2" name="Google Shape;1492;p106"/>
          <p:cNvSpPr/>
          <p:nvPr/>
        </p:nvSpPr>
        <p:spPr>
          <a:xfrm>
            <a:off x="2227686" y="16350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3" name="Google Shape;1493;p106"/>
          <p:cNvSpPr/>
          <p:nvPr/>
        </p:nvSpPr>
        <p:spPr>
          <a:xfrm>
            <a:off x="2133176" y="153980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4" name="Google Shape;1494;p106"/>
          <p:cNvSpPr/>
          <p:nvPr/>
        </p:nvSpPr>
        <p:spPr>
          <a:xfrm>
            <a:off x="1779825" y="3687893"/>
            <a:ext cx="6849300" cy="894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5" name="Google Shape;1495;p106"/>
          <p:cNvSpPr txBox="1"/>
          <p:nvPr/>
        </p:nvSpPr>
        <p:spPr>
          <a:xfrm>
            <a:off x="271400" y="1454000"/>
            <a:ext cx="13374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</a:rPr>
              <a:t>Raw Reads Aligned to Reference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96" name="Google Shape;1496;p106"/>
          <p:cNvSpPr txBox="1"/>
          <p:nvPr/>
        </p:nvSpPr>
        <p:spPr>
          <a:xfrm>
            <a:off x="271400" y="2814575"/>
            <a:ext cx="13374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</a:rPr>
              <a:t>Reference Genome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97" name="Google Shape;1497;p106"/>
          <p:cNvSpPr txBox="1"/>
          <p:nvPr/>
        </p:nvSpPr>
        <p:spPr>
          <a:xfrm>
            <a:off x="271400" y="3489350"/>
            <a:ext cx="13374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</a:rPr>
              <a:t>Consensus Sequence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98" name="Google Shape;1498;p106"/>
          <p:cNvSpPr txBox="1"/>
          <p:nvPr/>
        </p:nvSpPr>
        <p:spPr>
          <a:xfrm>
            <a:off x="271400" y="4175150"/>
            <a:ext cx="28785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accent6"/>
                </a:solidFill>
              </a:rPr>
              <a:t>Coverage Breadth:</a:t>
            </a:r>
            <a:r>
              <a:rPr lang="en" sz="1200" i="0" u="none" strike="noStrike" cap="none">
                <a:solidFill>
                  <a:srgbClr val="000000"/>
                </a:solidFill>
              </a:rPr>
              <a:t> Percentage of reference sequence that is covered</a:t>
            </a:r>
            <a:endParaRPr sz="1200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1499" name="Google Shape;1499;p106"/>
          <p:cNvCxnSpPr/>
          <p:nvPr/>
        </p:nvCxnSpPr>
        <p:spPr>
          <a:xfrm>
            <a:off x="1779825" y="2739075"/>
            <a:ext cx="22287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dash"/>
            <a:round/>
            <a:headEnd type="diamond" w="med" len="med"/>
            <a:tailEnd type="diamond" w="med" len="med"/>
          </a:ln>
        </p:spPr>
      </p:cxnSp>
      <p:cxnSp>
        <p:nvCxnSpPr>
          <p:cNvPr id="1500" name="Google Shape;1500;p106"/>
          <p:cNvCxnSpPr/>
          <p:nvPr/>
        </p:nvCxnSpPr>
        <p:spPr>
          <a:xfrm>
            <a:off x="4499400" y="2729175"/>
            <a:ext cx="411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dash"/>
            <a:round/>
            <a:headEnd type="diamond" w="med" len="med"/>
            <a:tailEnd type="diamond" w="med" len="med"/>
          </a:ln>
        </p:spPr>
      </p:cxnSp>
      <p:sp>
        <p:nvSpPr>
          <p:cNvPr id="1501" name="Google Shape;1501;p106"/>
          <p:cNvSpPr txBox="1"/>
          <p:nvPr/>
        </p:nvSpPr>
        <p:spPr>
          <a:xfrm>
            <a:off x="2169875" y="3029788"/>
            <a:ext cx="3618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3D85C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2" name="Google Shape;1502;p106"/>
          <p:cNvSpPr/>
          <p:nvPr/>
        </p:nvSpPr>
        <p:spPr>
          <a:xfrm>
            <a:off x="3980100" y="3626973"/>
            <a:ext cx="542100" cy="185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106"/>
          <p:cNvSpPr txBox="1"/>
          <p:nvPr/>
        </p:nvSpPr>
        <p:spPr>
          <a:xfrm>
            <a:off x="3907800" y="3524350"/>
            <a:ext cx="11649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NNNN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4" name="Google Shape;1504;p106"/>
          <p:cNvSpPr/>
          <p:nvPr/>
        </p:nvSpPr>
        <p:spPr>
          <a:xfrm rot="-5400000">
            <a:off x="4011950" y="3984826"/>
            <a:ext cx="484500" cy="272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106"/>
          <p:cNvSpPr txBox="1"/>
          <p:nvPr/>
        </p:nvSpPr>
        <p:spPr>
          <a:xfrm>
            <a:off x="4011375" y="4319250"/>
            <a:ext cx="7908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i="0" u="none" strike="noStrike" cap="none">
                <a:solidFill>
                  <a:srgbClr val="000000"/>
                </a:solidFill>
              </a:rPr>
              <a:t>Gap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506" name="Google Shape;1506;p106"/>
          <p:cNvSpPr txBox="1"/>
          <p:nvPr/>
        </p:nvSpPr>
        <p:spPr>
          <a:xfrm>
            <a:off x="4898575" y="4030400"/>
            <a:ext cx="38565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accent6"/>
                </a:solidFill>
              </a:rPr>
              <a:t>Partially recovered genomes are less useful for phylogenetics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07"/>
          <p:cNvSpPr/>
          <p:nvPr/>
        </p:nvSpPr>
        <p:spPr>
          <a:xfrm>
            <a:off x="2166785" y="1997002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2" name="Google Shape;1512;p107"/>
          <p:cNvSpPr/>
          <p:nvPr/>
        </p:nvSpPr>
        <p:spPr>
          <a:xfrm>
            <a:off x="1779825" y="22827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3" name="Google Shape;1513;p107"/>
          <p:cNvSpPr/>
          <p:nvPr/>
        </p:nvSpPr>
        <p:spPr>
          <a:xfrm>
            <a:off x="2133184" y="21875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4" name="Google Shape;1514;p107"/>
          <p:cNvSpPr/>
          <p:nvPr/>
        </p:nvSpPr>
        <p:spPr>
          <a:xfrm>
            <a:off x="1955364" y="20922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5" name="Google Shape;1515;p107"/>
          <p:cNvSpPr/>
          <p:nvPr/>
        </p:nvSpPr>
        <p:spPr>
          <a:xfrm>
            <a:off x="1779825" y="3116788"/>
            <a:ext cx="6849300" cy="894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6" name="Google Shape;1516;p107"/>
          <p:cNvSpPr/>
          <p:nvPr/>
        </p:nvSpPr>
        <p:spPr>
          <a:xfrm>
            <a:off x="3018352" y="199700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7" name="Google Shape;1517;p107"/>
          <p:cNvSpPr/>
          <p:nvPr/>
        </p:nvSpPr>
        <p:spPr>
          <a:xfrm>
            <a:off x="2594338" y="22834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8" name="Google Shape;1518;p107"/>
          <p:cNvSpPr/>
          <p:nvPr/>
        </p:nvSpPr>
        <p:spPr>
          <a:xfrm>
            <a:off x="4993037" y="189775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9" name="Google Shape;1519;p107"/>
          <p:cNvSpPr/>
          <p:nvPr/>
        </p:nvSpPr>
        <p:spPr>
          <a:xfrm>
            <a:off x="5005205" y="2177328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0" name="Google Shape;1520;p107"/>
          <p:cNvSpPr/>
          <p:nvPr/>
        </p:nvSpPr>
        <p:spPr>
          <a:xfrm>
            <a:off x="4810584" y="208356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1" name="Google Shape;1521;p107"/>
          <p:cNvSpPr/>
          <p:nvPr/>
        </p:nvSpPr>
        <p:spPr>
          <a:xfrm>
            <a:off x="5149079" y="1982476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2" name="Google Shape;1522;p107"/>
          <p:cNvSpPr/>
          <p:nvPr/>
        </p:nvSpPr>
        <p:spPr>
          <a:xfrm>
            <a:off x="3427047" y="2283450"/>
            <a:ext cx="6171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3" name="Google Shape;1523;p107"/>
          <p:cNvSpPr/>
          <p:nvPr/>
        </p:nvSpPr>
        <p:spPr>
          <a:xfrm>
            <a:off x="4499399" y="22834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4" name="Google Shape;1524;p107"/>
          <p:cNvSpPr/>
          <p:nvPr/>
        </p:nvSpPr>
        <p:spPr>
          <a:xfrm>
            <a:off x="6331806" y="22834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5" name="Google Shape;1525;p107"/>
          <p:cNvSpPr/>
          <p:nvPr/>
        </p:nvSpPr>
        <p:spPr>
          <a:xfrm>
            <a:off x="2957444" y="21875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6" name="Google Shape;1526;p107"/>
          <p:cNvSpPr/>
          <p:nvPr/>
        </p:nvSpPr>
        <p:spPr>
          <a:xfrm>
            <a:off x="5950170" y="2177328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7" name="Google Shape;1527;p107"/>
          <p:cNvSpPr/>
          <p:nvPr/>
        </p:nvSpPr>
        <p:spPr>
          <a:xfrm>
            <a:off x="7838785" y="21875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8" name="Google Shape;1528;p107"/>
          <p:cNvSpPr/>
          <p:nvPr/>
        </p:nvSpPr>
        <p:spPr>
          <a:xfrm>
            <a:off x="7231693" y="228345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9" name="Google Shape;1529;p107"/>
          <p:cNvSpPr/>
          <p:nvPr/>
        </p:nvSpPr>
        <p:spPr>
          <a:xfrm>
            <a:off x="7633587" y="20915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0" name="Google Shape;1530;p107"/>
          <p:cNvSpPr/>
          <p:nvPr/>
        </p:nvSpPr>
        <p:spPr>
          <a:xfrm>
            <a:off x="7838785" y="1995602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1" name="Google Shape;1531;p107"/>
          <p:cNvSpPr/>
          <p:nvPr/>
        </p:nvSpPr>
        <p:spPr>
          <a:xfrm>
            <a:off x="6997181" y="2187504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2" name="Google Shape;1532;p107"/>
          <p:cNvSpPr/>
          <p:nvPr/>
        </p:nvSpPr>
        <p:spPr>
          <a:xfrm>
            <a:off x="5755549" y="207989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3" name="Google Shape;1533;p107"/>
          <p:cNvSpPr/>
          <p:nvPr/>
        </p:nvSpPr>
        <p:spPr>
          <a:xfrm>
            <a:off x="2076937" y="19017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4" name="Google Shape;1534;p107"/>
          <p:cNvSpPr/>
          <p:nvPr/>
        </p:nvSpPr>
        <p:spPr>
          <a:xfrm>
            <a:off x="2227686" y="180650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5" name="Google Shape;1535;p107"/>
          <p:cNvSpPr/>
          <p:nvPr/>
        </p:nvSpPr>
        <p:spPr>
          <a:xfrm>
            <a:off x="2794577" y="2092253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6" name="Google Shape;1536;p107"/>
          <p:cNvSpPr/>
          <p:nvPr/>
        </p:nvSpPr>
        <p:spPr>
          <a:xfrm>
            <a:off x="5032356" y="181302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7" name="Google Shape;1537;p107"/>
          <p:cNvSpPr/>
          <p:nvPr/>
        </p:nvSpPr>
        <p:spPr>
          <a:xfrm>
            <a:off x="4993037" y="172830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8" name="Google Shape;1538;p107"/>
          <p:cNvSpPr/>
          <p:nvPr/>
        </p:nvSpPr>
        <p:spPr>
          <a:xfrm>
            <a:off x="5077268" y="164357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9" name="Google Shape;1539;p107"/>
          <p:cNvSpPr/>
          <p:nvPr/>
        </p:nvSpPr>
        <p:spPr>
          <a:xfrm>
            <a:off x="5397389" y="155885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0" name="Google Shape;1540;p107"/>
          <p:cNvSpPr/>
          <p:nvPr/>
        </p:nvSpPr>
        <p:spPr>
          <a:xfrm>
            <a:off x="5823021" y="189775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1" name="Google Shape;1541;p107"/>
          <p:cNvSpPr/>
          <p:nvPr/>
        </p:nvSpPr>
        <p:spPr>
          <a:xfrm>
            <a:off x="5978224" y="1982476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2" name="Google Shape;1542;p107"/>
          <p:cNvSpPr/>
          <p:nvPr/>
        </p:nvSpPr>
        <p:spPr>
          <a:xfrm>
            <a:off x="5978222" y="181302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3" name="Google Shape;1543;p107"/>
          <p:cNvSpPr/>
          <p:nvPr/>
        </p:nvSpPr>
        <p:spPr>
          <a:xfrm>
            <a:off x="5950160" y="172830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4" name="Google Shape;1544;p107"/>
          <p:cNvSpPr/>
          <p:nvPr/>
        </p:nvSpPr>
        <p:spPr>
          <a:xfrm>
            <a:off x="5897160" y="164357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5" name="Google Shape;1545;p107"/>
          <p:cNvSpPr/>
          <p:nvPr/>
        </p:nvSpPr>
        <p:spPr>
          <a:xfrm>
            <a:off x="5498471" y="147412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6" name="Google Shape;1546;p107"/>
          <p:cNvSpPr/>
          <p:nvPr/>
        </p:nvSpPr>
        <p:spPr>
          <a:xfrm>
            <a:off x="5644466" y="1389400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7" name="Google Shape;1547;p107"/>
          <p:cNvSpPr/>
          <p:nvPr/>
        </p:nvSpPr>
        <p:spPr>
          <a:xfrm>
            <a:off x="5442302" y="1304675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8" name="Google Shape;1548;p107"/>
          <p:cNvSpPr/>
          <p:nvPr/>
        </p:nvSpPr>
        <p:spPr>
          <a:xfrm>
            <a:off x="7633587" y="1899652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9" name="Google Shape;1549;p107"/>
          <p:cNvSpPr/>
          <p:nvPr/>
        </p:nvSpPr>
        <p:spPr>
          <a:xfrm>
            <a:off x="2923841" y="19017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0" name="Google Shape;1550;p107"/>
          <p:cNvSpPr/>
          <p:nvPr/>
        </p:nvSpPr>
        <p:spPr>
          <a:xfrm>
            <a:off x="2227686" y="171125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1" name="Google Shape;1551;p107"/>
          <p:cNvSpPr/>
          <p:nvPr/>
        </p:nvSpPr>
        <p:spPr>
          <a:xfrm>
            <a:off x="2133176" y="1616001"/>
            <a:ext cx="7908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2" name="Google Shape;1552;p107"/>
          <p:cNvSpPr/>
          <p:nvPr/>
        </p:nvSpPr>
        <p:spPr>
          <a:xfrm>
            <a:off x="2327952" y="1616000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3" name="Google Shape;1553;p107"/>
          <p:cNvSpPr/>
          <p:nvPr/>
        </p:nvSpPr>
        <p:spPr>
          <a:xfrm>
            <a:off x="2327952" y="1711250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4" name="Google Shape;1554;p107"/>
          <p:cNvSpPr/>
          <p:nvPr/>
        </p:nvSpPr>
        <p:spPr>
          <a:xfrm>
            <a:off x="2327952" y="1806500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5" name="Google Shape;1555;p107"/>
          <p:cNvSpPr/>
          <p:nvPr/>
        </p:nvSpPr>
        <p:spPr>
          <a:xfrm>
            <a:off x="2327952" y="1901750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6" name="Google Shape;1556;p107"/>
          <p:cNvSpPr/>
          <p:nvPr/>
        </p:nvSpPr>
        <p:spPr>
          <a:xfrm>
            <a:off x="2327952" y="1997000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7" name="Google Shape;1557;p107"/>
          <p:cNvSpPr/>
          <p:nvPr/>
        </p:nvSpPr>
        <p:spPr>
          <a:xfrm>
            <a:off x="2327952" y="2092250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8" name="Google Shape;1558;p107"/>
          <p:cNvSpPr/>
          <p:nvPr/>
        </p:nvSpPr>
        <p:spPr>
          <a:xfrm>
            <a:off x="2327952" y="2187500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9" name="Google Shape;1559;p107"/>
          <p:cNvSpPr/>
          <p:nvPr/>
        </p:nvSpPr>
        <p:spPr>
          <a:xfrm>
            <a:off x="2327952" y="2282738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0" name="Google Shape;1560;p107"/>
          <p:cNvSpPr/>
          <p:nvPr/>
        </p:nvSpPr>
        <p:spPr>
          <a:xfrm>
            <a:off x="1779825" y="3764093"/>
            <a:ext cx="6849300" cy="894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1" name="Google Shape;1561;p107"/>
          <p:cNvSpPr/>
          <p:nvPr/>
        </p:nvSpPr>
        <p:spPr>
          <a:xfrm>
            <a:off x="2327952" y="3764077"/>
            <a:ext cx="68100" cy="8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2" name="Google Shape;1562;p107"/>
          <p:cNvSpPr txBox="1"/>
          <p:nvPr/>
        </p:nvSpPr>
        <p:spPr>
          <a:xfrm>
            <a:off x="271400" y="1530200"/>
            <a:ext cx="13374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 Aligned to Reference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3" name="Google Shape;1563;p107"/>
          <p:cNvSpPr txBox="1"/>
          <p:nvPr/>
        </p:nvSpPr>
        <p:spPr>
          <a:xfrm>
            <a:off x="271400" y="2890775"/>
            <a:ext cx="13374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Genome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4" name="Google Shape;1564;p107"/>
          <p:cNvSpPr txBox="1"/>
          <p:nvPr/>
        </p:nvSpPr>
        <p:spPr>
          <a:xfrm>
            <a:off x="271400" y="3565550"/>
            <a:ext cx="13374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Consensus Sequence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5" name="Google Shape;1565;p107"/>
          <p:cNvSpPr/>
          <p:nvPr/>
        </p:nvSpPr>
        <p:spPr>
          <a:xfrm>
            <a:off x="5222102" y="1643563"/>
            <a:ext cx="68100" cy="6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6" name="Google Shape;1566;p107"/>
          <p:cNvSpPr/>
          <p:nvPr/>
        </p:nvSpPr>
        <p:spPr>
          <a:xfrm>
            <a:off x="5222102" y="1728288"/>
            <a:ext cx="68100" cy="6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7" name="Google Shape;1567;p107"/>
          <p:cNvSpPr/>
          <p:nvPr/>
        </p:nvSpPr>
        <p:spPr>
          <a:xfrm>
            <a:off x="5222102" y="1813013"/>
            <a:ext cx="68100" cy="6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8" name="Google Shape;1568;p107"/>
          <p:cNvSpPr/>
          <p:nvPr/>
        </p:nvSpPr>
        <p:spPr>
          <a:xfrm>
            <a:off x="5222102" y="1897738"/>
            <a:ext cx="68100" cy="6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9" name="Google Shape;1569;p107"/>
          <p:cNvSpPr/>
          <p:nvPr/>
        </p:nvSpPr>
        <p:spPr>
          <a:xfrm>
            <a:off x="5222102" y="1982475"/>
            <a:ext cx="68100" cy="6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0" name="Google Shape;1570;p107"/>
          <p:cNvSpPr/>
          <p:nvPr/>
        </p:nvSpPr>
        <p:spPr>
          <a:xfrm>
            <a:off x="5222102" y="2082075"/>
            <a:ext cx="68100" cy="6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1" name="Google Shape;1571;p107"/>
          <p:cNvSpPr/>
          <p:nvPr/>
        </p:nvSpPr>
        <p:spPr>
          <a:xfrm>
            <a:off x="5222102" y="2177325"/>
            <a:ext cx="68100" cy="6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2" name="Google Shape;1572;p107"/>
          <p:cNvSpPr/>
          <p:nvPr/>
        </p:nvSpPr>
        <p:spPr>
          <a:xfrm>
            <a:off x="5222102" y="2283450"/>
            <a:ext cx="68100" cy="6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3" name="Google Shape;1573;p107"/>
          <p:cNvSpPr/>
          <p:nvPr/>
        </p:nvSpPr>
        <p:spPr>
          <a:xfrm>
            <a:off x="5222100" y="3764100"/>
            <a:ext cx="68100" cy="89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4" name="Google Shape;1574;p107"/>
          <p:cNvSpPr txBox="1"/>
          <p:nvPr/>
        </p:nvSpPr>
        <p:spPr>
          <a:xfrm>
            <a:off x="626775" y="74275"/>
            <a:ext cx="77976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Evaluating </a:t>
            </a:r>
            <a:r>
              <a:rPr lang="en" sz="2400">
                <a:solidFill>
                  <a:schemeClr val="dk1"/>
                </a:solidFill>
              </a:rPr>
              <a:t>Coverage</a:t>
            </a:r>
            <a:r>
              <a:rPr lang="en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SNPs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5" name="Google Shape;1575;p107"/>
          <p:cNvCxnSpPr/>
          <p:nvPr/>
        </p:nvCxnSpPr>
        <p:spPr>
          <a:xfrm>
            <a:off x="1770825" y="2591050"/>
            <a:ext cx="22287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dash"/>
            <a:round/>
            <a:headEnd type="diamond" w="med" len="med"/>
            <a:tailEnd type="diamond" w="med" len="med"/>
          </a:ln>
        </p:spPr>
      </p:cxnSp>
      <p:cxnSp>
        <p:nvCxnSpPr>
          <p:cNvPr id="1576" name="Google Shape;1576;p107"/>
          <p:cNvCxnSpPr/>
          <p:nvPr/>
        </p:nvCxnSpPr>
        <p:spPr>
          <a:xfrm>
            <a:off x="4499400" y="2591050"/>
            <a:ext cx="41148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dash"/>
            <a:round/>
            <a:headEnd type="diamond" w="med" len="med"/>
            <a:tailEnd type="diamond" w="med" len="med"/>
          </a:ln>
        </p:spPr>
      </p:cxnSp>
      <p:cxnSp>
        <p:nvCxnSpPr>
          <p:cNvPr id="1577" name="Google Shape;1577;p107"/>
          <p:cNvCxnSpPr/>
          <p:nvPr/>
        </p:nvCxnSpPr>
        <p:spPr>
          <a:xfrm rot="10800000">
            <a:off x="1670225" y="1608800"/>
            <a:ext cx="0" cy="7413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diamond" w="med" len="med"/>
            <a:tailEnd type="diamond" w="med" len="med"/>
          </a:ln>
        </p:spPr>
      </p:cxnSp>
      <p:sp>
        <p:nvSpPr>
          <p:cNvPr id="1578" name="Google Shape;1578;p107"/>
          <p:cNvSpPr txBox="1"/>
          <p:nvPr/>
        </p:nvSpPr>
        <p:spPr>
          <a:xfrm>
            <a:off x="2166775" y="4316550"/>
            <a:ext cx="50649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>
                <a:solidFill>
                  <a:schemeClr val="dk1"/>
                </a:solidFill>
              </a:rPr>
              <a:t>SNPs:</a:t>
            </a:r>
            <a:r>
              <a:rPr lang="en" i="0" u="none" strike="noStrike" cap="none">
                <a:solidFill>
                  <a:srgbClr val="000000"/>
                </a:solidFill>
              </a:rPr>
              <a:t> </a:t>
            </a:r>
            <a:r>
              <a:rPr lang="en" b="1" i="0" u="none" strike="noStrike" cap="none">
                <a:solidFill>
                  <a:srgbClr val="000000"/>
                </a:solidFill>
              </a:rPr>
              <a:t>S</a:t>
            </a:r>
            <a:r>
              <a:rPr lang="en" i="0" u="none" strike="noStrike" cap="none">
                <a:solidFill>
                  <a:srgbClr val="000000"/>
                </a:solidFill>
              </a:rPr>
              <a:t>ingle </a:t>
            </a:r>
            <a:r>
              <a:rPr lang="en" b="1" i="0" u="none" strike="noStrike" cap="none">
                <a:solidFill>
                  <a:srgbClr val="000000"/>
                </a:solidFill>
              </a:rPr>
              <a:t>N</a:t>
            </a:r>
            <a:r>
              <a:rPr lang="en" i="0" u="none" strike="noStrike" cap="none">
                <a:solidFill>
                  <a:srgbClr val="000000"/>
                </a:solidFill>
              </a:rPr>
              <a:t>ucleotide </a:t>
            </a:r>
            <a:r>
              <a:rPr lang="en" b="1" i="0" u="none" strike="noStrike" cap="none">
                <a:solidFill>
                  <a:srgbClr val="000000"/>
                </a:solidFill>
              </a:rPr>
              <a:t>P</a:t>
            </a:r>
            <a:r>
              <a:rPr lang="en" i="0" u="none" strike="noStrike" cap="none">
                <a:solidFill>
                  <a:srgbClr val="000000"/>
                </a:solidFill>
              </a:rPr>
              <a:t>olymorphisms, variations in a single base pair in a DNA sequence. </a:t>
            </a:r>
            <a:r>
              <a:rPr lang="en" i="0" u="none" strike="noStrike" cap="none">
                <a:solidFill>
                  <a:schemeClr val="dk1"/>
                </a:solidFill>
              </a:rPr>
              <a:t>The number of acceptable SNPs is pathogen dependent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1579" name="Google Shape;1579;p107"/>
          <p:cNvCxnSpPr/>
          <p:nvPr/>
        </p:nvCxnSpPr>
        <p:spPr>
          <a:xfrm rot="10800000">
            <a:off x="2362000" y="3960550"/>
            <a:ext cx="0" cy="39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580" name="Google Shape;1580;p107"/>
          <p:cNvCxnSpPr/>
          <p:nvPr/>
        </p:nvCxnSpPr>
        <p:spPr>
          <a:xfrm rot="10800000">
            <a:off x="5256150" y="3960550"/>
            <a:ext cx="0" cy="397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581" name="Google Shape;1581;p107"/>
          <p:cNvSpPr txBox="1"/>
          <p:nvPr/>
        </p:nvSpPr>
        <p:spPr>
          <a:xfrm>
            <a:off x="5075250" y="3105988"/>
            <a:ext cx="3618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D85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1400" b="1" i="0" u="none" strike="noStrike" cap="none">
              <a:solidFill>
                <a:srgbClr val="3D85C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2" name="Google Shape;1582;p107"/>
          <p:cNvSpPr txBox="1"/>
          <p:nvPr/>
        </p:nvSpPr>
        <p:spPr>
          <a:xfrm>
            <a:off x="5075250" y="3413563"/>
            <a:ext cx="3618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400" b="1" i="0" u="none" strike="noStrike" cap="none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3" name="Google Shape;1583;p107"/>
          <p:cNvSpPr txBox="1"/>
          <p:nvPr/>
        </p:nvSpPr>
        <p:spPr>
          <a:xfrm>
            <a:off x="2169875" y="3105988"/>
            <a:ext cx="3618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D85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400" b="1" i="0" u="none" strike="noStrike" cap="none">
              <a:solidFill>
                <a:srgbClr val="3D85C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4" name="Google Shape;1584;p107"/>
          <p:cNvSpPr txBox="1"/>
          <p:nvPr/>
        </p:nvSpPr>
        <p:spPr>
          <a:xfrm>
            <a:off x="2169875" y="3413563"/>
            <a:ext cx="3618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400" b="1" i="0" u="none" strike="noStrike" cap="non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5" name="Google Shape;1585;p107"/>
          <p:cNvSpPr/>
          <p:nvPr/>
        </p:nvSpPr>
        <p:spPr>
          <a:xfrm>
            <a:off x="7979100" y="0"/>
            <a:ext cx="1164900" cy="69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107"/>
          <p:cNvSpPr/>
          <p:nvPr/>
        </p:nvSpPr>
        <p:spPr>
          <a:xfrm>
            <a:off x="7280952" y="2281716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7" name="Google Shape;1587;p107"/>
          <p:cNvSpPr/>
          <p:nvPr/>
        </p:nvSpPr>
        <p:spPr>
          <a:xfrm>
            <a:off x="7280952" y="2187500"/>
            <a:ext cx="68100" cy="66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8" name="Google Shape;1588;p107"/>
          <p:cNvSpPr/>
          <p:nvPr/>
        </p:nvSpPr>
        <p:spPr>
          <a:xfrm>
            <a:off x="7293552" y="3761191"/>
            <a:ext cx="68100" cy="8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9" name="Google Shape;1589;p107"/>
          <p:cNvSpPr txBox="1"/>
          <p:nvPr/>
        </p:nvSpPr>
        <p:spPr>
          <a:xfrm>
            <a:off x="7135475" y="3410677"/>
            <a:ext cx="3618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sz="1400" b="1" i="0" u="none" strike="noStrike" cap="non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08"/>
          <p:cNvSpPr txBox="1">
            <a:spLocks noGrp="1"/>
          </p:cNvSpPr>
          <p:nvPr>
            <p:ph type="title"/>
          </p:nvPr>
        </p:nvSpPr>
        <p:spPr>
          <a:xfrm>
            <a:off x="311700" y="191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1595" name="Google Shape;1595;p108"/>
          <p:cNvSpPr txBox="1">
            <a:spLocks noGrp="1"/>
          </p:cNvSpPr>
          <p:nvPr>
            <p:ph type="body" idx="1"/>
          </p:nvPr>
        </p:nvSpPr>
        <p:spPr>
          <a:xfrm>
            <a:off x="311700" y="966275"/>
            <a:ext cx="790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Does the genome include predicted coding regions? </a:t>
            </a:r>
            <a:endParaRPr sz="18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Find open reading frames (ORFs) and compare to known genomes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596" name="Google Shape;1596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774" y="1949300"/>
            <a:ext cx="6377656" cy="249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108"/>
          <p:cNvSpPr txBox="1"/>
          <p:nvPr/>
        </p:nvSpPr>
        <p:spPr>
          <a:xfrm>
            <a:off x="5806800" y="4584925"/>
            <a:ext cx="2466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Rastogi et. al., 2020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09"/>
          <p:cNvSpPr txBox="1">
            <a:spLocks noGrp="1"/>
          </p:cNvSpPr>
          <p:nvPr>
            <p:ph type="title"/>
          </p:nvPr>
        </p:nvSpPr>
        <p:spPr>
          <a:xfrm>
            <a:off x="311700" y="2355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1603" name="Google Shape;1603;p109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7903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Does the genome include predicted coding regions? </a:t>
            </a:r>
            <a:endParaRPr sz="19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Find open reading frames (ORFs) and compare to known genomes</a:t>
            </a:r>
            <a:endParaRPr sz="17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Which serotype or variant does it represent? </a:t>
            </a:r>
            <a:endParaRPr sz="19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Use available typing tools to determine the virus serotype or lineage</a:t>
            </a:r>
            <a:endParaRPr sz="17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Nextclade</a:t>
            </a:r>
            <a:r>
              <a:rPr lang="en" sz="1700"/>
              <a:t> - SARS-CoV-2, Influenza (Flu), Mpox (Monkeypox), Respiratory Syncytial Virus (RSV)</a:t>
            </a:r>
            <a:endParaRPr sz="17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Genome Detective</a:t>
            </a:r>
            <a:r>
              <a:rPr lang="en" sz="1700"/>
              <a:t> - Arboviruses, hepatitis viruses, enteroviruses, measles virus</a:t>
            </a:r>
            <a:endParaRPr sz="17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Phylogenetic analysis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1185</Words>
  <Application>Microsoft Macintosh PowerPoint</Application>
  <PresentationFormat>On-screen Show (16:9)</PresentationFormat>
  <Paragraphs>222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Arial</vt:lpstr>
      <vt:lpstr>Helvetica Neue</vt:lpstr>
      <vt:lpstr>Open Sans</vt:lpstr>
      <vt:lpstr>Helvetica Neue Light</vt:lpstr>
      <vt:lpstr>Calibri</vt:lpstr>
      <vt:lpstr>Poppins</vt:lpstr>
      <vt:lpstr>Courier New</vt:lpstr>
      <vt:lpstr>Lato</vt:lpstr>
      <vt:lpstr>Simple Light</vt:lpstr>
      <vt:lpstr>Simple Light</vt:lpstr>
      <vt:lpstr>White</vt:lpstr>
      <vt:lpstr>White</vt:lpstr>
      <vt:lpstr>Simple Light</vt:lpstr>
      <vt:lpstr>Disclaimer</vt:lpstr>
      <vt:lpstr>PowerPoint Presentation</vt:lpstr>
      <vt:lpstr>Outline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Input 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Consensus Genome Sequence</vt:lpstr>
      <vt:lpstr>PowerPoint Presentation</vt:lpstr>
      <vt:lpstr>PowerPoint Presentation</vt:lpstr>
      <vt:lpstr>PowerPoint Presentation</vt:lpstr>
      <vt:lpstr>PowerPoint Presentation</vt:lpstr>
      <vt:lpstr>Genome QC: Assembly Metrics</vt:lpstr>
      <vt:lpstr>Genome QC: Assembly Metrics (Continued)</vt:lpstr>
      <vt:lpstr>PowerPoint Presentation</vt:lpstr>
      <vt:lpstr>PowerPoint Presentation</vt:lpstr>
      <vt:lpstr>PowerPoint Presentation</vt:lpstr>
      <vt:lpstr>Coverage Depth Matters</vt:lpstr>
      <vt:lpstr>PowerPoint Presentation</vt:lpstr>
      <vt:lpstr>PowerPoint Presentation</vt:lpstr>
      <vt:lpstr>What’s next?</vt:lpstr>
      <vt:lpstr>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2</cp:revision>
  <dcterms:modified xsi:type="dcterms:W3CDTF">2026-09-10T23:12:53Z</dcterms:modified>
</cp:coreProperties>
</file>