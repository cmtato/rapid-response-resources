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311" r:id="rId2"/>
    <p:sldId id="257" r:id="rId3"/>
    <p:sldId id="278" r:id="rId4"/>
    <p:sldId id="279" r:id="rId5"/>
    <p:sldId id="280" r:id="rId6"/>
    <p:sldId id="281" r:id="rId7"/>
    <p:sldId id="282" r:id="rId8"/>
    <p:sldId id="283" r:id="rId9"/>
    <p:sldId id="28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13"/>
    <p:restoredTop sz="94557"/>
  </p:normalViewPr>
  <p:slideViewPr>
    <p:cSldViewPr snapToGrid="0">
      <p:cViewPr varScale="1">
        <p:scale>
          <a:sx n="106" d="100"/>
          <a:sy n="106" d="100"/>
        </p:scale>
        <p:origin x="216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907EC9-C1BE-0243-AA50-F3A48F06584B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2A494B-FD1F-8F4D-B266-A38FEB3ED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736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Slides updated 07/02/2024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56" name="Google Shape;35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https://github.com/gowtham-thakku/ont-heatmap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https://ont-heatmap.streamlit.app/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>
          <a:extLst>
            <a:ext uri="{FF2B5EF4-FFF2-40B4-BE49-F238E27FC236}">
              <a16:creationId xmlns:a16="http://schemas.microsoft.com/office/drawing/2014/main" id="{C7B720FC-B582-8096-5FE3-EBFEC825D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8:notes">
            <a:extLst>
              <a:ext uri="{FF2B5EF4-FFF2-40B4-BE49-F238E27FC236}">
                <a16:creationId xmlns:a16="http://schemas.microsoft.com/office/drawing/2014/main" id="{9BAD1B28-C2C2-1C98-AFD5-1D0A1D7BC7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56" name="Google Shape;356;p8:notes">
            <a:extLst>
              <a:ext uri="{FF2B5EF4-FFF2-40B4-BE49-F238E27FC236}">
                <a16:creationId xmlns:a16="http://schemas.microsoft.com/office/drawing/2014/main" id="{00284EAE-B7A3-8FD9-4E83-003105753D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58692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>
          <a:extLst>
            <a:ext uri="{FF2B5EF4-FFF2-40B4-BE49-F238E27FC236}">
              <a16:creationId xmlns:a16="http://schemas.microsoft.com/office/drawing/2014/main" id="{CD376D2C-94FA-6519-F653-C5D4DFC7E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8:notes">
            <a:extLst>
              <a:ext uri="{FF2B5EF4-FFF2-40B4-BE49-F238E27FC236}">
                <a16:creationId xmlns:a16="http://schemas.microsoft.com/office/drawing/2014/main" id="{514DA75C-7123-F885-D6B5-6AC2B6C658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56" name="Google Shape;356;p8:notes">
            <a:extLst>
              <a:ext uri="{FF2B5EF4-FFF2-40B4-BE49-F238E27FC236}">
                <a16:creationId xmlns:a16="http://schemas.microsoft.com/office/drawing/2014/main" id="{08C5D2A9-8162-0F6D-DD51-F5C304D735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r>
              <a:rPr lang="en-US"/>
              <a:t>https://ont-heatmap.streamlit.app/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831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9CEF3-6B3E-5549-CFCE-D9B21D553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12E891-1D12-6C7D-D25D-4E7C5E3AD4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80E15-B8AC-9392-108C-6738DB566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93871-28B3-014E-B36B-296E433322D3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C9EF2-2E29-E068-656E-218E9BB73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D8FA4-CA59-99A2-DEDB-4B8C5464D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7150-2014-4148-8868-E3154D803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35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BA43A-06BF-8446-118F-4F898339D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39BD1-258F-B0C2-831A-28A82B848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B54A7-E908-3AB6-2130-6A60A3E8D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93871-28B3-014E-B36B-296E433322D3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341C0-09C1-29D9-4045-C8AA81430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63A53-DE41-9B8F-3928-F2DA170F1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7150-2014-4148-8868-E3154D803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552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B70AC-31AC-DB76-5262-FF752C8C5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7312C8-A9D0-486D-875E-DFD084122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961C3-F4F0-5010-FD05-F842C3E85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93871-28B3-014E-B36B-296E433322D3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654AB-DC42-64DD-6E73-FBF33536A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64E1A-7389-8EDB-8AA4-54FA743D8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7150-2014-4148-8868-E3154D803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627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D172F-76FC-9E2E-EE21-2ACFADA6D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8AA41-D9B1-93E6-25A6-97BCF77838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43020C-AF29-5E7B-E886-20DFD2B82F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90A6D-77B6-5DBC-C9E8-C275F8A0F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93871-28B3-014E-B36B-296E433322D3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4185A0-EA62-E1A5-7119-D78F6908D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84E3E-37A6-1BB2-CCAF-107639493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7150-2014-4148-8868-E3154D803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69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37D86-BBD3-4006-9BB8-FF464DF4C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A26F4B-DC92-97B2-AF48-51A6B2EF8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777EC-DA86-0332-E2CC-F76530AC5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84FD3E-D1B3-7798-F830-EB78CC6A67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467D6F-02E6-D650-B105-D6F7FA7AAD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851692-FC31-7FAD-9099-C259AD294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93871-28B3-014E-B36B-296E433322D3}" type="datetimeFigureOut">
              <a:rPr lang="en-US" smtClean="0"/>
              <a:t>9/10/26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51F7BC-34E8-1BE9-044E-B40ACF38F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DA5CB5-5438-50EC-9703-1B10B9A0F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7150-2014-4148-8868-E3154D803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712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33249-C111-B66D-A1D8-CB1A6FBD1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6AE32D-D15C-D16F-70ED-E6F04608F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93871-28B3-014E-B36B-296E433322D3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1430F5-2915-BDF9-C28A-247252B6F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1F651A-35F2-AD40-07B8-83C444401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7150-2014-4148-8868-E3154D803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110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515033-2FB8-B1DF-93BC-F8032E41D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93871-28B3-014E-B36B-296E433322D3}" type="datetimeFigureOut">
              <a:rPr lang="en-US" smtClean="0"/>
              <a:t>9/10/26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79A588-E3AF-77B3-C2F8-389883D29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DB8E5-8FB7-99E8-40D3-0909EB1E8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7150-2014-4148-8868-E3154D803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177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EA8DA-C1F5-490C-B724-4218D187D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C26F7-81EE-DB43-3AB0-9A4DDB319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068324-094D-404D-824C-2477152F74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C2520E-B591-E2D3-544D-592CAA6F9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93871-28B3-014E-B36B-296E433322D3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63248F-9BA5-0CFB-80D0-2E222C790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FD67DF-690E-793E-24C3-1FEB8C028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7150-2014-4148-8868-E3154D803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067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43D7B-7302-42C7-E7FE-F33B10E1A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A70B09-87BD-51E8-2076-382E0A49EC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F64413-6F2D-BE54-953C-362F17BA59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9B48F7-FF4F-C2DE-B32A-8187DF002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93871-28B3-014E-B36B-296E433322D3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868044-6BA2-C5F9-DFBE-DF974034C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76437-EF7F-867C-CEFF-7B44404DF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7150-2014-4148-8868-E3154D803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894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08253-1481-231D-46B2-17ECB79FF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834F92-D199-840B-B89C-AE56EF8D6C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0DB8B-E86D-43D4-50DE-823997169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93871-28B3-014E-B36B-296E433322D3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02D49-E49C-65F5-A9CA-3E70A4F9F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E693C-6BBD-4236-3BDC-97187D09F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7150-2014-4148-8868-E3154D803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890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555293-FFD1-F8BA-B377-41B0E60776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670ACD-74D9-BFB2-5C0B-FACD701A6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9CB0E-21A2-72D8-9A69-8402B8B9E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93871-28B3-014E-B36B-296E433322D3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730A6-34F5-8C86-FEF9-CF3290432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8EF79-F358-8142-4F11-B9CD77B67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897150-2014-4148-8868-E3154D803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0337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 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sldNum" idx="12"/>
          </p:nvPr>
        </p:nvSpPr>
        <p:spPr>
          <a:xfrm>
            <a:off x="5979516" y="6540500"/>
            <a:ext cx="226800" cy="2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12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12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12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12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12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12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12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12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12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sz="1333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294234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62993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72C4F6-772F-1B60-F6E1-DAACAA1A2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52E1D-82C7-757F-1F2A-76A4EC865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FA9A3-AED1-ADC2-A5C5-518DE6EAC0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C93871-28B3-014E-B36B-296E433322D3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8ABFC-B189-D544-C298-5DCB71AE06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3D618-E9AE-98E8-FB8B-5B7B59CFB0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897150-2014-4148-8868-E3154D803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347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ont-heatmap.streamlit.app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gowtham-thakku/ont-heatmap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ont-heatmap.streamlit.app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5666F-18C3-77BE-CFE4-B6F66F44E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Disclaimer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250D0-5ADA-57BD-3F25-93C692767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This training resource was developed to be used with the CZ ID platform</a:t>
            </a:r>
          </a:p>
          <a:p>
            <a:r>
              <a:rPr lang="en-US" dirty="0">
                <a:solidFill>
                  <a:schemeClr val="tx1"/>
                </a:solidFill>
              </a:rPr>
              <a:t>In October, 2026, stewardship of CZ ID transitioned to UCSF and the platform was renamed to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These </a:t>
            </a:r>
            <a:r>
              <a:rPr lang="en-US" dirty="0">
                <a:solidFill>
                  <a:schemeClr val="tx1"/>
                </a:solidFill>
              </a:rPr>
              <a:t>training materials are not being actively maintained and may not reflect differences between CZ ID and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r>
              <a:rPr lang="en-US" dirty="0">
                <a:solidFill>
                  <a:schemeClr val="tx1"/>
                </a:solidFill>
              </a:rPr>
              <a:t>, subsequent changes to the platform, or current methods and best practices in metagenomic sequencing </a:t>
            </a:r>
            <a:r>
              <a:rPr lang="en-US">
                <a:solidFill>
                  <a:schemeClr val="tx1"/>
                </a:solidFill>
              </a:rPr>
              <a:t>and analysis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62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"/>
          <p:cNvCxnSpPr/>
          <p:nvPr/>
        </p:nvCxnSpPr>
        <p:spPr>
          <a:xfrm>
            <a:off x="635000" y="3238500"/>
            <a:ext cx="10922000" cy="0"/>
          </a:xfrm>
          <a:prstGeom prst="straightConnector1">
            <a:avLst/>
          </a:prstGeom>
          <a:noFill/>
          <a:ln w="28575" cap="flat" cmpd="sng">
            <a:solidFill>
              <a:srgbClr val="E3EED3">
                <a:alpha val="40000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57" name="Google Shape;57;p1"/>
          <p:cNvSpPr txBox="1"/>
          <p:nvPr/>
        </p:nvSpPr>
        <p:spPr>
          <a:xfrm>
            <a:off x="641473" y="3510400"/>
            <a:ext cx="10922000" cy="5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>
              <a:lnSpc>
                <a:spcPct val="120000"/>
              </a:lnSpc>
              <a:buClr>
                <a:srgbClr val="9DC061"/>
              </a:buClr>
              <a:buSzPts val="2300"/>
            </a:pPr>
            <a:r>
              <a:rPr lang="en" sz="2400" dirty="0">
                <a:solidFill>
                  <a:schemeClr val="dk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Generating heatmaps using ONT data from CZ ID</a:t>
            </a:r>
            <a:endParaRPr sz="2400" dirty="0">
              <a:solidFill>
                <a:schemeClr val="dk1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1478" y="1823168"/>
            <a:ext cx="3947623" cy="128903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E54911-66B4-2C40-5B27-E660DDD44A1F}"/>
              </a:ext>
            </a:extLst>
          </p:cNvPr>
          <p:cNvSpPr txBox="1"/>
          <p:nvPr/>
        </p:nvSpPr>
        <p:spPr>
          <a:xfrm>
            <a:off x="9504949" y="6521542"/>
            <a:ext cx="251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 Response – Updated Sept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8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b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n-US" dirty="0"/>
              <a:t>Web-app to create heatmaps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DDFDA-D013-4B98-9CCD-B5DE159B2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CZ ID does not have a heatmap visualization feature for </a:t>
            </a:r>
            <a:r>
              <a:rPr lang="en-US"/>
              <a:t>the ONT </a:t>
            </a:r>
            <a:r>
              <a:rPr lang="en-US" dirty="0"/>
              <a:t>pipeline</a:t>
            </a:r>
          </a:p>
          <a:p>
            <a:r>
              <a:rPr lang="en-US" dirty="0">
                <a:hlinkClick r:id="rId3"/>
              </a:rPr>
              <a:t>This web app </a:t>
            </a:r>
            <a:r>
              <a:rPr lang="en-US" dirty="0"/>
              <a:t>is designed to mimic this functionality using sample taxon reports downloaded from CZID (</a:t>
            </a:r>
            <a:r>
              <a:rPr lang="en-US" dirty="0">
                <a:hlinkClick r:id="rId4"/>
              </a:rPr>
              <a:t>Github link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>
          <a:extLst>
            <a:ext uri="{FF2B5EF4-FFF2-40B4-BE49-F238E27FC236}">
              <a16:creationId xmlns:a16="http://schemas.microsoft.com/office/drawing/2014/main" id="{24704A31-169B-1EFD-9894-98A9863D7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8">
            <a:extLst>
              <a:ext uri="{FF2B5EF4-FFF2-40B4-BE49-F238E27FC236}">
                <a16:creationId xmlns:a16="http://schemas.microsoft.com/office/drawing/2014/main" id="{5DE3A16A-6150-AEEC-39E7-D57C5CEC06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b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n-US" dirty="0"/>
              <a:t>Step 1: Download sample taxon reports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A50908-1D48-C8CB-A93C-844B3BD17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2566" y="1714384"/>
            <a:ext cx="7772400" cy="4476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898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>
          <a:extLst>
            <a:ext uri="{FF2B5EF4-FFF2-40B4-BE49-F238E27FC236}">
              <a16:creationId xmlns:a16="http://schemas.microsoft.com/office/drawing/2014/main" id="{EDE25B99-4918-69BD-50E1-D3A3CE6E5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8">
            <a:extLst>
              <a:ext uri="{FF2B5EF4-FFF2-40B4-BE49-F238E27FC236}">
                <a16:creationId xmlns:a16="http://schemas.microsoft.com/office/drawing/2014/main" id="{2B396966-1643-5FB9-2E14-0FC10ACBB3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783" y="274637"/>
            <a:ext cx="11741426" cy="914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b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n-US" dirty="0"/>
              <a:t>Step 2: Open the app and upload reports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00A9B8-95DE-A430-D5D3-337DF2045677}"/>
              </a:ext>
            </a:extLst>
          </p:cNvPr>
          <p:cNvSpPr txBox="1"/>
          <p:nvPr/>
        </p:nvSpPr>
        <p:spPr>
          <a:xfrm>
            <a:off x="861392" y="139491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hlinkClick r:id="rId3"/>
              </a:rPr>
              <a:t>Link to web app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020654-7D58-FBB7-E2CC-D6F1CDCA5B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8949" y="2124005"/>
            <a:ext cx="7772400" cy="4348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57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573187-D439-8459-F5EC-8484440B6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572" y="1907473"/>
            <a:ext cx="7772400" cy="4324909"/>
          </a:xfrm>
          <a:prstGeom prst="rect">
            <a:avLst/>
          </a:prstGeom>
        </p:spPr>
      </p:pic>
      <p:sp>
        <p:nvSpPr>
          <p:cNvPr id="5" name="Google Shape;358;p8">
            <a:extLst>
              <a:ext uri="{FF2B5EF4-FFF2-40B4-BE49-F238E27FC236}">
                <a16:creationId xmlns:a16="http://schemas.microsoft.com/office/drawing/2014/main" id="{F562A92E-CDD7-71AF-E696-51E0A060AE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783" y="274637"/>
            <a:ext cx="11741426" cy="914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b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n-US" sz="3200" dirty="0"/>
              <a:t>Heatmap shows abundance with threshold options on the left panel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3823802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06F8A-A5EA-F851-AD92-5E43FFDE6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58;p8">
            <a:extLst>
              <a:ext uri="{FF2B5EF4-FFF2-40B4-BE49-F238E27FC236}">
                <a16:creationId xmlns:a16="http://schemas.microsoft.com/office/drawing/2014/main" id="{2A512048-C700-D153-6F85-BA8572469B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783" y="274637"/>
            <a:ext cx="11741426" cy="914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b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n-US" sz="3200" dirty="0"/>
              <a:t>Optionally select samples to include in a background model</a:t>
            </a:r>
            <a:endParaRPr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834FBB-2378-9D7D-5264-9E2A8C8B9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145" y="1597572"/>
            <a:ext cx="7772400" cy="36628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BA5761-5D78-D7B8-5B6F-FEE9E395E708}"/>
              </a:ext>
            </a:extLst>
          </p:cNvPr>
          <p:cNvSpPr txBox="1"/>
          <p:nvPr/>
        </p:nvSpPr>
        <p:spPr>
          <a:xfrm>
            <a:off x="1648691" y="5763491"/>
            <a:ext cx="9268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background model uses the same Z-score calculation as the Standard model used in the CZ ID Illumina pipeline, except using </a:t>
            </a:r>
            <a:r>
              <a:rPr lang="en-US" dirty="0" err="1"/>
              <a:t>bPM</a:t>
            </a:r>
            <a:r>
              <a:rPr lang="en-US" dirty="0"/>
              <a:t> as the abundance metric instead of </a:t>
            </a:r>
            <a:r>
              <a:rPr lang="en-US" dirty="0" err="1"/>
              <a:t>rPM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754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E00C7-B6FA-5B0E-B980-DC3A0C5A1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58;p8">
            <a:extLst>
              <a:ext uri="{FF2B5EF4-FFF2-40B4-BE49-F238E27FC236}">
                <a16:creationId xmlns:a16="http://schemas.microsoft.com/office/drawing/2014/main" id="{2F431F0F-EDBC-921F-BA0B-B0CE65A068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783" y="274637"/>
            <a:ext cx="11741426" cy="914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b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n-US" sz="3200" dirty="0"/>
              <a:t>Set Z-score threshold for use in the background model</a:t>
            </a:r>
            <a:endParaRPr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7E7DC4-1A2C-7612-4CFF-1C7A3045E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618" y="1843670"/>
            <a:ext cx="7772400" cy="372355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6E8AFF0-BBA7-8888-BECD-3AF96BB429D4}"/>
              </a:ext>
            </a:extLst>
          </p:cNvPr>
          <p:cNvSpPr txBox="1"/>
          <p:nvPr/>
        </p:nvSpPr>
        <p:spPr>
          <a:xfrm>
            <a:off x="1648691" y="5763491"/>
            <a:ext cx="9268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Choice </a:t>
            </a:r>
            <a:r>
              <a:rPr lang="en-US"/>
              <a:t>of Z-score </a:t>
            </a:r>
            <a:r>
              <a:rPr lang="en-US" dirty="0"/>
              <a:t>threshold depends on the levels of contamination observed, but a good starting point is a threshold of 1.00</a:t>
            </a:r>
          </a:p>
        </p:txBody>
      </p:sp>
    </p:spTree>
    <p:extLst>
      <p:ext uri="{BB962C8B-B14F-4D97-AF65-F5344CB8AC3E}">
        <p14:creationId xmlns:p14="http://schemas.microsoft.com/office/powerpoint/2010/main" val="319543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C7964-D3CE-4CFB-F724-2158286A4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58;p8">
            <a:extLst>
              <a:ext uri="{FF2B5EF4-FFF2-40B4-BE49-F238E27FC236}">
                <a16:creationId xmlns:a16="http://schemas.microsoft.com/office/drawing/2014/main" id="{1606DB92-4C8C-A57D-C2AF-E4A0601D7F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783" y="274637"/>
            <a:ext cx="11741426" cy="914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b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n-US" sz="3200" dirty="0"/>
              <a:t>Heatmap can be download as .</a:t>
            </a:r>
            <a:r>
              <a:rPr lang="en-US" sz="3200" dirty="0" err="1"/>
              <a:t>png</a:t>
            </a:r>
            <a:r>
              <a:rPr lang="en-US" sz="3200" dirty="0"/>
              <a:t> image file or .csv data file</a:t>
            </a:r>
            <a:endParaRPr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9616F1-EBAB-FCD9-8856-7D525332B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145" y="1622428"/>
            <a:ext cx="7772400" cy="4527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730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1150</TotalTime>
  <Words>262</Words>
  <Application>Microsoft Macintosh PowerPoint</Application>
  <PresentationFormat>Widescreen</PresentationFormat>
  <Paragraphs>22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Helvetica Neue Light</vt:lpstr>
      <vt:lpstr>Office Theme</vt:lpstr>
      <vt:lpstr>Disclaimer</vt:lpstr>
      <vt:lpstr>PowerPoint Presentation</vt:lpstr>
      <vt:lpstr>Web-app to create heatmaps</vt:lpstr>
      <vt:lpstr>Step 1: Download sample taxon reports</vt:lpstr>
      <vt:lpstr>Step 2: Open the app and upload reports</vt:lpstr>
      <vt:lpstr>Heatmap shows abundance with threshold options on the left panel</vt:lpstr>
      <vt:lpstr>Optionally select samples to include in a background model</vt:lpstr>
      <vt:lpstr>Set Z-score threshold for use in the background model</vt:lpstr>
      <vt:lpstr>Heatmap can be download as .png image file or .csv data file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Gowtham Thakku</dc:creator>
  <cp:lastModifiedBy>Genay Pilarowski</cp:lastModifiedBy>
  <cp:revision>7</cp:revision>
  <dcterms:created xsi:type="dcterms:W3CDTF">2026-08-31T22:34:16Z</dcterms:created>
  <dcterms:modified xsi:type="dcterms:W3CDTF">2026-09-10T23:15:40Z</dcterms:modified>
</cp:coreProperties>
</file>