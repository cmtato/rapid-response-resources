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311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5143500" type="screen16x9"/>
  <p:notesSz cx="6858000" cy="9144000"/>
  <p:embeddedFontLst>
    <p:embeddedFont>
      <p:font typeface="Open Sans" panose="020B0606030504020204" pitchFamily="34" charset="0"/>
      <p:regular r:id="rId18"/>
      <p:bold r:id="rId19"/>
      <p:italic r:id="rId20"/>
      <p:boldItalic r:id="rId21"/>
    </p:embeddedFont>
    <p:embeddedFont>
      <p:font typeface="Poppins" pitchFamily="2" charset="77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3" roundtripDataSignature="AMtx7mh5CtBjUSiiFVS0LTjbxPpaMSpA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71E6587-575E-4002-BBC1-B68D7DEDE265}">
  <a:tblStyle styleId="{471E6587-575E-4002-BBC1-B68D7DEDE26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32C9CD5-0983-4F66-87FC-8E090F406FB0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0"/>
  </p:normalViewPr>
  <p:slideViewPr>
    <p:cSldViewPr snapToGrid="0">
      <p:cViewPr varScale="1">
        <p:scale>
          <a:sx n="145" d="100"/>
          <a:sy n="145" d="100"/>
        </p:scale>
        <p:origin x="776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Slides updated 07/02/2024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4" name="Google Shape;5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High abundance doesn’t mean pathogen, but is a good place to start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CZ ID only requires a 36 bp alignment to include taxa in the report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Consider NT contigs and scale.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Applies to all taxonomic groups.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Is this taxon interesting to our study?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Look at total reads for this sample -&gt; low total, not surprising to have low coverage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BLAST -&gt; specificity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TITLE_AND_BODY_1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4" name="Google Shape;14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7" name="Google Shape;17;p18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8" name="Google Shape;18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20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2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22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4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24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1" name="Google Shape;41;p24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5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6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26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hanzuckerberg.zendesk.com/hc/en-us/articles/360036305973-Filtering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5666F-18C3-77BE-CFE4-B6F66F44E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Disclaimer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F250D0-5ADA-57BD-3F25-93C6927675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This training resource was developed to be used with the CZ ID platform</a:t>
            </a:r>
          </a:p>
          <a:p>
            <a:r>
              <a:rPr lang="en-US" dirty="0">
                <a:solidFill>
                  <a:schemeClr val="tx1"/>
                </a:solidFill>
              </a:rPr>
              <a:t>In October, 2026, stewardship of CZ ID transitioned to UCSF and the platform was renamed to </a:t>
            </a:r>
            <a:r>
              <a:rPr lang="en-US" dirty="0" err="1">
                <a:solidFill>
                  <a:schemeClr val="tx1"/>
                </a:solidFill>
              </a:rPr>
              <a:t>SeqtoID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These </a:t>
            </a:r>
            <a:r>
              <a:rPr lang="en-US" dirty="0">
                <a:solidFill>
                  <a:schemeClr val="tx1"/>
                </a:solidFill>
              </a:rPr>
              <a:t>training materials are not being actively maintained and may not reflect differences between CZ ID and </a:t>
            </a:r>
            <a:r>
              <a:rPr lang="en-US" dirty="0" err="1">
                <a:solidFill>
                  <a:schemeClr val="tx1"/>
                </a:solidFill>
              </a:rPr>
              <a:t>SeqtoID</a:t>
            </a:r>
            <a:r>
              <a:rPr lang="en-US" dirty="0">
                <a:solidFill>
                  <a:schemeClr val="tx1"/>
                </a:solidFill>
              </a:rPr>
              <a:t>, subsequent changes to the platform, or current methods and best practices in metagenomic sequencing </a:t>
            </a:r>
            <a:r>
              <a:rPr lang="en-US">
                <a:solidFill>
                  <a:schemeClr val="tx1"/>
                </a:solidFill>
              </a:rPr>
              <a:t>and analysis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362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"/>
          <p:cNvCxnSpPr/>
          <p:nvPr/>
        </p:nvCxnSpPr>
        <p:spPr>
          <a:xfrm>
            <a:off x="476250" y="2428875"/>
            <a:ext cx="8191500" cy="0"/>
          </a:xfrm>
          <a:prstGeom prst="straightConnector1">
            <a:avLst/>
          </a:prstGeom>
          <a:noFill/>
          <a:ln w="28575" cap="flat" cmpd="sng">
            <a:solidFill>
              <a:srgbClr val="E3EED3">
                <a:alpha val="40000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57" name="Google Shape;57;p1"/>
          <p:cNvSpPr txBox="1"/>
          <p:nvPr/>
        </p:nvSpPr>
        <p:spPr>
          <a:xfrm>
            <a:off x="481105" y="2632800"/>
            <a:ext cx="8191500" cy="4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DC061"/>
              </a:buClr>
              <a:buSzPts val="2300"/>
              <a:buFont typeface="Poppins"/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+mj-lt"/>
                <a:ea typeface="Open Sans"/>
                <a:cs typeface="Open Sans"/>
                <a:sym typeface="Open Sans"/>
              </a:rPr>
              <a:t>Sample Report Metrics</a:t>
            </a:r>
            <a:endParaRPr sz="1800" b="0" i="0" u="none" strike="noStrike" cap="none">
              <a:solidFill>
                <a:schemeClr val="dk1"/>
              </a:solidFill>
              <a:latin typeface="+mj-lt"/>
              <a:ea typeface="Open Sans"/>
              <a:cs typeface="Open Sans"/>
              <a:sym typeface="Open Sans"/>
            </a:endParaRPr>
          </a:p>
        </p:txBody>
      </p:sp>
      <p:pic>
        <p:nvPicPr>
          <p:cNvPr id="58" name="Google Shape;5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1108" y="1367375"/>
            <a:ext cx="2960717" cy="9667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75F5F73-F46F-3D9E-C4CE-2B17E574690F}"/>
              </a:ext>
            </a:extLst>
          </p:cNvPr>
          <p:cNvSpPr txBox="1"/>
          <p:nvPr/>
        </p:nvSpPr>
        <p:spPr>
          <a:xfrm>
            <a:off x="6629401" y="4897279"/>
            <a:ext cx="2514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Rapid Response – Updated Sept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757525"/>
            <a:ext cx="8839204" cy="4186537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2"/>
          <p:cNvSpPr txBox="1">
            <a:spLocks noGrp="1"/>
          </p:cNvSpPr>
          <p:nvPr>
            <p:ph type="title" idx="4294967295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Reading the sample report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" name="Google Shape;71;p3"/>
          <p:cNvGraphicFramePr/>
          <p:nvPr/>
        </p:nvGraphicFramePr>
        <p:xfrm>
          <a:off x="417250" y="856300"/>
          <a:ext cx="8376325" cy="4054300"/>
        </p:xfrm>
        <a:graphic>
          <a:graphicData uri="http://schemas.openxmlformats.org/drawingml/2006/table">
            <a:tbl>
              <a:tblPr>
                <a:noFill/>
                <a:tableStyleId>{471E6587-575E-4002-BBC1-B68D7DEDE265}</a:tableStyleId>
              </a:tblPr>
              <a:tblGrid>
                <a:gridCol w="132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0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01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2675">
                <a:tc>
                  <a:txBody>
                    <a:bodyPr/>
                    <a:lstStyle/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Metric</a:t>
                      </a:r>
                      <a:endParaRPr sz="1200" b="1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457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Definition</a:t>
                      </a:r>
                      <a:endParaRPr sz="1200" b="1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Interpretation</a:t>
                      </a:r>
                      <a:endParaRPr sz="1200" b="1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975">
                <a:tc>
                  <a:txBody>
                    <a:bodyPr/>
                    <a:lstStyle/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rPM</a:t>
                      </a:r>
                      <a:r>
                        <a:rPr lang="en" sz="1200" u="none" strike="noStrike" cap="none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 </a:t>
                      </a:r>
                      <a:endParaRPr sz="12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Number of reads aligning to taxon per million reads sequenced (normalized metric)</a:t>
                      </a:r>
                      <a:endParaRPr sz="12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Higher rPM = more confidence in the hit </a:t>
                      </a:r>
                      <a:endParaRPr sz="1200" u="none" strike="noStrike" cap="none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4700">
                <a:tc>
                  <a:txBody>
                    <a:bodyPr/>
                    <a:lstStyle/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</a:t>
                      </a:r>
                      <a:endParaRPr sz="12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Number of reads aligning to taxon</a:t>
                      </a:r>
                      <a:endParaRPr sz="12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Higher  r = more confidence in the hit </a:t>
                      </a:r>
                      <a:endParaRPr sz="1200" u="none" strike="noStrike" cap="none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825">
                <a:tc>
                  <a:txBody>
                    <a:bodyPr/>
                    <a:lstStyle/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Contig</a:t>
                      </a:r>
                      <a:endParaRPr sz="12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Number of assembled contigs</a:t>
                      </a:r>
                      <a:endParaRPr sz="12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 Longer contig = more confidence</a:t>
                      </a:r>
                      <a:endParaRPr sz="1200" u="none" strike="noStrike" cap="none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Contig r</a:t>
                      </a:r>
                      <a:endParaRPr sz="12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Number of reads aligning to assembled contigs</a:t>
                      </a:r>
                      <a:endParaRPr sz="12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Higher Contig r = more confidence</a:t>
                      </a:r>
                      <a:endParaRPr sz="1200" u="none" strike="noStrike" cap="none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% id</a:t>
                      </a:r>
                      <a:endParaRPr sz="12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Average % identity of alignment to accession</a:t>
                      </a:r>
                      <a:endParaRPr sz="12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Should be taken into account with other metrics</a:t>
                      </a:r>
                      <a:endParaRPr sz="1200" u="none" strike="noStrike" cap="none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L</a:t>
                      </a:r>
                      <a:endParaRPr sz="12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Average length of alignment of contigs and reads</a:t>
                      </a:r>
                      <a:endParaRPr sz="12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Longer alignment = more confidence (if it’s divergent, L may not be high)</a:t>
                      </a:r>
                      <a:endParaRPr sz="1200" u="none" strike="noStrike" cap="none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1875">
                <a:tc>
                  <a:txBody>
                    <a:bodyPr/>
                    <a:lstStyle/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E value</a:t>
                      </a:r>
                      <a:endParaRPr sz="12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Average expect value of alignment </a:t>
                      </a:r>
                      <a:endParaRPr sz="12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Lower = more confidence</a:t>
                      </a:r>
                      <a:endParaRPr sz="1200" u="none" strike="noStrike" cap="none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2" name="Google Shape;72;p3"/>
          <p:cNvSpPr txBox="1"/>
          <p:nvPr/>
        </p:nvSpPr>
        <p:spPr>
          <a:xfrm>
            <a:off x="800250" y="161050"/>
            <a:ext cx="77205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Gaining confidence in species calls using report metrics</a:t>
            </a:r>
            <a:endParaRPr sz="22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4"/>
          <p:cNvPicPr preferRelativeResize="0"/>
          <p:nvPr/>
        </p:nvPicPr>
        <p:blipFill rotWithShape="1">
          <a:blip r:embed="rId3">
            <a:alphaModFix/>
          </a:blip>
          <a:srcRect t="7570"/>
          <a:stretch/>
        </p:blipFill>
        <p:spPr>
          <a:xfrm>
            <a:off x="152400" y="1926325"/>
            <a:ext cx="8839198" cy="10533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4"/>
          <p:cNvSpPr txBox="1"/>
          <p:nvPr/>
        </p:nvSpPr>
        <p:spPr>
          <a:xfrm>
            <a:off x="7025400" y="1297600"/>
            <a:ext cx="2118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NT</a:t>
            </a:r>
            <a:r>
              <a:rPr lang="en"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= nucleotide database</a:t>
            </a:r>
            <a:endParaRPr sz="12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NR </a:t>
            </a:r>
            <a:r>
              <a:rPr lang="en"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= protein database</a:t>
            </a:r>
            <a:endParaRPr sz="12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79" name="Google Shape;79;p4"/>
          <p:cNvSpPr txBox="1">
            <a:spLocks noGrp="1"/>
          </p:cNvSpPr>
          <p:nvPr>
            <p:ph type="title" idx="4294967295"/>
          </p:nvPr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Each metric shows 2 results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5"/>
          <p:cNvPicPr preferRelativeResize="0"/>
          <p:nvPr/>
        </p:nvPicPr>
        <p:blipFill rotWithShape="1">
          <a:blip r:embed="rId3">
            <a:alphaModFix/>
          </a:blip>
          <a:srcRect t="7570"/>
          <a:stretch/>
        </p:blipFill>
        <p:spPr>
          <a:xfrm>
            <a:off x="152400" y="1926325"/>
            <a:ext cx="8839198" cy="105337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5"/>
          <p:cNvSpPr txBox="1"/>
          <p:nvPr/>
        </p:nvSpPr>
        <p:spPr>
          <a:xfrm>
            <a:off x="7025400" y="1297600"/>
            <a:ext cx="2118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NT</a:t>
            </a:r>
            <a:r>
              <a:rPr lang="en"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= nucleotide database</a:t>
            </a:r>
            <a:endParaRPr sz="12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NR </a:t>
            </a:r>
            <a:r>
              <a:rPr lang="en"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= protein database</a:t>
            </a:r>
            <a:endParaRPr sz="12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86" name="Google Shape;86;p5"/>
          <p:cNvSpPr txBox="1">
            <a:spLocks noGrp="1"/>
          </p:cNvSpPr>
          <p:nvPr>
            <p:ph type="title" idx="4294967295"/>
          </p:nvPr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Each metric shows 2 results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7" name="Google Shape;87;p5"/>
          <p:cNvSpPr txBox="1"/>
          <p:nvPr/>
        </p:nvSpPr>
        <p:spPr>
          <a:xfrm>
            <a:off x="764375" y="3151325"/>
            <a:ext cx="7734300" cy="19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General Interpretation Notes</a:t>
            </a:r>
            <a:r>
              <a:rPr lang="en" sz="1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:</a:t>
            </a:r>
            <a:endParaRPr sz="14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 Light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Reads aligning to both databases: Good sign that the hit is true (more to it than that)</a:t>
            </a:r>
            <a:endParaRPr sz="14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 Light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If a read is viral and only has a hit to the NR database: Hit could represent a divergent virus</a:t>
            </a:r>
            <a:endParaRPr sz="14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 Light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If a hit is bacterial and it only has a hit to the NT database: Sequences may be aligning to the 16S rRNA region, which is not in the NR databases (should not be trusted)</a:t>
            </a:r>
            <a:endParaRPr sz="14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Filters are helpful at removing false hits, but not perfect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" name="Google Shape;93;p6"/>
          <p:cNvSpPr txBox="1"/>
          <p:nvPr/>
        </p:nvSpPr>
        <p:spPr>
          <a:xfrm>
            <a:off x="571550" y="1107050"/>
            <a:ext cx="7648500" cy="38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Using the following filters is a good place to start:</a:t>
            </a:r>
            <a:endParaRPr sz="14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●"/>
            </a:pPr>
            <a:r>
              <a:rPr lang="en" sz="14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NT L &gt;= 50 </a:t>
            </a:r>
            <a:endParaRPr sz="1400" b="1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 Light"/>
              <a:buChar char="○"/>
            </a:pPr>
            <a:r>
              <a:rPr lang="en" sz="1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I only want to see taxa with at least 50 bp that align to the nucleotide database in NCBI</a:t>
            </a:r>
            <a:endParaRPr sz="14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 Light"/>
              <a:buChar char="●"/>
            </a:pPr>
            <a:r>
              <a:rPr lang="en" sz="14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NT rPM &gt;= 10</a:t>
            </a:r>
            <a:r>
              <a:rPr lang="en" sz="1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 </a:t>
            </a:r>
            <a:endParaRPr sz="14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 Light"/>
              <a:buChar char="○"/>
            </a:pPr>
            <a:r>
              <a:rPr lang="en" sz="1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I only want to see taxa with at least 10 reads per million that align to the nucleotide database. Reads per million is a normalized value that takes into account total reads. </a:t>
            </a:r>
            <a:endParaRPr sz="14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●"/>
            </a:pPr>
            <a:r>
              <a:rPr lang="en" sz="14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NR rPM &gt;= 1</a:t>
            </a:r>
            <a:endParaRPr sz="1400" b="1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 Light"/>
              <a:buChar char="○"/>
            </a:pPr>
            <a:r>
              <a:rPr lang="en" sz="1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I only want to see taxa with at least 1 read that aligns to the protein database in NCBI. Having at least 1 hit to the protein database ensures that you are not hitting a conserved region. </a:t>
            </a:r>
            <a:endParaRPr sz="14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Read more about filtering </a:t>
            </a:r>
            <a:r>
              <a:rPr lang="en" sz="1400" b="0" i="0" u="sng" strike="noStrike" cap="none">
                <a:solidFill>
                  <a:schemeClr val="hlink"/>
                </a:solidFill>
                <a:latin typeface="Helvetica Neue Light"/>
                <a:ea typeface="Helvetica Neue Light"/>
                <a:cs typeface="Helvetica Neue Light"/>
                <a:sym typeface="Helvetica Neue Light"/>
                <a:hlinkClick r:id="rId3"/>
              </a:rPr>
              <a:t>here</a:t>
            </a:r>
            <a:r>
              <a:rPr lang="en" sz="1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. </a:t>
            </a:r>
            <a:endParaRPr sz="14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895775"/>
            <a:ext cx="8839200" cy="251178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7"/>
          <p:cNvSpPr txBox="1">
            <a:spLocks noGrp="1"/>
          </p:cNvSpPr>
          <p:nvPr>
            <p:ph type="title" idx="4294967295"/>
          </p:nvPr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The coverage visualization is valuable for evaluating hits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8"/>
          <p:cNvPicPr preferRelativeResize="0"/>
          <p:nvPr/>
        </p:nvPicPr>
        <p:blipFill rotWithShape="1">
          <a:blip r:embed="rId3">
            <a:alphaModFix/>
          </a:blip>
          <a:srcRect l="10159" t="54735" r="1266" b="10973"/>
          <a:stretch/>
        </p:blipFill>
        <p:spPr>
          <a:xfrm>
            <a:off x="865525" y="2343950"/>
            <a:ext cx="7828973" cy="861324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8"/>
          <p:cNvSpPr txBox="1"/>
          <p:nvPr/>
        </p:nvSpPr>
        <p:spPr>
          <a:xfrm rot="-5400000">
            <a:off x="47425" y="2420775"/>
            <a:ext cx="1023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>
                <a:solidFill>
                  <a:srgbClr val="99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depth</a:t>
            </a:r>
            <a:endParaRPr sz="2000" b="1" i="0" u="none" strike="noStrike" cap="none">
              <a:solidFill>
                <a:srgbClr val="9900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6" name="Google Shape;106;p8"/>
          <p:cNvSpPr txBox="1"/>
          <p:nvPr/>
        </p:nvSpPr>
        <p:spPr>
          <a:xfrm>
            <a:off x="3907800" y="3210425"/>
            <a:ext cx="1310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>
                <a:solidFill>
                  <a:srgbClr val="99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breadth</a:t>
            </a:r>
            <a:endParaRPr sz="2000" b="1" i="0" u="none" strike="noStrike" cap="none">
              <a:solidFill>
                <a:srgbClr val="9900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7" name="Google Shape;107;p8"/>
          <p:cNvSpPr txBox="1">
            <a:spLocks noGrp="1"/>
          </p:cNvSpPr>
          <p:nvPr>
            <p:ph type="title" idx="4294967295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Take into consideration the depth and breadth of the coverage (the higher, the better)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Taking into account coverage breadth and depth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113" name="Google Shape;113;p9"/>
          <p:cNvGraphicFramePr/>
          <p:nvPr/>
        </p:nvGraphicFramePr>
        <p:xfrm>
          <a:off x="98250" y="1162250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{332C9CD5-0983-4F66-87FC-8E090F406FB0}</a:tableStyleId>
              </a:tblPr>
              <a:tblGrid>
                <a:gridCol w="7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9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4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8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>
                          <a:highlight>
                            <a:srgbClr val="FFFFFF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Depth</a:t>
                      </a:r>
                      <a:endParaRPr sz="1100" b="1" u="none" strike="noStrike" cap="none">
                        <a:highlight>
                          <a:srgbClr val="FFFFFF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142875" marR="142875" marT="95250" marB="9525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>
                          <a:highlight>
                            <a:srgbClr val="FFFFFF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Breadth</a:t>
                      </a:r>
                      <a:endParaRPr sz="1100" b="1" u="none" strike="noStrike" cap="none">
                        <a:highlight>
                          <a:srgbClr val="FFFFFF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142875" marR="142875" marT="95250" marB="9525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>
                          <a:highlight>
                            <a:srgbClr val="FFFFFF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How to Interpret</a:t>
                      </a:r>
                      <a:endParaRPr sz="1100" b="1" u="none" strike="noStrike" cap="none">
                        <a:highlight>
                          <a:srgbClr val="FFFFFF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142875" marR="142875" marT="95250" marB="9525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8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highlight>
                            <a:srgbClr val="FFFFFF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High</a:t>
                      </a:r>
                      <a:endParaRPr sz="1100" u="none" strike="noStrike" cap="none">
                        <a:highlight>
                          <a:srgbClr val="FFFFFF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142875" marR="142875" marT="95250" marB="9525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highlight>
                            <a:srgbClr val="FFFFFF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High</a:t>
                      </a:r>
                      <a:endParaRPr sz="1100" u="none" strike="noStrike" cap="none">
                        <a:highlight>
                          <a:srgbClr val="FFFFFF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142875" marR="142875" marT="95250" marB="9525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highlight>
                            <a:srgbClr val="FFFFFF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Provides you with confidence that this is a true hit!</a:t>
                      </a:r>
                      <a:endParaRPr sz="1100" u="none" strike="noStrike" cap="none">
                        <a:highlight>
                          <a:srgbClr val="FFFFFF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142875" marR="142875" marT="95250" marB="9525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8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highlight>
                            <a:srgbClr val="FFFFFF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Low</a:t>
                      </a:r>
                      <a:endParaRPr sz="1100" u="none" strike="noStrike" cap="none">
                        <a:highlight>
                          <a:srgbClr val="FFFFFF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142875" marR="142875" marT="95250" marB="9525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highlight>
                            <a:srgbClr val="FFFFFF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High</a:t>
                      </a:r>
                      <a:endParaRPr sz="1100" u="none" strike="noStrike" cap="none">
                        <a:highlight>
                          <a:srgbClr val="FFFFFF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142875" marR="142875" marT="95250" marB="9525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highlight>
                            <a:srgbClr val="FFFFFF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If there is coverage across multiple regions of the genome, this is likely a real hit. Evaluate the assembled contigs (NT L) and ensure the alignment is good (% identity).</a:t>
                      </a:r>
                      <a:endParaRPr sz="1100" u="none" strike="noStrike" cap="none">
                        <a:highlight>
                          <a:srgbClr val="FFFFFF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142875" marR="142875" marT="95250" marB="9525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8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highlight>
                            <a:srgbClr val="FFFFFF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High</a:t>
                      </a:r>
                      <a:endParaRPr sz="1100" u="none" strike="noStrike" cap="none">
                        <a:highlight>
                          <a:srgbClr val="FFFFFF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142875" marR="142875" marT="95250" marB="9525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highlight>
                            <a:srgbClr val="FFFFFF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Low</a:t>
                      </a:r>
                      <a:endParaRPr sz="1100" u="none" strike="noStrike" cap="none">
                        <a:highlight>
                          <a:srgbClr val="FFFFFF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142875" marR="142875" marT="95250" marB="9525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highlight>
                            <a:srgbClr val="FFFFFF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Depends on whether the small portion that has high coverage is unique to that particular taxon and on the quality of the alignment and assembly. </a:t>
                      </a:r>
                      <a:endParaRPr sz="1100" u="none" strike="noStrike" cap="none">
                        <a:highlight>
                          <a:srgbClr val="FFFFFF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142875" marR="142875" marT="95250" marB="9525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8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highlight>
                            <a:srgbClr val="FFFFFF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Low</a:t>
                      </a:r>
                      <a:endParaRPr sz="1100" u="none" strike="noStrike" cap="none">
                        <a:highlight>
                          <a:srgbClr val="FFFFFF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142875" marR="142875" marT="95250" marB="9525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highlight>
                            <a:srgbClr val="FFFFFF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Low</a:t>
                      </a:r>
                      <a:endParaRPr sz="1100" u="none" strike="noStrike" cap="none">
                        <a:highlight>
                          <a:srgbClr val="FFFFFF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142875" marR="142875" marT="95250" marB="9525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highlight>
                            <a:srgbClr val="FFFFFF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May be a result of genomic similarity at the 16S rRNA region (for bacteria)</a:t>
                      </a:r>
                      <a:endParaRPr sz="1100" u="none" strike="noStrike" cap="none">
                        <a:highlight>
                          <a:srgbClr val="FFFFFF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142875" marR="142875" marT="95250" marB="9525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0"/>
          <p:cNvPicPr preferRelativeResize="0"/>
          <p:nvPr/>
        </p:nvPicPr>
        <p:blipFill rotWithShape="1">
          <a:blip r:embed="rId3">
            <a:alphaModFix/>
          </a:blip>
          <a:srcRect t="2591"/>
          <a:stretch/>
        </p:blipFill>
        <p:spPr>
          <a:xfrm>
            <a:off x="152400" y="1705375"/>
            <a:ext cx="8839199" cy="215677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19" name="Google Shape;119;p10"/>
          <p:cNvSpPr txBox="1">
            <a:spLocks noGrp="1"/>
          </p:cNvSpPr>
          <p:nvPr>
            <p:ph type="title" idx="4294967295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What do we think about this viral hit?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1"/>
          <p:cNvSpPr txBox="1">
            <a:spLocks noGrp="1"/>
          </p:cNvSpPr>
          <p:nvPr>
            <p:ph type="title" idx="4294967295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What do we think about this bacterial hit?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25" name="Google Shape;125;p11"/>
          <p:cNvPicPr preferRelativeResize="0"/>
          <p:nvPr/>
        </p:nvPicPr>
        <p:blipFill rotWithShape="1">
          <a:blip r:embed="rId3">
            <a:alphaModFix/>
          </a:blip>
          <a:srcRect t="2505"/>
          <a:stretch/>
        </p:blipFill>
        <p:spPr>
          <a:xfrm>
            <a:off x="152400" y="1477400"/>
            <a:ext cx="8839199" cy="216697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549525"/>
            <a:ext cx="8839201" cy="2551476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31" name="Google Shape;131;p12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What do we think about this bacterial hit?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3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BLAST can be used for hit confirmation 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37" name="Google Shape;137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71100" y="1090750"/>
            <a:ext cx="3310192" cy="382097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4"/>
          <p:cNvSpPr txBox="1">
            <a:spLocks noGrp="1"/>
          </p:cNvSpPr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Let’s do our own analysis!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697</Words>
  <Application>Microsoft Macintosh PowerPoint</Application>
  <PresentationFormat>On-screen Show (16:9)</PresentationFormat>
  <Paragraphs>92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Helvetica Neue</vt:lpstr>
      <vt:lpstr>Open Sans</vt:lpstr>
      <vt:lpstr>Helvetica Neue Light</vt:lpstr>
      <vt:lpstr>Poppins</vt:lpstr>
      <vt:lpstr>Simple Light</vt:lpstr>
      <vt:lpstr>Disclaimer</vt:lpstr>
      <vt:lpstr>PowerPoint Presentation</vt:lpstr>
      <vt:lpstr>Reading the sample report</vt:lpstr>
      <vt:lpstr>PowerPoint Presentation</vt:lpstr>
      <vt:lpstr>Each metric shows 2 results </vt:lpstr>
      <vt:lpstr>Each metric shows 2 results </vt:lpstr>
      <vt:lpstr>Filters are helpful at removing false hits, but not perfect</vt:lpstr>
      <vt:lpstr>The coverage visualization is valuable for evaluating hits</vt:lpstr>
      <vt:lpstr>Take into consideration the depth and breadth of the coverage (the higher, the better)</vt:lpstr>
      <vt:lpstr>Taking into account coverage breadth and depth</vt:lpstr>
      <vt:lpstr>What do we think about this viral hit?</vt:lpstr>
      <vt:lpstr>What do we think about this bacterial hit?</vt:lpstr>
      <vt:lpstr>What do we think about this bacterial hit?</vt:lpstr>
      <vt:lpstr>BLAST can be used for hit confirmation </vt:lpstr>
      <vt:lpstr>Let’s do our own analysis!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Genay Pilarowski</cp:lastModifiedBy>
  <cp:revision>3</cp:revision>
  <dcterms:modified xsi:type="dcterms:W3CDTF">2026-09-10T23:14:26Z</dcterms:modified>
</cp:coreProperties>
</file>