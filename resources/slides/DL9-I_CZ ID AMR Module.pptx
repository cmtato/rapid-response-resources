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embeddedFontLst>
    <p:embeddedFont>
      <p:font typeface="Lato" panose="020F0502020204030203" pitchFamily="34" charset="0"/>
      <p:regular r:id="rId55"/>
      <p:bold r:id="rId56"/>
      <p:italic r:id="rId57"/>
      <p:boldItalic r:id="rId58"/>
    </p:embeddedFont>
    <p:embeddedFont>
      <p:font typeface="Open Sans" panose="020B0606030504020204" pitchFamily="34" charset="0"/>
      <p:regular r:id="rId59"/>
      <p:bold r:id="rId60"/>
      <p:italic r:id="rId61"/>
      <p:boldItalic r:id="rId62"/>
    </p:embeddedFont>
    <p:embeddedFont>
      <p:font typeface="Poppins" pitchFamily="2" charset="77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0" roundtripDataSignature="AMtx7miUX/TCLSSFsLWPjxTVOBGhxUjh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45" d="100"/>
          <a:sy n="145" d="100"/>
        </p:scale>
        <p:origin x="7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c7cf6f92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c7cf6f92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c7cf6f92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c7cf6f92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c7cf6f92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1c7cf6f92d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c7cf6f9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c7cf6f9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Discuss differences - what might you find in WildCARD vs Canonical?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Species identification using CARD and WildCard modules (resistomes, variants &amp; prevalence db)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Species identification using CARD and WildCard modules (resistomes, variants &amp; prevalence db)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Species identification using CARD and WildCard modules (resistomes, variants &amp; prevalence db)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Species identification using CARD and WildCard modules (resistomes, variants &amp; prevalence db)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chemeClr val="dk1"/>
                </a:solidFill>
              </a:rPr>
              <a:t>Antibiotic families are classified based on mechanism of action, chemical structure, or spectrum of activity.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chemeClr val="dk1"/>
                </a:solidFill>
              </a:rPr>
              <a:t>Model corres[omds to the molecular category of the AMR gene prediction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bdbfd631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31bdbfd631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1bdbfd6319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1bdbfd6319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1bdbfd6319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31bdbfd6319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1bdbfd6319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31bdbfd6319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CZ ID uses canonical CARD database for all of these (Perfect, Strict, Loose)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Loose not used often (leads to spurious hits). Maybe useful if you have a phenotype you can’t explain based on Perfect/Strict matches.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Strict vs Loose is based on the BLASTp score (curated per target)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Patient C ~3000 rpm, Patient D ~200 rpm)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Patient C ~3000 rpm, Patient D ~200 rpm)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Study cohort: Patients 31 d to 18 yrs of age who were expected to require mechanical ventillation via endotracheal tube for at least 72 h.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8" name="Google Shape;53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0" name="Google Shape;600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6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reactgroup.org/toolbox/understand/antibiotic-resistance/resistance-mechanisms-in-bacteria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reactgroup.org/toolbox/understand/antibiotic-resistance/resistance-mechanisms-in-bacteria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reactgroup.org/toolbox/understand/antibiotic-resistance/resistance-mechanisms-in-bacteria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.mcmaster.ca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.mcmaster.ca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.mcmaster.ca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.mcmaster.ca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.mcmaster.ca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.mcmaster.ca/ontology/3672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.mcmaster.ca/ontology/40507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.mcmaster.ca/ontology/37193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.mcmaster.ca/ontology/42445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pcard/rgi/blob/master/docs/rgi_main.rst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18-24280-8.pdf?origin=ppub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nzuckerberg/czid-amr-heatmap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asm.org/doi/10.1128/aac.01786-16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7442849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51196054_Surveillance_of_potential_pathogens_and_antibiotic_resistance_in_wastewater_and_surface_water_from_Boston_USA_and_Vellore_India_using_long-read_metagenomic_sequencing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categories/15001531592980-Antimicrobial-Resistance-Analysis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biorxiv.org/content/10.1101/2024.04.12.589250v2" TargetMode="External"/><Relationship Id="rId4" Type="http://schemas.openxmlformats.org/officeDocument/2006/relationships/hyperlink" Target="https://www.youtube.com/watch?v=FvOCDlcYaTo&amp;list=PL3izGL6oi0S8RG8vnwLXFznzJnKh8OR8F&amp;index=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AMR Pipeline and Sample Report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7F185A-9647-BC91-67ED-30127FCFC13E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July 2024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c7cf6f92d_0_6"/>
          <p:cNvSpPr txBox="1">
            <a:spLocks noGrp="1"/>
          </p:cNvSpPr>
          <p:nvPr>
            <p:ph type="title"/>
          </p:nvPr>
        </p:nvSpPr>
        <p:spPr>
          <a:xfrm>
            <a:off x="311700" y="165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Antimicrobial Resistance (AMR) Mechanisms</a:t>
            </a:r>
            <a:endParaRPr/>
          </a:p>
        </p:txBody>
      </p:sp>
      <p:pic>
        <p:nvPicPr>
          <p:cNvPr id="66" name="Google Shape;66;g31c7cf6f92d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838" y="2159275"/>
            <a:ext cx="5104326" cy="28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1c7cf6f92d_0_6"/>
          <p:cNvSpPr txBox="1">
            <a:spLocks noGrp="1"/>
          </p:cNvSpPr>
          <p:nvPr>
            <p:ph type="body" idx="1"/>
          </p:nvPr>
        </p:nvSpPr>
        <p:spPr>
          <a:xfrm>
            <a:off x="311700" y="810025"/>
            <a:ext cx="8520600" cy="14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Stop antibiotic from reaching target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Modify or bypass the antibiotic target 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31c7cf6f92d_0_6"/>
          <p:cNvSpPr txBox="1"/>
          <p:nvPr/>
        </p:nvSpPr>
        <p:spPr>
          <a:xfrm>
            <a:off x="63775" y="4578800"/>
            <a:ext cx="19980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ReAct: Resistance Mechanisms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c7cf6f92d_0_12"/>
          <p:cNvSpPr txBox="1">
            <a:spLocks noGrp="1"/>
          </p:cNvSpPr>
          <p:nvPr>
            <p:ph type="title"/>
          </p:nvPr>
        </p:nvSpPr>
        <p:spPr>
          <a:xfrm>
            <a:off x="311700" y="98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Antimicrobial Resistance (AMR) Mechanisms</a:t>
            </a:r>
            <a:endParaRPr/>
          </a:p>
        </p:txBody>
      </p:sp>
      <p:pic>
        <p:nvPicPr>
          <p:cNvPr id="74" name="Google Shape;74;g31c7cf6f92d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275" y="2818150"/>
            <a:ext cx="4261550" cy="23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1c7cf6f92d_0_12"/>
          <p:cNvSpPr txBox="1">
            <a:spLocks noGrp="1"/>
          </p:cNvSpPr>
          <p:nvPr>
            <p:ph type="body" idx="1"/>
          </p:nvPr>
        </p:nvSpPr>
        <p:spPr>
          <a:xfrm>
            <a:off x="6900" y="922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Stop antibiotic from reaching target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Pump the antibiotic out of the cell (efflux pumps)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Decrease uptake (membrane permeability) 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Destroy or modify the antibiotic (inactivating enzymes)</a:t>
            </a:r>
            <a:endParaRPr sz="1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1c7cf6f92d_0_12"/>
          <p:cNvSpPr txBox="1"/>
          <p:nvPr/>
        </p:nvSpPr>
        <p:spPr>
          <a:xfrm>
            <a:off x="63775" y="4502600"/>
            <a:ext cx="19980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ReAct: Resistance Mechanisms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c7cf6f92d_0_31"/>
          <p:cNvSpPr txBox="1">
            <a:spLocks noGrp="1"/>
          </p:cNvSpPr>
          <p:nvPr>
            <p:ph type="title"/>
          </p:nvPr>
        </p:nvSpPr>
        <p:spPr>
          <a:xfrm>
            <a:off x="311700" y="98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Antimicrobial Resistance (AMR) Mechanisms</a:t>
            </a:r>
            <a:endParaRPr/>
          </a:p>
        </p:txBody>
      </p:sp>
      <p:pic>
        <p:nvPicPr>
          <p:cNvPr id="82" name="Google Shape;82;g31c7cf6f92d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275" y="2818150"/>
            <a:ext cx="4261550" cy="23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1c7cf6f92d_0_31"/>
          <p:cNvSpPr txBox="1">
            <a:spLocks noGrp="1"/>
          </p:cNvSpPr>
          <p:nvPr>
            <p:ph type="body" idx="1"/>
          </p:nvPr>
        </p:nvSpPr>
        <p:spPr>
          <a:xfrm>
            <a:off x="6900" y="922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Stop antibiotic from reaching target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Pump the antibiotic out of the cell (efflux pumps)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Decrease uptake (membrane permeability) 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Destroy or modify the antibiotic (inactivating enzymes)</a:t>
            </a:r>
            <a:endParaRPr sz="1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Modify or bypass the antibiotic target 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Camouflage or reprogram the target </a:t>
            </a:r>
            <a:endParaRPr sz="1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(target alteration)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 a different protein </a:t>
            </a:r>
            <a:endParaRPr sz="1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(expression of alternative proteins)</a:t>
            </a:r>
            <a:endParaRPr sz="1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1c7cf6f92d_0_31"/>
          <p:cNvSpPr txBox="1"/>
          <p:nvPr/>
        </p:nvSpPr>
        <p:spPr>
          <a:xfrm>
            <a:off x="63775" y="4502600"/>
            <a:ext cx="19980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ReAct: Resistance Mechanisms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c7cf6f92d_0_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What can give rise to AMR? </a:t>
            </a:r>
            <a:endParaRPr sz="2500"/>
          </a:p>
        </p:txBody>
      </p:sp>
      <p:sp>
        <p:nvSpPr>
          <p:cNvPr id="90" name="Google Shape;90;g31c7cf6f92d_0_0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Intrinsic resistance (e.g., Gram positive vs Gram negative)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Acquisition of new genetic material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(Horizontal gene transfer)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Mutation</a:t>
            </a:r>
            <a:endParaRPr/>
          </a:p>
        </p:txBody>
      </p:sp>
      <p:pic>
        <p:nvPicPr>
          <p:cNvPr id="91" name="Google Shape;91;g31c7cf6f92d_0_0"/>
          <p:cNvPicPr preferRelativeResize="0"/>
          <p:nvPr/>
        </p:nvPicPr>
        <p:blipFill rotWithShape="1">
          <a:blip r:embed="rId3">
            <a:alphaModFix/>
          </a:blip>
          <a:srcRect l="14502" r="14303" b="6323"/>
          <a:stretch/>
        </p:blipFill>
        <p:spPr>
          <a:xfrm>
            <a:off x="6992850" y="2158525"/>
            <a:ext cx="2077175" cy="29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1c7cf6f92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0575" y="2493550"/>
            <a:ext cx="1779600" cy="24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1c7cf6f92d_0_0"/>
          <p:cNvPicPr preferRelativeResize="0"/>
          <p:nvPr/>
        </p:nvPicPr>
        <p:blipFill rotWithShape="1">
          <a:blip r:embed="rId5">
            <a:alphaModFix/>
          </a:blip>
          <a:srcRect l="13191" t="16712" r="52374" b="44056"/>
          <a:stretch/>
        </p:blipFill>
        <p:spPr>
          <a:xfrm>
            <a:off x="4981550" y="2290975"/>
            <a:ext cx="572100" cy="82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94" name="Google Shape;94;g31c7cf6f92d_0_0"/>
          <p:cNvSpPr/>
          <p:nvPr/>
        </p:nvSpPr>
        <p:spPr>
          <a:xfrm>
            <a:off x="5737659" y="3343800"/>
            <a:ext cx="1321500" cy="57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g31c7cf6f92d_0_0" descr="Black question mark sign vector image | Public domain vector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1696" y="2953108"/>
            <a:ext cx="501025" cy="5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4540633" y="1547300"/>
            <a:ext cx="17604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443629" y="1547288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4319950" y="1179375"/>
            <a:ext cx="393000" cy="510737"/>
            <a:chOff x="2308225" y="2473175"/>
            <a:chExt cx="393000" cy="510737"/>
          </a:xfrm>
        </p:grpSpPr>
        <p:sp>
          <p:nvSpPr>
            <p:cNvPr id="103" name="Google Shape;103;p2"/>
            <p:cNvSpPr/>
            <p:nvPr/>
          </p:nvSpPr>
          <p:spPr>
            <a:xfrm>
              <a:off x="2308225" y="2473175"/>
              <a:ext cx="393000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4" name="Google Shape;104;p2"/>
            <p:cNvPicPr preferRelativeResize="0"/>
            <p:nvPr/>
          </p:nvPicPr>
          <p:blipFill rotWithShape="1">
            <a:blip r:embed="rId3">
              <a:alphaModFix/>
            </a:blip>
            <a:srcRect l="10530" t="15160" r="84070" b="72982"/>
            <a:stretch/>
          </p:blipFill>
          <p:spPr>
            <a:xfrm>
              <a:off x="2308289" y="2473187"/>
              <a:ext cx="392877" cy="51072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05" name="Google Shape;105;p2"/>
          <p:cNvSpPr txBox="1"/>
          <p:nvPr/>
        </p:nvSpPr>
        <p:spPr>
          <a:xfrm>
            <a:off x="6808938" y="1547288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goal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00175" y="2399038"/>
            <a:ext cx="8820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mNGS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46625" y="1547288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2418400" y="2399050"/>
            <a:ext cx="17604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Metagenomic data (reads/contigs)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613075" y="2399038"/>
            <a:ext cx="19953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Known reference genomes (complete or partial) and translated sequences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986838" y="2399038"/>
            <a:ext cx="19953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Taxonomic identification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>
            <a:spLocks noGrp="1"/>
          </p:cNvSpPr>
          <p:nvPr>
            <p:ph type="title" idx="4294967295"/>
          </p:nvPr>
        </p:nvSpPr>
        <p:spPr>
          <a:xfrm>
            <a:off x="311700" y="168475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mNGS vs AMR Detection Pipelines</a:t>
            </a:r>
            <a:endParaRPr sz="27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700175" y="3835150"/>
            <a:ext cx="8820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AMR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2444200" y="3835150"/>
            <a:ext cx="15375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Metagenomic or whole genome sequence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(reads/contigs)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613075" y="3835150"/>
            <a:ext cx="19953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Known reference AMR genes and translated sequences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063048" y="3835150"/>
            <a:ext cx="16593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AMR gene detection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>
            <a:spLocks noGrp="1"/>
          </p:cNvSpPr>
          <p:nvPr>
            <p:ph type="title" idx="4294967295"/>
          </p:nvPr>
        </p:nvSpPr>
        <p:spPr>
          <a:xfrm>
            <a:off x="311700" y="168475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mNGS vs AMR Detection Pipelines</a:t>
            </a:r>
            <a:endParaRPr sz="272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720"/>
          </a:p>
        </p:txBody>
      </p:sp>
      <p:sp>
        <p:nvSpPr>
          <p:cNvPr id="121" name="Google Shape;121;p3"/>
          <p:cNvSpPr txBox="1"/>
          <p:nvPr/>
        </p:nvSpPr>
        <p:spPr>
          <a:xfrm>
            <a:off x="4540633" y="1547300"/>
            <a:ext cx="17604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2443629" y="1547288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3"/>
          <p:cNvGrpSpPr/>
          <p:nvPr/>
        </p:nvGrpSpPr>
        <p:grpSpPr>
          <a:xfrm>
            <a:off x="4319950" y="1179375"/>
            <a:ext cx="393000" cy="510737"/>
            <a:chOff x="2308225" y="2473175"/>
            <a:chExt cx="393000" cy="510737"/>
          </a:xfrm>
        </p:grpSpPr>
        <p:sp>
          <p:nvSpPr>
            <p:cNvPr id="124" name="Google Shape;124;p3"/>
            <p:cNvSpPr/>
            <p:nvPr/>
          </p:nvSpPr>
          <p:spPr>
            <a:xfrm>
              <a:off x="2308225" y="2473175"/>
              <a:ext cx="393000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5" name="Google Shape;125;p3"/>
            <p:cNvPicPr preferRelativeResize="0"/>
            <p:nvPr/>
          </p:nvPicPr>
          <p:blipFill rotWithShape="1">
            <a:blip r:embed="rId3">
              <a:alphaModFix/>
            </a:blip>
            <a:srcRect l="10530" t="15160" r="84070" b="72982"/>
            <a:stretch/>
          </p:blipFill>
          <p:spPr>
            <a:xfrm>
              <a:off x="2308289" y="2473187"/>
              <a:ext cx="392877" cy="51072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26" name="Google Shape;126;p3"/>
          <p:cNvSpPr txBox="1"/>
          <p:nvPr/>
        </p:nvSpPr>
        <p:spPr>
          <a:xfrm>
            <a:off x="6808938" y="1547288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goal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700175" y="2399038"/>
            <a:ext cx="8820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mNGS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346625" y="1547288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2418400" y="2399050"/>
            <a:ext cx="17604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Metagenomic data (reads/contigs)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613075" y="2399038"/>
            <a:ext cx="19953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Known reference genomes (complete or partial) and translated sequences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6986838" y="2399038"/>
            <a:ext cx="19953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Taxonomic identification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>
            <a:spLocks noGrp="1"/>
          </p:cNvSpPr>
          <p:nvPr>
            <p:ph type="title" idx="4294967295"/>
          </p:nvPr>
        </p:nvSpPr>
        <p:spPr>
          <a:xfrm>
            <a:off x="311700" y="168475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CZ ID’s AMR Pipeline Highlights</a:t>
            </a:r>
            <a:endParaRPr sz="2720">
              <a:solidFill>
                <a:schemeClr val="lt1"/>
              </a:solidFill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174700" y="977875"/>
            <a:ext cx="69645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whole genome sequence (WGS) and metagenomic data.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the </a:t>
            </a:r>
            <a:r>
              <a:rPr lang="en" sz="1600" b="0" i="0" u="sng" strike="noStrike" cap="none">
                <a:solidFill>
                  <a:srgbClr val="1155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Comprehensive Antibiotic Resistance Database (CARD)</a:t>
            </a: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Combines the Antibiotic Resistance Ontology (ARO) with curated AMR gene sequences and resistance-conferring mutations.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both sequence reads and assembled sequences (contigs) for AMR gene detection.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Performs pathogen-of-origin prediction by matching query sequences to known pathogen sequences found in CARD (beta).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AMR Database</a:t>
            </a: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CARD includes two database modules: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>
                <a:solidFill>
                  <a:schemeClr val="dk1"/>
                </a:solidFill>
              </a:rPr>
              <a:t>1. Canonical CARD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Includes curated and </a:t>
            </a:r>
            <a:r>
              <a:rPr lang="en" u="sng">
                <a:solidFill>
                  <a:schemeClr val="dk1"/>
                </a:solidFill>
                <a:highlight>
                  <a:srgbClr val="FFFFFF"/>
                </a:highlight>
              </a:rPr>
              <a:t>functionally characterized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AMR genes from the literature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2743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b="1">
                <a:solidFill>
                  <a:schemeClr val="dk1"/>
                </a:solidFill>
              </a:rPr>
              <a:t>2. Resistomes and Variants</a:t>
            </a:r>
            <a:r>
              <a:rPr lang="en">
                <a:solidFill>
                  <a:schemeClr val="dk1"/>
                </a:solidFill>
              </a:rPr>
              <a:t> (aka. </a:t>
            </a:r>
            <a:r>
              <a:rPr lang="en" b="1">
                <a:solidFill>
                  <a:schemeClr val="dk1"/>
                </a:solidFill>
              </a:rPr>
              <a:t>WildCARD)</a:t>
            </a:r>
            <a:r>
              <a:rPr lang="en">
                <a:solidFill>
                  <a:schemeClr val="dk1"/>
                </a:solidFill>
              </a:rPr>
              <a:t>: Supplemental database of </a:t>
            </a:r>
            <a:r>
              <a:rPr lang="en" u="sng">
                <a:solidFill>
                  <a:schemeClr val="dk1"/>
                </a:solidFill>
              </a:rPr>
              <a:t>computationally predicted</a:t>
            </a:r>
            <a:r>
              <a:rPr lang="en">
                <a:solidFill>
                  <a:schemeClr val="dk1"/>
                </a:solidFill>
              </a:rPr>
              <a:t> AMR genes and variants and their Prevalence. </a:t>
            </a:r>
            <a:endParaRPr>
              <a:solidFill>
                <a:schemeClr val="dk1"/>
              </a:solidFill>
            </a:endParaRPr>
          </a:p>
          <a:p>
            <a:pPr marL="165735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 Expands CARD, which is strongly biased towards common clinical pathogens</a:t>
            </a:r>
            <a:endParaRPr>
              <a:solidFill>
                <a:schemeClr val="dk1"/>
              </a:solidFill>
            </a:endParaRPr>
          </a:p>
          <a:p>
            <a:pPr marL="1657350" lvl="0" indent="-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 Only used for pathogen-of-origin prediction</a:t>
            </a:r>
            <a:endParaRPr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162800" y="1776200"/>
            <a:ext cx="1323600" cy="2254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AMR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40325" y="2294500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NGS sequences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(mNGS and WGS)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7666500" y="4681800"/>
            <a:ext cx="147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CARD DB and RGI</a:t>
            </a: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https://card.mcmaster.ca/</a:t>
            </a:r>
            <a:r>
              <a:rPr lang="en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2" name="Google Shape;152;p6"/>
          <p:cNvCxnSpPr>
            <a:stCxn id="150" idx="3"/>
          </p:cNvCxnSpPr>
          <p:nvPr/>
        </p:nvCxnSpPr>
        <p:spPr>
          <a:xfrm rot="10800000" flipH="1">
            <a:off x="1380025" y="2674150"/>
            <a:ext cx="3288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3" name="Google Shape;153;p6"/>
          <p:cNvSpPr/>
          <p:nvPr/>
        </p:nvSpPr>
        <p:spPr>
          <a:xfrm>
            <a:off x="162800" y="1148525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162800" y="1776200"/>
            <a:ext cx="1323600" cy="2254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AMR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541425" y="1776200"/>
            <a:ext cx="1477500" cy="2254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40325" y="2142100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NGS sequences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(mNGS and WGS)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604300" y="2042000"/>
            <a:ext cx="1310400" cy="943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Quality/Host Filtering + Deduplication + Subsampling (same as mNGS)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708700" y="3410650"/>
            <a:ext cx="1139700" cy="4902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7666500" y="4681800"/>
            <a:ext cx="147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CARD DB and RGI</a:t>
            </a: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https://card.mcmaster.ca/</a:t>
            </a:r>
            <a:r>
              <a:rPr lang="en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5" name="Google Shape;165;p7"/>
          <p:cNvCxnSpPr>
            <a:stCxn id="163" idx="3"/>
            <a:endCxn id="166" idx="1"/>
          </p:cNvCxnSpPr>
          <p:nvPr/>
        </p:nvCxnSpPr>
        <p:spPr>
          <a:xfrm rot="10800000" flipH="1">
            <a:off x="2848400" y="3655450"/>
            <a:ext cx="2871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7" name="Google Shape;167;p7"/>
          <p:cNvSpPr/>
          <p:nvPr/>
        </p:nvSpPr>
        <p:spPr>
          <a:xfrm>
            <a:off x="3131003" y="2291499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post-QC .fq file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7"/>
          <p:cNvCxnSpPr>
            <a:stCxn id="166" idx="3"/>
          </p:cNvCxnSpPr>
          <p:nvPr/>
        </p:nvCxnSpPr>
        <p:spPr>
          <a:xfrm>
            <a:off x="3827603" y="3655549"/>
            <a:ext cx="1941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9" name="Google Shape;169;p7"/>
          <p:cNvSpPr/>
          <p:nvPr/>
        </p:nvSpPr>
        <p:spPr>
          <a:xfrm>
            <a:off x="1537450" y="1148525"/>
            <a:ext cx="19641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333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62800" y="1148525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135503" y="3424399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contig.fa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2199350" y="2985450"/>
            <a:ext cx="287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2837125" y="2258738"/>
            <a:ext cx="287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-76200" y="4712600"/>
            <a:ext cx="7052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Duplicate reads are added back before contig assembly and AMR gene detection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7"/>
          <p:cNvCxnSpPr/>
          <p:nvPr/>
        </p:nvCxnSpPr>
        <p:spPr>
          <a:xfrm>
            <a:off x="2908703" y="2522649"/>
            <a:ext cx="198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7"/>
          <p:cNvCxnSpPr/>
          <p:nvPr/>
        </p:nvCxnSpPr>
        <p:spPr>
          <a:xfrm>
            <a:off x="1380028" y="2522649"/>
            <a:ext cx="198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7"/>
          <p:cNvCxnSpPr/>
          <p:nvPr/>
        </p:nvCxnSpPr>
        <p:spPr>
          <a:xfrm>
            <a:off x="3825353" y="2513749"/>
            <a:ext cx="198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7"/>
          <p:cNvCxnSpPr/>
          <p:nvPr/>
        </p:nvCxnSpPr>
        <p:spPr>
          <a:xfrm>
            <a:off x="2278550" y="2985450"/>
            <a:ext cx="0" cy="425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3906075" y="1776200"/>
            <a:ext cx="2442000" cy="2254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62800" y="1776200"/>
            <a:ext cx="1323600" cy="2254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AMR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541425" y="1776200"/>
            <a:ext cx="1477500" cy="2254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40325" y="2142100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NGS sequences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(mNGS and WGS)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604300" y="2042000"/>
            <a:ext cx="1310400" cy="943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+ Host Filtering + Subsampling (same as mNGS)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708700" y="3410650"/>
            <a:ext cx="1139700" cy="4902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7666500" y="4681800"/>
            <a:ext cx="147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CARD DB and RGI</a:t>
            </a: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https://card.mcmaster.ca/</a:t>
            </a:r>
            <a:r>
              <a:rPr lang="en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0" name="Google Shape;190;p8"/>
          <p:cNvCxnSpPr>
            <a:stCxn id="188" idx="3"/>
            <a:endCxn id="191" idx="1"/>
          </p:cNvCxnSpPr>
          <p:nvPr/>
        </p:nvCxnSpPr>
        <p:spPr>
          <a:xfrm rot="10800000" flipH="1">
            <a:off x="2848400" y="3655450"/>
            <a:ext cx="2871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2" name="Google Shape;192;p8"/>
          <p:cNvSpPr/>
          <p:nvPr/>
        </p:nvSpPr>
        <p:spPr>
          <a:xfrm>
            <a:off x="3131003" y="2291499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post-QC .fq file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135503" y="3424399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contig.fa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8"/>
          <p:cNvCxnSpPr>
            <a:stCxn id="191" idx="3"/>
            <a:endCxn id="194" idx="1"/>
          </p:cNvCxnSpPr>
          <p:nvPr/>
        </p:nvCxnSpPr>
        <p:spPr>
          <a:xfrm>
            <a:off x="3827603" y="3655549"/>
            <a:ext cx="1941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5" name="Google Shape;195;p8"/>
          <p:cNvSpPr/>
          <p:nvPr/>
        </p:nvSpPr>
        <p:spPr>
          <a:xfrm>
            <a:off x="4021775" y="2249788"/>
            <a:ext cx="2121300" cy="698100"/>
          </a:xfrm>
          <a:prstGeom prst="rect">
            <a:avLst/>
          </a:prstGeom>
          <a:solidFill>
            <a:srgbClr val="59ABF4">
              <a:alpha val="4745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k-mer alignment (KMA) against CARD + species identification (WildCARD)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021775" y="3344500"/>
            <a:ext cx="2273700" cy="622500"/>
          </a:xfrm>
          <a:prstGeom prst="rect">
            <a:avLst/>
          </a:prstGeom>
          <a:solidFill>
            <a:srgbClr val="00BB1B">
              <a:alpha val="45098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 homology searches (BLAST) against CARD + species identification (WildCARD)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437650" y="1148525"/>
            <a:ext cx="41763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5529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AMR Gene Detection + 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Pathogen-of-origin Identification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537450" y="1148525"/>
            <a:ext cx="19641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333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62800" y="1148525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4077725" y="1711306"/>
            <a:ext cx="20094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Resistance Gene Identifier (RGI)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6143063" y="2598850"/>
            <a:ext cx="323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8"/>
          <p:cNvCxnSpPr>
            <a:stCxn id="194" idx="3"/>
          </p:cNvCxnSpPr>
          <p:nvPr/>
        </p:nvCxnSpPr>
        <p:spPr>
          <a:xfrm rot="10800000" flipH="1">
            <a:off x="6295475" y="3655450"/>
            <a:ext cx="1878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2" name="Google Shape;202;p8"/>
          <p:cNvSpPr txBox="1"/>
          <p:nvPr/>
        </p:nvSpPr>
        <p:spPr>
          <a:xfrm>
            <a:off x="2199350" y="2985450"/>
            <a:ext cx="287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2837125" y="2258738"/>
            <a:ext cx="287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-76200" y="4712600"/>
            <a:ext cx="7052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Duplicate reads are added back before contig assembly and AMR gene detection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8"/>
          <p:cNvCxnSpPr/>
          <p:nvPr/>
        </p:nvCxnSpPr>
        <p:spPr>
          <a:xfrm>
            <a:off x="2908703" y="2522649"/>
            <a:ext cx="198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6" name="Google Shape;206;p8"/>
          <p:cNvCxnSpPr/>
          <p:nvPr/>
        </p:nvCxnSpPr>
        <p:spPr>
          <a:xfrm>
            <a:off x="1380028" y="2522649"/>
            <a:ext cx="198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8"/>
          <p:cNvCxnSpPr/>
          <p:nvPr/>
        </p:nvCxnSpPr>
        <p:spPr>
          <a:xfrm>
            <a:off x="3825353" y="2513749"/>
            <a:ext cx="198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8"/>
          <p:cNvCxnSpPr/>
          <p:nvPr/>
        </p:nvCxnSpPr>
        <p:spPr>
          <a:xfrm>
            <a:off x="2278550" y="2985450"/>
            <a:ext cx="0" cy="425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9" name="Google Shape;209;p8"/>
          <p:cNvSpPr/>
          <p:nvPr/>
        </p:nvSpPr>
        <p:spPr>
          <a:xfrm>
            <a:off x="1604300" y="2042000"/>
            <a:ext cx="1310400" cy="943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Quality/Host Filtering + Deduplication + Subsampling (same as mNGS)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/>
          <p:nvPr/>
        </p:nvSpPr>
        <p:spPr>
          <a:xfrm>
            <a:off x="3906075" y="1776200"/>
            <a:ext cx="2442000" cy="2254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62800" y="1776200"/>
            <a:ext cx="1323600" cy="2254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AMR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541425" y="1776200"/>
            <a:ext cx="1477500" cy="22545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40325" y="2142100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NGS sequences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(mNGS and WGS)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708700" y="3410650"/>
            <a:ext cx="1139700" cy="4902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7666500" y="4681800"/>
            <a:ext cx="147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CARD DB and RGI</a:t>
            </a: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https://card.mcmaster.ca/</a:t>
            </a:r>
            <a:r>
              <a:rPr lang="en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1" name="Google Shape;221;p9"/>
          <p:cNvCxnSpPr>
            <a:stCxn id="219" idx="3"/>
            <a:endCxn id="222" idx="1"/>
          </p:cNvCxnSpPr>
          <p:nvPr/>
        </p:nvCxnSpPr>
        <p:spPr>
          <a:xfrm rot="10800000" flipH="1">
            <a:off x="2848400" y="3655450"/>
            <a:ext cx="2871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3" name="Google Shape;223;p9"/>
          <p:cNvSpPr/>
          <p:nvPr/>
        </p:nvSpPr>
        <p:spPr>
          <a:xfrm>
            <a:off x="3131003" y="2291499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post-QC .fq file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135503" y="3424399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contig.fa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9"/>
          <p:cNvCxnSpPr>
            <a:stCxn id="222" idx="3"/>
            <a:endCxn id="225" idx="1"/>
          </p:cNvCxnSpPr>
          <p:nvPr/>
        </p:nvCxnSpPr>
        <p:spPr>
          <a:xfrm>
            <a:off x="3827603" y="3655549"/>
            <a:ext cx="1941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6" name="Google Shape;226;p9"/>
          <p:cNvSpPr/>
          <p:nvPr/>
        </p:nvSpPr>
        <p:spPr>
          <a:xfrm>
            <a:off x="4021775" y="2249788"/>
            <a:ext cx="2121300" cy="698100"/>
          </a:xfrm>
          <a:prstGeom prst="rect">
            <a:avLst/>
          </a:prstGeom>
          <a:solidFill>
            <a:srgbClr val="59ABF4">
              <a:alpha val="4745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k-mer alignment (KMA) against CARD + species identification (WildCARD)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021775" y="3344500"/>
            <a:ext cx="2273700" cy="622500"/>
          </a:xfrm>
          <a:prstGeom prst="rect">
            <a:avLst/>
          </a:prstGeom>
          <a:solidFill>
            <a:srgbClr val="00BB1B">
              <a:alpha val="45098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 homology searches (BLAST) against CARD + species identification (WildCARD)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437650" y="1148525"/>
            <a:ext cx="41763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5529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AMR Gene Detection + 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Pathogen-of-origin Identification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537450" y="1148525"/>
            <a:ext cx="19641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333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62800" y="1148525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4077725" y="1711306"/>
            <a:ext cx="20094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Resistance Gene Identifier (RGI)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9"/>
          <p:cNvCxnSpPr/>
          <p:nvPr/>
        </p:nvCxnSpPr>
        <p:spPr>
          <a:xfrm>
            <a:off x="6143063" y="2598850"/>
            <a:ext cx="323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2" name="Google Shape;232;p9"/>
          <p:cNvCxnSpPr>
            <a:stCxn id="225" idx="3"/>
          </p:cNvCxnSpPr>
          <p:nvPr/>
        </p:nvCxnSpPr>
        <p:spPr>
          <a:xfrm rot="10800000" flipH="1">
            <a:off x="6295475" y="3655450"/>
            <a:ext cx="187800" cy="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3" name="Google Shape;233;p9"/>
          <p:cNvSpPr txBox="1"/>
          <p:nvPr/>
        </p:nvSpPr>
        <p:spPr>
          <a:xfrm>
            <a:off x="2199350" y="2985450"/>
            <a:ext cx="287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2837125" y="2258738"/>
            <a:ext cx="287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-76200" y="4712600"/>
            <a:ext cx="70521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Duplicate reads are added back before contig assembly and AMR gene detection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9"/>
          <p:cNvCxnSpPr/>
          <p:nvPr/>
        </p:nvCxnSpPr>
        <p:spPr>
          <a:xfrm>
            <a:off x="2908703" y="2522649"/>
            <a:ext cx="198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7" name="Google Shape;237;p9"/>
          <p:cNvCxnSpPr/>
          <p:nvPr/>
        </p:nvCxnSpPr>
        <p:spPr>
          <a:xfrm>
            <a:off x="1380028" y="2522649"/>
            <a:ext cx="198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8" name="Google Shape;238;p9"/>
          <p:cNvCxnSpPr/>
          <p:nvPr/>
        </p:nvCxnSpPr>
        <p:spPr>
          <a:xfrm>
            <a:off x="3825353" y="2513749"/>
            <a:ext cx="198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9" name="Google Shape;239;p9"/>
          <p:cNvCxnSpPr/>
          <p:nvPr/>
        </p:nvCxnSpPr>
        <p:spPr>
          <a:xfrm>
            <a:off x="2278550" y="2985450"/>
            <a:ext cx="0" cy="425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0" name="Google Shape;240;p9"/>
          <p:cNvSpPr/>
          <p:nvPr/>
        </p:nvSpPr>
        <p:spPr>
          <a:xfrm>
            <a:off x="6464763" y="2419350"/>
            <a:ext cx="871500" cy="1481400"/>
          </a:xfrm>
          <a:prstGeom prst="rect">
            <a:avLst/>
          </a:prstGeom>
          <a:solidFill>
            <a:srgbClr val="2A9D8F">
              <a:alpha val="48627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results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530975" y="1149125"/>
            <a:ext cx="1522500" cy="461700"/>
          </a:xfrm>
          <a:prstGeom prst="homePlate">
            <a:avLst>
              <a:gd name="adj" fmla="val 50000"/>
            </a:avLst>
          </a:prstGeom>
          <a:solidFill>
            <a:srgbClr val="ED4753">
              <a:alpha val="7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494575" y="1776050"/>
            <a:ext cx="1395900" cy="2254500"/>
          </a:xfrm>
          <a:prstGeom prst="rect">
            <a:avLst/>
          </a:prstGeom>
          <a:solidFill>
            <a:srgbClr val="F3F3F3">
              <a:alpha val="51372"/>
            </a:srgbClr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614501" y="2784752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AMR Sample Report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9"/>
          <p:cNvCxnSpPr>
            <a:endCxn id="243" idx="1"/>
          </p:cNvCxnSpPr>
          <p:nvPr/>
        </p:nvCxnSpPr>
        <p:spPr>
          <a:xfrm>
            <a:off x="7336401" y="3159902"/>
            <a:ext cx="278100" cy="5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5" name="Google Shape;245;p9"/>
          <p:cNvSpPr/>
          <p:nvPr/>
        </p:nvSpPr>
        <p:spPr>
          <a:xfrm>
            <a:off x="1604300" y="2042000"/>
            <a:ext cx="1310400" cy="943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Quality/Host Filtering + Deduplication + Subsampling (same as mNGS)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 txBox="1">
            <a:spLocks noGrp="1"/>
          </p:cNvSpPr>
          <p:nvPr>
            <p:ph type="title"/>
          </p:nvPr>
        </p:nvSpPr>
        <p:spPr>
          <a:xfrm>
            <a:off x="311700" y="150050"/>
            <a:ext cx="852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AMR Sample Report</a:t>
            </a:r>
            <a:endParaRPr sz="2520"/>
          </a:p>
        </p:txBody>
      </p:sp>
      <p:pic>
        <p:nvPicPr>
          <p:cNvPr id="251" name="Google Shape;251;p10"/>
          <p:cNvPicPr preferRelativeResize="0"/>
          <p:nvPr/>
        </p:nvPicPr>
        <p:blipFill rotWithShape="1">
          <a:blip r:embed="rId3">
            <a:alphaModFix/>
          </a:blip>
          <a:srcRect t="3344"/>
          <a:stretch/>
        </p:blipFill>
        <p:spPr>
          <a:xfrm>
            <a:off x="152400" y="1225950"/>
            <a:ext cx="8839199" cy="2152650"/>
          </a:xfrm>
          <a:prstGeom prst="rect">
            <a:avLst/>
          </a:prstGeom>
          <a:noFill/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 txBox="1">
            <a:spLocks noGrp="1"/>
          </p:cNvSpPr>
          <p:nvPr>
            <p:ph type="title"/>
          </p:nvPr>
        </p:nvSpPr>
        <p:spPr>
          <a:xfrm>
            <a:off x="311700" y="61500"/>
            <a:ext cx="852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AMR Sample Report: Gene Information</a:t>
            </a:r>
            <a:endParaRPr sz="2520"/>
          </a:p>
        </p:txBody>
      </p:sp>
      <p:pic>
        <p:nvPicPr>
          <p:cNvPr id="257" name="Google Shape;257;p11"/>
          <p:cNvPicPr preferRelativeResize="0"/>
          <p:nvPr/>
        </p:nvPicPr>
        <p:blipFill rotWithShape="1">
          <a:blip r:embed="rId3">
            <a:alphaModFix/>
          </a:blip>
          <a:srcRect t="3343" b="52369"/>
          <a:stretch/>
        </p:blipFill>
        <p:spPr>
          <a:xfrm>
            <a:off x="152400" y="772300"/>
            <a:ext cx="8839199" cy="986300"/>
          </a:xfrm>
          <a:prstGeom prst="rect">
            <a:avLst/>
          </a:prstGeom>
          <a:noFill/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8" name="Google Shape;258;p11"/>
          <p:cNvSpPr/>
          <p:nvPr/>
        </p:nvSpPr>
        <p:spPr>
          <a:xfrm>
            <a:off x="864025" y="1528200"/>
            <a:ext cx="3800100" cy="2304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627700" y="1729875"/>
            <a:ext cx="76305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name for best match in CARD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 Family: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Refers to the ARO category for gene family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Drug Class: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Refers to the ARO category specifying resistance to a given </a:t>
            </a:r>
            <a:r>
              <a:rPr lang="en" sz="14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antibiotic molecule, including antibiotic/adjuvant combination medications. </a:t>
            </a:r>
            <a:endParaRPr sz="14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High-level Drug Class</a:t>
            </a:r>
            <a:r>
              <a:rPr lang="en" sz="14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Refers to the antibiotic family of identified drug class. </a:t>
            </a:r>
            <a:endParaRPr sz="14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Resistance Mechanism: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Refers to the ARO category specifying the resistance mechanism for a given AMR gene.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Specifies the model used for AMR detection. Models distinguish underlying molecular categories for detected AMR sequences (e.g., presence of genes vs mutations). More on models on the next slide…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bdbfd6319_2_0"/>
          <p:cNvSpPr txBox="1"/>
          <p:nvPr/>
        </p:nvSpPr>
        <p:spPr>
          <a:xfrm>
            <a:off x="374325" y="638650"/>
            <a:ext cx="76176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Protein Homolog Models (PHM)</a:t>
            </a: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Detect dedicated AMR genes (“presence/absence”). Example: </a:t>
            </a:r>
            <a:r>
              <a:rPr lang="en" sz="15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NDM-1</a:t>
            </a: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metallo-beta-lactamase isolated from Klebsiella pneumoniae with nearly complete resistance to all beta-lactam antibiotics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 ~⅔ of CARD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Contigs</a:t>
            </a:r>
            <a:r>
              <a:rPr lang="en" sz="1500"/>
              <a:t>: </a:t>
            </a: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BLASTP against CARD database (protein:protein alignment).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Char char="○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en" sz="1500"/>
              <a:t>:</a:t>
            </a: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KMA against PHM sequences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model used for calling reads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1bdbfd6319_2_0"/>
          <p:cNvSpPr txBox="1"/>
          <p:nvPr/>
        </p:nvSpPr>
        <p:spPr>
          <a:xfrm>
            <a:off x="1559088" y="84550"/>
            <a:ext cx="602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for AMR Gene Detection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1bdbfd6319_2_5"/>
          <p:cNvSpPr txBox="1"/>
          <p:nvPr/>
        </p:nvSpPr>
        <p:spPr>
          <a:xfrm>
            <a:off x="374325" y="562450"/>
            <a:ext cx="7288500" cy="3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Protein Homolog Models (PHM)</a:t>
            </a:r>
            <a:r>
              <a:rPr lang="en" sz="15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: Detect dedicated AMR genes </a:t>
            </a: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Protein Variant Models</a:t>
            </a: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(PVM): Detect AMR acquired via mutation of house-keeping genes or antibiotic targets.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2nd largest in CARD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PVMs screen query sequences for curated sets of mutations that could differentiate them from antibiotic susceptible genotypes. </a:t>
            </a: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lang="en" sz="15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gyrA</a:t>
            </a:r>
            <a:r>
              <a:rPr lang="en" sz="1500">
                <a:solidFill>
                  <a:schemeClr val="dk1"/>
                </a:solidFill>
              </a:rPr>
              <a:t>, mutations in the A subunit of DNA gyrase reduce its affinity for fluoroquinolones.</a:t>
            </a:r>
            <a:endParaRPr sz="1500">
              <a:solidFill>
                <a:schemeClr val="dk1"/>
              </a:solidFill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1bdbfd6319_2_5"/>
          <p:cNvSpPr txBox="1"/>
          <p:nvPr/>
        </p:nvSpPr>
        <p:spPr>
          <a:xfrm>
            <a:off x="1428750" y="0"/>
            <a:ext cx="6480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for AMR Gene Detection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g31bdbfd6319_2_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3299950"/>
            <a:ext cx="8839199" cy="137392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1bdbfd6319_2_5"/>
          <p:cNvSpPr/>
          <p:nvPr/>
        </p:nvSpPr>
        <p:spPr>
          <a:xfrm>
            <a:off x="1775275" y="3299950"/>
            <a:ext cx="238800" cy="767100"/>
          </a:xfrm>
          <a:prstGeom prst="ellipse">
            <a:avLst/>
          </a:prstGeom>
          <a:noFill/>
          <a:ln w="38100" cap="flat" cmpd="sng">
            <a:solidFill>
              <a:srgbClr val="B42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bdbfd6319_2_12"/>
          <p:cNvSpPr txBox="1"/>
          <p:nvPr/>
        </p:nvSpPr>
        <p:spPr>
          <a:xfrm>
            <a:off x="374325" y="638650"/>
            <a:ext cx="7288500" cy="47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Protein Homolog Model (PHM)</a:t>
            </a:r>
            <a:r>
              <a:rPr lang="en" sz="15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- Detect dedicated AMR genes</a:t>
            </a: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Protein Variant Model (PVM)</a:t>
            </a:r>
            <a:r>
              <a:rPr lang="en" sz="15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 - Designed to detect AMR acquired via mutation of house-keeping genes or antibiotic targets</a:t>
            </a: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Protein Overexpression Models (POM)</a:t>
            </a: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Detect mutations in regulatory proteins.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to PVM but restricted to regulatory proteins.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POM screen for 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mutations that may lead to overexpression of efflux complexes. 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lang="en" sz="15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MexS</a:t>
            </a:r>
            <a:r>
              <a:rPr lang="en" sz="1500">
                <a:solidFill>
                  <a:schemeClr val="dk1"/>
                </a:solidFill>
              </a:rPr>
              <a:t>, a suppressor of MexT, which is an activator of the multidrug pump MexEF-OprN. Mutations in MexS lead to multidrug resistance.</a:t>
            </a:r>
            <a:endParaRPr sz="1500">
              <a:solidFill>
                <a:schemeClr val="dk1"/>
              </a:solidFill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1bdbfd6319_2_12"/>
          <p:cNvSpPr txBox="1"/>
          <p:nvPr/>
        </p:nvSpPr>
        <p:spPr>
          <a:xfrm>
            <a:off x="1428750" y="0"/>
            <a:ext cx="6480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for AMR Gene Detection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bdbfd6319_2_17"/>
          <p:cNvSpPr txBox="1"/>
          <p:nvPr/>
        </p:nvSpPr>
        <p:spPr>
          <a:xfrm>
            <a:off x="374325" y="486250"/>
            <a:ext cx="7288500" cy="4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Protein Homolog Model (PHM)</a:t>
            </a:r>
            <a:r>
              <a:rPr lang="en" sz="15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- Detect dedicated AMR genes</a:t>
            </a: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Protein Variant Model (PVM)</a:t>
            </a:r>
            <a:r>
              <a:rPr lang="en" sz="15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 - Detect AMR acquired via mutation of house-keeping genes or antibiotic targets.</a:t>
            </a: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Protein Overexpression Model (POM)</a:t>
            </a:r>
            <a:r>
              <a:rPr lang="en" sz="15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 - Detect mutations in regulatory proteins. </a:t>
            </a: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rRNA Gene Variant Models (RVM) 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Detect AMR acquired via mutation of genes encoding rRNA (nucleotide:nucleotide alignment). 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Screens query sequences for curated sets of mutations that could differentiate them from antibiotic susceptible genotypes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Cjej_23S_ERY</a:t>
            </a:r>
            <a:r>
              <a:rPr lang="en" sz="1500">
                <a:solidFill>
                  <a:schemeClr val="dk1"/>
                </a:solidFill>
              </a:rPr>
              <a:t>, point mutations in the 23S ribosomal RNA domain of </a:t>
            </a:r>
            <a:r>
              <a:rPr lang="en" sz="1500" i="1">
                <a:solidFill>
                  <a:schemeClr val="dk1"/>
                </a:solidFill>
              </a:rPr>
              <a:t>C. jejuni </a:t>
            </a:r>
            <a:r>
              <a:rPr lang="en" sz="1500">
                <a:solidFill>
                  <a:schemeClr val="dk1"/>
                </a:solidFill>
              </a:rPr>
              <a:t>which confer resistance to macrolide antibiotics, including erythromycin.</a:t>
            </a: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1bdbfd6319_2_17"/>
          <p:cNvSpPr txBox="1"/>
          <p:nvPr/>
        </p:nvSpPr>
        <p:spPr>
          <a:xfrm>
            <a:off x="1428750" y="0"/>
            <a:ext cx="6480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for AMR Gene Detection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1bdbfd6319_2_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27675" y="4330150"/>
            <a:ext cx="2826818" cy="8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1bdbfd6319_2_17"/>
          <p:cNvSpPr/>
          <p:nvPr/>
        </p:nvSpPr>
        <p:spPr>
          <a:xfrm>
            <a:off x="6956700" y="4378475"/>
            <a:ext cx="387600" cy="767100"/>
          </a:xfrm>
          <a:prstGeom prst="ellipse">
            <a:avLst/>
          </a:prstGeom>
          <a:noFill/>
          <a:ln w="38100" cap="flat" cmpd="sng">
            <a:solidFill>
              <a:srgbClr val="B42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/>
          <p:nvPr/>
        </p:nvSpPr>
        <p:spPr>
          <a:xfrm>
            <a:off x="324600" y="1567350"/>
            <a:ext cx="86670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Contigs: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 number of contigs matching a given AMR gene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Cutoff: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Cutoff used to detect AMR-associated contigs based on curated BLAST bit-score thresholds.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Perfect: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Detects </a:t>
            </a:r>
            <a:r>
              <a:rPr lang="en" sz="1400" b="0" i="0" u="sng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perfect or identical matches</a:t>
            </a: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to the curated reference sequences in CARD </a:t>
            </a:r>
            <a:endParaRPr sz="1400" b="0" i="0" u="none" strike="noStrike" cap="none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400"/>
              <a:buFont typeface="Open Sans"/>
              <a:buChar char="○"/>
            </a:pPr>
            <a:r>
              <a:rPr lang="en" sz="1400" b="1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Strict:</a:t>
            </a: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Detects </a:t>
            </a:r>
            <a:r>
              <a:rPr lang="en" sz="1400" b="0" i="0" u="sng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previously unknown variants of known AMR genes</a:t>
            </a: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and includes a secondary screen for key mutations (predicts functional variants)</a:t>
            </a:r>
            <a:endParaRPr sz="1400" b="0" i="0" u="none" strike="noStrike" cap="none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400"/>
              <a:buFont typeface="Open Sans"/>
              <a:buChar char="○"/>
            </a:pPr>
            <a:r>
              <a:rPr lang="en" sz="1400" b="1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Loose</a:t>
            </a: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Detects new and more distant homologs of AMR genes by </a:t>
            </a:r>
            <a:r>
              <a:rPr lang="en" sz="1400" b="0" i="0" u="sng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working outside of established BLAST bit-score cut-offs</a:t>
            </a: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allowing for AMR gene discovery. CZ ID only reports Loose contig matches that have at least 95% identity to known AMR genes (identified as "</a:t>
            </a:r>
            <a:r>
              <a:rPr lang="en" sz="1400" b="1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Nudged</a:t>
            </a: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")</a:t>
            </a:r>
            <a:endParaRPr sz="1400" b="0" i="0" u="none" strike="noStrike" cap="none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400"/>
              <a:buFont typeface="Arial"/>
              <a:buChar char="■"/>
            </a:pP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Nudged cut off does NOT account for alignment length </a:t>
            </a:r>
            <a:endParaRPr sz="1400" b="0" i="0" u="none" strike="noStrike" cap="none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(More info </a:t>
            </a:r>
            <a:r>
              <a:rPr lang="en" sz="14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here</a:t>
            </a: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6"/>
          <p:cNvSpPr txBox="1">
            <a:spLocks noGrp="1"/>
          </p:cNvSpPr>
          <p:nvPr>
            <p:ph type="title"/>
          </p:nvPr>
        </p:nvSpPr>
        <p:spPr>
          <a:xfrm>
            <a:off x="311700" y="43075"/>
            <a:ext cx="852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AMR Sample Report: Contig Metrics</a:t>
            </a:r>
            <a:endParaRPr sz="2520"/>
          </a:p>
        </p:txBody>
      </p:sp>
      <p:pic>
        <p:nvPicPr>
          <p:cNvPr id="294" name="Google Shape;294;p16"/>
          <p:cNvPicPr preferRelativeResize="0"/>
          <p:nvPr/>
        </p:nvPicPr>
        <p:blipFill rotWithShape="1">
          <a:blip r:embed="rId4">
            <a:alphaModFix/>
          </a:blip>
          <a:srcRect t="3343" b="52369"/>
          <a:stretch/>
        </p:blipFill>
        <p:spPr>
          <a:xfrm>
            <a:off x="152400" y="597175"/>
            <a:ext cx="8839199" cy="9863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5" name="Google Shape;295;p16"/>
          <p:cNvSpPr/>
          <p:nvPr/>
        </p:nvSpPr>
        <p:spPr>
          <a:xfrm>
            <a:off x="4885400" y="1177925"/>
            <a:ext cx="1696200" cy="4056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/>
        </p:nvSpPr>
        <p:spPr>
          <a:xfrm>
            <a:off x="750000" y="2010425"/>
            <a:ext cx="76440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Contig Coverage Breath (% Cov): </a:t>
            </a:r>
            <a:r>
              <a:rPr lang="en" sz="14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Percentage length of the reference sequence that was covered by contigs </a:t>
            </a:r>
            <a:endParaRPr sz="1400" b="0" i="0" u="none" strike="noStrike" cap="none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Contig Percent Identity (% ID):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percent identity between contigs and their top match in CARD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Contig Species: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Pathogen-of-origin prediction based on AMR-associated contig sequences.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 txBox="1">
            <a:spLocks noGrp="1"/>
          </p:cNvSpPr>
          <p:nvPr>
            <p:ph type="title"/>
          </p:nvPr>
        </p:nvSpPr>
        <p:spPr>
          <a:xfrm>
            <a:off x="311700" y="43075"/>
            <a:ext cx="852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AMR Sample Report: Contig Metrics (cont.)</a:t>
            </a:r>
            <a:endParaRPr sz="2520"/>
          </a:p>
        </p:txBody>
      </p:sp>
      <p:pic>
        <p:nvPicPr>
          <p:cNvPr id="302" name="Google Shape;302;p17"/>
          <p:cNvPicPr preferRelativeResize="0"/>
          <p:nvPr/>
        </p:nvPicPr>
        <p:blipFill rotWithShape="1">
          <a:blip r:embed="rId3">
            <a:alphaModFix/>
          </a:blip>
          <a:srcRect t="3343" b="52369"/>
          <a:stretch/>
        </p:blipFill>
        <p:spPr>
          <a:xfrm>
            <a:off x="152400" y="749575"/>
            <a:ext cx="8839199" cy="986300"/>
          </a:xfrm>
          <a:prstGeom prst="rect">
            <a:avLst/>
          </a:prstGeom>
          <a:noFill/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3" name="Google Shape;303;p17"/>
          <p:cNvSpPr/>
          <p:nvPr/>
        </p:nvSpPr>
        <p:spPr>
          <a:xfrm>
            <a:off x="4885400" y="1330325"/>
            <a:ext cx="1696200" cy="4056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/>
          <p:nvPr/>
        </p:nvSpPr>
        <p:spPr>
          <a:xfrm>
            <a:off x="5908575" y="3917550"/>
            <a:ext cx="3214500" cy="1226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629800" y="1735925"/>
            <a:ext cx="72267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Reads:</a:t>
            </a: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 number of reads mapping to a given AMR reference sequence.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Coverage Breadth (% Cov):</a:t>
            </a: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Percent length of the reference sequence covered by read sequences. </a:t>
            </a:r>
            <a:endParaRPr sz="1600" b="0" i="0" u="none" strike="noStrike" cap="none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600"/>
              <a:buFont typeface="Open Sans"/>
              <a:buChar char="●"/>
            </a:pPr>
            <a:r>
              <a:rPr lang="en" sz="1600" b="1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Read Coverage Depth (Cov. Depth):</a:t>
            </a:r>
            <a:r>
              <a:rPr lang="en" sz="1600" b="0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Mean read depth across the reference sequence.</a:t>
            </a:r>
            <a:endParaRPr sz="1600" b="0" i="0" u="none" strike="noStrike" cap="none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</a:pPr>
            <a:r>
              <a:rPr lang="en" sz="1600" b="1" i="0" u="none" strike="noStrike" cap="none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Read Species: </a:t>
            </a: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Pathogen-of-origin prediction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AMR-associated reads.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8"/>
          <p:cNvSpPr txBox="1">
            <a:spLocks noGrp="1"/>
          </p:cNvSpPr>
          <p:nvPr>
            <p:ph type="title"/>
          </p:nvPr>
        </p:nvSpPr>
        <p:spPr>
          <a:xfrm>
            <a:off x="311700" y="43075"/>
            <a:ext cx="852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AMR Sample Report: Read Metrics</a:t>
            </a:r>
            <a:endParaRPr sz="2520"/>
          </a:p>
        </p:txBody>
      </p:sp>
      <p:pic>
        <p:nvPicPr>
          <p:cNvPr id="311" name="Google Shape;311;p18"/>
          <p:cNvPicPr preferRelativeResize="0"/>
          <p:nvPr/>
        </p:nvPicPr>
        <p:blipFill rotWithShape="1">
          <a:blip r:embed="rId3">
            <a:alphaModFix/>
          </a:blip>
          <a:srcRect t="3343" b="52369"/>
          <a:stretch/>
        </p:blipFill>
        <p:spPr>
          <a:xfrm>
            <a:off x="152400" y="597175"/>
            <a:ext cx="8839199" cy="986300"/>
          </a:xfrm>
          <a:prstGeom prst="rect">
            <a:avLst/>
          </a:prstGeom>
          <a:noFill/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2" name="Google Shape;312;p18"/>
          <p:cNvSpPr/>
          <p:nvPr/>
        </p:nvSpPr>
        <p:spPr>
          <a:xfrm>
            <a:off x="6561800" y="1177925"/>
            <a:ext cx="2176500" cy="4056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18"/>
          <p:cNvGrpSpPr/>
          <p:nvPr/>
        </p:nvGrpSpPr>
        <p:grpSpPr>
          <a:xfrm>
            <a:off x="5989015" y="3906365"/>
            <a:ext cx="3133815" cy="1328713"/>
            <a:chOff x="2540634" y="2715860"/>
            <a:chExt cx="4300555" cy="1898432"/>
          </a:xfrm>
        </p:grpSpPr>
        <p:sp>
          <p:nvSpPr>
            <p:cNvPr id="314" name="Google Shape;314;p18"/>
            <p:cNvSpPr/>
            <p:nvPr/>
          </p:nvSpPr>
          <p:spPr>
            <a:xfrm>
              <a:off x="3269750" y="3689225"/>
              <a:ext cx="3439500" cy="936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3345950" y="3512600"/>
              <a:ext cx="398400" cy="936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3345950" y="3315173"/>
              <a:ext cx="398400" cy="936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3498350" y="3131600"/>
              <a:ext cx="398400" cy="936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3803150" y="3284000"/>
              <a:ext cx="398400" cy="936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3803150" y="3436400"/>
              <a:ext cx="398400" cy="936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3879350" y="3588800"/>
              <a:ext cx="398400" cy="936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4336550" y="3543773"/>
              <a:ext cx="398400" cy="936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4412750" y="3391373"/>
              <a:ext cx="398400" cy="936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8"/>
            <p:cNvSpPr/>
            <p:nvPr/>
          </p:nvSpPr>
          <p:spPr>
            <a:xfrm rot="5400000" flipH="1">
              <a:off x="3834496" y="3377294"/>
              <a:ext cx="271800" cy="1248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B42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8"/>
            <p:cNvSpPr txBox="1"/>
            <p:nvPr/>
          </p:nvSpPr>
          <p:spPr>
            <a:xfrm>
              <a:off x="3418411" y="4042492"/>
              <a:ext cx="1248900" cy="5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breadth</a:t>
              </a: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5" name="Google Shape;325;p18"/>
            <p:cNvSpPr/>
            <p:nvPr/>
          </p:nvSpPr>
          <p:spPr>
            <a:xfrm rot="10800000" flipH="1">
              <a:off x="2988250" y="3003400"/>
              <a:ext cx="271800" cy="6027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B42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8"/>
            <p:cNvSpPr txBox="1"/>
            <p:nvPr/>
          </p:nvSpPr>
          <p:spPr>
            <a:xfrm rot="-5400943">
              <a:off x="2268834" y="2987885"/>
              <a:ext cx="1093200" cy="5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depth</a:t>
              </a: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7" name="Google Shape;327;p18"/>
            <p:cNvSpPr txBox="1"/>
            <p:nvPr/>
          </p:nvSpPr>
          <p:spPr>
            <a:xfrm>
              <a:off x="5200489" y="3294064"/>
              <a:ext cx="16407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AMR gene</a:t>
              </a:r>
              <a:endPara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 txBox="1">
            <a:spLocks noGrp="1"/>
          </p:cNvSpPr>
          <p:nvPr>
            <p:ph type="title"/>
          </p:nvPr>
        </p:nvSpPr>
        <p:spPr>
          <a:xfrm>
            <a:off x="311700" y="118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Normalized Read Metrics </a:t>
            </a:r>
            <a:endParaRPr sz="2420"/>
          </a:p>
        </p:txBody>
      </p:sp>
      <p:sp>
        <p:nvSpPr>
          <p:cNvPr id="333" name="Google Shape;333;p19"/>
          <p:cNvSpPr txBox="1">
            <a:spLocks noGrp="1"/>
          </p:cNvSpPr>
          <p:nvPr>
            <p:ph type="body" idx="1"/>
          </p:nvPr>
        </p:nvSpPr>
        <p:spPr>
          <a:xfrm>
            <a:off x="238700" y="757200"/>
            <a:ext cx="84459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When comparing across samples is important to </a:t>
            </a:r>
            <a:r>
              <a:rPr lang="en" sz="1600" b="1">
                <a:solidFill>
                  <a:schemeClr val="dk1"/>
                </a:solidFill>
              </a:rPr>
              <a:t>normalize</a:t>
            </a:r>
            <a:r>
              <a:rPr lang="en" sz="1600">
                <a:solidFill>
                  <a:schemeClr val="dk1"/>
                </a:solidFill>
              </a:rPr>
              <a:t> the data to make sure what we see is not just an artifact of one sample having more reads than another.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Reads per million (rPM)</a:t>
            </a:r>
            <a:endParaRPr sz="1600" b="1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 b="1">
                <a:solidFill>
                  <a:schemeClr val="dk1"/>
                </a:solidFill>
              </a:rPr>
              <a:t>Depth per million </a:t>
            </a:r>
            <a:r>
              <a:rPr lang="en" sz="1600">
                <a:solidFill>
                  <a:schemeClr val="dk1"/>
                </a:solidFill>
              </a:rPr>
              <a:t>(</a:t>
            </a:r>
            <a:r>
              <a:rPr lang="en" sz="1600" b="1">
                <a:solidFill>
                  <a:schemeClr val="dk1"/>
                </a:solidFill>
              </a:rPr>
              <a:t>dPM</a:t>
            </a:r>
            <a:r>
              <a:rPr lang="en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6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600"/>
          </a:p>
        </p:txBody>
      </p:sp>
      <p:sp>
        <p:nvSpPr>
          <p:cNvPr id="334" name="Google Shape;334;p19"/>
          <p:cNvSpPr txBox="1"/>
          <p:nvPr/>
        </p:nvSpPr>
        <p:spPr>
          <a:xfrm>
            <a:off x="78050" y="4722100"/>
            <a:ext cx="436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sng" strike="noStrike" cap="none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https://www.nature.com/articles/s41598-018-24280-8.pdf?origin=ppub</a:t>
            </a:r>
            <a:endParaRPr sz="1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0162" y="2043600"/>
            <a:ext cx="4198376" cy="670075"/>
          </a:xfrm>
          <a:prstGeom prst="rect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6" name="Google Shape;336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8875" y="3400725"/>
            <a:ext cx="4320950" cy="913175"/>
          </a:xfrm>
          <a:prstGeom prst="rect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 txBox="1">
            <a:spLocks noGrp="1"/>
          </p:cNvSpPr>
          <p:nvPr>
            <p:ph type="title"/>
          </p:nvPr>
        </p:nvSpPr>
        <p:spPr>
          <a:xfrm>
            <a:off x="311700" y="150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Applying Filters to AMR Sample Report</a:t>
            </a:r>
            <a:endParaRPr/>
          </a:p>
        </p:txBody>
      </p:sp>
      <p:sp>
        <p:nvSpPr>
          <p:cNvPr id="342" name="Google Shape;342;p20"/>
          <p:cNvSpPr txBox="1">
            <a:spLocks noGrp="1"/>
          </p:cNvSpPr>
          <p:nvPr>
            <p:ph type="body" idx="1"/>
          </p:nvPr>
        </p:nvSpPr>
        <p:spPr>
          <a:xfrm>
            <a:off x="311700" y="829850"/>
            <a:ext cx="8520600" cy="16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AMR genes tend to be at low abundances unless they are enriched (e.g., FLASH protocol). Use relaxed parameters compared to filters used for mNGS analysis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Suggested threshold: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AMR genes with at least 5% (mNGS data) or 50% (WGS data) coverage.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At least 5 reads matching AMR gene.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343" name="Google Shape;343;p20"/>
          <p:cNvPicPr preferRelativeResize="0"/>
          <p:nvPr/>
        </p:nvPicPr>
        <p:blipFill rotWithShape="1">
          <a:blip r:embed="rId3">
            <a:alphaModFix/>
          </a:blip>
          <a:srcRect t="52633"/>
          <a:stretch/>
        </p:blipFill>
        <p:spPr>
          <a:xfrm>
            <a:off x="209000" y="2961575"/>
            <a:ext cx="6319380" cy="1616499"/>
          </a:xfrm>
          <a:prstGeom prst="rect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4" name="Google Shape;344;p20"/>
          <p:cNvPicPr preferRelativeResize="0"/>
          <p:nvPr/>
        </p:nvPicPr>
        <p:blipFill rotWithShape="1">
          <a:blip r:embed="rId4">
            <a:alphaModFix/>
          </a:blip>
          <a:srcRect l="699" t="62363" r="72684"/>
          <a:stretch/>
        </p:blipFill>
        <p:spPr>
          <a:xfrm>
            <a:off x="6739475" y="2961575"/>
            <a:ext cx="2195523" cy="1935724"/>
          </a:xfrm>
          <a:prstGeom prst="rect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Downloading Data from AMR Sample Report</a:t>
            </a:r>
            <a:endParaRPr/>
          </a:p>
        </p:txBody>
      </p:sp>
      <p:pic>
        <p:nvPicPr>
          <p:cNvPr id="350" name="Google Shape;35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200" y="1554150"/>
            <a:ext cx="8839204" cy="214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 txBox="1">
            <a:spLocks noGrp="1"/>
          </p:cNvSpPr>
          <p:nvPr>
            <p:ph type="title"/>
          </p:nvPr>
        </p:nvSpPr>
        <p:spPr>
          <a:xfrm>
            <a:off x="311700" y="76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AMR Sample Report Download Options</a:t>
            </a:r>
            <a:endParaRPr/>
          </a:p>
        </p:txBody>
      </p:sp>
      <p:pic>
        <p:nvPicPr>
          <p:cNvPr id="356" name="Google Shape;35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9875" y="721475"/>
            <a:ext cx="7105423" cy="427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>
            <a:spLocks noGrp="1"/>
          </p:cNvSpPr>
          <p:nvPr>
            <p:ph type="title"/>
          </p:nvPr>
        </p:nvSpPr>
        <p:spPr>
          <a:xfrm>
            <a:off x="311700" y="72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Report Table vs Comprehensive AMR Metrics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pic>
        <p:nvPicPr>
          <p:cNvPr id="362" name="Google Shape;36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4938" y="739575"/>
            <a:ext cx="5874130" cy="419334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3"/>
          <p:cNvSpPr txBox="1"/>
          <p:nvPr/>
        </p:nvSpPr>
        <p:spPr>
          <a:xfrm>
            <a:off x="6621375" y="2420475"/>
            <a:ext cx="2036400" cy="24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Report Table</a:t>
            </a: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 CZ ID summary from RGI report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Comprehensive AMR Metrics</a:t>
            </a: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 Report from RGI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Downloading AMR Data from Project Page</a:t>
            </a:r>
            <a:endParaRPr/>
          </a:p>
        </p:txBody>
      </p:sp>
      <p:pic>
        <p:nvPicPr>
          <p:cNvPr id="369" name="Google Shape;36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70125"/>
            <a:ext cx="8839204" cy="332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5"/>
          <p:cNvSpPr txBox="1">
            <a:spLocks noGrp="1"/>
          </p:cNvSpPr>
          <p:nvPr>
            <p:ph type="title"/>
          </p:nvPr>
        </p:nvSpPr>
        <p:spPr>
          <a:xfrm>
            <a:off x="265150" y="154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AMR Project Page Download Options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pic>
        <p:nvPicPr>
          <p:cNvPr id="375" name="Google Shape;37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250" y="1017725"/>
            <a:ext cx="710750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"/>
          <p:cNvSpPr txBox="1">
            <a:spLocks noGrp="1"/>
          </p:cNvSpPr>
          <p:nvPr>
            <p:ph type="title"/>
          </p:nvPr>
        </p:nvSpPr>
        <p:spPr>
          <a:xfrm>
            <a:off x="311700" y="107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AMR Heatmaps</a:t>
            </a:r>
            <a:endParaRPr/>
          </a:p>
        </p:txBody>
      </p:sp>
      <p:sp>
        <p:nvSpPr>
          <p:cNvPr id="381" name="Google Shape;381;p26"/>
          <p:cNvSpPr txBox="1">
            <a:spLocks noGrp="1"/>
          </p:cNvSpPr>
          <p:nvPr>
            <p:ph type="body" idx="1"/>
          </p:nvPr>
        </p:nvSpPr>
        <p:spPr>
          <a:xfrm>
            <a:off x="265150" y="6689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Currently, CZ ID does not have heatmap functionality for the AMR module.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create heatmaps outside CZ ID by running a heatmap generator script that will use the Combined AMR Report from CZ ID as input data.</a:t>
            </a:r>
            <a:endParaRPr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 heatmap script can run locally on your machine or on the web via Google Colab. </a:t>
            </a:r>
            <a:endParaRPr sz="180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Running the script through Google Colab is easy, with no software installations or prior coding experience needed. </a:t>
            </a:r>
            <a:endParaRPr sz="180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Visit the GitHub page for the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AMR Heatmap Generator Script</a:t>
            </a:r>
            <a:r>
              <a:rPr lang="en" sz="1800"/>
              <a:t> to learn more and get started.</a:t>
            </a:r>
            <a:endParaRPr sz="1800"/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/>
          <p:cNvSpPr txBox="1">
            <a:spLocks noGrp="1"/>
          </p:cNvSpPr>
          <p:nvPr>
            <p:ph type="title"/>
          </p:nvPr>
        </p:nvSpPr>
        <p:spPr>
          <a:xfrm>
            <a:off x="311700" y="177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387" name="Google Shape;387;p27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May be challenging to distinguish sequencing error/artifacts from true SNPs that confer resistance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There may be differences in AMR genes and species detected with contig data versus those identified with read data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KMA (reads) vs Assembly/BLAST (contigs)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Read AMR detection based on 1 out of 4 models (PHMs alone), whereas contig AMR detection uses 4 models</a:t>
            </a:r>
            <a:endParaRPr sz="18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CZ ID mNGS &amp; AMR modules may report different species. This is due to differences in databases &amp; alignment methods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Known contaminant: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b="1">
                <a:solidFill>
                  <a:schemeClr val="dk1"/>
                </a:solidFill>
              </a:rPr>
              <a:t>TEM-116</a:t>
            </a:r>
            <a:r>
              <a:rPr lang="en">
                <a:solidFill>
                  <a:schemeClr val="dk1"/>
                </a:solidFill>
              </a:rPr>
              <a:t>: This AMR gene is part of the pUC5 plasmid, which is in a number of PCR reagents. It also may exist in clinical samples but definitely known to be in lab reagents (see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discussion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rgbClr val="B42A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 txBox="1">
            <a:spLocks noGrp="1"/>
          </p:cNvSpPr>
          <p:nvPr>
            <p:ph type="title"/>
          </p:nvPr>
        </p:nvSpPr>
        <p:spPr>
          <a:xfrm>
            <a:off x="311700" y="49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393" name="Google Shape;393;p28"/>
          <p:cNvSpPr txBox="1">
            <a:spLocks noGrp="1"/>
          </p:cNvSpPr>
          <p:nvPr>
            <p:ph type="body" idx="1"/>
          </p:nvPr>
        </p:nvSpPr>
        <p:spPr>
          <a:xfrm>
            <a:off x="311700" y="756800"/>
            <a:ext cx="8520600" cy="44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Tracing microbial contaminant in transfusion patients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Pathogen transmission in hospital setting (neonatal surveillance)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Pathogen dynamics within pneumonia patient (temporal study)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AMR genes in wastewater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6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Notes: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mNGS data: coverage breadth &gt;5% and matches based on reads required &gt; 5 reads mapping to AMR genes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WGS data: coverage breadth &gt;50% and matches based on reads required &gt; 5 reads mapping to AMR genes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Matches based on PHMs and PVMs alone</a:t>
            </a:r>
            <a:endParaRPr sz="18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9"/>
          <p:cNvSpPr txBox="1">
            <a:spLocks noGrp="1"/>
          </p:cNvSpPr>
          <p:nvPr>
            <p:ph type="title"/>
          </p:nvPr>
        </p:nvSpPr>
        <p:spPr>
          <a:xfrm>
            <a:off x="311700" y="78275"/>
            <a:ext cx="8020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/>
              <a:t>Example 1: Microbial contaminant in transfusion patients</a:t>
            </a:r>
            <a:r>
              <a:rPr lang="en" sz="24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(data from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Crawford et al 2020</a:t>
            </a:r>
            <a:r>
              <a:rPr lang="en" sz="1200">
                <a:solidFill>
                  <a:schemeClr val="dk2"/>
                </a:solidFill>
              </a:rPr>
              <a:t>)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4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400"/>
          </a:p>
        </p:txBody>
      </p:sp>
      <p:sp>
        <p:nvSpPr>
          <p:cNvPr id="399" name="Google Shape;399;p29"/>
          <p:cNvSpPr txBox="1">
            <a:spLocks noGrp="1"/>
          </p:cNvSpPr>
          <p:nvPr>
            <p:ph type="body" idx="1"/>
          </p:nvPr>
        </p:nvSpPr>
        <p:spPr>
          <a:xfrm>
            <a:off x="311700" y="8795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immunocompromised patients (A and B) received platelet unit transfusions from the same donor. Both patients developed septic shock hours after the transfusion.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Patient A treated with cefepime at the time of transfusion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Approach: mNGS (DNA) and methicillin-susceptible </a:t>
            </a:r>
            <a:r>
              <a:rPr lang="en" i="1"/>
              <a:t>S. aureus</a:t>
            </a:r>
            <a:r>
              <a:rPr lang="en"/>
              <a:t> (MSSA) culturing followed by WGS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sp>
        <p:nvSpPr>
          <p:cNvPr id="400" name="Google Shape;400;p29"/>
          <p:cNvSpPr txBox="1"/>
          <p:nvPr/>
        </p:nvSpPr>
        <p:spPr>
          <a:xfrm>
            <a:off x="3916500" y="4409850"/>
            <a:ext cx="4263000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Blood mNGS (pre- and post-transfusion)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Blood culture (post-transfusion)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29"/>
          <p:cNvPicPr preferRelativeResize="0"/>
          <p:nvPr/>
        </p:nvPicPr>
        <p:blipFill rotWithShape="1">
          <a:blip r:embed="rId4">
            <a:alphaModFix/>
          </a:blip>
          <a:srcRect t="12701" r="48159" b="22163"/>
          <a:stretch/>
        </p:blipFill>
        <p:spPr>
          <a:xfrm>
            <a:off x="1578825" y="2862725"/>
            <a:ext cx="1283850" cy="17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9"/>
          <p:cNvSpPr txBox="1"/>
          <p:nvPr/>
        </p:nvSpPr>
        <p:spPr>
          <a:xfrm>
            <a:off x="1324125" y="4409850"/>
            <a:ext cx="2176200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Bag culture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29"/>
          <p:cNvGrpSpPr/>
          <p:nvPr/>
        </p:nvGrpSpPr>
        <p:grpSpPr>
          <a:xfrm>
            <a:off x="4213325" y="2786525"/>
            <a:ext cx="1422100" cy="1737200"/>
            <a:chOff x="3282375" y="2786525"/>
            <a:chExt cx="1422100" cy="1737200"/>
          </a:xfrm>
        </p:grpSpPr>
        <p:pic>
          <p:nvPicPr>
            <p:cNvPr id="404" name="Google Shape;404;p2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282375" y="2786525"/>
              <a:ext cx="1422100" cy="17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29"/>
            <p:cNvSpPr txBox="1"/>
            <p:nvPr/>
          </p:nvSpPr>
          <p:spPr>
            <a:xfrm>
              <a:off x="3812975" y="3831900"/>
              <a:ext cx="3609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29"/>
          <p:cNvGrpSpPr/>
          <p:nvPr/>
        </p:nvGrpSpPr>
        <p:grpSpPr>
          <a:xfrm>
            <a:off x="5878525" y="2786525"/>
            <a:ext cx="1422100" cy="1737200"/>
            <a:chOff x="5878525" y="2786525"/>
            <a:chExt cx="1422100" cy="1737200"/>
          </a:xfrm>
        </p:grpSpPr>
        <p:pic>
          <p:nvPicPr>
            <p:cNvPr id="407" name="Google Shape;407;p2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78525" y="2786525"/>
              <a:ext cx="1422100" cy="17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29"/>
            <p:cNvSpPr txBox="1"/>
            <p:nvPr/>
          </p:nvSpPr>
          <p:spPr>
            <a:xfrm>
              <a:off x="6409125" y="3818975"/>
              <a:ext cx="3609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0"/>
          <p:cNvPicPr preferRelativeResize="0"/>
          <p:nvPr/>
        </p:nvPicPr>
        <p:blipFill rotWithShape="1">
          <a:blip r:embed="rId3">
            <a:alphaModFix/>
          </a:blip>
          <a:srcRect l="33333" b="82466"/>
          <a:stretch/>
        </p:blipFill>
        <p:spPr>
          <a:xfrm>
            <a:off x="418950" y="1461550"/>
            <a:ext cx="5639225" cy="2593899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0"/>
          <p:cNvSpPr txBox="1"/>
          <p:nvPr/>
        </p:nvSpPr>
        <p:spPr>
          <a:xfrm>
            <a:off x="2178225" y="2926025"/>
            <a:ext cx="62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0"/>
          <p:cNvSpPr txBox="1"/>
          <p:nvPr/>
        </p:nvSpPr>
        <p:spPr>
          <a:xfrm>
            <a:off x="2730525" y="2926025"/>
            <a:ext cx="62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0"/>
          <p:cNvSpPr txBox="1"/>
          <p:nvPr/>
        </p:nvSpPr>
        <p:spPr>
          <a:xfrm>
            <a:off x="3359025" y="2926025"/>
            <a:ext cx="8613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0"/>
          <p:cNvSpPr txBox="1"/>
          <p:nvPr/>
        </p:nvSpPr>
        <p:spPr>
          <a:xfrm>
            <a:off x="2356925" y="1088050"/>
            <a:ext cx="925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mNGS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2194725" y="1358325"/>
            <a:ext cx="5955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2747025" y="1358325"/>
            <a:ext cx="5955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0"/>
          <p:cNvSpPr txBox="1"/>
          <p:nvPr/>
        </p:nvSpPr>
        <p:spPr>
          <a:xfrm>
            <a:off x="3342525" y="1358325"/>
            <a:ext cx="62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WGS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1174050" y="116450"/>
            <a:ext cx="67959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mapping results for </a:t>
            </a:r>
            <a:r>
              <a:rPr lang="en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Klebsiella pneumoniae</a:t>
            </a: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1"/>
          <p:cNvPicPr preferRelativeResize="0"/>
          <p:nvPr/>
        </p:nvPicPr>
        <p:blipFill rotWithShape="1">
          <a:blip r:embed="rId3">
            <a:alphaModFix/>
          </a:blip>
          <a:srcRect l="33333" b="82466"/>
          <a:stretch/>
        </p:blipFill>
        <p:spPr>
          <a:xfrm>
            <a:off x="418950" y="1461550"/>
            <a:ext cx="5639225" cy="259389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1"/>
          <p:cNvSpPr txBox="1"/>
          <p:nvPr/>
        </p:nvSpPr>
        <p:spPr>
          <a:xfrm>
            <a:off x="2178225" y="2926025"/>
            <a:ext cx="62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1"/>
          <p:cNvSpPr txBox="1"/>
          <p:nvPr/>
        </p:nvSpPr>
        <p:spPr>
          <a:xfrm>
            <a:off x="2730525" y="2926025"/>
            <a:ext cx="62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1"/>
          <p:cNvSpPr txBox="1"/>
          <p:nvPr/>
        </p:nvSpPr>
        <p:spPr>
          <a:xfrm>
            <a:off x="3359025" y="2926025"/>
            <a:ext cx="8613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2356925" y="1088050"/>
            <a:ext cx="925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mNGS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2194725" y="1358325"/>
            <a:ext cx="5955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2747025" y="1358325"/>
            <a:ext cx="5955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1"/>
          <p:cNvSpPr txBox="1"/>
          <p:nvPr/>
        </p:nvSpPr>
        <p:spPr>
          <a:xfrm>
            <a:off x="3342525" y="1358325"/>
            <a:ext cx="62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WGS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1"/>
          <p:cNvSpPr txBox="1"/>
          <p:nvPr/>
        </p:nvSpPr>
        <p:spPr>
          <a:xfrm>
            <a:off x="5999975" y="930950"/>
            <a:ext cx="30651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Reads mapping to </a:t>
            </a:r>
            <a:r>
              <a:rPr lang="en" sz="18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K. pneumoniae</a:t>
            </a: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increased after treatment for both patients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Patient A had lower levels of infection (lower rPM, no WGS data due to negative blood culture)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1174050" y="116450"/>
            <a:ext cx="67959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mapping results for </a:t>
            </a:r>
            <a:r>
              <a:rPr lang="en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Klebsiella pneumoniae</a:t>
            </a: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32"/>
          <p:cNvPicPr preferRelativeResize="0"/>
          <p:nvPr/>
        </p:nvPicPr>
        <p:blipFill rotWithShape="1">
          <a:blip r:embed="rId3">
            <a:alphaModFix/>
          </a:blip>
          <a:srcRect l="15853" t="17293" b="18937"/>
          <a:stretch/>
        </p:blipFill>
        <p:spPr>
          <a:xfrm>
            <a:off x="477100" y="147100"/>
            <a:ext cx="3643475" cy="482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2"/>
          <p:cNvPicPr preferRelativeResize="0"/>
          <p:nvPr/>
        </p:nvPicPr>
        <p:blipFill rotWithShape="1">
          <a:blip r:embed="rId3">
            <a:alphaModFix/>
          </a:blip>
          <a:srcRect l="22631" t="82466" r="46243" b="6950"/>
          <a:stretch/>
        </p:blipFill>
        <p:spPr>
          <a:xfrm>
            <a:off x="162900" y="884375"/>
            <a:ext cx="1105525" cy="65734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2"/>
          <p:cNvSpPr txBox="1"/>
          <p:nvPr/>
        </p:nvSpPr>
        <p:spPr>
          <a:xfrm>
            <a:off x="2021675" y="4900225"/>
            <a:ext cx="451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2345375" y="4900225"/>
            <a:ext cx="451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2669075" y="4900225"/>
            <a:ext cx="6324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2021675" y="-65875"/>
            <a:ext cx="4518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2"/>
          <p:cNvSpPr txBox="1"/>
          <p:nvPr/>
        </p:nvSpPr>
        <p:spPr>
          <a:xfrm>
            <a:off x="2303150" y="-65875"/>
            <a:ext cx="5547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2"/>
          <p:cNvSpPr txBox="1"/>
          <p:nvPr/>
        </p:nvSpPr>
        <p:spPr>
          <a:xfrm>
            <a:off x="2665950" y="-76200"/>
            <a:ext cx="6909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2"/>
          <p:cNvSpPr txBox="1"/>
          <p:nvPr/>
        </p:nvSpPr>
        <p:spPr>
          <a:xfrm>
            <a:off x="2687525" y="-65875"/>
            <a:ext cx="6324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WGS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2"/>
          <p:cNvSpPr txBox="1"/>
          <p:nvPr/>
        </p:nvSpPr>
        <p:spPr>
          <a:xfrm>
            <a:off x="5120325" y="69875"/>
            <a:ext cx="23505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AMR Results </a:t>
            </a: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3"/>
          <p:cNvPicPr preferRelativeResize="0"/>
          <p:nvPr/>
        </p:nvPicPr>
        <p:blipFill rotWithShape="1">
          <a:blip r:embed="rId3">
            <a:alphaModFix/>
          </a:blip>
          <a:srcRect l="15853" t="17293" b="18937"/>
          <a:stretch/>
        </p:blipFill>
        <p:spPr>
          <a:xfrm>
            <a:off x="477100" y="147100"/>
            <a:ext cx="3643475" cy="482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3"/>
          <p:cNvPicPr preferRelativeResize="0"/>
          <p:nvPr/>
        </p:nvPicPr>
        <p:blipFill rotWithShape="1">
          <a:blip r:embed="rId3">
            <a:alphaModFix/>
          </a:blip>
          <a:srcRect l="22631" t="82466" r="46243" b="6950"/>
          <a:stretch/>
        </p:blipFill>
        <p:spPr>
          <a:xfrm>
            <a:off x="162900" y="884375"/>
            <a:ext cx="1105525" cy="65734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3"/>
          <p:cNvSpPr txBox="1"/>
          <p:nvPr/>
        </p:nvSpPr>
        <p:spPr>
          <a:xfrm>
            <a:off x="2021675" y="4900225"/>
            <a:ext cx="451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3"/>
          <p:cNvSpPr txBox="1"/>
          <p:nvPr/>
        </p:nvSpPr>
        <p:spPr>
          <a:xfrm>
            <a:off x="2345375" y="4900225"/>
            <a:ext cx="451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3"/>
          <p:cNvSpPr txBox="1"/>
          <p:nvPr/>
        </p:nvSpPr>
        <p:spPr>
          <a:xfrm>
            <a:off x="2669075" y="4900225"/>
            <a:ext cx="6324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3"/>
          <p:cNvSpPr txBox="1"/>
          <p:nvPr/>
        </p:nvSpPr>
        <p:spPr>
          <a:xfrm>
            <a:off x="2021675" y="-65875"/>
            <a:ext cx="4518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2303150" y="-65875"/>
            <a:ext cx="5547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3"/>
          <p:cNvSpPr txBox="1"/>
          <p:nvPr/>
        </p:nvSpPr>
        <p:spPr>
          <a:xfrm>
            <a:off x="2665950" y="-76200"/>
            <a:ext cx="6909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2687525" y="-65875"/>
            <a:ext cx="6324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WGS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4817675" y="1166500"/>
            <a:ext cx="3374700" cy="26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Patient B: AMR profiles nearly identical between mNGS and WGS (culture) samples from blood and the platelet bag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Patient A: Some </a:t>
            </a:r>
            <a:r>
              <a:rPr lang="en" sz="18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K. pneumoniae</a:t>
            </a: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AMR genes identified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5120325" y="69875"/>
            <a:ext cx="23505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AMR Results </a:t>
            </a: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4"/>
          <p:cNvSpPr txBox="1">
            <a:spLocks noGrp="1"/>
          </p:cNvSpPr>
          <p:nvPr>
            <p:ph type="title"/>
          </p:nvPr>
        </p:nvSpPr>
        <p:spPr>
          <a:xfrm>
            <a:off x="381525" y="247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2: Pathogen transmission in neonatal unit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00716"/>
              <a:buNone/>
            </a:pPr>
            <a:r>
              <a:rPr lang="en" sz="1550"/>
              <a:t>(Unpublished)</a:t>
            </a:r>
            <a:endParaRPr sz="1550"/>
          </a:p>
        </p:txBody>
      </p:sp>
      <p:sp>
        <p:nvSpPr>
          <p:cNvPr id="470" name="Google Shape;470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Skin swabs collected to investigate suspected transmission of methicillin-susceptible Staphylococcus aureus (MSSA)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Approach: Swabs (n = 40) used for mNGS and MSSA culturing followed by WGS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35"/>
          <p:cNvPicPr preferRelativeResize="0"/>
          <p:nvPr/>
        </p:nvPicPr>
        <p:blipFill rotWithShape="1">
          <a:blip r:embed="rId3">
            <a:alphaModFix/>
          </a:blip>
          <a:srcRect l="3614" r="20461" b="67315"/>
          <a:stretch/>
        </p:blipFill>
        <p:spPr>
          <a:xfrm>
            <a:off x="556109" y="726800"/>
            <a:ext cx="7045316" cy="38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5"/>
          <p:cNvPicPr preferRelativeResize="0"/>
          <p:nvPr/>
        </p:nvPicPr>
        <p:blipFill rotWithShape="1">
          <a:blip r:embed="rId3">
            <a:alphaModFix/>
          </a:blip>
          <a:srcRect l="79396" t="15110" b="75362"/>
          <a:stretch/>
        </p:blipFill>
        <p:spPr>
          <a:xfrm>
            <a:off x="6163300" y="892274"/>
            <a:ext cx="1994175" cy="116419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5"/>
          <p:cNvSpPr txBox="1">
            <a:spLocks noGrp="1"/>
          </p:cNvSpPr>
          <p:nvPr>
            <p:ph type="title"/>
          </p:nvPr>
        </p:nvSpPr>
        <p:spPr>
          <a:xfrm>
            <a:off x="241900" y="154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AMR profiles for MSSA isolates from patients (WGS)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36"/>
          <p:cNvPicPr preferRelativeResize="0"/>
          <p:nvPr/>
        </p:nvPicPr>
        <p:blipFill rotWithShape="1">
          <a:blip r:embed="rId3">
            <a:alphaModFix/>
          </a:blip>
          <a:srcRect l="3614" r="20461" b="67315"/>
          <a:stretch/>
        </p:blipFill>
        <p:spPr>
          <a:xfrm>
            <a:off x="556109" y="726800"/>
            <a:ext cx="7045316" cy="38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6"/>
          <p:cNvPicPr preferRelativeResize="0"/>
          <p:nvPr/>
        </p:nvPicPr>
        <p:blipFill rotWithShape="1">
          <a:blip r:embed="rId3">
            <a:alphaModFix/>
          </a:blip>
          <a:srcRect l="79396" t="15110" b="75362"/>
          <a:stretch/>
        </p:blipFill>
        <p:spPr>
          <a:xfrm>
            <a:off x="6163300" y="892274"/>
            <a:ext cx="1994175" cy="1164199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6"/>
          <p:cNvSpPr txBox="1">
            <a:spLocks noGrp="1"/>
          </p:cNvSpPr>
          <p:nvPr>
            <p:ph type="title"/>
          </p:nvPr>
        </p:nvSpPr>
        <p:spPr>
          <a:xfrm>
            <a:off x="241900" y="154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AMR profiles for MSSA isolates from patients (WGS)</a:t>
            </a:r>
            <a:endParaRPr/>
          </a:p>
        </p:txBody>
      </p:sp>
      <p:sp>
        <p:nvSpPr>
          <p:cNvPr id="485" name="Google Shape;485;p36"/>
          <p:cNvSpPr txBox="1"/>
          <p:nvPr/>
        </p:nvSpPr>
        <p:spPr>
          <a:xfrm>
            <a:off x="1955000" y="4556750"/>
            <a:ext cx="2477400" cy="442200"/>
          </a:xfrm>
          <a:prstGeom prst="rect">
            <a:avLst/>
          </a:prstGeom>
          <a:noFill/>
          <a:ln w="19050" cap="flat" cmpd="sng">
            <a:solidFill>
              <a:srgbClr val="6D9EEB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Identical AMR profiles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6"/>
          <p:cNvSpPr txBox="1"/>
          <p:nvPr/>
        </p:nvSpPr>
        <p:spPr>
          <a:xfrm>
            <a:off x="4910750" y="4457300"/>
            <a:ext cx="42333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Downstream genome phylogenetic analysis revealed 11 SNPs between the 9 isolates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 txBox="1">
            <a:spLocks noGrp="1"/>
          </p:cNvSpPr>
          <p:nvPr>
            <p:ph type="title"/>
          </p:nvPr>
        </p:nvSpPr>
        <p:spPr>
          <a:xfrm>
            <a:off x="127375" y="154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Bacterial species identified through mNGS</a:t>
            </a:r>
            <a:endParaRPr/>
          </a:p>
        </p:txBody>
      </p:sp>
      <p:pic>
        <p:nvPicPr>
          <p:cNvPr id="492" name="Google Shape;49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250" y="1030475"/>
            <a:ext cx="7818849" cy="28067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7"/>
          <p:cNvSpPr/>
          <p:nvPr/>
        </p:nvSpPr>
        <p:spPr>
          <a:xfrm>
            <a:off x="558575" y="1024050"/>
            <a:ext cx="349200" cy="2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8"/>
          <p:cNvSpPr txBox="1">
            <a:spLocks noGrp="1"/>
          </p:cNvSpPr>
          <p:nvPr>
            <p:ph type="title"/>
          </p:nvPr>
        </p:nvSpPr>
        <p:spPr>
          <a:xfrm>
            <a:off x="127375" y="154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Bacterial species identified through mNGS</a:t>
            </a:r>
            <a:endParaRPr/>
          </a:p>
        </p:txBody>
      </p:sp>
      <p:pic>
        <p:nvPicPr>
          <p:cNvPr id="499" name="Google Shape;49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250" y="1030475"/>
            <a:ext cx="7818849" cy="280677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558575" y="1024050"/>
            <a:ext cx="349200" cy="2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8"/>
          <p:cNvSpPr txBox="1"/>
          <p:nvPr/>
        </p:nvSpPr>
        <p:spPr>
          <a:xfrm>
            <a:off x="651650" y="3837250"/>
            <a:ext cx="6958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species identified, including pathogens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Unique profiles for samples from patients within MSSA cluster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9"/>
          <p:cNvSpPr txBox="1">
            <a:spLocks noGrp="1"/>
          </p:cNvSpPr>
          <p:nvPr>
            <p:ph type="title"/>
          </p:nvPr>
        </p:nvSpPr>
        <p:spPr>
          <a:xfrm>
            <a:off x="6290325" y="72650"/>
            <a:ext cx="26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AMR profiles for mNGS samples</a:t>
            </a:r>
            <a:endParaRPr/>
          </a:p>
        </p:txBody>
      </p:sp>
      <p:pic>
        <p:nvPicPr>
          <p:cNvPr id="507" name="Google Shape;50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00" y="72650"/>
            <a:ext cx="5793750" cy="523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9"/>
          <p:cNvSpPr/>
          <p:nvPr/>
        </p:nvSpPr>
        <p:spPr>
          <a:xfrm>
            <a:off x="267650" y="72650"/>
            <a:ext cx="349200" cy="2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p39"/>
          <p:cNvPicPr preferRelativeResize="0"/>
          <p:nvPr/>
        </p:nvPicPr>
        <p:blipFill rotWithShape="1">
          <a:blip r:embed="rId3">
            <a:alphaModFix/>
          </a:blip>
          <a:srcRect l="3168" t="83479" r="81164" b="4075"/>
          <a:stretch/>
        </p:blipFill>
        <p:spPr>
          <a:xfrm>
            <a:off x="94500" y="221125"/>
            <a:ext cx="1197200" cy="8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9"/>
          <p:cNvSpPr/>
          <p:nvPr/>
        </p:nvSpPr>
        <p:spPr>
          <a:xfrm>
            <a:off x="244375" y="4398750"/>
            <a:ext cx="930900" cy="67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0"/>
          <p:cNvSpPr txBox="1">
            <a:spLocks noGrp="1"/>
          </p:cNvSpPr>
          <p:nvPr>
            <p:ph type="title"/>
          </p:nvPr>
        </p:nvSpPr>
        <p:spPr>
          <a:xfrm>
            <a:off x="6290325" y="72650"/>
            <a:ext cx="26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AMR profiles for mNGS samples</a:t>
            </a:r>
            <a:endParaRPr/>
          </a:p>
        </p:txBody>
      </p:sp>
      <p:pic>
        <p:nvPicPr>
          <p:cNvPr id="516" name="Google Shape;51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00" y="72650"/>
            <a:ext cx="5793750" cy="523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0"/>
          <p:cNvSpPr/>
          <p:nvPr/>
        </p:nvSpPr>
        <p:spPr>
          <a:xfrm>
            <a:off x="267650" y="72650"/>
            <a:ext cx="349200" cy="2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0"/>
          <p:cNvSpPr txBox="1"/>
          <p:nvPr/>
        </p:nvSpPr>
        <p:spPr>
          <a:xfrm>
            <a:off x="6290325" y="1803725"/>
            <a:ext cx="2518800" cy="10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Diverse AMR gene detection in NICU patients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9" name="Google Shape;519;p40"/>
          <p:cNvPicPr preferRelativeResize="0"/>
          <p:nvPr/>
        </p:nvPicPr>
        <p:blipFill rotWithShape="1">
          <a:blip r:embed="rId3">
            <a:alphaModFix/>
          </a:blip>
          <a:srcRect l="3168" t="83479" r="81164" b="4075"/>
          <a:stretch/>
        </p:blipFill>
        <p:spPr>
          <a:xfrm>
            <a:off x="94500" y="221125"/>
            <a:ext cx="1197200" cy="8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0"/>
          <p:cNvSpPr/>
          <p:nvPr/>
        </p:nvSpPr>
        <p:spPr>
          <a:xfrm>
            <a:off x="244375" y="4398750"/>
            <a:ext cx="930900" cy="67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1"/>
          <p:cNvSpPr txBox="1">
            <a:spLocks noGrp="1"/>
          </p:cNvSpPr>
          <p:nvPr>
            <p:ph type="title"/>
          </p:nvPr>
        </p:nvSpPr>
        <p:spPr>
          <a:xfrm>
            <a:off x="311700" y="142475"/>
            <a:ext cx="85206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62583"/>
              <a:buNone/>
            </a:pPr>
            <a:r>
              <a:rPr lang="en"/>
              <a:t>Example 3: Pathogen dynamics within pneumonia patient </a:t>
            </a:r>
            <a:r>
              <a:rPr lang="en" sz="1550"/>
              <a:t>(Unpublished)</a:t>
            </a:r>
            <a:endParaRPr sz="1550"/>
          </a:p>
        </p:txBody>
      </p:sp>
      <p:sp>
        <p:nvSpPr>
          <p:cNvPr id="526" name="Google Shape;526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Case: Patient intubated for severe Human orthopneumovirus (HRSV) pneumonia who subsequently developed ventilator-associated </a:t>
            </a:r>
            <a:r>
              <a:rPr lang="en" i="1"/>
              <a:t>Pseudomonas aeruginosa</a:t>
            </a:r>
            <a:r>
              <a:rPr lang="en"/>
              <a:t> infection.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Approach: mNGS (RNA) of tracheal aspirate samples collected over a two-week period.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42"/>
          <p:cNvGrpSpPr/>
          <p:nvPr/>
        </p:nvGrpSpPr>
        <p:grpSpPr>
          <a:xfrm>
            <a:off x="418949" y="1281172"/>
            <a:ext cx="4410338" cy="2419325"/>
            <a:chOff x="1221875" y="152400"/>
            <a:chExt cx="1722250" cy="1046149"/>
          </a:xfrm>
        </p:grpSpPr>
        <p:pic>
          <p:nvPicPr>
            <p:cNvPr id="532" name="Google Shape;532;p42"/>
            <p:cNvPicPr preferRelativeResize="0"/>
            <p:nvPr/>
          </p:nvPicPr>
          <p:blipFill rotWithShape="1">
            <a:blip r:embed="rId3">
              <a:alphaModFix/>
            </a:blip>
            <a:srcRect l="31856" r="23244" b="83669"/>
            <a:stretch/>
          </p:blipFill>
          <p:spPr>
            <a:xfrm>
              <a:off x="1221875" y="152400"/>
              <a:ext cx="1722250" cy="790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42"/>
            <p:cNvPicPr preferRelativeResize="0"/>
            <p:nvPr/>
          </p:nvPicPr>
          <p:blipFill rotWithShape="1">
            <a:blip r:embed="rId3">
              <a:alphaModFix/>
            </a:blip>
            <a:srcRect l="40145" t="83403" r="35278" b="11304"/>
            <a:stretch/>
          </p:blipFill>
          <p:spPr>
            <a:xfrm>
              <a:off x="1530250" y="942575"/>
              <a:ext cx="942599" cy="255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4" name="Google Shape;534;p42"/>
          <p:cNvSpPr txBox="1"/>
          <p:nvPr/>
        </p:nvSpPr>
        <p:spPr>
          <a:xfrm>
            <a:off x="5539150" y="1442975"/>
            <a:ext cx="34563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mNGS data reflected initial viral abundance and eventual clearance followed by an increase in </a:t>
            </a:r>
            <a:r>
              <a:rPr lang="en" sz="18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P. aeruginosa</a:t>
            </a: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abundance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2"/>
          <p:cNvSpPr txBox="1"/>
          <p:nvPr/>
        </p:nvSpPr>
        <p:spPr>
          <a:xfrm>
            <a:off x="418950" y="116450"/>
            <a:ext cx="7226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mapping results for Human orthopneumovirus and</a:t>
            </a:r>
            <a:r>
              <a:rPr lang="en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Pseudomonas aeruginosa</a:t>
            </a: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43"/>
          <p:cNvPicPr preferRelativeResize="0"/>
          <p:nvPr/>
        </p:nvPicPr>
        <p:blipFill rotWithShape="1">
          <a:blip r:embed="rId3">
            <a:alphaModFix/>
          </a:blip>
          <a:srcRect l="11410" t="16063" b="11706"/>
          <a:stretch/>
        </p:blipFill>
        <p:spPr>
          <a:xfrm>
            <a:off x="174550" y="204400"/>
            <a:ext cx="4700249" cy="483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3"/>
          <p:cNvPicPr preferRelativeResize="0"/>
          <p:nvPr/>
        </p:nvPicPr>
        <p:blipFill rotWithShape="1">
          <a:blip r:embed="rId3">
            <a:alphaModFix/>
          </a:blip>
          <a:srcRect l="64170" t="88652" r="12413" b="1748"/>
          <a:stretch/>
        </p:blipFill>
        <p:spPr>
          <a:xfrm>
            <a:off x="4922400" y="708625"/>
            <a:ext cx="1674926" cy="8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3"/>
          <p:cNvSpPr txBox="1"/>
          <p:nvPr/>
        </p:nvSpPr>
        <p:spPr>
          <a:xfrm>
            <a:off x="5702150" y="0"/>
            <a:ext cx="23505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AMR Results </a:t>
            </a: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43"/>
          <p:cNvPicPr preferRelativeResize="0"/>
          <p:nvPr/>
        </p:nvPicPr>
        <p:blipFill rotWithShape="1">
          <a:blip r:embed="rId3">
            <a:alphaModFix/>
          </a:blip>
          <a:srcRect l="40259" t="88651" r="38111" b="1761"/>
          <a:stretch/>
        </p:blipFill>
        <p:spPr>
          <a:xfrm>
            <a:off x="123922" y="1252850"/>
            <a:ext cx="1225977" cy="68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4"/>
          <p:cNvPicPr preferRelativeResize="0"/>
          <p:nvPr/>
        </p:nvPicPr>
        <p:blipFill rotWithShape="1">
          <a:blip r:embed="rId3">
            <a:alphaModFix/>
          </a:blip>
          <a:srcRect l="11410" t="16063" b="11706"/>
          <a:stretch/>
        </p:blipFill>
        <p:spPr>
          <a:xfrm>
            <a:off x="174550" y="204400"/>
            <a:ext cx="4700249" cy="483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4"/>
          <p:cNvPicPr preferRelativeResize="0"/>
          <p:nvPr/>
        </p:nvPicPr>
        <p:blipFill rotWithShape="1">
          <a:blip r:embed="rId3">
            <a:alphaModFix/>
          </a:blip>
          <a:srcRect l="64170" t="88652" r="12413" b="1748"/>
          <a:stretch/>
        </p:blipFill>
        <p:spPr>
          <a:xfrm>
            <a:off x="4922400" y="708625"/>
            <a:ext cx="1674926" cy="8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4"/>
          <p:cNvSpPr txBox="1"/>
          <p:nvPr/>
        </p:nvSpPr>
        <p:spPr>
          <a:xfrm>
            <a:off x="5539150" y="2222650"/>
            <a:ext cx="34563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P. aeruginosa</a:t>
            </a: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-associated AMR genes tracked the relative abundance of this pathogen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4"/>
          <p:cNvSpPr txBox="1"/>
          <p:nvPr/>
        </p:nvSpPr>
        <p:spPr>
          <a:xfrm>
            <a:off x="5702150" y="0"/>
            <a:ext cx="23505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AMR Results </a:t>
            </a: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2" name="Google Shape;552;p44"/>
          <p:cNvPicPr preferRelativeResize="0"/>
          <p:nvPr/>
        </p:nvPicPr>
        <p:blipFill rotWithShape="1">
          <a:blip r:embed="rId3">
            <a:alphaModFix/>
          </a:blip>
          <a:srcRect l="40259" t="88651" r="38111" b="1761"/>
          <a:stretch/>
        </p:blipFill>
        <p:spPr>
          <a:xfrm>
            <a:off x="123922" y="1252850"/>
            <a:ext cx="1225977" cy="68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5"/>
          <p:cNvSpPr txBox="1">
            <a:spLocks noGrp="1"/>
          </p:cNvSpPr>
          <p:nvPr>
            <p:ph type="title"/>
          </p:nvPr>
        </p:nvSpPr>
        <p:spPr>
          <a:xfrm>
            <a:off x="311700" y="200650"/>
            <a:ext cx="68217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62583"/>
              <a:buNone/>
            </a:pPr>
            <a:r>
              <a:rPr lang="en"/>
              <a:t>Example 4: AMR gene detection in wastewater  </a:t>
            </a:r>
            <a:r>
              <a:rPr lang="en" sz="1550"/>
              <a:t>(data from </a:t>
            </a:r>
            <a:r>
              <a:rPr lang="en" sz="1550" u="sng">
                <a:solidFill>
                  <a:schemeClr val="hlink"/>
                </a:solidFill>
                <a:hlinkClick r:id="rId3"/>
              </a:rPr>
              <a:t>Fuhrmeister et al 2021</a:t>
            </a:r>
            <a:r>
              <a:rPr lang="en" sz="1550"/>
              <a:t>)</a:t>
            </a:r>
            <a:endParaRPr sz="1550"/>
          </a:p>
        </p:txBody>
      </p:sp>
      <p:sp>
        <p:nvSpPr>
          <p:cNvPr id="558" name="Google Shape;558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Wastewater surveillance study comparing Boston, USA to Vellore, India.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Approach: mNGS (DNA) of surface water, municipal wastewater, and hospital wastewater.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46"/>
          <p:cNvPicPr preferRelativeResize="0"/>
          <p:nvPr/>
        </p:nvPicPr>
        <p:blipFill rotWithShape="1">
          <a:blip r:embed="rId3">
            <a:alphaModFix/>
          </a:blip>
          <a:srcRect b="25945"/>
          <a:stretch/>
        </p:blipFill>
        <p:spPr>
          <a:xfrm>
            <a:off x="0" y="0"/>
            <a:ext cx="5528649" cy="4804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6"/>
          <p:cNvPicPr preferRelativeResize="0"/>
          <p:nvPr/>
        </p:nvPicPr>
        <p:blipFill rotWithShape="1">
          <a:blip r:embed="rId3">
            <a:alphaModFix/>
          </a:blip>
          <a:srcRect l="18659" t="77189" r="49806" b="10289"/>
          <a:stretch/>
        </p:blipFill>
        <p:spPr>
          <a:xfrm>
            <a:off x="6167075" y="140750"/>
            <a:ext cx="2072526" cy="9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6"/>
          <p:cNvSpPr txBox="1"/>
          <p:nvPr/>
        </p:nvSpPr>
        <p:spPr>
          <a:xfrm rot="-5400000">
            <a:off x="2935302" y="4757063"/>
            <a:ext cx="3321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6"/>
          <p:cNvSpPr txBox="1"/>
          <p:nvPr/>
        </p:nvSpPr>
        <p:spPr>
          <a:xfrm rot="-5400000">
            <a:off x="3065142" y="4757063"/>
            <a:ext cx="3321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6"/>
          <p:cNvSpPr txBox="1"/>
          <p:nvPr/>
        </p:nvSpPr>
        <p:spPr>
          <a:xfrm rot="-5400000">
            <a:off x="3158231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W1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6"/>
          <p:cNvSpPr txBox="1"/>
          <p:nvPr/>
        </p:nvSpPr>
        <p:spPr>
          <a:xfrm rot="-5400000">
            <a:off x="3288071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W2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6"/>
          <p:cNvSpPr txBox="1"/>
          <p:nvPr/>
        </p:nvSpPr>
        <p:spPr>
          <a:xfrm rot="-5400000">
            <a:off x="3417910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W3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6"/>
          <p:cNvSpPr txBox="1"/>
          <p:nvPr/>
        </p:nvSpPr>
        <p:spPr>
          <a:xfrm rot="-5400000">
            <a:off x="3547750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HW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6"/>
          <p:cNvSpPr txBox="1"/>
          <p:nvPr/>
        </p:nvSpPr>
        <p:spPr>
          <a:xfrm rot="-5400000">
            <a:off x="3767977" y="4757063"/>
            <a:ext cx="3321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6"/>
          <p:cNvSpPr txBox="1"/>
          <p:nvPr/>
        </p:nvSpPr>
        <p:spPr>
          <a:xfrm rot="-5400000">
            <a:off x="3897817" y="4757063"/>
            <a:ext cx="3321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6"/>
          <p:cNvSpPr txBox="1"/>
          <p:nvPr/>
        </p:nvSpPr>
        <p:spPr>
          <a:xfrm rot="-5400000">
            <a:off x="3990906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W1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6"/>
          <p:cNvSpPr txBox="1"/>
          <p:nvPr/>
        </p:nvSpPr>
        <p:spPr>
          <a:xfrm rot="-5400000">
            <a:off x="4120746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W2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6"/>
          <p:cNvSpPr txBox="1"/>
          <p:nvPr/>
        </p:nvSpPr>
        <p:spPr>
          <a:xfrm rot="-5400000">
            <a:off x="4250585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W3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6"/>
          <p:cNvSpPr txBox="1"/>
          <p:nvPr/>
        </p:nvSpPr>
        <p:spPr>
          <a:xfrm rot="-5400000">
            <a:off x="4380425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HW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6"/>
          <p:cNvSpPr txBox="1"/>
          <p:nvPr/>
        </p:nvSpPr>
        <p:spPr>
          <a:xfrm>
            <a:off x="6214075" y="1047325"/>
            <a:ext cx="26298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 - Surface water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 - Municipal wastewater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HW - Hospital wastewater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47"/>
          <p:cNvPicPr preferRelativeResize="0"/>
          <p:nvPr/>
        </p:nvPicPr>
        <p:blipFill rotWithShape="1">
          <a:blip r:embed="rId3">
            <a:alphaModFix/>
          </a:blip>
          <a:srcRect b="25945"/>
          <a:stretch/>
        </p:blipFill>
        <p:spPr>
          <a:xfrm>
            <a:off x="0" y="0"/>
            <a:ext cx="5528649" cy="4804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7"/>
          <p:cNvPicPr preferRelativeResize="0"/>
          <p:nvPr/>
        </p:nvPicPr>
        <p:blipFill rotWithShape="1">
          <a:blip r:embed="rId3">
            <a:alphaModFix/>
          </a:blip>
          <a:srcRect l="18659" t="77189" r="49806" b="10289"/>
          <a:stretch/>
        </p:blipFill>
        <p:spPr>
          <a:xfrm>
            <a:off x="6167075" y="140750"/>
            <a:ext cx="2072526" cy="9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7"/>
          <p:cNvSpPr txBox="1"/>
          <p:nvPr/>
        </p:nvSpPr>
        <p:spPr>
          <a:xfrm rot="-5400000">
            <a:off x="2935302" y="4757063"/>
            <a:ext cx="3321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7"/>
          <p:cNvSpPr txBox="1"/>
          <p:nvPr/>
        </p:nvSpPr>
        <p:spPr>
          <a:xfrm rot="-5400000">
            <a:off x="3065142" y="4757063"/>
            <a:ext cx="3321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7"/>
          <p:cNvSpPr txBox="1"/>
          <p:nvPr/>
        </p:nvSpPr>
        <p:spPr>
          <a:xfrm rot="-5400000">
            <a:off x="3158231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W1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7"/>
          <p:cNvSpPr txBox="1"/>
          <p:nvPr/>
        </p:nvSpPr>
        <p:spPr>
          <a:xfrm rot="-5400000">
            <a:off x="3288071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W2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7"/>
          <p:cNvSpPr txBox="1"/>
          <p:nvPr/>
        </p:nvSpPr>
        <p:spPr>
          <a:xfrm rot="-5400000">
            <a:off x="3417910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W3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7"/>
          <p:cNvSpPr txBox="1"/>
          <p:nvPr/>
        </p:nvSpPr>
        <p:spPr>
          <a:xfrm rot="-5400000">
            <a:off x="3547750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HW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7"/>
          <p:cNvSpPr txBox="1"/>
          <p:nvPr/>
        </p:nvSpPr>
        <p:spPr>
          <a:xfrm rot="-5400000">
            <a:off x="3767977" y="4757063"/>
            <a:ext cx="3321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7"/>
          <p:cNvSpPr txBox="1"/>
          <p:nvPr/>
        </p:nvSpPr>
        <p:spPr>
          <a:xfrm rot="-5400000">
            <a:off x="3897817" y="4757063"/>
            <a:ext cx="3321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7"/>
          <p:cNvSpPr txBox="1"/>
          <p:nvPr/>
        </p:nvSpPr>
        <p:spPr>
          <a:xfrm rot="-5400000">
            <a:off x="3990906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W1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7"/>
          <p:cNvSpPr txBox="1"/>
          <p:nvPr/>
        </p:nvSpPr>
        <p:spPr>
          <a:xfrm rot="-5400000">
            <a:off x="4120746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W2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7"/>
          <p:cNvSpPr txBox="1"/>
          <p:nvPr/>
        </p:nvSpPr>
        <p:spPr>
          <a:xfrm rot="-5400000">
            <a:off x="4250585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W3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7"/>
          <p:cNvSpPr txBox="1"/>
          <p:nvPr/>
        </p:nvSpPr>
        <p:spPr>
          <a:xfrm rot="-5400000">
            <a:off x="4380425" y="4757063"/>
            <a:ext cx="40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HW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7"/>
          <p:cNvSpPr txBox="1"/>
          <p:nvPr/>
        </p:nvSpPr>
        <p:spPr>
          <a:xfrm>
            <a:off x="6214075" y="1047325"/>
            <a:ext cx="26298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 - Surface water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 - Municipal wastewater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HW - Hospital wastewater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7"/>
          <p:cNvSpPr txBox="1"/>
          <p:nvPr/>
        </p:nvSpPr>
        <p:spPr>
          <a:xfrm>
            <a:off x="5528650" y="2112150"/>
            <a:ext cx="36153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Diverse AMR genes detected in wastewater.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Hospital wastewater contains AMR genes of public health concern (infections with drug-resistant pathogens may be more prevalent in hospitals compared to the community)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Reference Guides </a:t>
            </a:r>
            <a:endParaRPr/>
          </a:p>
        </p:txBody>
      </p:sp>
      <p:sp>
        <p:nvSpPr>
          <p:cNvPr id="603" name="Google Shape;603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CZ ID AMR Resources</a:t>
            </a:r>
            <a:endParaRPr sz="140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Guides for how to upload and download AMR gene data, how to interpret and customize the AMR Sample Report, and general information about the AMR pipeline</a:t>
            </a:r>
            <a:endParaRPr sz="1400"/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 u="sng">
                <a:solidFill>
                  <a:schemeClr val="hlink"/>
                </a:solidFill>
                <a:hlinkClick r:id="rId4"/>
              </a:rPr>
              <a:t>Video: AMR Detection and Analysis Using CARD &amp; RGI</a:t>
            </a:r>
            <a:endParaRPr sz="140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Presentation by Andrew McArthur (CARD/RGI Principal Investigator) providing background information and details about CARD and RGI workflow</a:t>
            </a:r>
            <a:endParaRPr sz="1400"/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Preprint describing AMR pipeline</a:t>
            </a:r>
            <a:endParaRPr sz="140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Simultaneous detection of pathogens and antimicrobial resistance genes with the open source, cloud-based, CZ ID pipeline</a:t>
            </a:r>
            <a:r>
              <a:rPr lang="en">
                <a:solidFill>
                  <a:srgbClr val="2A2A2A"/>
                </a:solidFill>
                <a:highlight>
                  <a:schemeClr val="lt1"/>
                </a:highlight>
              </a:rPr>
              <a:t> </a:t>
            </a:r>
            <a:endParaRPr>
              <a:solidFill>
                <a:srgbClr val="2A2A2A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2757</Words>
  <Application>Microsoft Macintosh PowerPoint</Application>
  <PresentationFormat>On-screen Show (16:9)</PresentationFormat>
  <Paragraphs>394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Open Sans</vt:lpstr>
      <vt:lpstr>Helvetica Neue Light</vt:lpstr>
      <vt:lpstr>Poppins</vt:lpstr>
      <vt:lpstr>Lato</vt:lpstr>
      <vt:lpstr>Simple Light</vt:lpstr>
      <vt:lpstr>PowerPoint Presentation</vt:lpstr>
      <vt:lpstr>Antimicrobial Resistance (AMR) Mechanisms</vt:lpstr>
      <vt:lpstr>Antimicrobial Resistance (AMR) Mechanisms</vt:lpstr>
      <vt:lpstr>Antimicrobial Resistance (AMR) Mechanisms</vt:lpstr>
      <vt:lpstr>What can give rise to AMR? </vt:lpstr>
      <vt:lpstr>mNGS vs AMR Detection Pipelines</vt:lpstr>
      <vt:lpstr>mNGS vs AMR Detection Pipelines </vt:lpstr>
      <vt:lpstr>CZ ID’s AMR Pipeline Highlights</vt:lpstr>
      <vt:lpstr>AMR Database</vt:lpstr>
      <vt:lpstr>AMR Pipeline Workflow CZ ID</vt:lpstr>
      <vt:lpstr>AMR Pipeline Workflow CZ ID</vt:lpstr>
      <vt:lpstr>AMR Pipeline Workflow CZ ID</vt:lpstr>
      <vt:lpstr>AMR Pipeline Workflow CZ ID</vt:lpstr>
      <vt:lpstr>AMR Sample Report</vt:lpstr>
      <vt:lpstr>AMR Sample Report: Gene Information</vt:lpstr>
      <vt:lpstr>PowerPoint Presentation</vt:lpstr>
      <vt:lpstr>PowerPoint Presentation</vt:lpstr>
      <vt:lpstr>PowerPoint Presentation</vt:lpstr>
      <vt:lpstr>PowerPoint Presentation</vt:lpstr>
      <vt:lpstr>AMR Sample Report: Contig Metrics</vt:lpstr>
      <vt:lpstr>AMR Sample Report: Contig Metrics (cont.)</vt:lpstr>
      <vt:lpstr>AMR Sample Report: Read Metrics</vt:lpstr>
      <vt:lpstr>Normalized Read Metrics </vt:lpstr>
      <vt:lpstr>Applying Filters to AMR Sample Report</vt:lpstr>
      <vt:lpstr>Downloading Data from AMR Sample Report</vt:lpstr>
      <vt:lpstr>AMR Sample Report Download Options</vt:lpstr>
      <vt:lpstr>Report Table vs Comprehensive AMR Metrics </vt:lpstr>
      <vt:lpstr>Downloading AMR Data from Project Page</vt:lpstr>
      <vt:lpstr>AMR Project Page Download Options </vt:lpstr>
      <vt:lpstr>AMR Heatmaps</vt:lpstr>
      <vt:lpstr>Notes</vt:lpstr>
      <vt:lpstr>Examples</vt:lpstr>
      <vt:lpstr>Example 1: Microbial contaminant in transfusion patients (data from Crawford et al 2020)  </vt:lpstr>
      <vt:lpstr>PowerPoint Presentation</vt:lpstr>
      <vt:lpstr>PowerPoint Presentation</vt:lpstr>
      <vt:lpstr>PowerPoint Presentation</vt:lpstr>
      <vt:lpstr>PowerPoint Presentation</vt:lpstr>
      <vt:lpstr>Example 2: Pathogen transmission in neonatal unit (Unpublished)</vt:lpstr>
      <vt:lpstr>AMR profiles for MSSA isolates from patients (WGS)</vt:lpstr>
      <vt:lpstr>AMR profiles for MSSA isolates from patients (WGS)</vt:lpstr>
      <vt:lpstr>Bacterial species identified through mNGS</vt:lpstr>
      <vt:lpstr>Bacterial species identified through mNGS</vt:lpstr>
      <vt:lpstr>AMR profiles for mNGS samples</vt:lpstr>
      <vt:lpstr>AMR profiles for mNGS samples</vt:lpstr>
      <vt:lpstr>Example 3: Pathogen dynamics within pneumonia patient (Unpublished)</vt:lpstr>
      <vt:lpstr>PowerPoint Presentation</vt:lpstr>
      <vt:lpstr>PowerPoint Presentation</vt:lpstr>
      <vt:lpstr>PowerPoint Presentation</vt:lpstr>
      <vt:lpstr>Example 4: AMR gene detection in wastewater  (data from Fuhrmeister et al 2021)</vt:lpstr>
      <vt:lpstr>PowerPoint Presentation</vt:lpstr>
      <vt:lpstr>PowerPoint Presentation</vt:lpstr>
      <vt:lpstr>Reference Guides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2</cp:revision>
  <dcterms:modified xsi:type="dcterms:W3CDTF">2026-09-10T23:12:07Z</dcterms:modified>
</cp:coreProperties>
</file>