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0"/>
  </p:notesMasterIdLst>
  <p:sldIdLst>
    <p:sldId id="256" r:id="rId2"/>
    <p:sldId id="257" r:id="rId3"/>
    <p:sldId id="258" r:id="rId4"/>
    <p:sldId id="259" r:id="rId5"/>
    <p:sldId id="260" r:id="rId6"/>
    <p:sldId id="261" r:id="rId7"/>
    <p:sldId id="263" r:id="rId8"/>
    <p:sldId id="301" r:id="rId9"/>
    <p:sldId id="304" r:id="rId10"/>
    <p:sldId id="303" r:id="rId11"/>
    <p:sldId id="305"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721"/>
    <p:restoredTop sz="91909"/>
  </p:normalViewPr>
  <p:slideViewPr>
    <p:cSldViewPr snapToGrid="0">
      <p:cViewPr varScale="1">
        <p:scale>
          <a:sx n="148" d="100"/>
          <a:sy n="148" d="100"/>
        </p:scale>
        <p:origin x="368"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18c04e63b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18c04e63b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e22e6c0c8b_0_1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e22e6c0c8b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e22e6c0c8b_0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e22e6c0c8b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e22e6c0c8b_0_1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e22e6c0c8b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e22e6c0c8b_0_1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e22e6c0c8b_0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filter used to </a:t>
            </a:r>
            <a:r>
              <a:rPr lang="en" dirty="0" err="1"/>
              <a:t>determing</a:t>
            </a:r>
            <a:r>
              <a:rPr lang="en" dirty="0"/>
              <a:t> %PF is the Chastity filter. This works by calculating the ratio of the highest base intensity to the sum of the 1st and 2nd highest, anything less than 0.6 is filtered out. If a cluster was formed from a single-molecule then the chastity score will be 1; if it were formed from two molecules the signal would be equal and the chastity score will be 0.5.</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e22e6c0c8b_0_1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e22e6c0c8b_0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e22e6c0c8b_0_3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e22e6c0c8b_0_3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48AE238E-92F7-8850-2508-C95742F33373}"/>
            </a:ext>
          </a:extLst>
        </p:cNvPr>
        <p:cNvGrpSpPr/>
        <p:nvPr/>
      </p:nvGrpSpPr>
      <p:grpSpPr>
        <a:xfrm>
          <a:off x="0" y="0"/>
          <a:ext cx="0" cy="0"/>
          <a:chOff x="0" y="0"/>
          <a:chExt cx="0" cy="0"/>
        </a:xfrm>
      </p:grpSpPr>
      <p:sp>
        <p:nvSpPr>
          <p:cNvPr id="98" name="Google Shape;98;ge22e6c0c8b_0_199:notes">
            <a:extLst>
              <a:ext uri="{FF2B5EF4-FFF2-40B4-BE49-F238E27FC236}">
                <a16:creationId xmlns:a16="http://schemas.microsoft.com/office/drawing/2014/main" id="{7B92B29D-17D0-F331-38B2-B76F41B76D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e22e6c0c8b_0_199:notes">
            <a:extLst>
              <a:ext uri="{FF2B5EF4-FFF2-40B4-BE49-F238E27FC236}">
                <a16:creationId xmlns:a16="http://schemas.microsoft.com/office/drawing/2014/main" id="{DFF2E0A1-9252-C086-B7F4-1A8BF3C653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69451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e22e6c0c8b_0_4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e22e6c0c8b_0_4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e22e6c0c8b_0_2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e22e6c0c8b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e22e6c0c8b_0_2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e22e6c0c8b_0_2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e22e6c0c8b_0_2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e22e6c0c8b_0_2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e22e6c0c8b_0_2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e22e6c0c8b_0_2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e22e6c0c8b_0_2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e22e6c0c8b_0_2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e22e6c0c8b_0_2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e22e6c0c8b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first ~30 bases are the first portion of the </a:t>
            </a:r>
            <a:r>
              <a:rPr lang="en" dirty="0" err="1"/>
              <a:t>illumina</a:t>
            </a:r>
            <a:r>
              <a:rPr lang="en" dirty="0"/>
              <a:t> adapter, followed by heterogeneity from the barcode sequences (8-12 bases), followed by the last ~30 bases of the adapter. Then a large spike in the ‘dark’/no signal base ‘G’. The graph on the right is closer to the expected % base plots for samples without much adapter dimer.</a:t>
            </a:r>
            <a:endParaRPr dirty="0"/>
          </a:p>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e22e6c0c8b_0_2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e22e6c0c8b_0_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e22e6c0c8b_0_3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e22e6c0c8b_0_3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e22e6c0c8b_0_2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e22e6c0c8b_0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 dirty="0">
                <a:solidFill>
                  <a:schemeClr val="dk1"/>
                </a:solidFill>
              </a:rPr>
              <a:t>In case of high % undetermined reads and/or missing samples, refer to the file ‘DemuxSummaryF1L1.txt’, found in the demultiplexing folder to identify possible incorrect sample barcodes.</a:t>
            </a:r>
            <a:endParaRPr sz="6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e22e6c0c8b_0_5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e22e6c0c8b_0_5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From: </a:t>
            </a:r>
            <a:r>
              <a:rPr lang="en" dirty="0" err="1"/>
              <a:t>Illumina_sequencing_introduction.pdf</a:t>
            </a: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e22e6c0c8b_0_3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e22e6c0c8b_0_3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 sz="1300" dirty="0">
                <a:solidFill>
                  <a:schemeClr val="dk1"/>
                </a:solidFill>
              </a:rPr>
              <a:t>In case of high % undetermined reads and/or missing samples, refer to the file ‘DemuxSummaryF1L1.txt’, found in the demultiplexing folder to identify possible incorrect sample barcodes</a:t>
            </a: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e22e6c0c8b_0_3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e22e6c0c8b_0_3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 sz="1600" dirty="0">
                <a:solidFill>
                  <a:schemeClr val="dk1"/>
                </a:solidFill>
              </a:rPr>
              <a:t>In case of high % undetermined reads and/or missing samples, refer to the file ‘DemuxSummaryF1L1.txt’, found in the demultiplexing folder to identify possible incorrect sample barcodes.</a:t>
            </a: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118bc65a40f_0_1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118bc65a40f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118bc65a40f_0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118bc65a40f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118bc65a40f_0_1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118bc65a40f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118bc65a40f_0_1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118bc65a40f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118bc65a40f_0_1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118bc65a40f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118bc65a40f_0_1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118bc65a40f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118bc65a40f_0_1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118bc65a40f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118bc65a40f_0_1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118bc65a40f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118bc65a40f_0_1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118bc65a40f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118bc65a40f_0_1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118bc65a40f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118bc65a40f_0_1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118bc65a40f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118bc65a40f_0_1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118bc65a40f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1d1aee37a3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31d1aee37a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31d1aee37a3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31d1aee37a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1d1aee37a3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31d1aee37a3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1d1aee37a3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1d1aee37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31d1aee37a3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31d1aee37a3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31d1aee37a3_0_1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31d1aee37a3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31d1aee37a3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31d1aee37a3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1d1aee37a3_0_1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1d1aee37a3_0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31d1aee37a3_0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31d1aee37a3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31d1aee37a3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3" name="Google Shape;423;g31d1aee37a3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31d1aee37a3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31d1aee37a3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31d1aee37a3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g31d1aee37a3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Remember that the # of PF reads shown in this view is the number of unpaired reads. Divide this number by 2 and it will be identical to the number of paired-end reads (or clusters) shown on the Summary tab.</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hyperlink" Target="https://www.illumina.com/content/dam/illumina-marketing/documents/products/other/miseq-overclustering-primer-770-2014-038.pdf" TargetMode="Externa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support.illumina.com/bulletins/2016/08/troubleshooting-demultiplexing-issues-using-basespace-sequence-hub-and-bclfastq-v.html" TargetMode="External"/><Relationship Id="rId7" Type="http://schemas.openxmlformats.org/officeDocument/2006/relationships/hyperlink" Target="https://support.illumina.com/bulletins/2017/06/how-to-requeue-analysis-of-a-run-with-miseq-reporter.html" TargetMode="External"/><Relationship Id="rId2" Type="http://schemas.openxmlformats.org/officeDocument/2006/relationships/notesSlide" Target="../notesSlides/notesSlide23.xml"/><Relationship Id="rId1" Type="http://schemas.openxmlformats.org/officeDocument/2006/relationships/slideLayout" Target="../slideLayouts/slideLayout11.xml"/><Relationship Id="rId6" Type="http://schemas.openxmlformats.org/officeDocument/2006/relationships/hyperlink" Target="https://support.illumina.com/bulletins/2016/08/troubleshooting-demultiplexing-issues-using-miseq-reporter.html" TargetMode="External"/><Relationship Id="rId5" Type="http://schemas.openxmlformats.org/officeDocument/2006/relationships/hyperlink" Target="https://support.illumina.com/bulletins/2016/08/troubleshooting-demultiplexing-issues-using-local-run-manager.html" TargetMode="External"/><Relationship Id="rId4" Type="http://schemas.openxmlformats.org/officeDocument/2006/relationships/hyperlink" Target="https://support.illumina.com/bulletins/2018/03/how-to-edit-a-sample-sheet-and-requeue-a-miseq--hiseq--or-novase.html"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11.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hyperlink" Target="https://support.illumina.com/sequencing/sequencing_software/sequencing_analysis_viewer_sav.html" TargetMode="External"/><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hyperlink" Target="https://support-docs.illumina.com/SW/SAV/Content/SW/FrontPages/SAV.htm"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hyperlink" Target="https://knowledge.illumina.com/instrumentation/general/instrumentation-general-reference_material-list/000001511" TargetMode="External"/><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550825"/>
            <a:ext cx="8520600" cy="2052600"/>
          </a:xfrm>
          <a:prstGeom prst="rect">
            <a:avLst/>
          </a:prstGeom>
        </p:spPr>
        <p:txBody>
          <a:bodyPr spcFirstLastPara="1" wrap="square" lIns="91425" tIns="91425" rIns="91425" bIns="91425" anchor="b" anchorCtr="0">
            <a:normAutofit/>
          </a:bodyPr>
          <a:lstStyle/>
          <a:p>
            <a:pPr marL="0" lvl="0" indent="0" algn="ctr" rtl="0">
              <a:lnSpc>
                <a:spcPct val="100000"/>
              </a:lnSpc>
              <a:spcBef>
                <a:spcPts val="0"/>
              </a:spcBef>
              <a:spcAft>
                <a:spcPts val="0"/>
              </a:spcAft>
              <a:buNone/>
            </a:pPr>
            <a:r>
              <a:rPr lang="en" sz="4800" b="1">
                <a:solidFill>
                  <a:schemeClr val="dk2"/>
                </a:solidFill>
              </a:rPr>
              <a:t>Sequencing run QC</a:t>
            </a:r>
            <a:endParaRPr sz="1500" b="1">
              <a:solidFill>
                <a:schemeClr val="dk2"/>
              </a:solidFill>
            </a:endParaRPr>
          </a:p>
        </p:txBody>
      </p:sp>
      <p:pic>
        <p:nvPicPr>
          <p:cNvPr id="55" name="Google Shape;55;p13"/>
          <p:cNvPicPr preferRelativeResize="0"/>
          <p:nvPr/>
        </p:nvPicPr>
        <p:blipFill rotWithShape="1">
          <a:blip r:embed="rId3">
            <a:alphaModFix/>
          </a:blip>
          <a:srcRect l="26521" t="11104" r="1722" b="4833"/>
          <a:stretch/>
        </p:blipFill>
        <p:spPr>
          <a:xfrm>
            <a:off x="4006175" y="1825250"/>
            <a:ext cx="3618324" cy="2194175"/>
          </a:xfrm>
          <a:prstGeom prst="rect">
            <a:avLst/>
          </a:prstGeom>
          <a:noFill/>
          <a:ln>
            <a:noFill/>
          </a:ln>
        </p:spPr>
      </p:pic>
      <p:pic>
        <p:nvPicPr>
          <p:cNvPr id="56" name="Google Shape;56;p13"/>
          <p:cNvPicPr preferRelativeResize="0"/>
          <p:nvPr/>
        </p:nvPicPr>
        <p:blipFill rotWithShape="1">
          <a:blip r:embed="rId4">
            <a:alphaModFix/>
          </a:blip>
          <a:srcRect l="1885" t="8586" r="2866" b="4236"/>
          <a:stretch/>
        </p:blipFill>
        <p:spPr>
          <a:xfrm>
            <a:off x="1419375" y="1806575"/>
            <a:ext cx="2234825" cy="2212850"/>
          </a:xfrm>
          <a:prstGeom prst="rect">
            <a:avLst/>
          </a:prstGeom>
          <a:noFill/>
          <a:ln>
            <a:noFill/>
          </a:ln>
        </p:spPr>
      </p:pic>
      <p:sp>
        <p:nvSpPr>
          <p:cNvPr id="2" name="TextBox 1">
            <a:extLst>
              <a:ext uri="{FF2B5EF4-FFF2-40B4-BE49-F238E27FC236}">
                <a16:creationId xmlns:a16="http://schemas.microsoft.com/office/drawing/2014/main" id="{EA9215B7-334F-2CE5-5E1F-9C66ED9DF0EB}"/>
              </a:ext>
            </a:extLst>
          </p:cNvPr>
          <p:cNvSpPr txBox="1"/>
          <p:nvPr/>
        </p:nvSpPr>
        <p:spPr>
          <a:xfrm>
            <a:off x="6735713" y="4897279"/>
            <a:ext cx="2530208" cy="246221"/>
          </a:xfrm>
          <a:prstGeom prst="rect">
            <a:avLst/>
          </a:prstGeom>
          <a:noFill/>
        </p:spPr>
        <p:txBody>
          <a:bodyPr wrap="square" rtlCol="0">
            <a:spAutoFit/>
          </a:bodyPr>
          <a:lstStyle/>
          <a:p>
            <a:r>
              <a:rPr lang="en-US" sz="1000" dirty="0">
                <a:solidFill>
                  <a:schemeClr val="tx1">
                    <a:lumMod val="50000"/>
                    <a:lumOff val="50000"/>
                  </a:schemeClr>
                </a:solidFill>
                <a:latin typeface="Arial" panose="020B0604020202020204" pitchFamily="34" charset="0"/>
                <a:cs typeface="Arial" panose="020B0604020202020204" pitchFamily="34" charset="0"/>
              </a:rPr>
              <a:t>Rapid Response – Revised 07/30/2026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115150" y="93725"/>
            <a:ext cx="53331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Sequencing Run QC</a:t>
            </a:r>
            <a:endParaRPr sz="2400" b="1">
              <a:latin typeface="Helvetica Neue"/>
              <a:ea typeface="Helvetica Neue"/>
              <a:cs typeface="Helvetica Neue"/>
              <a:sym typeface="Helvetica Neue"/>
            </a:endParaRPr>
          </a:p>
        </p:txBody>
      </p:sp>
      <p:sp>
        <p:nvSpPr>
          <p:cNvPr id="64" name="Google Shape;64;p14"/>
          <p:cNvSpPr txBox="1"/>
          <p:nvPr/>
        </p:nvSpPr>
        <p:spPr>
          <a:xfrm>
            <a:off x="234975" y="4281900"/>
            <a:ext cx="6957600" cy="7233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a:t>Did you get the expected amount and quality of sequencing data?</a:t>
            </a:r>
            <a:endParaRPr/>
          </a:p>
          <a:p>
            <a:pPr marL="0" lvl="0" indent="0" algn="l" rtl="0">
              <a:lnSpc>
                <a:spcPct val="150000"/>
              </a:lnSpc>
              <a:spcBef>
                <a:spcPts val="0"/>
              </a:spcBef>
              <a:spcAft>
                <a:spcPts val="0"/>
              </a:spcAft>
              <a:buNone/>
            </a:pPr>
            <a:r>
              <a:rPr lang="en"/>
              <a:t>If not, why?</a:t>
            </a:r>
            <a:endParaRPr/>
          </a:p>
        </p:txBody>
      </p:sp>
      <p:pic>
        <p:nvPicPr>
          <p:cNvPr id="65" name="Google Shape;65;p14"/>
          <p:cNvPicPr preferRelativeResize="0"/>
          <p:nvPr/>
        </p:nvPicPr>
        <p:blipFill rotWithShape="1">
          <a:blip r:embed="rId3">
            <a:alphaModFix/>
          </a:blip>
          <a:srcRect t="25361"/>
          <a:stretch/>
        </p:blipFill>
        <p:spPr>
          <a:xfrm>
            <a:off x="0" y="831087"/>
            <a:ext cx="9143999" cy="3328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5"/>
          <p:cNvSpPr txBox="1">
            <a:spLocks noGrp="1"/>
          </p:cNvSpPr>
          <p:nvPr>
            <p:ph type="body" idx="1"/>
          </p:nvPr>
        </p:nvSpPr>
        <p:spPr>
          <a:xfrm>
            <a:off x="311700" y="695275"/>
            <a:ext cx="7642200" cy="48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rgbClr val="000000"/>
                </a:solidFill>
              </a:rPr>
              <a:t>After logging into BaseSpace, Click on ‘Runs’ to view a list of all your runs.</a:t>
            </a:r>
            <a:endParaRPr sz="1600">
              <a:solidFill>
                <a:srgbClr val="000000"/>
              </a:solidFill>
            </a:endParaRPr>
          </a:p>
          <a:p>
            <a:pPr marL="0" lvl="0" indent="0" algn="l" rtl="0">
              <a:spcBef>
                <a:spcPts val="0"/>
              </a:spcBef>
              <a:spcAft>
                <a:spcPts val="0"/>
              </a:spcAft>
              <a:buNone/>
            </a:pPr>
            <a:r>
              <a:rPr lang="en" sz="1600">
                <a:solidFill>
                  <a:srgbClr val="000000"/>
                </a:solidFill>
              </a:rPr>
              <a:t>Click on a Run Name to see it’s metrics.</a:t>
            </a:r>
            <a:endParaRPr sz="1600">
              <a:solidFill>
                <a:srgbClr val="000000"/>
              </a:solidFill>
            </a:endParaRPr>
          </a:p>
          <a:p>
            <a:pPr marL="0" lvl="0" indent="0" algn="l" rtl="0">
              <a:spcBef>
                <a:spcPts val="0"/>
              </a:spcBef>
              <a:spcAft>
                <a:spcPts val="0"/>
              </a:spcAft>
              <a:buNone/>
            </a:pPr>
            <a:endParaRPr sz="1600">
              <a:solidFill>
                <a:srgbClr val="000000"/>
              </a:solidFill>
            </a:endParaRPr>
          </a:p>
        </p:txBody>
      </p:sp>
      <p:pic>
        <p:nvPicPr>
          <p:cNvPr id="71" name="Google Shape;71;p15"/>
          <p:cNvPicPr preferRelativeResize="0"/>
          <p:nvPr/>
        </p:nvPicPr>
        <p:blipFill>
          <a:blip r:embed="rId3">
            <a:alphaModFix/>
          </a:blip>
          <a:stretch>
            <a:fillRect/>
          </a:stretch>
        </p:blipFill>
        <p:spPr>
          <a:xfrm>
            <a:off x="152400" y="1486975"/>
            <a:ext cx="8801100" cy="3362325"/>
          </a:xfrm>
          <a:prstGeom prst="rect">
            <a:avLst/>
          </a:prstGeom>
          <a:noFill/>
          <a:ln>
            <a:noFill/>
          </a:ln>
        </p:spPr>
      </p:pic>
      <p:sp>
        <p:nvSpPr>
          <p:cNvPr id="72" name="Google Shape;72;p15"/>
          <p:cNvSpPr/>
          <p:nvPr/>
        </p:nvSpPr>
        <p:spPr>
          <a:xfrm>
            <a:off x="2754525" y="1846598"/>
            <a:ext cx="430800" cy="365400"/>
          </a:xfrm>
          <a:prstGeom prst="roundRect">
            <a:avLst>
              <a:gd name="adj" fmla="val 16667"/>
            </a:avLst>
          </a:prstGeom>
          <a:noFill/>
          <a:ln w="28575" cap="flat" cmpd="sng">
            <a:solidFill>
              <a:srgbClr val="C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0000"/>
              </a:solidFill>
            </a:endParaRPr>
          </a:p>
        </p:txBody>
      </p:sp>
      <p:sp>
        <p:nvSpPr>
          <p:cNvPr id="73" name="Google Shape;73;p15"/>
          <p:cNvSpPr txBox="1">
            <a:spLocks noGrp="1"/>
          </p:cNvSpPr>
          <p:nvPr>
            <p:ph type="title"/>
          </p:nvPr>
        </p:nvSpPr>
        <p:spPr>
          <a:xfrm>
            <a:off x="115150" y="93725"/>
            <a:ext cx="75741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Sequencing Run QC using BaseSpace</a:t>
            </a:r>
            <a:endParaRPr sz="2400" b="1">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grpSp>
        <p:nvGrpSpPr>
          <p:cNvPr id="78" name="Google Shape;78;p16"/>
          <p:cNvGrpSpPr/>
          <p:nvPr/>
        </p:nvGrpSpPr>
        <p:grpSpPr>
          <a:xfrm>
            <a:off x="159288" y="969563"/>
            <a:ext cx="8905875" cy="4181475"/>
            <a:chOff x="159288" y="969563"/>
            <a:chExt cx="8905875" cy="4181475"/>
          </a:xfrm>
        </p:grpSpPr>
        <p:pic>
          <p:nvPicPr>
            <p:cNvPr id="79" name="Google Shape;79;p16"/>
            <p:cNvPicPr preferRelativeResize="0"/>
            <p:nvPr/>
          </p:nvPicPr>
          <p:blipFill>
            <a:blip r:embed="rId3">
              <a:alphaModFix/>
            </a:blip>
            <a:stretch>
              <a:fillRect/>
            </a:stretch>
          </p:blipFill>
          <p:spPr>
            <a:xfrm>
              <a:off x="159288" y="969563"/>
              <a:ext cx="8905875" cy="4181475"/>
            </a:xfrm>
            <a:prstGeom prst="rect">
              <a:avLst/>
            </a:prstGeom>
            <a:noFill/>
            <a:ln>
              <a:noFill/>
            </a:ln>
          </p:spPr>
        </p:pic>
        <p:sp>
          <p:nvSpPr>
            <p:cNvPr id="80" name="Google Shape;80;p16"/>
            <p:cNvSpPr/>
            <p:nvPr/>
          </p:nvSpPr>
          <p:spPr>
            <a:xfrm>
              <a:off x="6306950" y="3930525"/>
              <a:ext cx="2094300" cy="1629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 name="Google Shape;81;p16"/>
          <p:cNvSpPr txBox="1">
            <a:spLocks noGrp="1"/>
          </p:cNvSpPr>
          <p:nvPr>
            <p:ph type="title"/>
          </p:nvPr>
        </p:nvSpPr>
        <p:spPr>
          <a:xfrm>
            <a:off x="115150" y="93725"/>
            <a:ext cx="75741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Sequencing Run QC using BaseSpace</a:t>
            </a:r>
            <a:endParaRPr sz="2400" b="1">
              <a:latin typeface="Helvetica Neue"/>
              <a:ea typeface="Helvetica Neue"/>
              <a:cs typeface="Helvetica Neue"/>
              <a:sym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86" name="Google Shape;86;p17"/>
          <p:cNvPicPr preferRelativeResize="0"/>
          <p:nvPr/>
        </p:nvPicPr>
        <p:blipFill rotWithShape="1">
          <a:blip r:embed="rId3">
            <a:alphaModFix/>
          </a:blip>
          <a:srcRect t="34880" r="38759" b="24427"/>
          <a:stretch/>
        </p:blipFill>
        <p:spPr>
          <a:xfrm>
            <a:off x="3902613" y="242375"/>
            <a:ext cx="4716313" cy="1471375"/>
          </a:xfrm>
          <a:prstGeom prst="rect">
            <a:avLst/>
          </a:prstGeom>
          <a:noFill/>
          <a:ln>
            <a:noFill/>
          </a:ln>
        </p:spPr>
      </p:pic>
      <p:sp>
        <p:nvSpPr>
          <p:cNvPr id="87" name="Google Shape;87;p17"/>
          <p:cNvSpPr txBox="1">
            <a:spLocks noGrp="1"/>
          </p:cNvSpPr>
          <p:nvPr>
            <p:ph type="body" idx="1"/>
          </p:nvPr>
        </p:nvSpPr>
        <p:spPr>
          <a:xfrm>
            <a:off x="61500" y="1803300"/>
            <a:ext cx="8770800" cy="3416400"/>
          </a:xfrm>
          <a:prstGeom prst="rect">
            <a:avLst/>
          </a:prstGeom>
        </p:spPr>
        <p:txBody>
          <a:bodyPr spcFirstLastPara="1" wrap="square" lIns="91425" tIns="91425" rIns="91425" bIns="91425" anchor="t" anchorCtr="0">
            <a:normAutofit/>
          </a:bodyPr>
          <a:lstStyle/>
          <a:p>
            <a:pPr marL="457200" lvl="0" indent="-317500" algn="l" rtl="0">
              <a:lnSpc>
                <a:spcPct val="130000"/>
              </a:lnSpc>
              <a:spcBef>
                <a:spcPts val="0"/>
              </a:spcBef>
              <a:spcAft>
                <a:spcPts val="0"/>
              </a:spcAft>
              <a:buClr>
                <a:schemeClr val="dk1"/>
              </a:buClr>
              <a:buSzPts val="1400"/>
              <a:buChar char="●"/>
            </a:pPr>
            <a:r>
              <a:rPr lang="en" sz="1400" b="1">
                <a:solidFill>
                  <a:schemeClr val="dk1"/>
                </a:solidFill>
              </a:rPr>
              <a:t>AVG%Q30</a:t>
            </a:r>
            <a:r>
              <a:rPr lang="en" sz="1400">
                <a:solidFill>
                  <a:schemeClr val="dk1"/>
                </a:solidFill>
              </a:rPr>
              <a:t> = percentage of reads that have bases with an average quality score &gt;Q30</a:t>
            </a:r>
            <a:endParaRPr sz="1400">
              <a:solidFill>
                <a:schemeClr val="dk1"/>
              </a:solidFill>
            </a:endParaRPr>
          </a:p>
          <a:p>
            <a:pPr marL="914400" lvl="1" indent="-317500" algn="l" rtl="0">
              <a:lnSpc>
                <a:spcPct val="130000"/>
              </a:lnSpc>
              <a:spcBef>
                <a:spcPts val="0"/>
              </a:spcBef>
              <a:spcAft>
                <a:spcPts val="0"/>
              </a:spcAft>
              <a:buClr>
                <a:schemeClr val="dk1"/>
              </a:buClr>
              <a:buSzPts val="1400"/>
              <a:buChar char="○"/>
            </a:pPr>
            <a:r>
              <a:rPr lang="en">
                <a:solidFill>
                  <a:schemeClr val="dk1"/>
                </a:solidFill>
              </a:rPr>
              <a:t>Ideally AVG%Q30 &gt;90%, but &gt;70% is good too</a:t>
            </a:r>
            <a:endParaRPr>
              <a:solidFill>
                <a:schemeClr val="dk1"/>
              </a:solidFill>
            </a:endParaRPr>
          </a:p>
          <a:p>
            <a:pPr marL="914400" lvl="1" indent="-317500" algn="l" rtl="0">
              <a:lnSpc>
                <a:spcPct val="130000"/>
              </a:lnSpc>
              <a:spcBef>
                <a:spcPts val="0"/>
              </a:spcBef>
              <a:spcAft>
                <a:spcPts val="0"/>
              </a:spcAft>
              <a:buClr>
                <a:schemeClr val="dk1"/>
              </a:buClr>
              <a:buSzPts val="1400"/>
              <a:buChar char="○"/>
            </a:pPr>
            <a:r>
              <a:rPr lang="en">
                <a:solidFill>
                  <a:schemeClr val="dk1"/>
                </a:solidFill>
              </a:rPr>
              <a:t>If &lt;70%: evaluate why the quality is lower than expected. Possible reasons:</a:t>
            </a:r>
            <a:endParaRPr>
              <a:solidFill>
                <a:schemeClr val="dk1"/>
              </a:solidFill>
            </a:endParaRPr>
          </a:p>
          <a:p>
            <a:pPr marL="1371600" lvl="2" indent="-317500" algn="l" rtl="0">
              <a:lnSpc>
                <a:spcPct val="130000"/>
              </a:lnSpc>
              <a:spcBef>
                <a:spcPts val="0"/>
              </a:spcBef>
              <a:spcAft>
                <a:spcPts val="0"/>
              </a:spcAft>
              <a:buClr>
                <a:schemeClr val="dk1"/>
              </a:buClr>
              <a:buSzPts val="1400"/>
              <a:buChar char="■"/>
            </a:pPr>
            <a:r>
              <a:rPr lang="en">
                <a:solidFill>
                  <a:schemeClr val="dk1"/>
                </a:solidFill>
              </a:rPr>
              <a:t>Overclustering: too much material was loaded on the flow cell</a:t>
            </a:r>
            <a:endParaRPr>
              <a:solidFill>
                <a:schemeClr val="dk1"/>
              </a:solidFill>
            </a:endParaRPr>
          </a:p>
          <a:p>
            <a:pPr marL="1371600" lvl="2" indent="-317500" algn="l" rtl="0">
              <a:lnSpc>
                <a:spcPct val="130000"/>
              </a:lnSpc>
              <a:spcBef>
                <a:spcPts val="0"/>
              </a:spcBef>
              <a:spcAft>
                <a:spcPts val="0"/>
              </a:spcAft>
              <a:buClr>
                <a:schemeClr val="dk1"/>
              </a:buClr>
              <a:buSzPts val="1400"/>
              <a:buChar char="■"/>
            </a:pPr>
            <a:r>
              <a:rPr lang="en">
                <a:solidFill>
                  <a:schemeClr val="dk1"/>
                </a:solidFill>
              </a:rPr>
              <a:t>Adapter dimers: these will yield reads with only ~70bp of good signal, and the rest low quality ‘nothingness’.</a:t>
            </a:r>
            <a:endParaRPr>
              <a:solidFill>
                <a:schemeClr val="dk1"/>
              </a:solidFill>
            </a:endParaRPr>
          </a:p>
          <a:p>
            <a:pPr marL="1371600" lvl="0" indent="0" algn="l" rtl="0">
              <a:lnSpc>
                <a:spcPct val="130000"/>
              </a:lnSpc>
              <a:spcBef>
                <a:spcPts val="0"/>
              </a:spcBef>
              <a:spcAft>
                <a:spcPts val="0"/>
              </a:spcAft>
              <a:buNone/>
            </a:pPr>
            <a:endParaRPr sz="800">
              <a:solidFill>
                <a:schemeClr val="dk1"/>
              </a:solidFill>
            </a:endParaRPr>
          </a:p>
          <a:p>
            <a:pPr marL="457200" lvl="0" indent="-317500" algn="l" rtl="0">
              <a:lnSpc>
                <a:spcPct val="130000"/>
              </a:lnSpc>
              <a:spcBef>
                <a:spcPts val="0"/>
              </a:spcBef>
              <a:spcAft>
                <a:spcPts val="0"/>
              </a:spcAft>
              <a:buClr>
                <a:schemeClr val="dk1"/>
              </a:buClr>
              <a:buSzPts val="1400"/>
              <a:buChar char="●"/>
            </a:pPr>
            <a:r>
              <a:rPr lang="en" sz="1400" b="1">
                <a:solidFill>
                  <a:schemeClr val="dk1"/>
                </a:solidFill>
              </a:rPr>
              <a:t>%PF</a:t>
            </a:r>
            <a:r>
              <a:rPr lang="en" sz="1400">
                <a:solidFill>
                  <a:schemeClr val="dk1"/>
                </a:solidFill>
              </a:rPr>
              <a:t> = percentage of passed filter reads = reads based on a cluster of a single molecule</a:t>
            </a:r>
            <a:endParaRPr sz="1400">
              <a:solidFill>
                <a:schemeClr val="dk1"/>
              </a:solidFill>
            </a:endParaRPr>
          </a:p>
          <a:p>
            <a:pPr marL="914400" lvl="1" indent="-317500" algn="l" rtl="0">
              <a:lnSpc>
                <a:spcPct val="130000"/>
              </a:lnSpc>
              <a:spcBef>
                <a:spcPts val="0"/>
              </a:spcBef>
              <a:spcAft>
                <a:spcPts val="0"/>
              </a:spcAft>
              <a:buClr>
                <a:schemeClr val="dk1"/>
              </a:buClr>
              <a:buSzPts val="1400"/>
              <a:buChar char="○"/>
            </a:pPr>
            <a:r>
              <a:rPr lang="en">
                <a:solidFill>
                  <a:schemeClr val="dk1"/>
                </a:solidFill>
              </a:rPr>
              <a:t>iSeq: Ideally &gt;70%, but &gt;50% is good too</a:t>
            </a:r>
            <a:endParaRPr>
              <a:solidFill>
                <a:schemeClr val="dk1"/>
              </a:solidFill>
            </a:endParaRPr>
          </a:p>
          <a:p>
            <a:pPr marL="914400" lvl="1" indent="-317500" algn="l" rtl="0">
              <a:lnSpc>
                <a:spcPct val="130000"/>
              </a:lnSpc>
              <a:spcBef>
                <a:spcPts val="0"/>
              </a:spcBef>
              <a:spcAft>
                <a:spcPts val="0"/>
              </a:spcAft>
              <a:buClr>
                <a:schemeClr val="dk1"/>
              </a:buClr>
              <a:buSzPts val="1400"/>
              <a:buChar char="○"/>
            </a:pPr>
            <a:r>
              <a:rPr lang="en">
                <a:solidFill>
                  <a:schemeClr val="dk1"/>
                </a:solidFill>
              </a:rPr>
              <a:t>MiSeq/MiniSeq: Ideally &gt;80%, but &gt;70% is okay too </a:t>
            </a:r>
            <a:endParaRPr>
              <a:solidFill>
                <a:schemeClr val="dk1"/>
              </a:solidFill>
            </a:endParaRPr>
          </a:p>
          <a:p>
            <a:pPr marL="914400" lvl="1" indent="-317500" algn="l" rtl="0">
              <a:lnSpc>
                <a:spcPct val="130000"/>
              </a:lnSpc>
              <a:spcBef>
                <a:spcPts val="0"/>
              </a:spcBef>
              <a:spcAft>
                <a:spcPts val="0"/>
              </a:spcAft>
              <a:buClr>
                <a:schemeClr val="dk1"/>
              </a:buClr>
              <a:buSzPts val="1400"/>
              <a:buChar char="○"/>
            </a:pPr>
            <a:r>
              <a:rPr lang="en">
                <a:solidFill>
                  <a:schemeClr val="dk1"/>
                </a:solidFill>
              </a:rPr>
              <a:t>If &lt;50%/&lt;70%, check for indications of overclustering or underclustering</a:t>
            </a:r>
            <a:endParaRPr>
              <a:solidFill>
                <a:schemeClr val="dk1"/>
              </a:solidFill>
            </a:endParaRPr>
          </a:p>
        </p:txBody>
      </p:sp>
      <p:sp>
        <p:nvSpPr>
          <p:cNvPr id="88" name="Google Shape;88;p17"/>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AVG%Q30 and %PF</a:t>
            </a:r>
            <a:endParaRPr sz="2420"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8"/>
          <p:cNvSpPr txBox="1">
            <a:spLocks noGrp="1"/>
          </p:cNvSpPr>
          <p:nvPr>
            <p:ph type="body" idx="1"/>
          </p:nvPr>
        </p:nvSpPr>
        <p:spPr>
          <a:xfrm>
            <a:off x="311700" y="6190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rgbClr val="000000"/>
                </a:solidFill>
              </a:rPr>
              <a:t>Click on ‘Charts’ to view the QC charts</a:t>
            </a:r>
            <a:endParaRPr sz="1600">
              <a:solidFill>
                <a:srgbClr val="000000"/>
              </a:solidFill>
            </a:endParaRPr>
          </a:p>
          <a:p>
            <a:pPr marL="0" lvl="0" indent="0" algn="l" rtl="0">
              <a:spcBef>
                <a:spcPts val="0"/>
              </a:spcBef>
              <a:spcAft>
                <a:spcPts val="0"/>
              </a:spcAft>
              <a:buNone/>
            </a:pPr>
            <a:endParaRPr sz="1600">
              <a:solidFill>
                <a:srgbClr val="000000"/>
              </a:solidFill>
            </a:endParaRPr>
          </a:p>
        </p:txBody>
      </p:sp>
      <p:pic>
        <p:nvPicPr>
          <p:cNvPr id="94" name="Google Shape;94;p18"/>
          <p:cNvPicPr preferRelativeResize="0"/>
          <p:nvPr/>
        </p:nvPicPr>
        <p:blipFill>
          <a:blip r:embed="rId3">
            <a:alphaModFix/>
          </a:blip>
          <a:stretch>
            <a:fillRect/>
          </a:stretch>
        </p:blipFill>
        <p:spPr>
          <a:xfrm>
            <a:off x="0" y="759552"/>
            <a:ext cx="9143999" cy="4460146"/>
          </a:xfrm>
          <a:prstGeom prst="rect">
            <a:avLst/>
          </a:prstGeom>
          <a:noFill/>
          <a:ln>
            <a:noFill/>
          </a:ln>
        </p:spPr>
      </p:pic>
      <p:sp>
        <p:nvSpPr>
          <p:cNvPr id="95" name="Google Shape;95;p18"/>
          <p:cNvSpPr/>
          <p:nvPr/>
        </p:nvSpPr>
        <p:spPr>
          <a:xfrm>
            <a:off x="1174650" y="1064804"/>
            <a:ext cx="442200" cy="1953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8"/>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QC charts</a:t>
            </a:r>
            <a:endParaRPr sz="2420"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0"/>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Evaluate clustering for MiSeq</a:t>
            </a:r>
            <a:endParaRPr sz="2420" b="1"/>
          </a:p>
        </p:txBody>
      </p:sp>
      <p:sp>
        <p:nvSpPr>
          <p:cNvPr id="113" name="Google Shape;113;p20"/>
          <p:cNvSpPr txBox="1">
            <a:spLocks noGrp="1"/>
          </p:cNvSpPr>
          <p:nvPr>
            <p:ph type="body" idx="1"/>
          </p:nvPr>
        </p:nvSpPr>
        <p:spPr>
          <a:xfrm>
            <a:off x="3969175" y="695275"/>
            <a:ext cx="4995300" cy="42846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400" dirty="0">
                <a:solidFill>
                  <a:schemeClr val="dk1"/>
                </a:solidFill>
              </a:rPr>
              <a:t>Flow Cell Chart: select Density under ‘Chart’</a:t>
            </a:r>
            <a:endParaRPr sz="1400" dirty="0">
              <a:solidFill>
                <a:schemeClr val="dk1"/>
              </a:solidFill>
            </a:endParaRPr>
          </a:p>
          <a:p>
            <a:pPr marL="0" lvl="0" indent="0" algn="l" rtl="0">
              <a:lnSpc>
                <a:spcPct val="95000"/>
              </a:lnSpc>
              <a:spcBef>
                <a:spcPts val="0"/>
              </a:spcBef>
              <a:spcAft>
                <a:spcPts val="0"/>
              </a:spcAft>
              <a:buNone/>
            </a:pPr>
            <a:endParaRPr sz="1400" dirty="0">
              <a:solidFill>
                <a:schemeClr val="dk1"/>
              </a:solidFill>
            </a:endParaRPr>
          </a:p>
          <a:p>
            <a:pPr marL="0" lvl="0" indent="0" algn="l" rtl="0">
              <a:lnSpc>
                <a:spcPct val="95000"/>
              </a:lnSpc>
              <a:spcBef>
                <a:spcPts val="1200"/>
              </a:spcBef>
              <a:spcAft>
                <a:spcPts val="0"/>
              </a:spcAft>
              <a:buSzPts val="1018"/>
              <a:buNone/>
            </a:pPr>
            <a:r>
              <a:rPr lang="en" sz="1400" dirty="0">
                <a:solidFill>
                  <a:schemeClr val="dk1"/>
                </a:solidFill>
              </a:rPr>
              <a:t>Optimal Raw cluster density </a:t>
            </a:r>
            <a:r>
              <a:rPr lang="en" sz="1400" dirty="0" err="1">
                <a:solidFill>
                  <a:schemeClr val="dk1"/>
                </a:solidFill>
              </a:rPr>
              <a:t>MiSeq</a:t>
            </a:r>
            <a:r>
              <a:rPr lang="en" sz="1400" dirty="0">
                <a:solidFill>
                  <a:schemeClr val="dk1"/>
                </a:solidFill>
              </a:rPr>
              <a:t>:</a:t>
            </a:r>
            <a:endParaRPr sz="1400" dirty="0">
              <a:solidFill>
                <a:schemeClr val="dk1"/>
              </a:solidFill>
            </a:endParaRPr>
          </a:p>
          <a:p>
            <a:pPr marL="457200" lvl="0" indent="-317500" algn="l" rtl="0">
              <a:lnSpc>
                <a:spcPct val="95000"/>
              </a:lnSpc>
              <a:spcBef>
                <a:spcPts val="1200"/>
              </a:spcBef>
              <a:spcAft>
                <a:spcPts val="0"/>
              </a:spcAft>
              <a:buClr>
                <a:schemeClr val="dk1"/>
              </a:buClr>
              <a:buSzPts val="1400"/>
              <a:buChar char="●"/>
            </a:pPr>
            <a:r>
              <a:rPr lang="en" sz="1400" dirty="0">
                <a:solidFill>
                  <a:schemeClr val="dk1"/>
                </a:solidFill>
              </a:rPr>
              <a:t>V2 kits: 1000-1200 K/mm</a:t>
            </a:r>
            <a:r>
              <a:rPr lang="en" sz="1400" baseline="30000" dirty="0">
                <a:solidFill>
                  <a:schemeClr val="dk1"/>
                </a:solidFill>
              </a:rPr>
              <a:t>2</a:t>
            </a:r>
            <a:endParaRPr sz="1400" baseline="30000" dirty="0">
              <a:solidFill>
                <a:schemeClr val="dk1"/>
              </a:solidFill>
            </a:endParaRPr>
          </a:p>
          <a:p>
            <a:pPr marL="457200" lvl="0" indent="-317500" algn="l" rtl="0">
              <a:lnSpc>
                <a:spcPct val="95000"/>
              </a:lnSpc>
              <a:spcBef>
                <a:spcPts val="0"/>
              </a:spcBef>
              <a:spcAft>
                <a:spcPts val="0"/>
              </a:spcAft>
              <a:buClr>
                <a:schemeClr val="dk1"/>
              </a:buClr>
              <a:buSzPts val="1400"/>
              <a:buChar char="●"/>
            </a:pPr>
            <a:r>
              <a:rPr lang="en" sz="1400" dirty="0">
                <a:solidFill>
                  <a:schemeClr val="dk1"/>
                </a:solidFill>
              </a:rPr>
              <a:t>V3 kits: 1200-1400 K/mm</a:t>
            </a:r>
            <a:r>
              <a:rPr lang="en" sz="1400" baseline="30000" dirty="0">
                <a:solidFill>
                  <a:schemeClr val="dk1"/>
                </a:solidFill>
              </a:rPr>
              <a:t>2</a:t>
            </a:r>
            <a:endParaRPr sz="1400" baseline="30000" dirty="0">
              <a:solidFill>
                <a:schemeClr val="dk1"/>
              </a:solidFill>
            </a:endParaRPr>
          </a:p>
          <a:p>
            <a:pPr marL="0" lvl="0" indent="0" algn="l" rtl="0">
              <a:lnSpc>
                <a:spcPct val="95000"/>
              </a:lnSpc>
              <a:spcBef>
                <a:spcPts val="1200"/>
              </a:spcBef>
              <a:spcAft>
                <a:spcPts val="0"/>
              </a:spcAft>
              <a:buSzPts val="1018"/>
              <a:buNone/>
            </a:pPr>
            <a:endParaRPr sz="1400" dirty="0">
              <a:solidFill>
                <a:schemeClr val="dk1"/>
              </a:solidFill>
            </a:endParaRPr>
          </a:p>
          <a:p>
            <a:pPr marL="0" lvl="0" indent="0" algn="l" rtl="0">
              <a:lnSpc>
                <a:spcPct val="95000"/>
              </a:lnSpc>
              <a:spcBef>
                <a:spcPts val="1200"/>
              </a:spcBef>
              <a:spcAft>
                <a:spcPts val="0"/>
              </a:spcAft>
              <a:buSzPts val="1018"/>
              <a:buNone/>
            </a:pPr>
            <a:r>
              <a:rPr lang="en" sz="1400" dirty="0">
                <a:solidFill>
                  <a:schemeClr val="dk1"/>
                </a:solidFill>
              </a:rPr>
              <a:t>This V3 example shows a raw cluster density ~1600 K/mm</a:t>
            </a:r>
            <a:r>
              <a:rPr lang="en" sz="1400" baseline="30000" dirty="0">
                <a:solidFill>
                  <a:schemeClr val="dk1"/>
                </a:solidFill>
              </a:rPr>
              <a:t>2</a:t>
            </a:r>
            <a:endParaRPr sz="1400" dirty="0">
              <a:solidFill>
                <a:schemeClr val="dk1"/>
              </a:solidFill>
            </a:endParaRPr>
          </a:p>
          <a:p>
            <a:pPr marL="0" lvl="0" indent="0" algn="l" rtl="0">
              <a:lnSpc>
                <a:spcPct val="95000"/>
              </a:lnSpc>
              <a:spcBef>
                <a:spcPts val="1200"/>
              </a:spcBef>
              <a:spcAft>
                <a:spcPts val="0"/>
              </a:spcAft>
              <a:buSzPts val="1018"/>
              <a:buNone/>
            </a:pPr>
            <a:r>
              <a:rPr lang="en" sz="1400" dirty="0">
                <a:solidFill>
                  <a:schemeClr val="dk1"/>
                </a:solidFill>
              </a:rPr>
              <a:t>-&gt; </a:t>
            </a:r>
            <a:r>
              <a:rPr lang="en" sz="1400" b="1" dirty="0">
                <a:solidFill>
                  <a:srgbClr val="FF0000"/>
                </a:solidFill>
              </a:rPr>
              <a:t>The run was </a:t>
            </a:r>
            <a:r>
              <a:rPr lang="en" sz="1400" b="1" dirty="0" err="1">
                <a:solidFill>
                  <a:srgbClr val="FF0000"/>
                </a:solidFill>
              </a:rPr>
              <a:t>overclustered</a:t>
            </a:r>
            <a:r>
              <a:rPr lang="en" sz="1400" b="1" dirty="0">
                <a:solidFill>
                  <a:srgbClr val="FF0000"/>
                </a:solidFill>
              </a:rPr>
              <a:t>!</a:t>
            </a:r>
            <a:endParaRPr sz="1400" b="1" dirty="0">
              <a:solidFill>
                <a:srgbClr val="FF0000"/>
              </a:solidFill>
            </a:endParaRPr>
          </a:p>
          <a:p>
            <a:pPr marL="0" lvl="0" indent="0" algn="l" rtl="0">
              <a:lnSpc>
                <a:spcPct val="95000"/>
              </a:lnSpc>
              <a:spcBef>
                <a:spcPts val="1200"/>
              </a:spcBef>
              <a:spcAft>
                <a:spcPts val="0"/>
              </a:spcAft>
              <a:buSzPts val="1018"/>
              <a:buNone/>
            </a:pPr>
            <a:r>
              <a:rPr lang="en" sz="1400" dirty="0">
                <a:solidFill>
                  <a:schemeClr val="dk1"/>
                </a:solidFill>
              </a:rPr>
              <a:t>	-&gt; lower %PF reads</a:t>
            </a:r>
            <a:endParaRPr sz="1400" dirty="0">
              <a:solidFill>
                <a:schemeClr val="dk1"/>
              </a:solidFill>
            </a:endParaRPr>
          </a:p>
          <a:p>
            <a:pPr marL="0" lvl="0" indent="0" algn="l" rtl="0">
              <a:lnSpc>
                <a:spcPct val="95000"/>
              </a:lnSpc>
              <a:spcBef>
                <a:spcPts val="1200"/>
              </a:spcBef>
              <a:spcAft>
                <a:spcPts val="0"/>
              </a:spcAft>
              <a:buSzPts val="1018"/>
              <a:buNone/>
            </a:pPr>
            <a:r>
              <a:rPr lang="en" sz="1400" dirty="0">
                <a:solidFill>
                  <a:schemeClr val="dk1"/>
                </a:solidFill>
              </a:rPr>
              <a:t>	-&gt; lower yield of PF reads total</a:t>
            </a:r>
            <a:endParaRPr sz="1400" dirty="0">
              <a:solidFill>
                <a:schemeClr val="dk1"/>
              </a:solidFill>
            </a:endParaRPr>
          </a:p>
          <a:p>
            <a:pPr marL="0" lvl="0" indent="0" algn="l" rtl="0">
              <a:lnSpc>
                <a:spcPct val="95000"/>
              </a:lnSpc>
              <a:spcBef>
                <a:spcPts val="1200"/>
              </a:spcBef>
              <a:spcAft>
                <a:spcPts val="0"/>
              </a:spcAft>
              <a:buSzPts val="1018"/>
              <a:buNone/>
            </a:pPr>
            <a:r>
              <a:rPr lang="en" sz="1400" dirty="0">
                <a:solidFill>
                  <a:schemeClr val="dk1"/>
                </a:solidFill>
              </a:rPr>
              <a:t>Check QC data to see why concentration in </a:t>
            </a:r>
            <a:r>
              <a:rPr lang="en" sz="1400" dirty="0" err="1">
                <a:solidFill>
                  <a:schemeClr val="dk1"/>
                </a:solidFill>
              </a:rPr>
              <a:t>nM</a:t>
            </a:r>
            <a:r>
              <a:rPr lang="en" sz="1400" dirty="0">
                <a:solidFill>
                  <a:schemeClr val="dk1"/>
                </a:solidFill>
              </a:rPr>
              <a:t> of final library was underestimated (length overestimated?)</a:t>
            </a:r>
            <a:endParaRPr sz="1400" dirty="0">
              <a:solidFill>
                <a:schemeClr val="dk1"/>
              </a:solidFill>
            </a:endParaRPr>
          </a:p>
          <a:p>
            <a:pPr marL="0" lvl="0" indent="0" algn="l" rtl="0">
              <a:lnSpc>
                <a:spcPct val="95000"/>
              </a:lnSpc>
              <a:spcBef>
                <a:spcPts val="1200"/>
              </a:spcBef>
              <a:spcAft>
                <a:spcPts val="1200"/>
              </a:spcAft>
              <a:buSzPts val="1018"/>
              <a:buNone/>
            </a:pPr>
            <a:endParaRPr sz="1400" dirty="0">
              <a:solidFill>
                <a:schemeClr val="dk1"/>
              </a:solidFill>
            </a:endParaRPr>
          </a:p>
        </p:txBody>
      </p:sp>
      <p:pic>
        <p:nvPicPr>
          <p:cNvPr id="114" name="Google Shape;114;p20"/>
          <p:cNvPicPr preferRelativeResize="0"/>
          <p:nvPr/>
        </p:nvPicPr>
        <p:blipFill rotWithShape="1">
          <a:blip r:embed="rId3">
            <a:alphaModFix/>
          </a:blip>
          <a:srcRect t="8867"/>
          <a:stretch/>
        </p:blipFill>
        <p:spPr>
          <a:xfrm>
            <a:off x="1337300" y="1145044"/>
            <a:ext cx="2504250" cy="3974899"/>
          </a:xfrm>
          <a:prstGeom prst="rect">
            <a:avLst/>
          </a:prstGeom>
          <a:noFill/>
          <a:ln>
            <a:noFill/>
          </a:ln>
        </p:spPr>
      </p:pic>
      <p:sp>
        <p:nvSpPr>
          <p:cNvPr id="115" name="Google Shape;115;p20"/>
          <p:cNvSpPr/>
          <p:nvPr/>
        </p:nvSpPr>
        <p:spPr>
          <a:xfrm>
            <a:off x="5858524" y="830690"/>
            <a:ext cx="639600" cy="2496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0"/>
          <p:cNvSpPr txBox="1"/>
          <p:nvPr/>
        </p:nvSpPr>
        <p:spPr>
          <a:xfrm>
            <a:off x="2713075" y="575975"/>
            <a:ext cx="9513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t>MiSeq</a:t>
            </a:r>
            <a:endParaRPr sz="1800" b="1"/>
          </a:p>
        </p:txBody>
      </p:sp>
      <p:pic>
        <p:nvPicPr>
          <p:cNvPr id="117" name="Google Shape;117;p20"/>
          <p:cNvPicPr preferRelativeResize="0"/>
          <p:nvPr/>
        </p:nvPicPr>
        <p:blipFill rotWithShape="1">
          <a:blip r:embed="rId4">
            <a:alphaModFix/>
          </a:blip>
          <a:srcRect l="51775" t="19401" r="7906" b="28231"/>
          <a:stretch/>
        </p:blipFill>
        <p:spPr>
          <a:xfrm>
            <a:off x="127200" y="4336700"/>
            <a:ext cx="634800" cy="6431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FDF9908A-1201-FACA-3FDF-1C4CDF45E5D2}"/>
            </a:ext>
          </a:extLst>
        </p:cNvPr>
        <p:cNvGrpSpPr/>
        <p:nvPr/>
      </p:nvGrpSpPr>
      <p:grpSpPr>
        <a:xfrm>
          <a:off x="0" y="0"/>
          <a:ext cx="0" cy="0"/>
          <a:chOff x="0" y="0"/>
          <a:chExt cx="0" cy="0"/>
        </a:xfrm>
      </p:grpSpPr>
      <p:sp>
        <p:nvSpPr>
          <p:cNvPr id="101" name="Google Shape;101;p19">
            <a:extLst>
              <a:ext uri="{FF2B5EF4-FFF2-40B4-BE49-F238E27FC236}">
                <a16:creationId xmlns:a16="http://schemas.microsoft.com/office/drawing/2014/main" id="{042C0783-1098-4DAC-0498-B5B9AD384132}"/>
              </a:ext>
            </a:extLst>
          </p:cNvPr>
          <p:cNvSpPr txBox="1"/>
          <p:nvPr/>
        </p:nvSpPr>
        <p:spPr>
          <a:xfrm>
            <a:off x="3948545" y="972854"/>
            <a:ext cx="4480560" cy="341629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dirty="0">
                <a:solidFill>
                  <a:schemeClr val="dk1"/>
                </a:solidFill>
              </a:rPr>
              <a:t>In </a:t>
            </a:r>
            <a:r>
              <a:rPr lang="en" b="1" dirty="0">
                <a:solidFill>
                  <a:schemeClr val="dk1"/>
                </a:solidFill>
              </a:rPr>
              <a:t>SAV (not </a:t>
            </a:r>
            <a:r>
              <a:rPr lang="en" b="1" dirty="0" err="1">
                <a:solidFill>
                  <a:schemeClr val="dk1"/>
                </a:solidFill>
              </a:rPr>
              <a:t>Basespace</a:t>
            </a:r>
            <a:r>
              <a:rPr lang="en" b="1" dirty="0">
                <a:solidFill>
                  <a:schemeClr val="dk1"/>
                </a:solidFill>
              </a:rPr>
              <a:t>)</a:t>
            </a:r>
            <a:r>
              <a:rPr lang="en" dirty="0">
                <a:solidFill>
                  <a:schemeClr val="dk1"/>
                </a:solidFill>
              </a:rPr>
              <a:t>:</a:t>
            </a:r>
            <a:endParaRPr lang="en-US" sz="900" dirty="0">
              <a:solidFill>
                <a:schemeClr val="dk1"/>
              </a:solidFill>
            </a:endParaRPr>
          </a:p>
          <a:p>
            <a:pPr marL="342900" lvl="0" indent="-342900">
              <a:lnSpc>
                <a:spcPct val="150000"/>
              </a:lnSpc>
              <a:buAutoNum type="arabicPeriod"/>
            </a:pPr>
            <a:r>
              <a:rPr lang="en-US" dirty="0"/>
              <a:t>Load the run metrics data into SAV and then select the </a:t>
            </a:r>
            <a:r>
              <a:rPr lang="en-US" b="1" dirty="0"/>
              <a:t>Images</a:t>
            </a:r>
            <a:r>
              <a:rPr lang="en-US" dirty="0"/>
              <a:t> tab.</a:t>
            </a:r>
          </a:p>
          <a:p>
            <a:pPr marL="342900" lvl="0" indent="-342900">
              <a:lnSpc>
                <a:spcPct val="150000"/>
              </a:lnSpc>
              <a:buAutoNum type="arabicPeriod"/>
            </a:pPr>
            <a:r>
              <a:rPr lang="en-US" dirty="0"/>
              <a:t>In the Images tab, select </a:t>
            </a:r>
            <a:r>
              <a:rPr lang="en-US" b="1" dirty="0"/>
              <a:t>Custom Plots</a:t>
            </a:r>
          </a:p>
          <a:p>
            <a:pPr marL="342900" lvl="0" indent="-342900">
              <a:lnSpc>
                <a:spcPct val="150000"/>
              </a:lnSpc>
              <a:buAutoNum type="arabicPeriod"/>
            </a:pPr>
            <a:r>
              <a:rPr lang="en-US" dirty="0"/>
              <a:t>In the Custom Plots window, ensure that the </a:t>
            </a:r>
            <a:r>
              <a:rPr lang="en-US" b="1" dirty="0"/>
              <a:t>Scatter plot</a:t>
            </a:r>
            <a:r>
              <a:rPr lang="en-US" dirty="0"/>
              <a:t> radio button is selected.</a:t>
            </a:r>
          </a:p>
          <a:p>
            <a:pPr marL="342900" lvl="0" indent="-342900">
              <a:lnSpc>
                <a:spcPct val="150000"/>
              </a:lnSpc>
              <a:buAutoNum type="arabicPeriod"/>
            </a:pPr>
            <a:r>
              <a:rPr lang="en-US" dirty="0"/>
              <a:t>In the X Axis Value dropdown menu, select </a:t>
            </a:r>
            <a:r>
              <a:rPr lang="en-US" b="1" dirty="0"/>
              <a:t>%Occupied</a:t>
            </a:r>
          </a:p>
          <a:p>
            <a:pPr marL="342900" lvl="0" indent="-342900">
              <a:lnSpc>
                <a:spcPct val="150000"/>
              </a:lnSpc>
              <a:buAutoNum type="arabicPeriod"/>
            </a:pPr>
            <a:r>
              <a:rPr lang="en-US" dirty="0"/>
              <a:t>In the Y Axis Value dropdown menu, select </a:t>
            </a:r>
            <a:r>
              <a:rPr lang="en-US" b="1" dirty="0"/>
              <a:t>% Pass Filter</a:t>
            </a:r>
            <a:endParaRPr lang="en-US" dirty="0"/>
          </a:p>
        </p:txBody>
      </p:sp>
      <p:pic>
        <p:nvPicPr>
          <p:cNvPr id="105" name="Google Shape;105;p19">
            <a:extLst>
              <a:ext uri="{FF2B5EF4-FFF2-40B4-BE49-F238E27FC236}">
                <a16:creationId xmlns:a16="http://schemas.microsoft.com/office/drawing/2014/main" id="{4DFFF544-8268-F992-2B19-8885C79F582D}"/>
              </a:ext>
            </a:extLst>
          </p:cNvPr>
          <p:cNvPicPr preferRelativeResize="0"/>
          <p:nvPr/>
        </p:nvPicPr>
        <p:blipFill rotWithShape="1">
          <a:blip r:embed="rId3">
            <a:alphaModFix/>
          </a:blip>
          <a:srcRect l="6978" t="18516" r="52703" b="29116"/>
          <a:stretch/>
        </p:blipFill>
        <p:spPr>
          <a:xfrm>
            <a:off x="76200" y="4424125"/>
            <a:ext cx="634800" cy="643174"/>
          </a:xfrm>
          <a:prstGeom prst="rect">
            <a:avLst/>
          </a:prstGeom>
          <a:noFill/>
          <a:ln>
            <a:noFill/>
          </a:ln>
        </p:spPr>
      </p:pic>
      <p:sp>
        <p:nvSpPr>
          <p:cNvPr id="107" name="Google Shape;107;p19">
            <a:extLst>
              <a:ext uri="{FF2B5EF4-FFF2-40B4-BE49-F238E27FC236}">
                <a16:creationId xmlns:a16="http://schemas.microsoft.com/office/drawing/2014/main" id="{054F816E-87CF-0CBE-95AB-BFF85D24425C}"/>
              </a:ext>
            </a:extLst>
          </p:cNvPr>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fontScale="90000"/>
          </a:bodyPr>
          <a:lstStyle/>
          <a:p>
            <a:pPr lvl="0">
              <a:buSzPts val="990"/>
            </a:pPr>
            <a:r>
              <a:rPr lang="en" sz="2420" b="1" dirty="0"/>
              <a:t>Evaluate clustering for </a:t>
            </a:r>
            <a:r>
              <a:rPr lang="en" sz="2420" b="1" dirty="0" err="1"/>
              <a:t>iSeq</a:t>
            </a:r>
            <a:r>
              <a:rPr lang="en" sz="2420" b="1" dirty="0"/>
              <a:t>/</a:t>
            </a:r>
            <a:r>
              <a:rPr lang="en" sz="2420" b="1" dirty="0" err="1"/>
              <a:t>NextSeq</a:t>
            </a:r>
            <a:br>
              <a:rPr lang="en" sz="2420" b="1" dirty="0"/>
            </a:br>
            <a:r>
              <a:rPr lang="en" sz="2420" i="1" dirty="0"/>
              <a:t>and </a:t>
            </a:r>
            <a:r>
              <a:rPr lang="en" sz="2400" i="1" dirty="0"/>
              <a:t>other patterned flow cells</a:t>
            </a:r>
            <a:endParaRPr sz="2400" b="1" dirty="0"/>
          </a:p>
        </p:txBody>
      </p:sp>
      <p:pic>
        <p:nvPicPr>
          <p:cNvPr id="7" name="Picture 6">
            <a:extLst>
              <a:ext uri="{FF2B5EF4-FFF2-40B4-BE49-F238E27FC236}">
                <a16:creationId xmlns:a16="http://schemas.microsoft.com/office/drawing/2014/main" id="{D8FD4C57-00FA-39A6-B822-68DCDD5BC3E2}"/>
              </a:ext>
            </a:extLst>
          </p:cNvPr>
          <p:cNvPicPr>
            <a:picLocks noChangeAspect="1"/>
          </p:cNvPicPr>
          <p:nvPr/>
        </p:nvPicPr>
        <p:blipFill>
          <a:blip r:embed="rId4"/>
          <a:stretch>
            <a:fillRect/>
          </a:stretch>
        </p:blipFill>
        <p:spPr>
          <a:xfrm>
            <a:off x="242929" y="1019735"/>
            <a:ext cx="3240103" cy="3404390"/>
          </a:xfrm>
          <a:prstGeom prst="rect">
            <a:avLst/>
          </a:prstGeom>
        </p:spPr>
      </p:pic>
      <p:sp>
        <p:nvSpPr>
          <p:cNvPr id="9" name="TextBox 8">
            <a:extLst>
              <a:ext uri="{FF2B5EF4-FFF2-40B4-BE49-F238E27FC236}">
                <a16:creationId xmlns:a16="http://schemas.microsoft.com/office/drawing/2014/main" id="{DC5DA529-2E3A-CC7D-F798-4C476A07BC2C}"/>
              </a:ext>
            </a:extLst>
          </p:cNvPr>
          <p:cNvSpPr txBox="1"/>
          <p:nvPr/>
        </p:nvSpPr>
        <p:spPr>
          <a:xfrm>
            <a:off x="2927557" y="4851855"/>
            <a:ext cx="6264066" cy="215444"/>
          </a:xfrm>
          <a:prstGeom prst="rect">
            <a:avLst/>
          </a:prstGeom>
          <a:noFill/>
        </p:spPr>
        <p:txBody>
          <a:bodyPr wrap="square">
            <a:spAutoFit/>
          </a:bodyPr>
          <a:lstStyle/>
          <a:p>
            <a:r>
              <a:rPr lang="en-US" sz="800" dirty="0"/>
              <a:t>Calculating %PF: https://</a:t>
            </a:r>
            <a:r>
              <a:rPr lang="en-US" sz="800" dirty="0" err="1"/>
              <a:t>knowledge.illumina.com</a:t>
            </a:r>
            <a:r>
              <a:rPr lang="en-US" sz="800" dirty="0"/>
              <a:t>/instrumentation/general/instrumentation-general-</a:t>
            </a:r>
            <a:r>
              <a:rPr lang="en-US" sz="800" dirty="0" err="1"/>
              <a:t>reference_material</a:t>
            </a:r>
            <a:r>
              <a:rPr lang="en-US" sz="800" dirty="0"/>
              <a:t>-list/000006309</a:t>
            </a:r>
          </a:p>
        </p:txBody>
      </p:sp>
    </p:spTree>
    <p:extLst>
      <p:ext uri="{BB962C8B-B14F-4D97-AF65-F5344CB8AC3E}">
        <p14:creationId xmlns:p14="http://schemas.microsoft.com/office/powerpoint/2010/main" val="276302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31DCCC-30DF-1CD4-BBF9-F7E51D4DB2F6}"/>
              </a:ext>
            </a:extLst>
          </p:cNvPr>
          <p:cNvPicPr>
            <a:picLocks noChangeAspect="1"/>
          </p:cNvPicPr>
          <p:nvPr/>
        </p:nvPicPr>
        <p:blipFill>
          <a:blip r:embed="rId2"/>
          <a:srcRect r="50103" b="26958"/>
          <a:stretch>
            <a:fillRect/>
          </a:stretch>
        </p:blipFill>
        <p:spPr>
          <a:xfrm>
            <a:off x="302911" y="2360164"/>
            <a:ext cx="2240466" cy="2507217"/>
          </a:xfrm>
          <a:prstGeom prst="rect">
            <a:avLst/>
          </a:prstGeom>
        </p:spPr>
      </p:pic>
      <p:sp>
        <p:nvSpPr>
          <p:cNvPr id="6" name="TextBox 5">
            <a:extLst>
              <a:ext uri="{FF2B5EF4-FFF2-40B4-BE49-F238E27FC236}">
                <a16:creationId xmlns:a16="http://schemas.microsoft.com/office/drawing/2014/main" id="{0335BF53-2D3D-22F7-88B6-D0AC3A184829}"/>
              </a:ext>
            </a:extLst>
          </p:cNvPr>
          <p:cNvSpPr txBox="1"/>
          <p:nvPr/>
        </p:nvSpPr>
        <p:spPr>
          <a:xfrm>
            <a:off x="448887" y="1398039"/>
            <a:ext cx="4572000" cy="954107"/>
          </a:xfrm>
          <a:prstGeom prst="rect">
            <a:avLst/>
          </a:prstGeom>
          <a:noFill/>
        </p:spPr>
        <p:txBody>
          <a:bodyPr wrap="square">
            <a:spAutoFit/>
          </a:bodyPr>
          <a:lstStyle/>
          <a:p>
            <a:r>
              <a:rPr lang="en-US" b="0" i="0" dirty="0">
                <a:solidFill>
                  <a:srgbClr val="1C1D1E"/>
                </a:solidFill>
                <a:effectLst/>
                <a:latin typeface="+mn-lt"/>
              </a:rPr>
              <a:t>All </a:t>
            </a:r>
            <a:r>
              <a:rPr lang="en-US" b="0" i="0" dirty="0" err="1">
                <a:solidFill>
                  <a:srgbClr val="1C1D1E"/>
                </a:solidFill>
                <a:effectLst/>
                <a:latin typeface="+mn-lt"/>
              </a:rPr>
              <a:t>nanowells</a:t>
            </a:r>
            <a:r>
              <a:rPr lang="en-US" b="0" i="0" dirty="0">
                <a:solidFill>
                  <a:srgbClr val="1C1D1E"/>
                </a:solidFill>
                <a:effectLst/>
                <a:latin typeface="+mn-lt"/>
              </a:rPr>
              <a:t>, </a:t>
            </a:r>
            <a:r>
              <a:rPr lang="en-US" b="1" i="0" dirty="0">
                <a:solidFill>
                  <a:srgbClr val="1C1D1E"/>
                </a:solidFill>
                <a:effectLst/>
                <a:latin typeface="+mn-lt"/>
              </a:rPr>
              <a:t>including empty wells </a:t>
            </a:r>
            <a:r>
              <a:rPr lang="en-US" b="0" i="0" dirty="0">
                <a:solidFill>
                  <a:srgbClr val="1C1D1E"/>
                </a:solidFill>
                <a:effectLst/>
                <a:latin typeface="+mn-lt"/>
              </a:rPr>
              <a:t>or clusters that may be dim, low quality, or polyclonal are included in the raw cluster count (denominator), which leads to lower %PF values.</a:t>
            </a:r>
            <a:endParaRPr lang="en-US" dirty="0">
              <a:latin typeface="+mn-lt"/>
            </a:endParaRPr>
          </a:p>
        </p:txBody>
      </p:sp>
      <p:sp>
        <p:nvSpPr>
          <p:cNvPr id="7" name="Google Shape;126;p21">
            <a:extLst>
              <a:ext uri="{FF2B5EF4-FFF2-40B4-BE49-F238E27FC236}">
                <a16:creationId xmlns:a16="http://schemas.microsoft.com/office/drawing/2014/main" id="{AE83E8FB-EC16-13DC-E36A-5D10010190EF}"/>
              </a:ext>
            </a:extLst>
          </p:cNvPr>
          <p:cNvSpPr txBox="1">
            <a:spLocks noGrp="1"/>
          </p:cNvSpPr>
          <p:nvPr>
            <p:ph type="title"/>
          </p:nvPr>
        </p:nvSpPr>
        <p:spPr>
          <a:xfrm>
            <a:off x="157625" y="160650"/>
            <a:ext cx="9061500" cy="97819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400" b="1" dirty="0"/>
              <a:t>How is % PF calculated?</a:t>
            </a:r>
            <a:br>
              <a:rPr lang="en" sz="2400" b="1" dirty="0"/>
            </a:br>
            <a:r>
              <a:rPr lang="en" sz="2400" i="1" dirty="0"/>
              <a:t>F</a:t>
            </a:r>
            <a:r>
              <a:rPr lang="en-US" sz="2400" i="1" dirty="0"/>
              <a:t>o</a:t>
            </a:r>
            <a:r>
              <a:rPr lang="en" sz="2400" i="1" dirty="0"/>
              <a:t>r patterned flow cells</a:t>
            </a:r>
            <a:endParaRPr sz="2400" dirty="0"/>
          </a:p>
        </p:txBody>
      </p:sp>
      <p:sp>
        <p:nvSpPr>
          <p:cNvPr id="9" name="TextBox 8">
            <a:extLst>
              <a:ext uri="{FF2B5EF4-FFF2-40B4-BE49-F238E27FC236}">
                <a16:creationId xmlns:a16="http://schemas.microsoft.com/office/drawing/2014/main" id="{E7B227AB-074F-4465-0473-9C9DEA850AEE}"/>
              </a:ext>
            </a:extLst>
          </p:cNvPr>
          <p:cNvSpPr txBox="1"/>
          <p:nvPr/>
        </p:nvSpPr>
        <p:spPr>
          <a:xfrm>
            <a:off x="5544589" y="1663702"/>
            <a:ext cx="717917" cy="276999"/>
          </a:xfrm>
          <a:prstGeom prst="rect">
            <a:avLst/>
          </a:prstGeom>
          <a:noFill/>
        </p:spPr>
        <p:txBody>
          <a:bodyPr wrap="square">
            <a:spAutoFit/>
          </a:bodyPr>
          <a:lstStyle/>
          <a:p>
            <a:r>
              <a:rPr lang="en-US" sz="1200" b="0" i="0" dirty="0">
                <a:solidFill>
                  <a:srgbClr val="1C1D1E"/>
                </a:solidFill>
                <a:effectLst/>
                <a:latin typeface="+mn-lt"/>
              </a:rPr>
              <a:t>% PF =</a:t>
            </a:r>
            <a:endParaRPr lang="en-US" sz="1200" dirty="0">
              <a:latin typeface="+mn-lt"/>
            </a:endParaRPr>
          </a:p>
        </p:txBody>
      </p:sp>
      <p:grpSp>
        <p:nvGrpSpPr>
          <p:cNvPr id="12" name="Group 11">
            <a:extLst>
              <a:ext uri="{FF2B5EF4-FFF2-40B4-BE49-F238E27FC236}">
                <a16:creationId xmlns:a16="http://schemas.microsoft.com/office/drawing/2014/main" id="{0D9868EF-274B-AE99-2788-23372800008B}"/>
              </a:ext>
            </a:extLst>
          </p:cNvPr>
          <p:cNvGrpSpPr/>
          <p:nvPr/>
        </p:nvGrpSpPr>
        <p:grpSpPr>
          <a:xfrm>
            <a:off x="6165398" y="1464543"/>
            <a:ext cx="2451751" cy="830997"/>
            <a:chOff x="5641696" y="2571750"/>
            <a:chExt cx="2451751" cy="830997"/>
          </a:xfrm>
        </p:grpSpPr>
        <p:sp>
          <p:nvSpPr>
            <p:cNvPr id="8" name="TextBox 7">
              <a:extLst>
                <a:ext uri="{FF2B5EF4-FFF2-40B4-BE49-F238E27FC236}">
                  <a16:creationId xmlns:a16="http://schemas.microsoft.com/office/drawing/2014/main" id="{A0789AD8-543B-32AD-4F3F-262BEB3B0729}"/>
                </a:ext>
              </a:extLst>
            </p:cNvPr>
            <p:cNvSpPr txBox="1"/>
            <p:nvPr/>
          </p:nvSpPr>
          <p:spPr>
            <a:xfrm>
              <a:off x="5641696" y="2571750"/>
              <a:ext cx="2451751" cy="830997"/>
            </a:xfrm>
            <a:prstGeom prst="rect">
              <a:avLst/>
            </a:prstGeom>
            <a:noFill/>
          </p:spPr>
          <p:txBody>
            <a:bodyPr wrap="square">
              <a:spAutoFit/>
            </a:bodyPr>
            <a:lstStyle/>
            <a:p>
              <a:r>
                <a:rPr lang="en-US" sz="1200" b="0" i="0" dirty="0">
                  <a:solidFill>
                    <a:srgbClr val="1C1D1E"/>
                  </a:solidFill>
                  <a:effectLst/>
                  <a:latin typeface="+mn-lt"/>
                </a:rPr>
                <a:t>Clusters passing chastity filter</a:t>
              </a:r>
            </a:p>
            <a:p>
              <a:endParaRPr lang="en-US" sz="1200" dirty="0">
                <a:solidFill>
                  <a:srgbClr val="1C1D1E"/>
                </a:solidFill>
                <a:latin typeface="+mn-lt"/>
              </a:endParaRPr>
            </a:p>
            <a:p>
              <a:r>
                <a:rPr lang="en-US" sz="1200" dirty="0">
                  <a:solidFill>
                    <a:srgbClr val="1C1D1E"/>
                  </a:solidFill>
                  <a:latin typeface="+mn-lt"/>
                </a:rPr>
                <a:t>Raw cluster count (aka # of spaces in the </a:t>
              </a:r>
              <a:r>
                <a:rPr lang="en-US" sz="1200" dirty="0" err="1">
                  <a:solidFill>
                    <a:srgbClr val="1C1D1E"/>
                  </a:solidFill>
                  <a:latin typeface="+mn-lt"/>
                </a:rPr>
                <a:t>nanowell</a:t>
              </a:r>
              <a:r>
                <a:rPr lang="en-US" sz="1200" dirty="0">
                  <a:solidFill>
                    <a:srgbClr val="1C1D1E"/>
                  </a:solidFill>
                  <a:latin typeface="+mn-lt"/>
                </a:rPr>
                <a:t>)</a:t>
              </a:r>
              <a:endParaRPr lang="en-US" sz="1200" dirty="0">
                <a:latin typeface="+mn-lt"/>
              </a:endParaRPr>
            </a:p>
          </p:txBody>
        </p:sp>
        <p:cxnSp>
          <p:nvCxnSpPr>
            <p:cNvPr id="11" name="Straight Connector 10">
              <a:extLst>
                <a:ext uri="{FF2B5EF4-FFF2-40B4-BE49-F238E27FC236}">
                  <a16:creationId xmlns:a16="http://schemas.microsoft.com/office/drawing/2014/main" id="{7E2A6A4E-FBD0-6161-A986-E349452BCD73}"/>
                </a:ext>
              </a:extLst>
            </p:cNvPr>
            <p:cNvCxnSpPr>
              <a:cxnSpLocks/>
            </p:cNvCxnSpPr>
            <p:nvPr/>
          </p:nvCxnSpPr>
          <p:spPr>
            <a:xfrm>
              <a:off x="5738804" y="2919468"/>
              <a:ext cx="22247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Google Shape;101;p19">
            <a:extLst>
              <a:ext uri="{FF2B5EF4-FFF2-40B4-BE49-F238E27FC236}">
                <a16:creationId xmlns:a16="http://schemas.microsoft.com/office/drawing/2014/main" id="{108D5E0A-0E8E-6112-4DAC-64CD1FDC5CDC}"/>
              </a:ext>
            </a:extLst>
          </p:cNvPr>
          <p:cNvSpPr txBox="1"/>
          <p:nvPr/>
        </p:nvSpPr>
        <p:spPr>
          <a:xfrm>
            <a:off x="5178175" y="3036707"/>
            <a:ext cx="3662914" cy="1154132"/>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US" b="1" dirty="0">
                <a:solidFill>
                  <a:schemeClr val="dk1"/>
                </a:solidFill>
              </a:rPr>
              <a:t>What could cause low %PF?</a:t>
            </a:r>
          </a:p>
          <a:p>
            <a:pPr marL="285750" lvl="0" indent="-285750" algn="l" rtl="0">
              <a:lnSpc>
                <a:spcPct val="150000"/>
              </a:lnSpc>
              <a:spcBef>
                <a:spcPts val="0"/>
              </a:spcBef>
              <a:spcAft>
                <a:spcPts val="0"/>
              </a:spcAft>
              <a:buFont typeface="Wingdings" pitchFamily="2" charset="2"/>
              <a:buChar char="è"/>
            </a:pPr>
            <a:r>
              <a:rPr lang="en-US" dirty="0">
                <a:solidFill>
                  <a:schemeClr val="dk1"/>
                </a:solidFill>
              </a:rPr>
              <a:t>Clusters are too close to their neighbors</a:t>
            </a:r>
          </a:p>
          <a:p>
            <a:pPr marL="285750" lvl="0" indent="-285750" algn="l" rtl="0">
              <a:lnSpc>
                <a:spcPct val="150000"/>
              </a:lnSpc>
              <a:spcBef>
                <a:spcPts val="0"/>
              </a:spcBef>
              <a:spcAft>
                <a:spcPts val="0"/>
              </a:spcAft>
              <a:buFont typeface="Wingdings" pitchFamily="2" charset="2"/>
              <a:buChar char="è"/>
            </a:pPr>
            <a:r>
              <a:rPr lang="en-US" dirty="0">
                <a:solidFill>
                  <a:schemeClr val="dk1"/>
                </a:solidFill>
              </a:rPr>
              <a:t>Clusters are empty</a:t>
            </a:r>
            <a:endParaRPr lang="en-US" dirty="0"/>
          </a:p>
        </p:txBody>
      </p:sp>
      <p:pic>
        <p:nvPicPr>
          <p:cNvPr id="17" name="Picture 16">
            <a:extLst>
              <a:ext uri="{FF2B5EF4-FFF2-40B4-BE49-F238E27FC236}">
                <a16:creationId xmlns:a16="http://schemas.microsoft.com/office/drawing/2014/main" id="{8FB5D2B4-136C-CD00-06E0-EBF8B2BAACDD}"/>
              </a:ext>
            </a:extLst>
          </p:cNvPr>
          <p:cNvPicPr>
            <a:picLocks noChangeAspect="1"/>
          </p:cNvPicPr>
          <p:nvPr/>
        </p:nvPicPr>
        <p:blipFill>
          <a:blip r:embed="rId3"/>
          <a:srcRect t="9588" r="42565" b="29888"/>
          <a:stretch>
            <a:fillRect/>
          </a:stretch>
        </p:blipFill>
        <p:spPr>
          <a:xfrm>
            <a:off x="2660962" y="2542929"/>
            <a:ext cx="1911038" cy="2141686"/>
          </a:xfrm>
          <a:prstGeom prst="rect">
            <a:avLst/>
          </a:prstGeom>
        </p:spPr>
      </p:pic>
    </p:spTree>
    <p:extLst>
      <p:ext uri="{BB962C8B-B14F-4D97-AF65-F5344CB8AC3E}">
        <p14:creationId xmlns:p14="http://schemas.microsoft.com/office/powerpoint/2010/main" val="4239198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D97F4-AD1D-B4B5-B7C8-8AF389A1C29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B7D9823-2A8D-2B2E-22CF-EF5A9E32731B}"/>
              </a:ext>
            </a:extLst>
          </p:cNvPr>
          <p:cNvPicPr>
            <a:picLocks noChangeAspect="1"/>
          </p:cNvPicPr>
          <p:nvPr/>
        </p:nvPicPr>
        <p:blipFill>
          <a:blip r:embed="rId2"/>
          <a:stretch>
            <a:fillRect/>
          </a:stretch>
        </p:blipFill>
        <p:spPr>
          <a:xfrm>
            <a:off x="486266" y="1992277"/>
            <a:ext cx="2659190" cy="2778369"/>
          </a:xfrm>
          <a:prstGeom prst="rect">
            <a:avLst/>
          </a:prstGeom>
        </p:spPr>
      </p:pic>
      <p:pic>
        <p:nvPicPr>
          <p:cNvPr id="5" name="Picture 4">
            <a:extLst>
              <a:ext uri="{FF2B5EF4-FFF2-40B4-BE49-F238E27FC236}">
                <a16:creationId xmlns:a16="http://schemas.microsoft.com/office/drawing/2014/main" id="{9D214164-2816-6F31-8D1F-86232254D3AB}"/>
              </a:ext>
            </a:extLst>
          </p:cNvPr>
          <p:cNvPicPr>
            <a:picLocks noChangeAspect="1"/>
          </p:cNvPicPr>
          <p:nvPr/>
        </p:nvPicPr>
        <p:blipFill>
          <a:blip r:embed="rId3"/>
          <a:stretch>
            <a:fillRect/>
          </a:stretch>
        </p:blipFill>
        <p:spPr>
          <a:xfrm>
            <a:off x="3235511" y="1992277"/>
            <a:ext cx="2644292" cy="2778369"/>
          </a:xfrm>
          <a:prstGeom prst="rect">
            <a:avLst/>
          </a:prstGeom>
        </p:spPr>
      </p:pic>
      <p:pic>
        <p:nvPicPr>
          <p:cNvPr id="6" name="Picture 5">
            <a:extLst>
              <a:ext uri="{FF2B5EF4-FFF2-40B4-BE49-F238E27FC236}">
                <a16:creationId xmlns:a16="http://schemas.microsoft.com/office/drawing/2014/main" id="{E7CA54F3-878B-F754-5107-B8C3355DD73E}"/>
              </a:ext>
            </a:extLst>
          </p:cNvPr>
          <p:cNvPicPr>
            <a:picLocks noChangeAspect="1"/>
          </p:cNvPicPr>
          <p:nvPr/>
        </p:nvPicPr>
        <p:blipFill>
          <a:blip r:embed="rId4"/>
          <a:stretch>
            <a:fillRect/>
          </a:stretch>
        </p:blipFill>
        <p:spPr>
          <a:xfrm>
            <a:off x="5969858" y="1992277"/>
            <a:ext cx="2680486" cy="2778369"/>
          </a:xfrm>
          <a:prstGeom prst="rect">
            <a:avLst/>
          </a:prstGeom>
        </p:spPr>
      </p:pic>
      <p:sp>
        <p:nvSpPr>
          <p:cNvPr id="8" name="TextBox 7">
            <a:extLst>
              <a:ext uri="{FF2B5EF4-FFF2-40B4-BE49-F238E27FC236}">
                <a16:creationId xmlns:a16="http://schemas.microsoft.com/office/drawing/2014/main" id="{DD71DF09-27EC-96DE-FC97-FB7B262E07DD}"/>
              </a:ext>
            </a:extLst>
          </p:cNvPr>
          <p:cNvSpPr txBox="1"/>
          <p:nvPr/>
        </p:nvSpPr>
        <p:spPr>
          <a:xfrm>
            <a:off x="6641869" y="1695273"/>
            <a:ext cx="1454727" cy="297004"/>
          </a:xfrm>
          <a:prstGeom prst="rect">
            <a:avLst/>
          </a:prstGeom>
          <a:noFill/>
        </p:spPr>
        <p:txBody>
          <a:bodyPr wrap="square">
            <a:spAutoFit/>
          </a:bodyPr>
          <a:lstStyle/>
          <a:p>
            <a:pPr marL="0" lvl="0" indent="0" algn="l" rtl="0">
              <a:lnSpc>
                <a:spcPct val="95000"/>
              </a:lnSpc>
              <a:spcBef>
                <a:spcPts val="1200"/>
              </a:spcBef>
              <a:spcAft>
                <a:spcPts val="0"/>
              </a:spcAft>
              <a:buSzPts val="1018"/>
              <a:buNone/>
            </a:pPr>
            <a:r>
              <a:rPr lang="en-US" sz="1400" dirty="0">
                <a:solidFill>
                  <a:srgbClr val="FF0000"/>
                </a:solidFill>
              </a:rPr>
              <a:t>Over-clustered</a:t>
            </a:r>
          </a:p>
        </p:txBody>
      </p:sp>
      <p:sp>
        <p:nvSpPr>
          <p:cNvPr id="9" name="TextBox 8">
            <a:extLst>
              <a:ext uri="{FF2B5EF4-FFF2-40B4-BE49-F238E27FC236}">
                <a16:creationId xmlns:a16="http://schemas.microsoft.com/office/drawing/2014/main" id="{989CB451-B103-E1CF-A1E2-F855BCE8A5C1}"/>
              </a:ext>
            </a:extLst>
          </p:cNvPr>
          <p:cNvSpPr txBox="1"/>
          <p:nvPr/>
        </p:nvSpPr>
        <p:spPr>
          <a:xfrm>
            <a:off x="1125922" y="1695273"/>
            <a:ext cx="1579416" cy="297004"/>
          </a:xfrm>
          <a:prstGeom prst="rect">
            <a:avLst/>
          </a:prstGeom>
          <a:noFill/>
        </p:spPr>
        <p:txBody>
          <a:bodyPr wrap="square">
            <a:spAutoFit/>
          </a:bodyPr>
          <a:lstStyle/>
          <a:p>
            <a:pPr marL="0" lvl="0" indent="0" algn="l" rtl="0">
              <a:lnSpc>
                <a:spcPct val="95000"/>
              </a:lnSpc>
              <a:spcBef>
                <a:spcPts val="1200"/>
              </a:spcBef>
              <a:spcAft>
                <a:spcPts val="0"/>
              </a:spcAft>
              <a:buSzPts val="1018"/>
              <a:buNone/>
            </a:pPr>
            <a:r>
              <a:rPr lang="en-US" sz="1400" dirty="0">
                <a:solidFill>
                  <a:srgbClr val="FF0000"/>
                </a:solidFill>
              </a:rPr>
              <a:t>Under-clustered</a:t>
            </a:r>
          </a:p>
        </p:txBody>
      </p:sp>
      <p:sp>
        <p:nvSpPr>
          <p:cNvPr id="10" name="TextBox 9">
            <a:extLst>
              <a:ext uri="{FF2B5EF4-FFF2-40B4-BE49-F238E27FC236}">
                <a16:creationId xmlns:a16="http://schemas.microsoft.com/office/drawing/2014/main" id="{84A0A862-E7B3-F89C-38F1-8ABE3EB72F1E}"/>
              </a:ext>
            </a:extLst>
          </p:cNvPr>
          <p:cNvSpPr txBox="1"/>
          <p:nvPr/>
        </p:nvSpPr>
        <p:spPr>
          <a:xfrm>
            <a:off x="3532910" y="1695273"/>
            <a:ext cx="2161308" cy="297004"/>
          </a:xfrm>
          <a:prstGeom prst="rect">
            <a:avLst/>
          </a:prstGeom>
          <a:noFill/>
        </p:spPr>
        <p:txBody>
          <a:bodyPr wrap="square">
            <a:spAutoFit/>
          </a:bodyPr>
          <a:lstStyle/>
          <a:p>
            <a:pPr marL="0" lvl="0" indent="0" algn="ctr" rtl="0">
              <a:lnSpc>
                <a:spcPct val="95000"/>
              </a:lnSpc>
              <a:spcBef>
                <a:spcPts val="1200"/>
              </a:spcBef>
              <a:spcAft>
                <a:spcPts val="0"/>
              </a:spcAft>
              <a:buSzPts val="1018"/>
              <a:buNone/>
            </a:pPr>
            <a:r>
              <a:rPr lang="en-US" sz="1400" dirty="0">
                <a:solidFill>
                  <a:srgbClr val="00B050"/>
                </a:solidFill>
              </a:rPr>
              <a:t>Optimally clustered</a:t>
            </a:r>
          </a:p>
        </p:txBody>
      </p:sp>
      <p:sp>
        <p:nvSpPr>
          <p:cNvPr id="13" name="Google Shape;126;p21">
            <a:extLst>
              <a:ext uri="{FF2B5EF4-FFF2-40B4-BE49-F238E27FC236}">
                <a16:creationId xmlns:a16="http://schemas.microsoft.com/office/drawing/2014/main" id="{0EAC98B2-7DB5-5452-12C7-0B0F01E29CFA}"/>
              </a:ext>
            </a:extLst>
          </p:cNvPr>
          <p:cNvSpPr txBox="1">
            <a:spLocks noGrp="1"/>
          </p:cNvSpPr>
          <p:nvPr>
            <p:ph type="title"/>
          </p:nvPr>
        </p:nvSpPr>
        <p:spPr>
          <a:xfrm>
            <a:off x="157625" y="160650"/>
            <a:ext cx="9061500" cy="97819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400" b="1" dirty="0"/>
              <a:t>Evaluate clustering with % PF x % Occupied plots</a:t>
            </a:r>
            <a:br>
              <a:rPr lang="en" sz="2400" b="1" dirty="0"/>
            </a:br>
            <a:r>
              <a:rPr lang="en" sz="2400" i="1" dirty="0"/>
              <a:t>F</a:t>
            </a:r>
            <a:r>
              <a:rPr lang="en-US" sz="2400" i="1" dirty="0"/>
              <a:t>o</a:t>
            </a:r>
            <a:r>
              <a:rPr lang="en" sz="2400" i="1" dirty="0"/>
              <a:t>r patterned flow cells</a:t>
            </a:r>
            <a:endParaRPr sz="2400" dirty="0"/>
          </a:p>
        </p:txBody>
      </p:sp>
      <p:sp>
        <p:nvSpPr>
          <p:cNvPr id="2" name="Google Shape;116;p20">
            <a:extLst>
              <a:ext uri="{FF2B5EF4-FFF2-40B4-BE49-F238E27FC236}">
                <a16:creationId xmlns:a16="http://schemas.microsoft.com/office/drawing/2014/main" id="{100890A5-EE07-1C03-D8B4-78443193B87B}"/>
              </a:ext>
            </a:extLst>
          </p:cNvPr>
          <p:cNvSpPr txBox="1"/>
          <p:nvPr/>
        </p:nvSpPr>
        <p:spPr>
          <a:xfrm>
            <a:off x="3923812" y="868834"/>
            <a:ext cx="1267690" cy="73863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dirty="0" err="1"/>
              <a:t>iSeq</a:t>
            </a:r>
            <a:endParaRPr lang="en" sz="1800" b="1" dirty="0"/>
          </a:p>
          <a:p>
            <a:pPr marL="0" lvl="0" indent="0" algn="l" rtl="0">
              <a:spcBef>
                <a:spcPts val="0"/>
              </a:spcBef>
              <a:spcAft>
                <a:spcPts val="0"/>
              </a:spcAft>
              <a:buNone/>
            </a:pPr>
            <a:r>
              <a:rPr lang="en" sz="1800" b="1" dirty="0" err="1"/>
              <a:t>NextSeq</a:t>
            </a:r>
            <a:endParaRPr sz="1800" b="1" dirty="0"/>
          </a:p>
        </p:txBody>
      </p:sp>
      <p:sp>
        <p:nvSpPr>
          <p:cNvPr id="3" name="TextBox 2">
            <a:extLst>
              <a:ext uri="{FF2B5EF4-FFF2-40B4-BE49-F238E27FC236}">
                <a16:creationId xmlns:a16="http://schemas.microsoft.com/office/drawing/2014/main" id="{038E85E4-E02A-244E-239E-43B7F635F646}"/>
              </a:ext>
            </a:extLst>
          </p:cNvPr>
          <p:cNvSpPr txBox="1"/>
          <p:nvPr/>
        </p:nvSpPr>
        <p:spPr>
          <a:xfrm>
            <a:off x="2538101" y="4928056"/>
            <a:ext cx="6605899" cy="215444"/>
          </a:xfrm>
          <a:prstGeom prst="rect">
            <a:avLst/>
          </a:prstGeom>
          <a:noFill/>
        </p:spPr>
        <p:txBody>
          <a:bodyPr wrap="square" rtlCol="0">
            <a:spAutoFit/>
          </a:bodyPr>
          <a:lstStyle/>
          <a:p>
            <a:r>
              <a:rPr lang="en-US" sz="800" dirty="0"/>
              <a:t>How to make these plots: https://</a:t>
            </a:r>
            <a:r>
              <a:rPr lang="en-US" sz="800" dirty="0" err="1"/>
              <a:t>knowledge.illumina.com</a:t>
            </a:r>
            <a:r>
              <a:rPr lang="en-US" sz="800" dirty="0"/>
              <a:t>/instrumentation/general/instrumentation-general-</a:t>
            </a:r>
            <a:r>
              <a:rPr lang="en-US" sz="800" dirty="0" err="1"/>
              <a:t>reference_material</a:t>
            </a:r>
            <a:r>
              <a:rPr lang="en-US" sz="800" dirty="0"/>
              <a:t>-list/000002308</a:t>
            </a:r>
          </a:p>
        </p:txBody>
      </p:sp>
      <p:pic>
        <p:nvPicPr>
          <p:cNvPr id="15" name="Google Shape;117;p20">
            <a:extLst>
              <a:ext uri="{FF2B5EF4-FFF2-40B4-BE49-F238E27FC236}">
                <a16:creationId xmlns:a16="http://schemas.microsoft.com/office/drawing/2014/main" id="{37878FC4-5BB6-C438-2274-73C5650A3770}"/>
              </a:ext>
            </a:extLst>
          </p:cNvPr>
          <p:cNvPicPr preferRelativeResize="0">
            <a:picLocks noChangeAspect="1"/>
          </p:cNvPicPr>
          <p:nvPr/>
        </p:nvPicPr>
        <p:blipFill rotWithShape="1">
          <a:blip r:embed="rId5">
            <a:alphaModFix/>
          </a:blip>
          <a:srcRect l="51775" t="19401" r="7906" b="28231"/>
          <a:stretch/>
        </p:blipFill>
        <p:spPr>
          <a:xfrm>
            <a:off x="749301" y="1658468"/>
            <a:ext cx="365789" cy="370614"/>
          </a:xfrm>
          <a:prstGeom prst="rect">
            <a:avLst/>
          </a:prstGeom>
          <a:noFill/>
          <a:ln>
            <a:noFill/>
          </a:ln>
        </p:spPr>
      </p:pic>
      <p:pic>
        <p:nvPicPr>
          <p:cNvPr id="16" name="Google Shape;117;p20">
            <a:extLst>
              <a:ext uri="{FF2B5EF4-FFF2-40B4-BE49-F238E27FC236}">
                <a16:creationId xmlns:a16="http://schemas.microsoft.com/office/drawing/2014/main" id="{639F1CFA-CC8B-3F8D-830D-FFAC66756EDB}"/>
              </a:ext>
            </a:extLst>
          </p:cNvPr>
          <p:cNvPicPr preferRelativeResize="0">
            <a:picLocks noChangeAspect="1"/>
          </p:cNvPicPr>
          <p:nvPr/>
        </p:nvPicPr>
        <p:blipFill rotWithShape="1">
          <a:blip r:embed="rId5">
            <a:alphaModFix/>
          </a:blip>
          <a:srcRect l="51775" t="19401" r="7906" b="28231"/>
          <a:stretch/>
        </p:blipFill>
        <p:spPr>
          <a:xfrm>
            <a:off x="6231052" y="1621663"/>
            <a:ext cx="365789" cy="370614"/>
          </a:xfrm>
          <a:prstGeom prst="rect">
            <a:avLst/>
          </a:prstGeom>
          <a:noFill/>
          <a:ln>
            <a:noFill/>
          </a:ln>
        </p:spPr>
      </p:pic>
      <p:pic>
        <p:nvPicPr>
          <p:cNvPr id="17" name="Google Shape;105;p19">
            <a:extLst>
              <a:ext uri="{FF2B5EF4-FFF2-40B4-BE49-F238E27FC236}">
                <a16:creationId xmlns:a16="http://schemas.microsoft.com/office/drawing/2014/main" id="{F9C3C0F3-73EF-98AA-9960-A8FF47A7F36E}"/>
              </a:ext>
            </a:extLst>
          </p:cNvPr>
          <p:cNvPicPr preferRelativeResize="0">
            <a:picLocks noChangeAspect="1"/>
          </p:cNvPicPr>
          <p:nvPr/>
        </p:nvPicPr>
        <p:blipFill rotWithShape="1">
          <a:blip r:embed="rId5">
            <a:alphaModFix/>
          </a:blip>
          <a:srcRect l="6978" t="18516" r="52703" b="29116"/>
          <a:stretch/>
        </p:blipFill>
        <p:spPr>
          <a:xfrm>
            <a:off x="3442855" y="1649560"/>
            <a:ext cx="365789" cy="370614"/>
          </a:xfrm>
          <a:prstGeom prst="rect">
            <a:avLst/>
          </a:prstGeom>
          <a:noFill/>
          <a:ln>
            <a:noFill/>
          </a:ln>
        </p:spPr>
      </p:pic>
    </p:spTree>
    <p:extLst>
      <p:ext uri="{BB962C8B-B14F-4D97-AF65-F5344CB8AC3E}">
        <p14:creationId xmlns:p14="http://schemas.microsoft.com/office/powerpoint/2010/main" val="176089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59BFB-B11C-6714-7EF4-57E53248AF70}"/>
            </a:ext>
          </a:extLst>
        </p:cNvPr>
        <p:cNvGrpSpPr/>
        <p:nvPr/>
      </p:nvGrpSpPr>
      <p:grpSpPr>
        <a:xfrm>
          <a:off x="0" y="0"/>
          <a:ext cx="0" cy="0"/>
          <a:chOff x="0" y="0"/>
          <a:chExt cx="0" cy="0"/>
        </a:xfrm>
      </p:grpSpPr>
      <p:sp>
        <p:nvSpPr>
          <p:cNvPr id="13" name="Google Shape;126;p21">
            <a:extLst>
              <a:ext uri="{FF2B5EF4-FFF2-40B4-BE49-F238E27FC236}">
                <a16:creationId xmlns:a16="http://schemas.microsoft.com/office/drawing/2014/main" id="{D2FFBD26-3B3D-D6D7-B259-D23E41AE7B41}"/>
              </a:ext>
            </a:extLst>
          </p:cNvPr>
          <p:cNvSpPr txBox="1">
            <a:spLocks noGrp="1"/>
          </p:cNvSpPr>
          <p:nvPr>
            <p:ph type="title"/>
          </p:nvPr>
        </p:nvSpPr>
        <p:spPr>
          <a:xfrm>
            <a:off x="157625" y="160650"/>
            <a:ext cx="9061500" cy="97819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400" b="1" dirty="0"/>
              <a:t>Evaluate clustering for </a:t>
            </a:r>
            <a:r>
              <a:rPr lang="en" sz="2400" b="1" dirty="0" err="1"/>
              <a:t>iSeq</a:t>
            </a:r>
            <a:r>
              <a:rPr lang="en" sz="2400" b="1" dirty="0"/>
              <a:t>/</a:t>
            </a:r>
            <a:r>
              <a:rPr lang="en" sz="2400" b="1" dirty="0" err="1"/>
              <a:t>NextSeq</a:t>
            </a:r>
            <a:r>
              <a:rPr lang="en" sz="2400" b="1" dirty="0"/>
              <a:t> – putting it together</a:t>
            </a:r>
            <a:br>
              <a:rPr lang="en" sz="2400" b="1" dirty="0"/>
            </a:br>
            <a:r>
              <a:rPr lang="en" sz="2400" i="1" dirty="0"/>
              <a:t>F</a:t>
            </a:r>
            <a:r>
              <a:rPr lang="en-US" sz="2400" i="1" dirty="0"/>
              <a:t>o</a:t>
            </a:r>
            <a:r>
              <a:rPr lang="en" sz="2400" i="1" dirty="0"/>
              <a:t>r patterned flow cells</a:t>
            </a:r>
            <a:endParaRPr sz="2400" dirty="0"/>
          </a:p>
        </p:txBody>
      </p:sp>
      <p:graphicFrame>
        <p:nvGraphicFramePr>
          <p:cNvPr id="12" name="Table 11">
            <a:extLst>
              <a:ext uri="{FF2B5EF4-FFF2-40B4-BE49-F238E27FC236}">
                <a16:creationId xmlns:a16="http://schemas.microsoft.com/office/drawing/2014/main" id="{1EEE54FC-FAF0-218F-2015-E470C89A1E31}"/>
              </a:ext>
            </a:extLst>
          </p:cNvPr>
          <p:cNvGraphicFramePr>
            <a:graphicFrameLocks noGrp="1"/>
          </p:cNvGraphicFramePr>
          <p:nvPr>
            <p:extLst>
              <p:ext uri="{D42A27DB-BD31-4B8C-83A1-F6EECF244321}">
                <p14:modId xmlns:p14="http://schemas.microsoft.com/office/powerpoint/2010/main" val="4146761295"/>
              </p:ext>
            </p:extLst>
          </p:nvPr>
        </p:nvGraphicFramePr>
        <p:xfrm>
          <a:off x="1206730" y="1746250"/>
          <a:ext cx="6730540" cy="1651000"/>
        </p:xfrm>
        <a:graphic>
          <a:graphicData uri="http://schemas.openxmlformats.org/drawingml/2006/table">
            <a:tbl>
              <a:tblPr firstRow="1" bandRow="1">
                <a:tableStyleId>{74C1A8A3-306A-4EB7-A6B1-4F7E0EB9C5D6}</a:tableStyleId>
              </a:tblPr>
              <a:tblGrid>
                <a:gridCol w="1493519">
                  <a:extLst>
                    <a:ext uri="{9D8B030D-6E8A-4147-A177-3AD203B41FA5}">
                      <a16:colId xmlns:a16="http://schemas.microsoft.com/office/drawing/2014/main" val="2112001034"/>
                    </a:ext>
                  </a:extLst>
                </a:gridCol>
                <a:gridCol w="1496291">
                  <a:extLst>
                    <a:ext uri="{9D8B030D-6E8A-4147-A177-3AD203B41FA5}">
                      <a16:colId xmlns:a16="http://schemas.microsoft.com/office/drawing/2014/main" val="3854156569"/>
                    </a:ext>
                  </a:extLst>
                </a:gridCol>
                <a:gridCol w="1363287">
                  <a:extLst>
                    <a:ext uri="{9D8B030D-6E8A-4147-A177-3AD203B41FA5}">
                      <a16:colId xmlns:a16="http://schemas.microsoft.com/office/drawing/2014/main" val="3607403914"/>
                    </a:ext>
                  </a:extLst>
                </a:gridCol>
                <a:gridCol w="881149">
                  <a:extLst>
                    <a:ext uri="{9D8B030D-6E8A-4147-A177-3AD203B41FA5}">
                      <a16:colId xmlns:a16="http://schemas.microsoft.com/office/drawing/2014/main" val="4176887784"/>
                    </a:ext>
                  </a:extLst>
                </a:gridCol>
                <a:gridCol w="1496294">
                  <a:extLst>
                    <a:ext uri="{9D8B030D-6E8A-4147-A177-3AD203B41FA5}">
                      <a16:colId xmlns:a16="http://schemas.microsoft.com/office/drawing/2014/main" val="655272353"/>
                    </a:ext>
                  </a:extLst>
                </a:gridCol>
              </a:tblGrid>
              <a:tr h="370840">
                <a:tc>
                  <a:txBody>
                    <a:bodyPr/>
                    <a:lstStyle/>
                    <a:p>
                      <a:endParaRPr lang="en-US"/>
                    </a:p>
                  </a:txBody>
                  <a:tcPr/>
                </a:tc>
                <a:tc>
                  <a:txBody>
                    <a:bodyPr/>
                    <a:lstStyle/>
                    <a:p>
                      <a:r>
                        <a:rPr lang="en-US" dirty="0"/>
                        <a:t>%PF</a:t>
                      </a:r>
                    </a:p>
                  </a:txBody>
                  <a:tcPr/>
                </a:tc>
                <a:tc>
                  <a:txBody>
                    <a:bodyPr/>
                    <a:lstStyle/>
                    <a:p>
                      <a:r>
                        <a:rPr lang="en-US" dirty="0"/>
                        <a:t>% Occupancy</a:t>
                      </a:r>
                    </a:p>
                  </a:txBody>
                  <a:tcPr/>
                </a:tc>
                <a:tc>
                  <a:txBody>
                    <a:bodyPr/>
                    <a:lstStyle/>
                    <a:p>
                      <a:r>
                        <a:rPr lang="en-US" dirty="0"/>
                        <a:t>Q30</a:t>
                      </a:r>
                    </a:p>
                  </a:txBody>
                  <a:tcPr/>
                </a:tc>
                <a:tc>
                  <a:txBody>
                    <a:bodyPr/>
                    <a:lstStyle/>
                    <a:p>
                      <a:r>
                        <a:rPr lang="en-US" dirty="0" err="1"/>
                        <a:t>PhiX</a:t>
                      </a:r>
                      <a:r>
                        <a:rPr lang="en-US" dirty="0"/>
                        <a:t> alignment</a:t>
                      </a:r>
                    </a:p>
                  </a:txBody>
                  <a:tcPr/>
                </a:tc>
                <a:extLst>
                  <a:ext uri="{0D108BD9-81ED-4DB2-BD59-A6C34878D82A}">
                    <a16:rowId xmlns:a16="http://schemas.microsoft.com/office/drawing/2014/main" val="3661901953"/>
                  </a:ext>
                </a:extLst>
              </a:tr>
              <a:tr h="370840">
                <a:tc>
                  <a:txBody>
                    <a:bodyPr/>
                    <a:lstStyle/>
                    <a:p>
                      <a:r>
                        <a:rPr lang="en-US" b="1" dirty="0"/>
                        <a:t>Over-loaded</a:t>
                      </a:r>
                    </a:p>
                  </a:txBody>
                  <a:tcPr/>
                </a:tc>
                <a:tc>
                  <a:txBody>
                    <a:bodyPr/>
                    <a:lstStyle/>
                    <a:p>
                      <a:r>
                        <a:rPr lang="en-US" dirty="0"/>
                        <a:t>Low </a:t>
                      </a:r>
                    </a:p>
                    <a:p>
                      <a:r>
                        <a:rPr lang="en-US" sz="1100" dirty="0"/>
                        <a:t>(clusters bleed into each other)</a:t>
                      </a:r>
                      <a:endParaRPr lang="en-US" sz="1100" i="1" dirty="0"/>
                    </a:p>
                  </a:txBody>
                  <a:tcPr/>
                </a:tc>
                <a:tc>
                  <a:txBody>
                    <a:bodyPr/>
                    <a:lstStyle/>
                    <a:p>
                      <a:r>
                        <a:rPr lang="en-US" dirty="0"/>
                        <a:t>High</a:t>
                      </a:r>
                    </a:p>
                  </a:txBody>
                  <a:tcPr/>
                </a:tc>
                <a:tc>
                  <a:txBody>
                    <a:bodyPr/>
                    <a:lstStyle/>
                    <a:p>
                      <a:r>
                        <a:rPr lang="en-US" dirty="0"/>
                        <a:t>Low</a:t>
                      </a:r>
                    </a:p>
                  </a:txBody>
                  <a:tcPr/>
                </a:tc>
                <a:tc>
                  <a:txBody>
                    <a:bodyPr/>
                    <a:lstStyle/>
                    <a:p>
                      <a:r>
                        <a:rPr lang="en-US" dirty="0"/>
                        <a:t>Lower than expected*</a:t>
                      </a:r>
                    </a:p>
                  </a:txBody>
                  <a:tcPr/>
                </a:tc>
                <a:extLst>
                  <a:ext uri="{0D108BD9-81ED-4DB2-BD59-A6C34878D82A}">
                    <a16:rowId xmlns:a16="http://schemas.microsoft.com/office/drawing/2014/main" val="2125350062"/>
                  </a:ext>
                </a:extLst>
              </a:tr>
              <a:tr h="370840">
                <a:tc>
                  <a:txBody>
                    <a:bodyPr/>
                    <a:lstStyle/>
                    <a:p>
                      <a:r>
                        <a:rPr lang="en-US" b="1" dirty="0"/>
                        <a:t>Under-loaded</a:t>
                      </a:r>
                    </a:p>
                  </a:txBody>
                  <a:tcPr/>
                </a:tc>
                <a:tc>
                  <a:txBody>
                    <a:bodyPr/>
                    <a:lstStyle/>
                    <a:p>
                      <a:r>
                        <a:rPr lang="en-US" dirty="0"/>
                        <a:t>Low </a:t>
                      </a:r>
                    </a:p>
                    <a:p>
                      <a:r>
                        <a:rPr lang="en-US" sz="1100" dirty="0"/>
                        <a:t>(many clusters are empty)</a:t>
                      </a:r>
                      <a:endParaRPr lang="en-US" sz="1100" i="1" dirty="0"/>
                    </a:p>
                  </a:txBody>
                  <a:tcPr/>
                </a:tc>
                <a:tc>
                  <a:txBody>
                    <a:bodyPr/>
                    <a:lstStyle/>
                    <a:p>
                      <a:r>
                        <a:rPr lang="en-US" dirty="0"/>
                        <a:t>Low</a:t>
                      </a:r>
                    </a:p>
                  </a:txBody>
                  <a:tcPr/>
                </a:tc>
                <a:tc>
                  <a:txBody>
                    <a:bodyPr/>
                    <a:lstStyle/>
                    <a:p>
                      <a:r>
                        <a:rPr lang="en-US" dirty="0"/>
                        <a:t>High</a:t>
                      </a:r>
                    </a:p>
                  </a:txBody>
                  <a:tcPr/>
                </a:tc>
                <a:tc>
                  <a:txBody>
                    <a:bodyPr/>
                    <a:lstStyle/>
                    <a:p>
                      <a:r>
                        <a:rPr lang="en-US" dirty="0"/>
                        <a:t>Higher than expected*</a:t>
                      </a:r>
                    </a:p>
                  </a:txBody>
                  <a:tcPr/>
                </a:tc>
                <a:extLst>
                  <a:ext uri="{0D108BD9-81ED-4DB2-BD59-A6C34878D82A}">
                    <a16:rowId xmlns:a16="http://schemas.microsoft.com/office/drawing/2014/main" val="1700756805"/>
                  </a:ext>
                </a:extLst>
              </a:tr>
            </a:tbl>
          </a:graphicData>
        </a:graphic>
      </p:graphicFrame>
      <p:sp>
        <p:nvSpPr>
          <p:cNvPr id="3" name="TextBox 2">
            <a:extLst>
              <a:ext uri="{FF2B5EF4-FFF2-40B4-BE49-F238E27FC236}">
                <a16:creationId xmlns:a16="http://schemas.microsoft.com/office/drawing/2014/main" id="{660AC498-2597-A592-97A1-5BA7554BD98C}"/>
              </a:ext>
            </a:extLst>
          </p:cNvPr>
          <p:cNvSpPr txBox="1"/>
          <p:nvPr/>
        </p:nvSpPr>
        <p:spPr>
          <a:xfrm>
            <a:off x="5686816" y="3443967"/>
            <a:ext cx="3206663" cy="1600438"/>
          </a:xfrm>
          <a:prstGeom prst="rect">
            <a:avLst/>
          </a:prstGeom>
          <a:noFill/>
        </p:spPr>
        <p:txBody>
          <a:bodyPr wrap="square">
            <a:spAutoFit/>
          </a:bodyPr>
          <a:lstStyle/>
          <a:p>
            <a:r>
              <a:rPr lang="en-US" b="0" i="0" dirty="0">
                <a:solidFill>
                  <a:srgbClr val="1C1D1E"/>
                </a:solidFill>
                <a:effectLst/>
                <a:latin typeface="+mn-lt"/>
              </a:rPr>
              <a:t>* </a:t>
            </a:r>
            <a:r>
              <a:rPr lang="en-US" b="0" i="0" dirty="0" err="1">
                <a:solidFill>
                  <a:srgbClr val="1C1D1E"/>
                </a:solidFill>
                <a:effectLst/>
                <a:latin typeface="+mn-lt"/>
              </a:rPr>
              <a:t>PhiX</a:t>
            </a:r>
            <a:r>
              <a:rPr lang="en-US" b="0" i="0" dirty="0">
                <a:solidFill>
                  <a:srgbClr val="1C1D1E"/>
                </a:solidFill>
                <a:effectLst/>
                <a:latin typeface="+mn-lt"/>
              </a:rPr>
              <a:t> alignment expected is based on the assumption that the </a:t>
            </a:r>
            <a:r>
              <a:rPr lang="en-US" b="0" i="0" dirty="0" err="1">
                <a:solidFill>
                  <a:srgbClr val="1C1D1E"/>
                </a:solidFill>
                <a:effectLst/>
                <a:latin typeface="+mn-lt"/>
              </a:rPr>
              <a:t>PhiX</a:t>
            </a:r>
            <a:r>
              <a:rPr lang="en-US" b="0" i="0" dirty="0">
                <a:solidFill>
                  <a:srgbClr val="1C1D1E"/>
                </a:solidFill>
                <a:effectLst/>
                <a:latin typeface="+mn-lt"/>
              </a:rPr>
              <a:t> library size (520bp) is ~the same as your library size</a:t>
            </a:r>
          </a:p>
          <a:p>
            <a:r>
              <a:rPr lang="en-US" dirty="0"/>
              <a:t>* </a:t>
            </a:r>
            <a:r>
              <a:rPr lang="en-US" dirty="0" err="1"/>
              <a:t>PhiX</a:t>
            </a:r>
            <a:r>
              <a:rPr lang="en-US" dirty="0"/>
              <a:t> must be uncompromised (freeze-thaws, DNase contamination, storage concentration)</a:t>
            </a:r>
          </a:p>
        </p:txBody>
      </p:sp>
    </p:spTree>
    <p:extLst>
      <p:ext uri="{BB962C8B-B14F-4D97-AF65-F5344CB8AC3E}">
        <p14:creationId xmlns:p14="http://schemas.microsoft.com/office/powerpoint/2010/main" val="4016906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1"/>
          <p:cNvSpPr txBox="1">
            <a:spLocks noGrp="1"/>
          </p:cNvSpPr>
          <p:nvPr>
            <p:ph type="body" idx="1"/>
          </p:nvPr>
        </p:nvSpPr>
        <p:spPr>
          <a:xfrm>
            <a:off x="6630600" y="3168600"/>
            <a:ext cx="1639200" cy="949500"/>
          </a:xfrm>
          <a:prstGeom prst="rect">
            <a:avLst/>
          </a:prstGeom>
        </p:spPr>
        <p:txBody>
          <a:bodyPr spcFirstLastPara="1" wrap="square" lIns="91425" tIns="91425" rIns="91425" bIns="91425" anchor="t" anchorCtr="0">
            <a:normAutofit fontScale="92500" lnSpcReduction="20000"/>
          </a:bodyPr>
          <a:lstStyle/>
          <a:p>
            <a:pPr marL="0" lvl="0" indent="0" algn="ctr" rtl="0">
              <a:spcBef>
                <a:spcPts val="0"/>
              </a:spcBef>
              <a:spcAft>
                <a:spcPts val="1200"/>
              </a:spcAft>
              <a:buNone/>
            </a:pPr>
            <a:r>
              <a:rPr lang="en" sz="1400">
                <a:solidFill>
                  <a:schemeClr val="dk1"/>
                </a:solidFill>
              </a:rPr>
              <a:t>Tiles also show overclustering of this MiSeq run </a:t>
            </a:r>
            <a:endParaRPr sz="1400">
              <a:solidFill>
                <a:schemeClr val="dk1"/>
              </a:solidFill>
            </a:endParaRPr>
          </a:p>
        </p:txBody>
      </p:sp>
      <p:pic>
        <p:nvPicPr>
          <p:cNvPr id="123" name="Google Shape;123;p21"/>
          <p:cNvPicPr preferRelativeResize="0"/>
          <p:nvPr/>
        </p:nvPicPr>
        <p:blipFill>
          <a:blip r:embed="rId3">
            <a:alphaModFix/>
          </a:blip>
          <a:stretch>
            <a:fillRect/>
          </a:stretch>
        </p:blipFill>
        <p:spPr>
          <a:xfrm>
            <a:off x="117650" y="2160725"/>
            <a:ext cx="5791200" cy="2857500"/>
          </a:xfrm>
          <a:prstGeom prst="rect">
            <a:avLst/>
          </a:prstGeom>
          <a:noFill/>
          <a:ln>
            <a:noFill/>
          </a:ln>
        </p:spPr>
      </p:pic>
      <p:pic>
        <p:nvPicPr>
          <p:cNvPr id="124" name="Google Shape;124;p21"/>
          <p:cNvPicPr preferRelativeResize="0"/>
          <p:nvPr/>
        </p:nvPicPr>
        <p:blipFill>
          <a:blip r:embed="rId4">
            <a:alphaModFix/>
          </a:blip>
          <a:stretch>
            <a:fillRect/>
          </a:stretch>
        </p:blipFill>
        <p:spPr>
          <a:xfrm>
            <a:off x="157625" y="733350"/>
            <a:ext cx="4505275" cy="1173775"/>
          </a:xfrm>
          <a:prstGeom prst="rect">
            <a:avLst/>
          </a:prstGeom>
          <a:noFill/>
          <a:ln>
            <a:noFill/>
          </a:ln>
        </p:spPr>
      </p:pic>
      <p:sp>
        <p:nvSpPr>
          <p:cNvPr id="125" name="Google Shape;125;p21"/>
          <p:cNvSpPr txBox="1"/>
          <p:nvPr/>
        </p:nvSpPr>
        <p:spPr>
          <a:xfrm>
            <a:off x="4662900" y="1012438"/>
            <a:ext cx="19677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Illumina examples from </a:t>
            </a:r>
            <a:r>
              <a:rPr lang="en" u="sng">
                <a:solidFill>
                  <a:schemeClr val="hlink"/>
                </a:solidFill>
                <a:hlinkClick r:id="rId5"/>
              </a:rPr>
              <a:t>here</a:t>
            </a:r>
            <a:endParaRPr/>
          </a:p>
        </p:txBody>
      </p:sp>
      <p:sp>
        <p:nvSpPr>
          <p:cNvPr id="126" name="Google Shape;126;p21"/>
          <p:cNvSpPr txBox="1">
            <a:spLocks noGrp="1"/>
          </p:cNvSpPr>
          <p:nvPr>
            <p:ph type="title"/>
          </p:nvPr>
        </p:nvSpPr>
        <p:spPr>
          <a:xfrm>
            <a:off x="157625" y="160650"/>
            <a:ext cx="9061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400" b="1" dirty="0"/>
              <a:t>Evaluate clustering by looking at Files/</a:t>
            </a:r>
            <a:r>
              <a:rPr lang="en" sz="2400" b="1" dirty="0" err="1"/>
              <a:t>Thumbnail_Images</a:t>
            </a:r>
            <a:endParaRPr sz="2400"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pic>
        <p:nvPicPr>
          <p:cNvPr id="131" name="Google Shape;131;p22"/>
          <p:cNvPicPr preferRelativeResize="0"/>
          <p:nvPr/>
        </p:nvPicPr>
        <p:blipFill>
          <a:blip r:embed="rId3">
            <a:alphaModFix/>
          </a:blip>
          <a:stretch>
            <a:fillRect/>
          </a:stretch>
        </p:blipFill>
        <p:spPr>
          <a:xfrm>
            <a:off x="990600" y="941525"/>
            <a:ext cx="8117282" cy="4201976"/>
          </a:xfrm>
          <a:prstGeom prst="rect">
            <a:avLst/>
          </a:prstGeom>
          <a:noFill/>
          <a:ln>
            <a:noFill/>
          </a:ln>
        </p:spPr>
      </p:pic>
      <p:sp>
        <p:nvSpPr>
          <p:cNvPr id="132" name="Google Shape;132;p22"/>
          <p:cNvSpPr txBox="1"/>
          <p:nvPr/>
        </p:nvSpPr>
        <p:spPr>
          <a:xfrm>
            <a:off x="311700" y="510425"/>
            <a:ext cx="86730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t>Data by cycle chart: select % Base under ‘Chart’ -&gt; Adapter dimers? Short fragments?</a:t>
            </a:r>
            <a:endParaRPr sz="1600"/>
          </a:p>
        </p:txBody>
      </p:sp>
      <p:sp>
        <p:nvSpPr>
          <p:cNvPr id="133" name="Google Shape;133;p22"/>
          <p:cNvSpPr/>
          <p:nvPr/>
        </p:nvSpPr>
        <p:spPr>
          <a:xfrm>
            <a:off x="2821325" y="601175"/>
            <a:ext cx="748800" cy="2496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2"/>
          <p:cNvSpPr/>
          <p:nvPr/>
        </p:nvSpPr>
        <p:spPr>
          <a:xfrm>
            <a:off x="1150700" y="1502300"/>
            <a:ext cx="368400" cy="2496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2"/>
          <p:cNvSpPr txBox="1"/>
          <p:nvPr/>
        </p:nvSpPr>
        <p:spPr>
          <a:xfrm>
            <a:off x="4004600" y="4663025"/>
            <a:ext cx="1844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Read 1 = 150 cycles</a:t>
            </a:r>
            <a:endParaRPr sz="1200"/>
          </a:p>
        </p:txBody>
      </p:sp>
      <p:sp>
        <p:nvSpPr>
          <p:cNvPr id="136" name="Google Shape;136;p22"/>
          <p:cNvSpPr txBox="1"/>
          <p:nvPr/>
        </p:nvSpPr>
        <p:spPr>
          <a:xfrm>
            <a:off x="6902375" y="4663025"/>
            <a:ext cx="1844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Read 2 = 150 cycles</a:t>
            </a:r>
            <a:endParaRPr sz="1200"/>
          </a:p>
        </p:txBody>
      </p:sp>
      <p:cxnSp>
        <p:nvCxnSpPr>
          <p:cNvPr id="137" name="Google Shape;137;p22"/>
          <p:cNvCxnSpPr/>
          <p:nvPr/>
        </p:nvCxnSpPr>
        <p:spPr>
          <a:xfrm>
            <a:off x="3640600" y="4734350"/>
            <a:ext cx="2449800" cy="0"/>
          </a:xfrm>
          <a:prstGeom prst="straightConnector1">
            <a:avLst/>
          </a:prstGeom>
          <a:noFill/>
          <a:ln w="28575" cap="flat" cmpd="sng">
            <a:solidFill>
              <a:srgbClr val="FF0000"/>
            </a:solidFill>
            <a:prstDash val="solid"/>
            <a:round/>
            <a:headEnd type="none" w="med" len="med"/>
            <a:tailEnd type="none" w="med" len="med"/>
          </a:ln>
        </p:spPr>
      </p:cxnSp>
      <p:cxnSp>
        <p:nvCxnSpPr>
          <p:cNvPr id="138" name="Google Shape;138;p22"/>
          <p:cNvCxnSpPr/>
          <p:nvPr/>
        </p:nvCxnSpPr>
        <p:spPr>
          <a:xfrm>
            <a:off x="6472775" y="4734350"/>
            <a:ext cx="2359500" cy="0"/>
          </a:xfrm>
          <a:prstGeom prst="straightConnector1">
            <a:avLst/>
          </a:prstGeom>
          <a:noFill/>
          <a:ln w="28575" cap="flat" cmpd="sng">
            <a:solidFill>
              <a:srgbClr val="FF0000"/>
            </a:solidFill>
            <a:prstDash val="solid"/>
            <a:round/>
            <a:headEnd type="none" w="med" len="med"/>
            <a:tailEnd type="none" w="med" len="med"/>
          </a:ln>
        </p:spPr>
      </p:cxnSp>
      <p:cxnSp>
        <p:nvCxnSpPr>
          <p:cNvPr id="139" name="Google Shape;139;p22"/>
          <p:cNvCxnSpPr/>
          <p:nvPr/>
        </p:nvCxnSpPr>
        <p:spPr>
          <a:xfrm>
            <a:off x="6090400" y="4561625"/>
            <a:ext cx="379800" cy="0"/>
          </a:xfrm>
          <a:prstGeom prst="straightConnector1">
            <a:avLst/>
          </a:prstGeom>
          <a:noFill/>
          <a:ln w="28575" cap="flat" cmpd="sng">
            <a:solidFill>
              <a:srgbClr val="FF0000"/>
            </a:solidFill>
            <a:prstDash val="solid"/>
            <a:round/>
            <a:headEnd type="none" w="med" len="med"/>
            <a:tailEnd type="none" w="med" len="med"/>
          </a:ln>
        </p:spPr>
      </p:cxnSp>
      <p:sp>
        <p:nvSpPr>
          <p:cNvPr id="140" name="Google Shape;140;p22"/>
          <p:cNvSpPr txBox="1"/>
          <p:nvPr/>
        </p:nvSpPr>
        <p:spPr>
          <a:xfrm>
            <a:off x="5836275" y="4254425"/>
            <a:ext cx="8889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t>Index ✕2</a:t>
            </a:r>
            <a:endParaRPr sz="1200"/>
          </a:p>
        </p:txBody>
      </p:sp>
      <p:sp>
        <p:nvSpPr>
          <p:cNvPr id="141" name="Google Shape;141;p22"/>
          <p:cNvSpPr txBox="1"/>
          <p:nvPr/>
        </p:nvSpPr>
        <p:spPr>
          <a:xfrm>
            <a:off x="9625075" y="4145175"/>
            <a:ext cx="6250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pic>
        <p:nvPicPr>
          <p:cNvPr id="142" name="Google Shape;142;p22"/>
          <p:cNvPicPr preferRelativeResize="0"/>
          <p:nvPr/>
        </p:nvPicPr>
        <p:blipFill rotWithShape="1">
          <a:blip r:embed="rId4">
            <a:alphaModFix/>
          </a:blip>
          <a:srcRect l="6978" t="18516" r="52703" b="29116"/>
          <a:stretch/>
        </p:blipFill>
        <p:spPr>
          <a:xfrm>
            <a:off x="76200" y="4424125"/>
            <a:ext cx="634800" cy="643174"/>
          </a:xfrm>
          <a:prstGeom prst="rect">
            <a:avLst/>
          </a:prstGeom>
          <a:noFill/>
          <a:ln>
            <a:noFill/>
          </a:ln>
        </p:spPr>
      </p:pic>
      <p:sp>
        <p:nvSpPr>
          <p:cNvPr id="143" name="Google Shape;143;p22"/>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Evaluate level of adapter dimers and fragment length</a:t>
            </a:r>
            <a:endParaRPr sz="2420" b="1"/>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p23"/>
          <p:cNvPicPr preferRelativeResize="0"/>
          <p:nvPr/>
        </p:nvPicPr>
        <p:blipFill>
          <a:blip r:embed="rId3">
            <a:alphaModFix/>
          </a:blip>
          <a:stretch>
            <a:fillRect/>
          </a:stretch>
        </p:blipFill>
        <p:spPr>
          <a:xfrm>
            <a:off x="990600" y="941525"/>
            <a:ext cx="8117282" cy="4201976"/>
          </a:xfrm>
          <a:prstGeom prst="rect">
            <a:avLst/>
          </a:prstGeom>
          <a:noFill/>
          <a:ln>
            <a:noFill/>
          </a:ln>
        </p:spPr>
      </p:pic>
      <p:sp>
        <p:nvSpPr>
          <p:cNvPr id="149" name="Google Shape;149;p23"/>
          <p:cNvSpPr txBox="1"/>
          <p:nvPr/>
        </p:nvSpPr>
        <p:spPr>
          <a:xfrm>
            <a:off x="311700" y="510425"/>
            <a:ext cx="86730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t>Data by cycle chart: select % Base under ‘Chart’ -&gt; Adapter dimers? Short fragments?</a:t>
            </a:r>
            <a:endParaRPr sz="1600"/>
          </a:p>
        </p:txBody>
      </p:sp>
      <p:sp>
        <p:nvSpPr>
          <p:cNvPr id="150" name="Google Shape;150;p23"/>
          <p:cNvSpPr/>
          <p:nvPr/>
        </p:nvSpPr>
        <p:spPr>
          <a:xfrm>
            <a:off x="2821325" y="601175"/>
            <a:ext cx="748800" cy="2496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3"/>
          <p:cNvSpPr/>
          <p:nvPr/>
        </p:nvSpPr>
        <p:spPr>
          <a:xfrm>
            <a:off x="1150700" y="1502300"/>
            <a:ext cx="368400" cy="2496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3"/>
          <p:cNvSpPr txBox="1"/>
          <p:nvPr/>
        </p:nvSpPr>
        <p:spPr>
          <a:xfrm>
            <a:off x="4004600" y="4663025"/>
            <a:ext cx="1844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Read 1 = 150 cycles</a:t>
            </a:r>
            <a:endParaRPr sz="1200"/>
          </a:p>
        </p:txBody>
      </p:sp>
      <p:sp>
        <p:nvSpPr>
          <p:cNvPr id="153" name="Google Shape;153;p23"/>
          <p:cNvSpPr txBox="1"/>
          <p:nvPr/>
        </p:nvSpPr>
        <p:spPr>
          <a:xfrm>
            <a:off x="6902375" y="4663025"/>
            <a:ext cx="1844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Read 2 = 150 cycles</a:t>
            </a:r>
            <a:endParaRPr sz="1200"/>
          </a:p>
        </p:txBody>
      </p:sp>
      <p:cxnSp>
        <p:nvCxnSpPr>
          <p:cNvPr id="154" name="Google Shape;154;p23"/>
          <p:cNvCxnSpPr/>
          <p:nvPr/>
        </p:nvCxnSpPr>
        <p:spPr>
          <a:xfrm>
            <a:off x="3640600" y="4734350"/>
            <a:ext cx="2449800" cy="0"/>
          </a:xfrm>
          <a:prstGeom prst="straightConnector1">
            <a:avLst/>
          </a:prstGeom>
          <a:noFill/>
          <a:ln w="28575" cap="flat" cmpd="sng">
            <a:solidFill>
              <a:srgbClr val="FF0000"/>
            </a:solidFill>
            <a:prstDash val="solid"/>
            <a:round/>
            <a:headEnd type="none" w="med" len="med"/>
            <a:tailEnd type="none" w="med" len="med"/>
          </a:ln>
        </p:spPr>
      </p:cxnSp>
      <p:cxnSp>
        <p:nvCxnSpPr>
          <p:cNvPr id="155" name="Google Shape;155;p23"/>
          <p:cNvCxnSpPr/>
          <p:nvPr/>
        </p:nvCxnSpPr>
        <p:spPr>
          <a:xfrm>
            <a:off x="6396825" y="4734350"/>
            <a:ext cx="2435400" cy="0"/>
          </a:xfrm>
          <a:prstGeom prst="straightConnector1">
            <a:avLst/>
          </a:prstGeom>
          <a:noFill/>
          <a:ln w="28575" cap="flat" cmpd="sng">
            <a:solidFill>
              <a:srgbClr val="FF0000"/>
            </a:solidFill>
            <a:prstDash val="solid"/>
            <a:round/>
            <a:headEnd type="none" w="med" len="med"/>
            <a:tailEnd type="none" w="med" len="med"/>
          </a:ln>
        </p:spPr>
      </p:cxnSp>
      <p:cxnSp>
        <p:nvCxnSpPr>
          <p:cNvPr id="156" name="Google Shape;156;p23"/>
          <p:cNvCxnSpPr/>
          <p:nvPr/>
        </p:nvCxnSpPr>
        <p:spPr>
          <a:xfrm>
            <a:off x="6090400" y="4561625"/>
            <a:ext cx="298200" cy="0"/>
          </a:xfrm>
          <a:prstGeom prst="straightConnector1">
            <a:avLst/>
          </a:prstGeom>
          <a:noFill/>
          <a:ln w="28575" cap="flat" cmpd="sng">
            <a:solidFill>
              <a:srgbClr val="FF0000"/>
            </a:solidFill>
            <a:prstDash val="solid"/>
            <a:round/>
            <a:headEnd type="none" w="med" len="med"/>
            <a:tailEnd type="none" w="med" len="med"/>
          </a:ln>
        </p:spPr>
      </p:cxnSp>
      <p:sp>
        <p:nvSpPr>
          <p:cNvPr id="157" name="Google Shape;157;p23"/>
          <p:cNvSpPr txBox="1"/>
          <p:nvPr/>
        </p:nvSpPr>
        <p:spPr>
          <a:xfrm>
            <a:off x="5836275" y="4254425"/>
            <a:ext cx="8889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t>Index ✕2</a:t>
            </a:r>
            <a:endParaRPr sz="1200"/>
          </a:p>
        </p:txBody>
      </p:sp>
      <p:sp>
        <p:nvSpPr>
          <p:cNvPr id="158" name="Google Shape;158;p23"/>
          <p:cNvSpPr txBox="1"/>
          <p:nvPr/>
        </p:nvSpPr>
        <p:spPr>
          <a:xfrm>
            <a:off x="9625075" y="4145175"/>
            <a:ext cx="6250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159" name="Google Shape;159;p23"/>
          <p:cNvSpPr txBox="1"/>
          <p:nvPr/>
        </p:nvSpPr>
        <p:spPr>
          <a:xfrm>
            <a:off x="4676900" y="1161075"/>
            <a:ext cx="34290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t>Variation in beginning of reads is normal</a:t>
            </a:r>
            <a:endParaRPr sz="1200"/>
          </a:p>
        </p:txBody>
      </p:sp>
      <p:sp>
        <p:nvSpPr>
          <p:cNvPr id="160" name="Google Shape;160;p23"/>
          <p:cNvSpPr txBox="1"/>
          <p:nvPr/>
        </p:nvSpPr>
        <p:spPr>
          <a:xfrm>
            <a:off x="4053350" y="3659950"/>
            <a:ext cx="1747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t>Signal around 25% (if 50%GC content)</a:t>
            </a:r>
            <a:endParaRPr sz="1200"/>
          </a:p>
        </p:txBody>
      </p:sp>
      <p:cxnSp>
        <p:nvCxnSpPr>
          <p:cNvPr id="161" name="Google Shape;161;p23"/>
          <p:cNvCxnSpPr/>
          <p:nvPr/>
        </p:nvCxnSpPr>
        <p:spPr>
          <a:xfrm flipH="1">
            <a:off x="3928275" y="1508325"/>
            <a:ext cx="1041600" cy="824700"/>
          </a:xfrm>
          <a:prstGeom prst="straightConnector1">
            <a:avLst/>
          </a:prstGeom>
          <a:noFill/>
          <a:ln w="9525" cap="flat" cmpd="sng">
            <a:solidFill>
              <a:schemeClr val="dk2"/>
            </a:solidFill>
            <a:prstDash val="solid"/>
            <a:round/>
            <a:headEnd type="none" w="med" len="med"/>
            <a:tailEnd type="triangle" w="med" len="med"/>
          </a:ln>
        </p:spPr>
      </p:cxnSp>
      <p:cxnSp>
        <p:nvCxnSpPr>
          <p:cNvPr id="162" name="Google Shape;162;p23"/>
          <p:cNvCxnSpPr/>
          <p:nvPr/>
        </p:nvCxnSpPr>
        <p:spPr>
          <a:xfrm flipH="1">
            <a:off x="6646975" y="1508325"/>
            <a:ext cx="435000" cy="753300"/>
          </a:xfrm>
          <a:prstGeom prst="straightConnector1">
            <a:avLst/>
          </a:prstGeom>
          <a:noFill/>
          <a:ln w="9525" cap="flat" cmpd="sng">
            <a:solidFill>
              <a:schemeClr val="dk2"/>
            </a:solidFill>
            <a:prstDash val="solid"/>
            <a:round/>
            <a:headEnd type="none" w="med" len="med"/>
            <a:tailEnd type="triangle" w="med" len="med"/>
          </a:ln>
        </p:spPr>
      </p:cxnSp>
      <p:cxnSp>
        <p:nvCxnSpPr>
          <p:cNvPr id="163" name="Google Shape;163;p23"/>
          <p:cNvCxnSpPr>
            <a:stCxn id="160" idx="0"/>
          </p:cNvCxnSpPr>
          <p:nvPr/>
        </p:nvCxnSpPr>
        <p:spPr>
          <a:xfrm rot="10800000">
            <a:off x="4926950" y="3320350"/>
            <a:ext cx="0" cy="339600"/>
          </a:xfrm>
          <a:prstGeom prst="straightConnector1">
            <a:avLst/>
          </a:prstGeom>
          <a:noFill/>
          <a:ln w="9525" cap="flat" cmpd="sng">
            <a:solidFill>
              <a:schemeClr val="dk2"/>
            </a:solidFill>
            <a:prstDash val="solid"/>
            <a:round/>
            <a:headEnd type="none" w="med" len="med"/>
            <a:tailEnd type="triangle" w="med" len="med"/>
          </a:ln>
        </p:spPr>
      </p:cxnSp>
      <p:sp>
        <p:nvSpPr>
          <p:cNvPr id="164" name="Google Shape;164;p23"/>
          <p:cNvSpPr txBox="1"/>
          <p:nvPr/>
        </p:nvSpPr>
        <p:spPr>
          <a:xfrm>
            <a:off x="6652075" y="3736150"/>
            <a:ext cx="26586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Lower sequence diversity of indexes causes larger peaks</a:t>
            </a:r>
            <a:endParaRPr sz="1200"/>
          </a:p>
        </p:txBody>
      </p:sp>
      <p:cxnSp>
        <p:nvCxnSpPr>
          <p:cNvPr id="165" name="Google Shape;165;p23"/>
          <p:cNvCxnSpPr>
            <a:stCxn id="164" idx="1"/>
          </p:cNvCxnSpPr>
          <p:nvPr/>
        </p:nvCxnSpPr>
        <p:spPr>
          <a:xfrm rot="10800000">
            <a:off x="6328975" y="3881500"/>
            <a:ext cx="323100" cy="131700"/>
          </a:xfrm>
          <a:prstGeom prst="straightConnector1">
            <a:avLst/>
          </a:prstGeom>
          <a:noFill/>
          <a:ln w="9525" cap="flat" cmpd="sng">
            <a:solidFill>
              <a:schemeClr val="dk2"/>
            </a:solidFill>
            <a:prstDash val="solid"/>
            <a:round/>
            <a:headEnd type="none" w="med" len="med"/>
            <a:tailEnd type="triangle" w="med" len="med"/>
          </a:ln>
        </p:spPr>
      </p:cxnSp>
      <p:pic>
        <p:nvPicPr>
          <p:cNvPr id="166" name="Google Shape;166;p23"/>
          <p:cNvPicPr preferRelativeResize="0"/>
          <p:nvPr/>
        </p:nvPicPr>
        <p:blipFill rotWithShape="1">
          <a:blip r:embed="rId4">
            <a:alphaModFix/>
          </a:blip>
          <a:srcRect l="6978" t="18516" r="52703" b="29116"/>
          <a:stretch/>
        </p:blipFill>
        <p:spPr>
          <a:xfrm>
            <a:off x="76200" y="4424125"/>
            <a:ext cx="634800" cy="643174"/>
          </a:xfrm>
          <a:prstGeom prst="rect">
            <a:avLst/>
          </a:prstGeom>
          <a:noFill/>
          <a:ln>
            <a:noFill/>
          </a:ln>
        </p:spPr>
      </p:pic>
      <p:sp>
        <p:nvSpPr>
          <p:cNvPr id="167" name="Google Shape;167;p23"/>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Evaluate level of adapter dimers and fragment length</a:t>
            </a:r>
            <a:endParaRPr sz="242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9"/>
                                        </p:tgtEl>
                                        <p:attrNameLst>
                                          <p:attrName>style.visibility</p:attrName>
                                        </p:attrNameLst>
                                      </p:cBhvr>
                                      <p:to>
                                        <p:strVal val="visible"/>
                                      </p:to>
                                    </p:set>
                                    <p:animEffect transition="in" filter="fade">
                                      <p:cBhvr>
                                        <p:cTn id="7" dur="1000"/>
                                        <p:tgtEl>
                                          <p:spTgt spid="159"/>
                                        </p:tgtEl>
                                      </p:cBhvr>
                                    </p:animEffect>
                                  </p:childTnLst>
                                </p:cTn>
                              </p:par>
                              <p:par>
                                <p:cTn id="8" presetID="10" presetClass="entr" presetSubtype="0" fill="hold" nodeType="withEffect">
                                  <p:stCondLst>
                                    <p:cond delay="0"/>
                                  </p:stCondLst>
                                  <p:childTnLst>
                                    <p:set>
                                      <p:cBhvr>
                                        <p:cTn id="9" dur="1" fill="hold">
                                          <p:stCondLst>
                                            <p:cond delay="0"/>
                                          </p:stCondLst>
                                        </p:cTn>
                                        <p:tgtEl>
                                          <p:spTgt spid="161"/>
                                        </p:tgtEl>
                                        <p:attrNameLst>
                                          <p:attrName>style.visibility</p:attrName>
                                        </p:attrNameLst>
                                      </p:cBhvr>
                                      <p:to>
                                        <p:strVal val="visible"/>
                                      </p:to>
                                    </p:set>
                                    <p:animEffect transition="in" filter="fade">
                                      <p:cBhvr>
                                        <p:cTn id="10" dur="1000"/>
                                        <p:tgtEl>
                                          <p:spTgt spid="161"/>
                                        </p:tgtEl>
                                      </p:cBhvr>
                                    </p:animEffect>
                                  </p:childTnLst>
                                </p:cTn>
                              </p:par>
                              <p:par>
                                <p:cTn id="11" presetID="10" presetClass="entr" presetSubtype="0" fill="hold" nodeType="withEffect">
                                  <p:stCondLst>
                                    <p:cond delay="0"/>
                                  </p:stCondLst>
                                  <p:childTnLst>
                                    <p:set>
                                      <p:cBhvr>
                                        <p:cTn id="12" dur="1" fill="hold">
                                          <p:stCondLst>
                                            <p:cond delay="0"/>
                                          </p:stCondLst>
                                        </p:cTn>
                                        <p:tgtEl>
                                          <p:spTgt spid="162"/>
                                        </p:tgtEl>
                                        <p:attrNameLst>
                                          <p:attrName>style.visibility</p:attrName>
                                        </p:attrNameLst>
                                      </p:cBhvr>
                                      <p:to>
                                        <p:strVal val="visible"/>
                                      </p:to>
                                    </p:set>
                                    <p:animEffect transition="in" filter="fade">
                                      <p:cBhvr>
                                        <p:cTn id="13" dur="1000"/>
                                        <p:tgtEl>
                                          <p:spTgt spid="16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64"/>
                                        </p:tgtEl>
                                        <p:attrNameLst>
                                          <p:attrName>style.visibility</p:attrName>
                                        </p:attrNameLst>
                                      </p:cBhvr>
                                      <p:to>
                                        <p:strVal val="visible"/>
                                      </p:to>
                                    </p:set>
                                    <p:animEffect transition="in" filter="fade">
                                      <p:cBhvr>
                                        <p:cTn id="18" dur="1000"/>
                                        <p:tgtEl>
                                          <p:spTgt spid="164"/>
                                        </p:tgtEl>
                                      </p:cBhvr>
                                    </p:animEffect>
                                  </p:childTnLst>
                                </p:cTn>
                              </p:par>
                              <p:par>
                                <p:cTn id="19" presetID="10" presetClass="entr" presetSubtype="0" fill="hold" nodeType="withEffect">
                                  <p:stCondLst>
                                    <p:cond delay="0"/>
                                  </p:stCondLst>
                                  <p:childTnLst>
                                    <p:set>
                                      <p:cBhvr>
                                        <p:cTn id="20" dur="1" fill="hold">
                                          <p:stCondLst>
                                            <p:cond delay="0"/>
                                          </p:stCondLst>
                                        </p:cTn>
                                        <p:tgtEl>
                                          <p:spTgt spid="165"/>
                                        </p:tgtEl>
                                        <p:attrNameLst>
                                          <p:attrName>style.visibility</p:attrName>
                                        </p:attrNameLst>
                                      </p:cBhvr>
                                      <p:to>
                                        <p:strVal val="visible"/>
                                      </p:to>
                                    </p:set>
                                    <p:animEffect transition="in" filter="fade">
                                      <p:cBhvr>
                                        <p:cTn id="21" dur="1000"/>
                                        <p:tgtEl>
                                          <p:spTgt spid="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pic>
        <p:nvPicPr>
          <p:cNvPr id="172" name="Google Shape;172;p24"/>
          <p:cNvPicPr preferRelativeResize="0"/>
          <p:nvPr/>
        </p:nvPicPr>
        <p:blipFill>
          <a:blip r:embed="rId3">
            <a:alphaModFix/>
          </a:blip>
          <a:stretch>
            <a:fillRect/>
          </a:stretch>
        </p:blipFill>
        <p:spPr>
          <a:xfrm>
            <a:off x="990600" y="560525"/>
            <a:ext cx="8117282" cy="4201976"/>
          </a:xfrm>
          <a:prstGeom prst="rect">
            <a:avLst/>
          </a:prstGeom>
          <a:noFill/>
          <a:ln>
            <a:noFill/>
          </a:ln>
        </p:spPr>
      </p:pic>
      <p:sp>
        <p:nvSpPr>
          <p:cNvPr id="173" name="Google Shape;173;p24"/>
          <p:cNvSpPr txBox="1"/>
          <p:nvPr/>
        </p:nvSpPr>
        <p:spPr>
          <a:xfrm>
            <a:off x="3513588" y="1108050"/>
            <a:ext cx="28104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t>Average signal for GC and AT can differ based on GC content, but overall GCAT signal average should be 25%</a:t>
            </a:r>
            <a:endParaRPr sz="1200"/>
          </a:p>
          <a:p>
            <a:pPr marL="0" lvl="0" indent="0" algn="ctr" rtl="0">
              <a:spcBef>
                <a:spcPts val="0"/>
              </a:spcBef>
              <a:spcAft>
                <a:spcPts val="0"/>
              </a:spcAft>
              <a:buNone/>
            </a:pPr>
            <a:endParaRPr sz="1200"/>
          </a:p>
        </p:txBody>
      </p:sp>
      <p:cxnSp>
        <p:nvCxnSpPr>
          <p:cNvPr id="174" name="Google Shape;174;p24"/>
          <p:cNvCxnSpPr/>
          <p:nvPr/>
        </p:nvCxnSpPr>
        <p:spPr>
          <a:xfrm>
            <a:off x="4915500" y="2126850"/>
            <a:ext cx="0" cy="748800"/>
          </a:xfrm>
          <a:prstGeom prst="straightConnector1">
            <a:avLst/>
          </a:prstGeom>
          <a:noFill/>
          <a:ln w="9525" cap="flat" cmpd="sng">
            <a:solidFill>
              <a:schemeClr val="dk2"/>
            </a:solidFill>
            <a:prstDash val="solid"/>
            <a:round/>
            <a:headEnd type="none" w="med" len="med"/>
            <a:tailEnd type="triangle" w="med" len="med"/>
          </a:ln>
        </p:spPr>
      </p:cxnSp>
      <p:pic>
        <p:nvPicPr>
          <p:cNvPr id="175" name="Google Shape;175;p24"/>
          <p:cNvPicPr preferRelativeResize="0"/>
          <p:nvPr/>
        </p:nvPicPr>
        <p:blipFill rotWithShape="1">
          <a:blip r:embed="rId4">
            <a:alphaModFix/>
          </a:blip>
          <a:srcRect l="6978" t="18516" r="52703" b="29116"/>
          <a:stretch/>
        </p:blipFill>
        <p:spPr>
          <a:xfrm>
            <a:off x="76200" y="4424125"/>
            <a:ext cx="634800" cy="643174"/>
          </a:xfrm>
          <a:prstGeom prst="rect">
            <a:avLst/>
          </a:prstGeom>
          <a:noFill/>
          <a:ln>
            <a:noFill/>
          </a:ln>
        </p:spPr>
      </p:pic>
      <p:sp>
        <p:nvSpPr>
          <p:cNvPr id="176" name="Google Shape;176;p24"/>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Evaluate level of adapter dimers and fragment length</a:t>
            </a:r>
            <a:endParaRPr sz="2420"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grpSp>
        <p:nvGrpSpPr>
          <p:cNvPr id="181" name="Google Shape;181;p25"/>
          <p:cNvGrpSpPr/>
          <p:nvPr/>
        </p:nvGrpSpPr>
        <p:grpSpPr>
          <a:xfrm>
            <a:off x="987475" y="889800"/>
            <a:ext cx="8120399" cy="3917400"/>
            <a:chOff x="987475" y="889800"/>
            <a:chExt cx="8120399" cy="3917400"/>
          </a:xfrm>
        </p:grpSpPr>
        <p:pic>
          <p:nvPicPr>
            <p:cNvPr id="182" name="Google Shape;182;p25"/>
            <p:cNvPicPr preferRelativeResize="0"/>
            <p:nvPr/>
          </p:nvPicPr>
          <p:blipFill rotWithShape="1">
            <a:blip r:embed="rId3">
              <a:alphaModFix/>
            </a:blip>
            <a:srcRect t="7834"/>
            <a:stretch/>
          </p:blipFill>
          <p:spPr>
            <a:xfrm>
              <a:off x="990600" y="889800"/>
              <a:ext cx="8117274" cy="3872700"/>
            </a:xfrm>
            <a:prstGeom prst="rect">
              <a:avLst/>
            </a:prstGeom>
            <a:noFill/>
            <a:ln>
              <a:noFill/>
            </a:ln>
          </p:spPr>
        </p:pic>
        <p:sp>
          <p:nvSpPr>
            <p:cNvPr id="183" name="Google Shape;183;p25"/>
            <p:cNvSpPr/>
            <p:nvPr/>
          </p:nvSpPr>
          <p:spPr>
            <a:xfrm>
              <a:off x="987475" y="889800"/>
              <a:ext cx="2170200" cy="39174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84" name="Google Shape;184;p25"/>
          <p:cNvCxnSpPr/>
          <p:nvPr/>
        </p:nvCxnSpPr>
        <p:spPr>
          <a:xfrm>
            <a:off x="5273725" y="1551750"/>
            <a:ext cx="352800" cy="610800"/>
          </a:xfrm>
          <a:prstGeom prst="straightConnector1">
            <a:avLst/>
          </a:prstGeom>
          <a:noFill/>
          <a:ln w="9525" cap="flat" cmpd="sng">
            <a:solidFill>
              <a:schemeClr val="dk2"/>
            </a:solidFill>
            <a:prstDash val="solid"/>
            <a:round/>
            <a:headEnd type="none" w="med" len="med"/>
            <a:tailEnd type="triangle" w="med" len="med"/>
          </a:ln>
        </p:spPr>
      </p:cxnSp>
      <p:sp>
        <p:nvSpPr>
          <p:cNvPr id="185" name="Google Shape;185;p25"/>
          <p:cNvSpPr txBox="1"/>
          <p:nvPr/>
        </p:nvSpPr>
        <p:spPr>
          <a:xfrm>
            <a:off x="4113325" y="976375"/>
            <a:ext cx="2029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t>Increase in G signal at end of reads</a:t>
            </a:r>
            <a:endParaRPr sz="1200"/>
          </a:p>
        </p:txBody>
      </p:sp>
      <p:pic>
        <p:nvPicPr>
          <p:cNvPr id="186" name="Google Shape;186;p25"/>
          <p:cNvPicPr preferRelativeResize="0"/>
          <p:nvPr/>
        </p:nvPicPr>
        <p:blipFill rotWithShape="1">
          <a:blip r:embed="rId4">
            <a:alphaModFix/>
          </a:blip>
          <a:srcRect l="51775" t="19401" r="7906" b="28231"/>
          <a:stretch/>
        </p:blipFill>
        <p:spPr>
          <a:xfrm>
            <a:off x="76700" y="4500325"/>
            <a:ext cx="634800" cy="643174"/>
          </a:xfrm>
          <a:prstGeom prst="rect">
            <a:avLst/>
          </a:prstGeom>
          <a:noFill/>
          <a:ln>
            <a:noFill/>
          </a:ln>
        </p:spPr>
      </p:pic>
      <p:sp>
        <p:nvSpPr>
          <p:cNvPr id="187" name="Google Shape;187;p25"/>
          <p:cNvSpPr txBox="1"/>
          <p:nvPr/>
        </p:nvSpPr>
        <p:spPr>
          <a:xfrm>
            <a:off x="76700" y="900175"/>
            <a:ext cx="3440100" cy="3613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a:solidFill>
                  <a:srgbClr val="FF0000"/>
                </a:solidFill>
              </a:rPr>
              <a:t>Issue 1 - short reads</a:t>
            </a:r>
            <a:r>
              <a:rPr lang="en" sz="1200"/>
              <a:t>: Increase in G signal at end of reads</a:t>
            </a:r>
            <a:endParaRPr sz="1200"/>
          </a:p>
          <a:p>
            <a:pPr marL="0" lvl="0" indent="0" algn="l" rtl="0">
              <a:lnSpc>
                <a:spcPct val="150000"/>
              </a:lnSpc>
              <a:spcBef>
                <a:spcPts val="0"/>
              </a:spcBef>
              <a:spcAft>
                <a:spcPts val="0"/>
              </a:spcAft>
              <a:buNone/>
            </a:pPr>
            <a:endParaRPr sz="400"/>
          </a:p>
          <a:p>
            <a:pPr marL="171450" lvl="0" indent="-190500" algn="l" rtl="0">
              <a:lnSpc>
                <a:spcPct val="150000"/>
              </a:lnSpc>
              <a:spcBef>
                <a:spcPts val="0"/>
              </a:spcBef>
              <a:spcAft>
                <a:spcPts val="0"/>
              </a:spcAft>
              <a:buSzPts val="1200"/>
              <a:buChar char="●"/>
            </a:pPr>
            <a:r>
              <a:rPr lang="en" sz="1200"/>
              <a:t>G is the “dark base” is iSeq , MiniSeq, NextSeq and NovaSeq chemistry. </a:t>
            </a:r>
            <a:endParaRPr sz="1200"/>
          </a:p>
          <a:p>
            <a:pPr marL="0" lvl="0" indent="0" algn="l" rtl="0">
              <a:lnSpc>
                <a:spcPct val="150000"/>
              </a:lnSpc>
              <a:spcBef>
                <a:spcPts val="0"/>
              </a:spcBef>
              <a:spcAft>
                <a:spcPts val="0"/>
              </a:spcAft>
              <a:buNone/>
            </a:pPr>
            <a:endParaRPr sz="100"/>
          </a:p>
          <a:p>
            <a:pPr marL="171450" lvl="0" indent="-190500" algn="l" rtl="0">
              <a:lnSpc>
                <a:spcPct val="150000"/>
              </a:lnSpc>
              <a:spcBef>
                <a:spcPts val="0"/>
              </a:spcBef>
              <a:spcAft>
                <a:spcPts val="0"/>
              </a:spcAft>
              <a:buSzPts val="1200"/>
              <a:buChar char="●"/>
            </a:pPr>
            <a:r>
              <a:rPr lang="en" sz="1200"/>
              <a:t>Continuous increase in G indicates no bases detected for subsequent cycles</a:t>
            </a:r>
            <a:endParaRPr sz="1200"/>
          </a:p>
          <a:p>
            <a:pPr marL="457200" lvl="0" indent="-304800" algn="l" rtl="0">
              <a:lnSpc>
                <a:spcPct val="150000"/>
              </a:lnSpc>
              <a:spcBef>
                <a:spcPts val="0"/>
              </a:spcBef>
              <a:spcAft>
                <a:spcPts val="0"/>
              </a:spcAft>
              <a:buSzPts val="1200"/>
              <a:buChar char="-"/>
            </a:pPr>
            <a:r>
              <a:rPr lang="en" sz="1200"/>
              <a:t>Inserts shorter than 150 bp? </a:t>
            </a:r>
            <a:endParaRPr sz="1200"/>
          </a:p>
          <a:p>
            <a:pPr marL="457200" lvl="0" indent="-304800" algn="l" rtl="0">
              <a:lnSpc>
                <a:spcPct val="150000"/>
              </a:lnSpc>
              <a:spcBef>
                <a:spcPts val="0"/>
              </a:spcBef>
              <a:spcAft>
                <a:spcPts val="0"/>
              </a:spcAft>
              <a:buSzPts val="1200"/>
              <a:buChar char="-"/>
            </a:pPr>
            <a:r>
              <a:rPr lang="en" sz="1200"/>
              <a:t>Issue with elongation of strands during clustering?</a:t>
            </a:r>
            <a:endParaRPr sz="1200"/>
          </a:p>
          <a:p>
            <a:pPr marL="0" lvl="0" indent="0" algn="l" rtl="0">
              <a:lnSpc>
                <a:spcPct val="150000"/>
              </a:lnSpc>
              <a:spcBef>
                <a:spcPts val="0"/>
              </a:spcBef>
              <a:spcAft>
                <a:spcPts val="0"/>
              </a:spcAft>
              <a:buNone/>
            </a:pPr>
            <a:endParaRPr sz="100"/>
          </a:p>
          <a:p>
            <a:pPr marL="171450" lvl="0" indent="-190500" algn="l" rtl="0">
              <a:lnSpc>
                <a:spcPct val="150000"/>
              </a:lnSpc>
              <a:spcBef>
                <a:spcPts val="0"/>
              </a:spcBef>
              <a:spcAft>
                <a:spcPts val="0"/>
              </a:spcAft>
              <a:buClr>
                <a:schemeClr val="dk1"/>
              </a:buClr>
              <a:buSzPts val="1200"/>
              <a:buChar char="●"/>
            </a:pPr>
            <a:r>
              <a:rPr lang="en" sz="1200">
                <a:solidFill>
                  <a:schemeClr val="dk1"/>
                </a:solidFill>
              </a:rPr>
              <a:t>If insert size was indeed shorter than usual (check lib prep QC), reduce fragmentation time for future!</a:t>
            </a:r>
            <a:endParaRPr sz="1200"/>
          </a:p>
        </p:txBody>
      </p:sp>
      <p:sp>
        <p:nvSpPr>
          <p:cNvPr id="188" name="Google Shape;188;p25"/>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Evaluate level of adapter dimers and fragment length</a:t>
            </a:r>
            <a:endParaRPr sz="2420" b="1"/>
          </a:p>
        </p:txBody>
      </p:sp>
      <p:sp>
        <p:nvSpPr>
          <p:cNvPr id="189" name="Google Shape;189;p25"/>
          <p:cNvSpPr txBox="1"/>
          <p:nvPr/>
        </p:nvSpPr>
        <p:spPr>
          <a:xfrm>
            <a:off x="987475" y="4709538"/>
            <a:ext cx="4818900" cy="3693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a:solidFill>
                  <a:schemeClr val="dk1"/>
                </a:solidFill>
              </a:rPr>
              <a:t>Note: MiSeq and HiSeq would call an A in case nothing is detected.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pic>
        <p:nvPicPr>
          <p:cNvPr id="194" name="Google Shape;194;p26"/>
          <p:cNvPicPr preferRelativeResize="0"/>
          <p:nvPr/>
        </p:nvPicPr>
        <p:blipFill rotWithShape="1">
          <a:blip r:embed="rId3">
            <a:alphaModFix/>
          </a:blip>
          <a:srcRect l="24738"/>
          <a:stretch/>
        </p:blipFill>
        <p:spPr>
          <a:xfrm>
            <a:off x="3408063" y="636725"/>
            <a:ext cx="5295812" cy="3421125"/>
          </a:xfrm>
          <a:prstGeom prst="rect">
            <a:avLst/>
          </a:prstGeom>
          <a:noFill/>
          <a:ln>
            <a:noFill/>
          </a:ln>
        </p:spPr>
      </p:pic>
      <p:sp>
        <p:nvSpPr>
          <p:cNvPr id="195" name="Google Shape;195;p26"/>
          <p:cNvSpPr txBox="1"/>
          <p:nvPr/>
        </p:nvSpPr>
        <p:spPr>
          <a:xfrm>
            <a:off x="3722001" y="4203175"/>
            <a:ext cx="5176200" cy="692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t>The first ~30 bases are the first portion of the illumina adapter, followed by heterogeneity from the barcode sequences (8-12 bases), followed by the last ~30 bases of the adapter. Then a large spike in the ‘dark’/no signal base ‘G’. </a:t>
            </a:r>
            <a:endParaRPr sz="1100"/>
          </a:p>
        </p:txBody>
      </p:sp>
      <p:sp>
        <p:nvSpPr>
          <p:cNvPr id="196" name="Google Shape;196;p26"/>
          <p:cNvSpPr txBox="1"/>
          <p:nvPr/>
        </p:nvSpPr>
        <p:spPr>
          <a:xfrm>
            <a:off x="76700" y="747775"/>
            <a:ext cx="3440100" cy="40635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a:solidFill>
                  <a:srgbClr val="FF0000"/>
                </a:solidFill>
              </a:rPr>
              <a:t>Issue 2 - adapter dimers</a:t>
            </a:r>
            <a:r>
              <a:rPr lang="en" sz="1200"/>
              <a:t>: Large peaks for first 70 cycles, and then an increase in G signal (iSeq, MiniSeq, NextSeq, NovaSeq) </a:t>
            </a:r>
            <a:endParaRPr sz="1200"/>
          </a:p>
          <a:p>
            <a:pPr marL="0" lvl="0" indent="0" algn="l" rtl="0">
              <a:lnSpc>
                <a:spcPct val="150000"/>
              </a:lnSpc>
              <a:spcBef>
                <a:spcPts val="0"/>
              </a:spcBef>
              <a:spcAft>
                <a:spcPts val="0"/>
              </a:spcAft>
              <a:buNone/>
            </a:pPr>
            <a:endParaRPr sz="400"/>
          </a:p>
          <a:p>
            <a:pPr marL="171450" lvl="0" indent="-190500" algn="l" rtl="0">
              <a:lnSpc>
                <a:spcPct val="150000"/>
              </a:lnSpc>
              <a:spcBef>
                <a:spcPts val="0"/>
              </a:spcBef>
              <a:spcAft>
                <a:spcPts val="0"/>
              </a:spcAft>
              <a:buSzPts val="1200"/>
              <a:buChar char="●"/>
            </a:pPr>
            <a:r>
              <a:rPr lang="en" sz="1200">
                <a:solidFill>
                  <a:schemeClr val="dk1"/>
                </a:solidFill>
              </a:rPr>
              <a:t>Adapter dimers will yield reads with low sequence variation (large peaks) that are about 70 bp long</a:t>
            </a:r>
            <a:endParaRPr sz="1200">
              <a:solidFill>
                <a:schemeClr val="dk1"/>
              </a:solidFill>
            </a:endParaRPr>
          </a:p>
          <a:p>
            <a:pPr marL="0" lvl="0" indent="0" algn="l" rtl="0">
              <a:lnSpc>
                <a:spcPct val="150000"/>
              </a:lnSpc>
              <a:spcBef>
                <a:spcPts val="0"/>
              </a:spcBef>
              <a:spcAft>
                <a:spcPts val="0"/>
              </a:spcAft>
              <a:buNone/>
            </a:pPr>
            <a:endParaRPr sz="400">
              <a:solidFill>
                <a:schemeClr val="dk1"/>
              </a:solidFill>
            </a:endParaRPr>
          </a:p>
          <a:p>
            <a:pPr marL="171450" lvl="0" indent="-190500" algn="l" rtl="0">
              <a:lnSpc>
                <a:spcPct val="150000"/>
              </a:lnSpc>
              <a:spcBef>
                <a:spcPts val="0"/>
              </a:spcBef>
              <a:spcAft>
                <a:spcPts val="0"/>
              </a:spcAft>
              <a:buSzPts val="1200"/>
              <a:buChar char="●"/>
            </a:pPr>
            <a:r>
              <a:rPr lang="en" sz="1200">
                <a:solidFill>
                  <a:schemeClr val="dk1"/>
                </a:solidFill>
              </a:rPr>
              <a:t>Adapter dimers are short fragments and thus get preferentially sequenced, taking up valuable sequencing space</a:t>
            </a:r>
            <a:endParaRPr sz="1200"/>
          </a:p>
          <a:p>
            <a:pPr marL="457200" lvl="0" indent="0" algn="l" rtl="0">
              <a:lnSpc>
                <a:spcPct val="150000"/>
              </a:lnSpc>
              <a:spcBef>
                <a:spcPts val="0"/>
              </a:spcBef>
              <a:spcAft>
                <a:spcPts val="0"/>
              </a:spcAft>
              <a:buNone/>
            </a:pPr>
            <a:endParaRPr sz="400"/>
          </a:p>
          <a:p>
            <a:pPr marL="171450" lvl="0" indent="-190500" algn="l" rtl="0">
              <a:lnSpc>
                <a:spcPct val="150000"/>
              </a:lnSpc>
              <a:spcBef>
                <a:spcPts val="0"/>
              </a:spcBef>
              <a:spcAft>
                <a:spcPts val="0"/>
              </a:spcAft>
              <a:buSzPts val="1200"/>
              <a:buChar char="●"/>
            </a:pPr>
            <a:r>
              <a:rPr lang="en" sz="1200"/>
              <a:t>Crucial to remove ALL adapter dimers during library prep QC !!</a:t>
            </a:r>
            <a:endParaRPr sz="1200"/>
          </a:p>
          <a:p>
            <a:pPr marL="0" lvl="0" indent="0" algn="l" rtl="0">
              <a:lnSpc>
                <a:spcPct val="150000"/>
              </a:lnSpc>
              <a:spcBef>
                <a:spcPts val="0"/>
              </a:spcBef>
              <a:spcAft>
                <a:spcPts val="0"/>
              </a:spcAft>
              <a:buNone/>
            </a:pPr>
            <a:endParaRPr sz="1200"/>
          </a:p>
          <a:p>
            <a:pPr marL="0" lvl="0" indent="0" algn="l" rtl="0">
              <a:lnSpc>
                <a:spcPct val="150000"/>
              </a:lnSpc>
              <a:spcBef>
                <a:spcPts val="0"/>
              </a:spcBef>
              <a:spcAft>
                <a:spcPts val="0"/>
              </a:spcAft>
              <a:buNone/>
            </a:pPr>
            <a:endParaRPr sz="400"/>
          </a:p>
          <a:p>
            <a:pPr marL="457200" lvl="0" indent="0" algn="l" rtl="0">
              <a:lnSpc>
                <a:spcPct val="150000"/>
              </a:lnSpc>
              <a:spcBef>
                <a:spcPts val="0"/>
              </a:spcBef>
              <a:spcAft>
                <a:spcPts val="0"/>
              </a:spcAft>
              <a:buNone/>
            </a:pPr>
            <a:endParaRPr sz="1200"/>
          </a:p>
        </p:txBody>
      </p:sp>
      <p:sp>
        <p:nvSpPr>
          <p:cNvPr id="197" name="Google Shape;197;p26"/>
          <p:cNvSpPr txBox="1"/>
          <p:nvPr/>
        </p:nvSpPr>
        <p:spPr>
          <a:xfrm>
            <a:off x="4123450" y="747775"/>
            <a:ext cx="17580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t>Adapter dimers being sequenced</a:t>
            </a:r>
            <a:endParaRPr sz="1200"/>
          </a:p>
        </p:txBody>
      </p:sp>
      <p:cxnSp>
        <p:nvCxnSpPr>
          <p:cNvPr id="198" name="Google Shape;198;p26"/>
          <p:cNvCxnSpPr/>
          <p:nvPr/>
        </p:nvCxnSpPr>
        <p:spPr>
          <a:xfrm flipH="1">
            <a:off x="4807225" y="1363375"/>
            <a:ext cx="86700" cy="336300"/>
          </a:xfrm>
          <a:prstGeom prst="straightConnector1">
            <a:avLst/>
          </a:prstGeom>
          <a:noFill/>
          <a:ln w="9525" cap="flat" cmpd="sng">
            <a:solidFill>
              <a:schemeClr val="dk2"/>
            </a:solidFill>
            <a:prstDash val="solid"/>
            <a:round/>
            <a:headEnd type="none" w="med" len="med"/>
            <a:tailEnd type="triangle" w="med" len="med"/>
          </a:ln>
        </p:spPr>
      </p:cxnSp>
      <p:pic>
        <p:nvPicPr>
          <p:cNvPr id="199" name="Google Shape;199;p26"/>
          <p:cNvPicPr preferRelativeResize="0"/>
          <p:nvPr/>
        </p:nvPicPr>
        <p:blipFill rotWithShape="1">
          <a:blip r:embed="rId4">
            <a:alphaModFix/>
          </a:blip>
          <a:srcRect l="51775" t="19401" r="7906" b="28231"/>
          <a:stretch/>
        </p:blipFill>
        <p:spPr>
          <a:xfrm>
            <a:off x="76700" y="4424125"/>
            <a:ext cx="634800" cy="643174"/>
          </a:xfrm>
          <a:prstGeom prst="rect">
            <a:avLst/>
          </a:prstGeom>
          <a:noFill/>
          <a:ln>
            <a:noFill/>
          </a:ln>
        </p:spPr>
      </p:pic>
      <p:sp>
        <p:nvSpPr>
          <p:cNvPr id="200" name="Google Shape;200;p26"/>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Evaluate level of adapter dimers and fragment length</a:t>
            </a:r>
            <a:endParaRPr sz="2420" b="1"/>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grpSp>
        <p:nvGrpSpPr>
          <p:cNvPr id="205" name="Google Shape;205;p27"/>
          <p:cNvGrpSpPr/>
          <p:nvPr/>
        </p:nvGrpSpPr>
        <p:grpSpPr>
          <a:xfrm>
            <a:off x="990600" y="900650"/>
            <a:ext cx="8117274" cy="4047600"/>
            <a:chOff x="990600" y="900650"/>
            <a:chExt cx="8117274" cy="4047600"/>
          </a:xfrm>
        </p:grpSpPr>
        <p:pic>
          <p:nvPicPr>
            <p:cNvPr id="206" name="Google Shape;206;p27"/>
            <p:cNvPicPr preferRelativeResize="0"/>
            <p:nvPr/>
          </p:nvPicPr>
          <p:blipFill rotWithShape="1">
            <a:blip r:embed="rId3">
              <a:alphaModFix/>
            </a:blip>
            <a:srcRect t="9714"/>
            <a:stretch/>
          </p:blipFill>
          <p:spPr>
            <a:xfrm>
              <a:off x="990600" y="968675"/>
              <a:ext cx="8117274" cy="3793824"/>
            </a:xfrm>
            <a:prstGeom prst="rect">
              <a:avLst/>
            </a:prstGeom>
            <a:noFill/>
            <a:ln>
              <a:noFill/>
            </a:ln>
          </p:spPr>
        </p:pic>
        <p:sp>
          <p:nvSpPr>
            <p:cNvPr id="207" name="Google Shape;207;p27"/>
            <p:cNvSpPr/>
            <p:nvPr/>
          </p:nvSpPr>
          <p:spPr>
            <a:xfrm>
              <a:off x="1063425" y="900650"/>
              <a:ext cx="2115900" cy="40476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08" name="Google Shape;208;p27"/>
          <p:cNvPicPr preferRelativeResize="0"/>
          <p:nvPr/>
        </p:nvPicPr>
        <p:blipFill rotWithShape="1">
          <a:blip r:embed="rId4">
            <a:alphaModFix/>
          </a:blip>
          <a:srcRect l="51775" t="19401" r="7906" b="28231"/>
          <a:stretch/>
        </p:blipFill>
        <p:spPr>
          <a:xfrm>
            <a:off x="76700" y="4424125"/>
            <a:ext cx="634800" cy="643174"/>
          </a:xfrm>
          <a:prstGeom prst="rect">
            <a:avLst/>
          </a:prstGeom>
          <a:noFill/>
          <a:ln>
            <a:noFill/>
          </a:ln>
        </p:spPr>
      </p:pic>
      <p:sp>
        <p:nvSpPr>
          <p:cNvPr id="209" name="Google Shape;209;p27"/>
          <p:cNvSpPr txBox="1"/>
          <p:nvPr/>
        </p:nvSpPr>
        <p:spPr>
          <a:xfrm>
            <a:off x="76700" y="747775"/>
            <a:ext cx="3440100" cy="40635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a:solidFill>
                  <a:srgbClr val="FF0000"/>
                </a:solidFill>
              </a:rPr>
              <a:t>Issue 3 - adapter dimers and short reads</a:t>
            </a:r>
            <a:r>
              <a:rPr lang="en" sz="1200"/>
              <a:t>: Large peaks for first 70 cycles followed by more stable signal and then a steady increase in G signal</a:t>
            </a:r>
            <a:endParaRPr sz="1200"/>
          </a:p>
          <a:p>
            <a:pPr marL="0" lvl="0" indent="0" algn="l" rtl="0">
              <a:lnSpc>
                <a:spcPct val="150000"/>
              </a:lnSpc>
              <a:spcBef>
                <a:spcPts val="0"/>
              </a:spcBef>
              <a:spcAft>
                <a:spcPts val="0"/>
              </a:spcAft>
              <a:buNone/>
            </a:pPr>
            <a:endParaRPr sz="400"/>
          </a:p>
          <a:p>
            <a:pPr marL="171450" lvl="0" indent="-190500" algn="l" rtl="0">
              <a:lnSpc>
                <a:spcPct val="150000"/>
              </a:lnSpc>
              <a:spcBef>
                <a:spcPts val="0"/>
              </a:spcBef>
              <a:spcAft>
                <a:spcPts val="0"/>
              </a:spcAft>
              <a:buSzPts val="1200"/>
              <a:buChar char="●"/>
            </a:pPr>
            <a:r>
              <a:rPr lang="en" sz="1200">
                <a:solidFill>
                  <a:schemeClr val="dk1"/>
                </a:solidFill>
              </a:rPr>
              <a:t>Adapter dimers will yield reads with low sequence variation (large peaks) that are about 70 bp long</a:t>
            </a:r>
            <a:endParaRPr sz="1200">
              <a:solidFill>
                <a:schemeClr val="dk1"/>
              </a:solidFill>
            </a:endParaRPr>
          </a:p>
          <a:p>
            <a:pPr marL="0" lvl="0" indent="0" algn="l" rtl="0">
              <a:lnSpc>
                <a:spcPct val="150000"/>
              </a:lnSpc>
              <a:spcBef>
                <a:spcPts val="0"/>
              </a:spcBef>
              <a:spcAft>
                <a:spcPts val="0"/>
              </a:spcAft>
              <a:buNone/>
            </a:pPr>
            <a:endParaRPr sz="400">
              <a:solidFill>
                <a:schemeClr val="dk1"/>
              </a:solidFill>
            </a:endParaRPr>
          </a:p>
          <a:p>
            <a:pPr marL="171450" lvl="0" indent="-190500" algn="l" rtl="0">
              <a:lnSpc>
                <a:spcPct val="150000"/>
              </a:lnSpc>
              <a:spcBef>
                <a:spcPts val="0"/>
              </a:spcBef>
              <a:spcAft>
                <a:spcPts val="0"/>
              </a:spcAft>
              <a:buSzPts val="1200"/>
              <a:buChar char="●"/>
            </a:pPr>
            <a:r>
              <a:rPr lang="en" sz="1200">
                <a:solidFill>
                  <a:schemeClr val="dk1"/>
                </a:solidFill>
              </a:rPr>
              <a:t>Adapter dimers are short fragments and thus get preferentially sequenced, taking up valuable sequencing space</a:t>
            </a:r>
            <a:endParaRPr sz="1200"/>
          </a:p>
          <a:p>
            <a:pPr marL="457200" lvl="0" indent="0" algn="l" rtl="0">
              <a:lnSpc>
                <a:spcPct val="150000"/>
              </a:lnSpc>
              <a:spcBef>
                <a:spcPts val="0"/>
              </a:spcBef>
              <a:spcAft>
                <a:spcPts val="0"/>
              </a:spcAft>
              <a:buNone/>
            </a:pPr>
            <a:endParaRPr sz="400"/>
          </a:p>
          <a:p>
            <a:pPr marL="171450" lvl="0" indent="-190500" algn="l" rtl="0">
              <a:lnSpc>
                <a:spcPct val="150000"/>
              </a:lnSpc>
              <a:spcBef>
                <a:spcPts val="0"/>
              </a:spcBef>
              <a:spcAft>
                <a:spcPts val="0"/>
              </a:spcAft>
              <a:buSzPts val="1200"/>
              <a:buChar char="●"/>
            </a:pPr>
            <a:r>
              <a:rPr lang="en" sz="1200"/>
              <a:t>Crucial to remove ALL adapter dimers during library prep QC !!</a:t>
            </a:r>
            <a:endParaRPr sz="1200"/>
          </a:p>
          <a:p>
            <a:pPr marL="0" lvl="0" indent="0" algn="l" rtl="0">
              <a:lnSpc>
                <a:spcPct val="150000"/>
              </a:lnSpc>
              <a:spcBef>
                <a:spcPts val="0"/>
              </a:spcBef>
              <a:spcAft>
                <a:spcPts val="0"/>
              </a:spcAft>
              <a:buNone/>
            </a:pPr>
            <a:endParaRPr sz="1200"/>
          </a:p>
          <a:p>
            <a:pPr marL="0" lvl="0" indent="0" algn="l" rtl="0">
              <a:lnSpc>
                <a:spcPct val="150000"/>
              </a:lnSpc>
              <a:spcBef>
                <a:spcPts val="0"/>
              </a:spcBef>
              <a:spcAft>
                <a:spcPts val="0"/>
              </a:spcAft>
              <a:buNone/>
            </a:pPr>
            <a:endParaRPr sz="400"/>
          </a:p>
          <a:p>
            <a:pPr marL="457200" lvl="0" indent="0" algn="l" rtl="0">
              <a:lnSpc>
                <a:spcPct val="150000"/>
              </a:lnSpc>
              <a:spcBef>
                <a:spcPts val="0"/>
              </a:spcBef>
              <a:spcAft>
                <a:spcPts val="0"/>
              </a:spcAft>
              <a:buNone/>
            </a:pPr>
            <a:endParaRPr sz="1200"/>
          </a:p>
        </p:txBody>
      </p:sp>
      <p:sp>
        <p:nvSpPr>
          <p:cNvPr id="210" name="Google Shape;210;p27"/>
          <p:cNvSpPr txBox="1"/>
          <p:nvPr/>
        </p:nvSpPr>
        <p:spPr>
          <a:xfrm>
            <a:off x="3754500" y="968675"/>
            <a:ext cx="17580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t>Adapter dimers being sequenced</a:t>
            </a:r>
            <a:endParaRPr sz="1200"/>
          </a:p>
        </p:txBody>
      </p:sp>
      <p:cxnSp>
        <p:nvCxnSpPr>
          <p:cNvPr id="211" name="Google Shape;211;p27"/>
          <p:cNvCxnSpPr/>
          <p:nvPr/>
        </p:nvCxnSpPr>
        <p:spPr>
          <a:xfrm flipH="1">
            <a:off x="4438275" y="1584275"/>
            <a:ext cx="86700" cy="336300"/>
          </a:xfrm>
          <a:prstGeom prst="straightConnector1">
            <a:avLst/>
          </a:prstGeom>
          <a:noFill/>
          <a:ln w="9525" cap="flat" cmpd="sng">
            <a:solidFill>
              <a:schemeClr val="dk2"/>
            </a:solidFill>
            <a:prstDash val="solid"/>
            <a:round/>
            <a:headEnd type="none" w="med" len="med"/>
            <a:tailEnd type="triangle" w="med" len="med"/>
          </a:ln>
        </p:spPr>
      </p:cxnSp>
      <p:sp>
        <p:nvSpPr>
          <p:cNvPr id="212" name="Google Shape;212;p27"/>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Evaluate level of adapter dimers and fragment length</a:t>
            </a:r>
            <a:endParaRPr sz="2420" b="1"/>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pic>
        <p:nvPicPr>
          <p:cNvPr id="217" name="Google Shape;217;p28"/>
          <p:cNvPicPr preferRelativeResize="0"/>
          <p:nvPr/>
        </p:nvPicPr>
        <p:blipFill rotWithShape="1">
          <a:blip r:embed="rId3">
            <a:alphaModFix/>
          </a:blip>
          <a:srcRect b="78493"/>
          <a:stretch/>
        </p:blipFill>
        <p:spPr>
          <a:xfrm>
            <a:off x="173025" y="645601"/>
            <a:ext cx="8659273" cy="1226249"/>
          </a:xfrm>
          <a:prstGeom prst="rect">
            <a:avLst/>
          </a:prstGeom>
          <a:noFill/>
          <a:ln>
            <a:noFill/>
          </a:ln>
        </p:spPr>
      </p:pic>
      <p:pic>
        <p:nvPicPr>
          <p:cNvPr id="218" name="Google Shape;218;p28"/>
          <p:cNvPicPr preferRelativeResize="0"/>
          <p:nvPr/>
        </p:nvPicPr>
        <p:blipFill rotWithShape="1">
          <a:blip r:embed="rId3">
            <a:alphaModFix/>
          </a:blip>
          <a:srcRect t="49667"/>
          <a:stretch/>
        </p:blipFill>
        <p:spPr>
          <a:xfrm>
            <a:off x="173026" y="1871850"/>
            <a:ext cx="8986901" cy="2978423"/>
          </a:xfrm>
          <a:prstGeom prst="rect">
            <a:avLst/>
          </a:prstGeom>
          <a:noFill/>
          <a:ln>
            <a:noFill/>
          </a:ln>
        </p:spPr>
      </p:pic>
      <p:sp>
        <p:nvSpPr>
          <p:cNvPr id="219" name="Google Shape;219;p28"/>
          <p:cNvSpPr/>
          <p:nvPr/>
        </p:nvSpPr>
        <p:spPr>
          <a:xfrm>
            <a:off x="2224500" y="1052550"/>
            <a:ext cx="488400" cy="1953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8"/>
          <p:cNvSpPr/>
          <p:nvPr/>
        </p:nvSpPr>
        <p:spPr>
          <a:xfrm>
            <a:off x="5350150" y="4427800"/>
            <a:ext cx="488400" cy="1953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8"/>
          <p:cNvSpPr/>
          <p:nvPr/>
        </p:nvSpPr>
        <p:spPr>
          <a:xfrm>
            <a:off x="6359800" y="4427800"/>
            <a:ext cx="488400" cy="1953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8"/>
          <p:cNvSpPr/>
          <p:nvPr/>
        </p:nvSpPr>
        <p:spPr>
          <a:xfrm>
            <a:off x="5263825" y="2278775"/>
            <a:ext cx="522600" cy="2388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8"/>
          <p:cNvSpPr/>
          <p:nvPr/>
        </p:nvSpPr>
        <p:spPr>
          <a:xfrm>
            <a:off x="6221950" y="2278775"/>
            <a:ext cx="522600" cy="2388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8"/>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Evaluate error rate based on PhiX</a:t>
            </a:r>
            <a:endParaRPr sz="2420" b="1"/>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pic>
        <p:nvPicPr>
          <p:cNvPr id="229" name="Google Shape;229;p29"/>
          <p:cNvPicPr preferRelativeResize="0"/>
          <p:nvPr/>
        </p:nvPicPr>
        <p:blipFill>
          <a:blip r:embed="rId3">
            <a:alphaModFix/>
          </a:blip>
          <a:stretch>
            <a:fillRect/>
          </a:stretch>
        </p:blipFill>
        <p:spPr>
          <a:xfrm>
            <a:off x="152400" y="2106600"/>
            <a:ext cx="8839200" cy="3076575"/>
          </a:xfrm>
          <a:prstGeom prst="rect">
            <a:avLst/>
          </a:prstGeom>
          <a:noFill/>
          <a:ln>
            <a:noFill/>
          </a:ln>
        </p:spPr>
      </p:pic>
      <p:pic>
        <p:nvPicPr>
          <p:cNvPr id="230" name="Google Shape;230;p29"/>
          <p:cNvPicPr preferRelativeResize="0"/>
          <p:nvPr/>
        </p:nvPicPr>
        <p:blipFill rotWithShape="1">
          <a:blip r:embed="rId4">
            <a:alphaModFix/>
          </a:blip>
          <a:srcRect b="78493"/>
          <a:stretch/>
        </p:blipFill>
        <p:spPr>
          <a:xfrm>
            <a:off x="173025" y="493201"/>
            <a:ext cx="8659273" cy="1226249"/>
          </a:xfrm>
          <a:prstGeom prst="rect">
            <a:avLst/>
          </a:prstGeom>
          <a:noFill/>
          <a:ln>
            <a:noFill/>
          </a:ln>
        </p:spPr>
      </p:pic>
      <p:sp>
        <p:nvSpPr>
          <p:cNvPr id="231" name="Google Shape;231;p29"/>
          <p:cNvSpPr/>
          <p:nvPr/>
        </p:nvSpPr>
        <p:spPr>
          <a:xfrm>
            <a:off x="2224500" y="900150"/>
            <a:ext cx="488400" cy="1953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9"/>
          <p:cNvSpPr txBox="1"/>
          <p:nvPr/>
        </p:nvSpPr>
        <p:spPr>
          <a:xfrm>
            <a:off x="227150" y="1725100"/>
            <a:ext cx="6250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FF0000"/>
                </a:solidFill>
              </a:rPr>
              <a:t>Scroll down to ‘Per Lane Metrics’</a:t>
            </a:r>
            <a:endParaRPr b="1">
              <a:solidFill>
                <a:srgbClr val="FF0000"/>
              </a:solidFill>
            </a:endParaRPr>
          </a:p>
        </p:txBody>
      </p:sp>
      <p:sp>
        <p:nvSpPr>
          <p:cNvPr id="233" name="Google Shape;233;p29"/>
          <p:cNvSpPr txBox="1"/>
          <p:nvPr/>
        </p:nvSpPr>
        <p:spPr>
          <a:xfrm>
            <a:off x="4861350" y="1567200"/>
            <a:ext cx="27129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t>Number of paired end reads that were generated</a:t>
            </a:r>
            <a:endParaRPr sz="1200"/>
          </a:p>
        </p:txBody>
      </p:sp>
      <p:cxnSp>
        <p:nvCxnSpPr>
          <p:cNvPr id="234" name="Google Shape;234;p29"/>
          <p:cNvCxnSpPr/>
          <p:nvPr/>
        </p:nvCxnSpPr>
        <p:spPr>
          <a:xfrm flipH="1">
            <a:off x="5544900" y="2159650"/>
            <a:ext cx="358200" cy="455700"/>
          </a:xfrm>
          <a:prstGeom prst="straightConnector1">
            <a:avLst/>
          </a:prstGeom>
          <a:noFill/>
          <a:ln w="9525" cap="flat" cmpd="sng">
            <a:solidFill>
              <a:schemeClr val="dk2"/>
            </a:solidFill>
            <a:prstDash val="solid"/>
            <a:round/>
            <a:headEnd type="none" w="med" len="med"/>
            <a:tailEnd type="triangle" w="med" len="med"/>
          </a:ln>
        </p:spPr>
      </p:cxnSp>
      <p:sp>
        <p:nvSpPr>
          <p:cNvPr id="235" name="Google Shape;235;p29"/>
          <p:cNvSpPr/>
          <p:nvPr/>
        </p:nvSpPr>
        <p:spPr>
          <a:xfrm>
            <a:off x="4861350" y="2702200"/>
            <a:ext cx="618600" cy="7380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9"/>
          <p:cNvSpPr txBox="1">
            <a:spLocks noGrp="1"/>
          </p:cNvSpPr>
          <p:nvPr>
            <p:ph type="title"/>
          </p:nvPr>
        </p:nvSpPr>
        <p:spPr>
          <a:xfrm>
            <a:off x="311700" y="-1217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Evaluate sequencing data yield</a:t>
            </a:r>
            <a:endParaRPr sz="2420" b="1"/>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0"/>
          <p:cNvSpPr txBox="1">
            <a:spLocks noGrp="1"/>
          </p:cNvSpPr>
          <p:nvPr>
            <p:ph type="body" idx="1"/>
          </p:nvPr>
        </p:nvSpPr>
        <p:spPr>
          <a:xfrm>
            <a:off x="311700" y="619075"/>
            <a:ext cx="6665700" cy="4111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200">
                <a:solidFill>
                  <a:srgbClr val="000000"/>
                </a:solidFill>
              </a:rPr>
              <a:t>On the ‘Metrics’ page (if using PhiX)</a:t>
            </a:r>
            <a:endParaRPr sz="1200">
              <a:solidFill>
                <a:srgbClr val="000000"/>
              </a:solidFill>
            </a:endParaRPr>
          </a:p>
          <a:p>
            <a:pPr marL="457200" lvl="0" indent="-304800" algn="l" rtl="0">
              <a:lnSpc>
                <a:spcPct val="150000"/>
              </a:lnSpc>
              <a:spcBef>
                <a:spcPts val="0"/>
              </a:spcBef>
              <a:spcAft>
                <a:spcPts val="0"/>
              </a:spcAft>
              <a:buClr>
                <a:srgbClr val="000000"/>
              </a:buClr>
              <a:buSzPts val="1200"/>
              <a:buChar char="●"/>
            </a:pPr>
            <a:r>
              <a:rPr lang="en" sz="1200">
                <a:solidFill>
                  <a:srgbClr val="000000"/>
                </a:solidFill>
              </a:rPr>
              <a:t>Per Read Metrics:</a:t>
            </a:r>
            <a:endParaRPr sz="1200">
              <a:solidFill>
                <a:srgbClr val="000000"/>
              </a:solidFill>
            </a:endParaRPr>
          </a:p>
          <a:p>
            <a:pPr marL="742950" lvl="0" indent="-304800" algn="l" rtl="0">
              <a:lnSpc>
                <a:spcPct val="150000"/>
              </a:lnSpc>
              <a:spcBef>
                <a:spcPts val="0"/>
              </a:spcBef>
              <a:spcAft>
                <a:spcPts val="0"/>
              </a:spcAft>
              <a:buClr>
                <a:srgbClr val="000000"/>
              </a:buClr>
              <a:buSzPts val="1200"/>
              <a:buAutoNum type="alphaLcPeriod"/>
            </a:pPr>
            <a:r>
              <a:rPr lang="en" sz="1200" b="1">
                <a:solidFill>
                  <a:srgbClr val="000000"/>
                </a:solidFill>
              </a:rPr>
              <a:t>% Aligned</a:t>
            </a:r>
            <a:r>
              <a:rPr lang="en" sz="1200">
                <a:solidFill>
                  <a:srgbClr val="000000"/>
                </a:solidFill>
              </a:rPr>
              <a:t> (PhiX): should be close to % of PhiX that you spiked in. </a:t>
            </a:r>
            <a:endParaRPr sz="1200">
              <a:solidFill>
                <a:srgbClr val="000000"/>
              </a:solidFill>
            </a:endParaRPr>
          </a:p>
          <a:p>
            <a:pPr marL="914400" lvl="1" indent="-304800" algn="l" rtl="0">
              <a:lnSpc>
                <a:spcPct val="150000"/>
              </a:lnSpc>
              <a:spcBef>
                <a:spcPts val="0"/>
              </a:spcBef>
              <a:spcAft>
                <a:spcPts val="0"/>
              </a:spcAft>
              <a:buClr>
                <a:srgbClr val="000000"/>
              </a:buClr>
              <a:buSzPts val="1200"/>
              <a:buAutoNum type="romanLcPeriod"/>
            </a:pPr>
            <a:r>
              <a:rPr lang="en" sz="1200">
                <a:solidFill>
                  <a:srgbClr val="000000"/>
                </a:solidFill>
              </a:rPr>
              <a:t>If it’s higher, PhiX outcompeted your library, meaning you put less library in than you thought (double check your pooling and quantification calculations).</a:t>
            </a:r>
            <a:endParaRPr sz="1200">
              <a:solidFill>
                <a:srgbClr val="000000"/>
              </a:solidFill>
            </a:endParaRPr>
          </a:p>
          <a:p>
            <a:pPr marL="914400" lvl="1" indent="-304800" algn="l" rtl="0">
              <a:lnSpc>
                <a:spcPct val="150000"/>
              </a:lnSpc>
              <a:spcBef>
                <a:spcPts val="0"/>
              </a:spcBef>
              <a:spcAft>
                <a:spcPts val="0"/>
              </a:spcAft>
              <a:buClr>
                <a:srgbClr val="000000"/>
              </a:buClr>
              <a:buSzPts val="1200"/>
              <a:buAutoNum type="romanLcPeriod"/>
            </a:pPr>
            <a:r>
              <a:rPr lang="en" sz="1200">
                <a:solidFill>
                  <a:srgbClr val="000000"/>
                </a:solidFill>
              </a:rPr>
              <a:t>If it’s lower than expected, small fragments like adapter dimers might have outcompeted PhiX AND/OR you underestimated the quantity of material in your sample (added way more than you thought, double check your quantification data).</a:t>
            </a:r>
            <a:endParaRPr sz="1200">
              <a:solidFill>
                <a:srgbClr val="000000"/>
              </a:solidFill>
            </a:endParaRPr>
          </a:p>
          <a:p>
            <a:pPr marL="742950" lvl="0" indent="-304800" algn="l" rtl="0">
              <a:lnSpc>
                <a:spcPct val="150000"/>
              </a:lnSpc>
              <a:spcBef>
                <a:spcPts val="0"/>
              </a:spcBef>
              <a:spcAft>
                <a:spcPts val="0"/>
              </a:spcAft>
              <a:buClr>
                <a:srgbClr val="000000"/>
              </a:buClr>
              <a:buSzPts val="1200"/>
              <a:buAutoNum type="alphaLcPeriod"/>
            </a:pPr>
            <a:r>
              <a:rPr lang="en" sz="1200" b="1">
                <a:solidFill>
                  <a:srgbClr val="000000"/>
                </a:solidFill>
              </a:rPr>
              <a:t>Error rate %</a:t>
            </a:r>
            <a:r>
              <a:rPr lang="en" sz="1200">
                <a:solidFill>
                  <a:srgbClr val="000000"/>
                </a:solidFill>
              </a:rPr>
              <a:t> (PhiX): should be less than 1%.</a:t>
            </a:r>
            <a:endParaRPr sz="1200">
              <a:solidFill>
                <a:srgbClr val="000000"/>
              </a:solidFill>
            </a:endParaRPr>
          </a:p>
          <a:p>
            <a:pPr marL="457200" lvl="0" indent="-304800" algn="l" rtl="0">
              <a:lnSpc>
                <a:spcPct val="150000"/>
              </a:lnSpc>
              <a:spcBef>
                <a:spcPts val="0"/>
              </a:spcBef>
              <a:spcAft>
                <a:spcPts val="0"/>
              </a:spcAft>
              <a:buClr>
                <a:srgbClr val="000000"/>
              </a:buClr>
              <a:buSzPts val="1200"/>
              <a:buChar char="●"/>
            </a:pPr>
            <a:r>
              <a:rPr lang="en" sz="1200">
                <a:solidFill>
                  <a:srgbClr val="000000"/>
                </a:solidFill>
              </a:rPr>
              <a:t>Per Lane Metrics:</a:t>
            </a:r>
            <a:endParaRPr sz="1200">
              <a:solidFill>
                <a:srgbClr val="000000"/>
              </a:solidFill>
            </a:endParaRPr>
          </a:p>
          <a:p>
            <a:pPr marL="742950" lvl="0" indent="-304800" algn="l" rtl="0">
              <a:lnSpc>
                <a:spcPct val="150000"/>
              </a:lnSpc>
              <a:spcBef>
                <a:spcPts val="0"/>
              </a:spcBef>
              <a:spcAft>
                <a:spcPts val="0"/>
              </a:spcAft>
              <a:buClr>
                <a:schemeClr val="dk1"/>
              </a:buClr>
              <a:buSzPts val="1200"/>
              <a:buAutoNum type="alphaLcPeriod"/>
            </a:pPr>
            <a:r>
              <a:rPr lang="en" sz="1200" b="1">
                <a:solidFill>
                  <a:schemeClr val="dk1"/>
                </a:solidFill>
              </a:rPr>
              <a:t>Reads PF</a:t>
            </a:r>
            <a:r>
              <a:rPr lang="en" sz="1200">
                <a:solidFill>
                  <a:schemeClr val="dk1"/>
                </a:solidFill>
              </a:rPr>
              <a:t>: number of passed filter reads that were generated in this run. This should be close to (or over) the minimum number of guaranteed reads that your sequencer is advertised to generate. If lower, you probably under- or overclustered. Check your quantification calculations and adjust the loading concentration if needed.</a:t>
            </a:r>
            <a:endParaRPr sz="1200">
              <a:solidFill>
                <a:srgbClr val="000000"/>
              </a:solidFill>
            </a:endParaRPr>
          </a:p>
        </p:txBody>
      </p:sp>
      <p:sp>
        <p:nvSpPr>
          <p:cNvPr id="242" name="Google Shape;242;p30"/>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Evaluate sequencing metrics</a:t>
            </a:r>
            <a:endParaRPr sz="2420" b="1"/>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pic>
        <p:nvPicPr>
          <p:cNvPr id="247" name="Google Shape;247;p31"/>
          <p:cNvPicPr preferRelativeResize="0"/>
          <p:nvPr/>
        </p:nvPicPr>
        <p:blipFill>
          <a:blip r:embed="rId3">
            <a:alphaModFix/>
          </a:blip>
          <a:stretch>
            <a:fillRect/>
          </a:stretch>
        </p:blipFill>
        <p:spPr>
          <a:xfrm>
            <a:off x="1231875" y="600475"/>
            <a:ext cx="6843948" cy="4390624"/>
          </a:xfrm>
          <a:prstGeom prst="rect">
            <a:avLst/>
          </a:prstGeom>
          <a:noFill/>
          <a:ln>
            <a:noFill/>
          </a:ln>
        </p:spPr>
      </p:pic>
      <p:sp>
        <p:nvSpPr>
          <p:cNvPr id="248" name="Google Shape;248;p31"/>
          <p:cNvSpPr txBox="1"/>
          <p:nvPr/>
        </p:nvSpPr>
        <p:spPr>
          <a:xfrm>
            <a:off x="55450" y="4874225"/>
            <a:ext cx="20175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t>Adapted from Illumina.com</a:t>
            </a:r>
            <a:endParaRPr sz="800"/>
          </a:p>
        </p:txBody>
      </p:sp>
      <p:sp>
        <p:nvSpPr>
          <p:cNvPr id="249" name="Google Shape;249;p31"/>
          <p:cNvSpPr txBox="1">
            <a:spLocks noGrp="1"/>
          </p:cNvSpPr>
          <p:nvPr>
            <p:ph type="title" idx="4294967295"/>
          </p:nvPr>
        </p:nvSpPr>
        <p:spPr>
          <a:xfrm>
            <a:off x="311700" y="64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Evaluate demultiplexing</a:t>
            </a:r>
            <a:endParaRPr sz="2420" b="1"/>
          </a:p>
        </p:txBody>
      </p:sp>
      <p:sp>
        <p:nvSpPr>
          <p:cNvPr id="250" name="Google Shape;250;p31"/>
          <p:cNvSpPr/>
          <p:nvPr/>
        </p:nvSpPr>
        <p:spPr>
          <a:xfrm>
            <a:off x="5613475" y="548300"/>
            <a:ext cx="1188000" cy="24804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pic>
        <p:nvPicPr>
          <p:cNvPr id="255" name="Google Shape;255;p32"/>
          <p:cNvPicPr preferRelativeResize="0"/>
          <p:nvPr/>
        </p:nvPicPr>
        <p:blipFill rotWithShape="1">
          <a:blip r:embed="rId3">
            <a:alphaModFix/>
          </a:blip>
          <a:srcRect t="61523"/>
          <a:stretch/>
        </p:blipFill>
        <p:spPr>
          <a:xfrm>
            <a:off x="152400" y="1041650"/>
            <a:ext cx="8839199" cy="489000"/>
          </a:xfrm>
          <a:prstGeom prst="rect">
            <a:avLst/>
          </a:prstGeom>
          <a:noFill/>
          <a:ln>
            <a:noFill/>
          </a:ln>
        </p:spPr>
      </p:pic>
      <p:sp>
        <p:nvSpPr>
          <p:cNvPr id="256" name="Google Shape;256;p32"/>
          <p:cNvSpPr/>
          <p:nvPr/>
        </p:nvSpPr>
        <p:spPr>
          <a:xfrm>
            <a:off x="3580900" y="1127300"/>
            <a:ext cx="933300" cy="1953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7" name="Google Shape;257;p32"/>
          <p:cNvPicPr preferRelativeResize="0"/>
          <p:nvPr/>
        </p:nvPicPr>
        <p:blipFill>
          <a:blip r:embed="rId4">
            <a:alphaModFix/>
          </a:blip>
          <a:stretch>
            <a:fillRect/>
          </a:stretch>
        </p:blipFill>
        <p:spPr>
          <a:xfrm>
            <a:off x="152400" y="1530649"/>
            <a:ext cx="6722662" cy="2927051"/>
          </a:xfrm>
          <a:prstGeom prst="rect">
            <a:avLst/>
          </a:prstGeom>
          <a:noFill/>
          <a:ln>
            <a:noFill/>
          </a:ln>
        </p:spPr>
      </p:pic>
      <p:sp>
        <p:nvSpPr>
          <p:cNvPr id="258" name="Google Shape;258;p32"/>
          <p:cNvSpPr txBox="1"/>
          <p:nvPr/>
        </p:nvSpPr>
        <p:spPr>
          <a:xfrm>
            <a:off x="846650" y="4687750"/>
            <a:ext cx="531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a:t>
            </a:r>
            <a:endParaRPr/>
          </a:p>
        </p:txBody>
      </p:sp>
      <p:sp>
        <p:nvSpPr>
          <p:cNvPr id="259" name="Google Shape;259;p32"/>
          <p:cNvSpPr txBox="1"/>
          <p:nvPr/>
        </p:nvSpPr>
        <p:spPr>
          <a:xfrm>
            <a:off x="3285050" y="4687750"/>
            <a:ext cx="531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a:t>
            </a:r>
            <a:endParaRPr/>
          </a:p>
        </p:txBody>
      </p:sp>
      <p:sp>
        <p:nvSpPr>
          <p:cNvPr id="260" name="Google Shape;260;p32"/>
          <p:cNvSpPr txBox="1"/>
          <p:nvPr/>
        </p:nvSpPr>
        <p:spPr>
          <a:xfrm>
            <a:off x="4275650" y="4687750"/>
            <a:ext cx="531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a:t>
            </a:r>
            <a:endParaRPr/>
          </a:p>
        </p:txBody>
      </p:sp>
      <p:sp>
        <p:nvSpPr>
          <p:cNvPr id="261" name="Google Shape;261;p32"/>
          <p:cNvSpPr txBox="1"/>
          <p:nvPr/>
        </p:nvSpPr>
        <p:spPr>
          <a:xfrm>
            <a:off x="5113850" y="4687750"/>
            <a:ext cx="531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a:t>
            </a:r>
            <a:endParaRPr/>
          </a:p>
        </p:txBody>
      </p:sp>
      <p:pic>
        <p:nvPicPr>
          <p:cNvPr id="262" name="Google Shape;262;p32"/>
          <p:cNvPicPr preferRelativeResize="0"/>
          <p:nvPr/>
        </p:nvPicPr>
        <p:blipFill>
          <a:blip r:embed="rId5">
            <a:alphaModFix/>
          </a:blip>
          <a:stretch>
            <a:fillRect/>
          </a:stretch>
        </p:blipFill>
        <p:spPr>
          <a:xfrm>
            <a:off x="6438750" y="2322200"/>
            <a:ext cx="2629300" cy="2051375"/>
          </a:xfrm>
          <a:prstGeom prst="rect">
            <a:avLst/>
          </a:prstGeom>
          <a:noFill/>
          <a:ln>
            <a:noFill/>
          </a:ln>
        </p:spPr>
      </p:pic>
      <p:sp>
        <p:nvSpPr>
          <p:cNvPr id="263" name="Google Shape;263;p32"/>
          <p:cNvSpPr/>
          <p:nvPr/>
        </p:nvSpPr>
        <p:spPr>
          <a:xfrm>
            <a:off x="2395175" y="1648650"/>
            <a:ext cx="1044600" cy="4890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2"/>
          <p:cNvSpPr/>
          <p:nvPr/>
        </p:nvSpPr>
        <p:spPr>
          <a:xfrm>
            <a:off x="3860075" y="1648650"/>
            <a:ext cx="1044600" cy="4890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2"/>
          <p:cNvSpPr txBox="1"/>
          <p:nvPr/>
        </p:nvSpPr>
        <p:spPr>
          <a:xfrm>
            <a:off x="6951550" y="854000"/>
            <a:ext cx="21165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t>If correctly pooled, all samples should have more or less the same # of reads assigned</a:t>
            </a:r>
            <a:endParaRPr sz="1200"/>
          </a:p>
        </p:txBody>
      </p:sp>
      <p:cxnSp>
        <p:nvCxnSpPr>
          <p:cNvPr id="266" name="Google Shape;266;p32"/>
          <p:cNvCxnSpPr/>
          <p:nvPr/>
        </p:nvCxnSpPr>
        <p:spPr>
          <a:xfrm>
            <a:off x="8051650" y="1790450"/>
            <a:ext cx="0" cy="564300"/>
          </a:xfrm>
          <a:prstGeom prst="straightConnector1">
            <a:avLst/>
          </a:prstGeom>
          <a:noFill/>
          <a:ln w="9525" cap="flat" cmpd="sng">
            <a:solidFill>
              <a:schemeClr val="dk2"/>
            </a:solidFill>
            <a:prstDash val="solid"/>
            <a:round/>
            <a:headEnd type="none" w="med" len="med"/>
            <a:tailEnd type="triangle" w="med" len="med"/>
          </a:ln>
        </p:spPr>
      </p:cxnSp>
      <p:cxnSp>
        <p:nvCxnSpPr>
          <p:cNvPr id="267" name="Google Shape;267;p32"/>
          <p:cNvCxnSpPr/>
          <p:nvPr/>
        </p:nvCxnSpPr>
        <p:spPr>
          <a:xfrm flipH="1">
            <a:off x="6228600" y="1813175"/>
            <a:ext cx="1476300" cy="585000"/>
          </a:xfrm>
          <a:prstGeom prst="straightConnector1">
            <a:avLst/>
          </a:prstGeom>
          <a:noFill/>
          <a:ln w="9525" cap="flat" cmpd="sng">
            <a:solidFill>
              <a:schemeClr val="dk2"/>
            </a:solidFill>
            <a:prstDash val="solid"/>
            <a:round/>
            <a:headEnd type="none" w="med" len="med"/>
            <a:tailEnd type="triangle" w="med" len="med"/>
          </a:ln>
        </p:spPr>
      </p:cxnSp>
      <p:sp>
        <p:nvSpPr>
          <p:cNvPr id="268" name="Google Shape;268;p32"/>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Evaluate demultiplexing</a:t>
            </a:r>
            <a:endParaRPr sz="2420" b="1"/>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3"/>
          <p:cNvSpPr txBox="1">
            <a:spLocks noGrp="1"/>
          </p:cNvSpPr>
          <p:nvPr>
            <p:ph type="body" idx="1"/>
          </p:nvPr>
        </p:nvSpPr>
        <p:spPr>
          <a:xfrm>
            <a:off x="311700" y="771475"/>
            <a:ext cx="8520600" cy="34164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400">
                <a:solidFill>
                  <a:srgbClr val="000000"/>
                </a:solidFill>
              </a:rPr>
              <a:t>On the ‘Indexing QC’ page:</a:t>
            </a:r>
            <a:endParaRPr sz="1400">
              <a:solidFill>
                <a:srgbClr val="000000"/>
              </a:solidFill>
            </a:endParaRPr>
          </a:p>
          <a:p>
            <a:pPr marL="0" lvl="0" indent="0" algn="l" rtl="0">
              <a:lnSpc>
                <a:spcPct val="150000"/>
              </a:lnSpc>
              <a:spcBef>
                <a:spcPts val="0"/>
              </a:spcBef>
              <a:spcAft>
                <a:spcPts val="0"/>
              </a:spcAft>
              <a:buNone/>
            </a:pPr>
            <a:endParaRPr sz="1400">
              <a:solidFill>
                <a:srgbClr val="000000"/>
              </a:solidFill>
            </a:endParaRPr>
          </a:p>
          <a:p>
            <a:pPr marL="742950" lvl="0" indent="-317500" algn="l" rtl="0">
              <a:lnSpc>
                <a:spcPct val="150000"/>
              </a:lnSpc>
              <a:spcBef>
                <a:spcPts val="0"/>
              </a:spcBef>
              <a:spcAft>
                <a:spcPts val="0"/>
              </a:spcAft>
              <a:buClr>
                <a:srgbClr val="000000"/>
              </a:buClr>
              <a:buSzPts val="1400"/>
              <a:buAutoNum type="alphaLcPeriod"/>
            </a:pPr>
            <a:r>
              <a:rPr lang="en" sz="1400" b="1">
                <a:solidFill>
                  <a:srgbClr val="000000"/>
                </a:solidFill>
              </a:rPr>
              <a:t>% read identified</a:t>
            </a:r>
            <a:r>
              <a:rPr lang="en" sz="1400">
                <a:solidFill>
                  <a:srgbClr val="000000"/>
                </a:solidFill>
              </a:rPr>
              <a:t> = reads with identified barcodes: should be &gt;80% (the higher the better). If this % is low, you should check to make sure your sample sheet assigned the correct index/barcode sequences for each sample. </a:t>
            </a:r>
            <a:endParaRPr sz="1400">
              <a:solidFill>
                <a:srgbClr val="000000"/>
              </a:solidFill>
            </a:endParaRPr>
          </a:p>
          <a:p>
            <a:pPr marL="457200" lvl="0" indent="0" algn="l" rtl="0">
              <a:lnSpc>
                <a:spcPct val="150000"/>
              </a:lnSpc>
              <a:spcBef>
                <a:spcPts val="0"/>
              </a:spcBef>
              <a:spcAft>
                <a:spcPts val="0"/>
              </a:spcAft>
              <a:buNone/>
            </a:pPr>
            <a:endParaRPr sz="1400">
              <a:solidFill>
                <a:srgbClr val="000000"/>
              </a:solidFill>
            </a:endParaRPr>
          </a:p>
          <a:p>
            <a:pPr marL="742950" lvl="0" indent="-317500" algn="l" rtl="0">
              <a:lnSpc>
                <a:spcPct val="150000"/>
              </a:lnSpc>
              <a:spcBef>
                <a:spcPts val="0"/>
              </a:spcBef>
              <a:spcAft>
                <a:spcPts val="0"/>
              </a:spcAft>
              <a:buClr>
                <a:srgbClr val="000000"/>
              </a:buClr>
              <a:buSzPts val="1400"/>
              <a:buAutoNum type="alphaLcPeriod"/>
            </a:pPr>
            <a:r>
              <a:rPr lang="en" sz="1400" b="1">
                <a:solidFill>
                  <a:srgbClr val="000000"/>
                </a:solidFill>
              </a:rPr>
              <a:t>% reads undetermined</a:t>
            </a:r>
            <a:r>
              <a:rPr lang="en" sz="1400">
                <a:solidFill>
                  <a:srgbClr val="000000"/>
                </a:solidFill>
              </a:rPr>
              <a:t> = reads without an associated known barcode. If this % is high, you should check to make sure your sample sheet was correct.</a:t>
            </a:r>
            <a:endParaRPr sz="1400">
              <a:solidFill>
                <a:srgbClr val="000000"/>
              </a:solidFill>
            </a:endParaRPr>
          </a:p>
          <a:p>
            <a:pPr marL="457200" lvl="0" indent="0" algn="l" rtl="0">
              <a:lnSpc>
                <a:spcPct val="150000"/>
              </a:lnSpc>
              <a:spcBef>
                <a:spcPts val="0"/>
              </a:spcBef>
              <a:spcAft>
                <a:spcPts val="0"/>
              </a:spcAft>
              <a:buNone/>
            </a:pPr>
            <a:endParaRPr sz="1400">
              <a:solidFill>
                <a:srgbClr val="000000"/>
              </a:solidFill>
            </a:endParaRPr>
          </a:p>
          <a:p>
            <a:pPr marL="742950" lvl="0" indent="-317500" algn="l" rtl="0">
              <a:lnSpc>
                <a:spcPct val="150000"/>
              </a:lnSpc>
              <a:spcBef>
                <a:spcPts val="0"/>
              </a:spcBef>
              <a:spcAft>
                <a:spcPts val="0"/>
              </a:spcAft>
              <a:buClr>
                <a:srgbClr val="000000"/>
              </a:buClr>
              <a:buSzPts val="1400"/>
              <a:buAutoNum type="alphaLcPeriod"/>
            </a:pPr>
            <a:r>
              <a:rPr lang="en" sz="1400" b="1">
                <a:solidFill>
                  <a:srgbClr val="000000"/>
                </a:solidFill>
              </a:rPr>
              <a:t>PF reads</a:t>
            </a:r>
            <a:r>
              <a:rPr lang="en" sz="1400">
                <a:solidFill>
                  <a:srgbClr val="000000"/>
                </a:solidFill>
              </a:rPr>
              <a:t>: this number details the amount of (unpaired) single end reads. This number is always double than your true amount of paired-end reads shown on the ‘Metrics’ page.</a:t>
            </a:r>
            <a:endParaRPr sz="1400">
              <a:solidFill>
                <a:srgbClr val="000000"/>
              </a:solidFill>
            </a:endParaRPr>
          </a:p>
          <a:p>
            <a:pPr marL="742950" lvl="0" indent="-228600" algn="l" rtl="0">
              <a:lnSpc>
                <a:spcPct val="150000"/>
              </a:lnSpc>
              <a:spcBef>
                <a:spcPts val="0"/>
              </a:spcBef>
              <a:spcAft>
                <a:spcPts val="0"/>
              </a:spcAft>
              <a:buNone/>
            </a:pPr>
            <a:endParaRPr sz="1400">
              <a:solidFill>
                <a:srgbClr val="000000"/>
              </a:solidFill>
            </a:endParaRPr>
          </a:p>
        </p:txBody>
      </p:sp>
      <p:sp>
        <p:nvSpPr>
          <p:cNvPr id="274" name="Google Shape;274;p33"/>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Evaluate demultiplexing</a:t>
            </a:r>
            <a:endParaRPr sz="2420" b="1"/>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34"/>
          <p:cNvSpPr txBox="1"/>
          <p:nvPr/>
        </p:nvSpPr>
        <p:spPr>
          <a:xfrm>
            <a:off x="816700" y="2002350"/>
            <a:ext cx="7338600" cy="569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500" b="1"/>
              <a:t>How to troubleshoot demux in BaseSpace</a:t>
            </a:r>
            <a:endParaRPr sz="2500" b="1"/>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5"/>
          <p:cNvSpPr txBox="1"/>
          <p:nvPr/>
        </p:nvSpPr>
        <p:spPr>
          <a:xfrm>
            <a:off x="426150" y="881600"/>
            <a:ext cx="8291700" cy="4155900"/>
          </a:xfrm>
          <a:prstGeom prst="rect">
            <a:avLst/>
          </a:prstGeom>
          <a:noFill/>
          <a:ln>
            <a:noFill/>
          </a:ln>
        </p:spPr>
        <p:txBody>
          <a:bodyPr spcFirstLastPara="1" wrap="square" lIns="91425" tIns="91425" rIns="91425" bIns="91425" anchor="t" anchorCtr="0">
            <a:spAutoFit/>
          </a:bodyPr>
          <a:lstStyle/>
          <a:p>
            <a:pPr marL="457200" lvl="0" indent="-304800" algn="l" rtl="0">
              <a:lnSpc>
                <a:spcPct val="150000"/>
              </a:lnSpc>
              <a:spcBef>
                <a:spcPts val="0"/>
              </a:spcBef>
              <a:spcAft>
                <a:spcPts val="0"/>
              </a:spcAft>
              <a:buClr>
                <a:schemeClr val="dk1"/>
              </a:buClr>
              <a:buSzPts val="1200"/>
              <a:buChar char="●"/>
            </a:pPr>
            <a:r>
              <a:rPr lang="en" sz="1200">
                <a:solidFill>
                  <a:schemeClr val="dk1"/>
                </a:solidFill>
              </a:rPr>
              <a:t>A high % of undetermined reads and missing samples (samples with no reads assigned) indicate an issue with demultiplexing!</a:t>
            </a:r>
            <a:endParaRPr sz="1200">
              <a:solidFill>
                <a:schemeClr val="dk1"/>
              </a:solidFill>
            </a:endParaRPr>
          </a:p>
          <a:p>
            <a:pPr marL="457200" lvl="0" indent="0" algn="l" rtl="0">
              <a:lnSpc>
                <a:spcPct val="150000"/>
              </a:lnSpc>
              <a:spcBef>
                <a:spcPts val="0"/>
              </a:spcBef>
              <a:spcAft>
                <a:spcPts val="0"/>
              </a:spcAft>
              <a:buNone/>
            </a:pPr>
            <a:endParaRPr sz="700">
              <a:solidFill>
                <a:schemeClr val="dk1"/>
              </a:solidFill>
            </a:endParaRPr>
          </a:p>
          <a:p>
            <a:pPr marL="914400" lvl="1" indent="-304800" algn="l" rtl="0">
              <a:lnSpc>
                <a:spcPct val="150000"/>
              </a:lnSpc>
              <a:spcBef>
                <a:spcPts val="0"/>
              </a:spcBef>
              <a:spcAft>
                <a:spcPts val="0"/>
              </a:spcAft>
              <a:buClr>
                <a:schemeClr val="dk1"/>
              </a:buClr>
              <a:buSzPts val="1200"/>
              <a:buChar char="○"/>
            </a:pPr>
            <a:r>
              <a:rPr lang="en" sz="1200">
                <a:solidFill>
                  <a:schemeClr val="dk1"/>
                </a:solidFill>
              </a:rPr>
              <a:t>Double check the sample sheet to verify if the correct barcodes were assigned to each sample.</a:t>
            </a:r>
            <a:endParaRPr sz="1200">
              <a:solidFill>
                <a:schemeClr val="dk1"/>
              </a:solidFill>
            </a:endParaRPr>
          </a:p>
          <a:p>
            <a:pPr marL="914400" lvl="0" indent="0" algn="l" rtl="0">
              <a:lnSpc>
                <a:spcPct val="150000"/>
              </a:lnSpc>
              <a:spcBef>
                <a:spcPts val="0"/>
              </a:spcBef>
              <a:spcAft>
                <a:spcPts val="0"/>
              </a:spcAft>
              <a:buNone/>
            </a:pPr>
            <a:endParaRPr sz="900">
              <a:solidFill>
                <a:schemeClr val="dk1"/>
              </a:solidFill>
            </a:endParaRPr>
          </a:p>
          <a:p>
            <a:pPr marL="914400" lvl="1" indent="-304800" algn="l" rtl="0">
              <a:lnSpc>
                <a:spcPct val="150000"/>
              </a:lnSpc>
              <a:spcBef>
                <a:spcPts val="0"/>
              </a:spcBef>
              <a:spcAft>
                <a:spcPts val="0"/>
              </a:spcAft>
              <a:buClr>
                <a:schemeClr val="dk1"/>
              </a:buClr>
              <a:buSzPts val="1200"/>
              <a:buChar char="○"/>
            </a:pPr>
            <a:r>
              <a:rPr lang="en" sz="1200" b="1">
                <a:solidFill>
                  <a:schemeClr val="dk1"/>
                </a:solidFill>
              </a:rPr>
              <a:t>Look at the barcodes sequences identified for ‘undetermined reads’ listed in DemuxSummaryF1L1.txt</a:t>
            </a:r>
            <a:r>
              <a:rPr lang="en" sz="1200">
                <a:solidFill>
                  <a:schemeClr val="dk1"/>
                </a:solidFill>
              </a:rPr>
              <a:t>, if there is barcode combination (paired end) that occured in a high number of reads, it might be an unidentified sample.</a:t>
            </a:r>
            <a:endParaRPr sz="1200">
              <a:solidFill>
                <a:schemeClr val="dk1"/>
              </a:solidFill>
            </a:endParaRPr>
          </a:p>
          <a:p>
            <a:pPr marL="1371600" lvl="2" indent="-304800" algn="l" rtl="0">
              <a:lnSpc>
                <a:spcPct val="150000"/>
              </a:lnSpc>
              <a:spcBef>
                <a:spcPts val="0"/>
              </a:spcBef>
              <a:spcAft>
                <a:spcPts val="0"/>
              </a:spcAft>
              <a:buClr>
                <a:schemeClr val="dk1"/>
              </a:buClr>
              <a:buSzPts val="1200"/>
              <a:buChar char="■"/>
            </a:pPr>
            <a:r>
              <a:rPr lang="en" sz="1200">
                <a:solidFill>
                  <a:schemeClr val="dk1"/>
                </a:solidFill>
              </a:rPr>
              <a:t>In Basespace, go to Summary page of run -&gt; Click on blue “FASTQ Generation of….” under Latest analysis, scroll down to Logs -&gt; click on “View files”.</a:t>
            </a:r>
            <a:endParaRPr sz="1200">
              <a:solidFill>
                <a:schemeClr val="dk1"/>
              </a:solidFill>
            </a:endParaRPr>
          </a:p>
          <a:p>
            <a:pPr marL="0" lvl="0" indent="0" algn="l" rtl="0">
              <a:lnSpc>
                <a:spcPct val="150000"/>
              </a:lnSpc>
              <a:spcBef>
                <a:spcPts val="0"/>
              </a:spcBef>
              <a:spcAft>
                <a:spcPts val="0"/>
              </a:spcAft>
              <a:buNone/>
            </a:pPr>
            <a:endParaRPr sz="400">
              <a:solidFill>
                <a:schemeClr val="dk1"/>
              </a:solidFill>
            </a:endParaRPr>
          </a:p>
          <a:p>
            <a:pPr marL="0" lvl="0" indent="0" algn="l" rtl="0">
              <a:lnSpc>
                <a:spcPct val="150000"/>
              </a:lnSpc>
              <a:spcBef>
                <a:spcPts val="0"/>
              </a:spcBef>
              <a:spcAft>
                <a:spcPts val="0"/>
              </a:spcAft>
              <a:buNone/>
            </a:pPr>
            <a:r>
              <a:rPr lang="en" sz="1200">
                <a:solidFill>
                  <a:schemeClr val="dk1"/>
                </a:solidFill>
              </a:rPr>
              <a:t>Info on finding troubleshooting and finding the demux file in BaseSpace </a:t>
            </a:r>
            <a:r>
              <a:rPr lang="en" sz="1200" u="sng">
                <a:solidFill>
                  <a:srgbClr val="0000FF"/>
                </a:solidFill>
                <a:hlinkClick r:id="rId3">
                  <a:extLst>
                    <a:ext uri="{A12FA001-AC4F-418D-AE19-62706E023703}">
                      <ahyp:hlinkClr xmlns:ahyp="http://schemas.microsoft.com/office/drawing/2018/hyperlinkcolor" val="tx"/>
                    </a:ext>
                  </a:extLst>
                </a:hlinkClick>
              </a:rPr>
              <a:t>here</a:t>
            </a:r>
            <a:endParaRPr sz="1200">
              <a:solidFill>
                <a:srgbClr val="0000FF"/>
              </a:solidFill>
            </a:endParaRPr>
          </a:p>
          <a:p>
            <a:pPr marL="0" lvl="0" indent="0" algn="l" rtl="0">
              <a:lnSpc>
                <a:spcPct val="150000"/>
              </a:lnSpc>
              <a:spcBef>
                <a:spcPts val="0"/>
              </a:spcBef>
              <a:spcAft>
                <a:spcPts val="0"/>
              </a:spcAft>
              <a:buNone/>
            </a:pPr>
            <a:r>
              <a:rPr lang="en" sz="1200">
                <a:solidFill>
                  <a:srgbClr val="0000FF"/>
                </a:solidFill>
              </a:rPr>
              <a:t>	-</a:t>
            </a:r>
            <a:r>
              <a:rPr lang="en" sz="1200">
                <a:solidFill>
                  <a:schemeClr val="dk1"/>
                </a:solidFill>
              </a:rPr>
              <a:t>How to edit sample sheet and requeue in Basespace</a:t>
            </a:r>
            <a:r>
              <a:rPr lang="en" sz="1200">
                <a:solidFill>
                  <a:srgbClr val="0000FF"/>
                </a:solidFill>
              </a:rPr>
              <a:t> </a:t>
            </a:r>
            <a:r>
              <a:rPr lang="en" sz="1200" u="sng">
                <a:solidFill>
                  <a:srgbClr val="0000FF"/>
                </a:solidFill>
                <a:hlinkClick r:id="rId4">
                  <a:extLst>
                    <a:ext uri="{A12FA001-AC4F-418D-AE19-62706E023703}">
                      <ahyp:hlinkClr xmlns:ahyp="http://schemas.microsoft.com/office/drawing/2018/hyperlinkcolor" val="tx"/>
                    </a:ext>
                  </a:extLst>
                </a:hlinkClick>
              </a:rPr>
              <a:t>here</a:t>
            </a:r>
            <a:endParaRPr sz="1200">
              <a:solidFill>
                <a:srgbClr val="0000FF"/>
              </a:solidFill>
            </a:endParaRPr>
          </a:p>
          <a:p>
            <a:pPr marL="0" lvl="0" indent="0" algn="l" rtl="0">
              <a:lnSpc>
                <a:spcPct val="150000"/>
              </a:lnSpc>
              <a:spcBef>
                <a:spcPts val="0"/>
              </a:spcBef>
              <a:spcAft>
                <a:spcPts val="0"/>
              </a:spcAft>
              <a:buNone/>
            </a:pPr>
            <a:r>
              <a:rPr lang="en" sz="1200">
                <a:solidFill>
                  <a:schemeClr val="dk1"/>
                </a:solidFill>
              </a:rPr>
              <a:t>Info on finding troubleshooting and finding the demux file using Local Run Manager </a:t>
            </a:r>
            <a:r>
              <a:rPr lang="en" sz="1200" u="sng">
                <a:solidFill>
                  <a:srgbClr val="0000FF"/>
                </a:solidFill>
                <a:hlinkClick r:id="rId5">
                  <a:extLst>
                    <a:ext uri="{A12FA001-AC4F-418D-AE19-62706E023703}">
                      <ahyp:hlinkClr xmlns:ahyp="http://schemas.microsoft.com/office/drawing/2018/hyperlinkcolor" val="tx"/>
                    </a:ext>
                  </a:extLst>
                </a:hlinkClick>
              </a:rPr>
              <a:t>here</a:t>
            </a:r>
            <a:endParaRPr sz="1200">
              <a:solidFill>
                <a:srgbClr val="0000FF"/>
              </a:solidFill>
            </a:endParaRPr>
          </a:p>
          <a:p>
            <a:pPr marL="0" lvl="0" indent="0" algn="l" rtl="0">
              <a:lnSpc>
                <a:spcPct val="150000"/>
              </a:lnSpc>
              <a:spcBef>
                <a:spcPts val="0"/>
              </a:spcBef>
              <a:spcAft>
                <a:spcPts val="0"/>
              </a:spcAft>
              <a:buNone/>
            </a:pPr>
            <a:r>
              <a:rPr lang="en" sz="1200">
                <a:solidFill>
                  <a:schemeClr val="dk1"/>
                </a:solidFill>
              </a:rPr>
              <a:t>Info on finding troubleshooting and finding the demux file using MiSeq Reporter </a:t>
            </a:r>
            <a:r>
              <a:rPr lang="en" sz="1200" u="sng">
                <a:solidFill>
                  <a:srgbClr val="0000FF"/>
                </a:solidFill>
                <a:hlinkClick r:id="rId6">
                  <a:extLst>
                    <a:ext uri="{A12FA001-AC4F-418D-AE19-62706E023703}">
                      <ahyp:hlinkClr xmlns:ahyp="http://schemas.microsoft.com/office/drawing/2018/hyperlinkcolor" val="tx"/>
                    </a:ext>
                  </a:extLst>
                </a:hlinkClick>
              </a:rPr>
              <a:t>here</a:t>
            </a:r>
            <a:endParaRPr sz="1200">
              <a:solidFill>
                <a:srgbClr val="0000FF"/>
              </a:solidFill>
            </a:endParaRPr>
          </a:p>
          <a:p>
            <a:pPr marL="0" lvl="0" indent="0" algn="l" rtl="0">
              <a:lnSpc>
                <a:spcPct val="150000"/>
              </a:lnSpc>
              <a:spcBef>
                <a:spcPts val="0"/>
              </a:spcBef>
              <a:spcAft>
                <a:spcPts val="0"/>
              </a:spcAft>
              <a:buNone/>
            </a:pPr>
            <a:r>
              <a:rPr lang="en" sz="1200">
                <a:solidFill>
                  <a:srgbClr val="0000FF"/>
                </a:solidFill>
              </a:rPr>
              <a:t>	-</a:t>
            </a:r>
            <a:r>
              <a:rPr lang="en" sz="1200">
                <a:solidFill>
                  <a:schemeClr val="dk1"/>
                </a:solidFill>
              </a:rPr>
              <a:t>How to edit sample sheet and requeue using MiSeq Reporter </a:t>
            </a:r>
            <a:r>
              <a:rPr lang="en" sz="1200" u="sng">
                <a:solidFill>
                  <a:srgbClr val="0000FF"/>
                </a:solidFill>
                <a:hlinkClick r:id="rId7">
                  <a:extLst>
                    <a:ext uri="{A12FA001-AC4F-418D-AE19-62706E023703}">
                      <ahyp:hlinkClr xmlns:ahyp="http://schemas.microsoft.com/office/drawing/2018/hyperlinkcolor" val="tx"/>
                    </a:ext>
                  </a:extLst>
                </a:hlinkClick>
              </a:rPr>
              <a:t>here</a:t>
            </a:r>
            <a:endParaRPr/>
          </a:p>
        </p:txBody>
      </p:sp>
      <p:sp>
        <p:nvSpPr>
          <p:cNvPr id="285" name="Google Shape;285;p35"/>
          <p:cNvSpPr txBox="1"/>
          <p:nvPr/>
        </p:nvSpPr>
        <p:spPr>
          <a:xfrm>
            <a:off x="195775" y="-24425"/>
            <a:ext cx="87150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a:t>Locating and interpreting the demux file to troubleshoot failed demultiplexing or missing samples</a:t>
            </a:r>
            <a:endParaRPr sz="2400" b="1"/>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6"/>
          <p:cNvSpPr txBox="1"/>
          <p:nvPr/>
        </p:nvSpPr>
        <p:spPr>
          <a:xfrm>
            <a:off x="827200" y="313000"/>
            <a:ext cx="7350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On the summary page of the run, click on </a:t>
            </a:r>
            <a:r>
              <a:rPr lang="en" i="1"/>
              <a:t>FastQ Generation</a:t>
            </a:r>
            <a:r>
              <a:rPr lang="en"/>
              <a:t> under </a:t>
            </a:r>
            <a:r>
              <a:rPr lang="en" i="1"/>
              <a:t>Latest Analysis</a:t>
            </a:r>
            <a:endParaRPr i="1"/>
          </a:p>
        </p:txBody>
      </p:sp>
      <p:pic>
        <p:nvPicPr>
          <p:cNvPr id="291" name="Google Shape;291;p36"/>
          <p:cNvPicPr preferRelativeResize="0"/>
          <p:nvPr/>
        </p:nvPicPr>
        <p:blipFill>
          <a:blip r:embed="rId3">
            <a:alphaModFix/>
          </a:blip>
          <a:stretch>
            <a:fillRect/>
          </a:stretch>
        </p:blipFill>
        <p:spPr>
          <a:xfrm>
            <a:off x="152400" y="865600"/>
            <a:ext cx="5473963" cy="4125499"/>
          </a:xfrm>
          <a:prstGeom prst="rect">
            <a:avLst/>
          </a:prstGeom>
          <a:noFill/>
          <a:ln>
            <a:noFill/>
          </a:ln>
        </p:spPr>
      </p:pic>
      <p:sp>
        <p:nvSpPr>
          <p:cNvPr id="292" name="Google Shape;292;p36"/>
          <p:cNvSpPr/>
          <p:nvPr/>
        </p:nvSpPr>
        <p:spPr>
          <a:xfrm>
            <a:off x="320825" y="4404275"/>
            <a:ext cx="1181400" cy="473100"/>
          </a:xfrm>
          <a:prstGeom prst="roundRect">
            <a:avLst>
              <a:gd name="adj" fmla="val 16667"/>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37"/>
          <p:cNvSpPr txBox="1"/>
          <p:nvPr/>
        </p:nvSpPr>
        <p:spPr>
          <a:xfrm>
            <a:off x="827200" y="313000"/>
            <a:ext cx="7350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On the summary page of the FASTQ analysis, click on </a:t>
            </a:r>
            <a:r>
              <a:rPr lang="en" i="1"/>
              <a:t>View Files</a:t>
            </a:r>
            <a:r>
              <a:rPr lang="en"/>
              <a:t> next to </a:t>
            </a:r>
            <a:r>
              <a:rPr lang="en" i="1"/>
              <a:t>Logs</a:t>
            </a:r>
            <a:r>
              <a:rPr lang="en"/>
              <a:t>.</a:t>
            </a:r>
            <a:endParaRPr/>
          </a:p>
        </p:txBody>
      </p:sp>
      <p:pic>
        <p:nvPicPr>
          <p:cNvPr id="298" name="Google Shape;298;p37"/>
          <p:cNvPicPr preferRelativeResize="0"/>
          <p:nvPr/>
        </p:nvPicPr>
        <p:blipFill>
          <a:blip r:embed="rId3">
            <a:alphaModFix/>
          </a:blip>
          <a:stretch>
            <a:fillRect/>
          </a:stretch>
        </p:blipFill>
        <p:spPr>
          <a:xfrm>
            <a:off x="152400" y="865600"/>
            <a:ext cx="5072335" cy="412549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8"/>
          <p:cNvSpPr txBox="1"/>
          <p:nvPr/>
        </p:nvSpPr>
        <p:spPr>
          <a:xfrm>
            <a:off x="827200" y="313000"/>
            <a:ext cx="7350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Click on the </a:t>
            </a:r>
            <a:r>
              <a:rPr lang="en" i="1"/>
              <a:t>DemuxSummaryF1L1.txt</a:t>
            </a:r>
            <a:r>
              <a:rPr lang="en"/>
              <a:t> file to download it.</a:t>
            </a:r>
            <a:endParaRPr/>
          </a:p>
        </p:txBody>
      </p:sp>
      <p:pic>
        <p:nvPicPr>
          <p:cNvPr id="304" name="Google Shape;304;p38"/>
          <p:cNvPicPr preferRelativeResize="0"/>
          <p:nvPr/>
        </p:nvPicPr>
        <p:blipFill>
          <a:blip r:embed="rId3">
            <a:alphaModFix/>
          </a:blip>
          <a:stretch>
            <a:fillRect/>
          </a:stretch>
        </p:blipFill>
        <p:spPr>
          <a:xfrm>
            <a:off x="152400" y="865600"/>
            <a:ext cx="5072335" cy="412549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9"/>
          <p:cNvSpPr txBox="1"/>
          <p:nvPr/>
        </p:nvSpPr>
        <p:spPr>
          <a:xfrm>
            <a:off x="827200" y="313000"/>
            <a:ext cx="7892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Open the DemuxSummaryF1L1.txt file in a text editor (e.g. Notepad, TextEdit, SublimeText)</a:t>
            </a:r>
            <a:endParaRPr/>
          </a:p>
        </p:txBody>
      </p:sp>
      <p:pic>
        <p:nvPicPr>
          <p:cNvPr id="310" name="Google Shape;310;p39"/>
          <p:cNvPicPr preferRelativeResize="0"/>
          <p:nvPr/>
        </p:nvPicPr>
        <p:blipFill>
          <a:blip r:embed="rId3">
            <a:alphaModFix/>
          </a:blip>
          <a:stretch>
            <a:fillRect/>
          </a:stretch>
        </p:blipFill>
        <p:spPr>
          <a:xfrm>
            <a:off x="152400" y="865600"/>
            <a:ext cx="3489596" cy="4125501"/>
          </a:xfrm>
          <a:prstGeom prst="rect">
            <a:avLst/>
          </a:prstGeom>
          <a:noFill/>
          <a:ln>
            <a:noFill/>
          </a:ln>
        </p:spPr>
      </p:pic>
      <p:pic>
        <p:nvPicPr>
          <p:cNvPr id="311" name="Google Shape;311;p39"/>
          <p:cNvPicPr preferRelativeResize="0"/>
          <p:nvPr/>
        </p:nvPicPr>
        <p:blipFill>
          <a:blip r:embed="rId4">
            <a:alphaModFix/>
          </a:blip>
          <a:stretch>
            <a:fillRect/>
          </a:stretch>
        </p:blipFill>
        <p:spPr>
          <a:xfrm>
            <a:off x="8258604" y="865600"/>
            <a:ext cx="903944" cy="4125501"/>
          </a:xfrm>
          <a:prstGeom prst="rect">
            <a:avLst/>
          </a:prstGeom>
          <a:noFill/>
          <a:ln>
            <a:noFill/>
          </a:ln>
        </p:spPr>
      </p:pic>
      <p:sp>
        <p:nvSpPr>
          <p:cNvPr id="312" name="Google Shape;312;p39"/>
          <p:cNvSpPr txBox="1"/>
          <p:nvPr/>
        </p:nvSpPr>
        <p:spPr>
          <a:xfrm>
            <a:off x="4396000" y="3200725"/>
            <a:ext cx="3489600" cy="1262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Scroll down to the section with header </a:t>
            </a:r>
            <a:endParaRPr/>
          </a:p>
          <a:p>
            <a:pPr marL="0" lvl="0" indent="0" algn="l" rtl="0">
              <a:spcBef>
                <a:spcPts val="0"/>
              </a:spcBef>
              <a:spcAft>
                <a:spcPts val="0"/>
              </a:spcAft>
              <a:buClr>
                <a:schemeClr val="dk1"/>
              </a:buClr>
              <a:buSzPts val="1100"/>
              <a:buFont typeface="Arial"/>
              <a:buNone/>
            </a:pPr>
            <a:r>
              <a:rPr lang="en"/>
              <a:t>“### Most Popular Unknown Index Sequences”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cxnSp>
        <p:nvCxnSpPr>
          <p:cNvPr id="313" name="Google Shape;313;p39"/>
          <p:cNvCxnSpPr/>
          <p:nvPr/>
        </p:nvCxnSpPr>
        <p:spPr>
          <a:xfrm>
            <a:off x="7685625" y="3427175"/>
            <a:ext cx="437400" cy="0"/>
          </a:xfrm>
          <a:prstGeom prst="straightConnector1">
            <a:avLst/>
          </a:prstGeom>
          <a:noFill/>
          <a:ln w="9525" cap="flat" cmpd="sng">
            <a:solidFill>
              <a:schemeClr val="dk2"/>
            </a:solidFill>
            <a:prstDash val="solid"/>
            <a:round/>
            <a:headEnd type="none" w="med" len="med"/>
            <a:tailEnd type="triangle" w="med" len="med"/>
          </a:ln>
        </p:spPr>
      </p:cxnSp>
      <p:sp>
        <p:nvSpPr>
          <p:cNvPr id="314" name="Google Shape;314;p39"/>
          <p:cNvSpPr txBox="1"/>
          <p:nvPr/>
        </p:nvSpPr>
        <p:spPr>
          <a:xfrm>
            <a:off x="4235025" y="1283375"/>
            <a:ext cx="3489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How it looks when you open the file</a:t>
            </a:r>
            <a:endParaRPr/>
          </a:p>
        </p:txBody>
      </p:sp>
      <p:cxnSp>
        <p:nvCxnSpPr>
          <p:cNvPr id="315" name="Google Shape;315;p39"/>
          <p:cNvCxnSpPr/>
          <p:nvPr/>
        </p:nvCxnSpPr>
        <p:spPr>
          <a:xfrm rot="10800000">
            <a:off x="3668663" y="1483475"/>
            <a:ext cx="539700" cy="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40"/>
          <p:cNvSpPr txBox="1"/>
          <p:nvPr/>
        </p:nvSpPr>
        <p:spPr>
          <a:xfrm>
            <a:off x="827200" y="313000"/>
            <a:ext cx="7892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Inspect the top barcode combinations listed under ###Most Popular Unknown Index Sequences</a:t>
            </a:r>
            <a:endParaRPr/>
          </a:p>
        </p:txBody>
      </p:sp>
      <p:pic>
        <p:nvPicPr>
          <p:cNvPr id="321" name="Google Shape;321;p40"/>
          <p:cNvPicPr preferRelativeResize="0"/>
          <p:nvPr/>
        </p:nvPicPr>
        <p:blipFill>
          <a:blip r:embed="rId3">
            <a:alphaModFix/>
          </a:blip>
          <a:stretch>
            <a:fillRect/>
          </a:stretch>
        </p:blipFill>
        <p:spPr>
          <a:xfrm>
            <a:off x="152400" y="1081000"/>
            <a:ext cx="3317359" cy="3910101"/>
          </a:xfrm>
          <a:prstGeom prst="rect">
            <a:avLst/>
          </a:prstGeom>
          <a:noFill/>
          <a:ln>
            <a:noFill/>
          </a:ln>
        </p:spPr>
      </p:pic>
      <p:sp>
        <p:nvSpPr>
          <p:cNvPr id="322" name="Google Shape;322;p40"/>
          <p:cNvSpPr txBox="1"/>
          <p:nvPr/>
        </p:nvSpPr>
        <p:spPr>
          <a:xfrm>
            <a:off x="3886925" y="1109825"/>
            <a:ext cx="5169600" cy="3201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Hit_Count = the number of reads that have the listed barcode combination (NNNNNNNN….+NNNNNNNN….)</a:t>
            </a:r>
            <a:endParaRPr/>
          </a:p>
          <a:p>
            <a:pPr marL="0" lvl="0" indent="0" algn="l" rtl="0">
              <a:spcBef>
                <a:spcPts val="0"/>
              </a:spcBef>
              <a:spcAft>
                <a:spcPts val="0"/>
              </a:spcAft>
              <a:buNone/>
            </a:pPr>
            <a:endParaRPr/>
          </a:p>
          <a:p>
            <a:pPr marL="0" lvl="0" indent="0" algn="l" rtl="0">
              <a:spcBef>
                <a:spcPts val="0"/>
              </a:spcBef>
              <a:spcAft>
                <a:spcPts val="0"/>
              </a:spcAft>
              <a:buNone/>
            </a:pPr>
            <a:r>
              <a:rPr lang="en"/>
              <a:t>Focus on barcode combinations that have a high Hit_Count!</a:t>
            </a:r>
            <a:endParaRPr/>
          </a:p>
          <a:p>
            <a:pPr marL="0" lvl="0" indent="0" algn="l" rtl="0">
              <a:spcBef>
                <a:spcPts val="0"/>
              </a:spcBef>
              <a:spcAft>
                <a:spcPts val="0"/>
              </a:spcAft>
              <a:buNone/>
            </a:pPr>
            <a:endParaRPr/>
          </a:p>
          <a:p>
            <a:pPr marL="0" lvl="0" indent="0" algn="l" rtl="0">
              <a:spcBef>
                <a:spcPts val="0"/>
              </a:spcBef>
              <a:spcAft>
                <a:spcPts val="0"/>
              </a:spcAft>
              <a:buNone/>
            </a:pPr>
            <a:r>
              <a:rPr lang="en"/>
              <a:t>Common issues:</a:t>
            </a:r>
            <a:endParaRPr/>
          </a:p>
          <a:p>
            <a:pPr marL="0" lvl="0" indent="0" algn="l" rtl="0">
              <a:spcBef>
                <a:spcPts val="0"/>
              </a:spcBef>
              <a:spcAft>
                <a:spcPts val="0"/>
              </a:spcAft>
              <a:buNone/>
            </a:pPr>
            <a:r>
              <a:rPr lang="en"/>
              <a:t> </a:t>
            </a:r>
            <a:endParaRPr/>
          </a:p>
          <a:p>
            <a:pPr marL="457200" lvl="0" indent="-317500" algn="l" rtl="0">
              <a:spcBef>
                <a:spcPts val="0"/>
              </a:spcBef>
              <a:spcAft>
                <a:spcPts val="0"/>
              </a:spcAft>
              <a:buSzPts val="1400"/>
              <a:buChar char="●"/>
            </a:pPr>
            <a:r>
              <a:rPr lang="en"/>
              <a:t>Barcode/index sequence in sample sheet was (not) reverse complemented</a:t>
            </a:r>
            <a:endParaRPr/>
          </a:p>
          <a:p>
            <a:pPr marL="457200" lvl="0" indent="0" algn="l" rtl="0">
              <a:spcBef>
                <a:spcPts val="0"/>
              </a:spcBef>
              <a:spcAft>
                <a:spcPts val="0"/>
              </a:spcAft>
              <a:buNone/>
            </a:pPr>
            <a:endParaRPr/>
          </a:p>
          <a:p>
            <a:pPr marL="457200" lvl="0" indent="-317500" algn="l" rtl="0">
              <a:spcBef>
                <a:spcPts val="0"/>
              </a:spcBef>
              <a:spcAft>
                <a:spcPts val="0"/>
              </a:spcAft>
              <a:buSzPts val="1400"/>
              <a:buChar char="●"/>
            </a:pPr>
            <a:r>
              <a:rPr lang="en"/>
              <a:t>Too many index cycles performed -&gt; extra nucleotides were added to the barcodes/indexes. Identify which nucleotides in this list and update sample sheet for requeuing fastq analysis.</a:t>
            </a:r>
            <a:endParaRPr/>
          </a:p>
        </p:txBody>
      </p:sp>
      <p:sp>
        <p:nvSpPr>
          <p:cNvPr id="323" name="Google Shape;323;p40"/>
          <p:cNvSpPr txBox="1"/>
          <p:nvPr/>
        </p:nvSpPr>
        <p:spPr>
          <a:xfrm>
            <a:off x="3632800" y="4558700"/>
            <a:ext cx="7336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When the samplesheet is corrected/updated -&gt; requeue for demux</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41"/>
          <p:cNvSpPr txBox="1"/>
          <p:nvPr/>
        </p:nvSpPr>
        <p:spPr>
          <a:xfrm>
            <a:off x="816700" y="2002350"/>
            <a:ext cx="7338600" cy="569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500" b="1"/>
              <a:t>How to requeue demux in BaseSpace</a:t>
            </a:r>
            <a:endParaRPr sz="2500" b="1"/>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42"/>
          <p:cNvSpPr txBox="1"/>
          <p:nvPr/>
        </p:nvSpPr>
        <p:spPr>
          <a:xfrm>
            <a:off x="651250" y="313000"/>
            <a:ext cx="8493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On the </a:t>
            </a:r>
            <a:r>
              <a:rPr lang="en" i="1"/>
              <a:t>Summary</a:t>
            </a:r>
            <a:r>
              <a:rPr lang="en"/>
              <a:t> page of the run, click on the hourglass, select </a:t>
            </a:r>
            <a:r>
              <a:rPr lang="en" i="1"/>
              <a:t>Requeue</a:t>
            </a:r>
            <a:r>
              <a:rPr lang="en"/>
              <a:t> and then select </a:t>
            </a:r>
            <a:r>
              <a:rPr lang="en" i="1"/>
              <a:t>Sample Sheet</a:t>
            </a:r>
            <a:endParaRPr i="1"/>
          </a:p>
        </p:txBody>
      </p:sp>
      <p:pic>
        <p:nvPicPr>
          <p:cNvPr id="334" name="Google Shape;334;p42"/>
          <p:cNvPicPr preferRelativeResize="0"/>
          <p:nvPr/>
        </p:nvPicPr>
        <p:blipFill>
          <a:blip r:embed="rId3">
            <a:alphaModFix/>
          </a:blip>
          <a:stretch>
            <a:fillRect/>
          </a:stretch>
        </p:blipFill>
        <p:spPr>
          <a:xfrm>
            <a:off x="152400" y="865600"/>
            <a:ext cx="5523287" cy="412550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3"/>
          <p:cNvSpPr txBox="1"/>
          <p:nvPr/>
        </p:nvSpPr>
        <p:spPr>
          <a:xfrm>
            <a:off x="651250" y="313000"/>
            <a:ext cx="8493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Click with your cursor in the black part of the screen and select everything (ctrl+A or cmd+A)</a:t>
            </a:r>
            <a:endParaRPr i="1"/>
          </a:p>
        </p:txBody>
      </p:sp>
      <p:pic>
        <p:nvPicPr>
          <p:cNvPr id="340" name="Google Shape;340;p43"/>
          <p:cNvPicPr preferRelativeResize="0"/>
          <p:nvPr/>
        </p:nvPicPr>
        <p:blipFill>
          <a:blip r:embed="rId3">
            <a:alphaModFix/>
          </a:blip>
          <a:stretch>
            <a:fillRect/>
          </a:stretch>
        </p:blipFill>
        <p:spPr>
          <a:xfrm>
            <a:off x="152400" y="865600"/>
            <a:ext cx="6622516" cy="412550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pic>
        <p:nvPicPr>
          <p:cNvPr id="345" name="Google Shape;345;p44"/>
          <p:cNvPicPr preferRelativeResize="0"/>
          <p:nvPr/>
        </p:nvPicPr>
        <p:blipFill>
          <a:blip r:embed="rId3">
            <a:alphaModFix/>
          </a:blip>
          <a:stretch>
            <a:fillRect/>
          </a:stretch>
        </p:blipFill>
        <p:spPr>
          <a:xfrm>
            <a:off x="571522" y="1081925"/>
            <a:ext cx="6019226" cy="3749676"/>
          </a:xfrm>
          <a:prstGeom prst="rect">
            <a:avLst/>
          </a:prstGeom>
          <a:noFill/>
          <a:ln>
            <a:noFill/>
          </a:ln>
        </p:spPr>
      </p:pic>
      <p:sp>
        <p:nvSpPr>
          <p:cNvPr id="346" name="Google Shape;346;p44"/>
          <p:cNvSpPr txBox="1"/>
          <p:nvPr/>
        </p:nvSpPr>
        <p:spPr>
          <a:xfrm>
            <a:off x="651250" y="313000"/>
            <a:ext cx="8493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Click delete to delete the content of the sample sheet</a:t>
            </a:r>
            <a:endParaRPr i="1"/>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45"/>
          <p:cNvSpPr txBox="1"/>
          <p:nvPr/>
        </p:nvSpPr>
        <p:spPr>
          <a:xfrm>
            <a:off x="356200" y="214425"/>
            <a:ext cx="73365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Open your corrected sample sheet (saved as a .csv file) in a text editor such as Notepad or TextEdit, select all of its content (ctrl+A or cmd+A) and copy it into the black screen.</a:t>
            </a:r>
            <a:endParaRPr/>
          </a:p>
        </p:txBody>
      </p:sp>
      <p:sp>
        <p:nvSpPr>
          <p:cNvPr id="352" name="Google Shape;352;p45"/>
          <p:cNvSpPr txBox="1"/>
          <p:nvPr/>
        </p:nvSpPr>
        <p:spPr>
          <a:xfrm>
            <a:off x="6406200" y="1900575"/>
            <a:ext cx="2737800" cy="233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A green banner saying “Sample sheet is valid” will re-appear automatically if the copied sample sheet is valid. If not, make sure there are no columns or data fields missing in your sample sheet and that you indeed copied the full contents of the sample sheet into the field.</a:t>
            </a:r>
            <a:endParaRPr/>
          </a:p>
        </p:txBody>
      </p:sp>
      <p:pic>
        <p:nvPicPr>
          <p:cNvPr id="353" name="Google Shape;353;p45"/>
          <p:cNvPicPr preferRelativeResize="0"/>
          <p:nvPr/>
        </p:nvPicPr>
        <p:blipFill>
          <a:blip r:embed="rId3">
            <a:alphaModFix/>
          </a:blip>
          <a:stretch>
            <a:fillRect/>
          </a:stretch>
        </p:blipFill>
        <p:spPr>
          <a:xfrm>
            <a:off x="152400" y="982425"/>
            <a:ext cx="6147399" cy="3829518"/>
          </a:xfrm>
          <a:prstGeom prst="rect">
            <a:avLst/>
          </a:prstGeom>
          <a:noFill/>
          <a:ln>
            <a:noFill/>
          </a:ln>
        </p:spPr>
      </p:pic>
      <p:cxnSp>
        <p:nvCxnSpPr>
          <p:cNvPr id="354" name="Google Shape;354;p45"/>
          <p:cNvCxnSpPr/>
          <p:nvPr/>
        </p:nvCxnSpPr>
        <p:spPr>
          <a:xfrm rot="10800000">
            <a:off x="4479000" y="2113225"/>
            <a:ext cx="1927200" cy="0"/>
          </a:xfrm>
          <a:prstGeom prst="straightConnector1">
            <a:avLst/>
          </a:prstGeom>
          <a:noFill/>
          <a:ln w="9525" cap="flat" cmpd="sng">
            <a:solidFill>
              <a:schemeClr val="dk2"/>
            </a:solidFill>
            <a:prstDash val="solid"/>
            <a:round/>
            <a:headEnd type="none" w="med" len="med"/>
            <a:tailEnd type="triangle" w="med" len="med"/>
          </a:ln>
        </p:spPr>
      </p:cxnSp>
      <p:sp>
        <p:nvSpPr>
          <p:cNvPr id="355" name="Google Shape;355;p45"/>
          <p:cNvSpPr txBox="1"/>
          <p:nvPr/>
        </p:nvSpPr>
        <p:spPr>
          <a:xfrm>
            <a:off x="352650" y="4605675"/>
            <a:ext cx="7336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If sample sheet was valid, click on the blue button for </a:t>
            </a:r>
            <a:r>
              <a:rPr lang="en" i="1"/>
              <a:t>Queue Analysis</a:t>
            </a:r>
            <a:endParaRPr i="1"/>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46"/>
          <p:cNvSpPr txBox="1">
            <a:spLocks noGrp="1"/>
          </p:cNvSpPr>
          <p:nvPr>
            <p:ph type="title"/>
          </p:nvPr>
        </p:nvSpPr>
        <p:spPr>
          <a:xfrm>
            <a:off x="1063050" y="1808800"/>
            <a:ext cx="7017900" cy="11667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What if my sequencer is not connected to the internet?</a:t>
            </a:r>
            <a:endParaRPr/>
          </a:p>
          <a:p>
            <a:pPr marL="0" lvl="0" indent="0" algn="ctr" rtl="0">
              <a:spcBef>
                <a:spcPts val="0"/>
              </a:spcBef>
              <a:spcAft>
                <a:spcPts val="0"/>
              </a:spcAft>
              <a:buNone/>
            </a:pPr>
            <a:endParaRPr/>
          </a:p>
          <a:p>
            <a:pPr marL="0" lvl="0" indent="0" algn="ctr" rtl="0">
              <a:spcBef>
                <a:spcPts val="0"/>
              </a:spcBef>
              <a:spcAft>
                <a:spcPts val="0"/>
              </a:spcAft>
              <a:buNone/>
            </a:pPr>
            <a:r>
              <a:rPr lang="en"/>
              <a:t>(a guide to SAV)</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If your sequencer is not connected to the internet…</a:t>
            </a:r>
            <a:endParaRPr/>
          </a:p>
        </p:txBody>
      </p:sp>
      <p:sp>
        <p:nvSpPr>
          <p:cNvPr id="366" name="Google Shape;366;p4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Your run cannot be uploaded / viewed on Basespace</a:t>
            </a:r>
            <a:endParaRPr/>
          </a:p>
          <a:p>
            <a:pPr marL="0" lvl="0" indent="0" algn="l" rtl="0">
              <a:spcBef>
                <a:spcPts val="1200"/>
              </a:spcBef>
              <a:spcAft>
                <a:spcPts val="0"/>
              </a:spcAft>
              <a:buNone/>
            </a:pPr>
            <a:r>
              <a:rPr lang="en"/>
              <a:t>but…</a:t>
            </a:r>
            <a:endParaRPr/>
          </a:p>
          <a:p>
            <a:pPr marL="457200" lvl="0" indent="-342900" algn="l" rtl="0">
              <a:spcBef>
                <a:spcPts val="1200"/>
              </a:spcBef>
              <a:spcAft>
                <a:spcPts val="0"/>
              </a:spcAft>
              <a:buSzPts val="1800"/>
              <a:buChar char="●"/>
            </a:pPr>
            <a:r>
              <a:rPr lang="en"/>
              <a:t>You can use the Illumina app: </a:t>
            </a:r>
            <a:r>
              <a:rPr lang="en" b="1"/>
              <a:t>Sequencing Analysis Viewer (SAV)</a:t>
            </a:r>
            <a:endParaRPr b="1"/>
          </a:p>
          <a:p>
            <a:pPr marL="0" lvl="0" indent="0" algn="l" rtl="0">
              <a:spcBef>
                <a:spcPts val="1200"/>
              </a:spcBef>
              <a:spcAft>
                <a:spcPts val="0"/>
              </a:spcAft>
              <a:buNone/>
            </a:pPr>
            <a:endParaRPr/>
          </a:p>
          <a:p>
            <a:pPr marL="0" lvl="0" indent="0" algn="l" rtl="0">
              <a:spcBef>
                <a:spcPts val="1200"/>
              </a:spcBef>
              <a:spcAft>
                <a:spcPts val="1200"/>
              </a:spcAft>
              <a:buNone/>
            </a:pP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Illumina Sequencing Analysis Viewer (SAV)</a:t>
            </a:r>
            <a:endParaRPr/>
          </a:p>
        </p:txBody>
      </p:sp>
      <p:sp>
        <p:nvSpPr>
          <p:cNvPr id="372" name="Google Shape;372;p4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Illumina has a software app (</a:t>
            </a:r>
            <a:r>
              <a:rPr lang="en" u="sng">
                <a:solidFill>
                  <a:schemeClr val="accent5"/>
                </a:solidFill>
                <a:hlinkClick r:id="rId3">
                  <a:extLst>
                    <a:ext uri="{A12FA001-AC4F-418D-AE19-62706E023703}">
                      <ahyp:hlinkClr xmlns:ahyp="http://schemas.microsoft.com/office/drawing/2018/hyperlinkcolor" val="tx"/>
                    </a:ext>
                  </a:extLst>
                </a:hlinkClick>
              </a:rPr>
              <a:t>Sequencing Analysis Viewer</a:t>
            </a:r>
            <a:r>
              <a:rPr lang="en"/>
              <a:t>)</a:t>
            </a:r>
            <a:endParaRPr/>
          </a:p>
          <a:p>
            <a:pPr marL="0" lvl="0" indent="0" algn="l" rtl="0">
              <a:spcBef>
                <a:spcPts val="1200"/>
              </a:spcBef>
              <a:spcAft>
                <a:spcPts val="0"/>
              </a:spcAft>
              <a:buNone/>
            </a:pPr>
            <a:endParaRPr/>
          </a:p>
          <a:p>
            <a:pPr marL="0" lvl="0" indent="0" algn="l" rtl="0">
              <a:spcBef>
                <a:spcPts val="1200"/>
              </a:spcBef>
              <a:spcAft>
                <a:spcPts val="0"/>
              </a:spcAft>
              <a:buNone/>
            </a:pPr>
            <a:r>
              <a:rPr lang="en"/>
              <a:t>You can download the app and use it to visualize the metrics/data included in the run folder, just as you would use Basespace</a:t>
            </a:r>
            <a:endParaRPr/>
          </a:p>
          <a:p>
            <a:pPr marL="0" lvl="0" indent="0" algn="l" rtl="0">
              <a:spcBef>
                <a:spcPts val="1200"/>
              </a:spcBef>
              <a:spcAft>
                <a:spcPts val="0"/>
              </a:spcAft>
              <a:buNone/>
            </a:pPr>
            <a:endParaRPr/>
          </a:p>
          <a:p>
            <a:pPr marL="0" lvl="0" indent="0" algn="l" rtl="0">
              <a:spcBef>
                <a:spcPts val="1200"/>
              </a:spcBef>
              <a:spcAft>
                <a:spcPts val="0"/>
              </a:spcAft>
              <a:buNone/>
            </a:pPr>
            <a:r>
              <a:rPr lang="en"/>
              <a:t>There are a few short training videos on the </a:t>
            </a:r>
            <a:r>
              <a:rPr lang="en" u="sng">
                <a:solidFill>
                  <a:schemeClr val="hlink"/>
                </a:solidFill>
                <a:hlinkClick r:id="rId3"/>
              </a:rPr>
              <a:t>SAV website</a:t>
            </a:r>
            <a:r>
              <a:rPr lang="en"/>
              <a:t> that we recommend</a:t>
            </a:r>
            <a:endParaRPr/>
          </a:p>
          <a:p>
            <a:pPr marL="0" lvl="0" indent="0" algn="l" rtl="0">
              <a:spcBef>
                <a:spcPts val="1200"/>
              </a:spcBef>
              <a:spcAft>
                <a:spcPts val="1200"/>
              </a:spcAft>
              <a:buClr>
                <a:schemeClr val="dk1"/>
              </a:buClr>
              <a:buSzPts val="1100"/>
              <a:buFont typeface="Arial"/>
              <a:buNone/>
            </a:pPr>
            <a:r>
              <a:rPr lang="en"/>
              <a:t>SAV user guide can be found </a:t>
            </a:r>
            <a:r>
              <a:rPr lang="en" u="sng">
                <a:solidFill>
                  <a:schemeClr val="hlink"/>
                </a:solidFill>
                <a:hlinkClick r:id="rId4"/>
              </a:rPr>
              <a:t>here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49"/>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fontScale="90000"/>
          </a:bodyPr>
          <a:lstStyle/>
          <a:p>
            <a:pPr marL="457200" lvl="0" indent="-388620" algn="l" rtl="0">
              <a:spcBef>
                <a:spcPts val="0"/>
              </a:spcBef>
              <a:spcAft>
                <a:spcPts val="0"/>
              </a:spcAft>
              <a:buSzPct val="100000"/>
              <a:buAutoNum type="arabicPeriod"/>
            </a:pPr>
            <a:r>
              <a:rPr lang="en"/>
              <a:t>Retrieve your run files from the Illumina sequencer</a:t>
            </a:r>
            <a:endParaRPr/>
          </a:p>
        </p:txBody>
      </p:sp>
      <p:sp>
        <p:nvSpPr>
          <p:cNvPr id="378" name="Google Shape;378;p49"/>
          <p:cNvSpPr txBox="1">
            <a:spLocks noGrp="1"/>
          </p:cNvSpPr>
          <p:nvPr>
            <p:ph type="body" idx="1"/>
          </p:nvPr>
        </p:nvSpPr>
        <p:spPr>
          <a:xfrm>
            <a:off x="311700" y="771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You will need to transfer the following files from the sequencer to your computer where you are using SAV</a:t>
            </a:r>
            <a:endParaRPr/>
          </a:p>
        </p:txBody>
      </p:sp>
      <p:pic>
        <p:nvPicPr>
          <p:cNvPr id="379" name="Google Shape;379;p49"/>
          <p:cNvPicPr preferRelativeResize="0"/>
          <p:nvPr/>
        </p:nvPicPr>
        <p:blipFill rotWithShape="1">
          <a:blip r:embed="rId3">
            <a:alphaModFix/>
          </a:blip>
          <a:srcRect t="37546"/>
          <a:stretch/>
        </p:blipFill>
        <p:spPr>
          <a:xfrm>
            <a:off x="311700" y="1649675"/>
            <a:ext cx="7131692" cy="3416401"/>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50"/>
          <p:cNvSpPr txBox="1">
            <a:spLocks noGrp="1"/>
          </p:cNvSpPr>
          <p:nvPr>
            <p:ph type="body" idx="1"/>
          </p:nvPr>
        </p:nvSpPr>
        <p:spPr>
          <a:xfrm>
            <a:off x="311700" y="6190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1600">
                <a:solidFill>
                  <a:srgbClr val="000000"/>
                </a:solidFill>
              </a:rPr>
              <a:t>After retrieving your sequencing run files and opening Sequence Analysis Viewer, click on ‘Browse’ and select the appropriate Run folder to view it’s metrics. </a:t>
            </a:r>
            <a:endParaRPr sz="1600">
              <a:solidFill>
                <a:srgbClr val="000000"/>
              </a:solidFill>
            </a:endParaRPr>
          </a:p>
        </p:txBody>
      </p:sp>
      <p:sp>
        <p:nvSpPr>
          <p:cNvPr id="385" name="Google Shape;385;p50"/>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2. Open run in Sequence Analysis Viewer</a:t>
            </a:r>
            <a:endParaRPr/>
          </a:p>
        </p:txBody>
      </p:sp>
      <p:pic>
        <p:nvPicPr>
          <p:cNvPr id="386" name="Google Shape;386;p50"/>
          <p:cNvPicPr preferRelativeResize="0"/>
          <p:nvPr/>
        </p:nvPicPr>
        <p:blipFill>
          <a:blip r:embed="rId3">
            <a:alphaModFix/>
          </a:blip>
          <a:stretch>
            <a:fillRect/>
          </a:stretch>
        </p:blipFill>
        <p:spPr>
          <a:xfrm>
            <a:off x="1779900" y="1409650"/>
            <a:ext cx="5584200" cy="3487401"/>
          </a:xfrm>
          <a:prstGeom prst="rect">
            <a:avLst/>
          </a:prstGeom>
          <a:noFill/>
          <a:ln>
            <a:noFill/>
          </a:ln>
        </p:spPr>
      </p:pic>
      <p:cxnSp>
        <p:nvCxnSpPr>
          <p:cNvPr id="387" name="Google Shape;387;p50"/>
          <p:cNvCxnSpPr/>
          <p:nvPr/>
        </p:nvCxnSpPr>
        <p:spPr>
          <a:xfrm>
            <a:off x="3438650" y="3297475"/>
            <a:ext cx="856200" cy="3000"/>
          </a:xfrm>
          <a:prstGeom prst="straightConnector1">
            <a:avLst/>
          </a:prstGeom>
          <a:noFill/>
          <a:ln w="9525" cap="flat" cmpd="sng">
            <a:solidFill>
              <a:srgbClr val="CC0000"/>
            </a:solidFill>
            <a:prstDash val="solid"/>
            <a:round/>
            <a:headEnd type="none" w="med" len="med"/>
            <a:tailEnd type="triangle" w="med" len="med"/>
          </a:ln>
        </p:spPr>
      </p:cxn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5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3. Follow the earlier slides in this deck for step by step QC</a:t>
            </a:r>
            <a:endParaRPr/>
          </a:p>
        </p:txBody>
      </p:sp>
      <p:sp>
        <p:nvSpPr>
          <p:cNvPr id="393" name="Google Shape;393;p5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The process of reviewing QC in SAV is the same as the process you would follow in Basespace</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52"/>
          <p:cNvSpPr txBox="1">
            <a:spLocks noGrp="1"/>
          </p:cNvSpPr>
          <p:nvPr>
            <p:ph type="body" idx="1"/>
          </p:nvPr>
        </p:nvSpPr>
        <p:spPr>
          <a:xfrm>
            <a:off x="1131900" y="1283650"/>
            <a:ext cx="3482100" cy="408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000000"/>
                </a:solidFill>
              </a:rPr>
              <a:t>In the Flow Cell Chart, click on the arrow to display the ‘% Occupied’ data instead of ‘Intensity’. </a:t>
            </a:r>
            <a:endParaRPr sz="1200">
              <a:solidFill>
                <a:srgbClr val="000000"/>
              </a:solidFill>
            </a:endParaRPr>
          </a:p>
          <a:p>
            <a:pPr marL="0" lvl="0" indent="0" algn="l" rtl="0">
              <a:spcBef>
                <a:spcPts val="1200"/>
              </a:spcBef>
              <a:spcAft>
                <a:spcPts val="0"/>
              </a:spcAft>
              <a:buNone/>
            </a:pPr>
            <a:r>
              <a:rPr lang="en" sz="1200">
                <a:solidFill>
                  <a:srgbClr val="000000"/>
                </a:solidFill>
              </a:rPr>
              <a:t>Determine if the optimal amount of library was loaded onto the flow cell. Are there any signs of over/under clustering?</a:t>
            </a:r>
            <a:endParaRPr sz="1200">
              <a:solidFill>
                <a:srgbClr val="000000"/>
              </a:solidFill>
            </a:endParaRPr>
          </a:p>
          <a:p>
            <a:pPr marL="0" lvl="0" indent="0" algn="l" rtl="0">
              <a:spcBef>
                <a:spcPts val="1200"/>
              </a:spcBef>
              <a:spcAft>
                <a:spcPts val="1200"/>
              </a:spcAft>
              <a:buNone/>
            </a:pPr>
            <a:r>
              <a:rPr lang="en" sz="1200">
                <a:solidFill>
                  <a:srgbClr val="000000"/>
                </a:solidFill>
              </a:rPr>
              <a:t>The % Occupied ranges here from 71 to 76. This indicates minor underclustering. This does not necessarily affect sequence quality, but it does reduce the maximum yield of data that can be obtained from a sequencing run. For the next sequencing run the researchers can load more material on the flow cell (provided that the same quantification protocol is being used) </a:t>
            </a:r>
            <a:r>
              <a:rPr lang="en" sz="1200">
                <a:solidFill>
                  <a:schemeClr val="dk1"/>
                </a:solidFill>
              </a:rPr>
              <a:t>to generate more sequencing data from a single run </a:t>
            </a:r>
            <a:r>
              <a:rPr lang="en" sz="1200">
                <a:solidFill>
                  <a:srgbClr val="000000"/>
                </a:solidFill>
              </a:rPr>
              <a:t>.</a:t>
            </a:r>
            <a:endParaRPr sz="1200">
              <a:solidFill>
                <a:srgbClr val="000000"/>
              </a:solidFill>
            </a:endParaRPr>
          </a:p>
        </p:txBody>
      </p:sp>
      <p:sp>
        <p:nvSpPr>
          <p:cNvPr id="399" name="Google Shape;399;p52"/>
          <p:cNvSpPr txBox="1">
            <a:spLocks noGrp="1"/>
          </p:cNvSpPr>
          <p:nvPr>
            <p:ph type="title"/>
          </p:nvPr>
        </p:nvSpPr>
        <p:spPr>
          <a:xfrm>
            <a:off x="311700" y="64025"/>
            <a:ext cx="5294700" cy="9525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to QC a sequencing run in Sequence Analysis Viewer</a:t>
            </a:r>
            <a:endParaRPr/>
          </a:p>
        </p:txBody>
      </p:sp>
      <p:sp>
        <p:nvSpPr>
          <p:cNvPr id="400" name="Google Shape;400;p52"/>
          <p:cNvSpPr txBox="1"/>
          <p:nvPr/>
        </p:nvSpPr>
        <p:spPr>
          <a:xfrm>
            <a:off x="1130300" y="1016650"/>
            <a:ext cx="453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FF0000"/>
                </a:solidFill>
              </a:rPr>
              <a:t>For iSeq runs (patterned flow cell):</a:t>
            </a:r>
            <a:endParaRPr b="1">
              <a:solidFill>
                <a:srgbClr val="FF0000"/>
              </a:solidFill>
            </a:endParaRPr>
          </a:p>
        </p:txBody>
      </p:sp>
      <p:pic>
        <p:nvPicPr>
          <p:cNvPr id="401" name="Google Shape;401;p52"/>
          <p:cNvPicPr preferRelativeResize="0"/>
          <p:nvPr/>
        </p:nvPicPr>
        <p:blipFill rotWithShape="1">
          <a:blip r:embed="rId3">
            <a:alphaModFix/>
          </a:blip>
          <a:srcRect r="66505"/>
          <a:stretch/>
        </p:blipFill>
        <p:spPr>
          <a:xfrm>
            <a:off x="5731930" y="0"/>
            <a:ext cx="2789151" cy="5143499"/>
          </a:xfrm>
          <a:prstGeom prst="rect">
            <a:avLst/>
          </a:prstGeom>
          <a:noFill/>
          <a:ln>
            <a:noFill/>
          </a:ln>
        </p:spPr>
      </p:pic>
      <p:cxnSp>
        <p:nvCxnSpPr>
          <p:cNvPr id="402" name="Google Shape;402;p52"/>
          <p:cNvCxnSpPr/>
          <p:nvPr/>
        </p:nvCxnSpPr>
        <p:spPr>
          <a:xfrm>
            <a:off x="4841175" y="1683400"/>
            <a:ext cx="976500" cy="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53"/>
          <p:cNvSpPr txBox="1">
            <a:spLocks noGrp="1"/>
          </p:cNvSpPr>
          <p:nvPr>
            <p:ph type="body" idx="1"/>
          </p:nvPr>
        </p:nvSpPr>
        <p:spPr>
          <a:xfrm>
            <a:off x="1131900" y="1283650"/>
            <a:ext cx="3482100" cy="408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000000"/>
                </a:solidFill>
              </a:rPr>
              <a:t>In the Flow Cell Chart, click on the arrow to display the ‘Density’ data instead of ‘Intensity’. </a:t>
            </a:r>
            <a:endParaRPr sz="1200">
              <a:solidFill>
                <a:srgbClr val="000000"/>
              </a:solidFill>
            </a:endParaRPr>
          </a:p>
          <a:p>
            <a:pPr marL="0" lvl="0" indent="0" algn="l" rtl="0">
              <a:spcBef>
                <a:spcPts val="1200"/>
              </a:spcBef>
              <a:spcAft>
                <a:spcPts val="0"/>
              </a:spcAft>
              <a:buNone/>
            </a:pPr>
            <a:r>
              <a:rPr lang="en" sz="1200">
                <a:solidFill>
                  <a:srgbClr val="000000"/>
                </a:solidFill>
              </a:rPr>
              <a:t>Determine if the optimal amount of library was loaded onto the flow cell. Are there any signs of over/under clustering?</a:t>
            </a:r>
            <a:endParaRPr sz="1200">
              <a:solidFill>
                <a:srgbClr val="000000"/>
              </a:solidFill>
            </a:endParaRPr>
          </a:p>
          <a:p>
            <a:pPr marL="0" lvl="0" indent="0" algn="l" rtl="0">
              <a:spcBef>
                <a:spcPts val="1200"/>
              </a:spcBef>
              <a:spcAft>
                <a:spcPts val="1200"/>
              </a:spcAft>
              <a:buNone/>
            </a:pPr>
            <a:r>
              <a:rPr lang="en" sz="1200">
                <a:solidFill>
                  <a:srgbClr val="000000"/>
                </a:solidFill>
              </a:rPr>
              <a:t>The optimal Density ranges are dependent on the flow cell / sequencer used. View </a:t>
            </a:r>
            <a:r>
              <a:rPr lang="en" sz="1200" u="sng">
                <a:solidFill>
                  <a:schemeClr val="hlink"/>
                </a:solidFill>
                <a:hlinkClick r:id="rId3"/>
              </a:rPr>
              <a:t>Illumina’s recommendations for cluster density</a:t>
            </a:r>
            <a:r>
              <a:rPr lang="en" sz="1200">
                <a:solidFill>
                  <a:srgbClr val="000000"/>
                </a:solidFill>
              </a:rPr>
              <a:t> here.</a:t>
            </a:r>
            <a:endParaRPr sz="1200">
              <a:solidFill>
                <a:srgbClr val="000000"/>
              </a:solidFill>
            </a:endParaRPr>
          </a:p>
        </p:txBody>
      </p:sp>
      <p:sp>
        <p:nvSpPr>
          <p:cNvPr id="408" name="Google Shape;408;p53"/>
          <p:cNvSpPr txBox="1">
            <a:spLocks noGrp="1"/>
          </p:cNvSpPr>
          <p:nvPr>
            <p:ph type="title"/>
          </p:nvPr>
        </p:nvSpPr>
        <p:spPr>
          <a:xfrm>
            <a:off x="311700" y="64025"/>
            <a:ext cx="5294700" cy="9525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to QC a sequencing run in Sequence Analysis Viewer</a:t>
            </a:r>
            <a:endParaRPr/>
          </a:p>
        </p:txBody>
      </p:sp>
      <p:sp>
        <p:nvSpPr>
          <p:cNvPr id="409" name="Google Shape;409;p53"/>
          <p:cNvSpPr txBox="1"/>
          <p:nvPr/>
        </p:nvSpPr>
        <p:spPr>
          <a:xfrm>
            <a:off x="1130300" y="1016650"/>
            <a:ext cx="453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FF0000"/>
                </a:solidFill>
              </a:rPr>
              <a:t>For MiSeq / MiniSeq runs (unpatterned flow cells):</a:t>
            </a:r>
            <a:endParaRPr b="1">
              <a:solidFill>
                <a:srgbClr val="FF0000"/>
              </a:solidFill>
            </a:endParaRPr>
          </a:p>
        </p:txBody>
      </p:sp>
      <p:pic>
        <p:nvPicPr>
          <p:cNvPr id="410" name="Google Shape;410;p53"/>
          <p:cNvPicPr preferRelativeResize="0"/>
          <p:nvPr/>
        </p:nvPicPr>
        <p:blipFill rotWithShape="1">
          <a:blip r:embed="rId4">
            <a:alphaModFix/>
          </a:blip>
          <a:srcRect r="66505"/>
          <a:stretch/>
        </p:blipFill>
        <p:spPr>
          <a:xfrm>
            <a:off x="5731930" y="0"/>
            <a:ext cx="2789151" cy="5143499"/>
          </a:xfrm>
          <a:prstGeom prst="rect">
            <a:avLst/>
          </a:prstGeom>
          <a:noFill/>
          <a:ln>
            <a:noFill/>
          </a:ln>
        </p:spPr>
      </p:pic>
      <p:cxnSp>
        <p:nvCxnSpPr>
          <p:cNvPr id="411" name="Google Shape;411;p53"/>
          <p:cNvCxnSpPr/>
          <p:nvPr/>
        </p:nvCxnSpPr>
        <p:spPr>
          <a:xfrm>
            <a:off x="4841175" y="1683400"/>
            <a:ext cx="976500" cy="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to QC a sequencing run in Sequence Analysis Viewer</a:t>
            </a:r>
            <a:endParaRPr/>
          </a:p>
        </p:txBody>
      </p:sp>
      <p:sp>
        <p:nvSpPr>
          <p:cNvPr id="417" name="Google Shape;417;p5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418" name="Google Shape;418;p54"/>
          <p:cNvPicPr preferRelativeResize="0"/>
          <p:nvPr/>
        </p:nvPicPr>
        <p:blipFill>
          <a:blip r:embed="rId3">
            <a:alphaModFix/>
          </a:blip>
          <a:stretch>
            <a:fillRect/>
          </a:stretch>
        </p:blipFill>
        <p:spPr>
          <a:xfrm>
            <a:off x="311698" y="1152475"/>
            <a:ext cx="6395648" cy="3991025"/>
          </a:xfrm>
          <a:prstGeom prst="rect">
            <a:avLst/>
          </a:prstGeom>
          <a:noFill/>
          <a:ln>
            <a:noFill/>
          </a:ln>
        </p:spPr>
      </p:pic>
      <p:cxnSp>
        <p:nvCxnSpPr>
          <p:cNvPr id="419" name="Google Shape;419;p54"/>
          <p:cNvCxnSpPr/>
          <p:nvPr/>
        </p:nvCxnSpPr>
        <p:spPr>
          <a:xfrm flipH="1">
            <a:off x="4346400" y="1988825"/>
            <a:ext cx="51300" cy="677400"/>
          </a:xfrm>
          <a:prstGeom prst="straightConnector1">
            <a:avLst/>
          </a:prstGeom>
          <a:noFill/>
          <a:ln w="9525" cap="flat" cmpd="sng">
            <a:solidFill>
              <a:srgbClr val="CC0000"/>
            </a:solidFill>
            <a:prstDash val="solid"/>
            <a:round/>
            <a:headEnd type="none" w="med" len="med"/>
            <a:tailEnd type="triangle" w="med" len="med"/>
          </a:ln>
        </p:spPr>
      </p:cxnSp>
      <p:sp>
        <p:nvSpPr>
          <p:cNvPr id="420" name="Google Shape;420;p54"/>
          <p:cNvSpPr txBox="1"/>
          <p:nvPr/>
        </p:nvSpPr>
        <p:spPr>
          <a:xfrm>
            <a:off x="3163275" y="1465900"/>
            <a:ext cx="2666100" cy="677400"/>
          </a:xfrm>
          <a:prstGeom prst="rect">
            <a:avLst/>
          </a:prstGeom>
          <a:noFill/>
          <a:ln w="19050" cap="flat" cmpd="sng">
            <a:solidFill>
              <a:srgbClr val="CC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2"/>
                </a:solidFill>
              </a:rPr>
              <a:t>Click the square to expand the plot of interest</a:t>
            </a:r>
            <a:endParaRPr sz="1600">
              <a:solidFill>
                <a:schemeClr val="dk2"/>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55"/>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to QC a sequencing run in Sequence Analysis Viewer</a:t>
            </a:r>
            <a:endParaRPr/>
          </a:p>
        </p:txBody>
      </p:sp>
      <p:sp>
        <p:nvSpPr>
          <p:cNvPr id="426" name="Google Shape;426;p55"/>
          <p:cNvSpPr txBox="1"/>
          <p:nvPr/>
        </p:nvSpPr>
        <p:spPr>
          <a:xfrm>
            <a:off x="325300" y="639250"/>
            <a:ext cx="85206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 the ‘Data by Cycle’ graph, select ‘% Base’ to determine if you had any adapter dimers, short fragments or potentially other issues.</a:t>
            </a:r>
            <a:endParaRPr/>
          </a:p>
        </p:txBody>
      </p:sp>
      <p:sp>
        <p:nvSpPr>
          <p:cNvPr id="427" name="Google Shape;427;p55"/>
          <p:cNvSpPr/>
          <p:nvPr/>
        </p:nvSpPr>
        <p:spPr>
          <a:xfrm>
            <a:off x="3174374" y="636717"/>
            <a:ext cx="753000" cy="4356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28" name="Google Shape;428;p55"/>
          <p:cNvPicPr preferRelativeResize="0"/>
          <p:nvPr/>
        </p:nvPicPr>
        <p:blipFill>
          <a:blip r:embed="rId3">
            <a:alphaModFix/>
          </a:blip>
          <a:stretch>
            <a:fillRect/>
          </a:stretch>
        </p:blipFill>
        <p:spPr>
          <a:xfrm>
            <a:off x="1465924" y="1017725"/>
            <a:ext cx="6709924" cy="4364102"/>
          </a:xfrm>
          <a:prstGeom prst="rect">
            <a:avLst/>
          </a:prstGeom>
          <a:noFill/>
          <a:ln>
            <a:noFill/>
          </a:ln>
        </p:spPr>
      </p:pic>
      <p:sp>
        <p:nvSpPr>
          <p:cNvPr id="429" name="Google Shape;429;p55"/>
          <p:cNvSpPr/>
          <p:nvPr/>
        </p:nvSpPr>
        <p:spPr>
          <a:xfrm>
            <a:off x="2015100" y="2136150"/>
            <a:ext cx="813900" cy="4356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pic>
        <p:nvPicPr>
          <p:cNvPr id="434" name="Google Shape;434;p56"/>
          <p:cNvPicPr preferRelativeResize="0"/>
          <p:nvPr/>
        </p:nvPicPr>
        <p:blipFill rotWithShape="1">
          <a:blip r:embed="rId3">
            <a:alphaModFix/>
          </a:blip>
          <a:srcRect r="18738"/>
          <a:stretch/>
        </p:blipFill>
        <p:spPr>
          <a:xfrm>
            <a:off x="152400" y="1483450"/>
            <a:ext cx="8942350" cy="3563100"/>
          </a:xfrm>
          <a:prstGeom prst="rect">
            <a:avLst/>
          </a:prstGeom>
          <a:noFill/>
          <a:ln>
            <a:noFill/>
          </a:ln>
        </p:spPr>
      </p:pic>
      <p:sp>
        <p:nvSpPr>
          <p:cNvPr id="435" name="Google Shape;435;p56"/>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to QC a sequencing run in Sequence Analysis Viewer</a:t>
            </a:r>
            <a:endParaRPr/>
          </a:p>
        </p:txBody>
      </p:sp>
      <p:sp>
        <p:nvSpPr>
          <p:cNvPr id="436" name="Google Shape;436;p56"/>
          <p:cNvSpPr txBox="1"/>
          <p:nvPr/>
        </p:nvSpPr>
        <p:spPr>
          <a:xfrm>
            <a:off x="325300" y="639250"/>
            <a:ext cx="85206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Click on the ‘Summary’ tab to view how many reads were generated, and if the % aligned and the error rate are within the expected range.</a:t>
            </a:r>
            <a:endParaRPr/>
          </a:p>
        </p:txBody>
      </p:sp>
      <p:sp>
        <p:nvSpPr>
          <p:cNvPr id="437" name="Google Shape;437;p56"/>
          <p:cNvSpPr/>
          <p:nvPr/>
        </p:nvSpPr>
        <p:spPr>
          <a:xfrm>
            <a:off x="1166425" y="1441748"/>
            <a:ext cx="753000" cy="2946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56"/>
          <p:cNvSpPr/>
          <p:nvPr/>
        </p:nvSpPr>
        <p:spPr>
          <a:xfrm>
            <a:off x="2610125" y="3872900"/>
            <a:ext cx="1057500" cy="2397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56"/>
          <p:cNvSpPr/>
          <p:nvPr/>
        </p:nvSpPr>
        <p:spPr>
          <a:xfrm>
            <a:off x="5377675" y="4491900"/>
            <a:ext cx="753000" cy="5106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56"/>
          <p:cNvSpPr txBox="1"/>
          <p:nvPr/>
        </p:nvSpPr>
        <p:spPr>
          <a:xfrm>
            <a:off x="5425650" y="1956150"/>
            <a:ext cx="3353100" cy="1662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 aligned should be similar to %PhiX that was spiked in</a:t>
            </a:r>
            <a:endParaRPr sz="1200"/>
          </a:p>
          <a:p>
            <a:pPr marL="0" lvl="0" indent="0" algn="l" rtl="0">
              <a:spcBef>
                <a:spcPts val="0"/>
              </a:spcBef>
              <a:spcAft>
                <a:spcPts val="0"/>
              </a:spcAft>
              <a:buNone/>
            </a:pPr>
            <a:endParaRPr sz="1200"/>
          </a:p>
          <a:p>
            <a:pPr marL="0" lvl="0" indent="0" algn="l" rtl="0">
              <a:spcBef>
                <a:spcPts val="0"/>
              </a:spcBef>
              <a:spcAft>
                <a:spcPts val="0"/>
              </a:spcAft>
              <a:buNone/>
            </a:pPr>
            <a:r>
              <a:rPr lang="en" sz="1200"/>
              <a:t>Error rate (%) should be &lt;1.0</a:t>
            </a:r>
            <a:endParaRPr sz="1200"/>
          </a:p>
          <a:p>
            <a:pPr marL="0" lvl="0" indent="0" algn="l" rtl="0">
              <a:spcBef>
                <a:spcPts val="0"/>
              </a:spcBef>
              <a:spcAft>
                <a:spcPts val="0"/>
              </a:spcAft>
              <a:buNone/>
            </a:pPr>
            <a:endParaRPr sz="1200"/>
          </a:p>
          <a:p>
            <a:pPr marL="0" lvl="0" indent="0" algn="l" rtl="0">
              <a:spcBef>
                <a:spcPts val="0"/>
              </a:spcBef>
              <a:spcAft>
                <a:spcPts val="0"/>
              </a:spcAft>
              <a:buNone/>
            </a:pPr>
            <a:r>
              <a:rPr lang="en" sz="1200"/>
              <a:t>Cluster Count PF (M) shows how many paired-end passed filter reads were generated (in this case 5.03 million PF reads)</a:t>
            </a:r>
            <a:endParaRPr sz="1200"/>
          </a:p>
        </p:txBody>
      </p:sp>
      <p:cxnSp>
        <p:nvCxnSpPr>
          <p:cNvPr id="441" name="Google Shape;441;p56"/>
          <p:cNvCxnSpPr/>
          <p:nvPr/>
        </p:nvCxnSpPr>
        <p:spPr>
          <a:xfrm flipH="1">
            <a:off x="2973275" y="2309000"/>
            <a:ext cx="2456100" cy="1629900"/>
          </a:xfrm>
          <a:prstGeom prst="straightConnector1">
            <a:avLst/>
          </a:prstGeom>
          <a:noFill/>
          <a:ln w="9525" cap="flat" cmpd="sng">
            <a:solidFill>
              <a:schemeClr val="dk2"/>
            </a:solidFill>
            <a:prstDash val="solid"/>
            <a:round/>
            <a:headEnd type="none" w="med" len="med"/>
            <a:tailEnd type="triangle" w="med" len="med"/>
          </a:ln>
        </p:spPr>
      </p:cxnSp>
      <p:cxnSp>
        <p:nvCxnSpPr>
          <p:cNvPr id="442" name="Google Shape;442;p56"/>
          <p:cNvCxnSpPr>
            <a:stCxn id="440" idx="1"/>
          </p:cNvCxnSpPr>
          <p:nvPr/>
        </p:nvCxnSpPr>
        <p:spPr>
          <a:xfrm flipH="1">
            <a:off x="3449550" y="2787300"/>
            <a:ext cx="1976100" cy="1189800"/>
          </a:xfrm>
          <a:prstGeom prst="straightConnector1">
            <a:avLst/>
          </a:prstGeom>
          <a:noFill/>
          <a:ln w="9525" cap="flat" cmpd="sng">
            <a:solidFill>
              <a:schemeClr val="dk2"/>
            </a:solidFill>
            <a:prstDash val="solid"/>
            <a:round/>
            <a:headEnd type="none" w="med" len="med"/>
            <a:tailEnd type="triangle" w="med" len="med"/>
          </a:ln>
        </p:spPr>
      </p:cxnSp>
      <p:cxnSp>
        <p:nvCxnSpPr>
          <p:cNvPr id="443" name="Google Shape;443;p56"/>
          <p:cNvCxnSpPr/>
          <p:nvPr/>
        </p:nvCxnSpPr>
        <p:spPr>
          <a:xfrm flipH="1">
            <a:off x="5754225" y="3570075"/>
            <a:ext cx="7800" cy="8457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pic>
        <p:nvPicPr>
          <p:cNvPr id="448" name="Google Shape;448;p57"/>
          <p:cNvPicPr preferRelativeResize="0"/>
          <p:nvPr/>
        </p:nvPicPr>
        <p:blipFill>
          <a:blip r:embed="rId3">
            <a:alphaModFix/>
          </a:blip>
          <a:stretch>
            <a:fillRect/>
          </a:stretch>
        </p:blipFill>
        <p:spPr>
          <a:xfrm>
            <a:off x="152400" y="1170125"/>
            <a:ext cx="8558985" cy="3820976"/>
          </a:xfrm>
          <a:prstGeom prst="rect">
            <a:avLst/>
          </a:prstGeom>
          <a:noFill/>
          <a:ln>
            <a:noFill/>
          </a:ln>
        </p:spPr>
      </p:pic>
      <p:sp>
        <p:nvSpPr>
          <p:cNvPr id="449" name="Google Shape;449;p57"/>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to QC a sequencing run in Sequence Analysis Viewer</a:t>
            </a:r>
            <a:endParaRPr/>
          </a:p>
        </p:txBody>
      </p:sp>
      <p:sp>
        <p:nvSpPr>
          <p:cNvPr id="450" name="Google Shape;450;p57"/>
          <p:cNvSpPr/>
          <p:nvPr/>
        </p:nvSpPr>
        <p:spPr>
          <a:xfrm>
            <a:off x="1535375" y="1116198"/>
            <a:ext cx="753000" cy="2946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57"/>
          <p:cNvSpPr/>
          <p:nvPr/>
        </p:nvSpPr>
        <p:spPr>
          <a:xfrm>
            <a:off x="2387275" y="1030875"/>
            <a:ext cx="6369600" cy="976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57"/>
          <p:cNvSpPr txBox="1"/>
          <p:nvPr/>
        </p:nvSpPr>
        <p:spPr>
          <a:xfrm>
            <a:off x="325300" y="563050"/>
            <a:ext cx="8520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Click on the ‘Indexing’ tab to view metrics on demultiplexing.</a:t>
            </a:r>
            <a:endParaRPr/>
          </a:p>
        </p:txBody>
      </p:sp>
      <p:sp>
        <p:nvSpPr>
          <p:cNvPr id="453" name="Google Shape;453;p57"/>
          <p:cNvSpPr txBox="1"/>
          <p:nvPr/>
        </p:nvSpPr>
        <p:spPr>
          <a:xfrm>
            <a:off x="2517500" y="955700"/>
            <a:ext cx="47478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 Undetermined reads = 100 – ‘%Reads Identified (PF)’ </a:t>
            </a:r>
            <a:endParaRPr sz="1200"/>
          </a:p>
          <a:p>
            <a:pPr marL="1543050" lvl="0" indent="0" algn="l" rtl="0">
              <a:spcBef>
                <a:spcPts val="0"/>
              </a:spcBef>
              <a:spcAft>
                <a:spcPts val="0"/>
              </a:spcAft>
              <a:buNone/>
            </a:pPr>
            <a:r>
              <a:rPr lang="en" sz="1200"/>
              <a:t>(= 9.07% in this example)</a:t>
            </a:r>
            <a:endParaRPr sz="1200"/>
          </a:p>
        </p:txBody>
      </p:sp>
      <p:cxnSp>
        <p:nvCxnSpPr>
          <p:cNvPr id="454" name="Google Shape;454;p57"/>
          <p:cNvCxnSpPr/>
          <p:nvPr/>
        </p:nvCxnSpPr>
        <p:spPr>
          <a:xfrm flipH="1">
            <a:off x="2181100" y="1280450"/>
            <a:ext cx="889800" cy="726900"/>
          </a:xfrm>
          <a:prstGeom prst="straightConnector1">
            <a:avLst/>
          </a:prstGeom>
          <a:noFill/>
          <a:ln w="9525" cap="flat" cmpd="sng">
            <a:solidFill>
              <a:schemeClr val="dk2"/>
            </a:solidFill>
            <a:prstDash val="solid"/>
            <a:round/>
            <a:headEnd type="none" w="med" len="med"/>
            <a:tailEnd type="triangle" w="med" len="med"/>
          </a:ln>
        </p:spPr>
      </p:cxnSp>
      <p:sp>
        <p:nvSpPr>
          <p:cNvPr id="455" name="Google Shape;455;p57"/>
          <p:cNvSpPr txBox="1"/>
          <p:nvPr/>
        </p:nvSpPr>
        <p:spPr>
          <a:xfrm>
            <a:off x="4698575" y="1616850"/>
            <a:ext cx="32229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Check if all samples are equally represented (and none are missing)</a:t>
            </a:r>
            <a:endParaRPr sz="1200"/>
          </a:p>
        </p:txBody>
      </p:sp>
      <p:cxnSp>
        <p:nvCxnSpPr>
          <p:cNvPr id="456" name="Google Shape;456;p57"/>
          <p:cNvCxnSpPr/>
          <p:nvPr/>
        </p:nvCxnSpPr>
        <p:spPr>
          <a:xfrm flipH="1">
            <a:off x="4698650" y="2181100"/>
            <a:ext cx="520800" cy="238800"/>
          </a:xfrm>
          <a:prstGeom prst="straightConnector1">
            <a:avLst/>
          </a:prstGeom>
          <a:noFill/>
          <a:ln w="9525" cap="flat" cmpd="sng">
            <a:solidFill>
              <a:schemeClr val="dk2"/>
            </a:solidFill>
            <a:prstDash val="solid"/>
            <a:round/>
            <a:headEnd type="none" w="med" len="med"/>
            <a:tailEnd type="triangle" w="med" len="med"/>
          </a:ln>
        </p:spPr>
      </p:cxnSp>
      <p:cxnSp>
        <p:nvCxnSpPr>
          <p:cNvPr id="457" name="Google Shape;457;p57"/>
          <p:cNvCxnSpPr/>
          <p:nvPr/>
        </p:nvCxnSpPr>
        <p:spPr>
          <a:xfrm>
            <a:off x="6174375" y="2159400"/>
            <a:ext cx="390600" cy="293100"/>
          </a:xfrm>
          <a:prstGeom prst="straightConnector1">
            <a:avLst/>
          </a:prstGeom>
          <a:noFill/>
          <a:ln w="9525" cap="flat" cmpd="sng">
            <a:solidFill>
              <a:schemeClr val="dk2"/>
            </a:solidFill>
            <a:prstDash val="solid"/>
            <a:round/>
            <a:headEnd type="none" w="med" len="med"/>
            <a:tailEnd type="triangle" w="med" len="med"/>
          </a:ln>
        </p:spPr>
      </p:cxnSp>
      <p:sp>
        <p:nvSpPr>
          <p:cNvPr id="458" name="Google Shape;458;p57"/>
          <p:cNvSpPr/>
          <p:nvPr/>
        </p:nvSpPr>
        <p:spPr>
          <a:xfrm>
            <a:off x="1428100" y="2071600"/>
            <a:ext cx="1371600" cy="3483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57"/>
          <p:cNvSpPr/>
          <p:nvPr/>
        </p:nvSpPr>
        <p:spPr>
          <a:xfrm>
            <a:off x="3685650" y="2452500"/>
            <a:ext cx="1371600" cy="26043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970</TotalTime>
  <Words>2972</Words>
  <Application>Microsoft Macintosh PowerPoint</Application>
  <PresentationFormat>On-screen Show (16:9)</PresentationFormat>
  <Paragraphs>250</Paragraphs>
  <Slides>48</Slides>
  <Notes>45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48</vt:i4>
      </vt:variant>
    </vt:vector>
  </HeadingPairs>
  <TitlesOfParts>
    <vt:vector size="52" baseType="lpstr">
      <vt:lpstr>Arial</vt:lpstr>
      <vt:lpstr>Helvetica Neue</vt:lpstr>
      <vt:lpstr>Wingdings</vt:lpstr>
      <vt:lpstr>Simple Light</vt:lpstr>
      <vt:lpstr>Sequencing run QC</vt:lpstr>
      <vt:lpstr>Sequencing Run QC</vt:lpstr>
      <vt:lpstr>Sequencing Run QC using BaseSpace</vt:lpstr>
      <vt:lpstr>Sequencing Run QC using BaseSpace</vt:lpstr>
      <vt:lpstr>AVG%Q30 and %PF</vt:lpstr>
      <vt:lpstr>QC charts</vt:lpstr>
      <vt:lpstr>Evaluate clustering for MiSeq</vt:lpstr>
      <vt:lpstr>Evaluate clustering for iSeq/NextSeq and other patterned flow cells</vt:lpstr>
      <vt:lpstr>How is % PF calculated? For patterned flow cells</vt:lpstr>
      <vt:lpstr>Evaluate clustering with % PF x % Occupied plots For patterned flow cells</vt:lpstr>
      <vt:lpstr>Evaluate clustering for iSeq/NextSeq – putting it together For patterned flow cells</vt:lpstr>
      <vt:lpstr>Evaluate clustering by looking at Files/Thumbnail_Images</vt:lpstr>
      <vt:lpstr>Evaluate level of adapter dimers and fragment length</vt:lpstr>
      <vt:lpstr>Evaluate level of adapter dimers and fragment length</vt:lpstr>
      <vt:lpstr>Evaluate level of adapter dimers and fragment length</vt:lpstr>
      <vt:lpstr>Evaluate level of adapter dimers and fragment length</vt:lpstr>
      <vt:lpstr>Evaluate level of adapter dimers and fragment length</vt:lpstr>
      <vt:lpstr>Evaluate level of adapter dimers and fragment length</vt:lpstr>
      <vt:lpstr>Evaluate error rate based on PhiX</vt:lpstr>
      <vt:lpstr>Evaluate sequencing data yield</vt:lpstr>
      <vt:lpstr>Evaluate sequencing metrics</vt:lpstr>
      <vt:lpstr>Evaluate demultiplexing</vt:lpstr>
      <vt:lpstr>Evaluate demultiplexing</vt:lpstr>
      <vt:lpstr>Evaluate demultiplexing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if my sequencer is not connected to the internet?  (a guide to SAV)</vt:lpstr>
      <vt:lpstr>If your sequencer is not connected to the internet…</vt:lpstr>
      <vt:lpstr>Illumina Sequencing Analysis Viewer (SAV)</vt:lpstr>
      <vt:lpstr>Retrieve your run files from the Illumina sequencer</vt:lpstr>
      <vt:lpstr>2. Open run in Sequence Analysis Viewer</vt:lpstr>
      <vt:lpstr>3. Follow the earlier slides in this deck for step by step QC</vt:lpstr>
      <vt:lpstr>How to QC a sequencing run in Sequence Analysis Viewer</vt:lpstr>
      <vt:lpstr>How to QC a sequencing run in Sequence Analysis Viewer</vt:lpstr>
      <vt:lpstr>How to QC a sequencing run in Sequence Analysis Viewer</vt:lpstr>
      <vt:lpstr>How to QC a sequencing run in Sequence Analysis Viewer</vt:lpstr>
      <vt:lpstr>How to QC a sequencing run in Sequence Analysis Viewer</vt:lpstr>
      <vt:lpstr>How to QC a sequencing run in Sequence Analysis Viewer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Genay Pilarowski</cp:lastModifiedBy>
  <cp:revision>6</cp:revision>
  <dcterms:modified xsi:type="dcterms:W3CDTF">2026-08-28T00:09:36Z</dcterms:modified>
</cp:coreProperties>
</file>