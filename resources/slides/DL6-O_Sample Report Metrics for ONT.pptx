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4"/>
  </p:notesMasterIdLst>
  <p:sldIdLst>
    <p:sldId id="311" r:id="rId2"/>
    <p:sldId id="256" r:id="rId3"/>
    <p:sldId id="279" r:id="rId4"/>
    <p:sldId id="280" r:id="rId5"/>
    <p:sldId id="297" r:id="rId6"/>
    <p:sldId id="281" r:id="rId7"/>
    <p:sldId id="282" r:id="rId8"/>
    <p:sldId id="258" r:id="rId9"/>
    <p:sldId id="283" r:id="rId10"/>
    <p:sldId id="284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85" r:id="rId19"/>
    <p:sldId id="269" r:id="rId20"/>
    <p:sldId id="295" r:id="rId21"/>
    <p:sldId id="291" r:id="rId22"/>
    <p:sldId id="296" r:id="rId23"/>
  </p:sldIdLst>
  <p:sldSz cx="9144000" cy="5143500" type="screen16x9"/>
  <p:notesSz cx="6858000" cy="9144000"/>
  <p:embeddedFontLst>
    <p:embeddedFont>
      <p:font typeface="Open Sans" panose="020B0606030504020204" pitchFamily="34" charset="0"/>
      <p:regular r:id="rId25"/>
      <p:bold r:id="rId26"/>
      <p:italic r:id="rId27"/>
      <p:boldItalic r:id="rId28"/>
    </p:embeddedFont>
    <p:embeddedFont>
      <p:font typeface="Poppins" pitchFamily="2" charset="77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5" roundtripDataSignature="AMtx7mh5CtBjUSiiFVS0LTjbxPpaMSpAH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71E6587-575E-4002-BBC1-B68D7DEDE265}">
  <a:tblStyle styleId="{471E6587-575E-4002-BBC1-B68D7DEDE265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32C9CD5-0983-4F66-87FC-8E090F406FB0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26"/>
    <p:restoredTop sz="94557"/>
  </p:normalViewPr>
  <p:slideViewPr>
    <p:cSldViewPr snapToGrid="0">
      <p:cViewPr varScale="1">
        <p:scale>
          <a:sx n="144" d="100"/>
          <a:sy n="144" d="100"/>
        </p:scale>
        <p:origin x="760" y="19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customschemas.google.com/relationships/presentationmetadata" Target="meta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Slides updated 07/02/2024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4" name="Google Shape;5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02afa72b26_0_1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2" name="Google Shape;362;g302afa72b26_0_1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02afa72b26_0_1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9" name="Google Shape;369;g302afa72b26_0_1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No Z score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>
          <a:extLst>
            <a:ext uri="{FF2B5EF4-FFF2-40B4-BE49-F238E27FC236}">
              <a16:creationId xmlns:a16="http://schemas.microsoft.com/office/drawing/2014/main" id="{2F67C98A-9325-2375-FC83-DC55C0412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02afa72b26_0_163:notes">
            <a:extLst>
              <a:ext uri="{FF2B5EF4-FFF2-40B4-BE49-F238E27FC236}">
                <a16:creationId xmlns:a16="http://schemas.microsoft.com/office/drawing/2014/main" id="{6B1C610F-D2DC-909D-05B2-B36CF68D77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2" name="Google Shape;362;g302afa72b26_0_163:notes">
            <a:extLst>
              <a:ext uri="{FF2B5EF4-FFF2-40B4-BE49-F238E27FC236}">
                <a16:creationId xmlns:a16="http://schemas.microsoft.com/office/drawing/2014/main" id="{E1AFD096-FDC6-9BD4-5AFB-92FFC3419B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804172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02afa72b26_0_1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5" name="Google Shape;375;g302afa72b26_0_1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02afa72b26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83" name="Google Shape;383;g302afa72b26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High abundance doesn’t mean pathogen, but is a good place to start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02afa72b26_0_1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91" name="Google Shape;391;g302afa72b26_0_1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02afa72b26_0_1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02" name="Google Shape;402;g302afa72b26_0_1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6" name="Google Shape;9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" name="Google Shape;11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2" name="Google Shape;12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Consider NT contigs and scale.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8" name="Google Shape;128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Applies to all taxonomic groups.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Is this taxon interesting to our study?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Look at total reads for this sample -&gt; low total, not surprising to have low coverage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BLAST -&gt; specificity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4" name="Google Shape;134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02afa72b26_0_2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12" name="Google Shape;412;g302afa72b26_0_2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358f93afd49_0_2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1" name="Google Shape;471;g358f93afd49_0_2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358f93afd49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8" name="Google Shape;448;g358f93afd49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58f93afd49_0_2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6" name="Google Shape;466;g358f93afd49_0_2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TITLE_AND_BODY_1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4" name="Google Shape;14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7" name="Google Shape;17;p18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8" name="Google Shape;18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9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1" name="Google Shape;21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20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" name="Google Shape;26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2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2" name="Google Shape;32;p22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3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6" name="Google Shape;36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4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24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1" name="Google Shape;41;p24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5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5" name="Google Shape;45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6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26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1" type="obj">
  <p:cSld name="Title and Content 1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4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7BC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4"/>
          <p:cNvSpPr txBox="1">
            <a:spLocks noGrp="1"/>
          </p:cNvSpPr>
          <p:nvPr>
            <p:ph type="body" idx="1"/>
          </p:nvPr>
        </p:nvSpPr>
        <p:spPr>
          <a:xfrm>
            <a:off x="457200" y="960120"/>
            <a:ext cx="8229600" cy="37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‣"/>
              <a:defRPr/>
            </a:lvl1pPr>
            <a:lvl2pPr marL="914400" lvl="1" indent="-330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600"/>
              <a:buChar char="▪"/>
              <a:defRPr/>
            </a:lvl2pPr>
            <a:lvl3pPr marL="1371600" lvl="2" indent="-3175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400"/>
              <a:buChar char="•"/>
              <a:defRPr/>
            </a:lvl3pPr>
            <a:lvl4pPr marL="1828800" lvl="3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⁃"/>
              <a:defRPr/>
            </a:lvl4pPr>
            <a:lvl5pPr marL="2286000" lvl="4" indent="-3175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411388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6 1">
  <p:cSld name="Title and body 6 1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358f93afd49_0_50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g358f93afd49_0_50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400"/>
              <a:buChar char="•"/>
              <a:defRPr/>
            </a:lvl1pPr>
            <a:lvl2pPr marL="914400" lvl="1" indent="-3810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400"/>
              <a:buChar char="•"/>
              <a:defRPr/>
            </a:lvl2pPr>
            <a:lvl3pPr marL="1371600" lvl="2" indent="-3810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400"/>
              <a:buChar char="•"/>
              <a:defRPr/>
            </a:lvl3pPr>
            <a:lvl4pPr marL="1828800" lvl="3" indent="-3810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400"/>
              <a:buChar char="•"/>
              <a:defRPr/>
            </a:lvl4pPr>
            <a:lvl5pPr marL="2286000" lvl="4" indent="-3810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400"/>
              <a:buChar char="•"/>
              <a:defRPr/>
            </a:lvl5pPr>
            <a:lvl6pPr marL="2743200" lvl="5" indent="-3810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400"/>
              <a:buChar char="•"/>
              <a:defRPr/>
            </a:lvl6pPr>
            <a:lvl7pPr marL="3200400" lvl="6" indent="-3810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400"/>
              <a:buChar char="•"/>
              <a:defRPr/>
            </a:lvl7pPr>
            <a:lvl8pPr marL="3657600" lvl="7" indent="-3810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400"/>
              <a:buChar char="•"/>
              <a:defRPr/>
            </a:lvl8pPr>
            <a:lvl9pPr marL="4114800" lvl="8" indent="-3810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g358f93afd49_0_50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09311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5666F-18C3-77BE-CFE4-B6F66F44E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Disclaimer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F250D0-5ADA-57BD-3F25-93C6927675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This training resource was developed to be used with the CZ ID platform</a:t>
            </a:r>
          </a:p>
          <a:p>
            <a:r>
              <a:rPr lang="en-US" dirty="0">
                <a:solidFill>
                  <a:schemeClr val="tx1"/>
                </a:solidFill>
              </a:rPr>
              <a:t>In October, 2026, stewardship of CZ ID transitioned to UCSF and the platform was renamed to </a:t>
            </a:r>
            <a:r>
              <a:rPr lang="en-US" dirty="0" err="1">
                <a:solidFill>
                  <a:schemeClr val="tx1"/>
                </a:solidFill>
              </a:rPr>
              <a:t>SeqtoID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>
                <a:solidFill>
                  <a:schemeClr val="tx1"/>
                </a:solidFill>
              </a:rPr>
              <a:t>These </a:t>
            </a:r>
            <a:r>
              <a:rPr lang="en-US" dirty="0">
                <a:solidFill>
                  <a:schemeClr val="tx1"/>
                </a:solidFill>
              </a:rPr>
              <a:t>training materials are not being actively maintained and may not reflect differences between CZ ID and </a:t>
            </a:r>
            <a:r>
              <a:rPr lang="en-US" dirty="0" err="1">
                <a:solidFill>
                  <a:schemeClr val="tx1"/>
                </a:solidFill>
              </a:rPr>
              <a:t>SeqtoID</a:t>
            </a:r>
            <a:r>
              <a:rPr lang="en-US" dirty="0">
                <a:solidFill>
                  <a:schemeClr val="tx1"/>
                </a:solidFill>
              </a:rPr>
              <a:t>, subsequent changes to the platform, or current methods and best practices in metagenomic sequencing </a:t>
            </a:r>
            <a:r>
              <a:rPr lang="en-US">
                <a:solidFill>
                  <a:schemeClr val="tx1"/>
                </a:solidFill>
              </a:rPr>
              <a:t>and analysis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362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"/>
          <p:cNvCxnSpPr/>
          <p:nvPr/>
        </p:nvCxnSpPr>
        <p:spPr>
          <a:xfrm>
            <a:off x="476250" y="2428875"/>
            <a:ext cx="8191500" cy="0"/>
          </a:xfrm>
          <a:prstGeom prst="straightConnector1">
            <a:avLst/>
          </a:prstGeom>
          <a:noFill/>
          <a:ln w="28575" cap="flat" cmpd="sng">
            <a:solidFill>
              <a:srgbClr val="E3EED3">
                <a:alpha val="40000"/>
              </a:srgbClr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57" name="Google Shape;57;p1"/>
          <p:cNvSpPr txBox="1"/>
          <p:nvPr/>
        </p:nvSpPr>
        <p:spPr>
          <a:xfrm>
            <a:off x="481105" y="2632800"/>
            <a:ext cx="8191500" cy="41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DC061"/>
              </a:buClr>
              <a:buSzPts val="2300"/>
              <a:buFont typeface="Poppins"/>
              <a:buNone/>
            </a:pPr>
            <a:r>
              <a:rPr lang="en" sz="1800" b="0" i="0" u="none" strike="noStrike" cap="none">
                <a:solidFill>
                  <a:schemeClr val="dk1"/>
                </a:solidFill>
                <a:latin typeface="+mj-lt"/>
                <a:ea typeface="Open Sans"/>
                <a:cs typeface="Open Sans"/>
                <a:sym typeface="Open Sans"/>
              </a:rPr>
              <a:t>Sample Report Metrics</a:t>
            </a:r>
            <a:endParaRPr sz="1800" b="0" i="0" u="none" strike="noStrike" cap="none">
              <a:solidFill>
                <a:schemeClr val="dk1"/>
              </a:solidFill>
              <a:latin typeface="+mj-lt"/>
              <a:ea typeface="Open Sans"/>
              <a:cs typeface="Open Sans"/>
              <a:sym typeface="Open Sans"/>
            </a:endParaRPr>
          </a:p>
        </p:txBody>
      </p:sp>
      <p:pic>
        <p:nvPicPr>
          <p:cNvPr id="58" name="Google Shape;5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1108" y="1367375"/>
            <a:ext cx="2960717" cy="9667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F72819E-8FB9-8289-0B91-8FF1B562A719}"/>
              </a:ext>
            </a:extLst>
          </p:cNvPr>
          <p:cNvSpPr txBox="1"/>
          <p:nvPr/>
        </p:nvSpPr>
        <p:spPr>
          <a:xfrm>
            <a:off x="6629401" y="4897279"/>
            <a:ext cx="2514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Rapid Response – Updated Sept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4" name="Google Shape;364;g302afa72b26_0_163" descr="A screenshot of a computer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t="1408"/>
          <a:stretch/>
        </p:blipFill>
        <p:spPr>
          <a:xfrm>
            <a:off x="530352" y="1135253"/>
            <a:ext cx="7772401" cy="2356352"/>
          </a:xfrm>
          <a:prstGeom prst="rect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65" name="Google Shape;365;g302afa72b26_0_163"/>
          <p:cNvSpPr txBox="1">
            <a:spLocks noGrp="1"/>
          </p:cNvSpPr>
          <p:nvPr>
            <p:ph type="title"/>
          </p:nvPr>
        </p:nvSpPr>
        <p:spPr>
          <a:xfrm>
            <a:off x="311700" y="1961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Sample Report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02afa72b26_0_176"/>
          <p:cNvSpPr txBox="1">
            <a:spLocks noGrp="1"/>
          </p:cNvSpPr>
          <p:nvPr>
            <p:ph type="title"/>
          </p:nvPr>
        </p:nvSpPr>
        <p:spPr>
          <a:xfrm>
            <a:off x="311700" y="2211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Sample Report Metrics</a:t>
            </a:r>
            <a:endParaRPr/>
          </a:p>
        </p:txBody>
      </p:sp>
      <p:sp>
        <p:nvSpPr>
          <p:cNvPr id="372" name="Google Shape;372;g302afa72b26_0_176"/>
          <p:cNvSpPr txBox="1">
            <a:spLocks noGrp="1"/>
          </p:cNvSpPr>
          <p:nvPr>
            <p:ph type="body" idx="1"/>
          </p:nvPr>
        </p:nvSpPr>
        <p:spPr>
          <a:xfrm>
            <a:off x="311700" y="747005"/>
            <a:ext cx="8520600" cy="41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32353"/>
              <a:buNone/>
            </a:pPr>
            <a:r>
              <a:rPr lang="en" sz="1600" b="1">
                <a:solidFill>
                  <a:schemeClr val="dk1"/>
                </a:solidFill>
              </a:rPr>
              <a:t>Bases per million</a:t>
            </a:r>
            <a:r>
              <a:rPr lang="en" sz="1600">
                <a:solidFill>
                  <a:schemeClr val="dk1"/>
                </a:solidFill>
              </a:rPr>
              <a:t> </a:t>
            </a:r>
            <a:r>
              <a:rPr lang="en" sz="1600" b="1">
                <a:solidFill>
                  <a:schemeClr val="dk1"/>
                </a:solidFill>
              </a:rPr>
              <a:t>(bPM)</a:t>
            </a:r>
            <a:r>
              <a:rPr lang="en" sz="1600">
                <a:solidFill>
                  <a:schemeClr val="dk1"/>
                </a:solidFill>
              </a:rPr>
              <a:t>: Number of bases within all the reads aligning to a given taxon, including those assembled into contigs that mapped to the taxon, per million bases sequenced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32353"/>
              <a:buNone/>
            </a:pPr>
            <a:r>
              <a:rPr lang="en" sz="1600" b="1">
                <a:solidFill>
                  <a:schemeClr val="dk1"/>
                </a:solidFill>
              </a:rPr>
              <a:t>Bases (b)</a:t>
            </a:r>
            <a:r>
              <a:rPr lang="en" sz="1600">
                <a:solidFill>
                  <a:schemeClr val="dk1"/>
                </a:solidFill>
              </a:rPr>
              <a:t>: Number of bases within all the reads aligning to a given taxon, including those assembled into contigs that mapped to the taxon.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32353"/>
              <a:buNone/>
            </a:pPr>
            <a:r>
              <a:rPr lang="en" sz="1600" b="1">
                <a:solidFill>
                  <a:schemeClr val="dk1"/>
                </a:solidFill>
              </a:rPr>
              <a:t>Reads</a:t>
            </a:r>
            <a:r>
              <a:rPr lang="en" sz="1600">
                <a:solidFill>
                  <a:schemeClr val="dk1"/>
                </a:solidFill>
              </a:rPr>
              <a:t> </a:t>
            </a:r>
            <a:r>
              <a:rPr lang="en" sz="1600" b="1">
                <a:solidFill>
                  <a:schemeClr val="dk1"/>
                </a:solidFill>
              </a:rPr>
              <a:t>(r)</a:t>
            </a:r>
            <a:r>
              <a:rPr lang="en" sz="1600">
                <a:solidFill>
                  <a:schemeClr val="dk1"/>
                </a:solidFill>
              </a:rPr>
              <a:t>: Number of reads aligning to a given taxon, including those assembled into contigs that mapped to the taxon.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32353"/>
              <a:buNone/>
            </a:pPr>
            <a:r>
              <a:rPr lang="en" sz="1600" b="1">
                <a:solidFill>
                  <a:schemeClr val="dk1"/>
                </a:solidFill>
              </a:rPr>
              <a:t>Contig:</a:t>
            </a:r>
            <a:r>
              <a:rPr lang="en" sz="1600">
                <a:solidFill>
                  <a:schemeClr val="dk1"/>
                </a:solidFill>
              </a:rPr>
              <a:t> Number of assembled contigs aligning to a given taxon.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32353"/>
              <a:buNone/>
            </a:pP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32353"/>
              <a:buNone/>
            </a:pPr>
            <a:r>
              <a:rPr lang="en" sz="1600" b="1">
                <a:solidFill>
                  <a:schemeClr val="dk1"/>
                </a:solidFill>
              </a:rPr>
              <a:t>Contig bases</a:t>
            </a:r>
            <a:r>
              <a:rPr lang="en" sz="1600">
                <a:solidFill>
                  <a:schemeClr val="dk1"/>
                </a:solidFill>
              </a:rPr>
              <a:t> </a:t>
            </a:r>
            <a:r>
              <a:rPr lang="en" sz="1600" b="1">
                <a:solidFill>
                  <a:schemeClr val="dk1"/>
                </a:solidFill>
              </a:rPr>
              <a:t>(contig b)</a:t>
            </a:r>
            <a:r>
              <a:rPr lang="en" sz="1600">
                <a:solidFill>
                  <a:schemeClr val="dk1"/>
                </a:solidFill>
              </a:rPr>
              <a:t>: Number of bases within all the reads that assembled into contigs aligning to a given taxon.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32353"/>
              <a:buNone/>
            </a:pP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32353"/>
              <a:buNone/>
            </a:pPr>
            <a:r>
              <a:rPr lang="en" sz="1600" b="1">
                <a:solidFill>
                  <a:schemeClr val="dk1"/>
                </a:solidFill>
              </a:rPr>
              <a:t>Percent identity (% ID): </a:t>
            </a:r>
            <a:r>
              <a:rPr lang="en" sz="1600">
                <a:solidFill>
                  <a:schemeClr val="dk1"/>
                </a:solidFill>
              </a:rPr>
              <a:t>Average percent identity between all the query sequences (contigs and unassembled reads) and their matching taxon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32353"/>
              <a:buNone/>
            </a:pP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 b="1">
                <a:solidFill>
                  <a:schemeClr val="dk1"/>
                </a:solidFill>
              </a:rPr>
              <a:t>Length (L)</a:t>
            </a:r>
            <a:r>
              <a:rPr lang="en" sz="1600">
                <a:solidFill>
                  <a:schemeClr val="dk1"/>
                </a:solidFill>
              </a:rPr>
              <a:t>: Average length of alignments between all the query sequences (contigs and unassembled reads) and their matching taxon (values against NR are reported in base pairs)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32353"/>
              <a:buNone/>
            </a:pP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132353"/>
              <a:buNone/>
            </a:pP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">
          <a:extLst>
            <a:ext uri="{FF2B5EF4-FFF2-40B4-BE49-F238E27FC236}">
              <a16:creationId xmlns:a16="http://schemas.microsoft.com/office/drawing/2014/main" id="{30CB3A8F-DDE3-A96F-421B-8836D2A9D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4" name="Google Shape;364;g302afa72b26_0_163" descr="A screenshot of a computer&#10;&#10;Description automatically generated">
            <a:extLst>
              <a:ext uri="{FF2B5EF4-FFF2-40B4-BE49-F238E27FC236}">
                <a16:creationId xmlns:a16="http://schemas.microsoft.com/office/drawing/2014/main" id="{F78BFF09-FFF2-F953-A2D1-0480CAD4C5F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1408"/>
          <a:stretch/>
        </p:blipFill>
        <p:spPr>
          <a:xfrm>
            <a:off x="685799" y="768850"/>
            <a:ext cx="7772401" cy="2356352"/>
          </a:xfrm>
          <a:prstGeom prst="rect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65" name="Google Shape;365;g302afa72b26_0_163">
            <a:extLst>
              <a:ext uri="{FF2B5EF4-FFF2-40B4-BE49-F238E27FC236}">
                <a16:creationId xmlns:a16="http://schemas.microsoft.com/office/drawing/2014/main" id="{B8CA7BDF-FF65-715A-A95C-042F3AD466B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961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Sample Report: each metric shows two results (NT/NR)</a:t>
            </a:r>
            <a:endParaRPr/>
          </a:p>
        </p:txBody>
      </p:sp>
      <p:sp>
        <p:nvSpPr>
          <p:cNvPr id="366" name="Google Shape;366;g302afa72b26_0_163">
            <a:extLst>
              <a:ext uri="{FF2B5EF4-FFF2-40B4-BE49-F238E27FC236}">
                <a16:creationId xmlns:a16="http://schemas.microsoft.com/office/drawing/2014/main" id="{65A56B9A-4564-4CCF-D0CD-9CACA2E33250}"/>
              </a:ext>
            </a:extLst>
          </p:cNvPr>
          <p:cNvSpPr/>
          <p:nvPr/>
        </p:nvSpPr>
        <p:spPr>
          <a:xfrm>
            <a:off x="8107924" y="1846443"/>
            <a:ext cx="231300" cy="237600"/>
          </a:xfrm>
          <a:prstGeom prst="rect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379;g302afa72b26_0_169">
            <a:extLst>
              <a:ext uri="{FF2B5EF4-FFF2-40B4-BE49-F238E27FC236}">
                <a16:creationId xmlns:a16="http://schemas.microsoft.com/office/drawing/2014/main" id="{AD7AB32C-AE71-4EF5-B6BF-62153CC68BCF}"/>
              </a:ext>
            </a:extLst>
          </p:cNvPr>
          <p:cNvSpPr txBox="1"/>
          <p:nvPr/>
        </p:nvSpPr>
        <p:spPr>
          <a:xfrm>
            <a:off x="685798" y="3164305"/>
            <a:ext cx="7734299" cy="6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Important: </a:t>
            </a:r>
            <a:r>
              <a:rPr lang="en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Values against NR </a:t>
            </a:r>
            <a:r>
              <a:rPr lang="en" sz="1400" b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only reflect alignments between </a:t>
            </a:r>
            <a:r>
              <a:rPr lang="en" sz="14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contig</a:t>
            </a:r>
            <a:r>
              <a:rPr lang="en" sz="1400" b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sequences and their matching taxon (i.e., </a:t>
            </a:r>
            <a:r>
              <a:rPr lang="en" sz="14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unassembled reads are not aligned against NR</a:t>
            </a:r>
            <a:r>
              <a:rPr lang="en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78;p4">
            <a:extLst>
              <a:ext uri="{FF2B5EF4-FFF2-40B4-BE49-F238E27FC236}">
                <a16:creationId xmlns:a16="http://schemas.microsoft.com/office/drawing/2014/main" id="{45D94D17-997D-BFF7-8A6A-1696E2AD7A8E}"/>
              </a:ext>
            </a:extLst>
          </p:cNvPr>
          <p:cNvSpPr txBox="1"/>
          <p:nvPr/>
        </p:nvSpPr>
        <p:spPr>
          <a:xfrm>
            <a:off x="6562782" y="1135253"/>
            <a:ext cx="2118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NT</a:t>
            </a:r>
            <a:r>
              <a:rPr lang="en" sz="12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 = nucleotide database</a:t>
            </a:r>
            <a:endParaRPr sz="12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NR </a:t>
            </a:r>
            <a:r>
              <a:rPr lang="en" sz="12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= protein database</a:t>
            </a:r>
            <a:endParaRPr sz="12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4" name="Google Shape;87;p5">
            <a:extLst>
              <a:ext uri="{FF2B5EF4-FFF2-40B4-BE49-F238E27FC236}">
                <a16:creationId xmlns:a16="http://schemas.microsoft.com/office/drawing/2014/main" id="{0BE51BB6-C6DB-7C7B-86CC-A698156EE3C9}"/>
              </a:ext>
            </a:extLst>
          </p:cNvPr>
          <p:cNvSpPr txBox="1"/>
          <p:nvPr/>
        </p:nvSpPr>
        <p:spPr>
          <a:xfrm>
            <a:off x="685798" y="3818905"/>
            <a:ext cx="7772402" cy="1184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300" b="1" i="0" u="none" strike="noStrike" cap="none">
                <a:solidFill>
                  <a:srgbClr val="000000"/>
                </a:solidFill>
                <a:latin typeface="+mn-lt"/>
                <a:ea typeface="Helvetica Neue"/>
                <a:cs typeface="Helvetica Neue"/>
                <a:sym typeface="Helvetica Neue"/>
              </a:rPr>
              <a:t>General Interpretation Notes</a:t>
            </a:r>
            <a:r>
              <a:rPr lang="en" sz="1300" b="0" i="0" u="none" strike="noStrike" cap="none">
                <a:solidFill>
                  <a:srgbClr val="000000"/>
                </a:solidFill>
                <a:latin typeface="+mn-lt"/>
                <a:ea typeface="Helvetica Neue Light"/>
                <a:cs typeface="Helvetica Neue Light"/>
                <a:sym typeface="Helvetica Neue Light"/>
              </a:rPr>
              <a:t>:</a:t>
            </a:r>
            <a:endParaRPr sz="1300" b="0" i="0" u="none" strike="noStrike" cap="none">
              <a:solidFill>
                <a:srgbClr val="000000"/>
              </a:solidFill>
              <a:latin typeface="+mn-lt"/>
              <a:ea typeface="Helvetica Neue Light"/>
              <a:cs typeface="Helvetica Neue Light"/>
              <a:sym typeface="Helvetica Neue Light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 Light"/>
              <a:buChar char="●"/>
            </a:pPr>
            <a:r>
              <a:rPr lang="en" sz="1300">
                <a:latin typeface="+mn-lt"/>
                <a:ea typeface="Helvetica Neue Light"/>
                <a:cs typeface="Helvetica Neue Light"/>
                <a:sym typeface="Helvetica Neue Light"/>
              </a:rPr>
              <a:t>Contig</a:t>
            </a:r>
            <a:r>
              <a:rPr lang="en" sz="1300" b="0" i="0" u="none" strike="noStrike" cap="none">
                <a:solidFill>
                  <a:srgbClr val="000000"/>
                </a:solidFill>
                <a:latin typeface="+mn-lt"/>
                <a:ea typeface="Helvetica Neue Light"/>
                <a:cs typeface="Helvetica Neue Light"/>
                <a:sym typeface="Helvetica Neue Light"/>
              </a:rPr>
              <a:t>s aligning to both databases: Good sign that the hit is true (more to it than that)</a:t>
            </a:r>
            <a:endParaRPr sz="1300" b="0" i="0" u="none" strike="noStrike" cap="none">
              <a:solidFill>
                <a:srgbClr val="000000"/>
              </a:solidFill>
              <a:latin typeface="+mn-lt"/>
              <a:ea typeface="Helvetica Neue Light"/>
              <a:cs typeface="Helvetica Neue Light"/>
              <a:sym typeface="Helvetica Neue Light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 Light"/>
              <a:buChar char="●"/>
            </a:pPr>
            <a:r>
              <a:rPr lang="en" sz="1300" b="0" i="0" u="none" strike="noStrike" cap="none">
                <a:solidFill>
                  <a:srgbClr val="000000"/>
                </a:solidFill>
                <a:latin typeface="+mn-lt"/>
                <a:ea typeface="Helvetica Neue Light"/>
                <a:cs typeface="Helvetica Neue Light"/>
                <a:sym typeface="Helvetica Neue Light"/>
              </a:rPr>
              <a:t>If a contig is viral and only has a hit to the NR database: Hit could represent a divergent virus</a:t>
            </a:r>
            <a:endParaRPr sz="1300" b="0" i="0" u="none" strike="noStrike" cap="none">
              <a:solidFill>
                <a:srgbClr val="000000"/>
              </a:solidFill>
              <a:latin typeface="+mn-lt"/>
              <a:ea typeface="Helvetica Neue Light"/>
              <a:cs typeface="Helvetica Neue Light"/>
              <a:sym typeface="Helvetica Neue Light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 Light"/>
              <a:buChar char="●"/>
            </a:pPr>
            <a:r>
              <a:rPr lang="en" sz="1300" b="0" i="0" u="none" strike="noStrike" cap="none">
                <a:solidFill>
                  <a:srgbClr val="000000"/>
                </a:solidFill>
                <a:latin typeface="+mn-lt"/>
                <a:ea typeface="Helvetica Neue Light"/>
                <a:cs typeface="Helvetica Neue Light"/>
                <a:sym typeface="Helvetica Neue Light"/>
              </a:rPr>
              <a:t>If a hit is bacterial and it only has a contig to the NT database: Sequences may be aligning to the 16S rRNA region, which is not in the NR databases (should not be trusted)</a:t>
            </a:r>
            <a:endParaRPr sz="1300" b="0" i="0" u="none" strike="noStrike" cap="none">
              <a:solidFill>
                <a:srgbClr val="000000"/>
              </a:solidFill>
              <a:latin typeface="+mn-lt"/>
              <a:ea typeface="Helvetica Neue Light"/>
              <a:cs typeface="Helvetica Neue Light"/>
              <a:sym typeface="Helvetica Neue Light"/>
            </a:endParaRPr>
          </a:p>
        </p:txBody>
      </p:sp>
    </p:spTree>
    <p:extLst>
      <p:ext uri="{BB962C8B-B14F-4D97-AF65-F5344CB8AC3E}">
        <p14:creationId xmlns:p14="http://schemas.microsoft.com/office/powerpoint/2010/main" val="27496066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02afa72b26_0_169"/>
          <p:cNvSpPr txBox="1">
            <a:spLocks noGrp="1"/>
          </p:cNvSpPr>
          <p:nvPr>
            <p:ph type="title"/>
          </p:nvPr>
        </p:nvSpPr>
        <p:spPr>
          <a:xfrm>
            <a:off x="311700" y="1961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Sample Report</a:t>
            </a:r>
            <a:endParaRPr/>
          </a:p>
        </p:txBody>
      </p:sp>
      <p:pic>
        <p:nvPicPr>
          <p:cNvPr id="378" name="Google Shape;378;g302afa72b26_0_16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2725" y="1008524"/>
            <a:ext cx="7558548" cy="2513350"/>
          </a:xfrm>
          <a:prstGeom prst="rect">
            <a:avLst/>
          </a:prstGeom>
          <a:noFill/>
          <a:ln w="9525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80" name="Google Shape;380;g302afa72b26_0_169"/>
          <p:cNvSpPr/>
          <p:nvPr/>
        </p:nvSpPr>
        <p:spPr>
          <a:xfrm>
            <a:off x="792724" y="2999231"/>
            <a:ext cx="7558500" cy="522600"/>
          </a:xfrm>
          <a:prstGeom prst="rect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379;g302afa72b26_0_169">
            <a:extLst>
              <a:ext uri="{FF2B5EF4-FFF2-40B4-BE49-F238E27FC236}">
                <a16:creationId xmlns:a16="http://schemas.microsoft.com/office/drawing/2014/main" id="{E5DF6D9D-C7D6-EB70-9C14-D352C7A75034}"/>
              </a:ext>
            </a:extLst>
          </p:cNvPr>
          <p:cNvSpPr txBox="1"/>
          <p:nvPr/>
        </p:nvSpPr>
        <p:spPr>
          <a:xfrm>
            <a:off x="704824" y="3646905"/>
            <a:ext cx="7734299" cy="6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Important: </a:t>
            </a:r>
            <a:r>
              <a:rPr lang="en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Values against NR </a:t>
            </a:r>
            <a:r>
              <a:rPr lang="en" sz="1400" b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only reflect alignments between </a:t>
            </a:r>
            <a:r>
              <a:rPr lang="en" sz="14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contig</a:t>
            </a:r>
            <a:r>
              <a:rPr lang="en" sz="1400" b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sequences and their matching taxon (i.e., </a:t>
            </a:r>
            <a:r>
              <a:rPr lang="en" sz="14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unassembled reads are not aligned against NR</a:t>
            </a:r>
            <a:r>
              <a:rPr lang="en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">
              <a:solidFill>
                <a:schemeClr val="dk1"/>
              </a:solidFill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contigs = no chance for NR hit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5" name="Google Shape;385;g302afa72b26_0_181" descr="A screenshot of a computer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2648" y="730588"/>
            <a:ext cx="7772401" cy="2051297"/>
          </a:xfrm>
          <a:prstGeom prst="rect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86" name="Google Shape;386;g302afa72b26_0_181"/>
          <p:cNvSpPr/>
          <p:nvPr/>
        </p:nvSpPr>
        <p:spPr>
          <a:xfrm>
            <a:off x="2548373" y="1289892"/>
            <a:ext cx="3962100" cy="237600"/>
          </a:xfrm>
          <a:prstGeom prst="rect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g302afa72b26_0_181"/>
          <p:cNvSpPr txBox="1">
            <a:spLocks noGrp="1"/>
          </p:cNvSpPr>
          <p:nvPr>
            <p:ph type="title"/>
          </p:nvPr>
        </p:nvSpPr>
        <p:spPr>
          <a:xfrm>
            <a:off x="311700" y="15788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 algn="ctr">
              <a:buSzPct val="111111"/>
            </a:pPr>
            <a:r>
              <a:rPr lang="en"/>
              <a:t>Filters</a:t>
            </a:r>
            <a:r>
              <a:rPr lang="en">
                <a:latin typeface="Helvetica Neue"/>
                <a:ea typeface="Helvetica Neue"/>
                <a:cs typeface="Helvetica Neue"/>
                <a:sym typeface="Helvetica Neue"/>
              </a:rPr>
              <a:t> are helpful at removing false hits, but not perfect</a:t>
            </a:r>
            <a:endParaRPr/>
          </a:p>
        </p:txBody>
      </p:sp>
      <p:sp>
        <p:nvSpPr>
          <p:cNvPr id="388" name="Google Shape;388;g302afa72b26_0_181"/>
          <p:cNvSpPr txBox="1"/>
          <p:nvPr/>
        </p:nvSpPr>
        <p:spPr>
          <a:xfrm>
            <a:off x="800100" y="2884014"/>
            <a:ext cx="7397400" cy="215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Suggested (initial) filters</a:t>
            </a:r>
            <a:r>
              <a:rPr lang="en" sz="1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bPM NT &gt; 100 to remove taxa that were present at low levels.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bPM NR &gt; 1 to remove taxa that only have matches in non-coding regions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(</a:t>
            </a:r>
            <a:r>
              <a:rPr lang="en" sz="1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will only help if there are contigs</a:t>
            </a:r>
            <a:r>
              <a:rPr lang="en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NT L &gt; 75 bp to remove taxa with alignments &lt; 75 bp long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E-value (NT and NR) &lt; 0.001 to remove likely random matches. In general, we suggest setting the E-value filter to &lt;= 10^-10 for stringent searches or &lt;= 0.01 to allow for less significant taxon matches.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1" name="Google Shape;71;p3"/>
          <p:cNvGraphicFramePr/>
          <p:nvPr>
            <p:extLst>
              <p:ext uri="{D42A27DB-BD31-4B8C-83A1-F6EECF244321}">
                <p14:modId xmlns:p14="http://schemas.microsoft.com/office/powerpoint/2010/main" val="3818923966"/>
              </p:ext>
            </p:extLst>
          </p:nvPr>
        </p:nvGraphicFramePr>
        <p:xfrm>
          <a:off x="472337" y="684250"/>
          <a:ext cx="8376325" cy="4356590"/>
        </p:xfrm>
        <a:graphic>
          <a:graphicData uri="http://schemas.openxmlformats.org/drawingml/2006/table">
            <a:tbl>
              <a:tblPr>
                <a:noFill/>
                <a:tableStyleId>{471E6587-575E-4002-BBC1-B68D7DEDE265}</a:tableStyleId>
              </a:tblPr>
              <a:tblGrid>
                <a:gridCol w="11126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631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06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2675">
                <a:tc>
                  <a:txBody>
                    <a:bodyPr/>
                    <a:lstStyle/>
                    <a:p>
                      <a:pPr marL="122238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  <a:tabLst/>
                      </a:pPr>
                      <a:r>
                        <a:rPr lang="en" sz="1200" b="1" u="none" strike="noStrike" cap="non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Metric</a:t>
                      </a:r>
                      <a:endParaRPr sz="1200" b="1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45720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1" u="none" strike="noStrike" cap="non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Definition</a:t>
                      </a:r>
                      <a:endParaRPr sz="1200" b="1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1" u="none" strike="noStrike" cap="non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Interpretation</a:t>
                      </a:r>
                      <a:endParaRPr sz="1200" b="1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9975">
                <a:tc>
                  <a:txBody>
                    <a:bodyPr/>
                    <a:lstStyle/>
                    <a:p>
                      <a:pPr marL="122238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  <a:tabLst/>
                      </a:pPr>
                      <a:r>
                        <a:rPr lang="en" sz="1200" b="1" u="none" strike="noStrike" cap="non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bPM</a:t>
                      </a:r>
                      <a:r>
                        <a:rPr lang="en" sz="1200" u="none" strike="noStrike" cap="none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 </a:t>
                      </a:r>
                      <a:endParaRPr sz="12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122238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  <a:tabLst/>
                      </a:pPr>
                      <a:r>
                        <a:rPr lang="en" sz="1200" u="none" strike="noStrike" cap="none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Number of bases within the reads aligning to taxon per million bases sequenced (normalized metric)</a:t>
                      </a:r>
                      <a:endParaRPr sz="12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Higher bPM = more confidence in the hit </a:t>
                      </a:r>
                      <a:endParaRPr sz="1200" u="none" strike="noStrike" cap="none"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4700">
                <a:tc>
                  <a:txBody>
                    <a:bodyPr/>
                    <a:lstStyle/>
                    <a:p>
                      <a:pPr marL="122238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  <a:tabLst/>
                      </a:pPr>
                      <a:r>
                        <a:rPr lang="en" sz="1200" b="1" u="none" strike="noStrike" cap="non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Bases (b)</a:t>
                      </a:r>
                      <a:endParaRPr sz="12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122238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  <a:tabLst/>
                      </a:pPr>
                      <a:r>
                        <a:rPr lang="en" sz="1200" u="none" strike="noStrike" cap="none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Number of bases wthin the reads aligning to taxon</a:t>
                      </a:r>
                      <a:endParaRPr sz="12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Higher  b = more confidence in the hit </a:t>
                      </a:r>
                      <a:endParaRPr sz="1200" u="none" strike="noStrike" cap="none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4700">
                <a:tc>
                  <a:txBody>
                    <a:bodyPr/>
                    <a:lstStyle/>
                    <a:p>
                      <a:pPr marL="122238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  <a:tabLst/>
                      </a:pPr>
                      <a:r>
                        <a:rPr lang="en-US" sz="1200" b="1" u="none" strike="noStrike" cap="none"/>
                        <a:t>Reads (r)</a:t>
                      </a:r>
                      <a:endParaRPr sz="1200" b="1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122238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  <a:tabLst/>
                      </a:pPr>
                      <a:r>
                        <a:rPr lang="en-US" sz="1200" u="none" strike="noStrike" cap="none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Number of reads aligning to taxon</a:t>
                      </a:r>
                      <a:endParaRPr lang="en-US" sz="12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  <a:tabLst/>
                        <a:defRPr/>
                      </a:pPr>
                      <a:r>
                        <a:rPr lang="en-US" sz="1200" u="none" strike="noStrike" cap="none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Higher  r = more confidence in the hit </a:t>
                      </a:r>
                      <a:endParaRPr lang="en-US" sz="1200" u="none" strike="noStrike" cap="none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59904768"/>
                  </a:ext>
                </a:extLst>
              </a:tr>
              <a:tr h="494825">
                <a:tc>
                  <a:txBody>
                    <a:bodyPr/>
                    <a:lstStyle/>
                    <a:p>
                      <a:pPr marL="122238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  <a:tabLst/>
                      </a:pPr>
                      <a:r>
                        <a:rPr lang="en" sz="1200" b="1" u="none" strike="noStrike" cap="non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Contig</a:t>
                      </a:r>
                      <a:endParaRPr sz="12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122238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  <a:tabLst/>
                      </a:pPr>
                      <a:r>
                        <a:rPr lang="en" sz="1200" u="none" strike="noStrike" cap="none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Number of assembled contigs aligning to taxon</a:t>
                      </a:r>
                      <a:endParaRPr sz="12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 Longer contig = more confidence</a:t>
                      </a:r>
                      <a:endParaRPr sz="1200" u="none" strike="noStrike" cap="none"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575">
                <a:tc>
                  <a:txBody>
                    <a:bodyPr/>
                    <a:lstStyle/>
                    <a:p>
                      <a:pPr marL="122238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  <a:tabLst/>
                      </a:pPr>
                      <a:r>
                        <a:rPr lang="en" sz="1200" b="1" u="none" strike="noStrike" cap="non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Contig r</a:t>
                      </a:r>
                      <a:endParaRPr sz="12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122238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  <a:tabLst/>
                      </a:pPr>
                      <a:r>
                        <a:rPr lang="en" sz="1200" u="none" strike="noStrike" cap="none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Number of reads aligning to assembled contigs</a:t>
                      </a:r>
                      <a:endParaRPr sz="12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Higher Contig r = more confidence</a:t>
                      </a:r>
                      <a:endParaRPr sz="1200" u="none" strike="noStrike" cap="none"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122238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  <a:tabLst/>
                      </a:pPr>
                      <a:r>
                        <a:rPr lang="en" sz="1200" b="1" u="none" strike="noStrike" cap="non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% id</a:t>
                      </a:r>
                      <a:endParaRPr sz="12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122238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  <a:tabLst/>
                      </a:pPr>
                      <a:r>
                        <a:rPr lang="en" sz="1200" u="none" strike="noStrike" cap="none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Average % identity of alignment to accession</a:t>
                      </a:r>
                      <a:endParaRPr sz="12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Should be taken into account with other metrics</a:t>
                      </a:r>
                      <a:endParaRPr sz="1200" u="none" strike="noStrike" cap="none"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9575">
                <a:tc>
                  <a:txBody>
                    <a:bodyPr/>
                    <a:lstStyle/>
                    <a:p>
                      <a:pPr marL="122238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  <a:tabLst/>
                      </a:pPr>
                      <a:r>
                        <a:rPr lang="en" sz="1200" b="1" u="none" strike="noStrike" cap="non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L</a:t>
                      </a:r>
                      <a:endParaRPr sz="12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122238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  <a:tabLst/>
                      </a:pPr>
                      <a:r>
                        <a:rPr lang="en" sz="1200" u="none" strike="noStrike" cap="none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Average length of alignment of contigs and reads</a:t>
                      </a:r>
                      <a:endParaRPr sz="12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Longer alignment = more confidence (if it’s divergent, L may not be high)</a:t>
                      </a:r>
                      <a:endParaRPr sz="1200" u="none" strike="noStrike" cap="none"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1875">
                <a:tc>
                  <a:txBody>
                    <a:bodyPr/>
                    <a:lstStyle/>
                    <a:p>
                      <a:pPr marL="122238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  <a:tabLst/>
                      </a:pPr>
                      <a:r>
                        <a:rPr lang="en" sz="1200" b="1" u="none" strike="noStrike" cap="non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E value</a:t>
                      </a:r>
                      <a:endParaRPr sz="12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122238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  <a:tabLst/>
                      </a:pPr>
                      <a:r>
                        <a:rPr lang="en" sz="1200" u="none" strike="noStrike" cap="none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Average expect value of alignment </a:t>
                      </a:r>
                      <a:endParaRPr sz="12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Lower = more confidence</a:t>
                      </a:r>
                      <a:endParaRPr sz="1200" u="none" strike="noStrike" cap="none"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2" name="Google Shape;72;p3"/>
          <p:cNvSpPr txBox="1"/>
          <p:nvPr/>
        </p:nvSpPr>
        <p:spPr>
          <a:xfrm>
            <a:off x="800250" y="161050"/>
            <a:ext cx="77205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"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Gaining confidence in taxon calls using report metrics</a:t>
            </a:r>
            <a:endParaRPr sz="22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3" name="Google Shape;393;g302afa72b26_0_188" descr="A screenshot of a computer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2648" y="1023196"/>
            <a:ext cx="7772401" cy="2051297"/>
          </a:xfrm>
          <a:prstGeom prst="rect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94" name="Google Shape;394;g302afa72b26_0_188"/>
          <p:cNvSpPr/>
          <p:nvPr/>
        </p:nvSpPr>
        <p:spPr>
          <a:xfrm>
            <a:off x="2402069" y="2579196"/>
            <a:ext cx="231300" cy="237600"/>
          </a:xfrm>
          <a:prstGeom prst="rect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g302afa72b26_0_188"/>
          <p:cNvSpPr txBox="1"/>
          <p:nvPr/>
        </p:nvSpPr>
        <p:spPr>
          <a:xfrm>
            <a:off x="832104" y="3650360"/>
            <a:ext cx="7077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Coverage visualization</a:t>
            </a: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Available for any taxon supported by &gt; 1 read matching NT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g302afa72b26_0_188"/>
          <p:cNvSpPr txBox="1"/>
          <p:nvPr/>
        </p:nvSpPr>
        <p:spPr>
          <a:xfrm>
            <a:off x="832104" y="4287706"/>
            <a:ext cx="7882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Download</a:t>
            </a: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Option to download read or contig sequences (FASTA) associated with a given taxon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7" name="Google Shape;397;g302afa72b26_0_188" descr="A blue lines on a black background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5480" y="3702648"/>
            <a:ext cx="203200" cy="20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g302afa72b26_0_188" descr="A blue arrow pointing down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5480" y="4335711"/>
            <a:ext cx="203200" cy="203200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g302afa72b26_0_188"/>
          <p:cNvSpPr txBox="1">
            <a:spLocks noGrp="1"/>
          </p:cNvSpPr>
          <p:nvPr>
            <p:ph type="title"/>
          </p:nvPr>
        </p:nvSpPr>
        <p:spPr>
          <a:xfrm>
            <a:off x="156252" y="120927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Available Analysis Icons</a:t>
            </a:r>
            <a:br>
              <a:rPr lang="en"/>
            </a:b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02afa72b26_0_198"/>
          <p:cNvSpPr txBox="1">
            <a:spLocks noGrp="1"/>
          </p:cNvSpPr>
          <p:nvPr>
            <p:ph type="title"/>
          </p:nvPr>
        </p:nvSpPr>
        <p:spPr>
          <a:xfrm>
            <a:off x="311700" y="15257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000"/>
              <a:t>Available Analysis Icons (coverage visualization panel)</a:t>
            </a:r>
            <a:br>
              <a:rPr lang="en" sz="2000"/>
            </a:br>
            <a:endParaRPr sz="2000"/>
          </a:p>
        </p:txBody>
      </p:sp>
      <p:pic>
        <p:nvPicPr>
          <p:cNvPr id="405" name="Google Shape;405;g302afa72b26_0_198" descr="A screenshot of a computer&#10;&#10;Description automatically generated"/>
          <p:cNvPicPr preferRelativeResize="0">
            <a:picLocks noChangeAspect="1"/>
          </p:cNvPicPr>
          <p:nvPr/>
        </p:nvPicPr>
        <p:blipFill rotWithShape="1">
          <a:blip r:embed="rId3">
            <a:alphaModFix/>
          </a:blip>
          <a:srcRect t="447"/>
          <a:stretch/>
        </p:blipFill>
        <p:spPr>
          <a:xfrm>
            <a:off x="940468" y="471142"/>
            <a:ext cx="7263063" cy="3719568"/>
          </a:xfrm>
          <a:prstGeom prst="rect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406" name="Google Shape;406;g302afa72b26_0_198"/>
          <p:cNvSpPr/>
          <p:nvPr/>
        </p:nvSpPr>
        <p:spPr>
          <a:xfrm>
            <a:off x="7554191" y="2267313"/>
            <a:ext cx="567000" cy="328500"/>
          </a:xfrm>
          <a:prstGeom prst="rect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7" name="Google Shape;407;g302afa72b26_0_198" descr="A blue magnifying glass with tex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39240" y="4385009"/>
            <a:ext cx="271272" cy="271272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g302afa72b26_0_198"/>
          <p:cNvSpPr txBox="1"/>
          <p:nvPr/>
        </p:nvSpPr>
        <p:spPr>
          <a:xfrm>
            <a:off x="1764744" y="4323118"/>
            <a:ext cx="6016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BLAST</a:t>
            </a: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" sz="14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Only available for taxa with </a:t>
            </a:r>
            <a:r>
              <a:rPr lang="en" sz="1400" b="0" i="0" u="sng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at least one contig </a:t>
            </a:r>
            <a:r>
              <a:rPr lang="en" sz="14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matching NT.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Download</a:t>
            </a:r>
            <a:r>
              <a:rPr lang="en" sz="14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: Download contig sequences (FASTA).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9" name="Google Shape;409;g302afa72b26_0_198" descr="A blue cloud with a arrow pointing down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08760" y="4664818"/>
            <a:ext cx="304800" cy="30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1895775"/>
            <a:ext cx="8839200" cy="251178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7"/>
          <p:cNvSpPr txBox="1">
            <a:spLocks noGrp="1"/>
          </p:cNvSpPr>
          <p:nvPr>
            <p:ph type="title" idx="4294967295"/>
          </p:nvPr>
        </p:nvSpPr>
        <p:spPr>
          <a:xfrm>
            <a:off x="311700" y="292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latin typeface="Helvetica Neue"/>
                <a:ea typeface="Helvetica Neue"/>
                <a:cs typeface="Helvetica Neue"/>
                <a:sym typeface="Helvetica Neue"/>
              </a:rPr>
              <a:t>The coverage visualization is valuable for evaluating hits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8"/>
          <p:cNvPicPr preferRelativeResize="0"/>
          <p:nvPr/>
        </p:nvPicPr>
        <p:blipFill rotWithShape="1">
          <a:blip r:embed="rId3">
            <a:alphaModFix/>
          </a:blip>
          <a:srcRect l="10159" t="54735" r="1266" b="10973"/>
          <a:stretch/>
        </p:blipFill>
        <p:spPr>
          <a:xfrm>
            <a:off x="865525" y="2343950"/>
            <a:ext cx="7828973" cy="861324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8"/>
          <p:cNvSpPr txBox="1"/>
          <p:nvPr/>
        </p:nvSpPr>
        <p:spPr>
          <a:xfrm rot="-5400000">
            <a:off x="47425" y="2420775"/>
            <a:ext cx="10236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1" i="0" u="none" strike="noStrike" cap="none">
                <a:solidFill>
                  <a:srgbClr val="99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depth</a:t>
            </a:r>
            <a:endParaRPr sz="2000" b="1" i="0" u="none" strike="noStrike" cap="none">
              <a:solidFill>
                <a:srgbClr val="9900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6" name="Google Shape;106;p8"/>
          <p:cNvSpPr txBox="1"/>
          <p:nvPr/>
        </p:nvSpPr>
        <p:spPr>
          <a:xfrm>
            <a:off x="3907800" y="3210425"/>
            <a:ext cx="1310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1" i="0" u="none" strike="noStrike" cap="none">
                <a:solidFill>
                  <a:srgbClr val="99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breadth</a:t>
            </a:r>
            <a:endParaRPr sz="2000" b="1" i="0" u="none" strike="noStrike" cap="none">
              <a:solidFill>
                <a:srgbClr val="9900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7" name="Google Shape;107;p8"/>
          <p:cNvSpPr txBox="1">
            <a:spLocks noGrp="1"/>
          </p:cNvSpPr>
          <p:nvPr>
            <p:ph type="title" idx="4294967295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latin typeface="Helvetica Neue"/>
                <a:ea typeface="Helvetica Neue"/>
                <a:cs typeface="Helvetica Neue"/>
                <a:sym typeface="Helvetica Neue"/>
              </a:rPr>
              <a:t>Take into consideration the depth and breadth of the coverage (the higher, the better)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latin typeface="Helvetica Neue"/>
                <a:ea typeface="Helvetica Neue"/>
                <a:cs typeface="Helvetica Neue"/>
                <a:sym typeface="Helvetica Neue"/>
              </a:rPr>
              <a:t>Taking into account coverage breadth and depth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aphicFrame>
        <p:nvGraphicFramePr>
          <p:cNvPr id="113" name="Google Shape;113;p9"/>
          <p:cNvGraphicFramePr/>
          <p:nvPr/>
        </p:nvGraphicFramePr>
        <p:xfrm>
          <a:off x="98250" y="1162250"/>
          <a:ext cx="8911450" cy="342225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  <a:tableStyleId>{332C9CD5-0983-4F66-87FC-8E090F406FB0}</a:tableStyleId>
              </a:tblPr>
              <a:tblGrid>
                <a:gridCol w="768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9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4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8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>
                          <a:highlight>
                            <a:srgbClr val="FFFFFF"/>
                          </a:highlight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Depth</a:t>
                      </a:r>
                      <a:endParaRPr sz="1100" b="1" u="none" strike="noStrike" cap="none">
                        <a:highlight>
                          <a:srgbClr val="FFFFFF"/>
                        </a:highlight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142875" marR="142875" marT="95250" marB="9525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>
                          <a:highlight>
                            <a:srgbClr val="FFFFFF"/>
                          </a:highlight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Breadth</a:t>
                      </a:r>
                      <a:endParaRPr sz="1100" b="1" u="none" strike="noStrike" cap="none">
                        <a:highlight>
                          <a:srgbClr val="FFFFFF"/>
                        </a:highlight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142875" marR="142875" marT="95250" marB="9525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>
                          <a:highlight>
                            <a:srgbClr val="FFFFFF"/>
                          </a:highlight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How to Interpret</a:t>
                      </a:r>
                      <a:endParaRPr sz="1100" b="1" u="none" strike="noStrike" cap="none">
                        <a:highlight>
                          <a:srgbClr val="FFFFFF"/>
                        </a:highlight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142875" marR="142875" marT="95250" marB="9525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8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>
                          <a:highlight>
                            <a:srgbClr val="FFFFFF"/>
                          </a:highlight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High</a:t>
                      </a:r>
                      <a:endParaRPr sz="1100" u="none" strike="noStrike" cap="none">
                        <a:highlight>
                          <a:srgbClr val="FFFFFF"/>
                        </a:highlight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142875" marR="142875" marT="95250" marB="9525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>
                          <a:highlight>
                            <a:srgbClr val="FFFFFF"/>
                          </a:highlight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High</a:t>
                      </a:r>
                      <a:endParaRPr sz="1100" u="none" strike="noStrike" cap="none">
                        <a:highlight>
                          <a:srgbClr val="FFFFFF"/>
                        </a:highlight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142875" marR="142875" marT="95250" marB="9525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>
                          <a:highlight>
                            <a:srgbClr val="FFFFFF"/>
                          </a:highlight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Provides you with confidence that this is a true hit!</a:t>
                      </a:r>
                      <a:endParaRPr sz="1100" u="none" strike="noStrike" cap="none">
                        <a:highlight>
                          <a:srgbClr val="FFFFFF"/>
                        </a:highlight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142875" marR="142875" marT="95250" marB="9525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88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>
                          <a:highlight>
                            <a:srgbClr val="FFFFFF"/>
                          </a:highlight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Low</a:t>
                      </a:r>
                      <a:endParaRPr sz="1100" u="none" strike="noStrike" cap="none">
                        <a:highlight>
                          <a:srgbClr val="FFFFFF"/>
                        </a:highlight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142875" marR="142875" marT="95250" marB="9525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>
                          <a:highlight>
                            <a:srgbClr val="FFFFFF"/>
                          </a:highlight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High</a:t>
                      </a:r>
                      <a:endParaRPr sz="1100" u="none" strike="noStrike" cap="none">
                        <a:highlight>
                          <a:srgbClr val="FFFFFF"/>
                        </a:highlight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142875" marR="142875" marT="95250" marB="9525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>
                          <a:highlight>
                            <a:srgbClr val="FFFFFF"/>
                          </a:highlight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If there is coverage across multiple regions of the genome, this is likely a real hit. Evaluate the assembled contigs (NT L) and ensure the alignment is good (% identity).</a:t>
                      </a:r>
                      <a:endParaRPr sz="1100" u="none" strike="noStrike" cap="none">
                        <a:highlight>
                          <a:srgbClr val="FFFFFF"/>
                        </a:highlight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142875" marR="142875" marT="95250" marB="9525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88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>
                          <a:highlight>
                            <a:srgbClr val="FFFFFF"/>
                          </a:highlight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High</a:t>
                      </a:r>
                      <a:endParaRPr sz="1100" u="none" strike="noStrike" cap="none">
                        <a:highlight>
                          <a:srgbClr val="FFFFFF"/>
                        </a:highlight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142875" marR="142875" marT="95250" marB="9525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>
                          <a:highlight>
                            <a:srgbClr val="FFFFFF"/>
                          </a:highlight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Low</a:t>
                      </a:r>
                      <a:endParaRPr sz="1100" u="none" strike="noStrike" cap="none">
                        <a:highlight>
                          <a:srgbClr val="FFFFFF"/>
                        </a:highlight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142875" marR="142875" marT="95250" marB="9525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>
                          <a:highlight>
                            <a:srgbClr val="FFFFFF"/>
                          </a:highlight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Depends on whether the small portion that has high coverage is unique to that particular taxon and on the quality of the alignment and assembly. </a:t>
                      </a:r>
                      <a:endParaRPr sz="1100" u="none" strike="noStrike" cap="none">
                        <a:highlight>
                          <a:srgbClr val="FFFFFF"/>
                        </a:highlight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142875" marR="142875" marT="95250" marB="9525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8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>
                          <a:highlight>
                            <a:srgbClr val="FFFFFF"/>
                          </a:highlight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Low</a:t>
                      </a:r>
                      <a:endParaRPr sz="1100" u="none" strike="noStrike" cap="none">
                        <a:highlight>
                          <a:srgbClr val="FFFFFF"/>
                        </a:highlight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142875" marR="142875" marT="95250" marB="9525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>
                          <a:highlight>
                            <a:srgbClr val="FFFFFF"/>
                          </a:highlight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Low</a:t>
                      </a:r>
                      <a:endParaRPr sz="1100" u="none" strike="noStrike" cap="none">
                        <a:highlight>
                          <a:srgbClr val="FFFFFF"/>
                        </a:highlight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142875" marR="142875" marT="95250" marB="9525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>
                          <a:highlight>
                            <a:srgbClr val="FFFFFF"/>
                          </a:highlight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May be a result of genomic similarity at the 16S rRNA region (for bacteria)</a:t>
                      </a:r>
                      <a:endParaRPr sz="1100" u="none" strike="noStrike" cap="none">
                        <a:highlight>
                          <a:srgbClr val="FFFFFF"/>
                        </a:highlight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142875" marR="142875" marT="95250" marB="9525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10"/>
          <p:cNvPicPr preferRelativeResize="0"/>
          <p:nvPr/>
        </p:nvPicPr>
        <p:blipFill rotWithShape="1">
          <a:blip r:embed="rId3">
            <a:alphaModFix/>
          </a:blip>
          <a:srcRect t="2591"/>
          <a:stretch/>
        </p:blipFill>
        <p:spPr>
          <a:xfrm>
            <a:off x="152400" y="1705375"/>
            <a:ext cx="8839199" cy="2156775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19" name="Google Shape;119;p10"/>
          <p:cNvSpPr txBox="1">
            <a:spLocks noGrp="1"/>
          </p:cNvSpPr>
          <p:nvPr>
            <p:ph type="title" idx="4294967295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latin typeface="Helvetica Neue"/>
                <a:ea typeface="Helvetica Neue"/>
                <a:cs typeface="Helvetica Neue"/>
                <a:sym typeface="Helvetica Neue"/>
              </a:rPr>
              <a:t>What do we think about this viral hit?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1"/>
          <p:cNvSpPr txBox="1">
            <a:spLocks noGrp="1"/>
          </p:cNvSpPr>
          <p:nvPr>
            <p:ph type="title" idx="4294967295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latin typeface="Helvetica Neue"/>
                <a:ea typeface="Helvetica Neue"/>
                <a:cs typeface="Helvetica Neue"/>
                <a:sym typeface="Helvetica Neue"/>
              </a:rPr>
              <a:t>What do we think about this bacterial hit?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25" name="Google Shape;125;p11"/>
          <p:cNvPicPr preferRelativeResize="0"/>
          <p:nvPr/>
        </p:nvPicPr>
        <p:blipFill rotWithShape="1">
          <a:blip r:embed="rId3">
            <a:alphaModFix/>
          </a:blip>
          <a:srcRect t="2505"/>
          <a:stretch/>
        </p:blipFill>
        <p:spPr>
          <a:xfrm>
            <a:off x="152400" y="1477400"/>
            <a:ext cx="8839199" cy="2166975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1549525"/>
            <a:ext cx="8839201" cy="2551476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31" name="Google Shape;131;p12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latin typeface="Helvetica Neue"/>
                <a:ea typeface="Helvetica Neue"/>
                <a:cs typeface="Helvetica Neue"/>
                <a:sym typeface="Helvetica Neue"/>
              </a:rPr>
              <a:t>What do we think about this bacterial hit?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3"/>
          <p:cNvSpPr txBox="1">
            <a:spLocks noGrp="1"/>
          </p:cNvSpPr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latin typeface="Helvetica Neue"/>
                <a:ea typeface="Helvetica Neue"/>
                <a:cs typeface="Helvetica Neue"/>
                <a:sym typeface="Helvetica Neue"/>
              </a:rPr>
              <a:t>BLAST can be used for hit confirmation 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37" name="Google Shape;137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71100" y="1090750"/>
            <a:ext cx="3310192" cy="3820975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02afa72b26_0_21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Genome Assembly?</a:t>
            </a:r>
            <a:endParaRPr/>
          </a:p>
        </p:txBody>
      </p:sp>
      <p:sp>
        <p:nvSpPr>
          <p:cNvPr id="415" name="Google Shape;415;g302afa72b26_0_21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chemeClr val="tx1"/>
                </a:solidFill>
              </a:rPr>
              <a:t>CZ ID’s mNGS Nanopore pipeline is meant for metagenomic analysis only (i.e., taxonomic identification)</a:t>
            </a:r>
            <a:endParaRPr>
              <a:solidFill>
                <a:schemeClr val="tx1"/>
              </a:solidFill>
            </a:endParaRPr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solidFill>
                <a:schemeClr val="tx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chemeClr val="tx1"/>
                </a:solidFill>
              </a:rPr>
              <a:t>The mNGS pipeline can be used to gather information for downstream genome assembly:</a:t>
            </a:r>
            <a:endParaRPr>
              <a:solidFill>
                <a:schemeClr val="tx1"/>
              </a:solidFill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>
                <a:solidFill>
                  <a:schemeClr val="tx1"/>
                </a:solidFill>
              </a:rPr>
              <a:t>Quickly identify organisms and/or potential reference sequences</a:t>
            </a:r>
            <a:endParaRPr>
              <a:solidFill>
                <a:schemeClr val="tx1"/>
              </a:solidFill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>
                <a:solidFill>
                  <a:schemeClr val="tx1"/>
                </a:solidFill>
              </a:rPr>
              <a:t>Download reads/contigs associated with organism of interest (FASTA)</a:t>
            </a:r>
            <a:endParaRPr>
              <a:solidFill>
                <a:schemeClr val="tx1"/>
              </a:solidFill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>
                <a:solidFill>
                  <a:schemeClr val="tx1"/>
                </a:solidFill>
              </a:rPr>
              <a:t>Download quality- and host-filtered reads (FASTQ or FASTA) </a:t>
            </a:r>
            <a:endParaRPr>
              <a:solidFill>
                <a:schemeClr val="tx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4"/>
          <p:cNvSpPr txBox="1">
            <a:spLocks noGrp="1"/>
          </p:cNvSpPr>
          <p:nvPr>
            <p:ph type="title"/>
          </p:nvPr>
        </p:nvSpPr>
        <p:spPr>
          <a:xfrm>
            <a:off x="311700" y="22854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latin typeface="Helvetica Neue"/>
                <a:ea typeface="Helvetica Neue"/>
                <a:cs typeface="Helvetica Neue"/>
                <a:sym typeface="Helvetica Neue"/>
              </a:rPr>
              <a:t>Let’s do our own analysis!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58f93afd49_0_238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Exploring Results</a:t>
            </a:r>
            <a:endParaRPr/>
          </a:p>
        </p:txBody>
      </p:sp>
      <p:sp>
        <p:nvSpPr>
          <p:cNvPr id="474" name="Google Shape;474;g358f93afd49_0_238"/>
          <p:cNvSpPr txBox="1">
            <a:spLocks noGrp="1"/>
          </p:cNvSpPr>
          <p:nvPr>
            <p:ph type="body" idx="1"/>
          </p:nvPr>
        </p:nvSpPr>
        <p:spPr>
          <a:xfrm>
            <a:off x="457200" y="1177150"/>
            <a:ext cx="8229600" cy="355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2400"/>
              <a:buChar char="●"/>
            </a:pPr>
            <a:r>
              <a:rPr lang="en" sz="2400">
                <a:solidFill>
                  <a:srgbClr val="9E9E9E"/>
                </a:solidFill>
              </a:rPr>
              <a:t>QC metrics</a:t>
            </a:r>
            <a:endParaRPr sz="240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2400"/>
              <a:buChar char="●"/>
            </a:pPr>
            <a:r>
              <a:rPr lang="en" sz="2400">
                <a:solidFill>
                  <a:schemeClr val="tx1"/>
                </a:solidFill>
              </a:rPr>
              <a:t>Sample Report</a:t>
            </a:r>
            <a:endParaRPr sz="2400">
              <a:solidFill>
                <a:schemeClr val="tx1"/>
              </a:solidFill>
            </a:endParaRPr>
          </a:p>
          <a:p>
            <a:pPr marL="91440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2400"/>
              <a:buChar char="○"/>
            </a:pPr>
            <a:r>
              <a:rPr lang="en" sz="2400">
                <a:solidFill>
                  <a:schemeClr val="tx1"/>
                </a:solidFill>
              </a:rPr>
              <a:t>Metrics</a:t>
            </a:r>
            <a:endParaRPr sz="2400">
              <a:solidFill>
                <a:schemeClr val="tx1"/>
              </a:solidFill>
            </a:endParaRPr>
          </a:p>
          <a:p>
            <a:pPr marL="91440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2400"/>
              <a:buChar char="○"/>
            </a:pPr>
            <a:r>
              <a:rPr lang="en" sz="2400">
                <a:solidFill>
                  <a:schemeClr val="tx1"/>
                </a:solidFill>
              </a:rPr>
              <a:t>Analysis</a:t>
            </a:r>
            <a:endParaRPr sz="2400">
              <a:solidFill>
                <a:schemeClr val="tx1"/>
              </a:solidFill>
            </a:endParaRPr>
          </a:p>
          <a:p>
            <a:pPr marL="914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2400">
              <a:solidFill>
                <a:srgbClr val="9E9E9E"/>
              </a:solidFill>
            </a:endParaRPr>
          </a:p>
          <a:p>
            <a:pPr indent="-381000">
              <a:buClr>
                <a:srgbClr val="9E9E9E"/>
              </a:buClr>
              <a:buSzPts val="2400"/>
              <a:buFont typeface="Arial"/>
              <a:buChar char="●"/>
            </a:pPr>
            <a:r>
              <a:rPr lang="en" sz="2400">
                <a:solidFill>
                  <a:srgbClr val="9E9E9E"/>
                </a:solidFill>
              </a:rPr>
              <a:t>Accounting for background</a:t>
            </a:r>
            <a:endParaRPr sz="2400"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58f93afd49_0_10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" sz="1900" b="1">
                <a:latin typeface="Open Sans"/>
                <a:ea typeface="Open Sans"/>
                <a:cs typeface="Open Sans"/>
                <a:sym typeface="Open Sans"/>
              </a:rPr>
              <a:t>Analysis Workflow - ONT </a:t>
            </a:r>
            <a:endParaRPr sz="3100"/>
          </a:p>
        </p:txBody>
      </p:sp>
      <p:sp>
        <p:nvSpPr>
          <p:cNvPr id="451" name="Google Shape;451;g358f93afd49_0_10"/>
          <p:cNvSpPr txBox="1">
            <a:spLocks noGrp="1"/>
          </p:cNvSpPr>
          <p:nvPr>
            <p:ph type="body" idx="1"/>
          </p:nvPr>
        </p:nvSpPr>
        <p:spPr>
          <a:xfrm>
            <a:off x="457200" y="960120"/>
            <a:ext cx="8229600" cy="37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3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Complete a first pass sample report view</a:t>
            </a:r>
            <a:endParaRPr sz="1300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Open Sans"/>
              <a:buAutoNum type="arabicPeriod"/>
            </a:pPr>
            <a:r>
              <a:rPr lang="en" sz="13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Look at the list of detected taxa</a:t>
            </a:r>
            <a:endParaRPr sz="1300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Open Sans"/>
              <a:buAutoNum type="arabicPeriod"/>
            </a:pPr>
            <a:r>
              <a:rPr lang="en" sz="13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Record NT </a:t>
            </a:r>
            <a:r>
              <a:rPr lang="en" sz="1300" dirty="0" err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bPM</a:t>
            </a:r>
            <a:r>
              <a:rPr lang="en" sz="13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NT r, and any other relevant metrics</a:t>
            </a:r>
            <a:endParaRPr sz="1300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Open Sans"/>
              <a:buAutoNum type="arabicPeriod"/>
            </a:pPr>
            <a:r>
              <a:rPr lang="en" sz="13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Look at the coverage plot for each taxa and record your interpretation (low, medium, high coverage)</a:t>
            </a:r>
            <a:endParaRPr sz="1300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Open Sans"/>
              <a:buAutoNum type="arabicPeriod"/>
            </a:pPr>
            <a:r>
              <a:rPr lang="en" sz="1300" dirty="0" err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BLASTn</a:t>
            </a:r>
            <a:r>
              <a:rPr lang="en" sz="13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contigs from each candidate taxa and record what you find (specific, non-specific, </a:t>
            </a:r>
            <a:r>
              <a:rPr lang="en" sz="1300" dirty="0" err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etc</a:t>
            </a:r>
            <a:r>
              <a:rPr lang="en" sz="13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)</a:t>
            </a:r>
            <a:endParaRPr sz="1300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300" dirty="0">
              <a:solidFill>
                <a:srgbClr val="B7B7B7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300" dirty="0">
                <a:solidFill>
                  <a:srgbClr val="999999"/>
                </a:solidFill>
                <a:latin typeface="Open Sans"/>
                <a:ea typeface="Open Sans"/>
                <a:cs typeface="Open Sans"/>
                <a:sym typeface="Open Sans"/>
              </a:rPr>
              <a:t>Check negative water controls</a:t>
            </a:r>
            <a:endParaRPr sz="1300" dirty="0">
              <a:solidFill>
                <a:srgbClr val="99999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Open Sans"/>
              <a:buAutoNum type="arabicPeriod"/>
            </a:pPr>
            <a:r>
              <a:rPr lang="en" sz="1300" dirty="0">
                <a:solidFill>
                  <a:srgbClr val="999999"/>
                </a:solidFill>
                <a:latin typeface="Open Sans"/>
                <a:ea typeface="Open Sans"/>
                <a:cs typeface="Open Sans"/>
                <a:sym typeface="Open Sans"/>
              </a:rPr>
              <a:t>Navigate to the sample report for each negative water control included in the run</a:t>
            </a:r>
            <a:endParaRPr sz="1300" dirty="0">
              <a:solidFill>
                <a:srgbClr val="99999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Open Sans"/>
              <a:buAutoNum type="arabicPeriod"/>
            </a:pPr>
            <a:r>
              <a:rPr lang="en" sz="1300" dirty="0">
                <a:solidFill>
                  <a:srgbClr val="999999"/>
                </a:solidFill>
                <a:latin typeface="Open Sans"/>
                <a:ea typeface="Open Sans"/>
                <a:cs typeface="Open Sans"/>
                <a:sym typeface="Open Sans"/>
              </a:rPr>
              <a:t>For each taxa observed in the samples, record the NT </a:t>
            </a:r>
            <a:r>
              <a:rPr lang="en" sz="1300" dirty="0" err="1">
                <a:solidFill>
                  <a:srgbClr val="999999"/>
                </a:solidFill>
                <a:latin typeface="Open Sans"/>
                <a:ea typeface="Open Sans"/>
                <a:cs typeface="Open Sans"/>
                <a:sym typeface="Open Sans"/>
              </a:rPr>
              <a:t>bPM</a:t>
            </a:r>
            <a:r>
              <a:rPr lang="en" sz="1300" dirty="0">
                <a:solidFill>
                  <a:srgbClr val="999999"/>
                </a:solidFill>
                <a:latin typeface="Open Sans"/>
                <a:ea typeface="Open Sans"/>
                <a:cs typeface="Open Sans"/>
                <a:sym typeface="Open Sans"/>
              </a:rPr>
              <a:t>, NT r, and any other metrics in each water control</a:t>
            </a:r>
            <a:endParaRPr sz="1300" dirty="0">
              <a:solidFill>
                <a:srgbClr val="99999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Open Sans"/>
              <a:buAutoNum type="arabicPeriod"/>
            </a:pPr>
            <a:r>
              <a:rPr lang="en" sz="1300" dirty="0">
                <a:solidFill>
                  <a:srgbClr val="999999"/>
                </a:solidFill>
                <a:latin typeface="Open Sans"/>
                <a:ea typeface="Open Sans"/>
                <a:cs typeface="Open Sans"/>
                <a:sym typeface="Open Sans"/>
              </a:rPr>
              <a:t>If you have &gt;1 water control, calculate the average signal for each taxa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en-US" sz="1300" dirty="0">
              <a:solidFill>
                <a:srgbClr val="99999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300" dirty="0">
                <a:solidFill>
                  <a:srgbClr val="999999"/>
                </a:solidFill>
                <a:latin typeface="Open Sans"/>
                <a:ea typeface="Open Sans"/>
                <a:cs typeface="Open Sans"/>
                <a:sym typeface="Open Sans"/>
              </a:rPr>
              <a:t>Put it all together (background subtraction + interpretation)</a:t>
            </a: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Open Sans"/>
              <a:buAutoNum type="arabicPeriod"/>
            </a:pPr>
            <a:r>
              <a:rPr lang="en-US" sz="1300" dirty="0">
                <a:solidFill>
                  <a:srgbClr val="999999"/>
                </a:solidFill>
                <a:latin typeface="Open Sans"/>
                <a:ea typeface="Open Sans"/>
                <a:cs typeface="Open Sans"/>
                <a:sym typeface="Open Sans"/>
              </a:rPr>
              <a:t>Subtract the background/water control signal from the sample signal for each taxa</a:t>
            </a: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Open Sans"/>
              <a:buAutoNum type="arabicPeriod"/>
            </a:pPr>
            <a:r>
              <a:rPr lang="en-US" sz="1300" dirty="0">
                <a:solidFill>
                  <a:srgbClr val="999999"/>
                </a:solidFill>
                <a:latin typeface="Open Sans"/>
                <a:ea typeface="Open Sans"/>
                <a:cs typeface="Open Sans"/>
                <a:sym typeface="Open Sans"/>
              </a:rPr>
              <a:t>Interpret: real signal should be higher in samples than in water controls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58f93afd49_0_234"/>
          <p:cNvSpPr/>
          <p:nvPr/>
        </p:nvSpPr>
        <p:spPr>
          <a:xfrm>
            <a:off x="2033700" y="1173900"/>
            <a:ext cx="5076600" cy="2795700"/>
          </a:xfrm>
          <a:prstGeom prst="roundRect">
            <a:avLst>
              <a:gd name="adj" fmla="val 16667"/>
            </a:avLst>
          </a:prstGeom>
          <a:solidFill>
            <a:srgbClr val="CDD4EA"/>
          </a:solidFill>
          <a:ln w="9525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lang="en" sz="37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Go to worksheet: Sample Report section</a:t>
            </a:r>
            <a:endParaRPr sz="37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E6129DC-2BC0-A971-D46D-3A9DBC42E04E}"/>
              </a:ext>
            </a:extLst>
          </p:cNvPr>
          <p:cNvSpPr txBox="1"/>
          <p:nvPr/>
        </p:nvSpPr>
        <p:spPr>
          <a:xfrm>
            <a:off x="1530141" y="4397071"/>
            <a:ext cx="62824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Worksheet: </a:t>
            </a:r>
            <a:r>
              <a:rPr lang="en-US" dirty="0"/>
              <a:t>CZ ID Training Reference Tables &amp; </a:t>
            </a:r>
            <a:r>
              <a:rPr lang="en-US" dirty="0" err="1"/>
              <a:t>Worksheets_ONT</a:t>
            </a:r>
            <a:r>
              <a:rPr lang="en-US" dirty="0"/>
              <a:t>, </a:t>
            </a:r>
            <a:r>
              <a:rPr lang="en-US" dirty="0" err="1"/>
              <a:t>pg</a:t>
            </a:r>
            <a:r>
              <a:rPr lang="en-US" dirty="0"/>
              <a:t> 10-16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1262</Words>
  <Application>Microsoft Macintosh PowerPoint</Application>
  <PresentationFormat>On-screen Show (16:9)</PresentationFormat>
  <Paragraphs>143</Paragraphs>
  <Slides>22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Helvetica Neue</vt:lpstr>
      <vt:lpstr>Open Sans</vt:lpstr>
      <vt:lpstr>Helvetica Neue Light</vt:lpstr>
      <vt:lpstr>Poppins</vt:lpstr>
      <vt:lpstr>Simple Light</vt:lpstr>
      <vt:lpstr>Disclaimer</vt:lpstr>
      <vt:lpstr>PowerPoint Presentation</vt:lpstr>
      <vt:lpstr>Sample Report</vt:lpstr>
      <vt:lpstr>Sample Report Metrics</vt:lpstr>
      <vt:lpstr>Sample Report: each metric shows two results (NT/NR)</vt:lpstr>
      <vt:lpstr>Sample Report</vt:lpstr>
      <vt:lpstr>Filters are helpful at removing false hits, but not perfect</vt:lpstr>
      <vt:lpstr>PowerPoint Presentation</vt:lpstr>
      <vt:lpstr>Available Analysis Icons </vt:lpstr>
      <vt:lpstr>Available Analysis Icons (coverage visualization panel) </vt:lpstr>
      <vt:lpstr>The coverage visualization is valuable for evaluating hits</vt:lpstr>
      <vt:lpstr>Take into consideration the depth and breadth of the coverage (the higher, the better)</vt:lpstr>
      <vt:lpstr>Taking into account coverage breadth and depth</vt:lpstr>
      <vt:lpstr>What do we think about this viral hit?</vt:lpstr>
      <vt:lpstr>What do we think about this bacterial hit?</vt:lpstr>
      <vt:lpstr>What do we think about this bacterial hit?</vt:lpstr>
      <vt:lpstr>BLAST can be used for hit confirmation </vt:lpstr>
      <vt:lpstr>Genome Assembly?</vt:lpstr>
      <vt:lpstr>Let’s do our own analysis!</vt:lpstr>
      <vt:lpstr>Exploring Results</vt:lpstr>
      <vt:lpstr>Analysis Workflow - ONT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Genay Pilarowski</cp:lastModifiedBy>
  <cp:revision>9</cp:revision>
  <dcterms:modified xsi:type="dcterms:W3CDTF">2026-09-10T23:14:35Z</dcterms:modified>
</cp:coreProperties>
</file>