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31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312" r:id="rId18"/>
    <p:sldId id="313" r:id="rId19"/>
    <p:sldId id="271" r:id="rId20"/>
    <p:sldId id="272" r:id="rId21"/>
    <p:sldId id="273" r:id="rId22"/>
    <p:sldId id="274" r:id="rId23"/>
    <p:sldId id="275" r:id="rId24"/>
    <p:sldId id="276" r:id="rId25"/>
  </p:sldIdLst>
  <p:sldSz cx="9144000" cy="5143500" type="screen16x9"/>
  <p:notesSz cx="6858000" cy="9144000"/>
  <p:embeddedFontLst>
    <p:embeddedFont>
      <p:font typeface="Poppins" pitchFamily="2" charset="77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h2pRsEpNN0ojm/uDNkjofGDyHN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B70426-CAA7-4901-8DA6-E1E16C5DEDAC}">
  <a:tblStyle styleId="{C0B70426-CAA7-4901-8DA6-E1E16C5DEDA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74C0977-7613-4EC5-AACC-2EAE8A85722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30"/>
  </p:normalViewPr>
  <p:slideViewPr>
    <p:cSldViewPr snapToGrid="0">
      <p:cViewPr varScale="1">
        <p:scale>
          <a:sx n="145" d="100"/>
          <a:sy n="145" d="100"/>
        </p:scale>
        <p:origin x="71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We like DCR &lt; 3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Different sample types have different RNA content host vs microbiome vs pathogen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Reminder that ‘+’ can be used to adjust metrics shown.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Explain axes (histogram view)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Different colours represent different QC steps in the pipeline.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Comparison of different sample types.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Tie into wet lab work.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ERCC can be used to estimate input RNA for low biomass samples (</a:t>
            </a:r>
            <a:r>
              <a:rPr lang="fr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input_pg = ercc_pg / ercc_reads * (total_reads - total_ercc_reads)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5A0AC6D8-F1C2-8AD1-98F1-32DC965B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cb252ed0b_0_10:notes">
            <a:extLst>
              <a:ext uri="{FF2B5EF4-FFF2-40B4-BE49-F238E27FC236}">
                <a16:creationId xmlns:a16="http://schemas.microsoft.com/office/drawing/2014/main" id="{24B6DA14-4295-750F-BF87-EB7EF1EDC7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31cb252ed0b_0_10:notes">
            <a:extLst>
              <a:ext uri="{FF2B5EF4-FFF2-40B4-BE49-F238E27FC236}">
                <a16:creationId xmlns:a16="http://schemas.microsoft.com/office/drawing/2014/main" id="{6BCBE0E8-F16F-3543-0F2A-35F66529C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Good or bad?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366885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393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cb252ed0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31cb252ed0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Good or bad?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1cb252ed0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1cb252ed0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Good or bad?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1cb252ed0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31cb252ed0b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Good or bad?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1cb252ed0b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1cb252ed0b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Last example: ERCCs made 40% of total reads (7.5M ERCC reads)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1cb252ed0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1cb252ed0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Last example: ERCCs made 40% of total reads (7.5M ERCC reads). When in doubt, use standard background model!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6">
  <p:cSld name="TITLE_AND_BODY_7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pic>
        <p:nvPicPr>
          <p:cNvPr id="22" name="Google Shape;22;p21" descr="IDseq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538" y="96775"/>
            <a:ext cx="815933" cy="2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>
            <a:spLocks noGrp="1"/>
          </p:cNvSpPr>
          <p:nvPr>
            <p:ph type="pic" idx="2"/>
          </p:nvPr>
        </p:nvSpPr>
        <p:spPr>
          <a:xfrm>
            <a:off x="1172238" y="252413"/>
            <a:ext cx="6801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22"/>
          <p:cNvSpPr txBox="1">
            <a:spLocks noGrp="1"/>
          </p:cNvSpPr>
          <p:nvPr>
            <p:ph type="title"/>
          </p:nvPr>
        </p:nvSpPr>
        <p:spPr>
          <a:xfrm>
            <a:off x="238125" y="3567113"/>
            <a:ext cx="8667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1"/>
          </p:nvPr>
        </p:nvSpPr>
        <p:spPr>
          <a:xfrm>
            <a:off x="238125" y="4291013"/>
            <a:ext cx="8667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666750" y="17002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>
            <a:spLocks noGrp="1"/>
          </p:cNvSpPr>
          <p:nvPr>
            <p:ph type="pic" idx="2"/>
          </p:nvPr>
        </p:nvSpPr>
        <p:spPr>
          <a:xfrm>
            <a:off x="4937242" y="357188"/>
            <a:ext cx="35718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619125" y="357188"/>
            <a:ext cx="3833700" cy="20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619125" y="2447925"/>
            <a:ext cx="3833700" cy="21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>
            <a:spLocks noGrp="1"/>
          </p:cNvSpPr>
          <p:nvPr>
            <p:ph type="pic" idx="2"/>
          </p:nvPr>
        </p:nvSpPr>
        <p:spPr>
          <a:xfrm>
            <a:off x="4938713" y="1181100"/>
            <a:ext cx="3571800" cy="34860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26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38337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2pPr>
            <a:lvl3pPr marL="1371600" lvl="2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3pPr>
            <a:lvl4pPr marL="1828800" lvl="3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4pPr>
            <a:lvl5pPr marL="2286000" lvl="4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body" idx="1"/>
          </p:nvPr>
        </p:nvSpPr>
        <p:spPr>
          <a:xfrm>
            <a:off x="633413" y="666750"/>
            <a:ext cx="7877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>
            <a:spLocks noGrp="1"/>
          </p:cNvSpPr>
          <p:nvPr>
            <p:ph type="pic" idx="2"/>
          </p:nvPr>
        </p:nvSpPr>
        <p:spPr>
          <a:xfrm>
            <a:off x="5910263" y="2643188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28"/>
          <p:cNvSpPr>
            <a:spLocks noGrp="1"/>
          </p:cNvSpPr>
          <p:nvPr>
            <p:ph type="pic" idx="3"/>
          </p:nvPr>
        </p:nvSpPr>
        <p:spPr>
          <a:xfrm>
            <a:off x="5910263" y="423863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28"/>
          <p:cNvSpPr>
            <a:spLocks noGrp="1"/>
          </p:cNvSpPr>
          <p:nvPr>
            <p:ph type="pic" idx="4"/>
          </p:nvPr>
        </p:nvSpPr>
        <p:spPr>
          <a:xfrm>
            <a:off x="452438" y="423863"/>
            <a:ext cx="53151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>
            <a:spLocks noGrp="1"/>
          </p:cNvSpPr>
          <p:nvPr>
            <p:ph type="body" idx="1"/>
          </p:nvPr>
        </p:nvSpPr>
        <p:spPr>
          <a:xfrm>
            <a:off x="895350" y="3357563"/>
            <a:ext cx="7358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body" idx="2"/>
          </p:nvPr>
        </p:nvSpPr>
        <p:spPr>
          <a:xfrm>
            <a:off x="895350" y="2278856"/>
            <a:ext cx="73581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30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186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cs.google.com/presentation/d/12rsSv6twoowfhCO2RQOlJQjwPDWOXqBsfvBPsPEc83o/edit#slide=id.g53eee17d77_0_111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  <a:endParaRPr lang="en-US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5" name="Google Shape;65;p1"/>
          <p:cNvSpPr txBox="1"/>
          <p:nvPr/>
        </p:nvSpPr>
        <p:spPr>
          <a:xfrm>
            <a:off x="481105" y="26328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fr" sz="18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Quality Control Overview and Interpretation</a:t>
            </a:r>
            <a:endParaRPr sz="1800" b="0" i="0" u="none" strike="noStrike" cap="none">
              <a:solidFill>
                <a:schemeClr val="dk1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0E7BDC-6DB6-DD97-69F2-EA75A70CF41E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fr" sz="3200">
                <a:latin typeface="+mj-lt"/>
              </a:rPr>
              <a:t>Outline </a:t>
            </a:r>
            <a:endParaRPr sz="3200">
              <a:latin typeface="+mj-lt"/>
            </a:endParaRPr>
          </a:p>
        </p:txBody>
      </p:sp>
      <p:sp>
        <p:nvSpPr>
          <p:cNvPr id="74" name="Google Shape;74;p2"/>
          <p:cNvSpPr txBox="1">
            <a:spLocks noGrp="1"/>
          </p:cNvSpPr>
          <p:nvPr>
            <p:ph type="body" idx="1"/>
          </p:nvPr>
        </p:nvSpPr>
        <p:spPr>
          <a:xfrm>
            <a:off x="633425" y="1184744"/>
            <a:ext cx="7877100" cy="2534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457200" lvl="0" indent="-374650" algn="l" rtl="0">
              <a:lnSpc>
                <a:spcPct val="2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f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QC metric definitions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How QC metrics help inform wet lab experiments and data interpretation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Char char="•"/>
            </a:pPr>
            <a:r>
              <a:rPr lang="f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QC within CZ ID (</a:t>
            </a:r>
            <a:r>
              <a:rPr lang="fr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at your data</a:t>
            </a:r>
            <a:r>
              <a:rPr lang="f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fr" sz="3200">
                <a:latin typeface="+mj-lt"/>
              </a:rPr>
              <a:t>Quality Control </a:t>
            </a:r>
            <a:endParaRPr sz="3200">
              <a:latin typeface="+mj-lt"/>
            </a:endParaRPr>
          </a:p>
        </p:txBody>
      </p:sp>
      <p:sp>
        <p:nvSpPr>
          <p:cNvPr id="80" name="Google Shape;80;p3"/>
          <p:cNvSpPr txBox="1">
            <a:spLocks noGrp="1"/>
          </p:cNvSpPr>
          <p:nvPr>
            <p:ph type="body" idx="1"/>
          </p:nvPr>
        </p:nvSpPr>
        <p:spPr>
          <a:xfrm>
            <a:off x="423975" y="663325"/>
            <a:ext cx="8524800" cy="27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Were there enough reads?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Did my samples pass QC filtering? (basecall quality, length, complexity)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How many reads were removed during data preprocessing? (e.g., host filtering)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How many reads were used for microbe identification (i.e., passed filters)?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/>
        </p:nvSpPr>
        <p:spPr>
          <a:xfrm>
            <a:off x="387300" y="706582"/>
            <a:ext cx="8756700" cy="3798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</a:t>
            </a:r>
            <a:r>
              <a:rPr lang="fr" sz="17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</a:t>
            </a:r>
            <a:r>
              <a:rPr lang="fr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Total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uploaded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the pipeline.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7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Passed</a:t>
            </a:r>
            <a:r>
              <a:rPr lang="fr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QC: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passed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fastp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7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Passed</a:t>
            </a:r>
            <a:r>
              <a:rPr lang="fr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(i.e.,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passed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QC, host/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filtering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subsampling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Duplicate Compression Ratio (DCR):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Ratio of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duplicate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removal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vs after duplicate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removal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(e.g. over-amplification, over-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sequencing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ERCC </a:t>
            </a:r>
            <a:r>
              <a:rPr lang="fr" sz="17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</a:t>
            </a:r>
            <a:r>
              <a:rPr lang="fr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Total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mapping to ERCC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(RNA-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 insert size: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Average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length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nucleotide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sequence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inserted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between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adapters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human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samples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).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5;p4">
            <a:extLst>
              <a:ext uri="{FF2B5EF4-FFF2-40B4-BE49-F238E27FC236}">
                <a16:creationId xmlns:a16="http://schemas.microsoft.com/office/drawing/2014/main" id="{E683EB08-C9F1-69A0-BA4A-33A39CA404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438" y="214685"/>
            <a:ext cx="7877100" cy="558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fr" sz="3200">
                <a:latin typeface="+mj-lt"/>
                <a:ea typeface="Open Sans"/>
                <a:cs typeface="Open Sans"/>
                <a:sym typeface="Open Sans"/>
              </a:rPr>
              <a:t>CZ ID QC Metrics </a:t>
            </a:r>
            <a:endParaRPr sz="3200">
              <a:latin typeface="+mj-lt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40975" y="900575"/>
            <a:ext cx="3814999" cy="38149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947550" y="4867975"/>
            <a:ext cx="246000" cy="2226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1197150" y="4776663"/>
            <a:ext cx="608700" cy="2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786847" y="4867975"/>
            <a:ext cx="246000" cy="2226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2048375" y="4791780"/>
            <a:ext cx="847500" cy="2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Microbial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 rot="-7621457">
            <a:off x="2674222" y="2296002"/>
            <a:ext cx="512162" cy="1005047"/>
          </a:xfrm>
          <a:prstGeom prst="triangle">
            <a:avLst>
              <a:gd name="adj" fmla="val 5631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103995" y="2025125"/>
            <a:ext cx="768300" cy="744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 rot="3370170">
            <a:off x="1190197" y="2351700"/>
            <a:ext cx="373425" cy="1371322"/>
          </a:xfrm>
          <a:prstGeom prst="triangle">
            <a:avLst>
              <a:gd name="adj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 rot="-7868841">
            <a:off x="363389" y="3099633"/>
            <a:ext cx="754562" cy="7585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 rot="-4699237">
            <a:off x="2066807" y="3755420"/>
            <a:ext cx="465334" cy="966908"/>
          </a:xfrm>
          <a:prstGeom prst="triangle">
            <a:avLst>
              <a:gd name="adj" fmla="val 5119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 rot="2798470">
            <a:off x="2477142" y="3973256"/>
            <a:ext cx="755500" cy="7575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 rot="8980673">
            <a:off x="829809" y="816931"/>
            <a:ext cx="376737" cy="781368"/>
          </a:xfrm>
          <a:prstGeom prst="triangle">
            <a:avLst>
              <a:gd name="adj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 rot="3546881">
            <a:off x="1137892" y="1527506"/>
            <a:ext cx="375788" cy="986062"/>
          </a:xfrm>
          <a:prstGeom prst="triangle">
            <a:avLst>
              <a:gd name="adj" fmla="val 5119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280427" y="341695"/>
            <a:ext cx="768300" cy="744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92179" y="327487"/>
            <a:ext cx="744600" cy="706800"/>
          </a:xfrm>
          <a:prstGeom prst="arc">
            <a:avLst>
              <a:gd name="adj1" fmla="val 10870514"/>
              <a:gd name="adj2" fmla="val 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2470883" y="3942411"/>
            <a:ext cx="768300" cy="819600"/>
          </a:xfrm>
          <a:prstGeom prst="arc">
            <a:avLst>
              <a:gd name="adj1" fmla="val 10870514"/>
              <a:gd name="adj2" fmla="val 21473896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 rot="-10446138">
            <a:off x="254603" y="2003398"/>
            <a:ext cx="767864" cy="74514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 rot="-538854">
            <a:off x="368425" y="2002491"/>
            <a:ext cx="540020" cy="855401"/>
          </a:xfrm>
          <a:prstGeom prst="arc">
            <a:avLst>
              <a:gd name="adj1" fmla="val 16231257"/>
              <a:gd name="adj2" fmla="val 16823809"/>
            </a:avLst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2159600" y="278325"/>
            <a:ext cx="5627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S</a:t>
            </a:r>
            <a:r>
              <a:rPr lang="fr" sz="3200">
                <a:latin typeface="+mj-lt"/>
                <a:ea typeface="Helvetica Neue"/>
                <a:cs typeface="Helvetica Neue"/>
                <a:sym typeface="Helvetica Neue"/>
              </a:rPr>
              <a:t>ample t</a:t>
            </a:r>
            <a:r>
              <a:rPr lang="fr" sz="3200">
                <a:latin typeface="+mj-lt"/>
              </a:rPr>
              <a:t>ype matters when evaluating QC metrics </a:t>
            </a:r>
            <a:endParaRPr sz="3200">
              <a:latin typeface="+mj-lt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10" name="Google Shape;110;p5"/>
          <p:cNvGraphicFramePr/>
          <p:nvPr/>
        </p:nvGraphicFramePr>
        <p:xfrm>
          <a:off x="4096150" y="1657075"/>
          <a:ext cx="4753875" cy="2803980"/>
        </p:xfrm>
        <a:graphic>
          <a:graphicData uri="http://schemas.openxmlformats.org/drawingml/2006/table">
            <a:tbl>
              <a:tblPr>
                <a:noFill/>
                <a:tableStyleId>{C0B70426-CAA7-4901-8DA6-E1E16C5DEDAC}</a:tableStyleId>
              </a:tblPr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Sample Type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Host Signal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Microbial Signal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CSF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&gt; 99%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&lt;&lt; 5% with infection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>
                          <a:solidFill>
                            <a:schemeClr val="dk1"/>
                          </a:solidFill>
                        </a:rPr>
                        <a:t>Tracheal Aspirate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95%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Nasal or oral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50%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50%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Whole blood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&gt; 99%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&lt;&lt; 1% (with infection)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Rectal or Vaginal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50%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50%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1" name="Google Shape;111;p5"/>
          <p:cNvSpPr txBox="1"/>
          <p:nvPr/>
        </p:nvSpPr>
        <p:spPr>
          <a:xfrm>
            <a:off x="6181800" y="4781575"/>
            <a:ext cx="2962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Adapted from </a:t>
            </a:r>
            <a:r>
              <a:rPr lang="fr" sz="1200" b="0" i="0" u="sng" strike="noStrike" cap="non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CZ BioHub mNGS Intro</a:t>
            </a: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280333" y="310936"/>
            <a:ext cx="768300" cy="819600"/>
          </a:xfrm>
          <a:prstGeom prst="arc">
            <a:avLst>
              <a:gd name="adj1" fmla="val 10870514"/>
              <a:gd name="adj2" fmla="val 21473896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>
            <a:spLocks noGrp="1"/>
          </p:cNvSpPr>
          <p:nvPr>
            <p:ph type="title"/>
          </p:nvPr>
        </p:nvSpPr>
        <p:spPr>
          <a:xfrm>
            <a:off x="306625" y="252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QC metrics affected by sample type</a:t>
            </a:r>
            <a:endParaRPr sz="3200">
              <a:latin typeface="+mj-lt"/>
            </a:endParaRPr>
          </a:p>
        </p:txBody>
      </p:sp>
      <p:graphicFrame>
        <p:nvGraphicFramePr>
          <p:cNvPr id="118" name="Google Shape;118;p6"/>
          <p:cNvGraphicFramePr/>
          <p:nvPr/>
        </p:nvGraphicFramePr>
        <p:xfrm>
          <a:off x="369175" y="1096900"/>
          <a:ext cx="8405650" cy="3718470"/>
        </p:xfrm>
        <a:graphic>
          <a:graphicData uri="http://schemas.openxmlformats.org/drawingml/2006/table">
            <a:tbl>
              <a:tblPr>
                <a:noFill/>
                <a:tableStyleId>{C0B70426-CAA7-4901-8DA6-E1E16C5DEDAC}</a:tableStyleId>
              </a:tblPr>
              <a:tblGrid>
                <a:gridCol w="23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Sample Type</a:t>
                      </a:r>
                      <a:endParaRPr sz="1400" b="1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Typical Distribution</a:t>
                      </a:r>
                      <a:endParaRPr sz="1400" b="1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QC Trend</a:t>
                      </a:r>
                      <a:endParaRPr sz="1400" b="1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>
                          <a:solidFill>
                            <a:schemeClr val="dk1"/>
                          </a:solidFill>
                        </a:rPr>
                        <a:t>Stool, NP Swab, Environmental Samples, Sputum, Urine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>
                          <a:solidFill>
                            <a:schemeClr val="dk1"/>
                          </a:solidFill>
                        </a:rPr>
                        <a:t>(Higher diversity &amp; DNA/cDNA input)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>
                          <a:solidFill>
                            <a:schemeClr val="dk1"/>
                          </a:solidFill>
                        </a:rPr>
                        <a:t>Higher microbial reads 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>
                          <a:solidFill>
                            <a:schemeClr val="dk1"/>
                          </a:solidFill>
                        </a:rPr>
                        <a:t>Lower DCR 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>
                          <a:solidFill>
                            <a:schemeClr val="dk1"/>
                          </a:solidFill>
                        </a:rPr>
                        <a:t>Serum, CSF, Plasma, Negative Controls 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(Lower diversity &amp; DNA/cDNA input)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/>
                        <a:t>Lower microbial reads</a:t>
                      </a:r>
                      <a:endParaRPr sz="12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/>
                        <a:t>Higher DCR (PCR artifact)</a:t>
                      </a:r>
                      <a:endParaRPr sz="12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>
                          <a:solidFill>
                            <a:schemeClr val="dk1"/>
                          </a:solidFill>
                        </a:rPr>
                        <a:t>Higher background contamination</a:t>
                      </a:r>
                      <a:endParaRPr sz="12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9" name="Google Shape;119;p6"/>
          <p:cNvGrpSpPr/>
          <p:nvPr/>
        </p:nvGrpSpPr>
        <p:grpSpPr>
          <a:xfrm>
            <a:off x="3041800" y="2209088"/>
            <a:ext cx="3507953" cy="521700"/>
            <a:chOff x="2889400" y="2513888"/>
            <a:chExt cx="3507953" cy="521700"/>
          </a:xfrm>
        </p:grpSpPr>
        <p:sp>
          <p:nvSpPr>
            <p:cNvPr id="120" name="Google Shape;120;p6"/>
            <p:cNvSpPr/>
            <p:nvPr/>
          </p:nvSpPr>
          <p:spPr>
            <a:xfrm>
              <a:off x="2889400" y="2513888"/>
              <a:ext cx="3507900" cy="521700"/>
            </a:xfrm>
            <a:prstGeom prst="rect">
              <a:avLst/>
            </a:prstGeom>
            <a:solidFill>
              <a:srgbClr val="E7E6E6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2889400" y="2513888"/>
              <a:ext cx="1678500" cy="5217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" sz="14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           host</a:t>
              </a:r>
              <a:endParaRPr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4797453" y="2513888"/>
              <a:ext cx="1599900" cy="521700"/>
            </a:xfrm>
            <a:prstGeom prst="rect">
              <a:avLst/>
            </a:prstGeom>
            <a:solidFill>
              <a:srgbClr val="0070C0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" sz="14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      microbe</a:t>
              </a:r>
              <a:endParaRPr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grpSp>
        <p:nvGrpSpPr>
          <p:cNvPr id="123" name="Google Shape;123;p6"/>
          <p:cNvGrpSpPr/>
          <p:nvPr/>
        </p:nvGrpSpPr>
        <p:grpSpPr>
          <a:xfrm>
            <a:off x="3067000" y="3671875"/>
            <a:ext cx="3507900" cy="521700"/>
            <a:chOff x="2924750" y="3352425"/>
            <a:chExt cx="3507900" cy="521700"/>
          </a:xfrm>
        </p:grpSpPr>
        <p:sp>
          <p:nvSpPr>
            <p:cNvPr id="124" name="Google Shape;124;p6"/>
            <p:cNvSpPr/>
            <p:nvPr/>
          </p:nvSpPr>
          <p:spPr>
            <a:xfrm>
              <a:off x="2924750" y="3352425"/>
              <a:ext cx="3507900" cy="521700"/>
            </a:xfrm>
            <a:prstGeom prst="rect">
              <a:avLst/>
            </a:prstGeom>
            <a:solidFill>
              <a:srgbClr val="E7E6E6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2924750" y="3352425"/>
              <a:ext cx="405900" cy="5217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3330650" y="3352425"/>
              <a:ext cx="253500" cy="521700"/>
            </a:xfrm>
            <a:prstGeom prst="rect">
              <a:avLst/>
            </a:prstGeom>
            <a:solidFill>
              <a:srgbClr val="0070C0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6"/>
          <p:cNvSpPr txBox="1"/>
          <p:nvPr/>
        </p:nvSpPr>
        <p:spPr>
          <a:xfrm>
            <a:off x="4347925" y="3748075"/>
            <a:ext cx="1282200" cy="5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ERCC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128" name="Google Shape;128;p6"/>
          <p:cNvGrpSpPr/>
          <p:nvPr/>
        </p:nvGrpSpPr>
        <p:grpSpPr>
          <a:xfrm>
            <a:off x="3220450" y="1383246"/>
            <a:ext cx="3068900" cy="294603"/>
            <a:chOff x="3068050" y="4278846"/>
            <a:chExt cx="3068900" cy="294603"/>
          </a:xfrm>
        </p:grpSpPr>
        <p:sp>
          <p:nvSpPr>
            <p:cNvPr id="129" name="Google Shape;129;p6"/>
            <p:cNvSpPr/>
            <p:nvPr/>
          </p:nvSpPr>
          <p:spPr>
            <a:xfrm>
              <a:off x="3068050" y="4355049"/>
              <a:ext cx="249600" cy="218400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 txBox="1"/>
            <p:nvPr/>
          </p:nvSpPr>
          <p:spPr>
            <a:xfrm>
              <a:off x="3317650" y="4278846"/>
              <a:ext cx="608700" cy="2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fr" sz="1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3926350" y="4355049"/>
              <a:ext cx="249600" cy="218400"/>
            </a:xfrm>
            <a:prstGeom prst="ellipse">
              <a:avLst/>
            </a:prstGeom>
            <a:solidFill>
              <a:srgbClr val="4A86E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6"/>
            <p:cNvSpPr txBox="1"/>
            <p:nvPr/>
          </p:nvSpPr>
          <p:spPr>
            <a:xfrm>
              <a:off x="4175950" y="4278846"/>
              <a:ext cx="847500" cy="2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fr" sz="1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Microbial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5039850" y="4355049"/>
              <a:ext cx="249600" cy="2184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6"/>
            <p:cNvSpPr txBox="1"/>
            <p:nvPr/>
          </p:nvSpPr>
          <p:spPr>
            <a:xfrm>
              <a:off x="5289450" y="4278846"/>
              <a:ext cx="847500" cy="2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fr" sz="1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ERCC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125450" y="260675"/>
            <a:ext cx="8811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QC metrics not affected by sample type</a:t>
            </a:r>
            <a:endParaRPr sz="3200">
              <a:latin typeface="+mj-lt"/>
            </a:endParaRPr>
          </a:p>
        </p:txBody>
      </p:sp>
      <p:sp>
        <p:nvSpPr>
          <p:cNvPr id="140" name="Google Shape;140;p7"/>
          <p:cNvSpPr txBox="1">
            <a:spLocks noGrp="1"/>
          </p:cNvSpPr>
          <p:nvPr>
            <p:ph type="body" idx="1"/>
          </p:nvPr>
        </p:nvSpPr>
        <p:spPr>
          <a:xfrm>
            <a:off x="271100" y="1161800"/>
            <a:ext cx="8520600" cy="3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fr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Passed QC (fastp)</a:t>
            </a:r>
            <a:endParaRPr sz="17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Should not inherently vary by tissue type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base quality (Q score)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Adapter dimer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Complexity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require knowledge of sample processing for interpretation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fr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reads</a:t>
            </a: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affected by sample type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Dependent on input DNA/cDNA and sequencing depth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8"/>
          <p:cNvPicPr preferRelativeResize="0"/>
          <p:nvPr/>
        </p:nvPicPr>
        <p:blipFill rotWithShape="1">
          <a:blip r:embed="rId3">
            <a:alphaModFix/>
          </a:blip>
          <a:srcRect t="6758"/>
          <a:stretch/>
        </p:blipFill>
        <p:spPr>
          <a:xfrm>
            <a:off x="949525" y="1502800"/>
            <a:ext cx="7244951" cy="33508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46" name="Google Shape;146;p8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  <a:ea typeface="Open Sans"/>
                <a:cs typeface="Open Sans"/>
                <a:sym typeface="Open Sans"/>
              </a:rPr>
              <a:t>Quality metrics on the Project page</a:t>
            </a:r>
            <a:endParaRPr sz="3200">
              <a:latin typeface="+mj-lt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2400">
                <a:latin typeface="+mj-lt"/>
                <a:ea typeface="Open Sans"/>
                <a:cs typeface="Open Sans"/>
                <a:sym typeface="Open Sans"/>
              </a:rPr>
              <a:t>(Sample Table)</a:t>
            </a:r>
            <a:endParaRPr sz="2400">
              <a:latin typeface="+mj-lt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Project-level QC</a:t>
            </a:r>
            <a:endParaRPr sz="3200">
              <a:latin typeface="+mj-lt"/>
            </a:endParaRPr>
          </a:p>
        </p:txBody>
      </p:sp>
      <p:pic>
        <p:nvPicPr>
          <p:cNvPr id="152" name="Google Shape;15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8716" y="1153400"/>
            <a:ext cx="7066568" cy="3820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9"/>
          <p:cNvCxnSpPr/>
          <p:nvPr/>
        </p:nvCxnSpPr>
        <p:spPr>
          <a:xfrm flipH="1">
            <a:off x="2487025" y="1423475"/>
            <a:ext cx="840900" cy="5046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4" name="Google Shape;154;p9"/>
          <p:cNvSpPr/>
          <p:nvPr/>
        </p:nvSpPr>
        <p:spPr>
          <a:xfrm>
            <a:off x="2309125" y="1927925"/>
            <a:ext cx="177900" cy="148500"/>
          </a:xfrm>
          <a:prstGeom prst="rect">
            <a:avLst/>
          </a:prstGeom>
          <a:noFill/>
          <a:ln w="19050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>
            <a:spLocks noGrp="1"/>
          </p:cNvSpPr>
          <p:nvPr>
            <p:ph type="title" idx="4294967295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Project level QC - reads lost </a:t>
            </a:r>
            <a:endParaRPr sz="3200">
              <a:latin typeface="+mj-lt"/>
            </a:endParaRPr>
          </a:p>
        </p:txBody>
      </p:sp>
      <p:pic>
        <p:nvPicPr>
          <p:cNvPr id="160" name="Google Shape;16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800" y="833475"/>
            <a:ext cx="8839204" cy="153650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1" name="Google Shape;161;p10"/>
          <p:cNvSpPr txBox="1"/>
          <p:nvPr/>
        </p:nvSpPr>
        <p:spPr>
          <a:xfrm>
            <a:off x="91300" y="507250"/>
            <a:ext cx="10653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Mosquito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>
            <a:spLocks noGrp="1"/>
          </p:cNvSpPr>
          <p:nvPr>
            <p:ph type="title" idx="4294967295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Project level QC - reads lost </a:t>
            </a:r>
            <a:endParaRPr sz="3200">
              <a:latin typeface="+mj-lt"/>
            </a:endParaRPr>
          </a:p>
        </p:txBody>
      </p:sp>
      <p:pic>
        <p:nvPicPr>
          <p:cNvPr id="167" name="Google Shape;16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800" y="833475"/>
            <a:ext cx="8839204" cy="153650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8" name="Google Shape;168;p11"/>
          <p:cNvPicPr preferRelativeResize="0"/>
          <p:nvPr/>
        </p:nvPicPr>
        <p:blipFill rotWithShape="1">
          <a:blip r:embed="rId4">
            <a:alphaModFix/>
          </a:blip>
          <a:srcRect l="1802" r="1296"/>
          <a:stretch/>
        </p:blipFill>
        <p:spPr>
          <a:xfrm>
            <a:off x="108800" y="2715100"/>
            <a:ext cx="8565149" cy="22444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9" name="Google Shape;169;p11"/>
          <p:cNvSpPr txBox="1"/>
          <p:nvPr/>
        </p:nvSpPr>
        <p:spPr>
          <a:xfrm>
            <a:off x="91300" y="507250"/>
            <a:ext cx="10653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Mosquito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91300" y="2408700"/>
            <a:ext cx="10653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CSF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>
            <a:spLocks noGrp="1"/>
          </p:cNvSpPr>
          <p:nvPr>
            <p:ph type="title" idx="4294967295"/>
          </p:nvPr>
        </p:nvSpPr>
        <p:spPr>
          <a:xfrm>
            <a:off x="311700" y="13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Reads Lost Interpretation</a:t>
            </a:r>
            <a:endParaRPr sz="3200">
              <a:latin typeface="+mj-lt"/>
            </a:endParaRPr>
          </a:p>
        </p:txBody>
      </p:sp>
      <p:graphicFrame>
        <p:nvGraphicFramePr>
          <p:cNvPr id="176" name="Google Shape;176;p12"/>
          <p:cNvGraphicFramePr/>
          <p:nvPr/>
        </p:nvGraphicFramePr>
        <p:xfrm>
          <a:off x="228600" y="900775"/>
          <a:ext cx="8686800" cy="3847910"/>
        </p:xfrm>
        <a:graphic>
          <a:graphicData uri="http://schemas.openxmlformats.org/drawingml/2006/table">
            <a:tbl>
              <a:tblPr>
                <a:noFill/>
                <a:tableStyleId>{E74C0977-7613-4EC5-AACC-2EAE8A857227}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b="1" u="none" strike="noStrike" cap="none"/>
                        <a:t>Pipeline Step</a:t>
                      </a:r>
                      <a:endParaRPr sz="1300" u="none" strike="noStrike" cap="none"/>
                    </a:p>
                  </a:txBody>
                  <a:tcPr marL="63500" marR="63500" marT="63500" marB="63500" anchor="b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b="1" u="none" strike="noStrike" cap="none"/>
                        <a:t>Function</a:t>
                      </a:r>
                      <a:endParaRPr sz="1300" u="none" strike="noStrike" cap="none"/>
                    </a:p>
                  </a:txBody>
                  <a:tcPr marL="63500" marR="63500" marT="63500" marB="63500" anchor="b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b="1" u="none" strike="noStrike" cap="none"/>
                        <a:t>If Many Reads Lost During this Step...</a:t>
                      </a:r>
                      <a:endParaRPr sz="1300" u="none" strike="noStrike" cap="none"/>
                    </a:p>
                  </a:txBody>
                  <a:tcPr marL="63500" marR="63500" marT="63500" marB="63500" anchor="b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fastp</a:t>
                      </a:r>
                      <a:endParaRPr sz="1300" u="none" strike="noStrike" cap="none"/>
                    </a:p>
                  </a:txBody>
                  <a:tcPr marL="63500" marR="63500" marT="63500" marB="63500" anchor="ctr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Filter length </a:t>
                      </a: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Filter low quality reads</a:t>
                      </a: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Filter low complexity reads </a:t>
                      </a:r>
                      <a:endParaRPr sz="1300" u="none" strike="noStrike" cap="none"/>
                    </a:p>
                  </a:txBody>
                  <a:tcPr marL="63500" marR="63500" marT="63500" marB="63500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Many short reads (possible adapter dimers, degradation, and/or over-fragmentation).</a:t>
                      </a: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Many reads of low-quality (low phred scores, GC content, over-clustering)</a:t>
                      </a: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Reads are relatively low-complexity (contain homopolymer nucleotide runs or simple sequence repeats)</a:t>
                      </a:r>
                      <a:endParaRPr sz="1300" u="none" strike="noStrike" cap="none"/>
                    </a:p>
                  </a:txBody>
                  <a:tcPr marL="63500" marR="63500" marT="63500" marB="63500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>
                          <a:solidFill>
                            <a:schemeClr val="dk1"/>
                          </a:solidFill>
                        </a:rPr>
                        <a:t>Bowtie2, </a:t>
                      </a:r>
                      <a:r>
                        <a:rPr lang="fr" sz="1300" u="none" strike="noStrike" cap="none"/>
                        <a:t>HISAT2 </a:t>
                      </a:r>
                      <a:endParaRPr sz="1300" u="none" strike="noStrike" cap="none"/>
                    </a:p>
                  </a:txBody>
                  <a:tcPr marL="63500" marR="63500" marT="63500" marB="63500" anchor="ctr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Filter host reads</a:t>
                      </a:r>
                      <a:endParaRPr sz="1300" u="none" strike="noStrike" cap="none"/>
                    </a:p>
                  </a:txBody>
                  <a:tcPr marL="63500" marR="63500" marT="63500" marB="63500" anchor="ctr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Large proportion of reads mapped to the host genome</a:t>
                      </a:r>
                      <a:endParaRPr sz="1300" u="none" strike="noStrike" cap="none"/>
                    </a:p>
                  </a:txBody>
                  <a:tcPr marL="63500" marR="63500" marT="63500" marB="63500" anchor="ctr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>
                          <a:solidFill>
                            <a:schemeClr val="dk1"/>
                          </a:solidFill>
                        </a:rPr>
                        <a:t>Bowtie2, HISAT2 </a:t>
                      </a:r>
                      <a:endParaRPr sz="1300" u="none" strike="noStrike" cap="none"/>
                    </a:p>
                  </a:txBody>
                  <a:tcPr marL="63500" marR="63500" marT="63500" marB="63500" anchor="ctr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Filter human reads</a:t>
                      </a: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(regardless of host)</a:t>
                      </a:r>
                      <a:endParaRPr sz="1300" u="none" strike="noStrike" cap="none"/>
                    </a:p>
                  </a:txBody>
                  <a:tcPr marL="63500" marR="63500" marT="63500" marB="63500" anchor="ctr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>
                          <a:solidFill>
                            <a:schemeClr val="dk1"/>
                          </a:solidFill>
                        </a:rPr>
                        <a:t>Large proportion of reads mapped to the human genome</a:t>
                      </a:r>
                      <a:endParaRPr sz="1300" u="none" strike="noStrike" cap="none"/>
                    </a:p>
                  </a:txBody>
                  <a:tcPr marL="63500" marR="63500" marT="63500" marB="63500" anchor="ctr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0788" y="1288050"/>
            <a:ext cx="6662424" cy="330485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3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Sample-level QC</a:t>
            </a:r>
            <a:endParaRPr sz="3200"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350" y="1297175"/>
            <a:ext cx="6662424" cy="330485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4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Sample-level QC</a:t>
            </a:r>
            <a:endParaRPr sz="3200">
              <a:latin typeface="+mj-lt"/>
            </a:endParaRPr>
          </a:p>
        </p:txBody>
      </p:sp>
      <p:cxnSp>
        <p:nvCxnSpPr>
          <p:cNvPr id="189" name="Google Shape;189;p14"/>
          <p:cNvCxnSpPr/>
          <p:nvPr/>
        </p:nvCxnSpPr>
        <p:spPr>
          <a:xfrm rot="10800000">
            <a:off x="5424750" y="3996000"/>
            <a:ext cx="3093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90" name="Google Shape;19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84774" y="1151125"/>
            <a:ext cx="1954426" cy="2137336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350" y="1297175"/>
            <a:ext cx="6662424" cy="330485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5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Sample-level QC</a:t>
            </a:r>
            <a:endParaRPr sz="3200">
              <a:latin typeface="+mj-lt"/>
            </a:endParaRPr>
          </a:p>
        </p:txBody>
      </p:sp>
      <p:pic>
        <p:nvPicPr>
          <p:cNvPr id="197" name="Google Shape;197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84775" y="3323823"/>
            <a:ext cx="2038051" cy="1653978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98" name="Google Shape;198;p15"/>
          <p:cNvCxnSpPr/>
          <p:nvPr/>
        </p:nvCxnSpPr>
        <p:spPr>
          <a:xfrm rot="10800000">
            <a:off x="5591900" y="4196600"/>
            <a:ext cx="3093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99" name="Google Shape;199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84774" y="1151125"/>
            <a:ext cx="1954426" cy="2137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174B3F0A-BD3B-F3EA-A058-8C28E72FF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cb252ed0b_0_10">
            <a:extLst>
              <a:ext uri="{FF2B5EF4-FFF2-40B4-BE49-F238E27FC236}">
                <a16:creationId xmlns:a16="http://schemas.microsoft.com/office/drawing/2014/main" id="{ACBF332C-3118-B901-386B-56E89DF40DA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35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What are ERCC’s?</a:t>
            </a:r>
            <a:endParaRPr sz="320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E0A8D9-4094-B3A2-8A3A-098E553D88D9}"/>
              </a:ext>
            </a:extLst>
          </p:cNvPr>
          <p:cNvSpPr txBox="1"/>
          <p:nvPr/>
        </p:nvSpPr>
        <p:spPr>
          <a:xfrm>
            <a:off x="422218" y="866692"/>
            <a:ext cx="82995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400" b="1" i="0" u="none" strike="noStrike">
                <a:solidFill>
                  <a:srgbClr val="000000"/>
                </a:solidFill>
                <a:effectLst/>
                <a:latin typeface="Arial"/>
              </a:rPr>
              <a:t>ERCCs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Arial"/>
              </a:rPr>
              <a:t> = External RNA Controls Consortium</a:t>
            </a:r>
            <a:br>
              <a:rPr lang="en-US" b="0">
                <a:effectLst/>
              </a:rPr>
            </a:br>
            <a:endParaRPr lang="en-US" sz="1400" b="0" i="0" u="none" strike="noStrike">
              <a:solidFill>
                <a:srgbClr val="000000"/>
              </a:solidFill>
              <a:effectLst/>
              <a:latin typeface="Arial"/>
            </a:endParaRPr>
          </a:p>
          <a:p>
            <a:pPr marL="285750" lvl="0" indent="-285750"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Arial"/>
              </a:rPr>
              <a:t>Pre-mixed, commercially available blend of 92 synthetic RNA transcripts</a:t>
            </a:r>
            <a:br>
              <a:rPr lang="en-US" b="0">
                <a:effectLst/>
              </a:rPr>
            </a:br>
            <a:endParaRPr lang="en-US" sz="1400" b="0" i="0" u="none" strike="noStrike">
              <a:solidFill>
                <a:srgbClr val="000000"/>
              </a:solidFill>
              <a:effectLst/>
              <a:latin typeface="Arial"/>
            </a:endParaRPr>
          </a:p>
          <a:p>
            <a:pPr marL="285750" lvl="0" indent="-285750"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Arial"/>
              </a:rPr>
              <a:t>Positive control for library preparation, spiked into all samples and water controls</a:t>
            </a:r>
            <a:br>
              <a:rPr lang="en-US" b="0">
                <a:effectLst/>
              </a:rPr>
            </a:br>
            <a:endParaRPr lang="en-US" sz="1400" b="0" i="0" u="none" strike="noStrike">
              <a:solidFill>
                <a:srgbClr val="000000"/>
              </a:solidFill>
              <a:effectLst/>
              <a:latin typeface="Arial"/>
            </a:endParaRPr>
          </a:p>
          <a:p>
            <a:pPr marL="285750" lvl="0" indent="-285750"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Arial"/>
              </a:rPr>
              <a:t>Can be used to estimate input RNA concentration</a:t>
            </a:r>
          </a:p>
          <a:p>
            <a:pPr marL="285750" lvl="3" indent="-285750" fontAlgn="base">
              <a:buFont typeface="Arial" panose="020B0604020202020204" pitchFamily="34" charset="0"/>
              <a:buChar char="•"/>
            </a:pPr>
            <a:endParaRPr lang="en-US" b="0" i="0" u="none" strike="noStrike">
              <a:solidFill>
                <a:srgbClr val="000000"/>
              </a:solidFill>
              <a:effectLst/>
              <a:latin typeface="Arial"/>
            </a:endParaRPr>
          </a:p>
          <a:p>
            <a:pPr marL="342900" lvl="2" indent="-342900" fontAlgn="base">
              <a:buFont typeface="Arial" panose="020B0604020202020204" pitchFamily="34" charset="0"/>
              <a:buChar char="•"/>
            </a:pPr>
            <a:endParaRPr lang="en-US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173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4518-0F8A-5D50-1EB1-0E66D6304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" sz="3200">
                <a:solidFill>
                  <a:schemeClr val="dk1"/>
                </a:solidFill>
                <a:latin typeface="+mj-lt"/>
              </a:rPr>
              <a:t>What are ERCC’s?</a:t>
            </a:r>
            <a:endParaRPr lang="en-US" sz="3200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707BF-85B8-1E78-851A-262A66379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2000" b="1">
                <a:latin typeface="+mn-lt"/>
              </a:rPr>
              <a:t>ERCC</a:t>
            </a:r>
            <a:r>
              <a:rPr lang="en-US" sz="2000">
                <a:latin typeface="+mn-lt"/>
              </a:rPr>
              <a:t> = External RNA Controls Consortium</a:t>
            </a:r>
            <a:br>
              <a:rPr lang="en-US" sz="1400">
                <a:latin typeface="+mn-lt"/>
              </a:rPr>
            </a:br>
            <a:endParaRPr lang="en-US" sz="1400">
              <a:latin typeface="+mn-lt"/>
            </a:endParaRPr>
          </a:p>
          <a:p>
            <a:pPr marL="285750" lvl="0" indent="-28575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>
                <a:latin typeface="+mn-lt"/>
              </a:rPr>
              <a:t>Pre-mixed, commercially available blend of 92 synthetic RNA transcripts</a:t>
            </a:r>
          </a:p>
          <a:p>
            <a:pPr marL="742950" lvl="1" indent="-28575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>
                <a:latin typeface="+mn-lt"/>
              </a:rPr>
              <a:t>Designed to be distinct from RNA found in samples</a:t>
            </a:r>
            <a:br>
              <a:rPr lang="en-US" sz="1600">
                <a:latin typeface="+mn-lt"/>
              </a:rPr>
            </a:br>
            <a:endParaRPr lang="en-US" sz="1600">
              <a:latin typeface="+mn-lt"/>
            </a:endParaRPr>
          </a:p>
          <a:p>
            <a:pPr marL="285750" lvl="0" indent="-28575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>
                <a:latin typeface="+mn-lt"/>
              </a:rPr>
              <a:t>Positive control for library preparation, spiked into all samples and water controls</a:t>
            </a:r>
            <a:br>
              <a:rPr lang="en-US" sz="1600">
                <a:latin typeface="+mn-lt"/>
              </a:rPr>
            </a:br>
            <a:endParaRPr lang="en-US" sz="1600">
              <a:latin typeface="+mn-lt"/>
            </a:endParaRPr>
          </a:p>
          <a:p>
            <a:pPr marL="285750" lvl="0" indent="-28575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>
                <a:latin typeface="+mn-lt"/>
              </a:rPr>
              <a:t>Can be used to estimate input RNA concentration</a:t>
            </a:r>
          </a:p>
          <a:p>
            <a:pPr marL="742950" lvl="1" indent="-28575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>
                <a:latin typeface="+mn-lt"/>
              </a:rPr>
              <a:t>If we know # of pg of ERCC input and we get out # of reads of ERCC, then we can calculate a (reads per pg of input) factor</a:t>
            </a:r>
            <a:endParaRPr lang="en-US">
              <a:latin typeface="Arial" panose="020B0604020202020204" pitchFamily="34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11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cb252ed0b_0_10"/>
          <p:cNvSpPr txBox="1">
            <a:spLocks noGrp="1"/>
          </p:cNvSpPr>
          <p:nvPr>
            <p:ph type="title" idx="4294967295"/>
          </p:nvPr>
        </p:nvSpPr>
        <p:spPr>
          <a:xfrm>
            <a:off x="311700" y="35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ERCC Plot Examples</a:t>
            </a:r>
            <a:endParaRPr sz="3200">
              <a:latin typeface="+mj-lt"/>
            </a:endParaRPr>
          </a:p>
        </p:txBody>
      </p:sp>
      <p:pic>
        <p:nvPicPr>
          <p:cNvPr id="205" name="Google Shape;205;g31cb252ed0b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91325"/>
            <a:ext cx="3353480" cy="2250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1cb252ed0b_0_18"/>
          <p:cNvSpPr txBox="1">
            <a:spLocks noGrp="1"/>
          </p:cNvSpPr>
          <p:nvPr>
            <p:ph type="title" idx="4294967295"/>
          </p:nvPr>
        </p:nvSpPr>
        <p:spPr>
          <a:xfrm>
            <a:off x="311700" y="35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ERCC Plot Examples</a:t>
            </a:r>
            <a:endParaRPr sz="3200">
              <a:latin typeface="+mj-lt"/>
            </a:endParaRPr>
          </a:p>
        </p:txBody>
      </p:sp>
      <p:pic>
        <p:nvPicPr>
          <p:cNvPr id="211" name="Google Shape;211;g31cb252ed0b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91325"/>
            <a:ext cx="3353480" cy="2250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1cb252ed0b_0_18"/>
          <p:cNvPicPr preferRelativeResize="0"/>
          <p:nvPr/>
        </p:nvPicPr>
        <p:blipFill rotWithShape="1">
          <a:blip r:embed="rId4">
            <a:alphaModFix/>
          </a:blip>
          <a:srcRect l="2381" b="6950"/>
          <a:stretch/>
        </p:blipFill>
        <p:spPr>
          <a:xfrm>
            <a:off x="5106125" y="684350"/>
            <a:ext cx="3135501" cy="223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1cb252ed0b_0_18"/>
          <p:cNvPicPr preferRelativeResize="0"/>
          <p:nvPr/>
        </p:nvPicPr>
        <p:blipFill rotWithShape="1">
          <a:blip r:embed="rId5">
            <a:alphaModFix/>
          </a:blip>
          <a:srcRect r="52617"/>
          <a:stretch/>
        </p:blipFill>
        <p:spPr>
          <a:xfrm>
            <a:off x="1689225" y="967550"/>
            <a:ext cx="501200" cy="47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cb252ed0b_0_26"/>
          <p:cNvSpPr txBox="1">
            <a:spLocks noGrp="1"/>
          </p:cNvSpPr>
          <p:nvPr>
            <p:ph type="title" idx="4294967295"/>
          </p:nvPr>
        </p:nvSpPr>
        <p:spPr>
          <a:xfrm>
            <a:off x="311700" y="35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ERCC Plot Examples</a:t>
            </a:r>
            <a:endParaRPr sz="3200">
              <a:latin typeface="+mj-lt"/>
            </a:endParaRPr>
          </a:p>
        </p:txBody>
      </p:sp>
      <p:pic>
        <p:nvPicPr>
          <p:cNvPr id="219" name="Google Shape;219;g31cb252ed0b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91325"/>
            <a:ext cx="3353480" cy="2250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31cb252ed0b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207" y="3030865"/>
            <a:ext cx="3415568" cy="2250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1cb252ed0b_0_26"/>
          <p:cNvPicPr preferRelativeResize="0"/>
          <p:nvPr/>
        </p:nvPicPr>
        <p:blipFill rotWithShape="1">
          <a:blip r:embed="rId5">
            <a:alphaModFix/>
          </a:blip>
          <a:srcRect l="2381" b="6950"/>
          <a:stretch/>
        </p:blipFill>
        <p:spPr>
          <a:xfrm>
            <a:off x="5106125" y="684350"/>
            <a:ext cx="3135501" cy="223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1cb252ed0b_0_26"/>
          <p:cNvPicPr preferRelativeResize="0"/>
          <p:nvPr/>
        </p:nvPicPr>
        <p:blipFill rotWithShape="1">
          <a:blip r:embed="rId6">
            <a:alphaModFix/>
          </a:blip>
          <a:srcRect l="52617"/>
          <a:stretch/>
        </p:blipFill>
        <p:spPr>
          <a:xfrm>
            <a:off x="6408425" y="958550"/>
            <a:ext cx="530900" cy="50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1cb252ed0b_0_26"/>
          <p:cNvPicPr preferRelativeResize="0"/>
          <p:nvPr/>
        </p:nvPicPr>
        <p:blipFill rotWithShape="1">
          <a:blip r:embed="rId6">
            <a:alphaModFix/>
          </a:blip>
          <a:srcRect r="52617"/>
          <a:stretch/>
        </p:blipFill>
        <p:spPr>
          <a:xfrm>
            <a:off x="1689225" y="972762"/>
            <a:ext cx="501200" cy="47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1cb252ed0b_0_34"/>
          <p:cNvSpPr txBox="1">
            <a:spLocks noGrp="1"/>
          </p:cNvSpPr>
          <p:nvPr>
            <p:ph type="title" idx="4294967295"/>
          </p:nvPr>
        </p:nvSpPr>
        <p:spPr>
          <a:xfrm>
            <a:off x="311700" y="35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ERCC Plot Examples</a:t>
            </a:r>
            <a:endParaRPr sz="3200">
              <a:latin typeface="+mj-lt"/>
            </a:endParaRPr>
          </a:p>
        </p:txBody>
      </p:sp>
      <p:pic>
        <p:nvPicPr>
          <p:cNvPr id="229" name="Google Shape;229;g31cb252ed0b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91325"/>
            <a:ext cx="3353480" cy="2250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1cb252ed0b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207" y="3030865"/>
            <a:ext cx="3415568" cy="2250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1cb252ed0b_0_34"/>
          <p:cNvPicPr preferRelativeResize="0"/>
          <p:nvPr/>
        </p:nvPicPr>
        <p:blipFill rotWithShape="1">
          <a:blip r:embed="rId5">
            <a:alphaModFix/>
          </a:blip>
          <a:srcRect l="2381" b="6950"/>
          <a:stretch/>
        </p:blipFill>
        <p:spPr>
          <a:xfrm>
            <a:off x="5106125" y="684350"/>
            <a:ext cx="3135501" cy="223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1cb252ed0b_0_34"/>
          <p:cNvPicPr preferRelativeResize="0"/>
          <p:nvPr/>
        </p:nvPicPr>
        <p:blipFill rotWithShape="1">
          <a:blip r:embed="rId6">
            <a:alphaModFix/>
          </a:blip>
          <a:srcRect b="6950"/>
          <a:stretch/>
        </p:blipFill>
        <p:spPr>
          <a:xfrm>
            <a:off x="5145700" y="2988200"/>
            <a:ext cx="3135500" cy="217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1cb252ed0b_0_34"/>
          <p:cNvPicPr preferRelativeResize="0"/>
          <p:nvPr/>
        </p:nvPicPr>
        <p:blipFill rotWithShape="1">
          <a:blip r:embed="rId7">
            <a:alphaModFix/>
          </a:blip>
          <a:srcRect l="52617"/>
          <a:stretch/>
        </p:blipFill>
        <p:spPr>
          <a:xfrm>
            <a:off x="6408425" y="958550"/>
            <a:ext cx="530900" cy="50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1cb252ed0b_0_34"/>
          <p:cNvPicPr preferRelativeResize="0"/>
          <p:nvPr/>
        </p:nvPicPr>
        <p:blipFill rotWithShape="1">
          <a:blip r:embed="rId7">
            <a:alphaModFix/>
          </a:blip>
          <a:srcRect r="52617"/>
          <a:stretch/>
        </p:blipFill>
        <p:spPr>
          <a:xfrm>
            <a:off x="1689225" y="972762"/>
            <a:ext cx="501200" cy="47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1cb252ed0b_0_34"/>
          <p:cNvPicPr preferRelativeResize="0"/>
          <p:nvPr/>
        </p:nvPicPr>
        <p:blipFill rotWithShape="1">
          <a:blip r:embed="rId7">
            <a:alphaModFix/>
          </a:blip>
          <a:srcRect r="52617"/>
          <a:stretch/>
        </p:blipFill>
        <p:spPr>
          <a:xfrm>
            <a:off x="1689225" y="3291362"/>
            <a:ext cx="501200" cy="47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1cb252ed0b_0_49"/>
          <p:cNvSpPr txBox="1">
            <a:spLocks noGrp="1"/>
          </p:cNvSpPr>
          <p:nvPr>
            <p:ph type="title" idx="4294967295"/>
          </p:nvPr>
        </p:nvSpPr>
        <p:spPr>
          <a:xfrm>
            <a:off x="311700" y="35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ERCC Plot Examples</a:t>
            </a:r>
            <a:endParaRPr sz="3200">
              <a:latin typeface="+mj-lt"/>
            </a:endParaRPr>
          </a:p>
        </p:txBody>
      </p:sp>
      <p:pic>
        <p:nvPicPr>
          <p:cNvPr id="241" name="Google Shape;241;g31cb252ed0b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91325"/>
            <a:ext cx="3353480" cy="2250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1cb252ed0b_0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207" y="3030865"/>
            <a:ext cx="3415568" cy="2250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1cb252ed0b_0_49"/>
          <p:cNvPicPr preferRelativeResize="0"/>
          <p:nvPr/>
        </p:nvPicPr>
        <p:blipFill rotWithShape="1">
          <a:blip r:embed="rId5">
            <a:alphaModFix/>
          </a:blip>
          <a:srcRect l="2381" b="6950"/>
          <a:stretch/>
        </p:blipFill>
        <p:spPr>
          <a:xfrm>
            <a:off x="5106125" y="684350"/>
            <a:ext cx="3135501" cy="223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1cb252ed0b_0_49"/>
          <p:cNvPicPr preferRelativeResize="0"/>
          <p:nvPr/>
        </p:nvPicPr>
        <p:blipFill rotWithShape="1">
          <a:blip r:embed="rId6">
            <a:alphaModFix/>
          </a:blip>
          <a:srcRect b="6950"/>
          <a:stretch/>
        </p:blipFill>
        <p:spPr>
          <a:xfrm>
            <a:off x="5145700" y="2988200"/>
            <a:ext cx="3135500" cy="217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31cb252ed0b_0_49"/>
          <p:cNvPicPr preferRelativeResize="0"/>
          <p:nvPr/>
        </p:nvPicPr>
        <p:blipFill rotWithShape="1">
          <a:blip r:embed="rId7">
            <a:alphaModFix/>
          </a:blip>
          <a:srcRect l="52617"/>
          <a:stretch/>
        </p:blipFill>
        <p:spPr>
          <a:xfrm>
            <a:off x="6408425" y="958550"/>
            <a:ext cx="530900" cy="50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1cb252ed0b_0_49"/>
          <p:cNvPicPr preferRelativeResize="0"/>
          <p:nvPr/>
        </p:nvPicPr>
        <p:blipFill rotWithShape="1">
          <a:blip r:embed="rId7">
            <a:alphaModFix/>
          </a:blip>
          <a:srcRect r="52617"/>
          <a:stretch/>
        </p:blipFill>
        <p:spPr>
          <a:xfrm>
            <a:off x="1689225" y="972762"/>
            <a:ext cx="501200" cy="47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1cb252ed0b_0_49"/>
          <p:cNvPicPr preferRelativeResize="0"/>
          <p:nvPr/>
        </p:nvPicPr>
        <p:blipFill rotWithShape="1">
          <a:blip r:embed="rId7">
            <a:alphaModFix/>
          </a:blip>
          <a:srcRect r="52617"/>
          <a:stretch/>
        </p:blipFill>
        <p:spPr>
          <a:xfrm>
            <a:off x="1689225" y="3291362"/>
            <a:ext cx="501200" cy="47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1cb252ed0b_0_49"/>
          <p:cNvPicPr preferRelativeResize="0"/>
          <p:nvPr/>
        </p:nvPicPr>
        <p:blipFill rotWithShape="1">
          <a:blip r:embed="rId7">
            <a:alphaModFix/>
          </a:blip>
          <a:srcRect l="52617"/>
          <a:stretch/>
        </p:blipFill>
        <p:spPr>
          <a:xfrm>
            <a:off x="6448000" y="3277137"/>
            <a:ext cx="530900" cy="50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"/>
          <p:cNvSpPr txBox="1"/>
          <p:nvPr/>
        </p:nvSpPr>
        <p:spPr>
          <a:xfrm>
            <a:off x="1453350" y="2279250"/>
            <a:ext cx="62373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fr" sz="2800" b="0" i="0" u="none" strike="noStrike" cap="none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rPr>
              <a:t>Let’s perform QC together!</a:t>
            </a:r>
            <a:endParaRPr sz="2800" b="0" i="0" u="none" strike="noStrike" cap="none">
              <a:solidFill>
                <a:srgbClr val="000000"/>
              </a:solidFill>
              <a:latin typeface="+mn-lt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899</Words>
  <Application>Microsoft Macintosh PowerPoint</Application>
  <PresentationFormat>On-screen Show (16:9)</PresentationFormat>
  <Paragraphs>154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Helvetica Neue</vt:lpstr>
      <vt:lpstr>Helvetica Neue Light</vt:lpstr>
      <vt:lpstr>Poppins</vt:lpstr>
      <vt:lpstr>Courier New</vt:lpstr>
      <vt:lpstr>White</vt:lpstr>
      <vt:lpstr>Disclaimer</vt:lpstr>
      <vt:lpstr>PowerPoint Presentation</vt:lpstr>
      <vt:lpstr>Outline </vt:lpstr>
      <vt:lpstr>Quality Control </vt:lpstr>
      <vt:lpstr>CZ ID QC Metrics </vt:lpstr>
      <vt:lpstr>Sample type matters when evaluating QC metrics </vt:lpstr>
      <vt:lpstr>QC metrics affected by sample type</vt:lpstr>
      <vt:lpstr>QC metrics not affected by sample type</vt:lpstr>
      <vt:lpstr>Quality metrics on the Project page (Sample Table)</vt:lpstr>
      <vt:lpstr>Project-level QC</vt:lpstr>
      <vt:lpstr>Project level QC - reads lost </vt:lpstr>
      <vt:lpstr>Project level QC - reads lost </vt:lpstr>
      <vt:lpstr>Reads Lost Interpretation</vt:lpstr>
      <vt:lpstr>Sample-level QC</vt:lpstr>
      <vt:lpstr>Sample-level QC</vt:lpstr>
      <vt:lpstr>Sample-level QC</vt:lpstr>
      <vt:lpstr>What are ERCC’s?</vt:lpstr>
      <vt:lpstr>What are ERCC’s?</vt:lpstr>
      <vt:lpstr>ERCC Plot Examples</vt:lpstr>
      <vt:lpstr>ERCC Plot Examples</vt:lpstr>
      <vt:lpstr>ERCC Plot Examples</vt:lpstr>
      <vt:lpstr>ERCC Plot Examples</vt:lpstr>
      <vt:lpstr>ERCC Plot Examples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4</cp:revision>
  <dcterms:modified xsi:type="dcterms:W3CDTF">2026-09-10T23:13:48Z</dcterms:modified>
</cp:coreProperties>
</file>