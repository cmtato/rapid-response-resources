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311" r:id="rId2"/>
    <p:sldId id="256" r:id="rId3"/>
    <p:sldId id="29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292" r:id="rId30"/>
    <p:sldId id="293" r:id="rId31"/>
    <p:sldId id="307" r:id="rId32"/>
  </p:sldIdLst>
  <p:sldSz cx="9144000" cy="5143500" type="screen16x9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oppins" pitchFamily="2" charset="77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pKF3scunV1NG40GxU4ldcxqvg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557"/>
  </p:normalViewPr>
  <p:slideViewPr>
    <p:cSldViewPr snapToGrid="0">
      <p:cViewPr varScale="1">
        <p:scale>
          <a:sx n="130" d="100"/>
          <a:sy n="130" d="100"/>
        </p:scale>
        <p:origin x="208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5B7DRydG2sRDtqkaHDDvFo9wBsMnblrx/edit?gid=1312992723#gid=1312992723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8f93afd49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58f93afd49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51128f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751128f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There are multiple opportunities for contamination during sample processing and sequencing.</a:t>
            </a:r>
            <a:endParaRPr sz="11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51128f10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2751128f10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51128f10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2751128f10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Mass normalized is more sensitive so use it when you can (ERCC)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bf0e261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0bf0e261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Purpose of the background model is to create a distribution of that taxa in the negative controls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Then see where the sample falls within that distribution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 to next slide for equation discussion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Transition: what happens when the sample has the same abundance as the background (negative controls)? See next slide for answer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Think through: What happens if it’s higher in your negative control? (See next slide for answer)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through: What happens if it’s higher in your sample? (See next slide for answer)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bdc31d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0bdc31d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Actual equations used in CZ ID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8f93afd49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g358f93afd49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8f93afd49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g358f93afd49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8f93afd49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358f93afd49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58f93afd49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g358f93afd49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58f93afd49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g358f93afd49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8f93afd49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58f93afd49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58f93afd49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g358f93afd49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https://docs.google.com/spreadsheets/d/15B7DRydG2sRDtqkaHDDvFo9wBsMnblrx/edit?gid=1312992723#gid=1312992723</a:t>
            </a:r>
            <a:endParaRPr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f6a7a6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6f6a7a6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8f93afd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g358f93afd4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58f93afd49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g358f93afd49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 1">
  <p:cSld name="Title and body 6 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8f93afd49_0_5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58f93afd49_0_5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58f93afd49_0_5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66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342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icrobiomejournal.biomedcentral.com/articles/10.1186/s40168-018-0605-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Background models</a:t>
            </a:r>
            <a:endParaRPr sz="1800" b="0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025AB6-B5EB-F379-62D4-DB5CD3FAA21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8f93afd49_0_2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Exploring Results</a:t>
            </a:r>
            <a:endParaRPr/>
          </a:p>
        </p:txBody>
      </p:sp>
      <p:sp>
        <p:nvSpPr>
          <p:cNvPr id="474" name="Google Shape;474;g358f93afd49_0_238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Sample Report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Metrics</a:t>
            </a:r>
            <a:endParaRPr sz="2400">
              <a:solidFill>
                <a:srgbClr val="9E9E9E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rgbClr val="9E9E9E"/>
                </a:solidFill>
              </a:rPr>
              <a:t>Analysis</a:t>
            </a:r>
            <a:endParaRPr sz="2400">
              <a:solidFill>
                <a:srgbClr val="9E9E9E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Accounting for background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g2751128f107_0_0"/>
          <p:cNvGrpSpPr/>
          <p:nvPr/>
        </p:nvGrpSpPr>
        <p:grpSpPr>
          <a:xfrm>
            <a:off x="574999" y="1158967"/>
            <a:ext cx="1414200" cy="1074000"/>
            <a:chOff x="329609" y="350875"/>
            <a:chExt cx="1414200" cy="1074000"/>
          </a:xfrm>
        </p:grpSpPr>
        <p:sp>
          <p:nvSpPr>
            <p:cNvPr id="66" name="Google Shape;66;g2751128f107_0_0"/>
            <p:cNvSpPr/>
            <p:nvPr/>
          </p:nvSpPr>
          <p:spPr>
            <a:xfrm>
              <a:off x="329609" y="350875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2751128f107_0_0"/>
            <p:cNvSpPr txBox="1"/>
            <p:nvPr/>
          </p:nvSpPr>
          <p:spPr>
            <a:xfrm>
              <a:off x="457306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Reagents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g2751128f107_0_0" descr="A two beakers with liquid in them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2408" y="455288"/>
              <a:ext cx="628532" cy="628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g2751128f107_0_0"/>
          <p:cNvGrpSpPr/>
          <p:nvPr/>
        </p:nvGrpSpPr>
        <p:grpSpPr>
          <a:xfrm>
            <a:off x="2115872" y="1084539"/>
            <a:ext cx="1765200" cy="1222800"/>
            <a:chOff x="2073346" y="202019"/>
            <a:chExt cx="1765200" cy="1222800"/>
          </a:xfrm>
        </p:grpSpPr>
        <p:sp>
          <p:nvSpPr>
            <p:cNvPr id="70" name="Google Shape;70;g2751128f107_0_0"/>
            <p:cNvSpPr/>
            <p:nvPr/>
          </p:nvSpPr>
          <p:spPr>
            <a:xfrm>
              <a:off x="2073346" y="202019"/>
              <a:ext cx="1765200" cy="12228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2751128f107_0_0"/>
            <p:cNvSpPr txBox="1"/>
            <p:nvPr/>
          </p:nvSpPr>
          <p:spPr>
            <a:xfrm>
              <a:off x="2350110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 setting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" name="Google Shape;72;g2751128f107_0_0" descr="Chemical laboratory classroom. School science lab background, cartoon By  SmartStartStocker | TheHungryJPEG"/>
            <p:cNvPicPr preferRelativeResize="0"/>
            <p:nvPr/>
          </p:nvPicPr>
          <p:blipFill rotWithShape="1">
            <a:blip r:embed="rId4">
              <a:alphaModFix/>
            </a:blip>
            <a:srcRect t="11573" b="11579"/>
            <a:stretch/>
          </p:blipFill>
          <p:spPr>
            <a:xfrm>
              <a:off x="2306115" y="455288"/>
              <a:ext cx="1330428" cy="6811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" name="Google Shape;73;g2751128f107_0_0"/>
          <p:cNvGrpSpPr/>
          <p:nvPr/>
        </p:nvGrpSpPr>
        <p:grpSpPr>
          <a:xfrm>
            <a:off x="574999" y="2574319"/>
            <a:ext cx="1414200" cy="1102058"/>
            <a:chOff x="161167" y="1936353"/>
            <a:chExt cx="1414200" cy="1102058"/>
          </a:xfrm>
        </p:grpSpPr>
        <p:sp>
          <p:nvSpPr>
            <p:cNvPr id="74" name="Google Shape;74;g2751128f107_0_0"/>
            <p:cNvSpPr/>
            <p:nvPr/>
          </p:nvSpPr>
          <p:spPr>
            <a:xfrm>
              <a:off x="161167" y="1964411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g2751128f107_0_0" descr="Cycle with people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1032" y="193635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g2751128f107_0_0"/>
            <p:cNvSpPr txBox="1"/>
            <p:nvPr/>
          </p:nvSpPr>
          <p:spPr>
            <a:xfrm>
              <a:off x="322442" y="2687146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Staff/subjects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g2751128f107_0_0"/>
          <p:cNvGrpSpPr/>
          <p:nvPr/>
        </p:nvGrpSpPr>
        <p:grpSpPr>
          <a:xfrm>
            <a:off x="2291418" y="2574319"/>
            <a:ext cx="1414200" cy="1074000"/>
            <a:chOff x="2306115" y="1936353"/>
            <a:chExt cx="1414200" cy="1074000"/>
          </a:xfrm>
        </p:grpSpPr>
        <p:pic>
          <p:nvPicPr>
            <p:cNvPr id="78" name="Google Shape;78;g2751128f107_0_0" descr="410+ Mouth Swab Stock Illustrations, Royalty-Free Vector Graphics &amp; Clip  Art - iStock | Mouth swab test, Mouth swab man, Child mouth swab"/>
            <p:cNvPicPr preferRelativeResize="0"/>
            <p:nvPr/>
          </p:nvPicPr>
          <p:blipFill rotWithShape="1">
            <a:blip r:embed="rId6">
              <a:alphaModFix/>
            </a:blip>
            <a:srcRect l="8481" t="8855" r="9173" b="8846"/>
            <a:stretch/>
          </p:blipFill>
          <p:spPr>
            <a:xfrm>
              <a:off x="2578031" y="1985678"/>
              <a:ext cx="870298" cy="724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g2751128f107_0_0"/>
            <p:cNvSpPr/>
            <p:nvPr/>
          </p:nvSpPr>
          <p:spPr>
            <a:xfrm>
              <a:off x="2306115" y="1936353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751128f107_0_0"/>
            <p:cNvSpPr txBox="1"/>
            <p:nvPr/>
          </p:nvSpPr>
          <p:spPr>
            <a:xfrm>
              <a:off x="2433812" y="2680354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Sampling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" name="Google Shape;81;g2751128f107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1973" y="2317919"/>
            <a:ext cx="1061302" cy="1061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g2751128f107_0_0"/>
          <p:cNvGrpSpPr/>
          <p:nvPr/>
        </p:nvGrpSpPr>
        <p:grpSpPr>
          <a:xfrm>
            <a:off x="5243064" y="2397764"/>
            <a:ext cx="1274562" cy="1199330"/>
            <a:chOff x="5572675" y="1674734"/>
            <a:chExt cx="1274562" cy="1199330"/>
          </a:xfrm>
        </p:grpSpPr>
        <p:pic>
          <p:nvPicPr>
            <p:cNvPr id="83" name="Google Shape;83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72675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71649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g2751128f107_0_0"/>
            <p:cNvSpPr/>
            <p:nvPr/>
          </p:nvSpPr>
          <p:spPr>
            <a:xfrm rot="-2823702">
              <a:off x="5809863" y="1866206"/>
              <a:ext cx="878583" cy="816385"/>
            </a:xfrm>
            <a:prstGeom prst="arc">
              <a:avLst>
                <a:gd name="adj1" fmla="val 16135149"/>
                <a:gd name="adj2" fmla="val 370295"/>
              </a:avLst>
            </a:prstGeom>
            <a:noFill/>
            <a:ln w="25400" cap="flat" cmpd="sng">
              <a:solidFill>
                <a:srgbClr val="3B7F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2751128f107_0_0"/>
          <p:cNvSpPr txBox="1"/>
          <p:nvPr/>
        </p:nvSpPr>
        <p:spPr>
          <a:xfrm>
            <a:off x="984454" y="3815699"/>
            <a:ext cx="21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751128f107_0_0"/>
          <p:cNvSpPr txBox="1"/>
          <p:nvPr/>
        </p:nvSpPr>
        <p:spPr>
          <a:xfrm>
            <a:off x="5599682" y="3531588"/>
            <a:ext cx="244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(cross-contamination)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g2751128f107_0_0"/>
          <p:cNvGrpSpPr/>
          <p:nvPr/>
        </p:nvGrpSpPr>
        <p:grpSpPr>
          <a:xfrm>
            <a:off x="5924346" y="1120146"/>
            <a:ext cx="1720679" cy="1825529"/>
            <a:chOff x="6253957" y="1492281"/>
            <a:chExt cx="1720679" cy="1825529"/>
          </a:xfrm>
        </p:grpSpPr>
        <p:grpSp>
          <p:nvGrpSpPr>
            <p:cNvPr id="89" name="Google Shape;89;g2751128f107_0_0"/>
            <p:cNvGrpSpPr/>
            <p:nvPr/>
          </p:nvGrpSpPr>
          <p:grpSpPr>
            <a:xfrm>
              <a:off x="6296458" y="1707623"/>
              <a:ext cx="1678178" cy="1610187"/>
              <a:chOff x="6069291" y="760601"/>
              <a:chExt cx="1678178" cy="1610187"/>
            </a:xfrm>
          </p:grpSpPr>
          <p:pic>
            <p:nvPicPr>
              <p:cNvPr id="90" name="Google Shape;90;g2751128f107_0_0" descr="96 well Microplate - Openclipart"/>
              <p:cNvPicPr preferRelativeResize="0"/>
              <p:nvPr/>
            </p:nvPicPr>
            <p:blipFill rotWithShape="1">
              <a:blip r:embed="rId9">
                <a:alphaModFix/>
              </a:blip>
              <a:srcRect r="9354"/>
              <a:stretch/>
            </p:blipFill>
            <p:spPr>
              <a:xfrm>
                <a:off x="6272045" y="760601"/>
                <a:ext cx="1090232" cy="780283"/>
              </a:xfrm>
              <a:prstGeom prst="rect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91" name="Google Shape;91;g2751128f107_0_0"/>
              <p:cNvSpPr/>
              <p:nvPr/>
            </p:nvSpPr>
            <p:spPr>
              <a:xfrm rot="-2823702">
                <a:off x="6228082" y="1189265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g2751128f107_0_0"/>
              <p:cNvSpPr/>
              <p:nvPr/>
            </p:nvSpPr>
            <p:spPr>
              <a:xfrm rot="-2823702">
                <a:off x="6380482" y="1352298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g2751128f107_0_0"/>
              <p:cNvSpPr/>
              <p:nvPr/>
            </p:nvSpPr>
            <p:spPr>
              <a:xfrm rot="-2823702">
                <a:off x="6710095" y="1362931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" name="Google Shape;94;g2751128f107_0_0"/>
            <p:cNvSpPr/>
            <p:nvPr/>
          </p:nvSpPr>
          <p:spPr>
            <a:xfrm>
              <a:off x="6253957" y="1492281"/>
              <a:ext cx="1594200" cy="1222800"/>
            </a:xfrm>
            <a:prstGeom prst="ellipse">
              <a:avLst/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g2751128f107_0_0"/>
          <p:cNvSpPr/>
          <p:nvPr/>
        </p:nvSpPr>
        <p:spPr>
          <a:xfrm>
            <a:off x="5099400" y="2356958"/>
            <a:ext cx="1594200" cy="12228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751128f107_0_0"/>
          <p:cNvSpPr/>
          <p:nvPr/>
        </p:nvSpPr>
        <p:spPr>
          <a:xfrm>
            <a:off x="6953260" y="2232093"/>
            <a:ext cx="1765200" cy="13080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751128f107_0_0"/>
          <p:cNvSpPr txBox="1"/>
          <p:nvPr/>
        </p:nvSpPr>
        <p:spPr>
          <a:xfrm>
            <a:off x="311700" y="659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will happen!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51128f107_0_36"/>
          <p:cNvSpPr txBox="1">
            <a:spLocks noGrp="1"/>
          </p:cNvSpPr>
          <p:nvPr>
            <p:ph type="title"/>
          </p:nvPr>
        </p:nvSpPr>
        <p:spPr>
          <a:xfrm>
            <a:off x="311700" y="35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c</a:t>
            </a:r>
            <a:r>
              <a:rPr lang="en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an lead to inaccurate data interpretation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2751128f107_0_36"/>
          <p:cNvSpPr txBox="1">
            <a:spLocks noGrp="1"/>
          </p:cNvSpPr>
          <p:nvPr>
            <p:ph type="body" idx="1"/>
          </p:nvPr>
        </p:nvSpPr>
        <p:spPr>
          <a:xfrm>
            <a:off x="428658" y="1089881"/>
            <a:ext cx="863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Falsely inflates within-sample diversity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Obscures differences between samples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Interferes with comparisons across studies</a:t>
            </a:r>
            <a:endParaRPr>
              <a:solidFill>
                <a:schemeClr val="dk1"/>
              </a:solidFill>
            </a:endParaRPr>
          </a:p>
          <a:p>
            <a:pPr marL="2857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51128f107_0_41"/>
          <p:cNvSpPr txBox="1">
            <a:spLocks noGrp="1"/>
          </p:cNvSpPr>
          <p:nvPr>
            <p:ph type="title"/>
          </p:nvPr>
        </p:nvSpPr>
        <p:spPr>
          <a:xfrm>
            <a:off x="155850" y="136681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</a:t>
            </a:r>
            <a:r>
              <a:rPr lang="en" sz="2400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disproportionately affects low-biomass samples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g2751128f107_0_41" descr="Fig.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36" y="1354204"/>
            <a:ext cx="6838677" cy="243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751128f107_0_41"/>
          <p:cNvSpPr txBox="1"/>
          <p:nvPr/>
        </p:nvSpPr>
        <p:spPr>
          <a:xfrm>
            <a:off x="6162539" y="4699042"/>
            <a:ext cx="17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et. al., 2018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Water controls can help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‘Blanks’ such as water controls can help identify both internal and external contaminants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Water controls should be processed the same way as the samples, using the the same reagents 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Have at least 2 water controls, but the more the better!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265150" y="235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model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265150" y="808275"/>
            <a:ext cx="8520600" cy="4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Used to calculate relative abundance of the taxa found in negative controls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Background model based on relative abundance metric:</a:t>
            </a:r>
            <a:endParaRPr dirty="0">
              <a:solidFill>
                <a:schemeClr val="dk1"/>
              </a:solidFill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</a:rPr>
              <a:t>Uses the bases per million (bpm) as the metric of relative abundance.</a:t>
            </a:r>
            <a:endParaRPr sz="18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137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Background model enables Z-score calculation</a:t>
            </a:r>
            <a:endParaRPr sz="3320"/>
          </a:p>
        </p:txBody>
      </p:sp>
      <p:sp>
        <p:nvSpPr>
          <p:cNvPr id="128" name="Google Shape;128;p5"/>
          <p:cNvSpPr txBox="1"/>
          <p:nvPr/>
        </p:nvSpPr>
        <p:spPr>
          <a:xfrm>
            <a:off x="311700" y="1076100"/>
            <a:ext cx="8569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bf0e2616b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distribution 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5740"/>
              <a:buFont typeface="Arial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overlaid with sample taxa abundance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" name="Google Shape;134;g30bf0e2616b_0_0"/>
          <p:cNvCxnSpPr/>
          <p:nvPr/>
        </p:nvCxnSpPr>
        <p:spPr>
          <a:xfrm>
            <a:off x="2556450" y="4314525"/>
            <a:ext cx="509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5" name="Google Shape;135;g30bf0e2616b_0_0"/>
          <p:cNvSpPr txBox="1"/>
          <p:nvPr/>
        </p:nvSpPr>
        <p:spPr>
          <a:xfrm>
            <a:off x="3079500" y="4114425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Abundance in potentially infectious sample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g30bf0e2616b_0_0"/>
          <p:cNvSpPr/>
          <p:nvPr/>
        </p:nvSpPr>
        <p:spPr>
          <a:xfrm>
            <a:off x="2529425" y="4551075"/>
            <a:ext cx="563461" cy="162959"/>
          </a:xfrm>
          <a:custGeom>
            <a:avLst/>
            <a:gdLst/>
            <a:ahLst/>
            <a:cxnLst/>
            <a:rect l="l" t="t" r="r" b="b"/>
            <a:pathLst>
              <a:path w="27901" h="8292" extrusionOk="0">
                <a:moveTo>
                  <a:pt x="633" y="7223"/>
                </a:moveTo>
                <a:cubicBezTo>
                  <a:pt x="-2363" y="6091"/>
                  <a:pt x="6626" y="1897"/>
                  <a:pt x="9422" y="832"/>
                </a:cubicBezTo>
                <a:cubicBezTo>
                  <a:pt x="12219" y="-233"/>
                  <a:pt x="14416" y="-300"/>
                  <a:pt x="17412" y="832"/>
                </a:cubicBezTo>
                <a:cubicBezTo>
                  <a:pt x="20408" y="1964"/>
                  <a:pt x="30196" y="6558"/>
                  <a:pt x="27399" y="7623"/>
                </a:cubicBezTo>
                <a:cubicBezTo>
                  <a:pt x="24603" y="8688"/>
                  <a:pt x="3629" y="8355"/>
                  <a:pt x="633" y="7223"/>
                </a:cubicBezTo>
                <a:close/>
              </a:path>
            </a:pathLst>
          </a:custGeom>
          <a:solidFill>
            <a:srgbClr val="5A96B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0bf0e2616b_0_0"/>
          <p:cNvSpPr txBox="1"/>
          <p:nvPr/>
        </p:nvSpPr>
        <p:spPr>
          <a:xfrm>
            <a:off x="3075800" y="4432450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Distribution of abundance in controls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g30bf0e2616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450" y="1372850"/>
            <a:ext cx="8137108" cy="25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Background model enables Z-score calculation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11700" y="1076100"/>
            <a:ext cx="8569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measured in terms of standard deviations from the mean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4064538" y="3594325"/>
            <a:ext cx="1014925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7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7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7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57" name="Google Shape;157;p7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81450" y="1910400"/>
            <a:ext cx="1935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𝛧-score linear scale: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8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8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8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69" name="Google Shape;169;p8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3772750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4240000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9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9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9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84" name="Google Shape;184;p9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258625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931725" y="27482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0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0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0"/>
          <p:cNvSpPr txBox="1"/>
          <p:nvPr/>
        </p:nvSpPr>
        <p:spPr>
          <a:xfrm>
            <a:off x="42586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203" name="Google Shape;203;p10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9317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31727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&gt;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-284175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8495200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11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11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11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-271900" y="24125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7906450" y="24125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11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226" name="Google Shape;226;p11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36150" y="25280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-284175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8495200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2"/>
          <p:cNvCxnSpPr/>
          <p:nvPr/>
        </p:nvCxnSpPr>
        <p:spPr>
          <a:xfrm>
            <a:off x="4472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12"/>
          <p:cNvCxnSpPr/>
          <p:nvPr/>
        </p:nvCxnSpPr>
        <p:spPr>
          <a:xfrm>
            <a:off x="874435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12"/>
          <p:cNvCxnSpPr/>
          <p:nvPr/>
        </p:nvCxnSpPr>
        <p:spPr>
          <a:xfrm>
            <a:off x="45898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12"/>
          <p:cNvSpPr txBox="1"/>
          <p:nvPr/>
        </p:nvSpPr>
        <p:spPr>
          <a:xfrm>
            <a:off x="4454538" y="18984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-271900" y="14981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7906450" y="14981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12"/>
          <p:cNvSpPr/>
          <p:nvPr/>
        </p:nvSpPr>
        <p:spPr>
          <a:xfrm rot="-5400000">
            <a:off x="2408300" y="7358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 rot="-5400000">
            <a:off x="6544450" y="7422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656150" y="30483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5003825" y="30483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2552600" y="10186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886650" y="954422"/>
            <a:ext cx="3109800" cy="52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bdc31dabb_0_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g30bdc31dabb_0_0"/>
          <p:cNvSpPr txBox="1"/>
          <p:nvPr/>
        </p:nvSpPr>
        <p:spPr>
          <a:xfrm>
            <a:off x="2552600" y="8662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g30bdc31dabb_0_0"/>
          <p:cNvSpPr/>
          <p:nvPr/>
        </p:nvSpPr>
        <p:spPr>
          <a:xfrm>
            <a:off x="2886638" y="808498"/>
            <a:ext cx="3109800" cy="528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0bdc31dabb_0_0"/>
          <p:cNvPicPr preferRelativeResize="0"/>
          <p:nvPr/>
        </p:nvPicPr>
        <p:blipFill rotWithShape="1">
          <a:blip r:embed="rId3">
            <a:alphaModFix/>
          </a:blip>
          <a:srcRect l="5745" t="8237" r="6665" b="8303"/>
          <a:stretch/>
        </p:blipFill>
        <p:spPr>
          <a:xfrm>
            <a:off x="1781300" y="1540050"/>
            <a:ext cx="5581401" cy="3555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g30bdc31dabb_0_0"/>
          <p:cNvCxnSpPr/>
          <p:nvPr/>
        </p:nvCxnSpPr>
        <p:spPr>
          <a:xfrm flipH="1">
            <a:off x="5518050" y="2207175"/>
            <a:ext cx="12000" cy="2352600"/>
          </a:xfrm>
          <a:prstGeom prst="straightConnector1">
            <a:avLst/>
          </a:prstGeom>
          <a:noFill/>
          <a:ln w="28575" cap="flat" cmpd="sng">
            <a:solidFill>
              <a:srgbClr val="A64D79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Calculating Z-score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717425" y="1509325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Z-score calculation for sample “S”: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3430" y="2130625"/>
            <a:ext cx="5826425" cy="88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Additional controls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Controls can also be used to create a background model to identify pathogens of interest (for example, cases vs controls)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controls can also be used to identify contaminants from sampling, but can be difficult to come by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 models can be applied to the sample report and the heatmap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make a background model!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536;g358f93afd49_0_290">
            <a:extLst>
              <a:ext uri="{FF2B5EF4-FFF2-40B4-BE49-F238E27FC236}">
                <a16:creationId xmlns:a16="http://schemas.microsoft.com/office/drawing/2014/main" id="{69A03674-47CA-3727-EA0D-05C13B576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3140786"/>
            <a:ext cx="8520600" cy="17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Option 1 (outlined in worksheet): simple, subtract average signal in water controls from signal found in sample</a:t>
            </a: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dirty="0">
                <a:solidFill>
                  <a:schemeClr val="dk1"/>
                </a:solidFill>
              </a:rPr>
              <a:t>Option 2 (shown in this slide deck): calculate a Z score for each taxa within each sample, using the equation outlined above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58f93afd49_0_290"/>
          <p:cNvSpPr txBox="1">
            <a:spLocks noGrp="1"/>
          </p:cNvSpPr>
          <p:nvPr>
            <p:ph type="title"/>
          </p:nvPr>
        </p:nvSpPr>
        <p:spPr>
          <a:xfrm>
            <a:off x="311700" y="15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Go to reports and look at the water controls</a:t>
            </a:r>
            <a:endParaRPr/>
          </a:p>
        </p:txBody>
      </p:sp>
      <p:sp>
        <p:nvSpPr>
          <p:cNvPr id="536" name="Google Shape;536;g358f93afd49_0_2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Are your candidate taxa present in the water controls?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If so, at what level?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How does this compare to the level seen in your sample?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Subtract the background / water control signal from the sample signal for each taxa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	Interpret: real signal should be higher in samples than in water controls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cxnSp>
        <p:nvCxnSpPr>
          <p:cNvPr id="537" name="Google Shape;537;g358f93afd49_0_290"/>
          <p:cNvCxnSpPr/>
          <p:nvPr/>
        </p:nvCxnSpPr>
        <p:spPr>
          <a:xfrm rot="10800000" flipH="1">
            <a:off x="205775" y="2802900"/>
            <a:ext cx="548700" cy="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38" name="Google Shape;538;g358f93afd49_0_290"/>
          <p:cNvSpPr/>
          <p:nvPr/>
        </p:nvSpPr>
        <p:spPr>
          <a:xfrm>
            <a:off x="188675" y="3457225"/>
            <a:ext cx="582900" cy="5727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58f93afd49_0_5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Example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58f93afd49_0_517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pic>
        <p:nvPicPr>
          <p:cNvPr id="549" name="Google Shape;549;g358f93afd49_0_5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363" y="982600"/>
            <a:ext cx="8761277" cy="27550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58f93afd49_0_517"/>
          <p:cNvSpPr txBox="1"/>
          <p:nvPr/>
        </p:nvSpPr>
        <p:spPr>
          <a:xfrm>
            <a:off x="1277300" y="857250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Suspected sample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g358f93afd49_0_5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968700"/>
            <a:ext cx="8839204" cy="233928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58f93afd49_0_523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sp>
        <p:nvSpPr>
          <p:cNvPr id="557" name="Google Shape;557;g358f93afd49_0_523"/>
          <p:cNvSpPr txBox="1"/>
          <p:nvPr/>
        </p:nvSpPr>
        <p:spPr>
          <a:xfrm>
            <a:off x="1505900" y="857250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Water control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58f93afd49_0_529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serum sample from VHF-suspect samples</a:t>
            </a:r>
            <a:endParaRPr/>
          </a:p>
        </p:txBody>
      </p:sp>
      <p:sp>
        <p:nvSpPr>
          <p:cNvPr id="563" name="Google Shape;563;g358f93afd49_0_529"/>
          <p:cNvSpPr txBox="1"/>
          <p:nvPr/>
        </p:nvSpPr>
        <p:spPr>
          <a:xfrm>
            <a:off x="4514850" y="962975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Water control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g358f93afd49_0_529"/>
          <p:cNvPicPr preferRelativeResize="0"/>
          <p:nvPr/>
        </p:nvPicPr>
        <p:blipFill rotWithShape="1">
          <a:blip r:embed="rId3">
            <a:alphaModFix/>
          </a:blip>
          <a:srcRect l="49345" t="47720" r="32616" b="22094"/>
          <a:stretch/>
        </p:blipFill>
        <p:spPr>
          <a:xfrm>
            <a:off x="858649" y="1518975"/>
            <a:ext cx="3016125" cy="158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58f93afd49_0_529"/>
          <p:cNvPicPr preferRelativeResize="0"/>
          <p:nvPr/>
        </p:nvPicPr>
        <p:blipFill rotWithShape="1">
          <a:blip r:embed="rId4">
            <a:alphaModFix/>
          </a:blip>
          <a:srcRect l="49353" t="54967" r="32767"/>
          <a:stretch/>
        </p:blipFill>
        <p:spPr>
          <a:xfrm>
            <a:off x="4514850" y="1424675"/>
            <a:ext cx="2908001" cy="19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58f93afd49_0_529"/>
          <p:cNvSpPr txBox="1"/>
          <p:nvPr/>
        </p:nvSpPr>
        <p:spPr>
          <a:xfrm>
            <a:off x="1045850" y="962975"/>
            <a:ext cx="216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Suspected sample</a:t>
            </a:r>
            <a:endParaRPr sz="1800" b="0" i="0" u="none" strike="noStrike" cap="non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58f93afd49_0_537"/>
          <p:cNvSpPr txBox="1">
            <a:spLocks noGrp="1"/>
          </p:cNvSpPr>
          <p:nvPr>
            <p:ph type="title"/>
          </p:nvPr>
        </p:nvSpPr>
        <p:spPr>
          <a:xfrm>
            <a:off x="311700" y="239275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Serum library has high signal from barcode bleeding</a:t>
            </a:r>
            <a:endParaRPr/>
          </a:p>
        </p:txBody>
      </p:sp>
      <p:sp>
        <p:nvSpPr>
          <p:cNvPr id="572" name="Google Shape;572;g358f93afd49_0_537"/>
          <p:cNvSpPr txBox="1">
            <a:spLocks noGrp="1"/>
          </p:cNvSpPr>
          <p:nvPr>
            <p:ph type="body" idx="1"/>
          </p:nvPr>
        </p:nvSpPr>
        <p:spPr>
          <a:xfrm>
            <a:off x="2067125" y="3617600"/>
            <a:ext cx="5095500" cy="7371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7"/>
              <a:buNone/>
            </a:pPr>
            <a:r>
              <a:rPr lang="en">
                <a:solidFill>
                  <a:srgbClr val="CC0000"/>
                </a:solidFill>
              </a:rPr>
              <a:t>Subtracting background signal was necessary to help with interpretation and reduce false positives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73" name="Google Shape;573;g358f93afd49_0_5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309675"/>
            <a:ext cx="8839204" cy="91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58f93afd49_0_5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275" y="2571750"/>
            <a:ext cx="8839204" cy="93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58f93afd49_0_544"/>
          <p:cNvSpPr txBox="1">
            <a:spLocks noGrp="1"/>
          </p:cNvSpPr>
          <p:nvPr>
            <p:ph type="title"/>
          </p:nvPr>
        </p:nvSpPr>
        <p:spPr>
          <a:xfrm>
            <a:off x="311700" y="201900"/>
            <a:ext cx="85206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report - background subtraction necessary for accurate calls</a:t>
            </a:r>
            <a:endParaRPr/>
          </a:p>
        </p:txBody>
      </p:sp>
      <p:sp>
        <p:nvSpPr>
          <p:cNvPr id="580" name="Google Shape;580;g358f93afd49_0_544"/>
          <p:cNvSpPr txBox="1">
            <a:spLocks noGrp="1"/>
          </p:cNvSpPr>
          <p:nvPr>
            <p:ph type="body" idx="1"/>
          </p:nvPr>
        </p:nvSpPr>
        <p:spPr>
          <a:xfrm>
            <a:off x="1775563" y="3866200"/>
            <a:ext cx="5592900" cy="7371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rgbClr val="CC0000"/>
                </a:solidFill>
              </a:rPr>
              <a:t>Subtracting background signal was necessary for some samples to help with interpretation and reduce false positives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81" name="Google Shape;581;g358f93afd49_0_5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238" y="1436975"/>
            <a:ext cx="7217526" cy="226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58f93afd49_0_544"/>
          <p:cNvSpPr/>
          <p:nvPr/>
        </p:nvSpPr>
        <p:spPr>
          <a:xfrm>
            <a:off x="5044975" y="1630925"/>
            <a:ext cx="1620000" cy="696000"/>
          </a:xfrm>
          <a:prstGeom prst="wedgeRoundRectCallout">
            <a:avLst>
              <a:gd name="adj1" fmla="val -50671"/>
              <a:gd name="adj2" fmla="val 8278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DENV is background / barcode hopping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f6a7a61bc_0_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57" name="Google Shape;457;g36f6a7a61bc_0_0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Record NT </a:t>
            </a: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relevant metrics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BLASTn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 contigs from each candidate taxa and record what you find (specific, non-specific, </a:t>
            </a:r>
            <a:r>
              <a:rPr lang="en" sz="1300" dirty="0" err="1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" sz="1300" dirty="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metrics in each water control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8f93afd49_0_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63" name="Google Shape;463;g358f93afd49_0_15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Record NT bPM, NT r, and any other relevant metrics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BLASTn contigs from each candidate taxa and record what you find (specific, non-specific, etc)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B7B7B7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bPM, NT r, and any other metrics in each water control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58f93afd49_0_297"/>
          <p:cNvSpPr/>
          <p:nvPr/>
        </p:nvSpPr>
        <p:spPr>
          <a:xfrm>
            <a:off x="2033700" y="1173900"/>
            <a:ext cx="50766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Identification of background signal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g358f93afd49_0_297"/>
          <p:cNvSpPr txBox="1"/>
          <p:nvPr/>
        </p:nvSpPr>
        <p:spPr>
          <a:xfrm>
            <a:off x="3929100" y="4149100"/>
            <a:ext cx="128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BC53D-DE04-C32E-D2E0-B27593BC9208}"/>
              </a:ext>
            </a:extLst>
          </p:cNvPr>
          <p:cNvSpPr txBox="1"/>
          <p:nvPr/>
        </p:nvSpPr>
        <p:spPr>
          <a:xfrm>
            <a:off x="1530141" y="4397071"/>
            <a:ext cx="6282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Worksheet: </a:t>
            </a:r>
            <a:r>
              <a:rPr lang="en-US" dirty="0"/>
              <a:t>CZ ID Training Reference Tables &amp; </a:t>
            </a:r>
            <a:r>
              <a:rPr lang="en-US" dirty="0" err="1"/>
              <a:t>Worksheets_ONT</a:t>
            </a:r>
            <a:r>
              <a:rPr lang="en-US" dirty="0"/>
              <a:t>, </a:t>
            </a:r>
            <a:r>
              <a:rPr lang="en-US" dirty="0" err="1"/>
              <a:t>pg</a:t>
            </a:r>
            <a:r>
              <a:rPr lang="en-US" dirty="0"/>
              <a:t> 17-20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1487</Words>
  <Application>Microsoft Macintosh PowerPoint</Application>
  <PresentationFormat>On-screen Show (16:9)</PresentationFormat>
  <Paragraphs>191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Helvetica Neue</vt:lpstr>
      <vt:lpstr>Open Sans</vt:lpstr>
      <vt:lpstr>Helvetica Neue Light</vt:lpstr>
      <vt:lpstr>Poppins</vt:lpstr>
      <vt:lpstr>Lato</vt:lpstr>
      <vt:lpstr>Simple Light</vt:lpstr>
      <vt:lpstr>Disclaimer</vt:lpstr>
      <vt:lpstr>PowerPoint Presentation</vt:lpstr>
      <vt:lpstr>Exploring Results</vt:lpstr>
      <vt:lpstr>PowerPoint Presentation</vt:lpstr>
      <vt:lpstr>Contamination can lead to inaccurate data interpretation</vt:lpstr>
      <vt:lpstr>Contamination disproportionately affects low-biomass samples</vt:lpstr>
      <vt:lpstr>Water controls can help</vt:lpstr>
      <vt:lpstr>Background model</vt:lpstr>
      <vt:lpstr>Background model enables Z-score calculation</vt:lpstr>
      <vt:lpstr>Background distribution  overlaid with sample taxa abundance</vt:lpstr>
      <vt:lpstr>Background model enables Z-score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Z-score filter after applying background model</vt:lpstr>
      <vt:lpstr>Use Z-score filter after applying background model</vt:lpstr>
      <vt:lpstr>Calculating Z-score</vt:lpstr>
      <vt:lpstr>Additional controls</vt:lpstr>
      <vt:lpstr>Let’s make a background model!</vt:lpstr>
      <vt:lpstr>Go to reports and look at the water controls</vt:lpstr>
      <vt:lpstr>Example</vt:lpstr>
      <vt:lpstr>Example: serum sample from VHF-suspect samples</vt:lpstr>
      <vt:lpstr>Example: serum sample from VHF-suspect samples</vt:lpstr>
      <vt:lpstr>Example: serum sample from VHF-suspect samples</vt:lpstr>
      <vt:lpstr>Serum library has high signal from barcode bleeding</vt:lpstr>
      <vt:lpstr>Example report - background subtraction necessary for accurate calls</vt:lpstr>
      <vt:lpstr>Analysis Workflow - ONT </vt:lpstr>
      <vt:lpstr>Analysis Workflow - ONT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7</cp:revision>
  <dcterms:modified xsi:type="dcterms:W3CDTF">2026-09-10T23:15:44Z</dcterms:modified>
</cp:coreProperties>
</file>