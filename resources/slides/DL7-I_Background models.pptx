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31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6858000" cy="9144000"/>
  <p:embeddedFontLs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Poppins" pitchFamily="2" charset="77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gkgsI2ntokZFrqUxDvsXRbRu+c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 snapToGrid="0">
      <p:cViewPr varScale="1">
        <p:scale>
          <a:sx n="145" d="100"/>
          <a:sy n="145" d="100"/>
        </p:scale>
        <p:origin x="77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751128f1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2751128f1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00">
                <a:solidFill>
                  <a:schemeClr val="dk1"/>
                </a:solidFill>
              </a:rPr>
              <a:t>There are multiple opportunities for contamination during sample processing and sequencing.</a:t>
            </a:r>
            <a:endParaRPr sz="110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751128f10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2751128f10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51128f10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g2751128f10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Mass normalized is more sensitive so use it when you can (ERCC)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bf0e261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0bf0e261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Purpose of the background model is to create a distribution of that taxa in the negative controls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Then see where the sample falls within that distribution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Go to next slide for equation discussion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Transition: what happens when the sample has the same abundance as the background (negative controls)? See next slide for answer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Think through: What happens if it’s higher in your negative control? (See next slide for answer)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Think through: What happens if it’s higher in your sample? (See next slide for answer)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0bdc31da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30bdc31da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Actual equations used in CZ ID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2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icrobiomejournal.biomedcentral.com/articles/10.1186/s40168-018-0605-2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"/>
            <a:headEnd type="none" w="sm" len="sm"/>
            <a:tailEnd type="none" w="sm" len="sm"/>
          </a:ln>
        </p:spPr>
      </p:cxnSp>
      <p:sp>
        <p:nvSpPr>
          <p:cNvPr id="57" name="Google Shape;57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Background models</a:t>
            </a: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748473-E64A-7D1E-3FFA-085DE57F3C07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g2751128f107_0_0"/>
          <p:cNvGrpSpPr/>
          <p:nvPr/>
        </p:nvGrpSpPr>
        <p:grpSpPr>
          <a:xfrm>
            <a:off x="574999" y="1158967"/>
            <a:ext cx="1414200" cy="1074000"/>
            <a:chOff x="329609" y="350875"/>
            <a:chExt cx="1414200" cy="1074000"/>
          </a:xfrm>
        </p:grpSpPr>
        <p:sp>
          <p:nvSpPr>
            <p:cNvPr id="64" name="Google Shape;64;g2751128f107_0_0"/>
            <p:cNvSpPr/>
            <p:nvPr/>
          </p:nvSpPr>
          <p:spPr>
            <a:xfrm>
              <a:off x="329609" y="350875"/>
              <a:ext cx="1414200" cy="10740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g2751128f107_0_0"/>
            <p:cNvSpPr txBox="1"/>
            <p:nvPr/>
          </p:nvSpPr>
          <p:spPr>
            <a:xfrm>
              <a:off x="457306" y="1083821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Reagents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6" name="Google Shape;66;g2751128f107_0_0" descr="A two beakers with liquid in them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2408" y="455288"/>
              <a:ext cx="628532" cy="628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" name="Google Shape;67;g2751128f107_0_0"/>
          <p:cNvGrpSpPr/>
          <p:nvPr/>
        </p:nvGrpSpPr>
        <p:grpSpPr>
          <a:xfrm>
            <a:off x="2115872" y="1084539"/>
            <a:ext cx="1765200" cy="1222800"/>
            <a:chOff x="2073346" y="202019"/>
            <a:chExt cx="1765200" cy="1222800"/>
          </a:xfrm>
        </p:grpSpPr>
        <p:sp>
          <p:nvSpPr>
            <p:cNvPr id="68" name="Google Shape;68;g2751128f107_0_0"/>
            <p:cNvSpPr/>
            <p:nvPr/>
          </p:nvSpPr>
          <p:spPr>
            <a:xfrm>
              <a:off x="2073346" y="202019"/>
              <a:ext cx="1765200" cy="12228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2751128f107_0_0"/>
            <p:cNvSpPr txBox="1"/>
            <p:nvPr/>
          </p:nvSpPr>
          <p:spPr>
            <a:xfrm>
              <a:off x="2350110" y="1083821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Lab setting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" name="Google Shape;70;g2751128f107_0_0" descr="Chemical laboratory classroom. School science lab background, cartoon By  SmartStartStocker | TheHungryJPEG"/>
            <p:cNvPicPr preferRelativeResize="0"/>
            <p:nvPr/>
          </p:nvPicPr>
          <p:blipFill rotWithShape="1">
            <a:blip r:embed="rId4">
              <a:alphaModFix/>
            </a:blip>
            <a:srcRect t="11573" b="11580"/>
            <a:stretch/>
          </p:blipFill>
          <p:spPr>
            <a:xfrm>
              <a:off x="2306115" y="455288"/>
              <a:ext cx="1330428" cy="6811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" name="Google Shape;71;g2751128f107_0_0"/>
          <p:cNvGrpSpPr/>
          <p:nvPr/>
        </p:nvGrpSpPr>
        <p:grpSpPr>
          <a:xfrm>
            <a:off x="574999" y="2574319"/>
            <a:ext cx="1414200" cy="1102058"/>
            <a:chOff x="161167" y="1936353"/>
            <a:chExt cx="1414200" cy="1102058"/>
          </a:xfrm>
        </p:grpSpPr>
        <p:sp>
          <p:nvSpPr>
            <p:cNvPr id="72" name="Google Shape;72;g2751128f107_0_0"/>
            <p:cNvSpPr/>
            <p:nvPr/>
          </p:nvSpPr>
          <p:spPr>
            <a:xfrm>
              <a:off x="161167" y="1964411"/>
              <a:ext cx="1414200" cy="10740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3" name="Google Shape;73;g2751128f107_0_0" descr="Cycle with people with solid fill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1032" y="193635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g2751128f107_0_0"/>
            <p:cNvSpPr txBox="1"/>
            <p:nvPr/>
          </p:nvSpPr>
          <p:spPr>
            <a:xfrm>
              <a:off x="322442" y="2687146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Staff/subjects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g2751128f107_0_0"/>
          <p:cNvGrpSpPr/>
          <p:nvPr/>
        </p:nvGrpSpPr>
        <p:grpSpPr>
          <a:xfrm>
            <a:off x="2291418" y="2574319"/>
            <a:ext cx="1414200" cy="1074000"/>
            <a:chOff x="2306115" y="1936353"/>
            <a:chExt cx="1414200" cy="1074000"/>
          </a:xfrm>
        </p:grpSpPr>
        <p:pic>
          <p:nvPicPr>
            <p:cNvPr id="76" name="Google Shape;76;g2751128f107_0_0" descr="410+ Mouth Swab Stock Illustrations, Royalty-Free Vector Graphics &amp; Clip  Art - iStock | Mouth swab test, Mouth swab man, Child mouth swab"/>
            <p:cNvPicPr preferRelativeResize="0"/>
            <p:nvPr/>
          </p:nvPicPr>
          <p:blipFill rotWithShape="1">
            <a:blip r:embed="rId6">
              <a:alphaModFix/>
            </a:blip>
            <a:srcRect l="8481" t="8855" r="9173" b="8847"/>
            <a:stretch/>
          </p:blipFill>
          <p:spPr>
            <a:xfrm>
              <a:off x="2578031" y="1985678"/>
              <a:ext cx="870298" cy="7248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g2751128f107_0_0"/>
            <p:cNvSpPr/>
            <p:nvPr/>
          </p:nvSpPr>
          <p:spPr>
            <a:xfrm>
              <a:off x="2306115" y="1936353"/>
              <a:ext cx="1414200" cy="1074000"/>
            </a:xfrm>
            <a:prstGeom prst="ellipse">
              <a:avLst/>
            </a:prstGeom>
            <a:noFill/>
            <a:ln w="25400" cap="flat" cmpd="sng">
              <a:solidFill>
                <a:srgbClr val="1B38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2751128f107_0_0"/>
            <p:cNvSpPr txBox="1"/>
            <p:nvPr/>
          </p:nvSpPr>
          <p:spPr>
            <a:xfrm>
              <a:off x="2433812" y="2680354"/>
              <a:ext cx="1158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Sampling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9" name="Google Shape;79;g2751128f107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1973" y="2317919"/>
            <a:ext cx="1061302" cy="10613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g2751128f107_0_0"/>
          <p:cNvGrpSpPr/>
          <p:nvPr/>
        </p:nvGrpSpPr>
        <p:grpSpPr>
          <a:xfrm>
            <a:off x="5243064" y="2397764"/>
            <a:ext cx="1274562" cy="1199330"/>
            <a:chOff x="5572675" y="1674734"/>
            <a:chExt cx="1274562" cy="1199330"/>
          </a:xfrm>
        </p:grpSpPr>
        <p:pic>
          <p:nvPicPr>
            <p:cNvPr id="81" name="Google Shape;81;g2751128f107_0_0" descr="A close-up of a test tub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572675" y="1923956"/>
              <a:ext cx="519783" cy="7351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g2751128f107_0_0" descr="A close-up of a test tub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171649" y="1923956"/>
              <a:ext cx="519783" cy="7351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g2751128f107_0_0"/>
            <p:cNvSpPr/>
            <p:nvPr/>
          </p:nvSpPr>
          <p:spPr>
            <a:xfrm rot="-2823702">
              <a:off x="5809863" y="1866206"/>
              <a:ext cx="878583" cy="816385"/>
            </a:xfrm>
            <a:prstGeom prst="arc">
              <a:avLst>
                <a:gd name="adj1" fmla="val 16135149"/>
                <a:gd name="adj2" fmla="val 370295"/>
              </a:avLst>
            </a:prstGeom>
            <a:noFill/>
            <a:ln w="25400" cap="flat" cmpd="sng">
              <a:solidFill>
                <a:srgbClr val="3B7FF2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g2751128f107_0_0"/>
          <p:cNvSpPr txBox="1"/>
          <p:nvPr/>
        </p:nvSpPr>
        <p:spPr>
          <a:xfrm>
            <a:off x="984454" y="3815699"/>
            <a:ext cx="2130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Contamination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2751128f107_0_0"/>
          <p:cNvSpPr txBox="1"/>
          <p:nvPr/>
        </p:nvSpPr>
        <p:spPr>
          <a:xfrm>
            <a:off x="5599682" y="3531588"/>
            <a:ext cx="2440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Contamination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(cross-contamination)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g2751128f107_0_0"/>
          <p:cNvGrpSpPr/>
          <p:nvPr/>
        </p:nvGrpSpPr>
        <p:grpSpPr>
          <a:xfrm>
            <a:off x="5924346" y="1120146"/>
            <a:ext cx="1720679" cy="1825529"/>
            <a:chOff x="6253957" y="1492281"/>
            <a:chExt cx="1720679" cy="1825529"/>
          </a:xfrm>
        </p:grpSpPr>
        <p:grpSp>
          <p:nvGrpSpPr>
            <p:cNvPr id="87" name="Google Shape;87;g2751128f107_0_0"/>
            <p:cNvGrpSpPr/>
            <p:nvPr/>
          </p:nvGrpSpPr>
          <p:grpSpPr>
            <a:xfrm>
              <a:off x="6296458" y="1707623"/>
              <a:ext cx="1678178" cy="1610187"/>
              <a:chOff x="6069291" y="760601"/>
              <a:chExt cx="1678178" cy="1610187"/>
            </a:xfrm>
          </p:grpSpPr>
          <p:pic>
            <p:nvPicPr>
              <p:cNvPr id="88" name="Google Shape;88;g2751128f107_0_0" descr="96 well Microplate - Openclipart"/>
              <p:cNvPicPr preferRelativeResize="0"/>
              <p:nvPr/>
            </p:nvPicPr>
            <p:blipFill rotWithShape="1">
              <a:blip r:embed="rId9">
                <a:alphaModFix/>
              </a:blip>
              <a:srcRect r="9354"/>
              <a:stretch/>
            </p:blipFill>
            <p:spPr>
              <a:xfrm>
                <a:off x="6272045" y="760601"/>
                <a:ext cx="1090232" cy="780283"/>
              </a:xfrm>
              <a:prstGeom prst="rect">
                <a:avLst/>
              </a:prstGeom>
              <a:noFill/>
              <a:ln w="9525" cap="flat" cmpd="sng">
                <a:solidFill>
                  <a:srgbClr val="7F7F7F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sp>
            <p:nvSpPr>
              <p:cNvPr id="89" name="Google Shape;89;g2751128f107_0_0"/>
              <p:cNvSpPr/>
              <p:nvPr/>
            </p:nvSpPr>
            <p:spPr>
              <a:xfrm rot="-2823702">
                <a:off x="6228082" y="1189265"/>
                <a:ext cx="878583" cy="816385"/>
              </a:xfrm>
              <a:prstGeom prst="arc">
                <a:avLst>
                  <a:gd name="adj1" fmla="val 16454381"/>
                  <a:gd name="adj2" fmla="val 18161027"/>
                </a:avLst>
              </a:prstGeom>
              <a:noFill/>
              <a:ln w="25400" cap="flat" cmpd="sng">
                <a:solidFill>
                  <a:srgbClr val="3B7FF2"/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g2751128f107_0_0"/>
              <p:cNvSpPr/>
              <p:nvPr/>
            </p:nvSpPr>
            <p:spPr>
              <a:xfrm rot="-2823702">
                <a:off x="6380482" y="1352298"/>
                <a:ext cx="878583" cy="816385"/>
              </a:xfrm>
              <a:prstGeom prst="arc">
                <a:avLst>
                  <a:gd name="adj1" fmla="val 16454381"/>
                  <a:gd name="adj2" fmla="val 18161027"/>
                </a:avLst>
              </a:prstGeom>
              <a:noFill/>
              <a:ln w="25400" cap="flat" cmpd="sng">
                <a:solidFill>
                  <a:srgbClr val="3B7FF2"/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g2751128f107_0_0"/>
              <p:cNvSpPr/>
              <p:nvPr/>
            </p:nvSpPr>
            <p:spPr>
              <a:xfrm rot="-2823702">
                <a:off x="6710095" y="1362931"/>
                <a:ext cx="878583" cy="816385"/>
              </a:xfrm>
              <a:prstGeom prst="arc">
                <a:avLst>
                  <a:gd name="adj1" fmla="val 16454381"/>
                  <a:gd name="adj2" fmla="val 18161027"/>
                </a:avLst>
              </a:prstGeom>
              <a:noFill/>
              <a:ln w="25400" cap="flat" cmpd="sng">
                <a:solidFill>
                  <a:srgbClr val="3B7FF2"/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" name="Google Shape;92;g2751128f107_0_0"/>
            <p:cNvSpPr/>
            <p:nvPr/>
          </p:nvSpPr>
          <p:spPr>
            <a:xfrm>
              <a:off x="6253957" y="1492281"/>
              <a:ext cx="1594200" cy="1222800"/>
            </a:xfrm>
            <a:prstGeom prst="ellipse">
              <a:avLst/>
            </a:prstGeom>
            <a:noFill/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g2751128f107_0_0"/>
          <p:cNvSpPr/>
          <p:nvPr/>
        </p:nvSpPr>
        <p:spPr>
          <a:xfrm>
            <a:off x="5099400" y="2356958"/>
            <a:ext cx="1594200" cy="1222800"/>
          </a:xfrm>
          <a:prstGeom prst="ellipse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2751128f107_0_0"/>
          <p:cNvSpPr/>
          <p:nvPr/>
        </p:nvSpPr>
        <p:spPr>
          <a:xfrm>
            <a:off x="6953260" y="2232093"/>
            <a:ext cx="1765200" cy="1308000"/>
          </a:xfrm>
          <a:prstGeom prst="ellipse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2751128f107_0_0"/>
          <p:cNvSpPr txBox="1"/>
          <p:nvPr/>
        </p:nvSpPr>
        <p:spPr>
          <a:xfrm>
            <a:off x="311700" y="6597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Contamination will happen!</a:t>
            </a:r>
            <a:endParaRPr sz="2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51128f107_0_36"/>
          <p:cNvSpPr txBox="1">
            <a:spLocks noGrp="1"/>
          </p:cNvSpPr>
          <p:nvPr>
            <p:ph type="title"/>
          </p:nvPr>
        </p:nvSpPr>
        <p:spPr>
          <a:xfrm>
            <a:off x="311700" y="35086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Contamination c</a:t>
            </a:r>
            <a:r>
              <a:rPr lang="en" b="0" i="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an lead to inaccurate data interpretation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g2751128f107_0_36"/>
          <p:cNvSpPr txBox="1">
            <a:spLocks noGrp="1"/>
          </p:cNvSpPr>
          <p:nvPr>
            <p:ph type="body" idx="1"/>
          </p:nvPr>
        </p:nvSpPr>
        <p:spPr>
          <a:xfrm>
            <a:off x="428658" y="1089881"/>
            <a:ext cx="8637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Falsely inflates within-sample diversity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Obscures differences between samples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Interferes with comparisons across studies</a:t>
            </a:r>
            <a:endParaRPr>
              <a:solidFill>
                <a:schemeClr val="dk1"/>
              </a:solidFill>
            </a:endParaRPr>
          </a:p>
          <a:p>
            <a:pPr marL="2857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51128f107_0_41"/>
          <p:cNvSpPr txBox="1">
            <a:spLocks noGrp="1"/>
          </p:cNvSpPr>
          <p:nvPr>
            <p:ph type="title"/>
          </p:nvPr>
        </p:nvSpPr>
        <p:spPr>
          <a:xfrm>
            <a:off x="155850" y="136681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Contamination </a:t>
            </a:r>
            <a:r>
              <a:rPr lang="en" sz="2400" b="0" i="0">
                <a:solidFill>
                  <a:schemeClr val="dk1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disproportionately affects low-biomass samples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7" name="Google Shape;107;g2751128f107_0_41" descr="Fig.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336" y="1354204"/>
            <a:ext cx="6838677" cy="243509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2751128f107_0_41"/>
          <p:cNvSpPr txBox="1"/>
          <p:nvPr/>
        </p:nvSpPr>
        <p:spPr>
          <a:xfrm>
            <a:off x="6162539" y="4699042"/>
            <a:ext cx="1722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Davis et. al., 2018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740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Water controls can help</a:t>
            </a:r>
            <a:endParaRPr sz="3688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‘Blanks’ such as water controls can help identify both internal and external contaminants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Water controls should be processed the same way as the samples, using the the same reagents </a:t>
            </a: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Have at least 2 water controls, but the more the better!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265150" y="235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740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Background model</a:t>
            </a:r>
            <a:endParaRPr sz="3688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265150" y="808275"/>
            <a:ext cx="8520600" cy="40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to calculate relative abundance of the taxa found in negative controls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2 types of background models based on relative abundance metric:</a:t>
            </a:r>
            <a:endParaRPr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b="1">
                <a:solidFill>
                  <a:schemeClr val="dk1"/>
                </a:solidFill>
              </a:rPr>
              <a:t>Standard</a:t>
            </a:r>
            <a:r>
              <a:rPr lang="en" sz="1800">
                <a:solidFill>
                  <a:schemeClr val="dk1"/>
                </a:solidFill>
              </a:rPr>
              <a:t>: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137160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Uses the reads per million (rpm) as the metric of relative abundance.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914400" lvl="1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 b="1">
                <a:solidFill>
                  <a:schemeClr val="dk1"/>
                </a:solidFill>
              </a:rPr>
              <a:t>Mass normalized</a:t>
            </a:r>
            <a:r>
              <a:rPr lang="en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1371600" lvl="2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Uses total ERCC reads to normalize taxon reads.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1371600" lvl="2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■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Only available when samples have been spiked with </a:t>
            </a:r>
            <a:r>
              <a:rPr lang="en" sz="1800" b="1">
                <a:solidFill>
                  <a:srgbClr val="9900FF"/>
                </a:solidFill>
                <a:highlight>
                  <a:schemeClr val="lt1"/>
                </a:highlight>
              </a:rPr>
              <a:t>ERCCs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1371600" lvl="0" indent="0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311700" y="338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Background model enables Z-score calculation</a:t>
            </a:r>
            <a:endParaRPr sz="3320"/>
          </a:p>
        </p:txBody>
      </p:sp>
      <p:sp>
        <p:nvSpPr>
          <p:cNvPr id="126" name="Google Shape;126;p5"/>
          <p:cNvSpPr txBox="1"/>
          <p:nvPr/>
        </p:nvSpPr>
        <p:spPr>
          <a:xfrm>
            <a:off x="311700" y="1076100"/>
            <a:ext cx="85698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Z-score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Measurement that describes a value's relationship to the mean of a group of values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the abundance of a taxon in a sample compare to its mean abundance in negative controls?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bf0e2616b_0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5740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Background distribution </a:t>
            </a:r>
            <a:endParaRPr sz="2688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5740"/>
              <a:buFont typeface="Arial"/>
              <a:buNone/>
            </a:pPr>
            <a:r>
              <a:rPr lang="en" sz="2688">
                <a:latin typeface="Helvetica Neue"/>
                <a:ea typeface="Helvetica Neue"/>
                <a:cs typeface="Helvetica Neue"/>
                <a:sym typeface="Helvetica Neue"/>
              </a:rPr>
              <a:t>overlaid with sample taxa abundance</a:t>
            </a:r>
            <a:endParaRPr sz="2688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32" name="Google Shape;132;g30bf0e2616b_0_0"/>
          <p:cNvCxnSpPr/>
          <p:nvPr/>
        </p:nvCxnSpPr>
        <p:spPr>
          <a:xfrm>
            <a:off x="2556450" y="4314525"/>
            <a:ext cx="509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3" name="Google Shape;133;g30bf0e2616b_0_0"/>
          <p:cNvSpPr txBox="1"/>
          <p:nvPr/>
        </p:nvSpPr>
        <p:spPr>
          <a:xfrm>
            <a:off x="3079500" y="4114425"/>
            <a:ext cx="575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Abundance in potentially infectious sample</a:t>
            </a:r>
            <a:endParaRPr sz="1400" b="1" i="0" u="none" strike="noStrike" cap="non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g30bf0e2616b_0_0"/>
          <p:cNvSpPr/>
          <p:nvPr/>
        </p:nvSpPr>
        <p:spPr>
          <a:xfrm>
            <a:off x="2529425" y="4551075"/>
            <a:ext cx="563461" cy="162959"/>
          </a:xfrm>
          <a:custGeom>
            <a:avLst/>
            <a:gdLst/>
            <a:ahLst/>
            <a:cxnLst/>
            <a:rect l="l" t="t" r="r" b="b"/>
            <a:pathLst>
              <a:path w="27901" h="8292" extrusionOk="0">
                <a:moveTo>
                  <a:pt x="633" y="7223"/>
                </a:moveTo>
                <a:cubicBezTo>
                  <a:pt x="-2363" y="6091"/>
                  <a:pt x="6626" y="1897"/>
                  <a:pt x="9422" y="832"/>
                </a:cubicBezTo>
                <a:cubicBezTo>
                  <a:pt x="12219" y="-233"/>
                  <a:pt x="14416" y="-300"/>
                  <a:pt x="17412" y="832"/>
                </a:cubicBezTo>
                <a:cubicBezTo>
                  <a:pt x="20408" y="1964"/>
                  <a:pt x="30196" y="6558"/>
                  <a:pt x="27399" y="7623"/>
                </a:cubicBezTo>
                <a:cubicBezTo>
                  <a:pt x="24603" y="8688"/>
                  <a:pt x="3629" y="8355"/>
                  <a:pt x="633" y="7223"/>
                </a:cubicBezTo>
                <a:close/>
              </a:path>
            </a:pathLst>
          </a:custGeom>
          <a:solidFill>
            <a:srgbClr val="5A96B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0bf0e2616b_0_0"/>
          <p:cNvSpPr txBox="1"/>
          <p:nvPr/>
        </p:nvSpPr>
        <p:spPr>
          <a:xfrm>
            <a:off x="3075800" y="4432450"/>
            <a:ext cx="575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Distribution of abundance in controls</a:t>
            </a:r>
            <a:endParaRPr sz="1400" b="1" i="0" u="none" strike="noStrike" cap="none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6" name="Google Shape;136;g30bf0e2616b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450" y="1372850"/>
            <a:ext cx="8137108" cy="25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>
            <a:spLocks noGrp="1"/>
          </p:cNvSpPr>
          <p:nvPr>
            <p:ph type="title"/>
          </p:nvPr>
        </p:nvSpPr>
        <p:spPr>
          <a:xfrm>
            <a:off x="311713" y="347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Background model enables Z-score calculation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311700" y="1076100"/>
            <a:ext cx="85698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●"/>
            </a:pPr>
            <a:r>
              <a:rPr lang="en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Z-score</a:t>
            </a: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Measurement that describes a value's relationship to the mean of a group of values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the abundance of a taxon in a sample compare to its mean abundance in negative controls?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measured in terms of standard deviations from the mean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4064538" y="3594325"/>
            <a:ext cx="1014925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" name="Google Shape;150;p7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1" name="Google Shape;151;p7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Google Shape;152;p7"/>
          <p:cNvSpPr txBox="1"/>
          <p:nvPr/>
        </p:nvSpPr>
        <p:spPr>
          <a:xfrm>
            <a:off x="4454538" y="273662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4" name="Google Shape;154;p7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  <p:sp>
        <p:nvSpPr>
          <p:cNvPr id="155" name="Google Shape;155;p7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81450" y="1910400"/>
            <a:ext cx="19353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𝛧-score linear scale: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8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p8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" name="Google Shape;164;p8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8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6" name="Google Shape;166;p8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  <p:sp>
        <p:nvSpPr>
          <p:cNvPr id="167" name="Google Shape;167;p8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3772750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4240000" y="2736625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=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9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6" name="Google Shape;176;p9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9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9"/>
          <p:cNvSpPr/>
          <p:nvPr/>
        </p:nvSpPr>
        <p:spPr>
          <a:xfrm rot="-5400000">
            <a:off x="2408300" y="15740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656150" y="38865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1" name="Google Shape;181;p9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  <p:sp>
        <p:nvSpPr>
          <p:cNvPr id="182" name="Google Shape;182;p9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3791375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4258625" y="2736625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=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1931725" y="27482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&lt;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10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2" name="Google Shape;192;p10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3" name="Google Shape;193;p10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10"/>
          <p:cNvSpPr txBox="1"/>
          <p:nvPr/>
        </p:nvSpPr>
        <p:spPr>
          <a:xfrm>
            <a:off x="4258625" y="27133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=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 rot="-5400000">
            <a:off x="2408300" y="15740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 rot="-5400000">
            <a:off x="6544450" y="1580450"/>
            <a:ext cx="212700" cy="41202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656150" y="38865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5003825" y="3886525"/>
            <a:ext cx="3639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more abundant in samples</a:t>
            </a: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 than negative controls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0" name="Google Shape;200;p10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  <p:sp>
        <p:nvSpPr>
          <p:cNvPr id="201" name="Google Shape;201;p10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3791375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1931725" y="27133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&lt;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6317275" y="2713350"/>
            <a:ext cx="7005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𝛧 &gt; 0 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436150" y="33662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-284175" y="27804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4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100</a:t>
            </a: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11"/>
          <p:cNvSpPr txBox="1"/>
          <p:nvPr/>
        </p:nvSpPr>
        <p:spPr>
          <a:xfrm>
            <a:off x="8495200" y="27804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Arial"/>
                <a:ea typeface="Arial"/>
                <a:cs typeface="Arial"/>
                <a:sym typeface="Arial"/>
              </a:rPr>
              <a:t>100 </a:t>
            </a:r>
            <a:endParaRPr sz="1400" b="1" i="0" u="none" strike="noStrike" cap="none"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11"/>
          <p:cNvCxnSpPr/>
          <p:nvPr/>
        </p:nvCxnSpPr>
        <p:spPr>
          <a:xfrm>
            <a:off x="4472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11"/>
          <p:cNvCxnSpPr/>
          <p:nvPr/>
        </p:nvCxnSpPr>
        <p:spPr>
          <a:xfrm>
            <a:off x="874435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11"/>
          <p:cNvCxnSpPr/>
          <p:nvPr/>
        </p:nvCxnSpPr>
        <p:spPr>
          <a:xfrm>
            <a:off x="4589800" y="30938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p11"/>
          <p:cNvSpPr txBox="1"/>
          <p:nvPr/>
        </p:nvSpPr>
        <p:spPr>
          <a:xfrm>
            <a:off x="4454538" y="273662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-271900" y="2412550"/>
            <a:ext cx="143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Only in control 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11"/>
          <p:cNvSpPr txBox="1"/>
          <p:nvPr/>
        </p:nvSpPr>
        <p:spPr>
          <a:xfrm>
            <a:off x="7906450" y="2412550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Only in sample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11"/>
          <p:cNvSpPr/>
          <p:nvPr/>
        </p:nvSpPr>
        <p:spPr>
          <a:xfrm rot="-5400000">
            <a:off x="2408300" y="15740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 rot="-5400000">
            <a:off x="6544450" y="1580450"/>
            <a:ext cx="212700" cy="41202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 txBox="1"/>
          <p:nvPr/>
        </p:nvSpPr>
        <p:spPr>
          <a:xfrm>
            <a:off x="656150" y="38865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5003825" y="3886525"/>
            <a:ext cx="3639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more abundant in samples</a:t>
            </a: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 than negative controls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3" name="Google Shape;223;p11"/>
          <p:cNvPicPr preferRelativeResize="0"/>
          <p:nvPr/>
        </p:nvPicPr>
        <p:blipFill rotWithShape="1">
          <a:blip r:embed="rId3">
            <a:alphaModFix/>
          </a:blip>
          <a:srcRect r="88289"/>
          <a:stretch/>
        </p:blipFill>
        <p:spPr>
          <a:xfrm>
            <a:off x="1931717" y="208025"/>
            <a:ext cx="1634952" cy="9225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  <p:sp>
        <p:nvSpPr>
          <p:cNvPr id="224" name="Google Shape;224;p11"/>
          <p:cNvSpPr txBox="1"/>
          <p:nvPr/>
        </p:nvSpPr>
        <p:spPr>
          <a:xfrm>
            <a:off x="4191000" y="11900"/>
            <a:ext cx="4772400" cy="17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taxon abundance in sample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µ</a:t>
            </a:r>
            <a:r>
              <a:rPr lang="en" sz="1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taxon mean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𝝈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= standard deviation of taxon abundance in negative controls (background model)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3791375" y="2363400"/>
            <a:ext cx="16350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difference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Use Z-score filter after applying background model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36150" y="2528000"/>
            <a:ext cx="8308200" cy="130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-284175" y="19422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" sz="14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100</a:t>
            </a:r>
            <a:r>
              <a:rPr lang="en" sz="14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4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8495200" y="194227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Arial"/>
                <a:ea typeface="Arial"/>
                <a:cs typeface="Arial"/>
                <a:sym typeface="Arial"/>
              </a:rPr>
              <a:t>100 </a:t>
            </a:r>
            <a:endParaRPr sz="1400" b="1" i="0" u="none" strike="noStrike" cap="none">
              <a:solidFill>
                <a:srgbClr val="A64D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12"/>
          <p:cNvCxnSpPr/>
          <p:nvPr/>
        </p:nvCxnSpPr>
        <p:spPr>
          <a:xfrm>
            <a:off x="447200" y="22556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12"/>
          <p:cNvCxnSpPr/>
          <p:nvPr/>
        </p:nvCxnSpPr>
        <p:spPr>
          <a:xfrm>
            <a:off x="8744350" y="22556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p12"/>
          <p:cNvCxnSpPr/>
          <p:nvPr/>
        </p:nvCxnSpPr>
        <p:spPr>
          <a:xfrm>
            <a:off x="4589800" y="2255600"/>
            <a:ext cx="900" cy="2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7" name="Google Shape;237;p12"/>
          <p:cNvSpPr txBox="1"/>
          <p:nvPr/>
        </p:nvSpPr>
        <p:spPr>
          <a:xfrm>
            <a:off x="4454538" y="1898425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-271900" y="1498150"/>
            <a:ext cx="143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Only in control 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7906450" y="1498150"/>
            <a:ext cx="1529100" cy="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Only in sample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12"/>
          <p:cNvSpPr/>
          <p:nvPr/>
        </p:nvSpPr>
        <p:spPr>
          <a:xfrm rot="-5400000">
            <a:off x="2408300" y="735800"/>
            <a:ext cx="212700" cy="41331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 rot="-5400000">
            <a:off x="6544450" y="742250"/>
            <a:ext cx="212700" cy="4120200"/>
          </a:xfrm>
          <a:prstGeom prst="leftBracket">
            <a:avLst>
              <a:gd name="adj" fmla="val 8333"/>
            </a:avLst>
          </a:prstGeom>
          <a:noFill/>
          <a:ln w="9525" cap="flat" cmpd="sng">
            <a:solidFill>
              <a:srgbClr val="A64D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656150" y="3048325"/>
            <a:ext cx="3639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more abundant in negative controls</a:t>
            </a:r>
            <a:r>
              <a:rPr lang="en" sz="1200" b="0" i="0" u="none" strike="noStrike" cap="non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than in samples</a:t>
            </a:r>
            <a:endParaRPr sz="1200" b="0" i="0" u="none" strike="noStrike" cap="non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5003825" y="3048325"/>
            <a:ext cx="3639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Taxa </a:t>
            </a:r>
            <a:r>
              <a:rPr lang="en" sz="12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more abundant in samples</a:t>
            </a:r>
            <a:r>
              <a:rPr lang="en" sz="1200" b="0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 than negative controls</a:t>
            </a:r>
            <a:endParaRPr sz="1200" b="0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311700" y="1076100"/>
            <a:ext cx="856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2552600" y="1018650"/>
            <a:ext cx="377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Start with taxa with Z-scores &gt; 1</a:t>
            </a:r>
            <a:endParaRPr sz="1400" b="1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2886650" y="954422"/>
            <a:ext cx="3109800" cy="5289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0bdc31dabb_0_0"/>
          <p:cNvSpPr txBox="1">
            <a:spLocks noGrp="1"/>
          </p:cNvSpPr>
          <p:nvPr>
            <p:ph type="title"/>
          </p:nvPr>
        </p:nvSpPr>
        <p:spPr>
          <a:xfrm>
            <a:off x="311700" y="128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Use Z-score filter after applying background model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g30bdc31dabb_0_0"/>
          <p:cNvSpPr txBox="1"/>
          <p:nvPr/>
        </p:nvSpPr>
        <p:spPr>
          <a:xfrm>
            <a:off x="2552600" y="866250"/>
            <a:ext cx="377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A64D79"/>
                </a:solidFill>
                <a:latin typeface="Open Sans"/>
                <a:ea typeface="Open Sans"/>
                <a:cs typeface="Open Sans"/>
                <a:sym typeface="Open Sans"/>
              </a:rPr>
              <a:t>Start with taxa with Z-scores &gt; 1</a:t>
            </a:r>
            <a:endParaRPr sz="1400" b="1" i="0" u="none" strike="noStrike" cap="none">
              <a:solidFill>
                <a:srgbClr val="A64D7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" name="Google Shape;253;g30bdc31dabb_0_0"/>
          <p:cNvSpPr/>
          <p:nvPr/>
        </p:nvSpPr>
        <p:spPr>
          <a:xfrm>
            <a:off x="2886638" y="808498"/>
            <a:ext cx="3109800" cy="5289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g30bdc31dabb_0_0"/>
          <p:cNvPicPr preferRelativeResize="0"/>
          <p:nvPr/>
        </p:nvPicPr>
        <p:blipFill rotWithShape="1">
          <a:blip r:embed="rId3">
            <a:alphaModFix/>
          </a:blip>
          <a:srcRect l="5745" t="8237" r="6665" b="8304"/>
          <a:stretch/>
        </p:blipFill>
        <p:spPr>
          <a:xfrm>
            <a:off x="1781300" y="1540050"/>
            <a:ext cx="5581401" cy="35553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g30bdc31dabb_0_0"/>
          <p:cNvCxnSpPr/>
          <p:nvPr/>
        </p:nvCxnSpPr>
        <p:spPr>
          <a:xfrm flipH="1">
            <a:off x="5518050" y="2207175"/>
            <a:ext cx="12000" cy="2352600"/>
          </a:xfrm>
          <a:prstGeom prst="straightConnector1">
            <a:avLst/>
          </a:prstGeom>
          <a:noFill/>
          <a:ln w="28575" cap="flat" cmpd="sng">
            <a:solidFill>
              <a:srgbClr val="A64D79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 txBox="1">
            <a:spLocks noGrp="1"/>
          </p:cNvSpPr>
          <p:nvPr>
            <p:ph type="title"/>
          </p:nvPr>
        </p:nvSpPr>
        <p:spPr>
          <a:xfrm>
            <a:off x="311700" y="338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latin typeface="Helvetica Neue"/>
                <a:ea typeface="Helvetica Neue"/>
                <a:cs typeface="Helvetica Neue"/>
                <a:sym typeface="Helvetica Neue"/>
              </a:rPr>
              <a:t>Calculating Z-score</a:t>
            </a:r>
            <a:endParaRPr sz="33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1" name="Google Shape;26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950" y="1999049"/>
            <a:ext cx="8666559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4"/>
              </a:srgbClr>
            </a:outerShdw>
          </a:effectLst>
        </p:spPr>
      </p:pic>
      <p:sp>
        <p:nvSpPr>
          <p:cNvPr id="262" name="Google Shape;262;p13"/>
          <p:cNvSpPr txBox="1"/>
          <p:nvPr/>
        </p:nvSpPr>
        <p:spPr>
          <a:xfrm>
            <a:off x="313988" y="1411200"/>
            <a:ext cx="600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Mass normalized (mass_norm) Z-score calculation: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314000" y="3134175"/>
            <a:ext cx="600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Z-score calculation for sample “S”: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0005" y="3755475"/>
            <a:ext cx="5826425" cy="885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Additional controls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Controls can also be used to create a background model to identify pathogens of interest (for example, cases vs controls)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Sample controls can also be used to identify contaminants from sampling, but can be difficult to come by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Background models can be applied to the sample report and the heatmap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Let’s make a background model!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Aggregate Score (Score)</a:t>
            </a:r>
            <a:endParaRPr/>
          </a:p>
        </p:txBody>
      </p:sp>
      <p:sp>
        <p:nvSpPr>
          <p:cNvPr id="281" name="Google Shape;28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The Z-score is used to calculate an </a:t>
            </a:r>
            <a:r>
              <a:rPr lang="en" sz="1400" u="sng">
                <a:solidFill>
                  <a:schemeClr val="dk1"/>
                </a:solidFill>
                <a:highlight>
                  <a:srgbClr val="FFFFFF"/>
                </a:highlight>
              </a:rPr>
              <a:t>aggregate score (Score)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. The aggregate score is an empirical heuristic for ranking microbial matches by combining relative abundance and Z-score information at the species and genus levels. The aggregate score is calculated as follows: 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If a taxon has a high aggregate score it indicates that a high abundance of reads matched to that taxon in the NT and/or NR database, while being less prevalent in the selected background model.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2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82" name="Google Shape;28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7463" y="2112400"/>
            <a:ext cx="5909076" cy="73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Microsoft Macintosh PowerPoint</Application>
  <PresentationFormat>On-screen Show (16:9)</PresentationFormat>
  <Paragraphs>135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Helvetica Neue</vt:lpstr>
      <vt:lpstr>Open Sans</vt:lpstr>
      <vt:lpstr>Helvetica Neue Light</vt:lpstr>
      <vt:lpstr>Poppins</vt:lpstr>
      <vt:lpstr>Lato</vt:lpstr>
      <vt:lpstr>Simple Light</vt:lpstr>
      <vt:lpstr>Disclaimer</vt:lpstr>
      <vt:lpstr>PowerPoint Presentation</vt:lpstr>
      <vt:lpstr>PowerPoint Presentation</vt:lpstr>
      <vt:lpstr>Contamination can lead to inaccurate data interpretation</vt:lpstr>
      <vt:lpstr>Contamination disproportionately affects low-biomass samples</vt:lpstr>
      <vt:lpstr>Water controls can help</vt:lpstr>
      <vt:lpstr>Background model</vt:lpstr>
      <vt:lpstr>Background model enables Z-score calculation</vt:lpstr>
      <vt:lpstr>Background distribution  overlaid with sample taxa abundance</vt:lpstr>
      <vt:lpstr>Background model enables Z-score calculation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 Z-score filter after applying background model</vt:lpstr>
      <vt:lpstr>Use Z-score filter after applying background model</vt:lpstr>
      <vt:lpstr>Calculating Z-score</vt:lpstr>
      <vt:lpstr>Additional controls</vt:lpstr>
      <vt:lpstr>Let’s make a background model!</vt:lpstr>
      <vt:lpstr>Aggregate Score (Score)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1</cp:revision>
  <dcterms:modified xsi:type="dcterms:W3CDTF">2026-09-10T23:15:43Z</dcterms:modified>
</cp:coreProperties>
</file>