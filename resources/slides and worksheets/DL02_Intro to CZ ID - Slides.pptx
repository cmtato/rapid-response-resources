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2"/>
  </p:notesMasterIdLst>
  <p:sldIdLst>
    <p:sldId id="275" r:id="rId3"/>
    <p:sldId id="256" r:id="rId4"/>
    <p:sldId id="257" r:id="rId5"/>
    <p:sldId id="258" r:id="rId6"/>
    <p:sldId id="259" r:id="rId7"/>
    <p:sldId id="260" r:id="rId8"/>
    <p:sldId id="274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2" r:id="rId19"/>
    <p:sldId id="273" r:id="rId20"/>
    <p:sldId id="270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Poppins" pitchFamily="2" charset="77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hpXceUUEMsw+K931peaSFJ0fX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501"/>
  </p:normalViewPr>
  <p:slideViewPr>
    <p:cSldViewPr snapToGrid="0">
      <p:cViewPr varScale="1">
        <p:scale>
          <a:sx n="143" d="100"/>
          <a:sy n="143" d="100"/>
        </p:scale>
        <p:origin x="79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font" Target="fonts/font12.fntdata"/><Relationship Id="rId42" Type="http://customschemas.google.com/relationships/presentationmetadata" Target="meta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9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Slides </a:t>
            </a:r>
            <a:r>
              <a:rPr lang="en"/>
              <a:t>updated 09/2026</a:t>
            </a:r>
            <a:endParaRPr dirty="0"/>
          </a:p>
        </p:txBody>
      </p:sp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rgbClr val="3C404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 worries about storage solutions, easy data sharing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Open Sans"/>
              <a:buChar char="●"/>
            </a:pPr>
            <a:r>
              <a:rPr lang="en" sz="135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92% (125 of 135) of DENV cases were from crop land</a:t>
            </a:r>
            <a:endParaRPr/>
          </a:p>
          <a:p>
            <a:pPr marL="45720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Open Sans"/>
              <a:buChar char="●"/>
            </a:pPr>
            <a:r>
              <a:rPr lang="en" sz="135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Early detection of chikungunya virus presaged a larger national outbreak of more than 6,000 cases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rgbClr val="262626"/>
                </a:solidFill>
              </a:rPr>
              <a:t>Most common in serum: </a:t>
            </a:r>
            <a:r>
              <a:rPr lang="en" sz="1200" i="1">
                <a:solidFill>
                  <a:srgbClr val="202020"/>
                </a:solidFill>
              </a:rPr>
              <a:t>Plasmodium falciparum</a:t>
            </a:r>
            <a:r>
              <a:rPr lang="en" sz="1200">
                <a:solidFill>
                  <a:srgbClr val="202020"/>
                </a:solidFill>
              </a:rPr>
              <a:t> (51.1% of samples) and parvovirus B19 (4.4%). </a:t>
            </a:r>
            <a:r>
              <a:rPr lang="en" sz="1200" i="1">
                <a:solidFill>
                  <a:srgbClr val="202020"/>
                </a:solidFill>
              </a:rPr>
              <a:t>P</a:t>
            </a:r>
            <a:r>
              <a:rPr lang="en" sz="1200">
                <a:solidFill>
                  <a:srgbClr val="202020"/>
                </a:solidFill>
              </a:rPr>
              <a:t>. </a:t>
            </a:r>
            <a:r>
              <a:rPr lang="en" sz="1200" i="1">
                <a:solidFill>
                  <a:srgbClr val="202020"/>
                </a:solidFill>
              </a:rPr>
              <a:t>falciparum</a:t>
            </a:r>
            <a:r>
              <a:rPr lang="en" sz="1200">
                <a:solidFill>
                  <a:srgbClr val="202020"/>
                </a:solidFill>
              </a:rPr>
              <a:t> was detected in 10/12 samples from patients reported as smear-positive. mNGS detected </a:t>
            </a:r>
            <a:r>
              <a:rPr lang="en" sz="1200" i="1">
                <a:solidFill>
                  <a:srgbClr val="202020"/>
                </a:solidFill>
              </a:rPr>
              <a:t>Plasmodium spp</a:t>
            </a:r>
            <a:r>
              <a:rPr lang="en" sz="1200">
                <a:solidFill>
                  <a:srgbClr val="202020"/>
                </a:solidFill>
              </a:rPr>
              <a:t>. in 37 additional samples that were smear negative (36 </a:t>
            </a:r>
            <a:r>
              <a:rPr lang="en" sz="1200" i="1">
                <a:solidFill>
                  <a:srgbClr val="202020"/>
                </a:solidFill>
              </a:rPr>
              <a:t>P</a:t>
            </a:r>
            <a:r>
              <a:rPr lang="en" sz="1200">
                <a:solidFill>
                  <a:srgbClr val="202020"/>
                </a:solidFill>
              </a:rPr>
              <a:t>. </a:t>
            </a:r>
            <a:r>
              <a:rPr lang="en" sz="1200" i="1">
                <a:solidFill>
                  <a:srgbClr val="202020"/>
                </a:solidFill>
              </a:rPr>
              <a:t>falciparum</a:t>
            </a:r>
            <a:r>
              <a:rPr lang="en" sz="1200">
                <a:solidFill>
                  <a:srgbClr val="202020"/>
                </a:solidFill>
              </a:rPr>
              <a:t>, 1 </a:t>
            </a:r>
            <a:r>
              <a:rPr lang="en" sz="1200" i="1">
                <a:solidFill>
                  <a:srgbClr val="202020"/>
                </a:solidFill>
              </a:rPr>
              <a:t>P</a:t>
            </a:r>
            <a:r>
              <a:rPr lang="en" sz="1200">
                <a:solidFill>
                  <a:srgbClr val="202020"/>
                </a:solidFill>
              </a:rPr>
              <a:t>. </a:t>
            </a:r>
            <a:r>
              <a:rPr lang="en" sz="1200" i="1">
                <a:solidFill>
                  <a:srgbClr val="202020"/>
                </a:solidFill>
              </a:rPr>
              <a:t>malariae</a:t>
            </a:r>
            <a:r>
              <a:rPr lang="en" sz="1200">
                <a:solidFill>
                  <a:srgbClr val="202020"/>
                </a:solidFill>
              </a:rPr>
              <a:t>)</a:t>
            </a:r>
            <a:endParaRPr sz="1200">
              <a:solidFill>
                <a:srgbClr val="202020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Char char="●"/>
            </a:pPr>
            <a:r>
              <a:rPr lang="en" sz="1200">
                <a:solidFill>
                  <a:srgbClr val="202020"/>
                </a:solidFill>
              </a:rPr>
              <a:t>The same microbial species was identified in the NP swab and serum samples from only six patients (on independent sequencing runs), one each with HRV-A, HRV-C, hepatitis A virus, hepatitis B virus, rotavirus A, and parvovirus B19.</a:t>
            </a:r>
            <a:endParaRPr sz="1200">
              <a:solidFill>
                <a:srgbClr val="20202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31309483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2e31309483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_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2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67" name="Google Shape;67;p32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3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8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3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9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40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40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4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1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4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525" y="4820575"/>
            <a:ext cx="203075" cy="2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5"/>
          <p:cNvSpPr txBox="1"/>
          <p:nvPr/>
        </p:nvSpPr>
        <p:spPr>
          <a:xfrm>
            <a:off x="381000" y="4779538"/>
            <a:ext cx="18003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IDseq</a:t>
            </a:r>
            <a:endParaRPr sz="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45"/>
          <p:cNvSpPr txBox="1">
            <a:spLocks noGrp="1"/>
          </p:cNvSpPr>
          <p:nvPr>
            <p:ph type="sldNum" idx="12"/>
          </p:nvPr>
        </p:nvSpPr>
        <p:spPr>
          <a:xfrm>
            <a:off x="8723298" y="4724750"/>
            <a:ext cx="34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naranalytics.com/whole-genome-sequencing/" TargetMode="External"/><Relationship Id="rId5" Type="http://schemas.openxmlformats.org/officeDocument/2006/relationships/hyperlink" Target="https://www.nature.com/articles/s41598-018-25022-6" TargetMode="External"/><Relationship Id="rId4" Type="http://schemas.openxmlformats.org/officeDocument/2006/relationships/hyperlink" Target="https://microbiomejournal.biomedcentral.com/articles/10.1186/s40168-019-0658-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pnas.org/doi/10.1073/pnas.2115285119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plos.org/plosone/article?id=10.1371/journal.pone.021831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gigascience/article/9/10/giaa111/5918865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biorxiv.org/content/10.1101/2024.02.29.579666v1" TargetMode="External"/><Relationship Id="rId4" Type="http://schemas.openxmlformats.org/officeDocument/2006/relationships/hyperlink" Target="https://www.biorxiv.org/content/10.1101/2024.04.12.589250v2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jm.org/doi/full/10.1056/NEJMsr1813907" TargetMode="External"/><Relationship Id="rId7" Type="http://schemas.openxmlformats.org/officeDocument/2006/relationships/hyperlink" Target="https://www.pnas.org/doi/abs/10.1073/pnas.2115285119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nature.com/articles/s41467-023-40958-8" TargetMode="External"/><Relationship Id="rId5" Type="http://schemas.openxmlformats.org/officeDocument/2006/relationships/hyperlink" Target="https://www.nature.com/articles/s41467-022-29353-x" TargetMode="External"/><Relationship Id="rId4" Type="http://schemas.openxmlformats.org/officeDocument/2006/relationships/hyperlink" Target="https://journals.asm.org/doi/10.1128/mbio.02877-19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24" name="Google Shape;124;p1"/>
          <p:cNvSpPr txBox="1"/>
          <p:nvPr/>
        </p:nvSpPr>
        <p:spPr>
          <a:xfrm>
            <a:off x="476255" y="25236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Introduction to CZ ID</a:t>
            </a:r>
            <a:endParaRPr sz="18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60FF70-9392-53F0-EEE9-058E676EDD8A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"/>
          <p:cNvSpPr txBox="1"/>
          <p:nvPr/>
        </p:nvSpPr>
        <p:spPr>
          <a:xfrm>
            <a:off x="217700" y="181274"/>
            <a:ext cx="8540400" cy="8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CZ ID is a free </a:t>
            </a:r>
            <a:r>
              <a:rPr lang="en" sz="24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platform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used </a:t>
            </a:r>
            <a:r>
              <a:rPr lang="en" sz="2400" b="0" i="0" u="none" strike="noStrike" cap="none" dirty="0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to identify microbes of interest from NGS data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33" name="Google Shape;133;p2"/>
          <p:cNvPicPr preferRelativeResize="0"/>
          <p:nvPr/>
        </p:nvPicPr>
        <p:blipFill rotWithShape="1">
          <a:blip r:embed="rId3">
            <a:alphaModFix/>
          </a:blip>
          <a:srcRect t="12437" b="2317"/>
          <a:stretch/>
        </p:blipFill>
        <p:spPr>
          <a:xfrm>
            <a:off x="1653975" y="1147750"/>
            <a:ext cx="5836050" cy="38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"/>
          <p:cNvSpPr/>
          <p:nvPr/>
        </p:nvSpPr>
        <p:spPr>
          <a:xfrm>
            <a:off x="3997475" y="3231525"/>
            <a:ext cx="730200" cy="35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0925" y="3131200"/>
            <a:ext cx="802175" cy="2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311700" y="235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CZ ID integrates bioinformatic tools to enable NGS analysis regardless of available computational resources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231150" y="2293650"/>
            <a:ext cx="1851300" cy="10122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599650" y="2293650"/>
            <a:ext cx="1969800" cy="10122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086650" y="2293650"/>
            <a:ext cx="1851300" cy="10122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1504750" y="2480550"/>
            <a:ext cx="1304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Upload NGS Data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3512950" y="2293650"/>
            <a:ext cx="21432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Pipeline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(Integrates &gt; 10 third party and custom tools)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135550" y="2480550"/>
            <a:ext cx="17535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 Results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181000" y="2681250"/>
            <a:ext cx="320100" cy="23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668000" y="2681250"/>
            <a:ext cx="320100" cy="23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112575" y="1837650"/>
            <a:ext cx="19698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Workflow: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3322000" y="3748175"/>
            <a:ext cx="25251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Plug-and-play, cloud-based platform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(optimized for scalable Amazon Web Services (AWS) cloud deployment)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355200" y="104975"/>
            <a:ext cx="81723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+mj-lt"/>
                <a:ea typeface="Open Sans"/>
                <a:cs typeface="Open Sans"/>
                <a:sym typeface="Open Sans"/>
              </a:rPr>
              <a:t>NGS data analysis requires computational power and includes MANY steps</a:t>
            </a:r>
            <a:endParaRPr sz="700" b="0" i="0" u="none" strike="noStrike" cap="none">
              <a:solidFill>
                <a:srgbClr val="000000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57" name="Google Shape;15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9951" y="575672"/>
            <a:ext cx="4287920" cy="405633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921"/>
              </a:srgbClr>
            </a:outerShdw>
          </a:effectLst>
        </p:spPr>
      </p:pic>
      <p:sp>
        <p:nvSpPr>
          <p:cNvPr id="158" name="Google Shape;158;p3"/>
          <p:cNvSpPr txBox="1"/>
          <p:nvPr/>
        </p:nvSpPr>
        <p:spPr>
          <a:xfrm>
            <a:off x="475488" y="4767263"/>
            <a:ext cx="793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</a:t>
            </a:r>
            <a:r>
              <a:rPr lang="en" sz="800" b="0" i="0" u="sng" strike="noStrike" cap="non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4"/>
              </a:rPr>
              <a:t>https://microbiomejournal.biomedcentral.com/articles/10.1186/s40168-019-0658-x</a:t>
            </a:r>
            <a:r>
              <a:rPr lang="en" sz="8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</a:t>
            </a:r>
            <a:r>
              <a:rPr lang="en" sz="800" b="0" i="0" u="sng" strike="noStrike" cap="non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5"/>
              </a:rPr>
              <a:t>https://www.nature.com/articles/s41598-018-25022-6</a:t>
            </a:r>
            <a:r>
              <a:rPr lang="en" sz="8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sng" strike="noStrike" cap="none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6"/>
              </a:rPr>
              <a:t>http://anaranalytics.com/whole-genome-sequencing/</a:t>
            </a:r>
            <a:endParaRPr sz="8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>
                <a:latin typeface="+mj-lt"/>
                <a:ea typeface="Open Sans"/>
                <a:cs typeface="Open Sans"/>
                <a:sym typeface="Open Sans"/>
              </a:rPr>
              <a:t>CZ ID supports multiple uses</a:t>
            </a:r>
            <a:endParaRPr dirty="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64" name="Google Shape;16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1399" y="1158238"/>
            <a:ext cx="6154099" cy="34563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5" name="Google Shape;165;p5"/>
          <p:cNvSpPr txBox="1"/>
          <p:nvPr/>
        </p:nvSpPr>
        <p:spPr>
          <a:xfrm>
            <a:off x="218950" y="1586788"/>
            <a:ext cx="21156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CZ ID Pipelines:</a:t>
            </a: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Metagenomic (mNGS) analysis</a:t>
            </a: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Antimicrobial Resistance (AMR) gene detection</a:t>
            </a: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Viral consensus genome assembly </a:t>
            </a:r>
            <a:endParaRPr sz="14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C561ED-7E2C-2C0F-D3CC-CAD3FA23A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21831"/>
              </p:ext>
            </p:extLst>
          </p:nvPr>
        </p:nvGraphicFramePr>
        <p:xfrm>
          <a:off x="1583656" y="1020277"/>
          <a:ext cx="5976688" cy="34870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1285">
                  <a:extLst>
                    <a:ext uri="{9D8B030D-6E8A-4147-A177-3AD203B41FA5}">
                      <a16:colId xmlns:a16="http://schemas.microsoft.com/office/drawing/2014/main" val="3233662737"/>
                    </a:ext>
                  </a:extLst>
                </a:gridCol>
                <a:gridCol w="2734118">
                  <a:extLst>
                    <a:ext uri="{9D8B030D-6E8A-4147-A177-3AD203B41FA5}">
                      <a16:colId xmlns:a16="http://schemas.microsoft.com/office/drawing/2014/main" val="3483605156"/>
                    </a:ext>
                  </a:extLst>
                </a:gridCol>
                <a:gridCol w="1621285">
                  <a:extLst>
                    <a:ext uri="{9D8B030D-6E8A-4147-A177-3AD203B41FA5}">
                      <a16:colId xmlns:a16="http://schemas.microsoft.com/office/drawing/2014/main" val="1829298715"/>
                    </a:ext>
                  </a:extLst>
                </a:gridCol>
              </a:tblGrid>
              <a:tr h="2988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Module</a:t>
                      </a:r>
                      <a:endParaRPr lang="en-US" sz="1200" b="1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Input Sequencing Data</a:t>
                      </a:r>
                      <a:endParaRPr lang="en-US" sz="1200" b="1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Supported Data</a:t>
                      </a:r>
                      <a:endParaRPr lang="en-US" sz="1200" b="1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805284"/>
                  </a:ext>
                </a:extLst>
              </a:tr>
              <a:tr h="10331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Metagenomics (mNGS)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Shotgun (or random) data</a:t>
                      </a:r>
                      <a:endParaRPr lang="en-US" sz="12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Note: Module is NOT meant to process amplicon data (e.g., 16S, 18S, ITS) </a:t>
                      </a:r>
                      <a:endParaRPr lang="en-US" sz="1200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Illumina &amp; Nanopore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88838"/>
                  </a:ext>
                </a:extLst>
              </a:tr>
              <a:tr h="45114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Antimicrobial Resistance (AMR)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Shotgun (or random) and whole genome sequence data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Illumina</a:t>
                      </a:r>
                      <a:endParaRPr lang="en-US" sz="1200" dirty="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987676"/>
                  </a:ext>
                </a:extLst>
              </a:tr>
              <a:tr h="10331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SARS-CoV-2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Metagenomic sequencing with spiked primer enrichment (MSSPE) and amplicon-based data</a:t>
                      </a:r>
                      <a:endParaRPr lang="en-US" sz="12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(e.g., ARTIC v3 protocol)</a:t>
                      </a:r>
                      <a:endParaRPr lang="en-US" sz="1200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Illumina &amp; Nanopore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06333"/>
                  </a:ext>
                </a:extLst>
              </a:tr>
              <a:tr h="60002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Viral Consensus Genomes</a:t>
                      </a:r>
                      <a:endParaRPr lang="en-US" sz="120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Target enrichment (e.g., MSSPE), PCR amplicon, whole genome, or metagenomic sequencing data</a:t>
                      </a:r>
                      <a:endParaRPr lang="en-US" sz="1200" dirty="0">
                        <a:effectLst/>
                      </a:endParaRPr>
                    </a:p>
                  </a:txBody>
                  <a:tcPr marL="56393" marR="56393" marT="56393" marB="563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Illumina</a:t>
                      </a:r>
                      <a:endParaRPr lang="en-US" sz="1200" dirty="0">
                        <a:effectLst/>
                      </a:endParaRPr>
                    </a:p>
                  </a:txBody>
                  <a:tcPr marL="56393" marR="56393" marT="56393" marB="563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826426"/>
                  </a:ext>
                </a:extLst>
              </a:tr>
            </a:tbl>
          </a:graphicData>
        </a:graphic>
      </p:graphicFrame>
      <p:sp>
        <p:nvSpPr>
          <p:cNvPr id="7" name="Google Shape;163;p5">
            <a:extLst>
              <a:ext uri="{FF2B5EF4-FFF2-40B4-BE49-F238E27FC236}">
                <a16:creationId xmlns:a16="http://schemas.microsoft.com/office/drawing/2014/main" id="{2B472FDF-2D14-09F4-53F9-B844AA4DC766}"/>
              </a:ext>
            </a:extLst>
          </p:cNvPr>
          <p:cNvSpPr txBox="1">
            <a:spLocks/>
          </p:cNvSpPr>
          <p:nvPr/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ct val="111111"/>
            </a:pPr>
            <a:r>
              <a:rPr lang="en-US" sz="2500">
                <a:latin typeface="+mj-lt"/>
                <a:ea typeface="Open Sans"/>
                <a:cs typeface="Open Sans"/>
                <a:sym typeface="Open Sans"/>
              </a:rPr>
              <a:t>CZ ID supports multiple uses</a:t>
            </a:r>
            <a:endParaRPr lang="en-US" sz="2500" dirty="0">
              <a:latin typeface="+mj-lt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1173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+mj-lt"/>
                <a:ea typeface="Open Sans"/>
                <a:cs typeface="Open Sans"/>
                <a:sym typeface="Open Sans"/>
              </a:rPr>
              <a:t>CZ ID supports multiple uses</a:t>
            </a:r>
            <a:endParaRPr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71" name="Google Shape;17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1399" y="1158238"/>
            <a:ext cx="6154099" cy="34563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2" name="Google Shape;172;p6"/>
          <p:cNvSpPr txBox="1"/>
          <p:nvPr/>
        </p:nvSpPr>
        <p:spPr>
          <a:xfrm>
            <a:off x="218950" y="1586788"/>
            <a:ext cx="21156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CZ ID Pipelines: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Metagenomic (mNGS) analysis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Antimicrobial Resistance (AMR) gene detection</a:t>
            </a:r>
            <a:endParaRPr sz="1400" b="0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Helvetica Neue"/>
              <a:buChar char="●"/>
            </a:pPr>
            <a:r>
              <a:rPr lang="en" sz="1400" b="0" i="0" u="none" strike="noStrike" cap="none">
                <a:solidFill>
                  <a:srgbClr val="B7B7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Viral consensus genome assembly </a:t>
            </a:r>
            <a:endParaRPr sz="1400" b="0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73600" y="2006325"/>
            <a:ext cx="2061000" cy="638400"/>
          </a:xfrm>
          <a:prstGeom prst="rect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CZ ID </a:t>
            </a:r>
            <a:r>
              <a:rPr lang="en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mNGS</a:t>
            </a:r>
            <a:r>
              <a:rPr lang="en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Analysis Highlights</a:t>
            </a:r>
            <a:endParaRPr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9" name="Google Shape;179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tx1"/>
                </a:solidFill>
              </a:rPr>
              <a:t>With just a few clicks, easily:</a:t>
            </a:r>
            <a:endParaRPr dirty="0">
              <a:solidFill>
                <a:schemeClr val="tx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Evaluate sample quality</a:t>
            </a:r>
            <a:endParaRPr sz="1500" dirty="0">
              <a:solidFill>
                <a:schemeClr val="tx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Explore and evaluate identified taxa through interactive reports</a:t>
            </a:r>
            <a:endParaRPr sz="1500" dirty="0">
              <a:solidFill>
                <a:schemeClr val="tx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Compare samples using interactive heatmaps</a:t>
            </a:r>
            <a:endParaRPr sz="1500" dirty="0">
              <a:solidFill>
                <a:schemeClr val="tx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Generate viral consensus genomes</a:t>
            </a:r>
            <a:endParaRPr sz="1500" dirty="0">
              <a:solidFill>
                <a:schemeClr val="tx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>
                <a:solidFill>
                  <a:schemeClr val="tx1"/>
                </a:solidFill>
              </a:rPr>
              <a:t>Keep track of pipeline steps </a:t>
            </a:r>
            <a:endParaRPr sz="1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>
            <a:spLocks noGrp="1"/>
          </p:cNvSpPr>
          <p:nvPr>
            <p:ph type="title" idx="4294967295"/>
          </p:nvPr>
        </p:nvSpPr>
        <p:spPr>
          <a:xfrm>
            <a:off x="342900" y="259225"/>
            <a:ext cx="83928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>
                <a:latin typeface="+mj-lt"/>
                <a:ea typeface="Open Sans"/>
                <a:cs typeface="Open Sans"/>
                <a:sym typeface="Open Sans"/>
              </a:rPr>
              <a:t>Perform QC</a:t>
            </a:r>
            <a:endParaRPr sz="250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85" name="Google Shape;185;p8"/>
          <p:cNvPicPr preferRelativeResize="0"/>
          <p:nvPr/>
        </p:nvPicPr>
        <p:blipFill rotWithShape="1">
          <a:blip r:embed="rId3">
            <a:alphaModFix/>
          </a:blip>
          <a:srcRect l="2771" t="22630" r="4213"/>
          <a:stretch/>
        </p:blipFill>
        <p:spPr>
          <a:xfrm>
            <a:off x="924925" y="1367175"/>
            <a:ext cx="7202499" cy="30070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 idx="4294967295"/>
          </p:nvPr>
        </p:nvSpPr>
        <p:spPr>
          <a:xfrm>
            <a:off x="342899" y="254235"/>
            <a:ext cx="8479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>
                <a:latin typeface="+mj-lt"/>
                <a:ea typeface="Open Sans"/>
                <a:cs typeface="Open Sans"/>
                <a:sym typeface="Open Sans"/>
              </a:rPr>
              <a:t>Explore and evaluate metrics for detected microbes</a:t>
            </a:r>
            <a:endParaRPr sz="250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t="1758"/>
          <a:stretch/>
        </p:blipFill>
        <p:spPr>
          <a:xfrm>
            <a:off x="152400" y="1158200"/>
            <a:ext cx="8839199" cy="344305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1000" y="152400"/>
            <a:ext cx="3917270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313400" y="267325"/>
            <a:ext cx="3530400" cy="3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Study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 landscape associated with febrile illness in Cambodia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Sample type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Serum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203 pathogens detected from 489 samples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Pathogens organized by disease category. Detection distinguished by participant cohort (community- (n = 87) vs hospital-based cohorts (n = 377)]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267300" y="3650225"/>
            <a:ext cx="16683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Bohl et al 2021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 txBox="1"/>
          <p:nvPr/>
        </p:nvSpPr>
        <p:spPr>
          <a:xfrm>
            <a:off x="313400" y="267325"/>
            <a:ext cx="3530400" cy="3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Study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 landscape associated with pediatric febrile illness in Tororo, Uganda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Sample type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Serum and Nasopharyngeal (NP) swabs 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Pathogens detected in more than half of serum and NP samples.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Pathogens organized by sample type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267300" y="3650225"/>
            <a:ext cx="16683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Ramesh et al 2019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" name="Google Shape;20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9275" y="59300"/>
            <a:ext cx="3945621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3843800" y="59300"/>
            <a:ext cx="7449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Serum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3759134" y="2187651"/>
            <a:ext cx="11043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 Swabs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7711250" y="747025"/>
            <a:ext cx="14172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P. falciparum + (blood smear test)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>
            <a:spLocks noGrp="1"/>
          </p:cNvSpPr>
          <p:nvPr>
            <p:ph type="title" idx="4294967295"/>
          </p:nvPr>
        </p:nvSpPr>
        <p:spPr>
          <a:xfrm>
            <a:off x="320613" y="0"/>
            <a:ext cx="83928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>
                <a:latin typeface="+mj-lt"/>
                <a:ea typeface="Open Sans"/>
                <a:cs typeface="Open Sans"/>
                <a:sym typeface="Open Sans"/>
              </a:rPr>
              <a:t>Compare samples visually to identify patterns of interest</a:t>
            </a:r>
            <a:endParaRPr sz="250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214" name="Google Shape;21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100" y="907775"/>
            <a:ext cx="8035328" cy="385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>
            <a:spLocks noGrp="1"/>
          </p:cNvSpPr>
          <p:nvPr>
            <p:ph type="title" idx="4294967295"/>
          </p:nvPr>
        </p:nvSpPr>
        <p:spPr>
          <a:xfrm>
            <a:off x="342899" y="254235"/>
            <a:ext cx="8479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>
                <a:latin typeface="+mj-lt"/>
                <a:ea typeface="Open Sans"/>
                <a:cs typeface="Open Sans"/>
                <a:sym typeface="Open Sans"/>
              </a:rPr>
              <a:t>Create viral consensus genomes</a:t>
            </a:r>
            <a:endParaRPr sz="250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375" y="944235"/>
            <a:ext cx="8391252" cy="389446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>
            <a:spLocks noGrp="1"/>
          </p:cNvSpPr>
          <p:nvPr>
            <p:ph type="title" idx="4294967295"/>
          </p:nvPr>
        </p:nvSpPr>
        <p:spPr>
          <a:xfrm>
            <a:off x="342900" y="335425"/>
            <a:ext cx="83928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>
                <a:latin typeface="+mj-lt"/>
                <a:ea typeface="Open Sans"/>
                <a:cs typeface="Open Sans"/>
                <a:sym typeface="Open Sans"/>
              </a:rPr>
              <a:t>View pipeline steps and access intermediate files</a:t>
            </a:r>
            <a:endParaRPr sz="2500"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226" name="Google Shape;226;p14"/>
          <p:cNvPicPr preferRelativeResize="0"/>
          <p:nvPr/>
        </p:nvPicPr>
        <p:blipFill rotWithShape="1">
          <a:blip r:embed="rId3">
            <a:alphaModFix/>
          </a:blip>
          <a:srcRect l="2997" r="1516"/>
          <a:stretch/>
        </p:blipFill>
        <p:spPr>
          <a:xfrm>
            <a:off x="319125" y="1464850"/>
            <a:ext cx="8440351" cy="28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4"/>
          <p:cNvSpPr txBox="1"/>
          <p:nvPr/>
        </p:nvSpPr>
        <p:spPr>
          <a:xfrm>
            <a:off x="3328700" y="4240650"/>
            <a:ext cx="21339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Pipeline visualization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Publications Describing CZ ID Pipelines</a:t>
            </a:r>
            <a:endParaRPr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3" name="Google Shape;9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600">
                <a:solidFill>
                  <a:schemeClr val="dk1"/>
                </a:solidFill>
              </a:rPr>
              <a:t>CZ ID (formerly IDSeq) platform and mNGS Pipeline</a:t>
            </a:r>
            <a:endParaRPr sz="16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IDseq—An open source cloud-based pipeline and analysis service for metagenomic pathogen detection and monitoring</a:t>
            </a:r>
            <a:endParaRPr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Char char="●"/>
            </a:pPr>
            <a:r>
              <a:rPr lang="en" sz="1600">
                <a:solidFill>
                  <a:srgbClr val="2A2A2A"/>
                </a:solidFill>
                <a:highlight>
                  <a:srgbClr val="FFFFFF"/>
                </a:highlight>
              </a:rPr>
              <a:t>CZ ID AMR Pipeline</a:t>
            </a:r>
            <a:endParaRPr sz="16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Simultaneous detection of pathogens and antimicrobial resistance genes with the open source, cloud-based, CZ ID pipeline</a:t>
            </a:r>
            <a:r>
              <a:rPr lang="en">
                <a:solidFill>
                  <a:srgbClr val="2A2A2A"/>
                </a:solidFill>
                <a:highlight>
                  <a:schemeClr val="lt1"/>
                </a:highlight>
              </a:rPr>
              <a:t> (preprint)</a:t>
            </a:r>
            <a:endParaRPr>
              <a:solidFill>
                <a:srgbClr val="2A2A2A"/>
              </a:solidFill>
              <a:highlight>
                <a:schemeClr val="lt1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Char char="●"/>
            </a:pPr>
            <a:r>
              <a:rPr lang="en" sz="1600">
                <a:solidFill>
                  <a:srgbClr val="2A2A2A"/>
                </a:solidFill>
                <a:highlight>
                  <a:srgbClr val="FFFFFF"/>
                </a:highlight>
              </a:rPr>
              <a:t>CZ ID Nanopore mNGS Pipeline</a:t>
            </a:r>
            <a:endParaRPr sz="16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CZ ID: a cloud-based, no-code platform enabling advanced long read metagenomic analysis</a:t>
            </a:r>
            <a:r>
              <a:rPr lang="en">
                <a:solidFill>
                  <a:srgbClr val="2A2A2A"/>
                </a:solidFill>
                <a:highlight>
                  <a:srgbClr val="FFFFFF"/>
                </a:highlight>
              </a:rPr>
              <a:t> (preprint)</a:t>
            </a:r>
            <a:endParaRPr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31309483e_0_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Example Publications</a:t>
            </a:r>
            <a:endParaRPr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9" name="Google Shape;99;g2e31309483e_0_2"/>
          <p:cNvSpPr txBox="1">
            <a:spLocks noGrp="1"/>
          </p:cNvSpPr>
          <p:nvPr>
            <p:ph type="body" idx="1"/>
          </p:nvPr>
        </p:nvSpPr>
        <p:spPr>
          <a:xfrm>
            <a:off x="311700" y="896475"/>
            <a:ext cx="8520600" cy="3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Pathogen genomics in public health</a:t>
            </a:r>
            <a:endParaRPr sz="15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rgbClr val="2A2A2A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Unbiased metagenomic sequencing for pediatric meningitis in Bangladesh reveals neuroinvasive Chikungunya virus outbreak and other unrealized pathogens</a:t>
            </a:r>
            <a:endParaRPr sz="1500">
              <a:solidFill>
                <a:srgbClr val="2A2A2A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Integrating central nervous system metagenomics and host response for diagnosis of tuberculosis meningitis and its mimics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6"/>
              </a:rPr>
              <a:t>Metagenomic sequencing of post-mortem tissue samples for the identification of pathogens associated with neonatal deaths</a:t>
            </a: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ighlight>
                  <a:srgbClr val="FFFFFF"/>
                </a:highlight>
                <a:hlinkClick r:id="rId7"/>
              </a:rPr>
              <a:t>Discovering disease-causing pathogens in resource-scarce Southeast Asia using a global metagenomic pathogen monitoring system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>
            <a:spLocks noGrp="1"/>
          </p:cNvSpPr>
          <p:nvPr>
            <p:ph type="title" idx="4294967295"/>
          </p:nvPr>
        </p:nvSpPr>
        <p:spPr>
          <a:xfrm>
            <a:off x="154749" y="2059135"/>
            <a:ext cx="8479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 dirty="0">
                <a:latin typeface="+mn-lt"/>
                <a:ea typeface="Open Sans"/>
                <a:cs typeface="Open Sans"/>
                <a:sym typeface="Open Sans"/>
              </a:rPr>
              <a:t>And more!</a:t>
            </a:r>
            <a:endParaRPr sz="2500" dirty="0">
              <a:latin typeface="+mn-lt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500" dirty="0">
              <a:latin typeface="+mn-lt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500" dirty="0">
                <a:latin typeface="+mn-lt"/>
                <a:ea typeface="Open Sans"/>
                <a:cs typeface="Open Sans"/>
                <a:sym typeface="Open Sans"/>
              </a:rPr>
              <a:t>Let’s look at the pipeline…</a:t>
            </a:r>
            <a:endParaRPr sz="2500" dirty="0">
              <a:latin typeface="+mn-lt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500" dirty="0">
              <a:latin typeface="+mn-lt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500" dirty="0">
              <a:latin typeface="+mn-lt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sz="2500" dirty="0">
              <a:latin typeface="+mn-lt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25F2FC-CCB2-C89F-D638-439E61221233}"/>
              </a:ext>
            </a:extLst>
          </p:cNvPr>
          <p:cNvSpPr txBox="1"/>
          <p:nvPr/>
        </p:nvSpPr>
        <p:spPr>
          <a:xfrm>
            <a:off x="773524" y="2942170"/>
            <a:ext cx="75969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But first, for ONT only</a:t>
            </a:r>
            <a:r>
              <a:rPr lang="en-US" sz="1800" dirty="0"/>
              <a:t>:</a:t>
            </a:r>
            <a:r>
              <a:rPr lang="en-US" sz="1800" b="1" dirty="0"/>
              <a:t> </a:t>
            </a:r>
            <a:r>
              <a:rPr lang="en-US" sz="1800" dirty="0"/>
              <a:t>DL3-O_Prepare ONT </a:t>
            </a:r>
            <a:r>
              <a:rPr lang="en-US" sz="1800" dirty="0" err="1"/>
              <a:t>fastqs</a:t>
            </a:r>
            <a:r>
              <a:rPr lang="en-US" sz="1800" dirty="0"/>
              <a:t> for upload to CZ ID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Next Slides, Illumina</a:t>
            </a:r>
            <a:r>
              <a:rPr lang="en-US" dirty="0"/>
              <a:t>: DL4-I_CZ ID </a:t>
            </a:r>
            <a:r>
              <a:rPr lang="en-US" dirty="0" err="1"/>
              <a:t>mNGS</a:t>
            </a:r>
            <a:r>
              <a:rPr lang="en-US" dirty="0"/>
              <a:t> Pipeline for Illumina</a:t>
            </a:r>
          </a:p>
          <a:p>
            <a:r>
              <a:rPr lang="en-US" b="1" dirty="0"/>
              <a:t>Next Slides, ONT</a:t>
            </a:r>
            <a:r>
              <a:rPr lang="en-US" dirty="0"/>
              <a:t>: DL4-O_CZ ID </a:t>
            </a:r>
            <a:r>
              <a:rPr lang="en-US" dirty="0" err="1"/>
              <a:t>mNGS</a:t>
            </a:r>
            <a:r>
              <a:rPr lang="en-US" dirty="0"/>
              <a:t> Pipeline for ONT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883</Words>
  <Application>Microsoft Macintosh PowerPoint</Application>
  <PresentationFormat>On-screen Show (16:9)</PresentationFormat>
  <Paragraphs>128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Open Sans</vt:lpstr>
      <vt:lpstr>Roboto</vt:lpstr>
      <vt:lpstr>Poppins</vt:lpstr>
      <vt:lpstr>Lato</vt:lpstr>
      <vt:lpstr>Helvetica Neue Light</vt:lpstr>
      <vt:lpstr>Calibri</vt:lpstr>
      <vt:lpstr>Arial</vt:lpstr>
      <vt:lpstr>Helvetica Neue</vt:lpstr>
      <vt:lpstr>Simple Light</vt:lpstr>
      <vt:lpstr>White</vt:lpstr>
      <vt:lpstr>Disclaimer</vt:lpstr>
      <vt:lpstr>PowerPoint Presentation</vt:lpstr>
      <vt:lpstr>PowerPoint Presentation</vt:lpstr>
      <vt:lpstr>CZ ID integrates bioinformatic tools to enable NGS analysis regardless of available computational resources</vt:lpstr>
      <vt:lpstr>PowerPoint Presentation</vt:lpstr>
      <vt:lpstr>CZ ID supports multiple uses</vt:lpstr>
      <vt:lpstr>PowerPoint Presentation</vt:lpstr>
      <vt:lpstr>CZ ID supports multiple uses</vt:lpstr>
      <vt:lpstr>CZ ID mNGS Analysis Highlights</vt:lpstr>
      <vt:lpstr>Perform QC</vt:lpstr>
      <vt:lpstr>Explore and evaluate metrics for detected microbes</vt:lpstr>
      <vt:lpstr>PowerPoint Presentation</vt:lpstr>
      <vt:lpstr>PowerPoint Presentation</vt:lpstr>
      <vt:lpstr>Compare samples visually to identify patterns of interest</vt:lpstr>
      <vt:lpstr>Create viral consensus genomes</vt:lpstr>
      <vt:lpstr>View pipeline steps and access intermediate files</vt:lpstr>
      <vt:lpstr>Publications Describing CZ ID Pipelines</vt:lpstr>
      <vt:lpstr>Example Publications</vt:lpstr>
      <vt:lpstr>And more!  Let’s look at the pipeline…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7</cp:revision>
  <cp:lastPrinted>2026-09-03T23:19:56Z</cp:lastPrinted>
  <dcterms:modified xsi:type="dcterms:W3CDTF">2026-09-29T00:28:39Z</dcterms:modified>
</cp:coreProperties>
</file>