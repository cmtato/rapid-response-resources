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4" r:id="rId2"/>
    <p:sldMasterId id="2147483674" r:id="rId3"/>
  </p:sldMasterIdLst>
  <p:notesMasterIdLst>
    <p:notesMasterId r:id="rId85"/>
  </p:notesMasterIdLst>
  <p:sldIdLst>
    <p:sldId id="25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36" r:id="rId59"/>
    <p:sldId id="312" r:id="rId60"/>
    <p:sldId id="313" r:id="rId61"/>
    <p:sldId id="314" r:id="rId62"/>
    <p:sldId id="315" r:id="rId63"/>
    <p:sldId id="316" r:id="rId64"/>
    <p:sldId id="317" r:id="rId65"/>
    <p:sldId id="33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Lst>
  <p:sldSz cx="9144000" cy="5143500" type="screen16x9"/>
  <p:notesSz cx="6858000" cy="9144000"/>
  <p:embeddedFontLst>
    <p:embeddedFont>
      <p:font typeface="Avenir" panose="02000503020000020003" pitchFamily="2" charset="0"/>
      <p:regular r:id="rId86"/>
      <p:italic r:id="rId87"/>
    </p:embeddedFont>
    <p:embeddedFont>
      <p:font typeface="Poppins" pitchFamily="2" charset="77"/>
      <p:regular r:id="rId88"/>
      <p:bold r:id="rId89"/>
      <p:italic r:id="rId90"/>
      <p:boldItalic r:id="rId9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96" roundtripDataSignature="AMtx7miCoVWKXmbss6489qzPg+YFxvjz5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2C21A5B-FED4-44AB-A88F-BFDBDDFA4293}">
  <a:tblStyle styleId="{A2C21A5B-FED4-44AB-A88F-BFDBDDFA429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BF5"/>
          </a:solidFill>
        </a:fill>
      </a:tcStyle>
    </a:wholeTbl>
    <a:band1H>
      <a:tcTxStyle b="off" i="off"/>
      <a:tcStyle>
        <a:tcBdr/>
        <a:fill>
          <a:solidFill>
            <a:srgbClr val="CDD4EA"/>
          </a:solidFill>
        </a:fill>
      </a:tcStyle>
    </a:band1H>
    <a:band2H>
      <a:tcTxStyle b="off" i="off"/>
      <a:tcStyle>
        <a:tcBdr/>
      </a:tcStyle>
    </a:band2H>
    <a:band1V>
      <a:tcTxStyle b="off" i="off"/>
      <a:tcStyle>
        <a:tcBdr/>
        <a:fill>
          <a:solidFill>
            <a:srgbClr val="CDD4EA"/>
          </a:solidFill>
        </a:fill>
      </a:tcStyle>
    </a:band1V>
    <a:band2V>
      <a:tcTxStyle b="off" i="off"/>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 styleId="{670C5DA0-37B5-460B-AD53-E6B2C718EC3D}"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4606"/>
  </p:normalViewPr>
  <p:slideViewPr>
    <p:cSldViewPr snapToGrid="0">
      <p:cViewPr varScale="1">
        <p:scale>
          <a:sx n="153" d="100"/>
          <a:sy n="153" d="100"/>
        </p:scale>
        <p:origin x="47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font" Target="fonts/font4.fntdata"/><Relationship Id="rId16" Type="http://schemas.openxmlformats.org/officeDocument/2006/relationships/slide" Target="slides/slide13.xml"/><Relationship Id="rId11" Type="http://schemas.openxmlformats.org/officeDocument/2006/relationships/slide" Target="slides/slide8.xml"/><Relationship Id="rId32" Type="http://schemas.openxmlformats.org/officeDocument/2006/relationships/slide" Target="slides/slide29.xml"/><Relationship Id="rId37" Type="http://schemas.openxmlformats.org/officeDocument/2006/relationships/slide" Target="slides/slide34.xml"/><Relationship Id="rId53" Type="http://schemas.openxmlformats.org/officeDocument/2006/relationships/slide" Target="slides/slide50.xml"/><Relationship Id="rId58" Type="http://schemas.openxmlformats.org/officeDocument/2006/relationships/slide" Target="slides/slide55.xml"/><Relationship Id="rId74" Type="http://schemas.openxmlformats.org/officeDocument/2006/relationships/slide" Target="slides/slide71.xml"/><Relationship Id="rId79" Type="http://schemas.openxmlformats.org/officeDocument/2006/relationships/slide" Target="slides/slide76.xml"/><Relationship Id="rId5" Type="http://schemas.openxmlformats.org/officeDocument/2006/relationships/slide" Target="slides/slide2.xml"/><Relationship Id="rId90" Type="http://schemas.openxmlformats.org/officeDocument/2006/relationships/font" Target="fonts/font5.fntdata"/><Relationship Id="rId22" Type="http://schemas.openxmlformats.org/officeDocument/2006/relationships/slide" Target="slides/slide19.xml"/><Relationship Id="rId27" Type="http://schemas.openxmlformats.org/officeDocument/2006/relationships/slide" Target="slides/slide24.xml"/><Relationship Id="rId43" Type="http://schemas.openxmlformats.org/officeDocument/2006/relationships/slide" Target="slides/slide40.xml"/><Relationship Id="rId48" Type="http://schemas.openxmlformats.org/officeDocument/2006/relationships/slide" Target="slides/slide45.xml"/><Relationship Id="rId64" Type="http://schemas.openxmlformats.org/officeDocument/2006/relationships/slide" Target="slides/slide61.xml"/><Relationship Id="rId69" Type="http://schemas.openxmlformats.org/officeDocument/2006/relationships/slide" Target="slides/slide66.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notesMaster" Target="notesMasters/notesMaster1.xml"/><Relationship Id="rId98"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font" Target="fonts/font3.fntdata"/><Relationship Id="rId91" Type="http://schemas.openxmlformats.org/officeDocument/2006/relationships/font" Target="fonts/font6.fntdata"/><Relationship Id="rId96"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font" Target="fonts/font1.fntdata"/><Relationship Id="rId99"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 Id="rId24" Type="http://schemas.openxmlformats.org/officeDocument/2006/relationships/slide" Target="slides/slide21.xml"/><Relationship Id="rId40" Type="http://schemas.openxmlformats.org/officeDocument/2006/relationships/slide" Target="slides/slide37.xml"/><Relationship Id="rId45" Type="http://schemas.openxmlformats.org/officeDocument/2006/relationships/slide" Target="slides/slide42.xml"/><Relationship Id="rId66" Type="http://schemas.openxmlformats.org/officeDocument/2006/relationships/slide" Target="slides/slide63.xml"/><Relationship Id="rId87" Type="http://schemas.openxmlformats.org/officeDocument/2006/relationships/font" Target="fonts/font2.fntdata"/><Relationship Id="rId61" Type="http://schemas.openxmlformats.org/officeDocument/2006/relationships/slide" Target="slides/slide58.xml"/><Relationship Id="rId82" Type="http://schemas.openxmlformats.org/officeDocument/2006/relationships/slide" Target="slides/slide79.xml"/><Relationship Id="rId19" Type="http://schemas.openxmlformats.org/officeDocument/2006/relationships/slide" Target="slides/slide16.xml"/><Relationship Id="rId14" Type="http://schemas.openxmlformats.org/officeDocument/2006/relationships/slide" Target="slides/slide11.xml"/><Relationship Id="rId30" Type="http://schemas.openxmlformats.org/officeDocument/2006/relationships/slide" Target="slides/slide27.xml"/><Relationship Id="rId35" Type="http://schemas.openxmlformats.org/officeDocument/2006/relationships/slide" Target="slides/slide32.xml"/><Relationship Id="rId56" Type="http://schemas.openxmlformats.org/officeDocument/2006/relationships/slide" Target="slides/slide53.xml"/><Relationship Id="rId77" Type="http://schemas.openxmlformats.org/officeDocument/2006/relationships/slide" Target="slides/slide74.xml"/><Relationship Id="rId10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7" name="Google Shape;18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7" name="Google Shape;207;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3" name="Google Shape;21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4" name="Google Shape;254;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1" name="Google Shape;321;p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32" name="Google Shape;332;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4" name="Google Shape;344;p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
              <a:t>@&lt;instrument&gt;:&lt;run number&gt;:&lt;flowcell ID&gt;:&lt;lane&gt;:&lt;tile&gt;:&lt;x-pos&gt;:&lt;y-pos&gt; &lt;read&gt;:&lt;is filtered&gt;:&lt;control number&gt;:&lt;sample number&gt;</a:t>
            </a:r>
            <a:endParaRPr/>
          </a:p>
          <a:p>
            <a:pPr marL="0" lvl="0" indent="0" algn="l" rtl="0">
              <a:lnSpc>
                <a:spcPct val="100000"/>
              </a:lnSpc>
              <a:spcBef>
                <a:spcPts val="0"/>
              </a:spcBef>
              <a:spcAft>
                <a:spcPts val="0"/>
              </a:spcAft>
              <a:buSzPts val="1100"/>
              <a:buNone/>
            </a:pPr>
            <a:endParaRPr/>
          </a:p>
        </p:txBody>
      </p:sp>
      <p:sp>
        <p:nvSpPr>
          <p:cNvPr id="357" name="Google Shape;357;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7" name="Google Shape;36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How many reads are listed here?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6" name="Google Shape;37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How many reads are listed here?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4" name="Google Shape;38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92" name="Google Shape;392;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p13: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2" name="Google Shape;402;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14:notes"/>
          <p:cNvSpPr txBox="1">
            <a:spLocks noGrp="1"/>
          </p:cNvSpPr>
          <p:nvPr>
            <p:ph type="body" idx="1"/>
          </p:nvPr>
        </p:nvSpPr>
        <p:spPr>
          <a:xfrm>
            <a:off x="914400" y="4343400"/>
            <a:ext cx="50292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08" name="Google Shape;408;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4" name="Google Shape;414;p1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6"/>
        <p:cNvGrpSpPr/>
        <p:nvPr/>
      </p:nvGrpSpPr>
      <p:grpSpPr>
        <a:xfrm>
          <a:off x="0" y="0"/>
          <a:ext cx="0" cy="0"/>
          <a:chOff x="0" y="0"/>
          <a:chExt cx="0" cy="0"/>
        </a:xfrm>
      </p:grpSpPr>
      <p:sp>
        <p:nvSpPr>
          <p:cNvPr id="427" name="Google Shape;427;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28" name="Google Shape;428;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g36f50cf8f39_0_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57" name="Google Shape;457;g36f50cf8f39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5"/>
        <p:cNvGrpSpPr/>
        <p:nvPr/>
      </p:nvGrpSpPr>
      <p:grpSpPr>
        <a:xfrm>
          <a:off x="0" y="0"/>
          <a:ext cx="0" cy="0"/>
          <a:chOff x="0" y="0"/>
          <a:chExt cx="0" cy="0"/>
        </a:xfrm>
      </p:grpSpPr>
      <p:sp>
        <p:nvSpPr>
          <p:cNvPr id="486" name="Google Shape;486;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7" name="Google Shape;487;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36f311d52c8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15" name="Google Shape;515;g36f311d52c8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6f325ecb3f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31" name="Google Shape;531;g36f325ecb3f_0_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3" name="Google Shape;54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50" name="Google Shape;55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Complexity: 30 in illumina 60 in nanopore</a:t>
            </a:r>
            <a:endParaRPr/>
          </a:p>
          <a:p>
            <a:pPr marL="0" lvl="0" indent="0" algn="l" rtl="0">
              <a:lnSpc>
                <a:spcPct val="100000"/>
              </a:lnSpc>
              <a:spcBef>
                <a:spcPts val="0"/>
              </a:spcBef>
              <a:spcAft>
                <a:spcPts val="0"/>
              </a:spcAft>
              <a:buSzPts val="1100"/>
              <a:buNone/>
            </a:pPr>
            <a:r>
              <a:rPr lang="en"/>
              <a:t>Quality: 17 illumina 9 ont</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9" name="Google Shape;559;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6" name="Google Shape;576;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Total nucleic acid input, host-to-microbial ratio, and underlying microbial diversity differ significantly across sample types and influence downstream analysis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2" name="Google Shape;60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7"/>
        <p:cNvGrpSpPr/>
        <p:nvPr/>
      </p:nvGrpSpPr>
      <p:grpSpPr>
        <a:xfrm>
          <a:off x="0" y="0"/>
          <a:ext cx="0" cy="0"/>
          <a:chOff x="0" y="0"/>
          <a:chExt cx="0" cy="0"/>
        </a:xfrm>
      </p:grpSpPr>
      <p:sp>
        <p:nvSpPr>
          <p:cNvPr id="608" name="Google Shape;60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09" name="Google Shape;609;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17" name="Google Shape;617;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4" name="Google Shape;634;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0" name="Google Shape;64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3568970961c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8" name="Google Shape;648;g3568970961c_0_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Helvetica Neue"/>
                <a:ea typeface="Helvetica Neue"/>
                <a:cs typeface="Helvetica Neue"/>
                <a:sym typeface="Helvetica Neue"/>
              </a:rPr>
              <a:t>Why calculate non-deduplicated values?</a:t>
            </a:r>
          </a:p>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b="0" i="0" u="none" strike="noStrike" cap="none">
                <a:solidFill>
                  <a:srgbClr val="000000"/>
                </a:solidFill>
                <a:latin typeface="Helvetica Neue"/>
                <a:ea typeface="Helvetica Neue"/>
                <a:cs typeface="Helvetica Neue"/>
                <a:sym typeface="Helvetica Neue"/>
              </a:rPr>
              <a:t>	In case of enrichment data such as MSSPE, amplicon, hybridization, or FLASH where duplicates are expected from the enrichment technique</a:t>
            </a: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58" name="Google Shape;658;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3"/>
        <p:cNvGrpSpPr/>
        <p:nvPr/>
      </p:nvGrpSpPr>
      <p:grpSpPr>
        <a:xfrm>
          <a:off x="0" y="0"/>
          <a:ext cx="0" cy="0"/>
          <a:chOff x="0" y="0"/>
          <a:chExt cx="0" cy="0"/>
        </a:xfrm>
      </p:grpSpPr>
      <p:sp>
        <p:nvSpPr>
          <p:cNvPr id="674" name="Google Shape;674;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75" name="Google Shape;675;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1" name="Google Shape;681;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87" name="Google Shape;687;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Number of k-mers = L - k +1, where L is the length of the sequence and k is the k-mer size</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1" name="Google Shape;701;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7"/>
        <p:cNvGrpSpPr/>
        <p:nvPr/>
      </p:nvGrpSpPr>
      <p:grpSpPr>
        <a:xfrm>
          <a:off x="0" y="0"/>
          <a:ext cx="0" cy="0"/>
          <a:chOff x="0" y="0"/>
          <a:chExt cx="0" cy="0"/>
        </a:xfrm>
      </p:grpSpPr>
      <p:sp>
        <p:nvSpPr>
          <p:cNvPr id="708" name="Google Shape;708;g3568970961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9" name="Google Shape;709;g3568970961c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8" name="Google Shape;71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8" name="Google Shape;728;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9" name="Google Shape;759;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8"/>
        <p:cNvGrpSpPr/>
        <p:nvPr/>
      </p:nvGrpSpPr>
      <p:grpSpPr>
        <a:xfrm>
          <a:off x="0" y="0"/>
          <a:ext cx="0" cy="0"/>
          <a:chOff x="0" y="0"/>
          <a:chExt cx="0" cy="0"/>
        </a:xfrm>
      </p:grpSpPr>
      <p:sp>
        <p:nvSpPr>
          <p:cNvPr id="789" name="Google Shape;789;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90" name="Google Shape;790;p3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3568970961c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0" name="Google Shape;820;g3568970961c_0_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50" name="Google Shape;850;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9" name="Google Shape;879;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050">
                <a:solidFill>
                  <a:srgbClr val="222222"/>
                </a:solidFill>
                <a:highlight>
                  <a:srgbClr val="FFFFFF"/>
                </a:highlight>
              </a:rPr>
              <a:t>matches each k-mer within a query sequence to the lowest common ancestor (LCA) of all genomes containing the given k-mer</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0"/>
        <p:cNvGrpSpPr/>
        <p:nvPr/>
      </p:nvGrpSpPr>
      <p:grpSpPr>
        <a:xfrm>
          <a:off x="0" y="0"/>
          <a:ext cx="0" cy="0"/>
          <a:chOff x="0" y="0"/>
          <a:chExt cx="0" cy="0"/>
        </a:xfrm>
      </p:grpSpPr>
      <p:sp>
        <p:nvSpPr>
          <p:cNvPr id="891" name="Google Shape;89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2" name="Google Shape;892;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sz="1050">
                <a:solidFill>
                  <a:srgbClr val="222222"/>
                </a:solidFill>
                <a:highlight>
                  <a:srgbClr val="FFFFFF"/>
                </a:highlight>
              </a:rPr>
              <a:t>matches each k-mer within a query sequence to the lowest common ancestor (LCA) of all genomes containing the given k-mer</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8" name="Google Shape;908;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Good post for understanding k-mers: https://bioinfologics.github.io/post/2018/09/17/k-mer-counting-part-i-introduction/</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4" name="Google Shape;914;p4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20" name="Google Shape;920;p4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0"/>
        <p:cNvGrpSpPr/>
        <p:nvPr/>
      </p:nvGrpSpPr>
      <p:grpSpPr>
        <a:xfrm>
          <a:off x="0" y="0"/>
          <a:ext cx="0" cy="0"/>
          <a:chOff x="0" y="0"/>
          <a:chExt cx="0" cy="0"/>
        </a:xfrm>
      </p:grpSpPr>
      <p:sp>
        <p:nvSpPr>
          <p:cNvPr id="931" name="Google Shape;931;p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32" name="Google Shape;932;p4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4" name="Google Shape;944;p4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8"/>
        <p:cNvGrpSpPr/>
        <p:nvPr/>
      </p:nvGrpSpPr>
      <p:grpSpPr>
        <a:xfrm>
          <a:off x="0" y="0"/>
          <a:ext cx="0" cy="0"/>
          <a:chOff x="0" y="0"/>
          <a:chExt cx="0" cy="0"/>
        </a:xfrm>
      </p:grpSpPr>
      <p:sp>
        <p:nvSpPr>
          <p:cNvPr id="959" name="Google Shape;959;p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60" name="Google Shape;960;p4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7" name="Google Shape;977;p4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1"/>
        <p:cNvGrpSpPr/>
        <p:nvPr/>
      </p:nvGrpSpPr>
      <p:grpSpPr>
        <a:xfrm>
          <a:off x="0" y="0"/>
          <a:ext cx="0" cy="0"/>
          <a:chOff x="0" y="0"/>
          <a:chExt cx="0" cy="0"/>
        </a:xfrm>
      </p:grpSpPr>
      <p:sp>
        <p:nvSpPr>
          <p:cNvPr id="982" name="Google Shape;982;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3" name="Google Shape;983;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8"/>
        <p:cNvGrpSpPr/>
        <p:nvPr/>
      </p:nvGrpSpPr>
      <p:grpSpPr>
        <a:xfrm>
          <a:off x="0" y="0"/>
          <a:ext cx="0" cy="0"/>
          <a:chOff x="0" y="0"/>
          <a:chExt cx="0" cy="0"/>
        </a:xfrm>
      </p:grpSpPr>
      <p:sp>
        <p:nvSpPr>
          <p:cNvPr id="989" name="Google Shape;989;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0" name="Google Shape;990;p5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99" name="Google Shape;999;p5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18" name="Google Shape;918;p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3"/>
        <p:cNvGrpSpPr/>
        <p:nvPr/>
      </p:nvGrpSpPr>
      <p:grpSpPr>
        <a:xfrm>
          <a:off x="0" y="0"/>
          <a:ext cx="0" cy="0"/>
          <a:chOff x="0" y="0"/>
          <a:chExt cx="0" cy="0"/>
        </a:xfrm>
      </p:grpSpPr>
      <p:sp>
        <p:nvSpPr>
          <p:cNvPr id="1004" name="Google Shape;1004;g34dfca242b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5" name="Google Shape;1005;g34dfca242b7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1"/>
        <p:cNvGrpSpPr/>
        <p:nvPr/>
      </p:nvGrpSpPr>
      <p:grpSpPr>
        <a:xfrm>
          <a:off x="0" y="0"/>
          <a:ext cx="0" cy="0"/>
          <a:chOff x="0" y="0"/>
          <a:chExt cx="0" cy="0"/>
        </a:xfrm>
      </p:grpSpPr>
      <p:sp>
        <p:nvSpPr>
          <p:cNvPr id="1012" name="Google Shape;1012;g34dfca242b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3" name="Google Shape;1013;g34dfca242b7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0"/>
        <p:cNvGrpSpPr/>
        <p:nvPr/>
      </p:nvGrpSpPr>
      <p:grpSpPr>
        <a:xfrm>
          <a:off x="0" y="0"/>
          <a:ext cx="0" cy="0"/>
          <a:chOff x="0" y="0"/>
          <a:chExt cx="0" cy="0"/>
        </a:xfrm>
      </p:grpSpPr>
      <p:sp>
        <p:nvSpPr>
          <p:cNvPr id="1031" name="Google Shape;1031;g34dfca242b7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2" name="Google Shape;1032;g34dfca242b7_0_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34dfca242b7_0_1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55" name="Google Shape;1055;g34dfca242b7_0_1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4"/>
        <p:cNvGrpSpPr/>
        <p:nvPr/>
      </p:nvGrpSpPr>
      <p:grpSpPr>
        <a:xfrm>
          <a:off x="0" y="0"/>
          <a:ext cx="0" cy="0"/>
          <a:chOff x="0" y="0"/>
          <a:chExt cx="0" cy="0"/>
        </a:xfrm>
      </p:grpSpPr>
      <p:sp>
        <p:nvSpPr>
          <p:cNvPr id="1085" name="Google Shape;1085;p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86" name="Google Shape;1086;p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p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8" name="Google Shape;1108;p5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3568970961c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16" name="Google Shape;1116;g3568970961c_0_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2" name="Google Shape;1122;p5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6"/>
        <p:cNvGrpSpPr/>
        <p:nvPr/>
      </p:nvGrpSpPr>
      <p:grpSpPr>
        <a:xfrm>
          <a:off x="0" y="0"/>
          <a:ext cx="0" cy="0"/>
          <a:chOff x="0" y="0"/>
          <a:chExt cx="0" cy="0"/>
        </a:xfrm>
      </p:grpSpPr>
      <p:sp>
        <p:nvSpPr>
          <p:cNvPr id="1127" name="Google Shape;1127;p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28" name="Google Shape;1128;p5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34" name="Google Shape;1134;p5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0" name="Google Shape;1140;p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4"/>
        <p:cNvGrpSpPr/>
        <p:nvPr/>
      </p:nvGrpSpPr>
      <p:grpSpPr>
        <a:xfrm>
          <a:off x="0" y="0"/>
          <a:ext cx="0" cy="0"/>
          <a:chOff x="0" y="0"/>
          <a:chExt cx="0" cy="0"/>
        </a:xfrm>
      </p:grpSpPr>
      <p:sp>
        <p:nvSpPr>
          <p:cNvPr id="1145" name="Google Shape;1145;g36f5f7fd2e5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46" name="Google Shape;1146;g36f5f7fd2e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4"/>
        <p:cNvGrpSpPr/>
        <p:nvPr/>
      </p:nvGrpSpPr>
      <p:grpSpPr>
        <a:xfrm>
          <a:off x="0" y="0"/>
          <a:ext cx="0" cy="0"/>
          <a:chOff x="0" y="0"/>
          <a:chExt cx="0" cy="0"/>
        </a:xfrm>
      </p:grpSpPr>
      <p:sp>
        <p:nvSpPr>
          <p:cNvPr id="1155" name="Google Shape;1155;g36f50cf8f39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56" name="Google Shape;1156;g36f50cf8f39_0_1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8"/>
        <p:cNvGrpSpPr/>
        <p:nvPr/>
      </p:nvGrpSpPr>
      <p:grpSpPr>
        <a:xfrm>
          <a:off x="0" y="0"/>
          <a:ext cx="0" cy="0"/>
          <a:chOff x="0" y="0"/>
          <a:chExt cx="0" cy="0"/>
        </a:xfrm>
      </p:grpSpPr>
      <p:sp>
        <p:nvSpPr>
          <p:cNvPr id="1169" name="Google Shape;1169;g36f50cf8f39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70" name="Google Shape;1170;g36f50cf8f39_0_1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3"/>
        <p:cNvGrpSpPr/>
        <p:nvPr/>
      </p:nvGrpSpPr>
      <p:grpSpPr>
        <a:xfrm>
          <a:off x="0" y="0"/>
          <a:ext cx="0" cy="0"/>
          <a:chOff x="0" y="0"/>
          <a:chExt cx="0" cy="0"/>
        </a:xfrm>
      </p:grpSpPr>
      <p:sp>
        <p:nvSpPr>
          <p:cNvPr id="1184" name="Google Shape;1184;p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85" name="Google Shape;1185;p6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93" name="Google Shape;1193;p6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9"/>
        <p:cNvGrpSpPr/>
        <p:nvPr/>
      </p:nvGrpSpPr>
      <p:grpSpPr>
        <a:xfrm>
          <a:off x="0" y="0"/>
          <a:ext cx="0" cy="0"/>
          <a:chOff x="0" y="0"/>
          <a:chExt cx="0" cy="0"/>
        </a:xfrm>
      </p:grpSpPr>
      <p:sp>
        <p:nvSpPr>
          <p:cNvPr id="1200" name="Google Shape;1200;p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1" name="Google Shape;1201;p6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7"/>
        <p:cNvGrpSpPr/>
        <p:nvPr/>
      </p:nvGrpSpPr>
      <p:grpSpPr>
        <a:xfrm>
          <a:off x="0" y="0"/>
          <a:ext cx="0" cy="0"/>
          <a:chOff x="0" y="0"/>
          <a:chExt cx="0" cy="0"/>
        </a:xfrm>
      </p:grpSpPr>
      <p:sp>
        <p:nvSpPr>
          <p:cNvPr id="1208" name="Google Shape;1208;p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09" name="Google Shape;1209;p6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5"/>
        <p:cNvGrpSpPr/>
        <p:nvPr/>
      </p:nvGrpSpPr>
      <p:grpSpPr>
        <a:xfrm>
          <a:off x="0" y="0"/>
          <a:ext cx="0" cy="0"/>
          <a:chOff x="0" y="0"/>
          <a:chExt cx="0" cy="0"/>
        </a:xfrm>
      </p:grpSpPr>
      <p:sp>
        <p:nvSpPr>
          <p:cNvPr id="1216" name="Google Shape;1216;p6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17" name="Google Shape;1217;p6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8"/>
        <p:cNvGrpSpPr/>
        <p:nvPr/>
      </p:nvGrpSpPr>
      <p:grpSpPr>
        <a:xfrm>
          <a:off x="0" y="0"/>
          <a:ext cx="0" cy="0"/>
          <a:chOff x="0" y="0"/>
          <a:chExt cx="0" cy="0"/>
        </a:xfrm>
      </p:grpSpPr>
      <p:sp>
        <p:nvSpPr>
          <p:cNvPr id="1239" name="Google Shape;1239;p6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0" name="Google Shape;1240;p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4"/>
        <p:cNvGrpSpPr/>
        <p:nvPr/>
      </p:nvGrpSpPr>
      <p:grpSpPr>
        <a:xfrm>
          <a:off x="0" y="0"/>
          <a:ext cx="0" cy="0"/>
          <a:chOff x="0" y="0"/>
          <a:chExt cx="0" cy="0"/>
        </a:xfrm>
      </p:grpSpPr>
      <p:sp>
        <p:nvSpPr>
          <p:cNvPr id="1245" name="Google Shape;1245;p6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6" name="Google Shape;1246;p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p6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2" name="Google Shape;1252;p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p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58" name="Google Shape;1258;p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2"/>
        <p:cNvGrpSpPr/>
        <p:nvPr/>
      </p:nvGrpSpPr>
      <p:grpSpPr>
        <a:xfrm>
          <a:off x="0" y="0"/>
          <a:ext cx="0" cy="0"/>
          <a:chOff x="0" y="0"/>
          <a:chExt cx="0" cy="0"/>
        </a:xfrm>
      </p:grpSpPr>
      <p:sp>
        <p:nvSpPr>
          <p:cNvPr id="1263" name="Google Shape;1263;p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4" name="Google Shape;1264;p7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tx">
  <p:cSld name="TITLE_AND_BODY">
    <p:spTree>
      <p:nvGrpSpPr>
        <p:cNvPr id="1" name="Shape 9"/>
        <p:cNvGrpSpPr/>
        <p:nvPr/>
      </p:nvGrpSpPr>
      <p:grpSpPr>
        <a:xfrm>
          <a:off x="0" y="0"/>
          <a:ext cx="0" cy="0"/>
          <a:chOff x="0" y="0"/>
          <a:chExt cx="0" cy="0"/>
        </a:xfrm>
      </p:grpSpPr>
      <p:sp>
        <p:nvSpPr>
          <p:cNvPr id="10" name="Google Shape;10;p73"/>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mp; Bullets">
  <p:cSld name="Title &amp; Bullets">
    <p:spTree>
      <p:nvGrpSpPr>
        <p:cNvPr id="1" name="Shape 15"/>
        <p:cNvGrpSpPr/>
        <p:nvPr/>
      </p:nvGrpSpPr>
      <p:grpSpPr>
        <a:xfrm>
          <a:off x="0" y="0"/>
          <a:ext cx="0" cy="0"/>
          <a:chOff x="0" y="0"/>
          <a:chExt cx="0" cy="0"/>
        </a:xfrm>
      </p:grpSpPr>
      <p:sp>
        <p:nvSpPr>
          <p:cNvPr id="16" name="Google Shape;16;p74"/>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17" name="Google Shape;17;p74"/>
          <p:cNvSpPr txBox="1">
            <a:spLocks noGrp="1"/>
          </p:cNvSpPr>
          <p:nvPr>
            <p:ph type="body" idx="1"/>
          </p:nvPr>
        </p:nvSpPr>
        <p:spPr>
          <a:xfrm>
            <a:off x="633413" y="1181100"/>
            <a:ext cx="7877100" cy="3486000"/>
          </a:xfrm>
          <a:prstGeom prst="rect">
            <a:avLst/>
          </a:prstGeom>
          <a:noFill/>
          <a:ln>
            <a:noFill/>
          </a:ln>
        </p:spPr>
        <p:txBody>
          <a:bodyPr spcFirstLastPara="1" wrap="square" lIns="19050" tIns="19050" rIns="19050" bIns="19050" anchor="ctr" anchorCtr="0">
            <a:noAutofit/>
          </a:bodyPr>
          <a:lstStyle>
            <a:lvl1pPr marL="457200" lvl="0" indent="-374650" algn="l">
              <a:lnSpc>
                <a:spcPct val="100000"/>
              </a:lnSpc>
              <a:spcBef>
                <a:spcPts val="2200"/>
              </a:spcBef>
              <a:spcAft>
                <a:spcPts val="0"/>
              </a:spcAft>
              <a:buClr>
                <a:srgbClr val="000000"/>
              </a:buClr>
              <a:buSzPts val="2300"/>
              <a:buFont typeface="Helvetica Neue"/>
              <a:buChar char="•"/>
              <a:defRPr sz="1800"/>
            </a:lvl1pPr>
            <a:lvl2pPr marL="914400" lvl="1" indent="-374650" algn="l">
              <a:lnSpc>
                <a:spcPct val="100000"/>
              </a:lnSpc>
              <a:spcBef>
                <a:spcPts val="2200"/>
              </a:spcBef>
              <a:spcAft>
                <a:spcPts val="0"/>
              </a:spcAft>
              <a:buClr>
                <a:srgbClr val="000000"/>
              </a:buClr>
              <a:buSzPts val="2300"/>
              <a:buFont typeface="Helvetica Neue"/>
              <a:buChar char="•"/>
              <a:defRPr sz="1800"/>
            </a:lvl2pPr>
            <a:lvl3pPr marL="1371600" lvl="2" indent="-374650" algn="l">
              <a:lnSpc>
                <a:spcPct val="100000"/>
              </a:lnSpc>
              <a:spcBef>
                <a:spcPts val="2200"/>
              </a:spcBef>
              <a:spcAft>
                <a:spcPts val="0"/>
              </a:spcAft>
              <a:buClr>
                <a:srgbClr val="000000"/>
              </a:buClr>
              <a:buSzPts val="2300"/>
              <a:buFont typeface="Helvetica Neue"/>
              <a:buChar char="•"/>
              <a:defRPr sz="1800"/>
            </a:lvl3pPr>
            <a:lvl4pPr marL="1828800" lvl="3" indent="-374650" algn="l">
              <a:lnSpc>
                <a:spcPct val="100000"/>
              </a:lnSpc>
              <a:spcBef>
                <a:spcPts val="2200"/>
              </a:spcBef>
              <a:spcAft>
                <a:spcPts val="0"/>
              </a:spcAft>
              <a:buClr>
                <a:srgbClr val="000000"/>
              </a:buClr>
              <a:buSzPts val="2300"/>
              <a:buFont typeface="Helvetica Neue"/>
              <a:buChar char="•"/>
              <a:defRPr sz="1800"/>
            </a:lvl4pPr>
            <a:lvl5pPr marL="2286000" lvl="4" indent="-374650" algn="l">
              <a:lnSpc>
                <a:spcPct val="100000"/>
              </a:lnSpc>
              <a:spcBef>
                <a:spcPts val="2200"/>
              </a:spcBef>
              <a:spcAft>
                <a:spcPts val="0"/>
              </a:spcAft>
              <a:buClr>
                <a:srgbClr val="000000"/>
              </a:buClr>
              <a:buSzPts val="2300"/>
              <a:buFont typeface="Helvetica Neue"/>
              <a:buChar char="•"/>
              <a:defRPr sz="18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18" name="Google Shape;18;p74"/>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mp; Subtitle" type="title">
  <p:cSld name="TITLE">
    <p:spTree>
      <p:nvGrpSpPr>
        <p:cNvPr id="1" name="Shape 19"/>
        <p:cNvGrpSpPr/>
        <p:nvPr/>
      </p:nvGrpSpPr>
      <p:grpSpPr>
        <a:xfrm>
          <a:off x="0" y="0"/>
          <a:ext cx="0" cy="0"/>
          <a:chOff x="0" y="0"/>
          <a:chExt cx="0" cy="0"/>
        </a:xfrm>
      </p:grpSpPr>
      <p:sp>
        <p:nvSpPr>
          <p:cNvPr id="20" name="Google Shape;20;p79"/>
          <p:cNvSpPr txBox="1">
            <a:spLocks noGrp="1"/>
          </p:cNvSpPr>
          <p:nvPr>
            <p:ph type="title"/>
          </p:nvPr>
        </p:nvSpPr>
        <p:spPr>
          <a:xfrm>
            <a:off x="666750" y="862013"/>
            <a:ext cx="7810500" cy="17430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21" name="Google Shape;21;p79"/>
          <p:cNvSpPr txBox="1">
            <a:spLocks noGrp="1"/>
          </p:cNvSpPr>
          <p:nvPr>
            <p:ph type="body" idx="1"/>
          </p:nvPr>
        </p:nvSpPr>
        <p:spPr>
          <a:xfrm>
            <a:off x="666750" y="2652713"/>
            <a:ext cx="7810500" cy="5952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pic>
        <p:nvPicPr>
          <p:cNvPr id="22" name="Google Shape;22;p79" descr="IDseq_logo.png"/>
          <p:cNvPicPr preferRelativeResize="0"/>
          <p:nvPr/>
        </p:nvPicPr>
        <p:blipFill rotWithShape="1">
          <a:blip r:embed="rId2">
            <a:alphaModFix/>
          </a:blip>
          <a:srcRect/>
          <a:stretch/>
        </p:blipFill>
        <p:spPr>
          <a:xfrm>
            <a:off x="8236538" y="96775"/>
            <a:ext cx="815933" cy="264592"/>
          </a:xfrm>
          <a:prstGeom prst="rect">
            <a:avLst/>
          </a:prstGeom>
          <a:noFill/>
          <a:ln>
            <a:noFill/>
          </a:ln>
        </p:spPr>
      </p:pic>
      <p:sp>
        <p:nvSpPr>
          <p:cNvPr id="23" name="Google Shape;23;p79"/>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Top">
  <p:cSld name="Title - Top">
    <p:spTree>
      <p:nvGrpSpPr>
        <p:cNvPr id="1" name="Shape 24"/>
        <p:cNvGrpSpPr/>
        <p:nvPr/>
      </p:nvGrpSpPr>
      <p:grpSpPr>
        <a:xfrm>
          <a:off x="0" y="0"/>
          <a:ext cx="0" cy="0"/>
          <a:chOff x="0" y="0"/>
          <a:chExt cx="0" cy="0"/>
        </a:xfrm>
      </p:grpSpPr>
      <p:sp>
        <p:nvSpPr>
          <p:cNvPr id="25" name="Google Shape;25;p80"/>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26" name="Google Shape;26;p80"/>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6">
  <p:cSld name="Title and body 6">
    <p:spTree>
      <p:nvGrpSpPr>
        <p:cNvPr id="1" name="Shape 27"/>
        <p:cNvGrpSpPr/>
        <p:nvPr/>
      </p:nvGrpSpPr>
      <p:grpSpPr>
        <a:xfrm>
          <a:off x="0" y="0"/>
          <a:ext cx="0" cy="0"/>
          <a:chOff x="0" y="0"/>
          <a:chExt cx="0" cy="0"/>
        </a:xfrm>
      </p:grpSpPr>
      <p:sp>
        <p:nvSpPr>
          <p:cNvPr id="28" name="Google Shape;28;p82"/>
          <p:cNvSpPr txBox="1">
            <a:spLocks noGrp="1"/>
          </p:cNvSpPr>
          <p:nvPr>
            <p:ph type="title"/>
          </p:nvPr>
        </p:nvSpPr>
        <p:spPr>
          <a:xfrm>
            <a:off x="311700" y="445025"/>
            <a:ext cx="8520600" cy="5727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SzPts val="4200"/>
              <a:buNone/>
              <a:defRPr/>
            </a:lvl1pPr>
            <a:lvl2pPr lvl="1" algn="ctr">
              <a:lnSpc>
                <a:spcPct val="100000"/>
              </a:lnSpc>
              <a:spcBef>
                <a:spcPts val="0"/>
              </a:spcBef>
              <a:spcAft>
                <a:spcPts val="0"/>
              </a:spcAft>
              <a:buSzPts val="4200"/>
              <a:buNone/>
              <a:defRPr/>
            </a:lvl2pPr>
            <a:lvl3pPr lvl="2" algn="ctr">
              <a:lnSpc>
                <a:spcPct val="100000"/>
              </a:lnSpc>
              <a:spcBef>
                <a:spcPts val="0"/>
              </a:spcBef>
              <a:spcAft>
                <a:spcPts val="0"/>
              </a:spcAft>
              <a:buSzPts val="4200"/>
              <a:buNone/>
              <a:defRPr/>
            </a:lvl3pPr>
            <a:lvl4pPr lvl="3" algn="ctr">
              <a:lnSpc>
                <a:spcPct val="100000"/>
              </a:lnSpc>
              <a:spcBef>
                <a:spcPts val="0"/>
              </a:spcBef>
              <a:spcAft>
                <a:spcPts val="0"/>
              </a:spcAft>
              <a:buSzPts val="4200"/>
              <a:buNone/>
              <a:defRPr/>
            </a:lvl4pPr>
            <a:lvl5pPr lvl="4" algn="ctr">
              <a:lnSpc>
                <a:spcPct val="100000"/>
              </a:lnSpc>
              <a:spcBef>
                <a:spcPts val="0"/>
              </a:spcBef>
              <a:spcAft>
                <a:spcPts val="0"/>
              </a:spcAft>
              <a:buSzPts val="4200"/>
              <a:buNone/>
              <a:defRPr/>
            </a:lvl5pPr>
            <a:lvl6pPr lvl="5" algn="ctr">
              <a:lnSpc>
                <a:spcPct val="100000"/>
              </a:lnSpc>
              <a:spcBef>
                <a:spcPts val="0"/>
              </a:spcBef>
              <a:spcAft>
                <a:spcPts val="0"/>
              </a:spcAft>
              <a:buSzPts val="4200"/>
              <a:buNone/>
              <a:defRPr/>
            </a:lvl6pPr>
            <a:lvl7pPr lvl="6" algn="ctr">
              <a:lnSpc>
                <a:spcPct val="100000"/>
              </a:lnSpc>
              <a:spcBef>
                <a:spcPts val="0"/>
              </a:spcBef>
              <a:spcAft>
                <a:spcPts val="0"/>
              </a:spcAft>
              <a:buSzPts val="4200"/>
              <a:buNone/>
              <a:defRPr/>
            </a:lvl7pPr>
            <a:lvl8pPr lvl="7" algn="ctr">
              <a:lnSpc>
                <a:spcPct val="100000"/>
              </a:lnSpc>
              <a:spcBef>
                <a:spcPts val="0"/>
              </a:spcBef>
              <a:spcAft>
                <a:spcPts val="0"/>
              </a:spcAft>
              <a:buSzPts val="4200"/>
              <a:buNone/>
              <a:defRPr/>
            </a:lvl8pPr>
            <a:lvl9pPr lvl="8" algn="ctr">
              <a:lnSpc>
                <a:spcPct val="100000"/>
              </a:lnSpc>
              <a:spcBef>
                <a:spcPts val="0"/>
              </a:spcBef>
              <a:spcAft>
                <a:spcPts val="0"/>
              </a:spcAft>
              <a:buSzPts val="4200"/>
              <a:buNone/>
              <a:defRPr/>
            </a:lvl9pPr>
          </a:lstStyle>
          <a:p>
            <a:endParaRPr/>
          </a:p>
        </p:txBody>
      </p:sp>
      <p:sp>
        <p:nvSpPr>
          <p:cNvPr id="29" name="Google Shape;29;p82"/>
          <p:cNvSpPr txBox="1">
            <a:spLocks noGrp="1"/>
          </p:cNvSpPr>
          <p:nvPr>
            <p:ph type="body" idx="1"/>
          </p:nvPr>
        </p:nvSpPr>
        <p:spPr>
          <a:xfrm>
            <a:off x="311700" y="1152475"/>
            <a:ext cx="8520600" cy="3416400"/>
          </a:xfrm>
          <a:prstGeom prst="rect">
            <a:avLst/>
          </a:prstGeom>
          <a:noFill/>
          <a:ln>
            <a:noFill/>
          </a:ln>
        </p:spPr>
        <p:txBody>
          <a:bodyPr spcFirstLastPara="1" wrap="square" lIns="19050" tIns="19050" rIns="19050" bIns="19050" anchor="ctr" anchorCtr="0">
            <a:noAutofit/>
          </a:bodyPr>
          <a:lstStyle>
            <a:lvl1pPr marL="457200" lvl="0" indent="-381000" algn="l">
              <a:lnSpc>
                <a:spcPct val="100000"/>
              </a:lnSpc>
              <a:spcBef>
                <a:spcPts val="2200"/>
              </a:spcBef>
              <a:spcAft>
                <a:spcPts val="0"/>
              </a:spcAft>
              <a:buSzPts val="2400"/>
              <a:buChar char="•"/>
              <a:defRPr/>
            </a:lvl1pPr>
            <a:lvl2pPr marL="914400" lvl="1" indent="-381000" algn="l">
              <a:lnSpc>
                <a:spcPct val="100000"/>
              </a:lnSpc>
              <a:spcBef>
                <a:spcPts val="2200"/>
              </a:spcBef>
              <a:spcAft>
                <a:spcPts val="0"/>
              </a:spcAft>
              <a:buSzPts val="2400"/>
              <a:buChar char="•"/>
              <a:defRPr/>
            </a:lvl2pPr>
            <a:lvl3pPr marL="1371600" lvl="2" indent="-381000" algn="l">
              <a:lnSpc>
                <a:spcPct val="100000"/>
              </a:lnSpc>
              <a:spcBef>
                <a:spcPts val="2200"/>
              </a:spcBef>
              <a:spcAft>
                <a:spcPts val="0"/>
              </a:spcAft>
              <a:buSzPts val="2400"/>
              <a:buChar char="•"/>
              <a:defRPr/>
            </a:lvl3pPr>
            <a:lvl4pPr marL="1828800" lvl="3" indent="-381000" algn="l">
              <a:lnSpc>
                <a:spcPct val="100000"/>
              </a:lnSpc>
              <a:spcBef>
                <a:spcPts val="2200"/>
              </a:spcBef>
              <a:spcAft>
                <a:spcPts val="0"/>
              </a:spcAft>
              <a:buSzPts val="2400"/>
              <a:buChar char="•"/>
              <a:defRPr/>
            </a:lvl4pPr>
            <a:lvl5pPr marL="2286000" lvl="4" indent="-381000" algn="l">
              <a:lnSpc>
                <a:spcPct val="100000"/>
              </a:lnSpc>
              <a:spcBef>
                <a:spcPts val="2200"/>
              </a:spcBef>
              <a:spcAft>
                <a:spcPts val="0"/>
              </a:spcAft>
              <a:buSzPts val="2400"/>
              <a:buChar char="•"/>
              <a:defRPr/>
            </a:lvl5pPr>
            <a:lvl6pPr marL="2743200" lvl="5" indent="-381000" algn="l">
              <a:lnSpc>
                <a:spcPct val="100000"/>
              </a:lnSpc>
              <a:spcBef>
                <a:spcPts val="2200"/>
              </a:spcBef>
              <a:spcAft>
                <a:spcPts val="0"/>
              </a:spcAft>
              <a:buSzPts val="2400"/>
              <a:buChar char="•"/>
              <a:defRPr/>
            </a:lvl6pPr>
            <a:lvl7pPr marL="3200400" lvl="6" indent="-381000" algn="l">
              <a:lnSpc>
                <a:spcPct val="100000"/>
              </a:lnSpc>
              <a:spcBef>
                <a:spcPts val="2200"/>
              </a:spcBef>
              <a:spcAft>
                <a:spcPts val="0"/>
              </a:spcAft>
              <a:buSzPts val="2400"/>
              <a:buChar char="•"/>
              <a:defRPr/>
            </a:lvl7pPr>
            <a:lvl8pPr marL="3657600" lvl="7" indent="-381000" algn="l">
              <a:lnSpc>
                <a:spcPct val="100000"/>
              </a:lnSpc>
              <a:spcBef>
                <a:spcPts val="2200"/>
              </a:spcBef>
              <a:spcAft>
                <a:spcPts val="0"/>
              </a:spcAft>
              <a:buSzPts val="2400"/>
              <a:buChar char="•"/>
              <a:defRPr/>
            </a:lvl8pPr>
            <a:lvl9pPr marL="4114800" lvl="8" indent="-381000" algn="l">
              <a:lnSpc>
                <a:spcPct val="100000"/>
              </a:lnSpc>
              <a:spcBef>
                <a:spcPts val="2200"/>
              </a:spcBef>
              <a:spcAft>
                <a:spcPts val="0"/>
              </a:spcAft>
              <a:buSzPts val="2400"/>
              <a:buChar char="•"/>
              <a:defRPr/>
            </a:lvl9pPr>
          </a:lstStyle>
          <a:p>
            <a:endParaRPr/>
          </a:p>
        </p:txBody>
      </p:sp>
      <p:sp>
        <p:nvSpPr>
          <p:cNvPr id="30" name="Google Shape;30;p82"/>
          <p:cNvSpPr txBox="1">
            <a:spLocks noGrp="1"/>
          </p:cNvSpPr>
          <p:nvPr>
            <p:ph type="sldNum" idx="12"/>
          </p:nvPr>
        </p:nvSpPr>
        <p:spPr>
          <a:xfrm>
            <a:off x="8472458" y="4663217"/>
            <a:ext cx="548700" cy="3936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1"/>
        <p:cNvGrpSpPr/>
        <p:nvPr/>
      </p:nvGrpSpPr>
      <p:grpSpPr>
        <a:xfrm>
          <a:off x="0" y="0"/>
          <a:ext cx="0" cy="0"/>
          <a:chOff x="0" y="0"/>
          <a:chExt cx="0" cy="0"/>
        </a:xfrm>
      </p:grpSpPr>
      <p:sp>
        <p:nvSpPr>
          <p:cNvPr id="32" name="Google Shape;32;g34dfca242b7_0_15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 name="Google Shape;33;g34dfca242b7_0_15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4" name="Google Shape;34;g34dfca242b7_0_15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5" name="Google Shape;35;g34dfca242b7_0_15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36" name="Google Shape;36;g34dfca242b7_0_15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hoto - Horizontal">
  <p:cSld name="Photo - Horizontal">
    <p:spTree>
      <p:nvGrpSpPr>
        <p:cNvPr id="1" name="Shape 37"/>
        <p:cNvGrpSpPr/>
        <p:nvPr/>
      </p:nvGrpSpPr>
      <p:grpSpPr>
        <a:xfrm>
          <a:off x="0" y="0"/>
          <a:ext cx="0" cy="0"/>
          <a:chOff x="0" y="0"/>
          <a:chExt cx="0" cy="0"/>
        </a:xfrm>
      </p:grpSpPr>
      <p:sp>
        <p:nvSpPr>
          <p:cNvPr id="38" name="Google Shape;38;p84"/>
          <p:cNvSpPr>
            <a:spLocks noGrp="1"/>
          </p:cNvSpPr>
          <p:nvPr>
            <p:ph type="pic" idx="2"/>
          </p:nvPr>
        </p:nvSpPr>
        <p:spPr>
          <a:xfrm>
            <a:off x="1172238" y="252413"/>
            <a:ext cx="6801000" cy="3276600"/>
          </a:xfrm>
          <a:prstGeom prst="rect">
            <a:avLst/>
          </a:prstGeom>
          <a:noFill/>
          <a:ln>
            <a:noFill/>
          </a:ln>
        </p:spPr>
      </p:sp>
      <p:sp>
        <p:nvSpPr>
          <p:cNvPr id="39" name="Google Shape;39;p84"/>
          <p:cNvSpPr txBox="1">
            <a:spLocks noGrp="1"/>
          </p:cNvSpPr>
          <p:nvPr>
            <p:ph type="title"/>
          </p:nvPr>
        </p:nvSpPr>
        <p:spPr>
          <a:xfrm>
            <a:off x="238125" y="3567113"/>
            <a:ext cx="8667600" cy="7524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40" name="Google Shape;40;p84"/>
          <p:cNvSpPr txBox="1">
            <a:spLocks noGrp="1"/>
          </p:cNvSpPr>
          <p:nvPr>
            <p:ph type="body" idx="1"/>
          </p:nvPr>
        </p:nvSpPr>
        <p:spPr>
          <a:xfrm>
            <a:off x="238125" y="4291013"/>
            <a:ext cx="8667600" cy="5952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41" name="Google Shape;41;p84"/>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 Center">
  <p:cSld name="Title - Center">
    <p:spTree>
      <p:nvGrpSpPr>
        <p:cNvPr id="1" name="Shape 42"/>
        <p:cNvGrpSpPr/>
        <p:nvPr/>
      </p:nvGrpSpPr>
      <p:grpSpPr>
        <a:xfrm>
          <a:off x="0" y="0"/>
          <a:ext cx="0" cy="0"/>
          <a:chOff x="0" y="0"/>
          <a:chExt cx="0" cy="0"/>
        </a:xfrm>
      </p:grpSpPr>
      <p:sp>
        <p:nvSpPr>
          <p:cNvPr id="43" name="Google Shape;43;p85"/>
          <p:cNvSpPr txBox="1">
            <a:spLocks noGrp="1"/>
          </p:cNvSpPr>
          <p:nvPr>
            <p:ph type="title"/>
          </p:nvPr>
        </p:nvSpPr>
        <p:spPr>
          <a:xfrm>
            <a:off x="666750" y="1700213"/>
            <a:ext cx="7810500" cy="17430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44" name="Google Shape;44;p85"/>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hoto - Vertical">
  <p:cSld name="Photo - Vertical">
    <p:spTree>
      <p:nvGrpSpPr>
        <p:cNvPr id="1" name="Shape 45"/>
        <p:cNvGrpSpPr/>
        <p:nvPr/>
      </p:nvGrpSpPr>
      <p:grpSpPr>
        <a:xfrm>
          <a:off x="0" y="0"/>
          <a:ext cx="0" cy="0"/>
          <a:chOff x="0" y="0"/>
          <a:chExt cx="0" cy="0"/>
        </a:xfrm>
      </p:grpSpPr>
      <p:sp>
        <p:nvSpPr>
          <p:cNvPr id="46" name="Google Shape;46;p86"/>
          <p:cNvSpPr>
            <a:spLocks noGrp="1"/>
          </p:cNvSpPr>
          <p:nvPr>
            <p:ph type="pic" idx="2"/>
          </p:nvPr>
        </p:nvSpPr>
        <p:spPr>
          <a:xfrm>
            <a:off x="4937242" y="357188"/>
            <a:ext cx="3571800" cy="4300500"/>
          </a:xfrm>
          <a:prstGeom prst="rect">
            <a:avLst/>
          </a:prstGeom>
          <a:noFill/>
          <a:ln>
            <a:noFill/>
          </a:ln>
        </p:spPr>
      </p:sp>
      <p:sp>
        <p:nvSpPr>
          <p:cNvPr id="47" name="Google Shape;47;p86"/>
          <p:cNvSpPr txBox="1">
            <a:spLocks noGrp="1"/>
          </p:cNvSpPr>
          <p:nvPr>
            <p:ph type="title"/>
          </p:nvPr>
        </p:nvSpPr>
        <p:spPr>
          <a:xfrm>
            <a:off x="619125" y="357188"/>
            <a:ext cx="3833700" cy="20811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3200"/>
              <a:buFont typeface="Helvetica Neue"/>
              <a:buNone/>
              <a:defRPr sz="3200"/>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48" name="Google Shape;48;p86"/>
          <p:cNvSpPr txBox="1">
            <a:spLocks noGrp="1"/>
          </p:cNvSpPr>
          <p:nvPr>
            <p:ph type="body" idx="1"/>
          </p:nvPr>
        </p:nvSpPr>
        <p:spPr>
          <a:xfrm>
            <a:off x="619125" y="2447925"/>
            <a:ext cx="3833700" cy="21480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49" name="Google Shape;49;p86"/>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Bullets &amp; Photo">
  <p:cSld name="Title, Bullets &amp; Photo">
    <p:spTree>
      <p:nvGrpSpPr>
        <p:cNvPr id="1" name="Shape 50"/>
        <p:cNvGrpSpPr/>
        <p:nvPr/>
      </p:nvGrpSpPr>
      <p:grpSpPr>
        <a:xfrm>
          <a:off x="0" y="0"/>
          <a:ext cx="0" cy="0"/>
          <a:chOff x="0" y="0"/>
          <a:chExt cx="0" cy="0"/>
        </a:xfrm>
      </p:grpSpPr>
      <p:sp>
        <p:nvSpPr>
          <p:cNvPr id="51" name="Google Shape;51;p87"/>
          <p:cNvSpPr>
            <a:spLocks noGrp="1"/>
          </p:cNvSpPr>
          <p:nvPr>
            <p:ph type="pic" idx="2"/>
          </p:nvPr>
        </p:nvSpPr>
        <p:spPr>
          <a:xfrm>
            <a:off x="4938713" y="1181100"/>
            <a:ext cx="3571800" cy="3486000"/>
          </a:xfrm>
          <a:prstGeom prst="rect">
            <a:avLst/>
          </a:prstGeom>
          <a:noFill/>
          <a:ln>
            <a:noFill/>
          </a:ln>
        </p:spPr>
      </p:sp>
      <p:sp>
        <p:nvSpPr>
          <p:cNvPr id="52" name="Google Shape;52;p87"/>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53" name="Google Shape;53;p87"/>
          <p:cNvSpPr txBox="1">
            <a:spLocks noGrp="1"/>
          </p:cNvSpPr>
          <p:nvPr>
            <p:ph type="body" idx="1"/>
          </p:nvPr>
        </p:nvSpPr>
        <p:spPr>
          <a:xfrm>
            <a:off x="633413" y="1181100"/>
            <a:ext cx="3833700" cy="3486000"/>
          </a:xfrm>
          <a:prstGeom prst="rect">
            <a:avLst/>
          </a:prstGeom>
          <a:noFill/>
          <a:ln>
            <a:noFill/>
          </a:ln>
        </p:spPr>
        <p:txBody>
          <a:bodyPr spcFirstLastPara="1" wrap="square" lIns="19050" tIns="19050" rIns="19050" bIns="19050" anchor="ctr" anchorCtr="0">
            <a:noAutofit/>
          </a:bodyPr>
          <a:lstStyle>
            <a:lvl1pPr marL="457200" lvl="0" indent="-342900" algn="l">
              <a:lnSpc>
                <a:spcPct val="100000"/>
              </a:lnSpc>
              <a:spcBef>
                <a:spcPts val="1700"/>
              </a:spcBef>
              <a:spcAft>
                <a:spcPts val="0"/>
              </a:spcAft>
              <a:buClr>
                <a:srgbClr val="000000"/>
              </a:buClr>
              <a:buSzPts val="1800"/>
              <a:buFont typeface="Helvetica Neue"/>
              <a:buChar char="•"/>
              <a:defRPr sz="1400"/>
            </a:lvl1pPr>
            <a:lvl2pPr marL="914400" lvl="1" indent="-342900" algn="l">
              <a:lnSpc>
                <a:spcPct val="100000"/>
              </a:lnSpc>
              <a:spcBef>
                <a:spcPts val="1700"/>
              </a:spcBef>
              <a:spcAft>
                <a:spcPts val="0"/>
              </a:spcAft>
              <a:buClr>
                <a:srgbClr val="000000"/>
              </a:buClr>
              <a:buSzPts val="1800"/>
              <a:buFont typeface="Helvetica Neue"/>
              <a:buChar char="•"/>
              <a:defRPr sz="1400"/>
            </a:lvl2pPr>
            <a:lvl3pPr marL="1371600" lvl="2" indent="-342900" algn="l">
              <a:lnSpc>
                <a:spcPct val="100000"/>
              </a:lnSpc>
              <a:spcBef>
                <a:spcPts val="1700"/>
              </a:spcBef>
              <a:spcAft>
                <a:spcPts val="0"/>
              </a:spcAft>
              <a:buClr>
                <a:srgbClr val="000000"/>
              </a:buClr>
              <a:buSzPts val="1800"/>
              <a:buFont typeface="Helvetica Neue"/>
              <a:buChar char="•"/>
              <a:defRPr sz="1400"/>
            </a:lvl3pPr>
            <a:lvl4pPr marL="1828800" lvl="3" indent="-342900" algn="l">
              <a:lnSpc>
                <a:spcPct val="100000"/>
              </a:lnSpc>
              <a:spcBef>
                <a:spcPts val="1700"/>
              </a:spcBef>
              <a:spcAft>
                <a:spcPts val="0"/>
              </a:spcAft>
              <a:buClr>
                <a:srgbClr val="000000"/>
              </a:buClr>
              <a:buSzPts val="1800"/>
              <a:buFont typeface="Helvetica Neue"/>
              <a:buChar char="•"/>
              <a:defRPr sz="1400"/>
            </a:lvl4pPr>
            <a:lvl5pPr marL="2286000" lvl="4" indent="-342900" algn="l">
              <a:lnSpc>
                <a:spcPct val="100000"/>
              </a:lnSpc>
              <a:spcBef>
                <a:spcPts val="1700"/>
              </a:spcBef>
              <a:spcAft>
                <a:spcPts val="0"/>
              </a:spcAft>
              <a:buClr>
                <a:srgbClr val="000000"/>
              </a:buClr>
              <a:buSzPts val="1800"/>
              <a:buFont typeface="Helvetica Neue"/>
              <a:buChar char="•"/>
              <a:defRPr sz="14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54" name="Google Shape;54;p87"/>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ullets">
  <p:cSld name="Bullets">
    <p:spTree>
      <p:nvGrpSpPr>
        <p:cNvPr id="1" name="Shape 55"/>
        <p:cNvGrpSpPr/>
        <p:nvPr/>
      </p:nvGrpSpPr>
      <p:grpSpPr>
        <a:xfrm>
          <a:off x="0" y="0"/>
          <a:ext cx="0" cy="0"/>
          <a:chOff x="0" y="0"/>
          <a:chExt cx="0" cy="0"/>
        </a:xfrm>
      </p:grpSpPr>
      <p:sp>
        <p:nvSpPr>
          <p:cNvPr id="56" name="Google Shape;56;p88"/>
          <p:cNvSpPr txBox="1">
            <a:spLocks noGrp="1"/>
          </p:cNvSpPr>
          <p:nvPr>
            <p:ph type="body" idx="1"/>
          </p:nvPr>
        </p:nvSpPr>
        <p:spPr>
          <a:xfrm>
            <a:off x="633413" y="666750"/>
            <a:ext cx="7877100" cy="3810000"/>
          </a:xfrm>
          <a:prstGeom prst="rect">
            <a:avLst/>
          </a:prstGeom>
          <a:noFill/>
          <a:ln>
            <a:noFill/>
          </a:ln>
        </p:spPr>
        <p:txBody>
          <a:bodyPr spcFirstLastPara="1" wrap="square" lIns="19050" tIns="19050" rIns="19050" bIns="19050" anchor="ctr" anchorCtr="0">
            <a:noAutofit/>
          </a:bodyPr>
          <a:lstStyle>
            <a:lvl1pPr marL="457200" lvl="0" indent="-374650" algn="l">
              <a:lnSpc>
                <a:spcPct val="100000"/>
              </a:lnSpc>
              <a:spcBef>
                <a:spcPts val="2200"/>
              </a:spcBef>
              <a:spcAft>
                <a:spcPts val="0"/>
              </a:spcAft>
              <a:buClr>
                <a:srgbClr val="000000"/>
              </a:buClr>
              <a:buSzPts val="2300"/>
              <a:buFont typeface="Helvetica Neue"/>
              <a:buChar char="•"/>
              <a:defRPr sz="1800"/>
            </a:lvl1pPr>
            <a:lvl2pPr marL="914400" lvl="1" indent="-374650" algn="l">
              <a:lnSpc>
                <a:spcPct val="100000"/>
              </a:lnSpc>
              <a:spcBef>
                <a:spcPts val="2200"/>
              </a:spcBef>
              <a:spcAft>
                <a:spcPts val="0"/>
              </a:spcAft>
              <a:buClr>
                <a:srgbClr val="000000"/>
              </a:buClr>
              <a:buSzPts val="2300"/>
              <a:buFont typeface="Helvetica Neue"/>
              <a:buChar char="•"/>
              <a:defRPr sz="1800"/>
            </a:lvl2pPr>
            <a:lvl3pPr marL="1371600" lvl="2" indent="-374650" algn="l">
              <a:lnSpc>
                <a:spcPct val="100000"/>
              </a:lnSpc>
              <a:spcBef>
                <a:spcPts val="2200"/>
              </a:spcBef>
              <a:spcAft>
                <a:spcPts val="0"/>
              </a:spcAft>
              <a:buClr>
                <a:srgbClr val="000000"/>
              </a:buClr>
              <a:buSzPts val="2300"/>
              <a:buFont typeface="Helvetica Neue"/>
              <a:buChar char="•"/>
              <a:defRPr sz="1800"/>
            </a:lvl3pPr>
            <a:lvl4pPr marL="1828800" lvl="3" indent="-374650" algn="l">
              <a:lnSpc>
                <a:spcPct val="100000"/>
              </a:lnSpc>
              <a:spcBef>
                <a:spcPts val="2200"/>
              </a:spcBef>
              <a:spcAft>
                <a:spcPts val="0"/>
              </a:spcAft>
              <a:buClr>
                <a:srgbClr val="000000"/>
              </a:buClr>
              <a:buSzPts val="2300"/>
              <a:buFont typeface="Helvetica Neue"/>
              <a:buChar char="•"/>
              <a:defRPr sz="1800"/>
            </a:lvl4pPr>
            <a:lvl5pPr marL="2286000" lvl="4" indent="-374650" algn="l">
              <a:lnSpc>
                <a:spcPct val="100000"/>
              </a:lnSpc>
              <a:spcBef>
                <a:spcPts val="2200"/>
              </a:spcBef>
              <a:spcAft>
                <a:spcPts val="0"/>
              </a:spcAft>
              <a:buClr>
                <a:srgbClr val="000000"/>
              </a:buClr>
              <a:buSzPts val="2300"/>
              <a:buFont typeface="Helvetica Neue"/>
              <a:buChar char="•"/>
              <a:defRPr sz="18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57" name="Google Shape;57;p88"/>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hoto - 3 Up">
  <p:cSld name="Photo - 3 Up">
    <p:spTree>
      <p:nvGrpSpPr>
        <p:cNvPr id="1" name="Shape 58"/>
        <p:cNvGrpSpPr/>
        <p:nvPr/>
      </p:nvGrpSpPr>
      <p:grpSpPr>
        <a:xfrm>
          <a:off x="0" y="0"/>
          <a:ext cx="0" cy="0"/>
          <a:chOff x="0" y="0"/>
          <a:chExt cx="0" cy="0"/>
        </a:xfrm>
      </p:grpSpPr>
      <p:sp>
        <p:nvSpPr>
          <p:cNvPr id="59" name="Google Shape;59;p89"/>
          <p:cNvSpPr>
            <a:spLocks noGrp="1"/>
          </p:cNvSpPr>
          <p:nvPr>
            <p:ph type="pic" idx="2"/>
          </p:nvPr>
        </p:nvSpPr>
        <p:spPr>
          <a:xfrm>
            <a:off x="5910263" y="2643188"/>
            <a:ext cx="2776500" cy="2081100"/>
          </a:xfrm>
          <a:prstGeom prst="rect">
            <a:avLst/>
          </a:prstGeom>
          <a:noFill/>
          <a:ln>
            <a:noFill/>
          </a:ln>
        </p:spPr>
      </p:sp>
      <p:sp>
        <p:nvSpPr>
          <p:cNvPr id="60" name="Google Shape;60;p89"/>
          <p:cNvSpPr>
            <a:spLocks noGrp="1"/>
          </p:cNvSpPr>
          <p:nvPr>
            <p:ph type="pic" idx="3"/>
          </p:nvPr>
        </p:nvSpPr>
        <p:spPr>
          <a:xfrm>
            <a:off x="5910263" y="423863"/>
            <a:ext cx="2776500" cy="2081100"/>
          </a:xfrm>
          <a:prstGeom prst="rect">
            <a:avLst/>
          </a:prstGeom>
          <a:noFill/>
          <a:ln>
            <a:noFill/>
          </a:ln>
        </p:spPr>
      </p:sp>
      <p:sp>
        <p:nvSpPr>
          <p:cNvPr id="61" name="Google Shape;61;p89"/>
          <p:cNvSpPr>
            <a:spLocks noGrp="1"/>
          </p:cNvSpPr>
          <p:nvPr>
            <p:ph type="pic" idx="4"/>
          </p:nvPr>
        </p:nvSpPr>
        <p:spPr>
          <a:xfrm>
            <a:off x="452438" y="423863"/>
            <a:ext cx="5315100" cy="4300500"/>
          </a:xfrm>
          <a:prstGeom prst="rect">
            <a:avLst/>
          </a:prstGeom>
          <a:noFill/>
          <a:ln>
            <a:noFill/>
          </a:ln>
        </p:spPr>
      </p:sp>
      <p:sp>
        <p:nvSpPr>
          <p:cNvPr id="62" name="Google Shape;62;p89"/>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63"/>
        <p:cNvGrpSpPr/>
        <p:nvPr/>
      </p:nvGrpSpPr>
      <p:grpSpPr>
        <a:xfrm>
          <a:off x="0" y="0"/>
          <a:ext cx="0" cy="0"/>
          <a:chOff x="0" y="0"/>
          <a:chExt cx="0" cy="0"/>
        </a:xfrm>
      </p:grpSpPr>
      <p:sp>
        <p:nvSpPr>
          <p:cNvPr id="64" name="Google Shape;64;p90"/>
          <p:cNvSpPr txBox="1">
            <a:spLocks noGrp="1"/>
          </p:cNvSpPr>
          <p:nvPr>
            <p:ph type="body" idx="1"/>
          </p:nvPr>
        </p:nvSpPr>
        <p:spPr>
          <a:xfrm>
            <a:off x="895350" y="3357563"/>
            <a:ext cx="7358100" cy="2196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1200"/>
              <a:buFont typeface="Helvetica Neue"/>
              <a:buNone/>
              <a:defRPr sz="1200" i="1"/>
            </a:lvl1pPr>
            <a:lvl2pPr marL="914400" lvl="1" indent="-279400" algn="l">
              <a:lnSpc>
                <a:spcPct val="100000"/>
              </a:lnSpc>
              <a:spcBef>
                <a:spcPts val="2200"/>
              </a:spcBef>
              <a:spcAft>
                <a:spcPts val="0"/>
              </a:spcAft>
              <a:buClr>
                <a:srgbClr val="000000"/>
              </a:buClr>
              <a:buSzPts val="800"/>
              <a:buChar char="•"/>
              <a:defRPr/>
            </a:lvl2pPr>
            <a:lvl3pPr marL="1371600" lvl="2" indent="-279400" algn="l">
              <a:lnSpc>
                <a:spcPct val="100000"/>
              </a:lnSpc>
              <a:spcBef>
                <a:spcPts val="2200"/>
              </a:spcBef>
              <a:spcAft>
                <a:spcPts val="0"/>
              </a:spcAft>
              <a:buClr>
                <a:srgbClr val="000000"/>
              </a:buClr>
              <a:buSzPts val="800"/>
              <a:buChar char="•"/>
              <a:defRPr/>
            </a:lvl3pPr>
            <a:lvl4pPr marL="1828800" lvl="3" indent="-279400" algn="l">
              <a:lnSpc>
                <a:spcPct val="100000"/>
              </a:lnSpc>
              <a:spcBef>
                <a:spcPts val="2200"/>
              </a:spcBef>
              <a:spcAft>
                <a:spcPts val="0"/>
              </a:spcAft>
              <a:buClr>
                <a:srgbClr val="000000"/>
              </a:buClr>
              <a:buSzPts val="800"/>
              <a:buChar char="•"/>
              <a:defRPr/>
            </a:lvl4pPr>
            <a:lvl5pPr marL="2286000" lvl="4" indent="-279400" algn="l">
              <a:lnSpc>
                <a:spcPct val="100000"/>
              </a:lnSpc>
              <a:spcBef>
                <a:spcPts val="2200"/>
              </a:spcBef>
              <a:spcAft>
                <a:spcPts val="0"/>
              </a:spcAft>
              <a:buClr>
                <a:srgbClr val="000000"/>
              </a:buClr>
              <a:buSzPts val="800"/>
              <a:buChar char="•"/>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65" name="Google Shape;65;p90"/>
          <p:cNvSpPr txBox="1">
            <a:spLocks noGrp="1"/>
          </p:cNvSpPr>
          <p:nvPr>
            <p:ph type="body" idx="2"/>
          </p:nvPr>
        </p:nvSpPr>
        <p:spPr>
          <a:xfrm>
            <a:off x="895350" y="2278856"/>
            <a:ext cx="7358100" cy="309600"/>
          </a:xfrm>
          <a:prstGeom prst="rect">
            <a:avLst/>
          </a:prstGeom>
          <a:noFill/>
          <a:ln>
            <a:noFill/>
          </a:ln>
        </p:spPr>
        <p:txBody>
          <a:bodyPr spcFirstLastPara="1" wrap="square" lIns="19050" tIns="19050" rIns="19050" bIns="19050" anchor="ctr" anchorCtr="0">
            <a:noAutofit/>
          </a:bodyPr>
          <a:lstStyle>
            <a:lvl1pPr marL="457200" lvl="0" indent="-228600" algn="ctr">
              <a:lnSpc>
                <a:spcPct val="100000"/>
              </a:lnSpc>
              <a:spcBef>
                <a:spcPts val="0"/>
              </a:spcBef>
              <a:spcAft>
                <a:spcPts val="0"/>
              </a:spcAft>
              <a:buClr>
                <a:srgbClr val="000000"/>
              </a:buClr>
              <a:buSzPts val="1800"/>
              <a:buFont typeface="Helvetica Neue"/>
              <a:buNone/>
              <a:defRPr sz="1800">
                <a:latin typeface="Helvetica Neue"/>
                <a:ea typeface="Helvetica Neue"/>
                <a:cs typeface="Helvetica Neue"/>
                <a:sym typeface="Helvetica Neue"/>
              </a:defRPr>
            </a:lvl1pPr>
            <a:lvl2pPr marL="914400" lvl="1" indent="-279400" algn="l">
              <a:lnSpc>
                <a:spcPct val="100000"/>
              </a:lnSpc>
              <a:spcBef>
                <a:spcPts val="2200"/>
              </a:spcBef>
              <a:spcAft>
                <a:spcPts val="0"/>
              </a:spcAft>
              <a:buClr>
                <a:srgbClr val="000000"/>
              </a:buClr>
              <a:buSzPts val="800"/>
              <a:buChar char="•"/>
              <a:defRPr/>
            </a:lvl2pPr>
            <a:lvl3pPr marL="1371600" lvl="2" indent="-279400" algn="l">
              <a:lnSpc>
                <a:spcPct val="100000"/>
              </a:lnSpc>
              <a:spcBef>
                <a:spcPts val="2200"/>
              </a:spcBef>
              <a:spcAft>
                <a:spcPts val="0"/>
              </a:spcAft>
              <a:buClr>
                <a:srgbClr val="000000"/>
              </a:buClr>
              <a:buSzPts val="800"/>
              <a:buChar char="•"/>
              <a:defRPr/>
            </a:lvl3pPr>
            <a:lvl4pPr marL="1828800" lvl="3" indent="-279400" algn="l">
              <a:lnSpc>
                <a:spcPct val="100000"/>
              </a:lnSpc>
              <a:spcBef>
                <a:spcPts val="2200"/>
              </a:spcBef>
              <a:spcAft>
                <a:spcPts val="0"/>
              </a:spcAft>
              <a:buClr>
                <a:srgbClr val="000000"/>
              </a:buClr>
              <a:buSzPts val="800"/>
              <a:buChar char="•"/>
              <a:defRPr/>
            </a:lvl4pPr>
            <a:lvl5pPr marL="2286000" lvl="4" indent="-279400" algn="l">
              <a:lnSpc>
                <a:spcPct val="100000"/>
              </a:lnSpc>
              <a:spcBef>
                <a:spcPts val="2200"/>
              </a:spcBef>
              <a:spcAft>
                <a:spcPts val="0"/>
              </a:spcAft>
              <a:buClr>
                <a:srgbClr val="000000"/>
              </a:buClr>
              <a:buSzPts val="800"/>
              <a:buChar char="•"/>
              <a:defRPr/>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sp>
        <p:nvSpPr>
          <p:cNvPr id="66" name="Google Shape;66;p90"/>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Photo">
  <p:cSld name="Photo">
    <p:spTree>
      <p:nvGrpSpPr>
        <p:cNvPr id="1" name="Shape 67"/>
        <p:cNvGrpSpPr/>
        <p:nvPr/>
      </p:nvGrpSpPr>
      <p:grpSpPr>
        <a:xfrm>
          <a:off x="0" y="0"/>
          <a:ext cx="0" cy="0"/>
          <a:chOff x="0" y="0"/>
          <a:chExt cx="0" cy="0"/>
        </a:xfrm>
      </p:grpSpPr>
      <p:sp>
        <p:nvSpPr>
          <p:cNvPr id="68" name="Google Shape;68;p91"/>
          <p:cNvSpPr>
            <a:spLocks noGrp="1"/>
          </p:cNvSpPr>
          <p:nvPr>
            <p:ph type="pic" idx="2"/>
          </p:nvPr>
        </p:nvSpPr>
        <p:spPr>
          <a:xfrm>
            <a:off x="0" y="0"/>
            <a:ext cx="9144000" cy="5143500"/>
          </a:xfrm>
          <a:prstGeom prst="rect">
            <a:avLst/>
          </a:prstGeom>
          <a:noFill/>
          <a:ln>
            <a:noFill/>
          </a:ln>
        </p:spPr>
      </p:sp>
      <p:sp>
        <p:nvSpPr>
          <p:cNvPr id="69" name="Google Shape;69;p91"/>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76"/>
        <p:cNvGrpSpPr/>
        <p:nvPr/>
      </p:nvGrpSpPr>
      <p:grpSpPr>
        <a:xfrm>
          <a:off x="0" y="0"/>
          <a:ext cx="0" cy="0"/>
          <a:chOff x="0" y="0"/>
          <a:chExt cx="0" cy="0"/>
        </a:xfrm>
      </p:grpSpPr>
      <p:sp>
        <p:nvSpPr>
          <p:cNvPr id="77" name="Google Shape;77;p7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7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9" name="Google Shape;79;p7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7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1" name="Google Shape;81;p7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82"/>
        <p:cNvGrpSpPr/>
        <p:nvPr/>
      </p:nvGrpSpPr>
      <p:grpSpPr>
        <a:xfrm>
          <a:off x="0" y="0"/>
          <a:ext cx="0" cy="0"/>
          <a:chOff x="0" y="0"/>
          <a:chExt cx="0" cy="0"/>
        </a:xfrm>
      </p:grpSpPr>
      <p:sp>
        <p:nvSpPr>
          <p:cNvPr id="83" name="Google Shape;83;p8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8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5" name="Google Shape;85;p8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8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92"/>
          <p:cNvSpPr txBox="1">
            <a:spLocks noGrp="1"/>
          </p:cNvSpPr>
          <p:nvPr>
            <p:ph type="title"/>
          </p:nvPr>
        </p:nvSpPr>
        <p:spPr>
          <a:xfrm>
            <a:off x="623888" y="1282304"/>
            <a:ext cx="7886700" cy="21396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9" name="Google Shape;89;p92"/>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90" name="Google Shape;90;p9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1" name="Google Shape;91;p9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9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3"/>
        <p:cNvGrpSpPr/>
        <p:nvPr/>
      </p:nvGrpSpPr>
      <p:grpSpPr>
        <a:xfrm>
          <a:off x="0" y="0"/>
          <a:ext cx="0" cy="0"/>
          <a:chOff x="0" y="0"/>
          <a:chExt cx="0" cy="0"/>
        </a:xfrm>
      </p:grpSpPr>
      <p:sp>
        <p:nvSpPr>
          <p:cNvPr id="94" name="Google Shape;94;p9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5" name="Google Shape;95;p93"/>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6" name="Google Shape;96;p93"/>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9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8" name="Google Shape;98;p9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9" name="Google Shape;99;p9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0"/>
        <p:cNvGrpSpPr/>
        <p:nvPr/>
      </p:nvGrpSpPr>
      <p:grpSpPr>
        <a:xfrm>
          <a:off x="0" y="0"/>
          <a:ext cx="0" cy="0"/>
          <a:chOff x="0" y="0"/>
          <a:chExt cx="0" cy="0"/>
        </a:xfrm>
      </p:grpSpPr>
      <p:sp>
        <p:nvSpPr>
          <p:cNvPr id="101" name="Google Shape;101;p94"/>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2" name="Google Shape;102;p94"/>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3" name="Google Shape;103;p94"/>
          <p:cNvSpPr txBox="1">
            <a:spLocks noGrp="1"/>
          </p:cNvSpPr>
          <p:nvPr>
            <p:ph type="body" idx="2"/>
          </p:nvPr>
        </p:nvSpPr>
        <p:spPr>
          <a:xfrm>
            <a:off x="629841" y="1878806"/>
            <a:ext cx="3868500" cy="27633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4" name="Google Shape;104;p94"/>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105" name="Google Shape;105;p94"/>
          <p:cNvSpPr txBox="1">
            <a:spLocks noGrp="1"/>
          </p:cNvSpPr>
          <p:nvPr>
            <p:ph type="body" idx="4"/>
          </p:nvPr>
        </p:nvSpPr>
        <p:spPr>
          <a:xfrm>
            <a:off x="4629150" y="1878806"/>
            <a:ext cx="3887400" cy="27633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06" name="Google Shape;106;p9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7" name="Google Shape;107;p9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08" name="Google Shape;108;p9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09"/>
        <p:cNvGrpSpPr/>
        <p:nvPr/>
      </p:nvGrpSpPr>
      <p:grpSpPr>
        <a:xfrm>
          <a:off x="0" y="0"/>
          <a:ext cx="0" cy="0"/>
          <a:chOff x="0" y="0"/>
          <a:chExt cx="0" cy="0"/>
        </a:xfrm>
      </p:grpSpPr>
      <p:sp>
        <p:nvSpPr>
          <p:cNvPr id="110" name="Google Shape;110;p9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1" name="Google Shape;111;p95"/>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2" name="Google Shape;112;p95"/>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3" name="Google Shape;113;p9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4" name="Google Shape;114;p9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9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6"/>
        <p:cNvGrpSpPr/>
        <p:nvPr/>
      </p:nvGrpSpPr>
      <p:grpSpPr>
        <a:xfrm>
          <a:off x="0" y="0"/>
          <a:ext cx="0" cy="0"/>
          <a:chOff x="0" y="0"/>
          <a:chExt cx="0" cy="0"/>
        </a:xfrm>
      </p:grpSpPr>
      <p:sp>
        <p:nvSpPr>
          <p:cNvPr id="117" name="Google Shape;117;p96"/>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8" name="Google Shape;118;p96"/>
          <p:cNvSpPr>
            <a:spLocks noGrp="1"/>
          </p:cNvSpPr>
          <p:nvPr>
            <p:ph type="pic" idx="2"/>
          </p:nvPr>
        </p:nvSpPr>
        <p:spPr>
          <a:xfrm>
            <a:off x="3887391" y="740569"/>
            <a:ext cx="4629300" cy="3655200"/>
          </a:xfrm>
          <a:prstGeom prst="rect">
            <a:avLst/>
          </a:prstGeom>
          <a:noFill/>
          <a:ln>
            <a:noFill/>
          </a:ln>
        </p:spPr>
      </p:sp>
      <p:sp>
        <p:nvSpPr>
          <p:cNvPr id="119" name="Google Shape;119;p96"/>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0" name="Google Shape;120;p9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1" name="Google Shape;121;p9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2" name="Google Shape;122;p9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3"/>
        <p:cNvGrpSpPr/>
        <p:nvPr/>
      </p:nvGrpSpPr>
      <p:grpSpPr>
        <a:xfrm>
          <a:off x="0" y="0"/>
          <a:ext cx="0" cy="0"/>
          <a:chOff x="0" y="0"/>
          <a:chExt cx="0" cy="0"/>
        </a:xfrm>
      </p:grpSpPr>
      <p:sp>
        <p:nvSpPr>
          <p:cNvPr id="124" name="Google Shape;124;p97"/>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5" name="Google Shape;125;p97"/>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6" name="Google Shape;126;p9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7" name="Google Shape;127;p9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28" name="Google Shape;128;p9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29"/>
        <p:cNvGrpSpPr/>
        <p:nvPr/>
      </p:nvGrpSpPr>
      <p:grpSpPr>
        <a:xfrm>
          <a:off x="0" y="0"/>
          <a:ext cx="0" cy="0"/>
          <a:chOff x="0" y="0"/>
          <a:chExt cx="0" cy="0"/>
        </a:xfrm>
      </p:grpSpPr>
      <p:sp>
        <p:nvSpPr>
          <p:cNvPr id="130" name="Google Shape;130;p98"/>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1" name="Google Shape;131;p98"/>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2" name="Google Shape;132;p9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3" name="Google Shape;133;p9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34" name="Google Shape;134;p9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39"/>
        <p:cNvGrpSpPr/>
        <p:nvPr/>
      </p:nvGrpSpPr>
      <p:grpSpPr>
        <a:xfrm>
          <a:off x="0" y="0"/>
          <a:ext cx="0" cy="0"/>
          <a:chOff x="0" y="0"/>
          <a:chExt cx="0" cy="0"/>
        </a:xfrm>
      </p:grpSpPr>
      <p:sp>
        <p:nvSpPr>
          <p:cNvPr id="140" name="Google Shape;140;p7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1" name="Google Shape;141;p7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42" name="Google Shape;142;p7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43"/>
        <p:cNvGrpSpPr/>
        <p:nvPr/>
      </p:nvGrpSpPr>
      <p:grpSpPr>
        <a:xfrm>
          <a:off x="0" y="0"/>
          <a:ext cx="0" cy="0"/>
          <a:chOff x="0" y="0"/>
          <a:chExt cx="0" cy="0"/>
        </a:xfrm>
      </p:grpSpPr>
      <p:sp>
        <p:nvSpPr>
          <p:cNvPr id="144" name="Google Shape;144;p8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45" name="Google Shape;145;p8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6" name="Google Shape;146;p8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7" name="Google Shape;147;p8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48"/>
        <p:cNvGrpSpPr/>
        <p:nvPr/>
      </p:nvGrpSpPr>
      <p:grpSpPr>
        <a:xfrm>
          <a:off x="0" y="0"/>
          <a:ext cx="0" cy="0"/>
          <a:chOff x="0" y="0"/>
          <a:chExt cx="0" cy="0"/>
        </a:xfrm>
      </p:grpSpPr>
      <p:sp>
        <p:nvSpPr>
          <p:cNvPr id="149" name="Google Shape;149;p99"/>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0" name="Google Shape;150;p99"/>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51" name="Google Shape;151;p9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2"/>
        <p:cNvGrpSpPr/>
        <p:nvPr/>
      </p:nvGrpSpPr>
      <p:grpSpPr>
        <a:xfrm>
          <a:off x="0" y="0"/>
          <a:ext cx="0" cy="0"/>
          <a:chOff x="0" y="0"/>
          <a:chExt cx="0" cy="0"/>
        </a:xfrm>
      </p:grpSpPr>
      <p:sp>
        <p:nvSpPr>
          <p:cNvPr id="153" name="Google Shape;153;p10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4" name="Google Shape;154;p10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55"/>
        <p:cNvGrpSpPr/>
        <p:nvPr/>
      </p:nvGrpSpPr>
      <p:grpSpPr>
        <a:xfrm>
          <a:off x="0" y="0"/>
          <a:ext cx="0" cy="0"/>
          <a:chOff x="0" y="0"/>
          <a:chExt cx="0" cy="0"/>
        </a:xfrm>
      </p:grpSpPr>
      <p:sp>
        <p:nvSpPr>
          <p:cNvPr id="156" name="Google Shape;156;p10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57" name="Google Shape;157;p10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58" name="Google Shape;158;p10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59" name="Google Shape;159;p10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60"/>
        <p:cNvGrpSpPr/>
        <p:nvPr/>
      </p:nvGrpSpPr>
      <p:grpSpPr>
        <a:xfrm>
          <a:off x="0" y="0"/>
          <a:ext cx="0" cy="0"/>
          <a:chOff x="0" y="0"/>
          <a:chExt cx="0" cy="0"/>
        </a:xfrm>
      </p:grpSpPr>
      <p:sp>
        <p:nvSpPr>
          <p:cNvPr id="161" name="Google Shape;161;p102"/>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162" name="Google Shape;162;p102"/>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163" name="Google Shape;163;p10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64"/>
        <p:cNvGrpSpPr/>
        <p:nvPr/>
      </p:nvGrpSpPr>
      <p:grpSpPr>
        <a:xfrm>
          <a:off x="0" y="0"/>
          <a:ext cx="0" cy="0"/>
          <a:chOff x="0" y="0"/>
          <a:chExt cx="0" cy="0"/>
        </a:xfrm>
      </p:grpSpPr>
      <p:sp>
        <p:nvSpPr>
          <p:cNvPr id="165" name="Google Shape;165;p103"/>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66" name="Google Shape;166;p10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7"/>
        <p:cNvGrpSpPr/>
        <p:nvPr/>
      </p:nvGrpSpPr>
      <p:grpSpPr>
        <a:xfrm>
          <a:off x="0" y="0"/>
          <a:ext cx="0" cy="0"/>
          <a:chOff x="0" y="0"/>
          <a:chExt cx="0" cy="0"/>
        </a:xfrm>
      </p:grpSpPr>
      <p:sp>
        <p:nvSpPr>
          <p:cNvPr id="168" name="Google Shape;168;p104"/>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104"/>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170" name="Google Shape;170;p104"/>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171" name="Google Shape;171;p104"/>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72" name="Google Shape;172;p10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73"/>
        <p:cNvGrpSpPr/>
        <p:nvPr/>
      </p:nvGrpSpPr>
      <p:grpSpPr>
        <a:xfrm>
          <a:off x="0" y="0"/>
          <a:ext cx="0" cy="0"/>
          <a:chOff x="0" y="0"/>
          <a:chExt cx="0" cy="0"/>
        </a:xfrm>
      </p:grpSpPr>
      <p:sp>
        <p:nvSpPr>
          <p:cNvPr id="174" name="Google Shape;174;p105"/>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175" name="Google Shape;175;p10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76"/>
        <p:cNvGrpSpPr/>
        <p:nvPr/>
      </p:nvGrpSpPr>
      <p:grpSpPr>
        <a:xfrm>
          <a:off x="0" y="0"/>
          <a:ext cx="0" cy="0"/>
          <a:chOff x="0" y="0"/>
          <a:chExt cx="0" cy="0"/>
        </a:xfrm>
      </p:grpSpPr>
      <p:sp>
        <p:nvSpPr>
          <p:cNvPr id="177" name="Google Shape;177;p106"/>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78" name="Google Shape;178;p106"/>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179" name="Google Shape;179;p10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mp; Subtitle">
  <p:cSld name="TITLE_1">
    <p:spTree>
      <p:nvGrpSpPr>
        <p:cNvPr id="1" name="Shape 180"/>
        <p:cNvGrpSpPr/>
        <p:nvPr/>
      </p:nvGrpSpPr>
      <p:grpSpPr>
        <a:xfrm>
          <a:off x="0" y="0"/>
          <a:ext cx="0" cy="0"/>
          <a:chOff x="0" y="0"/>
          <a:chExt cx="0" cy="0"/>
        </a:xfrm>
      </p:grpSpPr>
      <p:sp>
        <p:nvSpPr>
          <p:cNvPr id="181" name="Google Shape;181;p107"/>
          <p:cNvSpPr txBox="1">
            <a:spLocks noGrp="1"/>
          </p:cNvSpPr>
          <p:nvPr>
            <p:ph type="title"/>
          </p:nvPr>
        </p:nvSpPr>
        <p:spPr>
          <a:xfrm>
            <a:off x="666750" y="862013"/>
            <a:ext cx="7810500" cy="1743000"/>
          </a:xfrm>
          <a:prstGeom prst="rect">
            <a:avLst/>
          </a:prstGeom>
          <a:noFill/>
          <a:ln>
            <a:noFill/>
          </a:ln>
        </p:spPr>
        <p:txBody>
          <a:bodyPr spcFirstLastPara="1" wrap="square" lIns="19050" tIns="19050" rIns="19050" bIns="19050" anchor="b" anchorCtr="0">
            <a:noAutofit/>
          </a:bodyPr>
          <a:lstStyle>
            <a:lvl1pPr lvl="0" algn="ctr">
              <a:lnSpc>
                <a:spcPct val="100000"/>
              </a:lnSpc>
              <a:spcBef>
                <a:spcPts val="0"/>
              </a:spcBef>
              <a:spcAft>
                <a:spcPts val="0"/>
              </a:spcAft>
              <a:buClr>
                <a:srgbClr val="000000"/>
              </a:buClr>
              <a:buSzPts val="700"/>
              <a:buNone/>
              <a:defRPr/>
            </a:lvl1pPr>
            <a:lvl2pPr lvl="1" algn="ctr">
              <a:lnSpc>
                <a:spcPct val="100000"/>
              </a:lnSpc>
              <a:spcBef>
                <a:spcPts val="0"/>
              </a:spcBef>
              <a:spcAft>
                <a:spcPts val="0"/>
              </a:spcAft>
              <a:buClr>
                <a:srgbClr val="000000"/>
              </a:buClr>
              <a:buSzPts val="700"/>
              <a:buNone/>
              <a:defRPr/>
            </a:lvl2pPr>
            <a:lvl3pPr lvl="2" algn="ctr">
              <a:lnSpc>
                <a:spcPct val="100000"/>
              </a:lnSpc>
              <a:spcBef>
                <a:spcPts val="0"/>
              </a:spcBef>
              <a:spcAft>
                <a:spcPts val="0"/>
              </a:spcAft>
              <a:buClr>
                <a:srgbClr val="000000"/>
              </a:buClr>
              <a:buSzPts val="700"/>
              <a:buNone/>
              <a:defRPr/>
            </a:lvl3pPr>
            <a:lvl4pPr lvl="3" algn="ctr">
              <a:lnSpc>
                <a:spcPct val="100000"/>
              </a:lnSpc>
              <a:spcBef>
                <a:spcPts val="0"/>
              </a:spcBef>
              <a:spcAft>
                <a:spcPts val="0"/>
              </a:spcAft>
              <a:buClr>
                <a:srgbClr val="000000"/>
              </a:buClr>
              <a:buSzPts val="700"/>
              <a:buNone/>
              <a:defRPr/>
            </a:lvl4pPr>
            <a:lvl5pPr lvl="4" algn="ctr">
              <a:lnSpc>
                <a:spcPct val="100000"/>
              </a:lnSpc>
              <a:spcBef>
                <a:spcPts val="0"/>
              </a:spcBef>
              <a:spcAft>
                <a:spcPts val="0"/>
              </a:spcAft>
              <a:buClr>
                <a:srgbClr val="000000"/>
              </a:buClr>
              <a:buSzPts val="700"/>
              <a:buNone/>
              <a:defRPr/>
            </a:lvl5pPr>
            <a:lvl6pPr lvl="5" algn="ctr">
              <a:lnSpc>
                <a:spcPct val="100000"/>
              </a:lnSpc>
              <a:spcBef>
                <a:spcPts val="0"/>
              </a:spcBef>
              <a:spcAft>
                <a:spcPts val="0"/>
              </a:spcAft>
              <a:buClr>
                <a:srgbClr val="000000"/>
              </a:buClr>
              <a:buSzPts val="700"/>
              <a:buNone/>
              <a:defRPr/>
            </a:lvl6pPr>
            <a:lvl7pPr lvl="6" algn="ctr">
              <a:lnSpc>
                <a:spcPct val="100000"/>
              </a:lnSpc>
              <a:spcBef>
                <a:spcPts val="0"/>
              </a:spcBef>
              <a:spcAft>
                <a:spcPts val="0"/>
              </a:spcAft>
              <a:buClr>
                <a:srgbClr val="000000"/>
              </a:buClr>
              <a:buSzPts val="700"/>
              <a:buNone/>
              <a:defRPr/>
            </a:lvl7pPr>
            <a:lvl8pPr lvl="7" algn="ctr">
              <a:lnSpc>
                <a:spcPct val="100000"/>
              </a:lnSpc>
              <a:spcBef>
                <a:spcPts val="0"/>
              </a:spcBef>
              <a:spcAft>
                <a:spcPts val="0"/>
              </a:spcAft>
              <a:buClr>
                <a:srgbClr val="000000"/>
              </a:buClr>
              <a:buSzPts val="700"/>
              <a:buNone/>
              <a:defRPr/>
            </a:lvl8pPr>
            <a:lvl9pPr lvl="8" algn="ctr">
              <a:lnSpc>
                <a:spcPct val="100000"/>
              </a:lnSpc>
              <a:spcBef>
                <a:spcPts val="0"/>
              </a:spcBef>
              <a:spcAft>
                <a:spcPts val="0"/>
              </a:spcAft>
              <a:buClr>
                <a:srgbClr val="000000"/>
              </a:buClr>
              <a:buSzPts val="700"/>
              <a:buNone/>
              <a:defRPr/>
            </a:lvl9pPr>
          </a:lstStyle>
          <a:p>
            <a:endParaRPr/>
          </a:p>
        </p:txBody>
      </p:sp>
      <p:sp>
        <p:nvSpPr>
          <p:cNvPr id="182" name="Google Shape;182;p107"/>
          <p:cNvSpPr txBox="1">
            <a:spLocks noGrp="1"/>
          </p:cNvSpPr>
          <p:nvPr>
            <p:ph type="body" idx="1"/>
          </p:nvPr>
        </p:nvSpPr>
        <p:spPr>
          <a:xfrm>
            <a:off x="666750" y="2652713"/>
            <a:ext cx="7810500" cy="595200"/>
          </a:xfrm>
          <a:prstGeom prst="rect">
            <a:avLst/>
          </a:prstGeom>
          <a:noFill/>
          <a:ln>
            <a:noFill/>
          </a:ln>
        </p:spPr>
        <p:txBody>
          <a:bodyPr spcFirstLastPara="1" wrap="square" lIns="19050" tIns="19050" rIns="19050" bIns="19050" anchor="t" anchorCtr="0">
            <a:noAutofit/>
          </a:bodyPr>
          <a:lstStyle>
            <a:lvl1pPr marL="457200" lvl="0" indent="-228600" algn="ctr">
              <a:lnSpc>
                <a:spcPct val="100000"/>
              </a:lnSpc>
              <a:spcBef>
                <a:spcPts val="0"/>
              </a:spcBef>
              <a:spcAft>
                <a:spcPts val="0"/>
              </a:spcAft>
              <a:buClr>
                <a:srgbClr val="000000"/>
              </a:buClr>
              <a:buSzPts val="2000"/>
              <a:buFont typeface="Helvetica Neue"/>
              <a:buNone/>
              <a:defRPr sz="2000"/>
            </a:lvl1pPr>
            <a:lvl2pPr marL="914400" lvl="1" indent="-228600" algn="ctr">
              <a:lnSpc>
                <a:spcPct val="100000"/>
              </a:lnSpc>
              <a:spcBef>
                <a:spcPts val="0"/>
              </a:spcBef>
              <a:spcAft>
                <a:spcPts val="0"/>
              </a:spcAft>
              <a:buClr>
                <a:srgbClr val="000000"/>
              </a:buClr>
              <a:buSzPts val="2000"/>
              <a:buFont typeface="Helvetica Neue"/>
              <a:buNone/>
              <a:defRPr sz="2000"/>
            </a:lvl2pPr>
            <a:lvl3pPr marL="1371600" lvl="2" indent="-228600" algn="ctr">
              <a:lnSpc>
                <a:spcPct val="100000"/>
              </a:lnSpc>
              <a:spcBef>
                <a:spcPts val="0"/>
              </a:spcBef>
              <a:spcAft>
                <a:spcPts val="0"/>
              </a:spcAft>
              <a:buClr>
                <a:srgbClr val="000000"/>
              </a:buClr>
              <a:buSzPts val="2000"/>
              <a:buFont typeface="Helvetica Neue"/>
              <a:buNone/>
              <a:defRPr sz="2000"/>
            </a:lvl3pPr>
            <a:lvl4pPr marL="1828800" lvl="3" indent="-228600" algn="ctr">
              <a:lnSpc>
                <a:spcPct val="100000"/>
              </a:lnSpc>
              <a:spcBef>
                <a:spcPts val="0"/>
              </a:spcBef>
              <a:spcAft>
                <a:spcPts val="0"/>
              </a:spcAft>
              <a:buClr>
                <a:srgbClr val="000000"/>
              </a:buClr>
              <a:buSzPts val="2000"/>
              <a:buFont typeface="Helvetica Neue"/>
              <a:buNone/>
              <a:defRPr sz="2000"/>
            </a:lvl4pPr>
            <a:lvl5pPr marL="2286000" lvl="4" indent="-228600" algn="ctr">
              <a:lnSpc>
                <a:spcPct val="100000"/>
              </a:lnSpc>
              <a:spcBef>
                <a:spcPts val="0"/>
              </a:spcBef>
              <a:spcAft>
                <a:spcPts val="0"/>
              </a:spcAft>
              <a:buClr>
                <a:srgbClr val="000000"/>
              </a:buClr>
              <a:buSzPts val="2000"/>
              <a:buFont typeface="Helvetica Neue"/>
              <a:buNone/>
              <a:defRPr sz="2000"/>
            </a:lvl5pPr>
            <a:lvl6pPr marL="2743200" lvl="5" indent="-279400" algn="l">
              <a:lnSpc>
                <a:spcPct val="100000"/>
              </a:lnSpc>
              <a:spcBef>
                <a:spcPts val="2200"/>
              </a:spcBef>
              <a:spcAft>
                <a:spcPts val="0"/>
              </a:spcAft>
              <a:buClr>
                <a:srgbClr val="000000"/>
              </a:buClr>
              <a:buSzPts val="800"/>
              <a:buChar char="•"/>
              <a:defRPr/>
            </a:lvl6pPr>
            <a:lvl7pPr marL="3200400" lvl="6" indent="-279400" algn="l">
              <a:lnSpc>
                <a:spcPct val="100000"/>
              </a:lnSpc>
              <a:spcBef>
                <a:spcPts val="2200"/>
              </a:spcBef>
              <a:spcAft>
                <a:spcPts val="0"/>
              </a:spcAft>
              <a:buClr>
                <a:srgbClr val="000000"/>
              </a:buClr>
              <a:buSzPts val="800"/>
              <a:buChar char="•"/>
              <a:defRPr/>
            </a:lvl7pPr>
            <a:lvl8pPr marL="3657600" lvl="7" indent="-279400" algn="l">
              <a:lnSpc>
                <a:spcPct val="100000"/>
              </a:lnSpc>
              <a:spcBef>
                <a:spcPts val="2200"/>
              </a:spcBef>
              <a:spcAft>
                <a:spcPts val="0"/>
              </a:spcAft>
              <a:buClr>
                <a:srgbClr val="000000"/>
              </a:buClr>
              <a:buSzPts val="800"/>
              <a:buChar char="•"/>
              <a:defRPr/>
            </a:lvl8pPr>
            <a:lvl9pPr marL="4114800" lvl="8" indent="-279400" algn="l">
              <a:lnSpc>
                <a:spcPct val="100000"/>
              </a:lnSpc>
              <a:spcBef>
                <a:spcPts val="2200"/>
              </a:spcBef>
              <a:spcAft>
                <a:spcPts val="0"/>
              </a:spcAft>
              <a:buClr>
                <a:srgbClr val="000000"/>
              </a:buClr>
              <a:buSzPts val="800"/>
              <a:buChar char="•"/>
              <a:defRPr/>
            </a:lvl9pPr>
          </a:lstStyle>
          <a:p>
            <a:endParaRPr/>
          </a:p>
        </p:txBody>
      </p:sp>
      <p:pic>
        <p:nvPicPr>
          <p:cNvPr id="183" name="Google Shape;183;p107" descr="IDseq_logo.png"/>
          <p:cNvPicPr preferRelativeResize="0"/>
          <p:nvPr/>
        </p:nvPicPr>
        <p:blipFill rotWithShape="1">
          <a:blip r:embed="rId2">
            <a:alphaModFix/>
          </a:blip>
          <a:srcRect/>
          <a:stretch/>
        </p:blipFill>
        <p:spPr>
          <a:xfrm>
            <a:off x="8236538" y="96775"/>
            <a:ext cx="815933" cy="264592"/>
          </a:xfrm>
          <a:prstGeom prst="rect">
            <a:avLst/>
          </a:prstGeom>
          <a:noFill/>
          <a:ln>
            <a:noFill/>
          </a:ln>
        </p:spPr>
      </p:pic>
      <p:sp>
        <p:nvSpPr>
          <p:cNvPr id="184" name="Google Shape;184;p107"/>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5" Type="http://schemas.openxmlformats.org/officeDocument/2006/relationships/slideLayout" Target="../slideLayouts/slideLayout19.xml"/><Relationship Id="rId10" Type="http://schemas.openxmlformats.org/officeDocument/2006/relationships/theme" Target="../theme/theme2.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
        <p:cNvGrpSpPr/>
        <p:nvPr/>
      </p:nvGrpSpPr>
      <p:grpSpPr>
        <a:xfrm>
          <a:off x="0" y="0"/>
          <a:ext cx="0" cy="0"/>
          <a:chOff x="0" y="0"/>
          <a:chExt cx="0" cy="0"/>
        </a:xfrm>
      </p:grpSpPr>
      <p:sp>
        <p:nvSpPr>
          <p:cNvPr id="6" name="Google Shape;6;p72"/>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lvl1pPr marR="0" lvl="0"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1pPr>
            <a:lvl2pPr marR="0" lvl="1"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2pPr>
            <a:lvl3pPr marR="0" lvl="2"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3pPr>
            <a:lvl4pPr marR="0" lvl="3"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4pPr>
            <a:lvl5pPr marR="0" lvl="4"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5pPr>
            <a:lvl6pPr marR="0" lvl="5"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6pPr>
            <a:lvl7pPr marR="0" lvl="6"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7pPr>
            <a:lvl8pPr marR="0" lvl="7"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8pPr>
            <a:lvl9pPr marR="0" lvl="8" algn="ctr" rtl="0">
              <a:lnSpc>
                <a:spcPct val="100000"/>
              </a:lnSpc>
              <a:spcBef>
                <a:spcPts val="0"/>
              </a:spcBef>
              <a:spcAft>
                <a:spcPts val="0"/>
              </a:spcAft>
              <a:buClr>
                <a:srgbClr val="000000"/>
              </a:buClr>
              <a:buSzPts val="4200"/>
              <a:buFont typeface="Helvetica Neue"/>
              <a:buNone/>
              <a:defRPr sz="4200" b="0" i="0" u="none" strike="noStrike" cap="none">
                <a:solidFill>
                  <a:srgbClr val="000000"/>
                </a:solidFill>
                <a:latin typeface="Helvetica Neue"/>
                <a:ea typeface="Helvetica Neue"/>
                <a:cs typeface="Helvetica Neue"/>
                <a:sym typeface="Helvetica Neue"/>
              </a:defRPr>
            </a:lvl9pPr>
          </a:lstStyle>
          <a:p>
            <a:endParaRPr/>
          </a:p>
        </p:txBody>
      </p:sp>
      <p:sp>
        <p:nvSpPr>
          <p:cNvPr id="7" name="Google Shape;7;p72"/>
          <p:cNvSpPr txBox="1">
            <a:spLocks noGrp="1"/>
          </p:cNvSpPr>
          <p:nvPr>
            <p:ph type="body" idx="1"/>
          </p:nvPr>
        </p:nvSpPr>
        <p:spPr>
          <a:xfrm>
            <a:off x="633413" y="1181100"/>
            <a:ext cx="7877100" cy="3486000"/>
          </a:xfrm>
          <a:prstGeom prst="rect">
            <a:avLst/>
          </a:prstGeom>
          <a:noFill/>
          <a:ln>
            <a:noFill/>
          </a:ln>
        </p:spPr>
        <p:txBody>
          <a:bodyPr spcFirstLastPara="1" wrap="square" lIns="19050" tIns="19050" rIns="19050" bIns="19050" anchor="ctr" anchorCtr="0">
            <a:noAutofit/>
          </a:bodyPr>
          <a:lstStyle>
            <a:lvl1pPr marL="457200" marR="0" lvl="0"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1pPr>
            <a:lvl2pPr marL="914400" marR="0" lvl="1"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2pPr>
            <a:lvl3pPr marL="1371600" marR="0" lvl="2"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3pPr>
            <a:lvl4pPr marL="1828800" marR="0" lvl="3"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4pPr>
            <a:lvl5pPr marL="2286000" marR="0" lvl="4"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5pPr>
            <a:lvl6pPr marL="2743200" marR="0" lvl="5"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6pPr>
            <a:lvl7pPr marL="3200400" marR="0" lvl="6"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7pPr>
            <a:lvl8pPr marL="3657600" marR="0" lvl="7"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8pPr>
            <a:lvl9pPr marL="4114800" marR="0" lvl="8" indent="-381000" algn="l" rtl="0">
              <a:lnSpc>
                <a:spcPct val="100000"/>
              </a:lnSpc>
              <a:spcBef>
                <a:spcPts val="2200"/>
              </a:spcBef>
              <a:spcAft>
                <a:spcPts val="0"/>
              </a:spcAft>
              <a:buClr>
                <a:srgbClr val="000000"/>
              </a:buClr>
              <a:buSzPts val="2400"/>
              <a:buFont typeface="Helvetica Neue"/>
              <a:buChar char="•"/>
              <a:defRPr sz="2000" b="0" i="0" u="none" strike="noStrike" cap="none">
                <a:solidFill>
                  <a:srgbClr val="000000"/>
                </a:solidFill>
                <a:latin typeface="Helvetica Neue"/>
                <a:ea typeface="Helvetica Neue"/>
                <a:cs typeface="Helvetica Neue"/>
                <a:sym typeface="Helvetica Neue"/>
              </a:defRPr>
            </a:lvl9pPr>
          </a:lstStyle>
          <a:p>
            <a:endParaRPr/>
          </a:p>
        </p:txBody>
      </p:sp>
      <p:sp>
        <p:nvSpPr>
          <p:cNvPr id="8" name="Google Shape;8;p72"/>
          <p:cNvSpPr txBox="1">
            <a:spLocks noGrp="1"/>
          </p:cNvSpPr>
          <p:nvPr>
            <p:ph type="sldNum" idx="12"/>
          </p:nvPr>
        </p:nvSpPr>
        <p:spPr>
          <a:xfrm>
            <a:off x="4484637" y="4905375"/>
            <a:ext cx="170100" cy="172800"/>
          </a:xfrm>
          <a:prstGeom prst="rect">
            <a:avLst/>
          </a:prstGeom>
          <a:noFill/>
          <a:ln>
            <a:noFill/>
          </a:ln>
        </p:spPr>
        <p:txBody>
          <a:bodyPr spcFirstLastPara="1" wrap="square" lIns="19050" tIns="19050" rIns="19050" bIns="19050" anchor="t" anchorCtr="0">
            <a:noAutofit/>
          </a:bodyPr>
          <a:lstStyle>
            <a:lvl1pPr marL="0" marR="0" lvl="0"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900"/>
              <a:buFont typeface="Helvetica Neue Light"/>
              <a:buNone/>
              <a:defRPr sz="900" b="0" i="0" u="none" strike="noStrike" cap="none">
                <a:solidFill>
                  <a:srgbClr val="000000"/>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500">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 id="2147483663"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sp>
        <p:nvSpPr>
          <p:cNvPr id="71" name="Google Shape;71;p7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2" name="Google Shape;72;p7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73" name="Google Shape;73;p7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4" name="Google Shape;74;p7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75" name="Google Shape;75;p7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35"/>
        <p:cNvGrpSpPr/>
        <p:nvPr/>
      </p:nvGrpSpPr>
      <p:grpSpPr>
        <a:xfrm>
          <a:off x="0" y="0"/>
          <a:ext cx="0" cy="0"/>
          <a:chOff x="0" y="0"/>
          <a:chExt cx="0" cy="0"/>
        </a:xfrm>
      </p:grpSpPr>
      <p:sp>
        <p:nvSpPr>
          <p:cNvPr id="136" name="Google Shape;136;p7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37" name="Google Shape;137;p7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38" name="Google Shape;138;p7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5.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4.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hyperlink" Target="https://help.basespace.illumina.com/files-used-by-basespace/quality-scores" TargetMode="External"/><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respiratory-research.biomedcentral.com/articles/10.1186/s12931-020-01581-z"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hyperlink" Target="https://bmcmicrobiol.biomedcentral.com/articles/10.1186/s12866-020-02068-z"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OpenGene/fastp?tab=readme-ov-file#fastp" TargetMode="External"/><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www.usadellab.org/cms/index.php?page=trimmomatic" TargetMode="Externa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hyperlink" Target="https://daehwankimlab.github.io/hisat2/manual/" TargetMode="External"/><Relationship Id="rId3" Type="http://schemas.openxmlformats.org/officeDocument/2006/relationships/hyperlink" Target="https://www.ncbi.nlm.nih.gov/datasets/genome/GCF_000001405.26/" TargetMode="External"/><Relationship Id="rId7" Type="http://schemas.openxmlformats.org/officeDocument/2006/relationships/hyperlink" Target="https://github.com/lh3/minimap2"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hyperlink" Target="https://bowtie-bio.sourceforge.net/bowtie2/manual.shtml#introduction" TargetMode="External"/><Relationship Id="rId5" Type="http://schemas.openxmlformats.org/officeDocument/2006/relationships/hyperlink" Target="http://www.htslib.org/" TargetMode="External"/><Relationship Id="rId4" Type="http://schemas.openxmlformats.org/officeDocument/2006/relationships/hyperlink" Target="https://www.ncbi.nlm.nih.gov/datasets/genome/GCF_009914755.1/" TargetMode="External"/><Relationship Id="rId9" Type="http://schemas.openxmlformats.org/officeDocument/2006/relationships/image" Target="../media/image2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weizhongli/cdhit/blob/master/doc/cdhit-user-guide.wiki#user-content-cdhitdup" TargetMode="External"/><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weizhongli/cdhit/blob/master/doc/cdhit-user-guide.wiki#user-content-cdhitdup" TargetMode="External"/><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6.xml.rels><?xml version="1.0" encoding="UTF-8" standalone="yes"?>
<Relationships xmlns="http://schemas.openxmlformats.org/package/2006/relationships"><Relationship Id="rId3" Type="http://schemas.openxmlformats.org/officeDocument/2006/relationships/hyperlink" Target="https://ccb.jhu.edu/software/kraken2/" TargetMode="Externa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hyperlink" Target="https://ccb.jhu.edu/software/kraken2/" TargetMode="Externa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9.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4.xml"/></Relationships>
</file>

<file path=ppt/slides/_rels/slide5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3.xml"/><Relationship Id="rId1" Type="http://schemas.openxmlformats.org/officeDocument/2006/relationships/slideLayout" Target="../slideLayouts/slideLayout24.xml"/></Relationships>
</file>

<file path=ppt/slides/_rels/slide5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4.xml"/><Relationship Id="rId1" Type="http://schemas.openxmlformats.org/officeDocument/2006/relationships/slideLayout" Target="../slideLayouts/slideLayout24.xml"/><Relationship Id="rId5" Type="http://schemas.openxmlformats.org/officeDocument/2006/relationships/image" Target="../media/image32.png"/><Relationship Id="rId4" Type="http://schemas.openxmlformats.org/officeDocument/2006/relationships/image" Target="../media/image31.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hyperlink" Target="https://github.com/ablab/spades" TargetMode="External"/><Relationship Id="rId2" Type="http://schemas.openxmlformats.org/officeDocument/2006/relationships/notesSlide" Target="../notesSlides/notesSlide61.xml"/><Relationship Id="rId1" Type="http://schemas.openxmlformats.org/officeDocument/2006/relationships/slideLayout" Target="../slideLayouts/slideLayout15.xml"/><Relationship Id="rId4" Type="http://schemas.openxmlformats.org/officeDocument/2006/relationships/hyperlink" Target="https://github.com/mikolmogorov/Flye" TargetMode="External"/></Relationships>
</file>

<file path=ppt/slides/_rels/slide6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6.xml"/></Relationships>
</file>

<file path=ppt/slides/_rels/slide7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_rels/slide7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2.xml"/><Relationship Id="rId1" Type="http://schemas.openxmlformats.org/officeDocument/2006/relationships/slideLayout" Target="../slideLayouts/slideLayout15.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5.xml"/></Relationships>
</file>

<file path=ppt/slides/_rels/slide75.xml.rels><?xml version="1.0" encoding="UTF-8" standalone="yes"?>
<Relationships xmlns="http://schemas.openxmlformats.org/package/2006/relationships"><Relationship Id="rId3" Type="http://schemas.openxmlformats.org/officeDocument/2006/relationships/hyperlink" Target="https://blast.ncbi.nlm.nih.gov/Blast.cgi" TargetMode="External"/><Relationship Id="rId7" Type="http://schemas.openxmlformats.org/officeDocument/2006/relationships/image" Target="../media/image33.png"/><Relationship Id="rId2" Type="http://schemas.openxmlformats.org/officeDocument/2006/relationships/notesSlide" Target="../notesSlides/notesSlide74.xml"/><Relationship Id="rId1" Type="http://schemas.openxmlformats.org/officeDocument/2006/relationships/slideLayout" Target="../slideLayouts/slideLayout15.xml"/><Relationship Id="rId6" Type="http://schemas.openxmlformats.org/officeDocument/2006/relationships/hyperlink" Target="https://github.com/bbuchfink/diamond" TargetMode="External"/><Relationship Id="rId5" Type="http://schemas.openxmlformats.org/officeDocument/2006/relationships/hyperlink" Target="https://ccb.jhu.edu/software/kraken2/" TargetMode="External"/><Relationship Id="rId4" Type="http://schemas.openxmlformats.org/officeDocument/2006/relationships/hyperlink" Target="https://github.com/lh3/minimap2" TargetMode="Externa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5.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4.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4.xml"/></Relationships>
</file>

<file path=ppt/slides/_rels/slide8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0.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cxnSp>
        <p:nvCxnSpPr>
          <p:cNvPr id="189" name="Google Shape;189;p1"/>
          <p:cNvCxnSpPr/>
          <p:nvPr/>
        </p:nvCxnSpPr>
        <p:spPr>
          <a:xfrm>
            <a:off x="476250" y="1808637"/>
            <a:ext cx="8191500" cy="0"/>
          </a:xfrm>
          <a:prstGeom prst="straightConnector1">
            <a:avLst/>
          </a:prstGeom>
          <a:noFill/>
          <a:ln w="28575" cap="flat" cmpd="sng">
            <a:solidFill>
              <a:srgbClr val="E3EED3">
                <a:alpha val="40000"/>
              </a:srgbClr>
            </a:solidFill>
            <a:prstDash val="solid"/>
            <a:miter lim="400000"/>
            <a:headEnd type="none" w="sm" len="sm"/>
            <a:tailEnd type="none" w="sm" len="sm"/>
          </a:ln>
        </p:spPr>
      </p:cxnSp>
      <p:sp>
        <p:nvSpPr>
          <p:cNvPr id="190" name="Google Shape;190;p1"/>
          <p:cNvSpPr txBox="1"/>
          <p:nvPr/>
        </p:nvSpPr>
        <p:spPr>
          <a:xfrm>
            <a:off x="476250" y="1290202"/>
            <a:ext cx="8191500" cy="410700"/>
          </a:xfrm>
          <a:prstGeom prst="rect">
            <a:avLst/>
          </a:prstGeom>
          <a:noFill/>
          <a:ln>
            <a:noFill/>
          </a:ln>
        </p:spPr>
        <p:txBody>
          <a:bodyPr spcFirstLastPara="1" wrap="square" lIns="19050" tIns="19050" rIns="19050" bIns="19050" anchor="ctr" anchorCtr="0">
            <a:noAutofit/>
          </a:bodyPr>
          <a:lstStyle/>
          <a:p>
            <a:pPr marL="0" marR="0" lvl="0" indent="0" algn="l" rtl="0">
              <a:lnSpc>
                <a:spcPct val="120000"/>
              </a:lnSpc>
              <a:spcBef>
                <a:spcPts val="0"/>
              </a:spcBef>
              <a:spcAft>
                <a:spcPts val="0"/>
              </a:spcAft>
              <a:buClr>
                <a:srgbClr val="9DC061"/>
              </a:buClr>
              <a:buSzPts val="2300"/>
              <a:buFont typeface="Poppins"/>
              <a:buNone/>
            </a:pPr>
            <a:r>
              <a:rPr lang="en" sz="4000" b="0" i="0" u="none" strike="noStrike" cap="none">
                <a:solidFill>
                  <a:schemeClr val="dk1"/>
                </a:solidFill>
                <a:latin typeface="Helvetica Neue"/>
                <a:ea typeface="Helvetica Neue"/>
                <a:cs typeface="Helvetica Neue"/>
                <a:sym typeface="Helvetica Neue"/>
              </a:rPr>
              <a:t>Bioinformatics Basics</a:t>
            </a:r>
            <a:endParaRPr sz="4000" b="0" i="0" u="none" strike="noStrike" cap="none">
              <a:solidFill>
                <a:schemeClr val="dk1"/>
              </a:solidFill>
              <a:latin typeface="Helvetica Neue"/>
              <a:ea typeface="Helvetica Neue"/>
              <a:cs typeface="Helvetica Neue"/>
              <a:sym typeface="Helvetica Neue"/>
            </a:endParaRPr>
          </a:p>
        </p:txBody>
      </p:sp>
      <p:pic>
        <p:nvPicPr>
          <p:cNvPr id="192" name="Google Shape;192;p1" descr="Monitor with solid fill"/>
          <p:cNvPicPr preferRelativeResize="0"/>
          <p:nvPr/>
        </p:nvPicPr>
        <p:blipFill rotWithShape="1">
          <a:blip r:embed="rId3">
            <a:alphaModFix/>
          </a:blip>
          <a:srcRect/>
          <a:stretch/>
        </p:blipFill>
        <p:spPr>
          <a:xfrm>
            <a:off x="226000" y="1643109"/>
            <a:ext cx="2413591" cy="2413591"/>
          </a:xfrm>
          <a:prstGeom prst="rect">
            <a:avLst/>
          </a:prstGeom>
          <a:noFill/>
          <a:ln>
            <a:noFill/>
          </a:ln>
        </p:spPr>
      </p:pic>
      <p:pic>
        <p:nvPicPr>
          <p:cNvPr id="193" name="Google Shape;193;p1" descr="DNA with solid fill"/>
          <p:cNvPicPr preferRelativeResize="0"/>
          <p:nvPr/>
        </p:nvPicPr>
        <p:blipFill rotWithShape="1">
          <a:blip r:embed="rId4">
            <a:alphaModFix/>
          </a:blip>
          <a:srcRect/>
          <a:stretch/>
        </p:blipFill>
        <p:spPr>
          <a:xfrm rot="3346503">
            <a:off x="586486" y="2474301"/>
            <a:ext cx="566355" cy="566355"/>
          </a:xfrm>
          <a:prstGeom prst="rect">
            <a:avLst/>
          </a:prstGeom>
          <a:noFill/>
          <a:ln>
            <a:noFill/>
          </a:ln>
        </p:spPr>
      </p:pic>
      <p:pic>
        <p:nvPicPr>
          <p:cNvPr id="194" name="Google Shape;194;p1" descr="Bar graph with upward trend with solid fill"/>
          <p:cNvPicPr preferRelativeResize="0"/>
          <p:nvPr/>
        </p:nvPicPr>
        <p:blipFill rotWithShape="1">
          <a:blip r:embed="rId5">
            <a:alphaModFix/>
          </a:blip>
          <a:srcRect/>
          <a:stretch/>
        </p:blipFill>
        <p:spPr>
          <a:xfrm>
            <a:off x="1632929" y="2176084"/>
            <a:ext cx="595423" cy="595423"/>
          </a:xfrm>
          <a:prstGeom prst="rect">
            <a:avLst/>
          </a:prstGeom>
          <a:noFill/>
          <a:ln>
            <a:noFill/>
          </a:ln>
        </p:spPr>
      </p:pic>
      <p:pic>
        <p:nvPicPr>
          <p:cNvPr id="195" name="Google Shape;195;p1" descr="Pie chart with solid fill"/>
          <p:cNvPicPr preferRelativeResize="0"/>
          <p:nvPr/>
        </p:nvPicPr>
        <p:blipFill rotWithShape="1">
          <a:blip r:embed="rId6">
            <a:alphaModFix/>
          </a:blip>
          <a:srcRect/>
          <a:stretch/>
        </p:blipFill>
        <p:spPr>
          <a:xfrm>
            <a:off x="1632929" y="2715409"/>
            <a:ext cx="515453" cy="515453"/>
          </a:xfrm>
          <a:prstGeom prst="rect">
            <a:avLst/>
          </a:prstGeom>
          <a:noFill/>
          <a:ln>
            <a:noFill/>
          </a:ln>
        </p:spPr>
      </p:pic>
      <p:sp>
        <p:nvSpPr>
          <p:cNvPr id="2" name="TextBox 1">
            <a:extLst>
              <a:ext uri="{FF2B5EF4-FFF2-40B4-BE49-F238E27FC236}">
                <a16:creationId xmlns:a16="http://schemas.microsoft.com/office/drawing/2014/main" id="{6BC9B151-B70B-2E0C-67EF-DE53883FE0DE}"/>
              </a:ext>
            </a:extLst>
          </p:cNvPr>
          <p:cNvSpPr txBox="1"/>
          <p:nvPr/>
        </p:nvSpPr>
        <p:spPr>
          <a:xfrm>
            <a:off x="6629401" y="4897279"/>
            <a:ext cx="2514600" cy="246221"/>
          </a:xfrm>
          <a:prstGeom prst="rect">
            <a:avLst/>
          </a:prstGeom>
          <a:noFill/>
        </p:spPr>
        <p:txBody>
          <a:bodyPr wrap="square" rtlCol="0">
            <a:spAutoFit/>
          </a:bodyPr>
          <a:lstStyle/>
          <a:p>
            <a:r>
              <a:rPr lang="en-US" sz="1000" dirty="0">
                <a:solidFill>
                  <a:schemeClr val="tx1">
                    <a:lumMod val="50000"/>
                    <a:lumOff val="50000"/>
                  </a:schemeClr>
                </a:solidFill>
                <a:latin typeface="Arial" panose="020B0604020202020204" pitchFamily="34" charset="0"/>
                <a:cs typeface="Arial" panose="020B0604020202020204" pitchFamily="34" charset="0"/>
              </a:rPr>
              <a:t>Rapid Response – </a:t>
            </a:r>
            <a:r>
              <a:rPr lang="en-US" sz="1000">
                <a:solidFill>
                  <a:schemeClr val="tx1">
                    <a:lumMod val="50000"/>
                    <a:lumOff val="50000"/>
                  </a:schemeClr>
                </a:solidFill>
                <a:latin typeface="Arial" panose="020B0604020202020204" pitchFamily="34" charset="0"/>
                <a:cs typeface="Arial" panose="020B0604020202020204" pitchFamily="34" charset="0"/>
              </a:rPr>
              <a:t>Revised Feb 2025</a:t>
            </a:r>
            <a:endParaRPr lang="en-US" sz="1000" dirty="0">
              <a:solidFill>
                <a:schemeClr val="tx1">
                  <a:lumMod val="50000"/>
                  <a:lumOff val="50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2"/>
          <p:cNvSpPr txBox="1">
            <a:spLocks noGrp="1"/>
          </p:cNvSpPr>
          <p:nvPr>
            <p:ph type="title"/>
          </p:nvPr>
        </p:nvSpPr>
        <p:spPr>
          <a:xfrm>
            <a:off x="633413" y="-190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300">
                <a:latin typeface="Arial"/>
                <a:ea typeface="Arial"/>
                <a:cs typeface="Arial"/>
                <a:sym typeface="Arial"/>
              </a:rPr>
              <a:t>Outline </a:t>
            </a:r>
            <a:endParaRPr sz="3300">
              <a:latin typeface="Arial"/>
              <a:ea typeface="Arial"/>
              <a:cs typeface="Arial"/>
              <a:sym typeface="Arial"/>
            </a:endParaRPr>
          </a:p>
        </p:txBody>
      </p:sp>
      <p:sp>
        <p:nvSpPr>
          <p:cNvPr id="210" name="Google Shape;210;p2"/>
          <p:cNvSpPr txBox="1">
            <a:spLocks noGrp="1"/>
          </p:cNvSpPr>
          <p:nvPr>
            <p:ph type="body" idx="1"/>
          </p:nvPr>
        </p:nvSpPr>
        <p:spPr>
          <a:xfrm>
            <a:off x="633425" y="1709700"/>
            <a:ext cx="7877100" cy="3552000"/>
          </a:xfrm>
          <a:prstGeom prst="rect">
            <a:avLst/>
          </a:prstGeom>
          <a:noFill/>
          <a:ln>
            <a:noFill/>
          </a:ln>
        </p:spPr>
        <p:txBody>
          <a:bodyPr spcFirstLastPara="1" wrap="square" lIns="19050" tIns="19050" rIns="19050" bIns="19050" anchor="ctr" anchorCtr="0">
            <a:noAutofit/>
          </a:bodyPr>
          <a:lstStyle/>
          <a:p>
            <a:pPr marL="457200" lvl="0" indent="-374650" algn="l" rtl="0">
              <a:lnSpc>
                <a:spcPct val="100000"/>
              </a:lnSpc>
              <a:spcBef>
                <a:spcPts val="2200"/>
              </a:spcBef>
              <a:spcAft>
                <a:spcPts val="0"/>
              </a:spcAft>
              <a:buClr>
                <a:schemeClr val="dk1"/>
              </a:buClr>
              <a:buSzPts val="2300"/>
              <a:buFont typeface="Helvetica Neue Light"/>
              <a:buChar char="●"/>
            </a:pPr>
            <a:r>
              <a:rPr lang="en">
                <a:solidFill>
                  <a:schemeClr val="dk1"/>
                </a:solidFill>
                <a:latin typeface="Arial"/>
                <a:ea typeface="Arial"/>
                <a:cs typeface="Arial"/>
                <a:sym typeface="Arial"/>
              </a:rPr>
              <a:t>Review NGS workflow</a:t>
            </a:r>
            <a:endParaRPr>
              <a:solidFill>
                <a:schemeClr val="dk1"/>
              </a:solidFill>
              <a:latin typeface="Arial"/>
              <a:ea typeface="Arial"/>
              <a:cs typeface="Arial"/>
              <a:sym typeface="Arial"/>
            </a:endParaRPr>
          </a:p>
          <a:p>
            <a:pPr marL="914400" lvl="1" indent="-374650" algn="l" rtl="0">
              <a:lnSpc>
                <a:spcPct val="100000"/>
              </a:lnSpc>
              <a:spcBef>
                <a:spcPts val="0"/>
              </a:spcBef>
              <a:spcAft>
                <a:spcPts val="0"/>
              </a:spcAft>
              <a:buClr>
                <a:schemeClr val="dk1"/>
              </a:buClr>
              <a:buSzPts val="2300"/>
              <a:buFont typeface="Arial"/>
              <a:buChar char="○"/>
            </a:pPr>
            <a:r>
              <a:rPr lang="en">
                <a:solidFill>
                  <a:schemeClr val="dk1"/>
                </a:solidFill>
                <a:latin typeface="Arial"/>
                <a:ea typeface="Arial"/>
                <a:cs typeface="Arial"/>
                <a:sym typeface="Arial"/>
              </a:rPr>
              <a:t>Whole genome sequencing (WGS) vs metagenomic NGS (mNGS)</a:t>
            </a:r>
            <a:endParaRPr>
              <a:solidFill>
                <a:schemeClr val="dk1"/>
              </a:solidFill>
              <a:latin typeface="Arial"/>
              <a:ea typeface="Arial"/>
              <a:cs typeface="Arial"/>
              <a:sym typeface="Arial"/>
            </a:endParaRPr>
          </a:p>
          <a:p>
            <a:pPr marL="457200" lvl="0" indent="-374650" algn="l" rtl="0">
              <a:lnSpc>
                <a:spcPct val="100000"/>
              </a:lnSpc>
              <a:spcBef>
                <a:spcPts val="2200"/>
              </a:spcBef>
              <a:spcAft>
                <a:spcPts val="0"/>
              </a:spcAft>
              <a:buClr>
                <a:schemeClr val="dk1"/>
              </a:buClr>
              <a:buSzPts val="2300"/>
              <a:buFont typeface="Arial"/>
              <a:buChar char="●"/>
            </a:pPr>
            <a:r>
              <a:rPr lang="en">
                <a:solidFill>
                  <a:schemeClr val="dk1"/>
                </a:solidFill>
                <a:latin typeface="Arial"/>
                <a:ea typeface="Arial"/>
                <a:cs typeface="Arial"/>
                <a:sym typeface="Arial"/>
              </a:rPr>
              <a:t>Sequence File Formats</a:t>
            </a:r>
            <a:endParaRPr>
              <a:solidFill>
                <a:schemeClr val="dk1"/>
              </a:solidFill>
              <a:latin typeface="Arial"/>
              <a:ea typeface="Arial"/>
              <a:cs typeface="Arial"/>
              <a:sym typeface="Arial"/>
            </a:endParaRPr>
          </a:p>
          <a:p>
            <a:pPr marL="914400" lvl="1" indent="-374650" algn="l" rtl="0">
              <a:lnSpc>
                <a:spcPct val="100000"/>
              </a:lnSpc>
              <a:spcBef>
                <a:spcPts val="0"/>
              </a:spcBef>
              <a:spcAft>
                <a:spcPts val="0"/>
              </a:spcAft>
              <a:buClr>
                <a:schemeClr val="dk1"/>
              </a:buClr>
              <a:buSzPts val="2300"/>
              <a:buFont typeface="Helvetica Neue Light"/>
              <a:buChar char="○"/>
            </a:pPr>
            <a:r>
              <a:rPr lang="en">
                <a:solidFill>
                  <a:schemeClr val="dk1"/>
                </a:solidFill>
                <a:latin typeface="Arial"/>
                <a:ea typeface="Arial"/>
                <a:cs typeface="Arial"/>
                <a:sym typeface="Arial"/>
              </a:rPr>
              <a:t>FASTA vs FASTQ</a:t>
            </a:r>
            <a:endParaRPr>
              <a:solidFill>
                <a:schemeClr val="dk1"/>
              </a:solidFill>
              <a:latin typeface="Arial"/>
              <a:ea typeface="Arial"/>
              <a:cs typeface="Arial"/>
              <a:sym typeface="Arial"/>
            </a:endParaRPr>
          </a:p>
          <a:p>
            <a:pPr marL="457200" lvl="0" indent="-374650" algn="l" rtl="0">
              <a:lnSpc>
                <a:spcPct val="100000"/>
              </a:lnSpc>
              <a:spcBef>
                <a:spcPts val="2200"/>
              </a:spcBef>
              <a:spcAft>
                <a:spcPts val="0"/>
              </a:spcAft>
              <a:buSzPts val="2300"/>
              <a:buFont typeface="Helvetica Neue Light"/>
              <a:buChar char="●"/>
            </a:pPr>
            <a:r>
              <a:rPr lang="en">
                <a:latin typeface="Arial"/>
                <a:ea typeface="Arial"/>
                <a:cs typeface="Arial"/>
                <a:sym typeface="Arial"/>
              </a:rPr>
              <a:t>Pipeline basics</a:t>
            </a:r>
            <a:endParaRPr>
              <a:latin typeface="Arial"/>
              <a:ea typeface="Arial"/>
              <a:cs typeface="Arial"/>
              <a:sym typeface="Arial"/>
            </a:endParaRPr>
          </a:p>
          <a:p>
            <a:pPr marL="914400" lvl="1" indent="-374650" algn="l" rtl="0">
              <a:lnSpc>
                <a:spcPct val="100000"/>
              </a:lnSpc>
              <a:spcBef>
                <a:spcPts val="2200"/>
              </a:spcBef>
              <a:spcAft>
                <a:spcPts val="0"/>
              </a:spcAft>
              <a:buClr>
                <a:schemeClr val="dk1"/>
              </a:buClr>
              <a:buSzPts val="2300"/>
              <a:buFont typeface="Arial"/>
              <a:buChar char="○"/>
            </a:pPr>
            <a:r>
              <a:rPr lang="en">
                <a:solidFill>
                  <a:schemeClr val="dk1"/>
                </a:solidFill>
                <a:latin typeface="Arial"/>
                <a:ea typeface="Arial"/>
                <a:cs typeface="Arial"/>
                <a:sym typeface="Arial"/>
              </a:rPr>
              <a:t>WGS workflow overview</a:t>
            </a:r>
            <a:endParaRPr>
              <a:solidFill>
                <a:schemeClr val="dk1"/>
              </a:solidFill>
              <a:latin typeface="Arial"/>
              <a:ea typeface="Arial"/>
              <a:cs typeface="Arial"/>
              <a:sym typeface="Arial"/>
            </a:endParaRPr>
          </a:p>
          <a:p>
            <a:pPr marL="914400" lvl="1" indent="-374650" algn="l" rtl="0">
              <a:lnSpc>
                <a:spcPct val="100000"/>
              </a:lnSpc>
              <a:spcBef>
                <a:spcPts val="2200"/>
              </a:spcBef>
              <a:spcAft>
                <a:spcPts val="0"/>
              </a:spcAft>
              <a:buClr>
                <a:schemeClr val="dk1"/>
              </a:buClr>
              <a:buSzPts val="2300"/>
              <a:buFont typeface="Arial"/>
              <a:buChar char="○"/>
            </a:pPr>
            <a:r>
              <a:rPr lang="en">
                <a:solidFill>
                  <a:schemeClr val="dk1"/>
                </a:solidFill>
                <a:latin typeface="Arial"/>
                <a:ea typeface="Arial"/>
                <a:cs typeface="Arial"/>
                <a:sym typeface="Arial"/>
              </a:rPr>
              <a:t>mNGS common workflow steps</a:t>
            </a:r>
            <a:endParaRPr>
              <a:latin typeface="Arial"/>
              <a:ea typeface="Arial"/>
              <a:cs typeface="Arial"/>
              <a:sym typeface="Arial"/>
            </a:endParaRPr>
          </a:p>
          <a:p>
            <a:pPr marL="457200" lvl="0" indent="-374650" algn="l" rtl="0">
              <a:lnSpc>
                <a:spcPct val="100000"/>
              </a:lnSpc>
              <a:spcBef>
                <a:spcPts val="2200"/>
              </a:spcBef>
              <a:spcAft>
                <a:spcPts val="0"/>
              </a:spcAft>
              <a:buSzPts val="2300"/>
              <a:buFont typeface="Arial"/>
              <a:buChar char="●"/>
            </a:pPr>
            <a:r>
              <a:rPr lang="en">
                <a:latin typeface="Arial"/>
                <a:ea typeface="Arial"/>
                <a:cs typeface="Arial"/>
                <a:sym typeface="Arial"/>
              </a:rPr>
              <a:t>BLAST</a:t>
            </a:r>
            <a:endParaRPr>
              <a:latin typeface="Arial"/>
              <a:ea typeface="Arial"/>
              <a:cs typeface="Arial"/>
              <a:sym typeface="Arial"/>
            </a:endParaRPr>
          </a:p>
          <a:p>
            <a:pPr marL="457200" lvl="0" indent="0" algn="l" rtl="0">
              <a:lnSpc>
                <a:spcPct val="115000"/>
              </a:lnSpc>
              <a:spcBef>
                <a:spcPts val="2200"/>
              </a:spcBef>
              <a:spcAft>
                <a:spcPts val="0"/>
              </a:spcAft>
              <a:buSzPts val="2300"/>
              <a:buNone/>
            </a:pPr>
            <a:endParaRPr>
              <a:latin typeface="Arial"/>
              <a:ea typeface="Arial"/>
              <a:cs typeface="Arial"/>
              <a:sym typeface="Arial"/>
            </a:endParaRPr>
          </a:p>
          <a:p>
            <a:pPr marL="457200" lvl="0" indent="0" algn="l" rtl="0">
              <a:lnSpc>
                <a:spcPct val="200000"/>
              </a:lnSpc>
              <a:spcBef>
                <a:spcPts val="2200"/>
              </a:spcBef>
              <a:spcAft>
                <a:spcPts val="0"/>
              </a:spcAft>
              <a:buSzPts val="2300"/>
              <a:buNone/>
            </a:pPr>
            <a:endParaRPr>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3"/>
          <p:cNvSpPr txBox="1"/>
          <p:nvPr/>
        </p:nvSpPr>
        <p:spPr>
          <a:xfrm>
            <a:off x="645325" y="1174450"/>
            <a:ext cx="1179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Sample Collection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6" name="Google Shape;216;p3"/>
          <p:cNvSpPr txBox="1"/>
          <p:nvPr/>
        </p:nvSpPr>
        <p:spPr>
          <a:xfrm>
            <a:off x="2058256"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DNA or RNA Extraction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7" name="Google Shape;217;p3"/>
          <p:cNvSpPr txBox="1"/>
          <p:nvPr/>
        </p:nvSpPr>
        <p:spPr>
          <a:xfrm>
            <a:off x="3894413"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Library</a:t>
            </a:r>
            <a:endParaRPr sz="1600" b="1" i="0" u="none" strike="noStrike" cap="none">
              <a:solidFill>
                <a:srgbClr val="000000"/>
              </a:solidFill>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Preparation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8" name="Google Shape;218;p3"/>
          <p:cNvSpPr txBox="1"/>
          <p:nvPr/>
        </p:nvSpPr>
        <p:spPr>
          <a:xfrm>
            <a:off x="5607869" y="125630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Sequencing</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19" name="Google Shape;219;p3"/>
          <p:cNvSpPr txBox="1"/>
          <p:nvPr/>
        </p:nvSpPr>
        <p:spPr>
          <a:xfrm>
            <a:off x="7321325"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Bioinformatic Analysis</a:t>
            </a:r>
            <a:endParaRPr sz="1600" b="1" i="0" u="none" strike="noStrike" cap="none">
              <a:solidFill>
                <a:srgbClr val="000000"/>
              </a:solidFill>
              <a:latin typeface="Helvetica Neue Light"/>
              <a:ea typeface="Helvetica Neue Light"/>
              <a:cs typeface="Helvetica Neue Light"/>
              <a:sym typeface="Helvetica Neue Light"/>
            </a:endParaRPr>
          </a:p>
        </p:txBody>
      </p:sp>
      <p:pic>
        <p:nvPicPr>
          <p:cNvPr id="220" name="Google Shape;220;p3"/>
          <p:cNvPicPr preferRelativeResize="0"/>
          <p:nvPr/>
        </p:nvPicPr>
        <p:blipFill rotWithShape="1">
          <a:blip r:embed="rId3">
            <a:alphaModFix/>
          </a:blip>
          <a:srcRect/>
          <a:stretch/>
        </p:blipFill>
        <p:spPr>
          <a:xfrm>
            <a:off x="5863870" y="1780249"/>
            <a:ext cx="1279380" cy="1108256"/>
          </a:xfrm>
          <a:prstGeom prst="rect">
            <a:avLst/>
          </a:prstGeom>
          <a:noFill/>
          <a:ln>
            <a:noFill/>
          </a:ln>
        </p:spPr>
      </p:pic>
      <p:pic>
        <p:nvPicPr>
          <p:cNvPr id="221" name="Google Shape;221;p3"/>
          <p:cNvPicPr preferRelativeResize="0"/>
          <p:nvPr/>
        </p:nvPicPr>
        <p:blipFill rotWithShape="1">
          <a:blip r:embed="rId4">
            <a:alphaModFix/>
          </a:blip>
          <a:srcRect l="5735" t="50307" r="53875" b="6687"/>
          <a:stretch/>
        </p:blipFill>
        <p:spPr>
          <a:xfrm>
            <a:off x="2227675" y="1769425"/>
            <a:ext cx="1373281" cy="1023536"/>
          </a:xfrm>
          <a:prstGeom prst="rect">
            <a:avLst/>
          </a:prstGeom>
          <a:noFill/>
          <a:ln>
            <a:noFill/>
          </a:ln>
        </p:spPr>
      </p:pic>
      <p:grpSp>
        <p:nvGrpSpPr>
          <p:cNvPr id="222" name="Google Shape;222;p3"/>
          <p:cNvGrpSpPr/>
          <p:nvPr/>
        </p:nvGrpSpPr>
        <p:grpSpPr>
          <a:xfrm>
            <a:off x="4115988" y="2128889"/>
            <a:ext cx="1268962" cy="492861"/>
            <a:chOff x="3963588" y="2128889"/>
            <a:chExt cx="1268962" cy="492861"/>
          </a:xfrm>
        </p:grpSpPr>
        <p:sp>
          <p:nvSpPr>
            <p:cNvPr id="223" name="Google Shape;223;p3"/>
            <p:cNvSpPr/>
            <p:nvPr/>
          </p:nvSpPr>
          <p:spPr>
            <a:xfrm>
              <a:off x="4316650" y="25551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4" name="Google Shape;224;p3"/>
            <p:cNvSpPr/>
            <p:nvPr/>
          </p:nvSpPr>
          <p:spPr>
            <a:xfrm>
              <a:off x="4458129" y="25551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5" name="Google Shape;225;p3"/>
            <p:cNvSpPr/>
            <p:nvPr/>
          </p:nvSpPr>
          <p:spPr>
            <a:xfrm>
              <a:off x="4536088" y="25551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6" name="Google Shape;226;p3"/>
            <p:cNvSpPr/>
            <p:nvPr/>
          </p:nvSpPr>
          <p:spPr>
            <a:xfrm>
              <a:off x="3963588" y="24337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7" name="Google Shape;227;p3"/>
            <p:cNvSpPr/>
            <p:nvPr/>
          </p:nvSpPr>
          <p:spPr>
            <a:xfrm>
              <a:off x="4105066" y="24337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8" name="Google Shape;228;p3"/>
            <p:cNvSpPr/>
            <p:nvPr/>
          </p:nvSpPr>
          <p:spPr>
            <a:xfrm>
              <a:off x="4183025" y="24336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29" name="Google Shape;229;p3"/>
            <p:cNvSpPr/>
            <p:nvPr/>
          </p:nvSpPr>
          <p:spPr>
            <a:xfrm>
              <a:off x="4299338" y="2342025"/>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0" name="Google Shape;230;p3"/>
            <p:cNvSpPr/>
            <p:nvPr/>
          </p:nvSpPr>
          <p:spPr>
            <a:xfrm>
              <a:off x="4440816" y="2342025"/>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1" name="Google Shape;231;p3"/>
            <p:cNvSpPr/>
            <p:nvPr/>
          </p:nvSpPr>
          <p:spPr>
            <a:xfrm>
              <a:off x="4518775" y="2342014"/>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2" name="Google Shape;232;p3"/>
            <p:cNvSpPr/>
            <p:nvPr/>
          </p:nvSpPr>
          <p:spPr>
            <a:xfrm>
              <a:off x="3963588" y="22503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3" name="Google Shape;233;p3"/>
            <p:cNvSpPr/>
            <p:nvPr/>
          </p:nvSpPr>
          <p:spPr>
            <a:xfrm>
              <a:off x="4105066" y="22503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4" name="Google Shape;234;p3"/>
            <p:cNvSpPr/>
            <p:nvPr/>
          </p:nvSpPr>
          <p:spPr>
            <a:xfrm>
              <a:off x="4183025" y="22503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5" name="Google Shape;235;p3"/>
            <p:cNvSpPr/>
            <p:nvPr/>
          </p:nvSpPr>
          <p:spPr>
            <a:xfrm>
              <a:off x="4206463" y="21289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6" name="Google Shape;236;p3"/>
            <p:cNvSpPr/>
            <p:nvPr/>
          </p:nvSpPr>
          <p:spPr>
            <a:xfrm>
              <a:off x="4347941" y="21289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37" name="Google Shape;237;p3"/>
            <p:cNvSpPr/>
            <p:nvPr/>
          </p:nvSpPr>
          <p:spPr>
            <a:xfrm>
              <a:off x="4425900" y="21288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grpSp>
      <p:cxnSp>
        <p:nvCxnSpPr>
          <p:cNvPr id="238" name="Google Shape;238;p3"/>
          <p:cNvCxnSpPr/>
          <p:nvPr/>
        </p:nvCxnSpPr>
        <p:spPr>
          <a:xfrm>
            <a:off x="179137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39" name="Google Shape;239;p3"/>
          <p:cNvCxnSpPr/>
          <p:nvPr/>
        </p:nvCxnSpPr>
        <p:spPr>
          <a:xfrm>
            <a:off x="365192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40" name="Google Shape;240;p3"/>
          <p:cNvCxnSpPr/>
          <p:nvPr/>
        </p:nvCxnSpPr>
        <p:spPr>
          <a:xfrm>
            <a:off x="5535928" y="2375350"/>
            <a:ext cx="336900" cy="0"/>
          </a:xfrm>
          <a:prstGeom prst="straightConnector1">
            <a:avLst/>
          </a:prstGeom>
          <a:noFill/>
          <a:ln w="19050" cap="flat" cmpd="sng">
            <a:solidFill>
              <a:schemeClr val="dk2"/>
            </a:solidFill>
            <a:prstDash val="solid"/>
            <a:round/>
            <a:headEnd type="none" w="sm" len="sm"/>
            <a:tailEnd type="triangle" w="med" len="med"/>
          </a:ln>
        </p:spPr>
      </p:cxnSp>
      <p:sp>
        <p:nvSpPr>
          <p:cNvPr id="241" name="Google Shape;241;p3"/>
          <p:cNvSpPr txBox="1"/>
          <p:nvPr/>
        </p:nvSpPr>
        <p:spPr>
          <a:xfrm>
            <a:off x="-68850" y="2196200"/>
            <a:ext cx="705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Light"/>
                <a:ea typeface="Helvetica Neue Light"/>
                <a:cs typeface="Helvetica Neue Light"/>
                <a:sym typeface="Helvetica Neue Light"/>
              </a:rPr>
              <a:t>WGS</a:t>
            </a:r>
            <a:endParaRPr sz="1600" b="0" i="0" u="none" strike="noStrike" cap="none">
              <a:solidFill>
                <a:srgbClr val="000000"/>
              </a:solidFill>
              <a:latin typeface="Helvetica Neue Light"/>
              <a:ea typeface="Helvetica Neue Light"/>
              <a:cs typeface="Helvetica Neue Light"/>
              <a:sym typeface="Helvetica Neue Light"/>
            </a:endParaRPr>
          </a:p>
        </p:txBody>
      </p:sp>
      <p:sp>
        <p:nvSpPr>
          <p:cNvPr id="242" name="Google Shape;242;p3"/>
          <p:cNvSpPr txBox="1"/>
          <p:nvPr/>
        </p:nvSpPr>
        <p:spPr>
          <a:xfrm>
            <a:off x="7112675" y="1998025"/>
            <a:ext cx="1977000" cy="8115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chemeClr val="dk1"/>
                </a:solidFill>
                <a:latin typeface="Helvetica Neue Light"/>
                <a:ea typeface="Helvetica Neue Light"/>
                <a:cs typeface="Helvetica Neue Light"/>
                <a:sym typeface="Helvetica Neue Light"/>
              </a:rPr>
              <a:t>Genome Assembly</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Variant Analysis</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243" name="Google Shape;243;p3"/>
          <p:cNvSpPr txBox="1"/>
          <p:nvPr/>
        </p:nvSpPr>
        <p:spPr>
          <a:xfrm>
            <a:off x="504675" y="274951"/>
            <a:ext cx="8134500" cy="6708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000000"/>
              </a:buClr>
              <a:buSzPts val="3300"/>
              <a:buFont typeface="Arial"/>
              <a:buNone/>
            </a:pPr>
            <a:r>
              <a:rPr lang="en" sz="3300" b="0" i="0" u="none" strike="noStrike" cap="none">
                <a:solidFill>
                  <a:srgbClr val="000000"/>
                </a:solidFill>
                <a:latin typeface="Arial"/>
                <a:ea typeface="Arial"/>
                <a:cs typeface="Arial"/>
                <a:sym typeface="Arial"/>
              </a:rPr>
              <a:t>WGS vs mNGS Workflow</a:t>
            </a:r>
            <a:endParaRPr sz="1100" b="0" i="0" u="none" strike="noStrike" cap="none">
              <a:solidFill>
                <a:srgbClr val="000000"/>
              </a:solidFill>
              <a:latin typeface="Arial"/>
              <a:ea typeface="Arial"/>
              <a:cs typeface="Arial"/>
              <a:sym typeface="Arial"/>
            </a:endParaRPr>
          </a:p>
        </p:txBody>
      </p:sp>
      <p:grpSp>
        <p:nvGrpSpPr>
          <p:cNvPr id="244" name="Google Shape;244;p3"/>
          <p:cNvGrpSpPr/>
          <p:nvPr/>
        </p:nvGrpSpPr>
        <p:grpSpPr>
          <a:xfrm rot="869516">
            <a:off x="600761" y="2129000"/>
            <a:ext cx="1091249" cy="558639"/>
            <a:chOff x="617839" y="2888500"/>
            <a:chExt cx="1268950" cy="596389"/>
          </a:xfrm>
        </p:grpSpPr>
        <p:pic>
          <p:nvPicPr>
            <p:cNvPr id="245" name="Google Shape;245;p3"/>
            <p:cNvPicPr preferRelativeResize="0"/>
            <p:nvPr/>
          </p:nvPicPr>
          <p:blipFill rotWithShape="1">
            <a:blip r:embed="rId5">
              <a:alphaModFix/>
            </a:blip>
            <a:srcRect/>
            <a:stretch/>
          </p:blipFill>
          <p:spPr>
            <a:xfrm>
              <a:off x="617839" y="2888500"/>
              <a:ext cx="1268950" cy="596389"/>
            </a:xfrm>
            <a:prstGeom prst="rect">
              <a:avLst/>
            </a:prstGeom>
            <a:noFill/>
            <a:ln>
              <a:noFill/>
            </a:ln>
          </p:spPr>
        </p:pic>
        <p:sp>
          <p:nvSpPr>
            <p:cNvPr id="246" name="Google Shape;246;p3"/>
            <p:cNvSpPr/>
            <p:nvPr/>
          </p:nvSpPr>
          <p:spPr>
            <a:xfrm>
              <a:off x="913050" y="3094225"/>
              <a:ext cx="172500" cy="94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3"/>
            <p:cNvSpPr/>
            <p:nvPr/>
          </p:nvSpPr>
          <p:spPr>
            <a:xfrm rot="10800000" flipH="1">
              <a:off x="1217625" y="3040215"/>
              <a:ext cx="162300" cy="894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3"/>
            <p:cNvSpPr/>
            <p:nvPr/>
          </p:nvSpPr>
          <p:spPr>
            <a:xfrm>
              <a:off x="1108250" y="3205825"/>
              <a:ext cx="141900" cy="780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3"/>
            <p:cNvSpPr/>
            <p:nvPr/>
          </p:nvSpPr>
          <p:spPr>
            <a:xfrm rot="10800000" flipH="1">
              <a:off x="1360125" y="3216929"/>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0" name="Google Shape;250;p3"/>
            <p:cNvSpPr/>
            <p:nvPr/>
          </p:nvSpPr>
          <p:spPr>
            <a:xfrm>
              <a:off x="1522200" y="3094225"/>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3"/>
            <p:cNvSpPr/>
            <p:nvPr/>
          </p:nvSpPr>
          <p:spPr>
            <a:xfrm>
              <a:off x="782300" y="3205825"/>
              <a:ext cx="152100" cy="837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
          <p:cNvSpPr txBox="1"/>
          <p:nvPr/>
        </p:nvSpPr>
        <p:spPr>
          <a:xfrm>
            <a:off x="645325" y="1174450"/>
            <a:ext cx="1179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Sample Collection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57" name="Google Shape;257;p4"/>
          <p:cNvSpPr txBox="1"/>
          <p:nvPr/>
        </p:nvSpPr>
        <p:spPr>
          <a:xfrm>
            <a:off x="2058256"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DNA or RNA Extraction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58" name="Google Shape;258;p4"/>
          <p:cNvSpPr txBox="1"/>
          <p:nvPr/>
        </p:nvSpPr>
        <p:spPr>
          <a:xfrm>
            <a:off x="3894413"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Library</a:t>
            </a:r>
            <a:endParaRPr sz="1600" b="1" i="0" u="none" strike="noStrike" cap="none">
              <a:solidFill>
                <a:srgbClr val="000000"/>
              </a:solidFill>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Preparation</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59" name="Google Shape;259;p4"/>
          <p:cNvSpPr txBox="1"/>
          <p:nvPr/>
        </p:nvSpPr>
        <p:spPr>
          <a:xfrm>
            <a:off x="5607869" y="125630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Sequencing</a:t>
            </a:r>
            <a:endParaRPr sz="1600" b="1" i="0" u="none" strike="noStrike" cap="none">
              <a:solidFill>
                <a:srgbClr val="000000"/>
              </a:solidFill>
              <a:latin typeface="Helvetica Neue Light"/>
              <a:ea typeface="Helvetica Neue Light"/>
              <a:cs typeface="Helvetica Neue Light"/>
              <a:sym typeface="Helvetica Neue Light"/>
            </a:endParaRPr>
          </a:p>
        </p:txBody>
      </p:sp>
      <p:sp>
        <p:nvSpPr>
          <p:cNvPr id="260" name="Google Shape;260;p4"/>
          <p:cNvSpPr txBox="1"/>
          <p:nvPr/>
        </p:nvSpPr>
        <p:spPr>
          <a:xfrm>
            <a:off x="7321325" y="1174450"/>
            <a:ext cx="17121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Helvetica Neue Light"/>
                <a:ea typeface="Helvetica Neue Light"/>
                <a:cs typeface="Helvetica Neue Light"/>
                <a:sym typeface="Helvetica Neue Light"/>
              </a:rPr>
              <a:t>Bioinformatic Analysis</a:t>
            </a:r>
            <a:endParaRPr sz="1600" b="1" i="0" u="none" strike="noStrike" cap="none">
              <a:solidFill>
                <a:srgbClr val="000000"/>
              </a:solidFill>
              <a:latin typeface="Helvetica Neue Light"/>
              <a:ea typeface="Helvetica Neue Light"/>
              <a:cs typeface="Helvetica Neue Light"/>
              <a:sym typeface="Helvetica Neue Light"/>
            </a:endParaRPr>
          </a:p>
        </p:txBody>
      </p:sp>
      <p:pic>
        <p:nvPicPr>
          <p:cNvPr id="261" name="Google Shape;261;p4"/>
          <p:cNvPicPr preferRelativeResize="0"/>
          <p:nvPr/>
        </p:nvPicPr>
        <p:blipFill rotWithShape="1">
          <a:blip r:embed="rId3">
            <a:alphaModFix/>
          </a:blip>
          <a:srcRect/>
          <a:stretch/>
        </p:blipFill>
        <p:spPr>
          <a:xfrm>
            <a:off x="5872825" y="1694452"/>
            <a:ext cx="645250" cy="558950"/>
          </a:xfrm>
          <a:prstGeom prst="rect">
            <a:avLst/>
          </a:prstGeom>
          <a:noFill/>
          <a:ln>
            <a:noFill/>
          </a:ln>
        </p:spPr>
      </p:pic>
      <p:pic>
        <p:nvPicPr>
          <p:cNvPr id="262" name="Google Shape;262;p4"/>
          <p:cNvPicPr preferRelativeResize="0"/>
          <p:nvPr/>
        </p:nvPicPr>
        <p:blipFill rotWithShape="1">
          <a:blip r:embed="rId4">
            <a:alphaModFix/>
          </a:blip>
          <a:srcRect l="5735" t="50307" r="53875" b="6687"/>
          <a:stretch/>
        </p:blipFill>
        <p:spPr>
          <a:xfrm>
            <a:off x="2227675" y="1769425"/>
            <a:ext cx="1373281" cy="1023536"/>
          </a:xfrm>
          <a:prstGeom prst="rect">
            <a:avLst/>
          </a:prstGeom>
          <a:noFill/>
          <a:ln>
            <a:noFill/>
          </a:ln>
        </p:spPr>
      </p:pic>
      <p:grpSp>
        <p:nvGrpSpPr>
          <p:cNvPr id="263" name="Google Shape;263;p4"/>
          <p:cNvGrpSpPr/>
          <p:nvPr/>
        </p:nvGrpSpPr>
        <p:grpSpPr>
          <a:xfrm>
            <a:off x="4115988" y="2128889"/>
            <a:ext cx="1268962" cy="492861"/>
            <a:chOff x="3963588" y="2128889"/>
            <a:chExt cx="1268962" cy="492861"/>
          </a:xfrm>
        </p:grpSpPr>
        <p:sp>
          <p:nvSpPr>
            <p:cNvPr id="264" name="Google Shape;264;p4"/>
            <p:cNvSpPr/>
            <p:nvPr/>
          </p:nvSpPr>
          <p:spPr>
            <a:xfrm>
              <a:off x="4316650" y="25551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5" name="Google Shape;265;p4"/>
            <p:cNvSpPr/>
            <p:nvPr/>
          </p:nvSpPr>
          <p:spPr>
            <a:xfrm>
              <a:off x="4458129" y="25551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6" name="Google Shape;266;p4"/>
            <p:cNvSpPr/>
            <p:nvPr/>
          </p:nvSpPr>
          <p:spPr>
            <a:xfrm>
              <a:off x="4536088" y="25551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7" name="Google Shape;267;p4"/>
            <p:cNvSpPr/>
            <p:nvPr/>
          </p:nvSpPr>
          <p:spPr>
            <a:xfrm>
              <a:off x="3963588" y="24337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8" name="Google Shape;268;p4"/>
            <p:cNvSpPr/>
            <p:nvPr/>
          </p:nvSpPr>
          <p:spPr>
            <a:xfrm>
              <a:off x="4105066" y="24337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69" name="Google Shape;269;p4"/>
            <p:cNvSpPr/>
            <p:nvPr/>
          </p:nvSpPr>
          <p:spPr>
            <a:xfrm>
              <a:off x="4183025" y="24336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0" name="Google Shape;270;p4"/>
            <p:cNvSpPr/>
            <p:nvPr/>
          </p:nvSpPr>
          <p:spPr>
            <a:xfrm>
              <a:off x="4299338" y="2342025"/>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1" name="Google Shape;271;p4"/>
            <p:cNvSpPr/>
            <p:nvPr/>
          </p:nvSpPr>
          <p:spPr>
            <a:xfrm>
              <a:off x="4440816" y="2342025"/>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2" name="Google Shape;272;p4"/>
            <p:cNvSpPr/>
            <p:nvPr/>
          </p:nvSpPr>
          <p:spPr>
            <a:xfrm>
              <a:off x="4518775" y="2342014"/>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3" name="Google Shape;273;p4"/>
            <p:cNvSpPr/>
            <p:nvPr/>
          </p:nvSpPr>
          <p:spPr>
            <a:xfrm>
              <a:off x="3963588" y="22503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4" name="Google Shape;274;p4"/>
            <p:cNvSpPr/>
            <p:nvPr/>
          </p:nvSpPr>
          <p:spPr>
            <a:xfrm>
              <a:off x="4105066" y="22503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5" name="Google Shape;275;p4"/>
            <p:cNvSpPr/>
            <p:nvPr/>
          </p:nvSpPr>
          <p:spPr>
            <a:xfrm>
              <a:off x="4183025" y="225033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6" name="Google Shape;276;p4"/>
            <p:cNvSpPr/>
            <p:nvPr/>
          </p:nvSpPr>
          <p:spPr>
            <a:xfrm>
              <a:off x="4206463" y="21289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7" name="Google Shape;277;p4"/>
            <p:cNvSpPr/>
            <p:nvPr/>
          </p:nvSpPr>
          <p:spPr>
            <a:xfrm>
              <a:off x="4347941" y="21289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78" name="Google Shape;278;p4"/>
            <p:cNvSpPr/>
            <p:nvPr/>
          </p:nvSpPr>
          <p:spPr>
            <a:xfrm>
              <a:off x="4425900" y="2128889"/>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grpSp>
      <p:cxnSp>
        <p:nvCxnSpPr>
          <p:cNvPr id="279" name="Google Shape;279;p4"/>
          <p:cNvCxnSpPr/>
          <p:nvPr/>
        </p:nvCxnSpPr>
        <p:spPr>
          <a:xfrm>
            <a:off x="179137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80" name="Google Shape;280;p4"/>
          <p:cNvCxnSpPr/>
          <p:nvPr/>
        </p:nvCxnSpPr>
        <p:spPr>
          <a:xfrm>
            <a:off x="3651928" y="2375350"/>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281" name="Google Shape;281;p4"/>
          <p:cNvCxnSpPr/>
          <p:nvPr/>
        </p:nvCxnSpPr>
        <p:spPr>
          <a:xfrm>
            <a:off x="5535928" y="2375350"/>
            <a:ext cx="336900" cy="0"/>
          </a:xfrm>
          <a:prstGeom prst="straightConnector1">
            <a:avLst/>
          </a:prstGeom>
          <a:noFill/>
          <a:ln w="19050" cap="flat" cmpd="sng">
            <a:solidFill>
              <a:schemeClr val="dk2"/>
            </a:solidFill>
            <a:prstDash val="solid"/>
            <a:round/>
            <a:headEnd type="none" w="sm" len="sm"/>
            <a:tailEnd type="triangle" w="med" len="med"/>
          </a:ln>
        </p:spPr>
      </p:cxnSp>
      <p:sp>
        <p:nvSpPr>
          <p:cNvPr id="282" name="Google Shape;282;p4"/>
          <p:cNvSpPr txBox="1"/>
          <p:nvPr/>
        </p:nvSpPr>
        <p:spPr>
          <a:xfrm>
            <a:off x="-68850" y="2196200"/>
            <a:ext cx="7059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Light"/>
                <a:ea typeface="Helvetica Neue Light"/>
                <a:cs typeface="Helvetica Neue Light"/>
                <a:sym typeface="Helvetica Neue Light"/>
              </a:rPr>
              <a:t>WGS</a:t>
            </a:r>
            <a:endParaRPr sz="1600" b="0" i="0" u="none" strike="noStrike" cap="none">
              <a:solidFill>
                <a:srgbClr val="000000"/>
              </a:solidFill>
              <a:latin typeface="Helvetica Neue Light"/>
              <a:ea typeface="Helvetica Neue Light"/>
              <a:cs typeface="Helvetica Neue Light"/>
              <a:sym typeface="Helvetica Neue Light"/>
            </a:endParaRPr>
          </a:p>
        </p:txBody>
      </p:sp>
      <p:sp>
        <p:nvSpPr>
          <p:cNvPr id="283" name="Google Shape;283;p4"/>
          <p:cNvSpPr txBox="1"/>
          <p:nvPr/>
        </p:nvSpPr>
        <p:spPr>
          <a:xfrm>
            <a:off x="7112675" y="1998025"/>
            <a:ext cx="1977000" cy="8115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chemeClr val="dk1"/>
                </a:solidFill>
                <a:latin typeface="Helvetica Neue Light"/>
                <a:ea typeface="Helvetica Neue Light"/>
                <a:cs typeface="Helvetica Neue Light"/>
                <a:sym typeface="Helvetica Neue Light"/>
              </a:rPr>
              <a:t>Genome Assembly</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Variant Analysis</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Light"/>
              <a:ea typeface="Helvetica Neue Light"/>
              <a:cs typeface="Helvetica Neue Light"/>
              <a:sym typeface="Helvetica Neue Light"/>
            </a:endParaRPr>
          </a:p>
        </p:txBody>
      </p:sp>
      <p:sp>
        <p:nvSpPr>
          <p:cNvPr id="284" name="Google Shape;284;p4"/>
          <p:cNvSpPr txBox="1"/>
          <p:nvPr/>
        </p:nvSpPr>
        <p:spPr>
          <a:xfrm>
            <a:off x="504675" y="274951"/>
            <a:ext cx="8134500" cy="6708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000000"/>
              </a:buClr>
              <a:buSzPts val="3300"/>
              <a:buFont typeface="Arial"/>
              <a:buNone/>
            </a:pPr>
            <a:r>
              <a:rPr lang="en" sz="3200" b="0" i="0" u="none" strike="noStrike" cap="none">
                <a:solidFill>
                  <a:srgbClr val="000000"/>
                </a:solidFill>
                <a:latin typeface="Arial"/>
                <a:ea typeface="Arial"/>
                <a:cs typeface="Arial"/>
                <a:sym typeface="Arial"/>
              </a:rPr>
              <a:t>WGS vs mNGS Workflow Overview</a:t>
            </a:r>
            <a:endParaRPr sz="3200" b="0" i="0" u="none" strike="noStrike" cap="none">
              <a:solidFill>
                <a:srgbClr val="000000"/>
              </a:solidFill>
              <a:latin typeface="Arial"/>
              <a:ea typeface="Arial"/>
              <a:cs typeface="Arial"/>
              <a:sym typeface="Arial"/>
            </a:endParaRPr>
          </a:p>
        </p:txBody>
      </p:sp>
      <p:grpSp>
        <p:nvGrpSpPr>
          <p:cNvPr id="285" name="Google Shape;285;p4"/>
          <p:cNvGrpSpPr/>
          <p:nvPr/>
        </p:nvGrpSpPr>
        <p:grpSpPr>
          <a:xfrm rot="869516">
            <a:off x="600761" y="2129000"/>
            <a:ext cx="1091249" cy="558639"/>
            <a:chOff x="617839" y="2888500"/>
            <a:chExt cx="1268950" cy="596389"/>
          </a:xfrm>
        </p:grpSpPr>
        <p:pic>
          <p:nvPicPr>
            <p:cNvPr id="286" name="Google Shape;286;p4"/>
            <p:cNvPicPr preferRelativeResize="0"/>
            <p:nvPr/>
          </p:nvPicPr>
          <p:blipFill rotWithShape="1">
            <a:blip r:embed="rId5">
              <a:alphaModFix/>
            </a:blip>
            <a:srcRect/>
            <a:stretch/>
          </p:blipFill>
          <p:spPr>
            <a:xfrm>
              <a:off x="617839" y="2888500"/>
              <a:ext cx="1268950" cy="596389"/>
            </a:xfrm>
            <a:prstGeom prst="rect">
              <a:avLst/>
            </a:prstGeom>
            <a:noFill/>
            <a:ln>
              <a:noFill/>
            </a:ln>
          </p:spPr>
        </p:pic>
        <p:sp>
          <p:nvSpPr>
            <p:cNvPr id="287" name="Google Shape;287;p4"/>
            <p:cNvSpPr/>
            <p:nvPr/>
          </p:nvSpPr>
          <p:spPr>
            <a:xfrm>
              <a:off x="913050" y="3094225"/>
              <a:ext cx="172500" cy="948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4"/>
            <p:cNvSpPr/>
            <p:nvPr/>
          </p:nvSpPr>
          <p:spPr>
            <a:xfrm rot="10800000" flipH="1">
              <a:off x="1217625" y="3040215"/>
              <a:ext cx="162300" cy="894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4"/>
            <p:cNvSpPr/>
            <p:nvPr/>
          </p:nvSpPr>
          <p:spPr>
            <a:xfrm>
              <a:off x="1108250" y="3205825"/>
              <a:ext cx="141900" cy="780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4"/>
            <p:cNvSpPr/>
            <p:nvPr/>
          </p:nvSpPr>
          <p:spPr>
            <a:xfrm rot="10800000" flipH="1">
              <a:off x="1360125" y="3216929"/>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4"/>
            <p:cNvSpPr/>
            <p:nvPr/>
          </p:nvSpPr>
          <p:spPr>
            <a:xfrm>
              <a:off x="1522200" y="3094225"/>
              <a:ext cx="182400" cy="100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4"/>
            <p:cNvSpPr/>
            <p:nvPr/>
          </p:nvSpPr>
          <p:spPr>
            <a:xfrm>
              <a:off x="782300" y="3205825"/>
              <a:ext cx="152100" cy="837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93" name="Google Shape;293;p4"/>
          <p:cNvPicPr preferRelativeResize="0"/>
          <p:nvPr/>
        </p:nvPicPr>
        <p:blipFill rotWithShape="1">
          <a:blip r:embed="rId4">
            <a:alphaModFix/>
          </a:blip>
          <a:srcRect l="6072" t="3306" r="55419" b="53687"/>
          <a:stretch/>
        </p:blipFill>
        <p:spPr>
          <a:xfrm>
            <a:off x="2274119" y="3361562"/>
            <a:ext cx="1373281" cy="1073574"/>
          </a:xfrm>
          <a:prstGeom prst="rect">
            <a:avLst/>
          </a:prstGeom>
          <a:noFill/>
          <a:ln>
            <a:noFill/>
          </a:ln>
        </p:spPr>
      </p:pic>
      <p:pic>
        <p:nvPicPr>
          <p:cNvPr id="294" name="Google Shape;294;p4"/>
          <p:cNvPicPr preferRelativeResize="0"/>
          <p:nvPr/>
        </p:nvPicPr>
        <p:blipFill rotWithShape="1">
          <a:blip r:embed="rId6">
            <a:alphaModFix/>
          </a:blip>
          <a:srcRect l="50763" t="7839" r="7589" b="41157"/>
          <a:stretch/>
        </p:blipFill>
        <p:spPr>
          <a:xfrm rot="4379005">
            <a:off x="841945" y="3632265"/>
            <a:ext cx="931084" cy="798242"/>
          </a:xfrm>
          <a:prstGeom prst="rect">
            <a:avLst/>
          </a:prstGeom>
          <a:noFill/>
          <a:ln>
            <a:noFill/>
          </a:ln>
        </p:spPr>
      </p:pic>
      <p:grpSp>
        <p:nvGrpSpPr>
          <p:cNvPr id="295" name="Google Shape;295;p4"/>
          <p:cNvGrpSpPr/>
          <p:nvPr/>
        </p:nvGrpSpPr>
        <p:grpSpPr>
          <a:xfrm>
            <a:off x="4115988" y="3758189"/>
            <a:ext cx="1268962" cy="492861"/>
            <a:chOff x="3963588" y="3758189"/>
            <a:chExt cx="1268962" cy="492861"/>
          </a:xfrm>
        </p:grpSpPr>
        <p:sp>
          <p:nvSpPr>
            <p:cNvPr id="296" name="Google Shape;296;p4"/>
            <p:cNvSpPr/>
            <p:nvPr/>
          </p:nvSpPr>
          <p:spPr>
            <a:xfrm>
              <a:off x="4316650" y="41844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97" name="Google Shape;297;p4"/>
            <p:cNvSpPr/>
            <p:nvPr/>
          </p:nvSpPr>
          <p:spPr>
            <a:xfrm>
              <a:off x="4458129" y="41844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98" name="Google Shape;298;p4"/>
            <p:cNvSpPr/>
            <p:nvPr/>
          </p:nvSpPr>
          <p:spPr>
            <a:xfrm>
              <a:off x="4536088" y="4184439"/>
              <a:ext cx="477000" cy="66600"/>
            </a:xfrm>
            <a:prstGeom prst="rect">
              <a:avLst/>
            </a:prstGeom>
            <a:solidFill>
              <a:srgbClr val="EB220C"/>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299" name="Google Shape;299;p4"/>
            <p:cNvSpPr/>
            <p:nvPr/>
          </p:nvSpPr>
          <p:spPr>
            <a:xfrm>
              <a:off x="3963588" y="40630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0" name="Google Shape;300;p4"/>
            <p:cNvSpPr/>
            <p:nvPr/>
          </p:nvSpPr>
          <p:spPr>
            <a:xfrm>
              <a:off x="4105066" y="40630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1" name="Google Shape;301;p4"/>
            <p:cNvSpPr/>
            <p:nvPr/>
          </p:nvSpPr>
          <p:spPr>
            <a:xfrm>
              <a:off x="4183025" y="4062989"/>
              <a:ext cx="477000" cy="66600"/>
            </a:xfrm>
            <a:prstGeom prst="rect">
              <a:avLst/>
            </a:prstGeom>
            <a:solidFill>
              <a:srgbClr val="1DAD01"/>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2" name="Google Shape;302;p4"/>
            <p:cNvSpPr/>
            <p:nvPr/>
          </p:nvSpPr>
          <p:spPr>
            <a:xfrm>
              <a:off x="4299338" y="3971325"/>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3" name="Google Shape;303;p4"/>
            <p:cNvSpPr/>
            <p:nvPr/>
          </p:nvSpPr>
          <p:spPr>
            <a:xfrm>
              <a:off x="4440816" y="3971325"/>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4" name="Google Shape;304;p4"/>
            <p:cNvSpPr/>
            <p:nvPr/>
          </p:nvSpPr>
          <p:spPr>
            <a:xfrm>
              <a:off x="4518775" y="3971314"/>
              <a:ext cx="477000" cy="66600"/>
            </a:xfrm>
            <a:prstGeom prst="rect">
              <a:avLst/>
            </a:prstGeom>
            <a:solidFill>
              <a:srgbClr val="5E5E5E"/>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5" name="Google Shape;305;p4"/>
            <p:cNvSpPr/>
            <p:nvPr/>
          </p:nvSpPr>
          <p:spPr>
            <a:xfrm>
              <a:off x="3963588" y="387965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6" name="Google Shape;306;p4"/>
            <p:cNvSpPr/>
            <p:nvPr/>
          </p:nvSpPr>
          <p:spPr>
            <a:xfrm>
              <a:off x="4105066" y="387965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7" name="Google Shape;307;p4"/>
            <p:cNvSpPr/>
            <p:nvPr/>
          </p:nvSpPr>
          <p:spPr>
            <a:xfrm>
              <a:off x="4183025" y="3879639"/>
              <a:ext cx="477000" cy="66600"/>
            </a:xfrm>
            <a:prstGeom prst="rect">
              <a:avLst/>
            </a:prstGeom>
            <a:solidFill>
              <a:srgbClr val="EB220C"/>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8" name="Google Shape;308;p4"/>
            <p:cNvSpPr/>
            <p:nvPr/>
          </p:nvSpPr>
          <p:spPr>
            <a:xfrm>
              <a:off x="4206463" y="3758200"/>
              <a:ext cx="915900" cy="66600"/>
            </a:xfrm>
            <a:prstGeom prst="rect">
              <a:avLst/>
            </a:prstGeom>
            <a:solidFill>
              <a:srgbClr val="A64D79"/>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09" name="Google Shape;309;p4"/>
            <p:cNvSpPr/>
            <p:nvPr/>
          </p:nvSpPr>
          <p:spPr>
            <a:xfrm>
              <a:off x="4347941" y="3758200"/>
              <a:ext cx="628500" cy="66600"/>
            </a:xfrm>
            <a:prstGeom prst="rect">
              <a:avLst/>
            </a:prstGeom>
            <a:solidFill>
              <a:srgbClr val="3D85C6"/>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sp>
          <p:nvSpPr>
            <p:cNvPr id="310" name="Google Shape;310;p4"/>
            <p:cNvSpPr/>
            <p:nvPr/>
          </p:nvSpPr>
          <p:spPr>
            <a:xfrm>
              <a:off x="4425900" y="3758189"/>
              <a:ext cx="477000" cy="66600"/>
            </a:xfrm>
            <a:prstGeom prst="rect">
              <a:avLst/>
            </a:prstGeom>
            <a:solidFill>
              <a:srgbClr val="00A2FF"/>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Helvetica Neue"/>
                <a:buNone/>
              </a:pPr>
              <a:endParaRPr sz="1200" b="0" i="0" u="none" strike="noStrike" cap="none">
                <a:solidFill>
                  <a:srgbClr val="FFFFFF"/>
                </a:solidFill>
                <a:latin typeface="Helvetica Neue"/>
                <a:ea typeface="Helvetica Neue"/>
                <a:cs typeface="Helvetica Neue"/>
                <a:sym typeface="Helvetica Neue"/>
              </a:endParaRPr>
            </a:p>
          </p:txBody>
        </p:sp>
      </p:grpSp>
      <p:cxnSp>
        <p:nvCxnSpPr>
          <p:cNvPr id="311" name="Google Shape;311;p4"/>
          <p:cNvCxnSpPr/>
          <p:nvPr/>
        </p:nvCxnSpPr>
        <p:spPr>
          <a:xfrm>
            <a:off x="1791378" y="4004625"/>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312" name="Google Shape;312;p4"/>
          <p:cNvCxnSpPr/>
          <p:nvPr/>
        </p:nvCxnSpPr>
        <p:spPr>
          <a:xfrm>
            <a:off x="3651928" y="4004625"/>
            <a:ext cx="336900" cy="0"/>
          </a:xfrm>
          <a:prstGeom prst="straightConnector1">
            <a:avLst/>
          </a:prstGeom>
          <a:noFill/>
          <a:ln w="19050" cap="flat" cmpd="sng">
            <a:solidFill>
              <a:schemeClr val="dk2"/>
            </a:solidFill>
            <a:prstDash val="solid"/>
            <a:round/>
            <a:headEnd type="none" w="sm" len="sm"/>
            <a:tailEnd type="triangle" w="med" len="med"/>
          </a:ln>
        </p:spPr>
      </p:cxnSp>
      <p:cxnSp>
        <p:nvCxnSpPr>
          <p:cNvPr id="313" name="Google Shape;313;p4"/>
          <p:cNvCxnSpPr/>
          <p:nvPr/>
        </p:nvCxnSpPr>
        <p:spPr>
          <a:xfrm>
            <a:off x="5535928" y="4004625"/>
            <a:ext cx="336900" cy="0"/>
          </a:xfrm>
          <a:prstGeom prst="straightConnector1">
            <a:avLst/>
          </a:prstGeom>
          <a:noFill/>
          <a:ln w="19050" cap="flat" cmpd="sng">
            <a:solidFill>
              <a:schemeClr val="dk2"/>
            </a:solidFill>
            <a:prstDash val="solid"/>
            <a:round/>
            <a:headEnd type="none" w="sm" len="sm"/>
            <a:tailEnd type="triangle" w="med" len="med"/>
          </a:ln>
        </p:spPr>
      </p:cxnSp>
      <p:sp>
        <p:nvSpPr>
          <p:cNvPr id="314" name="Google Shape;314;p4"/>
          <p:cNvSpPr txBox="1"/>
          <p:nvPr/>
        </p:nvSpPr>
        <p:spPr>
          <a:xfrm>
            <a:off x="7350" y="3817125"/>
            <a:ext cx="782400" cy="3162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Helvetica Neue Light"/>
                <a:ea typeface="Helvetica Neue Light"/>
                <a:cs typeface="Helvetica Neue Light"/>
                <a:sym typeface="Helvetica Neue Light"/>
              </a:rPr>
              <a:t>mNGS</a:t>
            </a:r>
            <a:endParaRPr sz="1600" b="0" i="0" u="none" strike="noStrike" cap="none">
              <a:solidFill>
                <a:srgbClr val="000000"/>
              </a:solidFill>
              <a:latin typeface="Helvetica Neue Light"/>
              <a:ea typeface="Helvetica Neue Light"/>
              <a:cs typeface="Helvetica Neue Light"/>
              <a:sym typeface="Helvetica Neue Light"/>
            </a:endParaRPr>
          </a:p>
        </p:txBody>
      </p:sp>
      <p:sp>
        <p:nvSpPr>
          <p:cNvPr id="315" name="Google Shape;315;p4"/>
          <p:cNvSpPr txBox="1"/>
          <p:nvPr/>
        </p:nvSpPr>
        <p:spPr>
          <a:xfrm>
            <a:off x="7112675" y="3507669"/>
            <a:ext cx="1977000" cy="904800"/>
          </a:xfrm>
          <a:prstGeom prst="rect">
            <a:avLst/>
          </a:prstGeom>
          <a:noFill/>
          <a:ln>
            <a:noFill/>
          </a:ln>
        </p:spPr>
        <p:txBody>
          <a:bodyPr spcFirstLastPara="1" wrap="square" lIns="91425" tIns="91425" rIns="91425" bIns="91425" anchor="t" anchorCtr="0">
            <a:noAutofit/>
          </a:bodyPr>
          <a:lstStyle/>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Taxonomic Identification</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Microbiome analysis</a:t>
            </a:r>
            <a:endParaRPr sz="1400" b="0" i="0" u="none" strike="noStrike" cap="none">
              <a:solidFill>
                <a:srgbClr val="000000"/>
              </a:solidFill>
              <a:latin typeface="Helvetica Neue Light"/>
              <a:ea typeface="Helvetica Neue Light"/>
              <a:cs typeface="Helvetica Neue Light"/>
              <a:sym typeface="Helvetica Neue Light"/>
            </a:endParaRPr>
          </a:p>
          <a:p>
            <a:pPr marL="457200" marR="0" lvl="0" indent="-304800" algn="l" rtl="0">
              <a:lnSpc>
                <a:spcPct val="100000"/>
              </a:lnSpc>
              <a:spcBef>
                <a:spcPts val="0"/>
              </a:spcBef>
              <a:spcAft>
                <a:spcPts val="0"/>
              </a:spcAft>
              <a:buClr>
                <a:srgbClr val="000000"/>
              </a:buClr>
              <a:buSzPts val="1200"/>
              <a:buFont typeface="Helvetica Neue Light"/>
              <a:buChar char="●"/>
            </a:pPr>
            <a:r>
              <a:rPr lang="en" sz="1400" b="0" i="0" u="none" strike="noStrike" cap="none">
                <a:solidFill>
                  <a:srgbClr val="000000"/>
                </a:solidFill>
                <a:latin typeface="Helvetica Neue Light"/>
                <a:ea typeface="Helvetica Neue Light"/>
                <a:cs typeface="Helvetica Neue Light"/>
                <a:sym typeface="Helvetica Neue Light"/>
              </a:rPr>
              <a:t>Discovery</a:t>
            </a:r>
            <a:endParaRPr sz="1400" b="0" i="0" u="none" strike="noStrike" cap="none">
              <a:solidFill>
                <a:srgbClr val="000000"/>
              </a:solidFill>
              <a:latin typeface="Helvetica Neue Light"/>
              <a:ea typeface="Helvetica Neue Light"/>
              <a:cs typeface="Helvetica Neue Light"/>
              <a:sym typeface="Helvetica Neue Light"/>
            </a:endParaRPr>
          </a:p>
        </p:txBody>
      </p:sp>
      <p:pic>
        <p:nvPicPr>
          <p:cNvPr id="316" name="Google Shape;316;p4"/>
          <p:cNvPicPr preferRelativeResize="0"/>
          <p:nvPr/>
        </p:nvPicPr>
        <p:blipFill rotWithShape="1">
          <a:blip r:embed="rId3">
            <a:alphaModFix/>
          </a:blip>
          <a:srcRect/>
          <a:stretch/>
        </p:blipFill>
        <p:spPr>
          <a:xfrm>
            <a:off x="5857609" y="3281764"/>
            <a:ext cx="782400" cy="677735"/>
          </a:xfrm>
          <a:prstGeom prst="rect">
            <a:avLst/>
          </a:prstGeom>
          <a:noFill/>
          <a:ln>
            <a:noFill/>
          </a:ln>
        </p:spPr>
      </p:pic>
      <p:pic>
        <p:nvPicPr>
          <p:cNvPr id="317" name="Google Shape;317;p4"/>
          <p:cNvPicPr preferRelativeResize="0"/>
          <p:nvPr/>
        </p:nvPicPr>
        <p:blipFill rotWithShape="1">
          <a:blip r:embed="rId7">
            <a:alphaModFix/>
          </a:blip>
          <a:srcRect/>
          <a:stretch/>
        </p:blipFill>
        <p:spPr>
          <a:xfrm>
            <a:off x="6388250" y="2290962"/>
            <a:ext cx="645250" cy="475688"/>
          </a:xfrm>
          <a:prstGeom prst="rect">
            <a:avLst/>
          </a:prstGeom>
          <a:noFill/>
          <a:ln>
            <a:noFill/>
          </a:ln>
        </p:spPr>
      </p:pic>
      <p:pic>
        <p:nvPicPr>
          <p:cNvPr id="318" name="Google Shape;318;p4"/>
          <p:cNvPicPr preferRelativeResize="0"/>
          <p:nvPr/>
        </p:nvPicPr>
        <p:blipFill rotWithShape="1">
          <a:blip r:embed="rId7">
            <a:alphaModFix/>
          </a:blip>
          <a:srcRect/>
          <a:stretch/>
        </p:blipFill>
        <p:spPr>
          <a:xfrm>
            <a:off x="6467425" y="3936787"/>
            <a:ext cx="645250" cy="47568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
          <p:cNvSpPr txBox="1">
            <a:spLocks noGrp="1"/>
          </p:cNvSpPr>
          <p:nvPr>
            <p:ph type="title"/>
          </p:nvPr>
        </p:nvSpPr>
        <p:spPr>
          <a:xfrm>
            <a:off x="311700" y="131832"/>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200"/>
              <a:t>Sequence File Format: FASTA vs FASTQ </a:t>
            </a:r>
            <a:endParaRPr/>
          </a:p>
        </p:txBody>
      </p:sp>
      <p:sp>
        <p:nvSpPr>
          <p:cNvPr id="324" name="Google Shape;324;p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FASTA</a:t>
            </a:r>
            <a:endParaRPr/>
          </a:p>
          <a:p>
            <a:pPr marL="914400" lvl="1" indent="-317500" algn="l" rtl="0">
              <a:lnSpc>
                <a:spcPct val="115000"/>
              </a:lnSpc>
              <a:spcBef>
                <a:spcPts val="0"/>
              </a:spcBef>
              <a:spcAft>
                <a:spcPts val="0"/>
              </a:spcAft>
              <a:buSzPts val="1400"/>
              <a:buChar char="○"/>
            </a:pPr>
            <a:r>
              <a:rPr lang="en" sz="1600"/>
              <a:t>Includes sequence name and sequence </a:t>
            </a: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596900" lvl="1" indent="0" algn="l" rtl="0">
              <a:lnSpc>
                <a:spcPct val="115000"/>
              </a:lnSpc>
              <a:spcBef>
                <a:spcPts val="0"/>
              </a:spcBef>
              <a:spcAft>
                <a:spcPts val="0"/>
              </a:spcAft>
              <a:buSzPts val="1400"/>
              <a:buNone/>
            </a:pPr>
            <a:endParaRPr/>
          </a:p>
          <a:p>
            <a:pPr marL="457200" lvl="0" indent="-228600" algn="l" rtl="0">
              <a:lnSpc>
                <a:spcPct val="115000"/>
              </a:lnSpc>
              <a:spcBef>
                <a:spcPts val="0"/>
              </a:spcBef>
              <a:spcAft>
                <a:spcPts val="0"/>
              </a:spcAft>
              <a:buSzPts val="1800"/>
              <a:buNone/>
            </a:pPr>
            <a:endParaRPr/>
          </a:p>
        </p:txBody>
      </p:sp>
      <p:pic>
        <p:nvPicPr>
          <p:cNvPr id="325" name="Google Shape;325;p5" descr="A close up of a sign&#10;&#10;Description automatically generated"/>
          <p:cNvPicPr preferRelativeResize="0"/>
          <p:nvPr/>
        </p:nvPicPr>
        <p:blipFill rotWithShape="1">
          <a:blip r:embed="rId3">
            <a:alphaModFix/>
          </a:blip>
          <a:srcRect/>
          <a:stretch/>
        </p:blipFill>
        <p:spPr>
          <a:xfrm>
            <a:off x="2592428" y="1946143"/>
            <a:ext cx="6168804" cy="1195669"/>
          </a:xfrm>
          <a:prstGeom prst="rect">
            <a:avLst/>
          </a:prstGeom>
          <a:noFill/>
          <a:ln>
            <a:noFill/>
          </a:ln>
        </p:spPr>
      </p:pic>
      <p:sp>
        <p:nvSpPr>
          <p:cNvPr id="326" name="Google Shape;326;p5"/>
          <p:cNvSpPr/>
          <p:nvPr/>
        </p:nvSpPr>
        <p:spPr>
          <a:xfrm>
            <a:off x="2126518" y="1988675"/>
            <a:ext cx="519075" cy="265429"/>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27" name="Google Shape;327;p5"/>
          <p:cNvSpPr/>
          <p:nvPr/>
        </p:nvSpPr>
        <p:spPr>
          <a:xfrm>
            <a:off x="2381697" y="2307269"/>
            <a:ext cx="210731" cy="733645"/>
          </a:xfrm>
          <a:prstGeom prst="leftBrace">
            <a:avLst>
              <a:gd name="adj1" fmla="val 8333"/>
              <a:gd name="adj2" fmla="val 50000"/>
            </a:avLst>
          </a:prstGeom>
          <a:noFill/>
          <a:ln w="38100" cap="flat" cmpd="sng">
            <a:solidFill>
              <a:srgbClr val="EF8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28" name="Google Shape;328;p5"/>
          <p:cNvSpPr txBox="1"/>
          <p:nvPr/>
        </p:nvSpPr>
        <p:spPr>
          <a:xfrm>
            <a:off x="430373" y="1967794"/>
            <a:ext cx="18148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 Identifier</a:t>
            </a:r>
            <a:endParaRPr sz="1400" b="0" i="0" u="none" strike="noStrike" cap="none">
              <a:solidFill>
                <a:srgbClr val="000000"/>
              </a:solidFill>
              <a:latin typeface="Arial"/>
              <a:ea typeface="Arial"/>
              <a:cs typeface="Arial"/>
              <a:sym typeface="Arial"/>
            </a:endParaRPr>
          </a:p>
        </p:txBody>
      </p:sp>
      <p:sp>
        <p:nvSpPr>
          <p:cNvPr id="329" name="Google Shape;329;p5"/>
          <p:cNvSpPr txBox="1"/>
          <p:nvPr/>
        </p:nvSpPr>
        <p:spPr>
          <a:xfrm>
            <a:off x="1440200" y="2535565"/>
            <a:ext cx="101928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6"/>
          <p:cNvSpPr txBox="1">
            <a:spLocks noGrp="1"/>
          </p:cNvSpPr>
          <p:nvPr>
            <p:ph type="title"/>
          </p:nvPr>
        </p:nvSpPr>
        <p:spPr>
          <a:xfrm>
            <a:off x="311700" y="131832"/>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200"/>
              <a:t>Sequence File Format: FASTA vs FASTQ </a:t>
            </a:r>
            <a:endParaRPr/>
          </a:p>
        </p:txBody>
      </p:sp>
      <p:sp>
        <p:nvSpPr>
          <p:cNvPr id="335" name="Google Shape;335;p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FASTA</a:t>
            </a:r>
            <a:endParaRPr/>
          </a:p>
          <a:p>
            <a:pPr marL="914400" lvl="1" indent="-317500" algn="l" rtl="0">
              <a:lnSpc>
                <a:spcPct val="115000"/>
              </a:lnSpc>
              <a:spcBef>
                <a:spcPts val="0"/>
              </a:spcBef>
              <a:spcAft>
                <a:spcPts val="0"/>
              </a:spcAft>
              <a:buSzPts val="1400"/>
              <a:buChar char="○"/>
            </a:pPr>
            <a:r>
              <a:rPr lang="en" sz="1600"/>
              <a:t>Includes sequence name and sequence </a:t>
            </a: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596900" lvl="1" indent="0" algn="l" rtl="0">
              <a:lnSpc>
                <a:spcPct val="115000"/>
              </a:lnSpc>
              <a:spcBef>
                <a:spcPts val="0"/>
              </a:spcBef>
              <a:spcAft>
                <a:spcPts val="0"/>
              </a:spcAft>
              <a:buSzPts val="1400"/>
              <a:buNone/>
            </a:pPr>
            <a:endParaRPr/>
          </a:p>
          <a:p>
            <a:pPr marL="457200" lvl="0" indent="-228600" algn="l" rtl="0">
              <a:lnSpc>
                <a:spcPct val="115000"/>
              </a:lnSpc>
              <a:spcBef>
                <a:spcPts val="0"/>
              </a:spcBef>
              <a:spcAft>
                <a:spcPts val="0"/>
              </a:spcAft>
              <a:buSzPts val="1800"/>
              <a:buNone/>
            </a:pPr>
            <a:endParaRPr/>
          </a:p>
        </p:txBody>
      </p:sp>
      <p:pic>
        <p:nvPicPr>
          <p:cNvPr id="336" name="Google Shape;336;p6" descr="A close up of a sign&#10;&#10;Description automatically generated"/>
          <p:cNvPicPr preferRelativeResize="0"/>
          <p:nvPr/>
        </p:nvPicPr>
        <p:blipFill rotWithShape="1">
          <a:blip r:embed="rId3">
            <a:alphaModFix/>
          </a:blip>
          <a:srcRect/>
          <a:stretch/>
        </p:blipFill>
        <p:spPr>
          <a:xfrm>
            <a:off x="2592428" y="1946143"/>
            <a:ext cx="6168802" cy="1195668"/>
          </a:xfrm>
          <a:prstGeom prst="rect">
            <a:avLst/>
          </a:prstGeom>
          <a:noFill/>
          <a:ln>
            <a:noFill/>
          </a:ln>
        </p:spPr>
      </p:pic>
      <p:pic>
        <p:nvPicPr>
          <p:cNvPr id="337" name="Google Shape;337;p6" descr="A black text on a white background&#10;&#10;Description automatically generated"/>
          <p:cNvPicPr preferRelativeResize="0"/>
          <p:nvPr/>
        </p:nvPicPr>
        <p:blipFill rotWithShape="1">
          <a:blip r:embed="rId4">
            <a:alphaModFix/>
          </a:blip>
          <a:srcRect/>
          <a:stretch/>
        </p:blipFill>
        <p:spPr>
          <a:xfrm>
            <a:off x="2592428" y="3310414"/>
            <a:ext cx="6168802" cy="1089858"/>
          </a:xfrm>
          <a:prstGeom prst="rect">
            <a:avLst/>
          </a:prstGeom>
          <a:noFill/>
          <a:ln>
            <a:noFill/>
          </a:ln>
        </p:spPr>
      </p:pic>
      <p:sp>
        <p:nvSpPr>
          <p:cNvPr id="338" name="Google Shape;338;p6"/>
          <p:cNvSpPr/>
          <p:nvPr/>
        </p:nvSpPr>
        <p:spPr>
          <a:xfrm>
            <a:off x="2126518" y="1988675"/>
            <a:ext cx="519000" cy="265500"/>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39" name="Google Shape;339;p6"/>
          <p:cNvSpPr/>
          <p:nvPr/>
        </p:nvSpPr>
        <p:spPr>
          <a:xfrm>
            <a:off x="2381697" y="2307269"/>
            <a:ext cx="210600" cy="733500"/>
          </a:xfrm>
          <a:prstGeom prst="leftBrace">
            <a:avLst>
              <a:gd name="adj1" fmla="val 8333"/>
              <a:gd name="adj2" fmla="val 50000"/>
            </a:avLst>
          </a:prstGeom>
          <a:noFill/>
          <a:ln w="38100" cap="flat" cmpd="sng">
            <a:solidFill>
              <a:srgbClr val="EF86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Arial"/>
              <a:ea typeface="Arial"/>
              <a:cs typeface="Arial"/>
              <a:sym typeface="Arial"/>
            </a:endParaRPr>
          </a:p>
        </p:txBody>
      </p:sp>
      <p:sp>
        <p:nvSpPr>
          <p:cNvPr id="340" name="Google Shape;340;p6"/>
          <p:cNvSpPr txBox="1"/>
          <p:nvPr/>
        </p:nvSpPr>
        <p:spPr>
          <a:xfrm>
            <a:off x="430373" y="1967794"/>
            <a:ext cx="18147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 Identifier</a:t>
            </a:r>
            <a:endParaRPr sz="1400" b="0" i="0" u="none" strike="noStrike" cap="none">
              <a:solidFill>
                <a:srgbClr val="000000"/>
              </a:solidFill>
              <a:latin typeface="Arial"/>
              <a:ea typeface="Arial"/>
              <a:cs typeface="Arial"/>
              <a:sym typeface="Arial"/>
            </a:endParaRPr>
          </a:p>
        </p:txBody>
      </p:sp>
      <p:sp>
        <p:nvSpPr>
          <p:cNvPr id="341" name="Google Shape;341;p6"/>
          <p:cNvSpPr txBox="1"/>
          <p:nvPr/>
        </p:nvSpPr>
        <p:spPr>
          <a:xfrm>
            <a:off x="1440200" y="2535565"/>
            <a:ext cx="1019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7"/>
          <p:cNvSpPr txBox="1">
            <a:spLocks noGrp="1"/>
          </p:cNvSpPr>
          <p:nvPr>
            <p:ph type="title"/>
          </p:nvPr>
        </p:nvSpPr>
        <p:spPr>
          <a:xfrm>
            <a:off x="311700" y="113366"/>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200"/>
              <a:t>Sequence File Format: FASTA vs FASTQ </a:t>
            </a:r>
            <a:endParaRPr/>
          </a:p>
        </p:txBody>
      </p:sp>
      <p:sp>
        <p:nvSpPr>
          <p:cNvPr id="347" name="Google Shape;347;p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t>FASTA</a:t>
            </a:r>
            <a:endParaRPr/>
          </a:p>
          <a:p>
            <a:pPr marL="914400" lvl="1" indent="-317500" algn="l" rtl="0">
              <a:lnSpc>
                <a:spcPct val="115000"/>
              </a:lnSpc>
              <a:spcBef>
                <a:spcPts val="0"/>
              </a:spcBef>
              <a:spcAft>
                <a:spcPts val="0"/>
              </a:spcAft>
              <a:buSzPts val="1400"/>
              <a:buChar char="○"/>
            </a:pPr>
            <a:r>
              <a:rPr lang="en" sz="1600"/>
              <a:t>Includes sequence name and sequence </a:t>
            </a: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596900" lvl="1" indent="0" algn="l" rtl="0">
              <a:lnSpc>
                <a:spcPct val="115000"/>
              </a:lnSpc>
              <a:spcBef>
                <a:spcPts val="0"/>
              </a:spcBef>
              <a:spcAft>
                <a:spcPts val="0"/>
              </a:spcAft>
              <a:buSzPts val="1400"/>
              <a:buNone/>
            </a:pPr>
            <a:endParaRPr/>
          </a:p>
          <a:p>
            <a:pPr marL="457200" lvl="0" indent="-342900" algn="l" rtl="0">
              <a:lnSpc>
                <a:spcPct val="115000"/>
              </a:lnSpc>
              <a:spcBef>
                <a:spcPts val="0"/>
              </a:spcBef>
              <a:spcAft>
                <a:spcPts val="0"/>
              </a:spcAft>
              <a:buSzPts val="1800"/>
              <a:buChar char="●"/>
            </a:pPr>
            <a:r>
              <a:rPr lang="en"/>
              <a:t>FASTQ</a:t>
            </a:r>
            <a:endParaRPr/>
          </a:p>
          <a:p>
            <a:pPr marL="914400" lvl="1" indent="-317500" algn="l" rtl="0">
              <a:lnSpc>
                <a:spcPct val="115000"/>
              </a:lnSpc>
              <a:spcBef>
                <a:spcPts val="0"/>
              </a:spcBef>
              <a:spcAft>
                <a:spcPts val="0"/>
              </a:spcAft>
              <a:buSzPts val="1400"/>
              <a:buChar char="○"/>
            </a:pPr>
            <a:r>
              <a:rPr lang="en" sz="1600"/>
              <a:t>Includes sequence identifier, sequence, and </a:t>
            </a:r>
            <a:r>
              <a:rPr lang="en" sz="1600" b="1"/>
              <a:t>quality scores </a:t>
            </a:r>
            <a:r>
              <a:rPr lang="en" sz="1600"/>
              <a:t>for base calls </a:t>
            </a:r>
            <a:endParaRPr/>
          </a:p>
          <a:p>
            <a:pPr marL="457200" lvl="0" indent="-228600" algn="l" rtl="0">
              <a:lnSpc>
                <a:spcPct val="115000"/>
              </a:lnSpc>
              <a:spcBef>
                <a:spcPts val="0"/>
              </a:spcBef>
              <a:spcAft>
                <a:spcPts val="0"/>
              </a:spcAft>
              <a:buSzPts val="1800"/>
              <a:buNone/>
            </a:pPr>
            <a:endParaRPr/>
          </a:p>
        </p:txBody>
      </p:sp>
      <p:pic>
        <p:nvPicPr>
          <p:cNvPr id="348" name="Google Shape;348;p7" descr="A close up of a sign&#10;&#10;Description automatically generated"/>
          <p:cNvPicPr preferRelativeResize="0"/>
          <p:nvPr/>
        </p:nvPicPr>
        <p:blipFill rotWithShape="1">
          <a:blip r:embed="rId3">
            <a:alphaModFix/>
          </a:blip>
          <a:srcRect/>
          <a:stretch/>
        </p:blipFill>
        <p:spPr>
          <a:xfrm>
            <a:off x="2592428" y="1946143"/>
            <a:ext cx="6168804" cy="1195669"/>
          </a:xfrm>
          <a:prstGeom prst="rect">
            <a:avLst/>
          </a:prstGeom>
          <a:noFill/>
          <a:ln>
            <a:noFill/>
          </a:ln>
        </p:spPr>
      </p:pic>
      <p:pic>
        <p:nvPicPr>
          <p:cNvPr id="349" name="Google Shape;349;p7" descr="A white rectangular object with black text&#10;&#10;Description automatically generated"/>
          <p:cNvPicPr preferRelativeResize="0"/>
          <p:nvPr/>
        </p:nvPicPr>
        <p:blipFill rotWithShape="1">
          <a:blip r:embed="rId4">
            <a:alphaModFix/>
          </a:blip>
          <a:srcRect/>
          <a:stretch/>
        </p:blipFill>
        <p:spPr>
          <a:xfrm>
            <a:off x="2040009" y="4027089"/>
            <a:ext cx="7074020" cy="909981"/>
          </a:xfrm>
          <a:prstGeom prst="rect">
            <a:avLst/>
          </a:prstGeom>
          <a:noFill/>
          <a:ln>
            <a:noFill/>
          </a:ln>
        </p:spPr>
      </p:pic>
      <p:sp>
        <p:nvSpPr>
          <p:cNvPr id="350" name="Google Shape;350;p7"/>
          <p:cNvSpPr/>
          <p:nvPr/>
        </p:nvSpPr>
        <p:spPr>
          <a:xfrm>
            <a:off x="1789914" y="4122785"/>
            <a:ext cx="313893" cy="151505"/>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51" name="Google Shape;351;p7"/>
          <p:cNvSpPr txBox="1"/>
          <p:nvPr/>
        </p:nvSpPr>
        <p:spPr>
          <a:xfrm>
            <a:off x="93768" y="4038107"/>
            <a:ext cx="1814818"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 Identifier</a:t>
            </a:r>
            <a:endParaRPr sz="1400" b="0" i="0" u="none" strike="noStrike" cap="none">
              <a:solidFill>
                <a:srgbClr val="000000"/>
              </a:solidFill>
              <a:latin typeface="Arial"/>
              <a:ea typeface="Arial"/>
              <a:cs typeface="Arial"/>
              <a:sym typeface="Arial"/>
            </a:endParaRPr>
          </a:p>
        </p:txBody>
      </p:sp>
      <p:sp>
        <p:nvSpPr>
          <p:cNvPr id="352" name="Google Shape;352;p7"/>
          <p:cNvSpPr/>
          <p:nvPr/>
        </p:nvSpPr>
        <p:spPr>
          <a:xfrm>
            <a:off x="1788474" y="4305929"/>
            <a:ext cx="313893" cy="151505"/>
          </a:xfrm>
          <a:prstGeom prst="rightArrow">
            <a:avLst>
              <a:gd name="adj1" fmla="val 50000"/>
              <a:gd name="adj2" fmla="val 50000"/>
            </a:avLst>
          </a:prstGeom>
          <a:solidFill>
            <a:srgbClr val="EF860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53" name="Google Shape;353;p7"/>
          <p:cNvSpPr txBox="1"/>
          <p:nvPr/>
        </p:nvSpPr>
        <p:spPr>
          <a:xfrm>
            <a:off x="828140" y="4198537"/>
            <a:ext cx="1019284"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8"/>
          <p:cNvSpPr txBox="1"/>
          <p:nvPr/>
        </p:nvSpPr>
        <p:spPr>
          <a:xfrm>
            <a:off x="504666" y="274954"/>
            <a:ext cx="8134500" cy="994200"/>
          </a:xfrm>
          <a:prstGeom prst="rect">
            <a:avLst/>
          </a:prstGeom>
          <a:noFill/>
          <a:ln>
            <a:noFill/>
          </a:ln>
        </p:spPr>
        <p:txBody>
          <a:bodyPr spcFirstLastPara="1" wrap="square" lIns="68575" tIns="34275" rIns="68575" bIns="34275" anchor="t" anchorCtr="0">
            <a:noAutofit/>
          </a:bodyPr>
          <a:lstStyle/>
          <a:p>
            <a:pPr marL="0" marR="0" lvl="0" indent="0" algn="ctr" rtl="0">
              <a:lnSpc>
                <a:spcPct val="90000"/>
              </a:lnSpc>
              <a:spcBef>
                <a:spcPts val="0"/>
              </a:spcBef>
              <a:spcAft>
                <a:spcPts val="0"/>
              </a:spcAft>
              <a:buClr>
                <a:srgbClr val="000000"/>
              </a:buClr>
              <a:buSzPts val="3300"/>
              <a:buFont typeface="Arial"/>
              <a:buNone/>
            </a:pPr>
            <a:r>
              <a:rPr lang="en" sz="3300" b="0" i="0" u="none" strike="noStrike" cap="none">
                <a:solidFill>
                  <a:srgbClr val="000000"/>
                </a:solidFill>
                <a:latin typeface="Arial"/>
                <a:ea typeface="Arial"/>
                <a:cs typeface="Arial"/>
                <a:sym typeface="Arial"/>
              </a:rPr>
              <a:t>Raw Sequence Reads: FASTQ format </a:t>
            </a:r>
            <a:endParaRPr sz="1100" b="0" i="0" u="none" strike="noStrike" cap="none">
              <a:solidFill>
                <a:srgbClr val="000000"/>
              </a:solidFill>
              <a:latin typeface="Arial"/>
              <a:ea typeface="Arial"/>
              <a:cs typeface="Arial"/>
              <a:sym typeface="Arial"/>
            </a:endParaRPr>
          </a:p>
        </p:txBody>
      </p:sp>
      <p:graphicFrame>
        <p:nvGraphicFramePr>
          <p:cNvPr id="360" name="Google Shape;360;p8"/>
          <p:cNvGraphicFramePr/>
          <p:nvPr/>
        </p:nvGraphicFramePr>
        <p:xfrm>
          <a:off x="5150479" y="2777537"/>
          <a:ext cx="3481875" cy="1500675"/>
        </p:xfrm>
        <a:graphic>
          <a:graphicData uri="http://schemas.openxmlformats.org/drawingml/2006/table">
            <a:tbl>
              <a:tblPr>
                <a:noFill/>
                <a:tableStyleId>{A2C21A5B-FED4-44AB-A88F-BFDBDDFA4293}</a:tableStyleId>
              </a:tblPr>
              <a:tblGrid>
                <a:gridCol w="997325">
                  <a:extLst>
                    <a:ext uri="{9D8B030D-6E8A-4147-A177-3AD203B41FA5}">
                      <a16:colId xmlns:a16="http://schemas.microsoft.com/office/drawing/2014/main" val="20000"/>
                    </a:ext>
                  </a:extLst>
                </a:gridCol>
                <a:gridCol w="1367575">
                  <a:extLst>
                    <a:ext uri="{9D8B030D-6E8A-4147-A177-3AD203B41FA5}">
                      <a16:colId xmlns:a16="http://schemas.microsoft.com/office/drawing/2014/main" val="20001"/>
                    </a:ext>
                  </a:extLst>
                </a:gridCol>
                <a:gridCol w="1116975">
                  <a:extLst>
                    <a:ext uri="{9D8B030D-6E8A-4147-A177-3AD203B41FA5}">
                      <a16:colId xmlns:a16="http://schemas.microsoft.com/office/drawing/2014/main" val="20002"/>
                    </a:ext>
                  </a:extLst>
                </a:gridCol>
              </a:tblGrid>
              <a:tr h="70592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Quality </a:t>
                      </a:r>
                      <a:endParaRPr sz="1200" u="none" strike="noStrike" cap="none">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Score</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Probability of Incorrect </a:t>
                      </a:r>
                      <a:endParaRPr sz="1200" u="none" strike="noStrike" cap="none">
                        <a:latin typeface="Helvetica Neue Light"/>
                        <a:ea typeface="Helvetica Neue Light"/>
                        <a:cs typeface="Helvetica Neue Light"/>
                        <a:sym typeface="Helvetica Neue Light"/>
                      </a:endParaRPr>
                    </a:p>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Base Call</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Inferred Base Call Accuracy</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0"/>
                  </a:ext>
                </a:extLst>
              </a:tr>
              <a:tr h="263400">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10 (Q10)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 in 10 = 10%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90%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1"/>
                  </a:ext>
                </a:extLst>
              </a:tr>
              <a:tr h="2656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20 (Q20)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 in 100 = 1%</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99%</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2"/>
                  </a:ext>
                </a:extLst>
              </a:tr>
              <a:tr h="2656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30 (Q30)</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1 in 1000 = 0.1%</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latin typeface="Helvetica Neue Light"/>
                          <a:ea typeface="Helvetica Neue Light"/>
                          <a:cs typeface="Helvetica Neue Light"/>
                          <a:sym typeface="Helvetica Neue Light"/>
                        </a:rPr>
                        <a:t>99.9%</a:t>
                      </a:r>
                      <a:endParaRPr sz="1200" i="0" u="none" strike="noStrike" cap="none">
                        <a:solidFill>
                          <a:srgbClr val="000000"/>
                        </a:solidFill>
                        <a:latin typeface="Helvetica Neue Light"/>
                        <a:ea typeface="Helvetica Neue Light"/>
                        <a:cs typeface="Helvetica Neue Light"/>
                        <a:sym typeface="Helvetica Neue Light"/>
                      </a:endParaRPr>
                    </a:p>
                  </a:txBody>
                  <a:tcPr marL="7150" marR="7150" marT="7150" marB="0" anchor="ctr"/>
                </a:tc>
                <a:extLst>
                  <a:ext uri="{0D108BD9-81ED-4DB2-BD59-A6C34878D82A}">
                    <a16:rowId xmlns:a16="http://schemas.microsoft.com/office/drawing/2014/main" val="10003"/>
                  </a:ext>
                </a:extLst>
              </a:tr>
            </a:tbl>
          </a:graphicData>
        </a:graphic>
      </p:graphicFrame>
      <p:sp>
        <p:nvSpPr>
          <p:cNvPr id="361" name="Google Shape;361;p8"/>
          <p:cNvSpPr/>
          <p:nvPr/>
        </p:nvSpPr>
        <p:spPr>
          <a:xfrm>
            <a:off x="5155325" y="4338400"/>
            <a:ext cx="1467900" cy="2769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Helvetica Neue Light"/>
                <a:ea typeface="Helvetica Neue Light"/>
                <a:cs typeface="Helvetica Neue Light"/>
                <a:sym typeface="Helvetica Neue Light"/>
              </a:rPr>
              <a:t>Q = -10log</a:t>
            </a:r>
            <a:r>
              <a:rPr lang="en" sz="1400" b="0" i="0" u="none" strike="noStrike" cap="none" baseline="-25000">
                <a:solidFill>
                  <a:schemeClr val="dk1"/>
                </a:solidFill>
                <a:latin typeface="Helvetica Neue Light"/>
                <a:ea typeface="Helvetica Neue Light"/>
                <a:cs typeface="Helvetica Neue Light"/>
                <a:sym typeface="Helvetica Neue Light"/>
              </a:rPr>
              <a:t>10</a:t>
            </a:r>
            <a:r>
              <a:rPr lang="en" sz="1400" b="0" i="0" u="none" strike="noStrike" cap="none">
                <a:solidFill>
                  <a:schemeClr val="dk1"/>
                </a:solidFill>
                <a:latin typeface="Helvetica Neue Light"/>
                <a:ea typeface="Helvetica Neue Light"/>
                <a:cs typeface="Helvetica Neue Light"/>
                <a:sym typeface="Helvetica Neue Light"/>
              </a:rPr>
              <a:t>(e)</a:t>
            </a:r>
            <a:endParaRPr sz="1100" b="0" i="0" u="none" strike="noStrike" cap="none">
              <a:solidFill>
                <a:srgbClr val="000000"/>
              </a:solidFill>
              <a:latin typeface="Helvetica Neue Light"/>
              <a:ea typeface="Helvetica Neue Light"/>
              <a:cs typeface="Helvetica Neue Light"/>
              <a:sym typeface="Helvetica Neue Light"/>
            </a:endParaRPr>
          </a:p>
        </p:txBody>
      </p:sp>
      <p:sp>
        <p:nvSpPr>
          <p:cNvPr id="362" name="Google Shape;362;p8"/>
          <p:cNvSpPr/>
          <p:nvPr/>
        </p:nvSpPr>
        <p:spPr>
          <a:xfrm>
            <a:off x="279950" y="2906500"/>
            <a:ext cx="4744500" cy="1632600"/>
          </a:xfrm>
          <a:prstGeom prst="rect">
            <a:avLst/>
          </a:prstGeom>
          <a:noFill/>
          <a:ln>
            <a:noFill/>
          </a:ln>
        </p:spPr>
        <p:txBody>
          <a:bodyPr spcFirstLastPara="1" wrap="square" lIns="68575" tIns="34275" rIns="68575" bIns="34275" anchor="t" anchorCtr="0">
            <a:noAutofit/>
          </a:bodyPr>
          <a:lstStyle/>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A sequence identifier with information about the run.</a:t>
            </a:r>
            <a:endParaRPr sz="1400" b="0" i="0" u="none" strike="noStrike" cap="none">
              <a:solidFill>
                <a:schemeClr val="dk1"/>
              </a:solidFill>
              <a:latin typeface="Helvetica Neue Light"/>
              <a:ea typeface="Helvetica Neue Light"/>
              <a:cs typeface="Helvetica Neue Light"/>
              <a:sym typeface="Helvetica Neue Light"/>
            </a:endParaRPr>
          </a:p>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The base calls: A, C, T, G and N.</a:t>
            </a:r>
            <a:endParaRPr sz="1400" b="0" i="0" u="none" strike="noStrike" cap="none">
              <a:solidFill>
                <a:schemeClr val="dk1"/>
              </a:solidFill>
              <a:latin typeface="Helvetica Neue Light"/>
              <a:ea typeface="Helvetica Neue Light"/>
              <a:cs typeface="Helvetica Neue Light"/>
              <a:sym typeface="Helvetica Neue Light"/>
            </a:endParaRPr>
          </a:p>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A separator, which is simply a plus (+) sign.</a:t>
            </a:r>
            <a:endParaRPr sz="1400" b="0" i="0" u="none" strike="noStrike" cap="none">
              <a:solidFill>
                <a:schemeClr val="dk1"/>
              </a:solidFill>
              <a:latin typeface="Helvetica Neue Light"/>
              <a:ea typeface="Helvetica Neue Light"/>
              <a:cs typeface="Helvetica Neue Light"/>
              <a:sym typeface="Helvetica Neue Light"/>
            </a:endParaRPr>
          </a:p>
          <a:p>
            <a:pPr marL="457200" marR="0" lvl="0" indent="-317500" algn="l" rtl="0">
              <a:lnSpc>
                <a:spcPct val="120000"/>
              </a:lnSpc>
              <a:spcBef>
                <a:spcPts val="0"/>
              </a:spcBef>
              <a:spcAft>
                <a:spcPts val="0"/>
              </a:spcAft>
              <a:buClr>
                <a:schemeClr val="dk1"/>
              </a:buClr>
              <a:buSzPts val="1400"/>
              <a:buFont typeface="Helvetica Neue Light"/>
              <a:buAutoNum type="arabicPeriod"/>
            </a:pPr>
            <a:r>
              <a:rPr lang="en" sz="1400" b="0" i="0" u="none" strike="noStrike" cap="none">
                <a:solidFill>
                  <a:schemeClr val="dk1"/>
                </a:solidFill>
                <a:latin typeface="Helvetica Neue Light"/>
                <a:ea typeface="Helvetica Neue Light"/>
                <a:cs typeface="Helvetica Neue Light"/>
                <a:sym typeface="Helvetica Neue Light"/>
              </a:rPr>
              <a:t>The base call quality scores or Phred scores (coded in </a:t>
            </a:r>
            <a:r>
              <a:rPr lang="en" sz="1400" b="0" i="0" u="sng" strike="noStrike" cap="none">
                <a:solidFill>
                  <a:schemeClr val="hlink"/>
                </a:solidFill>
                <a:latin typeface="Helvetica Neue Light"/>
                <a:ea typeface="Helvetica Neue Light"/>
                <a:cs typeface="Helvetica Neue Light"/>
                <a:sym typeface="Helvetica Neue Light"/>
                <a:hlinkClick r:id="rId3"/>
              </a:rPr>
              <a:t>ASCII format</a:t>
            </a:r>
            <a:r>
              <a:rPr lang="en" sz="1400" b="0" i="0" u="none" strike="noStrike" cap="none">
                <a:solidFill>
                  <a:schemeClr val="dk1"/>
                </a:solidFill>
                <a:latin typeface="Helvetica Neue Light"/>
                <a:ea typeface="Helvetica Neue Light"/>
                <a:cs typeface="Helvetica Neue Light"/>
                <a:sym typeface="Helvetica Neue Light"/>
              </a:rPr>
              <a:t>)</a:t>
            </a:r>
            <a:endParaRPr sz="1400" b="0" i="0" u="none" strike="noStrike" cap="none">
              <a:solidFill>
                <a:schemeClr val="dk1"/>
              </a:solidFill>
              <a:latin typeface="Helvetica Neue Light"/>
              <a:ea typeface="Helvetica Neue Light"/>
              <a:cs typeface="Helvetica Neue Light"/>
              <a:sym typeface="Helvetica Neue Light"/>
            </a:endParaRPr>
          </a:p>
        </p:txBody>
      </p:sp>
      <p:sp>
        <p:nvSpPr>
          <p:cNvPr id="363" name="Google Shape;363;p8"/>
          <p:cNvSpPr txBox="1"/>
          <p:nvPr/>
        </p:nvSpPr>
        <p:spPr>
          <a:xfrm>
            <a:off x="357975" y="1440000"/>
            <a:ext cx="8281200" cy="1041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ourier New"/>
                <a:ea typeface="Courier New"/>
                <a:cs typeface="Courier New"/>
                <a:sym typeface="Courier New"/>
              </a:rPr>
              <a:t>@NB501961:14:HM7TLBGX2:1:11102:3233:17234 1:N:0:GATCACCA+GATCACCA</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9DC061"/>
                </a:solidFill>
                <a:latin typeface="Courier New"/>
                <a:ea typeface="Courier New"/>
                <a:cs typeface="Courier New"/>
                <a:sym typeface="Courier New"/>
              </a:rPr>
              <a:t>CATTCGGCTGGGTTTCGTCACCCTGCGGGAAGATGCGGGTCCAGGCGATAGAGGTGCGGAAGCATTTGAAGCCCA</a:t>
            </a:r>
            <a:endParaRPr sz="1400" b="0" i="0" u="none" strike="noStrike" cap="none">
              <a:solidFill>
                <a:srgbClr val="9DC06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ourier New"/>
                <a:ea typeface="Courier New"/>
                <a:cs typeface="Courier New"/>
                <a:sym typeface="Courier New"/>
              </a:rPr>
              <a:t>+</a:t>
            </a:r>
            <a:endParaRPr sz="14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Courier New"/>
                <a:ea typeface="Courier New"/>
                <a:cs typeface="Courier New"/>
                <a:sym typeface="Courier New"/>
              </a:rPr>
              <a:t>AAAAAEEEEEEEEEE/EEEEEEEEEEEEEEEEEEEEEE&lt;EEEEEEEEE//EAEEEEEEAA/EEE/EEAAEEE&lt;6/</a:t>
            </a:r>
            <a:endParaRPr sz="1400" b="0" i="0" u="none" strike="noStrike" cap="none">
              <a:solidFill>
                <a:schemeClr val="dk1"/>
              </a:solidFill>
              <a:latin typeface="Courier New"/>
              <a:ea typeface="Courier New"/>
              <a:cs typeface="Courier New"/>
              <a:sym typeface="Courier New"/>
            </a:endParaRPr>
          </a:p>
        </p:txBody>
      </p:sp>
      <p:sp>
        <p:nvSpPr>
          <p:cNvPr id="364" name="Google Shape;364;p8"/>
          <p:cNvSpPr txBox="1"/>
          <p:nvPr/>
        </p:nvSpPr>
        <p:spPr>
          <a:xfrm>
            <a:off x="381825" y="1108200"/>
            <a:ext cx="2246700" cy="441300"/>
          </a:xfrm>
          <a:prstGeom prst="rect">
            <a:avLst/>
          </a:prstGeom>
          <a:noFill/>
          <a:ln>
            <a:noFill/>
          </a:ln>
        </p:spPr>
        <p:txBody>
          <a:bodyPr spcFirstLastPara="1" wrap="square" lIns="91425" tIns="91425" rIns="91425" bIns="91425" anchor="t" anchorCtr="0">
            <a:noAutofit/>
          </a:bodyPr>
          <a:lstStyle/>
          <a:p>
            <a:pPr marL="0" marR="0" lvl="0" indent="0" algn="l" rtl="0">
              <a:lnSpc>
                <a:spcPct val="120000"/>
              </a:lnSpc>
              <a:spcBef>
                <a:spcPts val="0"/>
              </a:spcBef>
              <a:spcAft>
                <a:spcPts val="0"/>
              </a:spcAft>
              <a:buClr>
                <a:srgbClr val="000000"/>
              </a:buClr>
              <a:buSzPts val="1400"/>
              <a:buFont typeface="Arial"/>
              <a:buNone/>
            </a:pPr>
            <a:r>
              <a:rPr lang="en" sz="1400" b="0" i="0" u="none" strike="noStrike" cap="none">
                <a:solidFill>
                  <a:schemeClr val="dk1"/>
                </a:solidFill>
                <a:latin typeface="Helvetica Neue Light"/>
                <a:ea typeface="Helvetica Neue Light"/>
                <a:cs typeface="Helvetica Neue Light"/>
                <a:sym typeface="Helvetica Neue Light"/>
              </a:rPr>
              <a:t>Example Read</a:t>
            </a:r>
            <a:endParaRPr sz="1400" b="0" i="0" u="none" strike="noStrike" cap="none">
              <a:solidFill>
                <a:srgbClr val="000000"/>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9"/>
          <p:cNvSpPr txBox="1">
            <a:spLocks noGrp="1"/>
          </p:cNvSpPr>
          <p:nvPr>
            <p:ph type="body" idx="1"/>
          </p:nvPr>
        </p:nvSpPr>
        <p:spPr>
          <a:xfrm>
            <a:off x="871050" y="1604950"/>
            <a:ext cx="7401900" cy="28284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@NB501961:14:HM7TLBGX2:1:11102:3233:17234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CATTCGGCTGGGTTTCGTCACCCTGCGGGAAGATGCGGGTCCAGGCGATAGAGGTGCGGAAGCATTTGAAGCCCATCTCGGCGATCAGTTTGATGTCTTCTTTGTAGCGACCGTAGAAGTCGACGGCTTCGTGGTTCGGGTAGTATTTTN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AAAAAEEEEEEEEEE/EEEEEEEEEEEEEEEEEEEEEE&lt;EEEEEEEEE//EAEEEEEEAA/EEE/EEAAEEE&lt;6/&lt;AEE&lt;E&lt;A//EEEEEAEE&lt;EA/&lt;AA//EAAEAAE&lt;E/EAEE///E&lt;A/&lt;AA//A&lt;A&lt;&lt;A6&lt;A//AA/E////6A#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@NB501961:14:HM7TLBGX2:1:11103:13923:13163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GAACTGGAGCTTTAGCCCGGTGATCCTGTGCCTCATTTGTATGGCTACCGCCATGGTGATGTACCTGCCATTTCTCAAAGCTTACGAAAAACAGCTGCTGGCCCAGGAGCGTGAAAACGCCGTCGGCCAGGCTGACAACGCGGCGCAGAN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AAAAAEEEEEEEEEEEEAEEEEEEEEEEEEEAEEEEEEEEEEEEEEEEEEE/EEEEEEAAAEAEAEEAEEAEEEEEEEEEEEEEEEAAEEEEEEEEEEEEEEA&lt;EEEEEEEAE&lt;AEAEEAA&lt;AAEEAEEEAE/6/A/EEEE/EEE&lt;AE/#</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@NB501961:14:HM7TLBGX2:1:11104:15318:11334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GATAGTGCTGTTCGCGAGCGATCGCCAGTACGCGCTCGCGCGTCTCCTGCGCCACGCGCAGCTCTTTACCACGACCGTTGAGTACCAGGCTGGCGGTCGCTTTGGAGACGCCCGCCAGTTCGGCGATATCTTTGATAGTTACGCGTTTGG</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SzPts val="2000"/>
              <a:buNone/>
            </a:pPr>
            <a:r>
              <a:rPr lang="en" sz="1000">
                <a:latin typeface="Avenir"/>
                <a:ea typeface="Avenir"/>
                <a:cs typeface="Avenir"/>
                <a:sym typeface="Avenir"/>
              </a:rPr>
              <a:t>AAAAAEEEEEEEAEEEAEEEEEEEEEEEEEEEEEEEEEEEEEEEEEEEEEEEEEEEEEEAEEAEE&lt;EAEE/EE/EEE&lt;AEEEE/EEEEEEEEEEEE/EEE//AEE&lt;E/EEEEAEEA/E&lt;&lt;AEEEE/&lt;66A///&lt;&lt;/AA&lt;//6AE&lt;&lt;6/&lt;6</a:t>
            </a:r>
            <a:endParaRPr sz="1000">
              <a:latin typeface="Avenir"/>
              <a:ea typeface="Avenir"/>
              <a:cs typeface="Avenir"/>
              <a:sym typeface="Avenir"/>
            </a:endParaRPr>
          </a:p>
        </p:txBody>
      </p:sp>
      <p:sp>
        <p:nvSpPr>
          <p:cNvPr id="370" name="Google Shape;370;p9"/>
          <p:cNvSpPr txBox="1">
            <a:spLocks noGrp="1"/>
          </p:cNvSpPr>
          <p:nvPr>
            <p:ph type="body" idx="1"/>
          </p:nvPr>
        </p:nvSpPr>
        <p:spPr>
          <a:xfrm>
            <a:off x="867650" y="58147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Clr>
                <a:schemeClr val="dk1"/>
              </a:buClr>
              <a:buSzPts val="1100"/>
              <a:buFont typeface="Arial"/>
              <a:buNone/>
            </a:pPr>
            <a:r>
              <a:rPr lang="en">
                <a:solidFill>
                  <a:schemeClr val="dk1"/>
                </a:solidFill>
                <a:latin typeface="Arial"/>
                <a:ea typeface="Arial"/>
                <a:cs typeface="Arial"/>
                <a:sym typeface="Arial"/>
              </a:rPr>
              <a:t>How many reads are listed here?</a:t>
            </a:r>
            <a:endParaRPr>
              <a:latin typeface="Arial"/>
              <a:ea typeface="Arial"/>
              <a:cs typeface="Arial"/>
              <a:sym typeface="Arial"/>
            </a:endParaRPr>
          </a:p>
        </p:txBody>
      </p:sp>
      <p:sp>
        <p:nvSpPr>
          <p:cNvPr id="371" name="Google Shape;371;p9"/>
          <p:cNvSpPr txBox="1">
            <a:spLocks noGrp="1"/>
          </p:cNvSpPr>
          <p:nvPr>
            <p:ph type="body" idx="1"/>
          </p:nvPr>
        </p:nvSpPr>
        <p:spPr>
          <a:xfrm>
            <a:off x="867650" y="1223975"/>
            <a:ext cx="7192200" cy="2433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sz="1400">
                <a:latin typeface="Helvetica Neue Light"/>
                <a:ea typeface="Helvetica Neue Light"/>
                <a:cs typeface="Helvetica Neue Light"/>
                <a:sym typeface="Helvetica Neue Light"/>
              </a:rPr>
              <a:t>File: Sample_R1.fastq</a:t>
            </a:r>
            <a:endParaRPr sz="1400">
              <a:latin typeface="Helvetica Neue Light"/>
              <a:ea typeface="Helvetica Neue Light"/>
              <a:cs typeface="Helvetica Neue Light"/>
              <a:sym typeface="Helvetica Neue Light"/>
            </a:endParaRPr>
          </a:p>
        </p:txBody>
      </p:sp>
      <p:sp>
        <p:nvSpPr>
          <p:cNvPr id="372" name="Google Shape;372;p9"/>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3" name="Google Shape;373;p9"/>
          <p:cNvPicPr preferRelativeResize="0"/>
          <p:nvPr/>
        </p:nvPicPr>
        <p:blipFill rotWithShape="1">
          <a:blip r:embed="rId3">
            <a:alphaModFix/>
          </a:blip>
          <a:srcRect/>
          <a:stretch/>
        </p:blipFill>
        <p:spPr>
          <a:xfrm>
            <a:off x="7615775" y="317008"/>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10"/>
          <p:cNvSpPr txBox="1">
            <a:spLocks noGrp="1"/>
          </p:cNvSpPr>
          <p:nvPr>
            <p:ph type="body" idx="1"/>
          </p:nvPr>
        </p:nvSpPr>
        <p:spPr>
          <a:xfrm>
            <a:off x="871050" y="1604950"/>
            <a:ext cx="7401900" cy="28284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@NB501961:14:HM7TLBGX2:1:11102:3233:17234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CATTCGGCTGGGTTTCGTCACCCTGCGGGAAGATGCGGGTCCAGGCGATAGAGGTGCGGAAGCATTTGAAGCCCATCTCGGCGATCAGTTTGATGTCTTCTTTGTAGCGACCGTAGAAGTCGACGGCTTCGTGGTTCGGGTAGTATTTTN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AAAAAEEEEEEEEEE/EEEEEEEEEEEEEEEEEEEEEE&lt;EEEEEEEEE//EAEEEEEEAA/EEE/EEAAEEE&lt;6/&lt;AEE&lt;E&lt;A//EEEEEAEE&lt;EA/&lt;AA//EAAEAAE&lt;E/EAEE///E&lt;A/&lt;AA//A&lt;A&lt;&lt;A6&lt;A//AA/E////6A#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@NB501961:14:HM7TLBGX2:1:11103:13923:13163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GAACTGGAGCTTTAGCCCGGTGATCCTGTGCCTCATTTGTATGGCTACCGCCATGGTGATGTACCTGCCATTTCTCAAAGCTTACGAAAAACAGCTGCTGGCCCAGGAGCGTGAAAACGCCGTCGGCCAGGCTGACAACGCGGCGCAGAN</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AAAAAEEEEEEEEEEEEAEEEEEEEEEEEEEAEEEEEEEEEEEEEEEEEEE/EEEEEEAAAEAEAEEAEEAEEEEEEEEEEEEEEEAAEEEEEEEEEEEEEEA&lt;EEEEEEEAE&lt;AEAEEAA&lt;AAEEAEEEAE/6/A/EEEE/EEE&lt;AE/#</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@NB501961:14:HM7TLBGX2:1:11104:15318:11334 1:N:0:GATCACCA+GATCACCA</a:t>
            </a:r>
            <a:endParaRPr sz="1000">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solidFill>
                  <a:srgbClr val="9DC061"/>
                </a:solidFill>
                <a:latin typeface="Avenir"/>
                <a:ea typeface="Avenir"/>
                <a:cs typeface="Avenir"/>
                <a:sym typeface="Avenir"/>
              </a:rPr>
              <a:t>GATAGTGCTGTTCGCGAGCGATCGCCAGTACGCGCTCGCGCGTCTCCTGCGCCACGCGCAGCTCTTTACCACGACCGTTGAGTACCAGGCTGGCGGTCGCTTTGGAGACGCCCGCCAGTTCGGCGATATCTTTGATAGTTACGCGTTTGG</a:t>
            </a:r>
            <a:endParaRPr sz="1000">
              <a:solidFill>
                <a:srgbClr val="9DC061"/>
              </a:solidFill>
              <a:latin typeface="Avenir"/>
              <a:ea typeface="Avenir"/>
              <a:cs typeface="Avenir"/>
              <a:sym typeface="Avenir"/>
            </a:endParaRPr>
          </a:p>
          <a:p>
            <a:pPr marL="0" lvl="0" indent="0" algn="l" rtl="0">
              <a:lnSpc>
                <a:spcPct val="100000"/>
              </a:lnSpc>
              <a:spcBef>
                <a:spcPts val="0"/>
              </a:spcBef>
              <a:spcAft>
                <a:spcPts val="0"/>
              </a:spcAft>
              <a:buClr>
                <a:schemeClr val="dk1"/>
              </a:buClr>
              <a:buSzPts val="1100"/>
              <a:buFont typeface="Arial"/>
              <a:buNone/>
            </a:pPr>
            <a:r>
              <a:rPr lang="en" sz="1000">
                <a:latin typeface="Avenir"/>
                <a:ea typeface="Avenir"/>
                <a:cs typeface="Avenir"/>
                <a:sym typeface="Avenir"/>
              </a:rPr>
              <a:t>+</a:t>
            </a:r>
            <a:endParaRPr sz="1000">
              <a:latin typeface="Avenir"/>
              <a:ea typeface="Avenir"/>
              <a:cs typeface="Avenir"/>
              <a:sym typeface="Avenir"/>
            </a:endParaRPr>
          </a:p>
          <a:p>
            <a:pPr marL="0" lvl="0" indent="0" algn="l" rtl="0">
              <a:lnSpc>
                <a:spcPct val="100000"/>
              </a:lnSpc>
              <a:spcBef>
                <a:spcPts val="0"/>
              </a:spcBef>
              <a:spcAft>
                <a:spcPts val="0"/>
              </a:spcAft>
              <a:buSzPts val="2000"/>
              <a:buNone/>
            </a:pPr>
            <a:r>
              <a:rPr lang="en" sz="1000">
                <a:latin typeface="Avenir"/>
                <a:ea typeface="Avenir"/>
                <a:cs typeface="Avenir"/>
                <a:sym typeface="Avenir"/>
              </a:rPr>
              <a:t>AAAAAEEEEEEEAEEEAEEEEEEEEEEEEEEEEEEEEEEEEEEEEEEEEEEEEEEEEEEAEEAEE&lt;EAEE/EE/EEE&lt;AEEEE/EEEEEEEEEEEE/EEE//AEE&lt;E/EEEEAEEA/E&lt;&lt;AEEEE/&lt;66A///&lt;&lt;/AA&lt;//6AE&lt;&lt;6/&lt;6</a:t>
            </a:r>
            <a:endParaRPr sz="1000">
              <a:latin typeface="Avenir"/>
              <a:ea typeface="Avenir"/>
              <a:cs typeface="Avenir"/>
              <a:sym typeface="Avenir"/>
            </a:endParaRPr>
          </a:p>
        </p:txBody>
      </p:sp>
      <p:sp>
        <p:nvSpPr>
          <p:cNvPr id="379" name="Google Shape;379;p10"/>
          <p:cNvSpPr txBox="1">
            <a:spLocks noGrp="1"/>
          </p:cNvSpPr>
          <p:nvPr>
            <p:ph type="body" idx="1"/>
          </p:nvPr>
        </p:nvSpPr>
        <p:spPr>
          <a:xfrm>
            <a:off x="867650" y="58147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a:latin typeface="Arial"/>
                <a:ea typeface="Arial"/>
                <a:cs typeface="Arial"/>
                <a:sym typeface="Arial"/>
              </a:rPr>
              <a:t>How do we get from here...</a:t>
            </a:r>
            <a:endParaRPr>
              <a:latin typeface="Arial"/>
              <a:ea typeface="Arial"/>
              <a:cs typeface="Arial"/>
              <a:sym typeface="Arial"/>
            </a:endParaRPr>
          </a:p>
        </p:txBody>
      </p:sp>
      <p:sp>
        <p:nvSpPr>
          <p:cNvPr id="380" name="Google Shape;380;p10"/>
          <p:cNvSpPr txBox="1">
            <a:spLocks noGrp="1"/>
          </p:cNvSpPr>
          <p:nvPr>
            <p:ph type="body" idx="1"/>
          </p:nvPr>
        </p:nvSpPr>
        <p:spPr>
          <a:xfrm>
            <a:off x="867650" y="1223975"/>
            <a:ext cx="7192200" cy="2433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sz="1400">
                <a:latin typeface="Helvetica Neue Light"/>
                <a:ea typeface="Helvetica Neue Light"/>
                <a:cs typeface="Helvetica Neue Light"/>
                <a:sym typeface="Helvetica Neue Light"/>
              </a:rPr>
              <a:t>sample_R1.fastq</a:t>
            </a:r>
            <a:endParaRPr sz="1400">
              <a:latin typeface="Helvetica Neue Light"/>
              <a:ea typeface="Helvetica Neue Light"/>
              <a:cs typeface="Helvetica Neue Light"/>
              <a:sym typeface="Helvetica Neue Light"/>
            </a:endParaRPr>
          </a:p>
        </p:txBody>
      </p:sp>
      <p:sp>
        <p:nvSpPr>
          <p:cNvPr id="381" name="Google Shape;381;p10"/>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11"/>
          <p:cNvSpPr txBox="1">
            <a:spLocks noGrp="1"/>
          </p:cNvSpPr>
          <p:nvPr>
            <p:ph type="body" idx="1"/>
          </p:nvPr>
        </p:nvSpPr>
        <p:spPr>
          <a:xfrm>
            <a:off x="155269" y="12032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a:t>...to here?</a:t>
            </a:r>
            <a:endParaRPr/>
          </a:p>
        </p:txBody>
      </p:sp>
      <p:sp>
        <p:nvSpPr>
          <p:cNvPr id="387" name="Google Shape;387;p11"/>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88" name="Google Shape;388;p11"/>
          <p:cNvPicPr preferRelativeResize="0"/>
          <p:nvPr/>
        </p:nvPicPr>
        <p:blipFill rotWithShape="1">
          <a:blip r:embed="rId3">
            <a:alphaModFix/>
          </a:blip>
          <a:srcRect/>
          <a:stretch/>
        </p:blipFill>
        <p:spPr>
          <a:xfrm>
            <a:off x="734425" y="843551"/>
            <a:ext cx="7900123" cy="3086350"/>
          </a:xfrm>
          <a:prstGeom prst="rect">
            <a:avLst/>
          </a:prstGeom>
          <a:noFill/>
          <a:ln>
            <a:noFill/>
          </a:ln>
        </p:spPr>
      </p:pic>
      <p:sp>
        <p:nvSpPr>
          <p:cNvPr id="389" name="Google Shape;389;p11"/>
          <p:cNvSpPr txBox="1"/>
          <p:nvPr/>
        </p:nvSpPr>
        <p:spPr>
          <a:xfrm>
            <a:off x="6283925" y="4422000"/>
            <a:ext cx="2734500" cy="512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Arial"/>
                <a:ea typeface="Arial"/>
                <a:cs typeface="Arial"/>
                <a:sym typeface="Arial"/>
                <a:hlinkClick r:id="rId4"/>
              </a:rPr>
              <a:t>Rastogi et al., 2020</a:t>
            </a:r>
            <a:endParaRPr sz="1600" b="0" i="0" u="none" strike="noStrike" cap="non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12"/>
          <p:cNvSpPr txBox="1">
            <a:spLocks noGrp="1"/>
          </p:cNvSpPr>
          <p:nvPr>
            <p:ph type="body" idx="1"/>
          </p:nvPr>
        </p:nvSpPr>
        <p:spPr>
          <a:xfrm>
            <a:off x="155269" y="120325"/>
            <a:ext cx="7239000" cy="595200"/>
          </a:xfrm>
          <a:prstGeom prst="rect">
            <a:avLst/>
          </a:prstGeom>
          <a:noFill/>
          <a:ln>
            <a:noFill/>
          </a:ln>
        </p:spPr>
        <p:txBody>
          <a:bodyPr spcFirstLastPara="1" wrap="square" lIns="19050" tIns="19050" rIns="19050" bIns="19050" anchor="t" anchorCtr="0">
            <a:noAutofit/>
          </a:bodyPr>
          <a:lstStyle/>
          <a:p>
            <a:pPr marL="0" lvl="0" indent="0" algn="l" rtl="0">
              <a:lnSpc>
                <a:spcPct val="100000"/>
              </a:lnSpc>
              <a:spcBef>
                <a:spcPts val="0"/>
              </a:spcBef>
              <a:spcAft>
                <a:spcPts val="0"/>
              </a:spcAft>
              <a:buSzPts val="2000"/>
              <a:buNone/>
            </a:pPr>
            <a:r>
              <a:rPr lang="en"/>
              <a:t>...or here?</a:t>
            </a:r>
            <a:endParaRPr/>
          </a:p>
        </p:txBody>
      </p:sp>
      <p:sp>
        <p:nvSpPr>
          <p:cNvPr id="395" name="Google Shape;395;p12"/>
          <p:cNvSpPr/>
          <p:nvPr/>
        </p:nvSpPr>
        <p:spPr>
          <a:xfrm>
            <a:off x="8127425" y="21325"/>
            <a:ext cx="959700" cy="396600"/>
          </a:xfrm>
          <a:prstGeom prst="rect">
            <a:avLst/>
          </a:pr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96" name="Google Shape;396;p12" descr="A graph of different colored bars&#10;&#10;Description automatically generated with medium confidence"/>
          <p:cNvPicPr preferRelativeResize="0"/>
          <p:nvPr/>
        </p:nvPicPr>
        <p:blipFill rotWithShape="1">
          <a:blip r:embed="rId3">
            <a:alphaModFix/>
          </a:blip>
          <a:srcRect t="46766" r="38141"/>
          <a:stretch/>
        </p:blipFill>
        <p:spPr>
          <a:xfrm>
            <a:off x="2041873" y="715525"/>
            <a:ext cx="5352397" cy="4018969"/>
          </a:xfrm>
          <a:prstGeom prst="rect">
            <a:avLst/>
          </a:prstGeom>
          <a:noFill/>
          <a:ln>
            <a:noFill/>
          </a:ln>
        </p:spPr>
      </p:pic>
      <p:sp>
        <p:nvSpPr>
          <p:cNvPr id="397" name="Google Shape;397;p12"/>
          <p:cNvSpPr/>
          <p:nvPr/>
        </p:nvSpPr>
        <p:spPr>
          <a:xfrm>
            <a:off x="1892595" y="715525"/>
            <a:ext cx="382800" cy="369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398" name="Google Shape;398;p12"/>
          <p:cNvSpPr txBox="1"/>
          <p:nvPr/>
        </p:nvSpPr>
        <p:spPr>
          <a:xfrm>
            <a:off x="3135506" y="422894"/>
            <a:ext cx="17544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Gut Microbiome</a:t>
            </a:r>
            <a:endParaRPr sz="1400" b="0" i="0" u="none" strike="noStrike" cap="none">
              <a:solidFill>
                <a:srgbClr val="000000"/>
              </a:solidFill>
              <a:latin typeface="Arial"/>
              <a:ea typeface="Arial"/>
              <a:cs typeface="Arial"/>
              <a:sym typeface="Arial"/>
            </a:endParaRPr>
          </a:p>
        </p:txBody>
      </p:sp>
      <p:sp>
        <p:nvSpPr>
          <p:cNvPr id="399" name="Google Shape;399;p12"/>
          <p:cNvSpPr txBox="1"/>
          <p:nvPr/>
        </p:nvSpPr>
        <p:spPr>
          <a:xfrm>
            <a:off x="7263422" y="4580605"/>
            <a:ext cx="1344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sng" strike="noStrike" cap="none">
                <a:solidFill>
                  <a:srgbClr val="000000"/>
                </a:solidFill>
                <a:latin typeface="Arial"/>
                <a:ea typeface="Arial"/>
                <a:cs typeface="Arial"/>
                <a:sym typeface="Arial"/>
                <a:hlinkClick r:id="rId4">
                  <a:extLst>
                    <a:ext uri="{A12FA001-AC4F-418D-AE19-62706E023703}">
                      <ahyp:hlinkClr xmlns:ahyp="http://schemas.microsoft.com/office/drawing/2018/hyperlinkcolor" val="tx"/>
                    </a:ext>
                  </a:extLst>
                </a:hlinkClick>
              </a:rPr>
              <a:t>Li et al., 2021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cxnSp>
        <p:nvCxnSpPr>
          <p:cNvPr id="404" name="Google Shape;404;p13"/>
          <p:cNvCxnSpPr/>
          <p:nvPr/>
        </p:nvCxnSpPr>
        <p:spPr>
          <a:xfrm>
            <a:off x="476250" y="2428875"/>
            <a:ext cx="8191500" cy="0"/>
          </a:xfrm>
          <a:prstGeom prst="straightConnector1">
            <a:avLst/>
          </a:prstGeom>
          <a:noFill/>
          <a:ln w="28575" cap="flat" cmpd="sng">
            <a:solidFill>
              <a:srgbClr val="E3EED3">
                <a:alpha val="40000"/>
              </a:srgbClr>
            </a:solidFill>
            <a:prstDash val="solid"/>
            <a:miter lim="400000"/>
            <a:headEnd type="none" w="sm" len="sm"/>
            <a:tailEnd type="none" w="sm" len="sm"/>
          </a:ln>
        </p:spPr>
      </p:cxnSp>
      <p:sp>
        <p:nvSpPr>
          <p:cNvPr id="405" name="Google Shape;405;p13"/>
          <p:cNvSpPr txBox="1"/>
          <p:nvPr/>
        </p:nvSpPr>
        <p:spPr>
          <a:xfrm>
            <a:off x="374769" y="1953051"/>
            <a:ext cx="4772964" cy="410700"/>
          </a:xfrm>
          <a:prstGeom prst="rect">
            <a:avLst/>
          </a:prstGeom>
          <a:noFill/>
          <a:ln>
            <a:noFill/>
          </a:ln>
        </p:spPr>
        <p:txBody>
          <a:bodyPr spcFirstLastPara="1" wrap="square" lIns="19050" tIns="19050" rIns="19050" bIns="19050" anchor="ctr" anchorCtr="0">
            <a:noAutofit/>
          </a:bodyPr>
          <a:lstStyle/>
          <a:p>
            <a:pPr marL="0" marR="0" lvl="0" indent="0" algn="l" rtl="0">
              <a:lnSpc>
                <a:spcPct val="120000"/>
              </a:lnSpc>
              <a:spcBef>
                <a:spcPts val="0"/>
              </a:spcBef>
              <a:spcAft>
                <a:spcPts val="0"/>
              </a:spcAft>
              <a:buClr>
                <a:srgbClr val="9DC061"/>
              </a:buClr>
              <a:buSzPts val="2300"/>
              <a:buFont typeface="Poppins"/>
              <a:buNone/>
            </a:pPr>
            <a:r>
              <a:rPr lang="en" sz="2800" b="0" i="0" u="none" strike="noStrike" cap="none">
                <a:solidFill>
                  <a:schemeClr val="dk1"/>
                </a:solidFill>
                <a:latin typeface="+mj-lt"/>
                <a:ea typeface="Helvetica Neue Light"/>
                <a:cs typeface="Helvetica Neue Light"/>
                <a:sym typeface="Helvetica Neue Light"/>
              </a:rPr>
              <a:t>Bioinformatic Pipeline Basics</a:t>
            </a:r>
            <a:endParaRPr sz="700" b="0" i="0" u="none" strike="noStrike" cap="none">
              <a:solidFill>
                <a:schemeClr val="dk1"/>
              </a:solidFill>
              <a:latin typeface="+mj-lt"/>
              <a:ea typeface="Helvetica Neue Light"/>
              <a:cs typeface="Helvetica Neue Light"/>
              <a:sym typeface="Helvetica Neue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14"/>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a:t>Pipeline Goals</a:t>
            </a:r>
            <a:endParaRPr/>
          </a:p>
        </p:txBody>
      </p:sp>
      <p:graphicFrame>
        <p:nvGraphicFramePr>
          <p:cNvPr id="411" name="Google Shape;411;p14"/>
          <p:cNvGraphicFramePr/>
          <p:nvPr/>
        </p:nvGraphicFramePr>
        <p:xfrm>
          <a:off x="952475" y="1558050"/>
          <a:ext cx="7239000" cy="2260667"/>
        </p:xfrm>
        <a:graphic>
          <a:graphicData uri="http://schemas.openxmlformats.org/drawingml/2006/table">
            <a:tbl>
              <a:tblPr>
                <a:noFill/>
                <a:tableStyleId>{670C5DA0-37B5-460B-AD53-E6B2C718EC3D}</a:tableStyleId>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381000">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t>WGS</a:t>
                      </a:r>
                      <a:endParaRPr sz="1800" b="1"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800"/>
                        <a:buFont typeface="Arial"/>
                        <a:buNone/>
                      </a:pPr>
                      <a:r>
                        <a:rPr lang="en" sz="1800" b="1" u="none" strike="noStrike" cap="none"/>
                        <a:t>mNGS</a:t>
                      </a:r>
                      <a:endParaRPr sz="1800" b="1"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457200" marR="0" lvl="0" indent="-323850" algn="l" rtl="0">
                        <a:lnSpc>
                          <a:spcPct val="120000"/>
                        </a:lnSpc>
                        <a:spcBef>
                          <a:spcPts val="0"/>
                        </a:spcBef>
                        <a:spcAft>
                          <a:spcPts val="0"/>
                        </a:spcAft>
                        <a:buClr>
                          <a:schemeClr val="dk1"/>
                        </a:buClr>
                        <a:buSzPts val="1500"/>
                        <a:buFont typeface="Arial"/>
                        <a:buChar char="●"/>
                      </a:pPr>
                      <a:r>
                        <a:rPr lang="en" sz="1500" u="none" strike="noStrike" cap="none">
                          <a:solidFill>
                            <a:schemeClr val="dk1"/>
                          </a:solidFill>
                        </a:rPr>
                        <a:t>Map reads against a reference genome sequence to obtain a consensus genome</a:t>
                      </a:r>
                      <a:endParaRPr sz="1500" u="none" strike="noStrike" cap="none">
                        <a:solidFill>
                          <a:schemeClr val="dk1"/>
                        </a:solidFill>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457200" marR="0" lvl="0" indent="-323850" algn="l" rtl="0">
                        <a:lnSpc>
                          <a:spcPct val="120000"/>
                        </a:lnSpc>
                        <a:spcBef>
                          <a:spcPts val="0"/>
                        </a:spcBef>
                        <a:spcAft>
                          <a:spcPts val="0"/>
                        </a:spcAft>
                        <a:buClr>
                          <a:schemeClr val="dk1"/>
                        </a:buClr>
                        <a:buSzPts val="1500"/>
                        <a:buFont typeface="Arial"/>
                        <a:buChar char="●"/>
                      </a:pPr>
                      <a:r>
                        <a:rPr lang="en" sz="1500" u="none" strike="noStrike" cap="none">
                          <a:solidFill>
                            <a:schemeClr val="dk1"/>
                          </a:solidFill>
                        </a:rPr>
                        <a:t>Assign sequencing reads to taxa by comparing sequences against reference databases</a:t>
                      </a:r>
                      <a:endParaRPr sz="1500" u="none" strike="noStrike" cap="none">
                        <a:solidFill>
                          <a:schemeClr val="dk1"/>
                        </a:solidFill>
                      </a:endParaRPr>
                    </a:p>
                    <a:p>
                      <a:pPr marL="457200" marR="0" lvl="0" indent="-323850" algn="l" rtl="0">
                        <a:lnSpc>
                          <a:spcPct val="120000"/>
                        </a:lnSpc>
                        <a:spcBef>
                          <a:spcPts val="0"/>
                        </a:spcBef>
                        <a:spcAft>
                          <a:spcPts val="0"/>
                        </a:spcAft>
                        <a:buClr>
                          <a:schemeClr val="dk1"/>
                        </a:buClr>
                        <a:buSzPts val="1500"/>
                        <a:buFont typeface="Arial"/>
                        <a:buChar char="●"/>
                      </a:pPr>
                      <a:r>
                        <a:rPr lang="en" sz="1500" u="none" strike="noStrike" cap="none">
                          <a:solidFill>
                            <a:schemeClr val="dk1"/>
                          </a:solidFill>
                        </a:rPr>
                        <a:t>Assess relative abundance of taxa based on the number of sequences matching a given taxon</a:t>
                      </a:r>
                      <a:endParaRPr sz="1400" u="none" strike="noStrike" cap="none"/>
                    </a:p>
                  </a:txBody>
                  <a:tcPr marL="91425" marR="91425" marT="91425" marB="91425"/>
                </a:tc>
                <a:extLst>
                  <a:ext uri="{0D108BD9-81ED-4DB2-BD59-A6C34878D82A}">
                    <a16:rowId xmlns:a16="http://schemas.microsoft.com/office/drawing/2014/main" val="10001"/>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15"/>
        <p:cNvGrpSpPr/>
        <p:nvPr/>
      </p:nvGrpSpPr>
      <p:grpSpPr>
        <a:xfrm>
          <a:off x="0" y="0"/>
          <a:ext cx="0" cy="0"/>
          <a:chOff x="0" y="0"/>
          <a:chExt cx="0" cy="0"/>
        </a:xfrm>
      </p:grpSpPr>
      <p:sp>
        <p:nvSpPr>
          <p:cNvPr id="416" name="Google Shape;416;p15"/>
          <p:cNvSpPr txBox="1">
            <a:spLocks noGrp="1"/>
          </p:cNvSpPr>
          <p:nvPr>
            <p:ph type="title"/>
          </p:nvPr>
        </p:nvSpPr>
        <p:spPr>
          <a:xfrm>
            <a:off x="116375" y="0"/>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Pipeline Steps</a:t>
            </a:r>
            <a:endParaRPr/>
          </a:p>
        </p:txBody>
      </p:sp>
      <p:sp>
        <p:nvSpPr>
          <p:cNvPr id="417" name="Google Shape;417;p15"/>
          <p:cNvSpPr/>
          <p:nvPr/>
        </p:nvSpPr>
        <p:spPr>
          <a:xfrm>
            <a:off x="3254975" y="51681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8" name="Google Shape;418;p15"/>
          <p:cNvSpPr/>
          <p:nvPr/>
        </p:nvSpPr>
        <p:spPr>
          <a:xfrm>
            <a:off x="3254975" y="131033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19" name="Google Shape;419;p15"/>
          <p:cNvSpPr/>
          <p:nvPr/>
        </p:nvSpPr>
        <p:spPr>
          <a:xfrm>
            <a:off x="3254975" y="2123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0" name="Google Shape;420;p15"/>
          <p:cNvSpPr txBox="1"/>
          <p:nvPr/>
        </p:nvSpPr>
        <p:spPr>
          <a:xfrm>
            <a:off x="3669275" y="488150"/>
            <a:ext cx="14469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Quality control (QC)</a:t>
            </a:r>
            <a:endParaRPr sz="1400" b="0" i="0" u="none" strike="noStrike" cap="none">
              <a:solidFill>
                <a:srgbClr val="000000"/>
              </a:solidFill>
              <a:latin typeface="Arial"/>
              <a:ea typeface="Arial"/>
              <a:cs typeface="Arial"/>
              <a:sym typeface="Arial"/>
            </a:endParaRPr>
          </a:p>
        </p:txBody>
      </p:sp>
      <p:sp>
        <p:nvSpPr>
          <p:cNvPr id="421" name="Google Shape;421;p15"/>
          <p:cNvSpPr txBox="1"/>
          <p:nvPr/>
        </p:nvSpPr>
        <p:spPr>
          <a:xfrm>
            <a:off x="3419825" y="1300850"/>
            <a:ext cx="1945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Reference-based assembly</a:t>
            </a:r>
            <a:endParaRPr sz="1400" b="0" i="0" u="none" strike="noStrike" cap="none">
              <a:solidFill>
                <a:srgbClr val="000000"/>
              </a:solidFill>
              <a:latin typeface="Arial"/>
              <a:ea typeface="Arial"/>
              <a:cs typeface="Arial"/>
              <a:sym typeface="Arial"/>
            </a:endParaRPr>
          </a:p>
        </p:txBody>
      </p:sp>
      <p:sp>
        <p:nvSpPr>
          <p:cNvPr id="422" name="Google Shape;422;p15"/>
          <p:cNvSpPr txBox="1"/>
          <p:nvPr/>
        </p:nvSpPr>
        <p:spPr>
          <a:xfrm>
            <a:off x="3790625" y="2113551"/>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 Report</a:t>
            </a:r>
            <a:endParaRPr sz="1400" b="0" i="0" u="none" strike="noStrike" cap="none">
              <a:solidFill>
                <a:srgbClr val="000000"/>
              </a:solidFill>
              <a:latin typeface="Arial"/>
              <a:ea typeface="Arial"/>
              <a:cs typeface="Arial"/>
              <a:sym typeface="Arial"/>
            </a:endParaRPr>
          </a:p>
        </p:txBody>
      </p:sp>
      <p:sp>
        <p:nvSpPr>
          <p:cNvPr id="423" name="Google Shape;423;p15"/>
          <p:cNvSpPr/>
          <p:nvPr/>
        </p:nvSpPr>
        <p:spPr>
          <a:xfrm>
            <a:off x="4307675" y="108536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4" name="Google Shape;424;p15"/>
          <p:cNvSpPr/>
          <p:nvPr/>
        </p:nvSpPr>
        <p:spPr>
          <a:xfrm>
            <a:off x="4307675" y="1886527"/>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25" name="Google Shape;425;p15"/>
          <p:cNvSpPr txBox="1">
            <a:spLocks noGrp="1"/>
          </p:cNvSpPr>
          <p:nvPr>
            <p:ph type="title"/>
          </p:nvPr>
        </p:nvSpPr>
        <p:spPr>
          <a:xfrm>
            <a:off x="2967275" y="56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WGS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29"/>
        <p:cNvGrpSpPr/>
        <p:nvPr/>
      </p:nvGrpSpPr>
      <p:grpSpPr>
        <a:xfrm>
          <a:off x="0" y="0"/>
          <a:ext cx="0" cy="0"/>
          <a:chOff x="0" y="0"/>
          <a:chExt cx="0" cy="0"/>
        </a:xfrm>
      </p:grpSpPr>
      <p:sp>
        <p:nvSpPr>
          <p:cNvPr id="430" name="Google Shape;430;p16"/>
          <p:cNvSpPr txBox="1">
            <a:spLocks noGrp="1"/>
          </p:cNvSpPr>
          <p:nvPr>
            <p:ph type="title"/>
          </p:nvPr>
        </p:nvSpPr>
        <p:spPr>
          <a:xfrm>
            <a:off x="116375" y="0"/>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Pipeline Steps</a:t>
            </a:r>
            <a:endParaRPr/>
          </a:p>
        </p:txBody>
      </p:sp>
      <p:sp>
        <p:nvSpPr>
          <p:cNvPr id="431" name="Google Shape;431;p16"/>
          <p:cNvSpPr/>
          <p:nvPr/>
        </p:nvSpPr>
        <p:spPr>
          <a:xfrm>
            <a:off x="6687801" y="51677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2" name="Google Shape;432;p16"/>
          <p:cNvSpPr/>
          <p:nvPr/>
        </p:nvSpPr>
        <p:spPr>
          <a:xfrm>
            <a:off x="6687800" y="13102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3" name="Google Shape;433;p16"/>
          <p:cNvSpPr/>
          <p:nvPr/>
        </p:nvSpPr>
        <p:spPr>
          <a:xfrm>
            <a:off x="6687800" y="21229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4" name="Google Shape;434;p16"/>
          <p:cNvSpPr txBox="1"/>
          <p:nvPr/>
        </p:nvSpPr>
        <p:spPr>
          <a:xfrm>
            <a:off x="7288541" y="647164"/>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QC</a:t>
            </a:r>
            <a:endParaRPr sz="1400" b="0" i="0" u="none" strike="noStrike" cap="none">
              <a:solidFill>
                <a:srgbClr val="000000"/>
              </a:solidFill>
              <a:latin typeface="Arial"/>
              <a:ea typeface="Arial"/>
              <a:cs typeface="Arial"/>
              <a:sym typeface="Arial"/>
            </a:endParaRPr>
          </a:p>
        </p:txBody>
      </p:sp>
      <p:sp>
        <p:nvSpPr>
          <p:cNvPr id="435" name="Google Shape;435;p16"/>
          <p:cNvSpPr txBox="1"/>
          <p:nvPr/>
        </p:nvSpPr>
        <p:spPr>
          <a:xfrm>
            <a:off x="7288541" y="1300815"/>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436" name="Google Shape;436;p16"/>
          <p:cNvSpPr txBox="1"/>
          <p:nvPr/>
        </p:nvSpPr>
        <p:spPr>
          <a:xfrm>
            <a:off x="6866725" y="211352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
        <p:nvSpPr>
          <p:cNvPr id="437" name="Google Shape;437;p16"/>
          <p:cNvSpPr/>
          <p:nvPr/>
        </p:nvSpPr>
        <p:spPr>
          <a:xfrm>
            <a:off x="6687800" y="292721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38" name="Google Shape;438;p16"/>
          <p:cNvSpPr txBox="1"/>
          <p:nvPr/>
        </p:nvSpPr>
        <p:spPr>
          <a:xfrm>
            <a:off x="7083858" y="2896383"/>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439" name="Google Shape;439;p16"/>
          <p:cNvSpPr/>
          <p:nvPr/>
        </p:nvSpPr>
        <p:spPr>
          <a:xfrm>
            <a:off x="6677168" y="373008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0" name="Google Shape;440;p16"/>
          <p:cNvSpPr txBox="1"/>
          <p:nvPr/>
        </p:nvSpPr>
        <p:spPr>
          <a:xfrm>
            <a:off x="6887149" y="3860476"/>
            <a:ext cx="177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 Report</a:t>
            </a:r>
            <a:endParaRPr sz="1400" b="0" i="0" u="none" strike="noStrike" cap="none">
              <a:solidFill>
                <a:srgbClr val="000000"/>
              </a:solidFill>
              <a:latin typeface="Arial"/>
              <a:ea typeface="Arial"/>
              <a:cs typeface="Arial"/>
              <a:sym typeface="Arial"/>
            </a:endParaRPr>
          </a:p>
        </p:txBody>
      </p:sp>
      <p:sp>
        <p:nvSpPr>
          <p:cNvPr id="441" name="Google Shape;441;p16"/>
          <p:cNvSpPr/>
          <p:nvPr/>
        </p:nvSpPr>
        <p:spPr>
          <a:xfrm>
            <a:off x="7729794" y="108533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2" name="Google Shape;442;p16"/>
          <p:cNvSpPr/>
          <p:nvPr/>
        </p:nvSpPr>
        <p:spPr>
          <a:xfrm>
            <a:off x="7713845" y="188648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3" name="Google Shape;443;p16"/>
          <p:cNvSpPr/>
          <p:nvPr/>
        </p:nvSpPr>
        <p:spPr>
          <a:xfrm>
            <a:off x="7713843" y="269161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4" name="Google Shape;444;p16"/>
          <p:cNvSpPr/>
          <p:nvPr/>
        </p:nvSpPr>
        <p:spPr>
          <a:xfrm>
            <a:off x="7713843" y="3505128"/>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5" name="Google Shape;445;p16"/>
          <p:cNvSpPr/>
          <p:nvPr/>
        </p:nvSpPr>
        <p:spPr>
          <a:xfrm>
            <a:off x="3254975" y="51681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6" name="Google Shape;446;p16"/>
          <p:cNvSpPr/>
          <p:nvPr/>
        </p:nvSpPr>
        <p:spPr>
          <a:xfrm>
            <a:off x="3254975" y="131033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7" name="Google Shape;447;p16"/>
          <p:cNvSpPr/>
          <p:nvPr/>
        </p:nvSpPr>
        <p:spPr>
          <a:xfrm>
            <a:off x="3254975" y="2123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48" name="Google Shape;448;p16"/>
          <p:cNvSpPr txBox="1"/>
          <p:nvPr/>
        </p:nvSpPr>
        <p:spPr>
          <a:xfrm>
            <a:off x="3419825" y="1300850"/>
            <a:ext cx="1945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Reference-based assembly</a:t>
            </a:r>
            <a:endParaRPr sz="1400" b="0" i="0" u="none" strike="noStrike" cap="none">
              <a:solidFill>
                <a:srgbClr val="000000"/>
              </a:solidFill>
              <a:latin typeface="Arial"/>
              <a:ea typeface="Arial"/>
              <a:cs typeface="Arial"/>
              <a:sym typeface="Arial"/>
            </a:endParaRPr>
          </a:p>
        </p:txBody>
      </p:sp>
      <p:sp>
        <p:nvSpPr>
          <p:cNvPr id="449" name="Google Shape;449;p16"/>
          <p:cNvSpPr txBox="1"/>
          <p:nvPr/>
        </p:nvSpPr>
        <p:spPr>
          <a:xfrm>
            <a:off x="3790625" y="2113551"/>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 Report</a:t>
            </a:r>
            <a:endParaRPr sz="1400" b="0" i="0" u="none" strike="noStrike" cap="none">
              <a:solidFill>
                <a:srgbClr val="000000"/>
              </a:solidFill>
              <a:latin typeface="Arial"/>
              <a:ea typeface="Arial"/>
              <a:cs typeface="Arial"/>
              <a:sym typeface="Arial"/>
            </a:endParaRPr>
          </a:p>
        </p:txBody>
      </p:sp>
      <p:sp>
        <p:nvSpPr>
          <p:cNvPr id="450" name="Google Shape;450;p16"/>
          <p:cNvSpPr/>
          <p:nvPr/>
        </p:nvSpPr>
        <p:spPr>
          <a:xfrm>
            <a:off x="4307675" y="108536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1" name="Google Shape;451;p16"/>
          <p:cNvSpPr/>
          <p:nvPr/>
        </p:nvSpPr>
        <p:spPr>
          <a:xfrm>
            <a:off x="4307675" y="1886527"/>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2" name="Google Shape;452;p16"/>
          <p:cNvSpPr txBox="1">
            <a:spLocks noGrp="1"/>
          </p:cNvSpPr>
          <p:nvPr>
            <p:ph type="title"/>
          </p:nvPr>
        </p:nvSpPr>
        <p:spPr>
          <a:xfrm>
            <a:off x="2967275" y="56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WGS</a:t>
            </a:r>
            <a:endParaRPr/>
          </a:p>
        </p:txBody>
      </p:sp>
      <p:sp>
        <p:nvSpPr>
          <p:cNvPr id="453" name="Google Shape;453;p16"/>
          <p:cNvSpPr txBox="1">
            <a:spLocks noGrp="1"/>
          </p:cNvSpPr>
          <p:nvPr>
            <p:ph type="title"/>
          </p:nvPr>
        </p:nvSpPr>
        <p:spPr>
          <a:xfrm>
            <a:off x="6293100" y="-17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mNGS</a:t>
            </a:r>
            <a:endParaRPr/>
          </a:p>
        </p:txBody>
      </p:sp>
      <p:sp>
        <p:nvSpPr>
          <p:cNvPr id="454" name="Google Shape;454;p16"/>
          <p:cNvSpPr txBox="1"/>
          <p:nvPr/>
        </p:nvSpPr>
        <p:spPr>
          <a:xfrm>
            <a:off x="3669275" y="488150"/>
            <a:ext cx="14469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Quality control (QC)</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58"/>
        <p:cNvGrpSpPr/>
        <p:nvPr/>
      </p:nvGrpSpPr>
      <p:grpSpPr>
        <a:xfrm>
          <a:off x="0" y="0"/>
          <a:ext cx="0" cy="0"/>
          <a:chOff x="0" y="0"/>
          <a:chExt cx="0" cy="0"/>
        </a:xfrm>
      </p:grpSpPr>
      <p:sp>
        <p:nvSpPr>
          <p:cNvPr id="459" name="Google Shape;459;g36f50cf8f39_0_11"/>
          <p:cNvSpPr txBox="1">
            <a:spLocks noGrp="1"/>
          </p:cNvSpPr>
          <p:nvPr>
            <p:ph type="title"/>
          </p:nvPr>
        </p:nvSpPr>
        <p:spPr>
          <a:xfrm>
            <a:off x="116375" y="0"/>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Pipeline Steps</a:t>
            </a:r>
            <a:endParaRPr/>
          </a:p>
        </p:txBody>
      </p:sp>
      <p:sp>
        <p:nvSpPr>
          <p:cNvPr id="460" name="Google Shape;460;g36f50cf8f39_0_11"/>
          <p:cNvSpPr/>
          <p:nvPr/>
        </p:nvSpPr>
        <p:spPr>
          <a:xfrm>
            <a:off x="6105926" y="56872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1" name="Google Shape;461;g36f50cf8f39_0_11"/>
          <p:cNvSpPr/>
          <p:nvPr/>
        </p:nvSpPr>
        <p:spPr>
          <a:xfrm>
            <a:off x="6105925" y="136224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2" name="Google Shape;462;g36f50cf8f39_0_11"/>
          <p:cNvSpPr/>
          <p:nvPr/>
        </p:nvSpPr>
        <p:spPr>
          <a:xfrm>
            <a:off x="6105925" y="217494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3" name="Google Shape;463;g36f50cf8f39_0_11"/>
          <p:cNvSpPr txBox="1"/>
          <p:nvPr/>
        </p:nvSpPr>
        <p:spPr>
          <a:xfrm>
            <a:off x="6706666" y="699114"/>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QC</a:t>
            </a:r>
            <a:endParaRPr sz="1400" b="0" i="0" u="none" strike="noStrike" cap="none">
              <a:solidFill>
                <a:srgbClr val="000000"/>
              </a:solidFill>
              <a:latin typeface="Arial"/>
              <a:ea typeface="Arial"/>
              <a:cs typeface="Arial"/>
              <a:sym typeface="Arial"/>
            </a:endParaRPr>
          </a:p>
        </p:txBody>
      </p:sp>
      <p:sp>
        <p:nvSpPr>
          <p:cNvPr id="464" name="Google Shape;464;g36f50cf8f39_0_11"/>
          <p:cNvSpPr txBox="1"/>
          <p:nvPr/>
        </p:nvSpPr>
        <p:spPr>
          <a:xfrm>
            <a:off x="6706666" y="1352765"/>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465" name="Google Shape;465;g36f50cf8f39_0_11"/>
          <p:cNvSpPr txBox="1"/>
          <p:nvPr/>
        </p:nvSpPr>
        <p:spPr>
          <a:xfrm>
            <a:off x="6284850" y="216547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
        <p:nvSpPr>
          <p:cNvPr id="466" name="Google Shape;466;g36f50cf8f39_0_11"/>
          <p:cNvSpPr/>
          <p:nvPr/>
        </p:nvSpPr>
        <p:spPr>
          <a:xfrm>
            <a:off x="6105925" y="297916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7" name="Google Shape;467;g36f50cf8f39_0_11"/>
          <p:cNvSpPr txBox="1"/>
          <p:nvPr/>
        </p:nvSpPr>
        <p:spPr>
          <a:xfrm>
            <a:off x="6501983" y="2948333"/>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468" name="Google Shape;468;g36f50cf8f39_0_11"/>
          <p:cNvSpPr/>
          <p:nvPr/>
        </p:nvSpPr>
        <p:spPr>
          <a:xfrm>
            <a:off x="6095293" y="3782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69" name="Google Shape;469;g36f50cf8f39_0_11"/>
          <p:cNvSpPr txBox="1"/>
          <p:nvPr/>
        </p:nvSpPr>
        <p:spPr>
          <a:xfrm>
            <a:off x="6305274" y="3912426"/>
            <a:ext cx="1770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 Report</a:t>
            </a:r>
            <a:endParaRPr sz="1400" b="0" i="0" u="none" strike="noStrike" cap="none">
              <a:solidFill>
                <a:srgbClr val="000000"/>
              </a:solidFill>
              <a:latin typeface="Arial"/>
              <a:ea typeface="Arial"/>
              <a:cs typeface="Arial"/>
              <a:sym typeface="Arial"/>
            </a:endParaRPr>
          </a:p>
        </p:txBody>
      </p:sp>
      <p:sp>
        <p:nvSpPr>
          <p:cNvPr id="470" name="Google Shape;470;g36f50cf8f39_0_11"/>
          <p:cNvSpPr/>
          <p:nvPr/>
        </p:nvSpPr>
        <p:spPr>
          <a:xfrm>
            <a:off x="7147919" y="113728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1" name="Google Shape;471;g36f50cf8f39_0_11"/>
          <p:cNvSpPr/>
          <p:nvPr/>
        </p:nvSpPr>
        <p:spPr>
          <a:xfrm>
            <a:off x="7131970" y="193843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2" name="Google Shape;472;g36f50cf8f39_0_11"/>
          <p:cNvSpPr/>
          <p:nvPr/>
        </p:nvSpPr>
        <p:spPr>
          <a:xfrm>
            <a:off x="7131968" y="274356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3" name="Google Shape;473;g36f50cf8f39_0_11"/>
          <p:cNvSpPr/>
          <p:nvPr/>
        </p:nvSpPr>
        <p:spPr>
          <a:xfrm>
            <a:off x="7131968" y="3557078"/>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4" name="Google Shape;474;g36f50cf8f39_0_11"/>
          <p:cNvSpPr/>
          <p:nvPr/>
        </p:nvSpPr>
        <p:spPr>
          <a:xfrm>
            <a:off x="3254975" y="51681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5" name="Google Shape;475;g36f50cf8f39_0_11"/>
          <p:cNvSpPr/>
          <p:nvPr/>
        </p:nvSpPr>
        <p:spPr>
          <a:xfrm>
            <a:off x="3254975" y="131033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6" name="Google Shape;476;g36f50cf8f39_0_11"/>
          <p:cNvSpPr/>
          <p:nvPr/>
        </p:nvSpPr>
        <p:spPr>
          <a:xfrm>
            <a:off x="3254975" y="2123032"/>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77" name="Google Shape;477;g36f50cf8f39_0_11"/>
          <p:cNvSpPr txBox="1"/>
          <p:nvPr/>
        </p:nvSpPr>
        <p:spPr>
          <a:xfrm>
            <a:off x="3419825" y="1300850"/>
            <a:ext cx="1945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Reference-based assembly</a:t>
            </a:r>
            <a:endParaRPr sz="1400" b="0" i="0" u="none" strike="noStrike" cap="none">
              <a:solidFill>
                <a:srgbClr val="000000"/>
              </a:solidFill>
              <a:latin typeface="Arial"/>
              <a:ea typeface="Arial"/>
              <a:cs typeface="Arial"/>
              <a:sym typeface="Arial"/>
            </a:endParaRPr>
          </a:p>
        </p:txBody>
      </p:sp>
      <p:sp>
        <p:nvSpPr>
          <p:cNvPr id="478" name="Google Shape;478;g36f50cf8f39_0_11"/>
          <p:cNvSpPr txBox="1"/>
          <p:nvPr/>
        </p:nvSpPr>
        <p:spPr>
          <a:xfrm>
            <a:off x="3790625" y="2113551"/>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 Report</a:t>
            </a:r>
            <a:endParaRPr sz="1400" b="0" i="0" u="none" strike="noStrike" cap="none">
              <a:solidFill>
                <a:srgbClr val="000000"/>
              </a:solidFill>
              <a:latin typeface="Arial"/>
              <a:ea typeface="Arial"/>
              <a:cs typeface="Arial"/>
              <a:sym typeface="Arial"/>
            </a:endParaRPr>
          </a:p>
        </p:txBody>
      </p:sp>
      <p:sp>
        <p:nvSpPr>
          <p:cNvPr id="479" name="Google Shape;479;g36f50cf8f39_0_11"/>
          <p:cNvSpPr/>
          <p:nvPr/>
        </p:nvSpPr>
        <p:spPr>
          <a:xfrm>
            <a:off x="4307675" y="108536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0" name="Google Shape;480;g36f50cf8f39_0_11"/>
          <p:cNvSpPr/>
          <p:nvPr/>
        </p:nvSpPr>
        <p:spPr>
          <a:xfrm>
            <a:off x="4307675" y="1886527"/>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81" name="Google Shape;481;g36f50cf8f39_0_11"/>
          <p:cNvSpPr txBox="1">
            <a:spLocks noGrp="1"/>
          </p:cNvSpPr>
          <p:nvPr>
            <p:ph type="title"/>
          </p:nvPr>
        </p:nvSpPr>
        <p:spPr>
          <a:xfrm>
            <a:off x="2967275" y="56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WGS</a:t>
            </a:r>
            <a:endParaRPr/>
          </a:p>
        </p:txBody>
      </p:sp>
      <p:sp>
        <p:nvSpPr>
          <p:cNvPr id="482" name="Google Shape;482;g36f50cf8f39_0_11"/>
          <p:cNvSpPr txBox="1">
            <a:spLocks noGrp="1"/>
          </p:cNvSpPr>
          <p:nvPr>
            <p:ph type="title"/>
          </p:nvPr>
        </p:nvSpPr>
        <p:spPr>
          <a:xfrm>
            <a:off x="5711225" y="50225"/>
            <a:ext cx="28509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mNGS</a:t>
            </a:r>
            <a:endParaRPr/>
          </a:p>
        </p:txBody>
      </p:sp>
      <p:sp>
        <p:nvSpPr>
          <p:cNvPr id="483" name="Google Shape;483;g36f50cf8f39_0_11"/>
          <p:cNvSpPr txBox="1"/>
          <p:nvPr/>
        </p:nvSpPr>
        <p:spPr>
          <a:xfrm>
            <a:off x="3669275" y="488150"/>
            <a:ext cx="14469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Quality control (QC)</a:t>
            </a:r>
            <a:endParaRPr sz="1400" b="0" i="0" u="none" strike="noStrike" cap="none">
              <a:solidFill>
                <a:srgbClr val="000000"/>
              </a:solidFill>
              <a:latin typeface="Arial"/>
              <a:ea typeface="Arial"/>
              <a:cs typeface="Arial"/>
              <a:sym typeface="Arial"/>
            </a:endParaRPr>
          </a:p>
        </p:txBody>
      </p:sp>
      <p:sp>
        <p:nvSpPr>
          <p:cNvPr id="484" name="Google Shape;484;g36f50cf8f39_0_11"/>
          <p:cNvSpPr/>
          <p:nvPr/>
        </p:nvSpPr>
        <p:spPr>
          <a:xfrm>
            <a:off x="5877775" y="95500"/>
            <a:ext cx="2731800" cy="4457700"/>
          </a:xfrm>
          <a:prstGeom prst="rect">
            <a:avLst/>
          </a:prstGeom>
          <a:noFill/>
          <a:ln w="9525" cap="flat" cmpd="sng">
            <a:solidFill>
              <a:srgbClr val="EF86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8"/>
        <p:cNvGrpSpPr/>
        <p:nvPr/>
      </p:nvGrpSpPr>
      <p:grpSpPr>
        <a:xfrm>
          <a:off x="0" y="0"/>
          <a:ext cx="0" cy="0"/>
          <a:chOff x="0" y="0"/>
          <a:chExt cx="0" cy="0"/>
        </a:xfrm>
      </p:grpSpPr>
      <p:sp>
        <p:nvSpPr>
          <p:cNvPr id="489" name="Google Shape;489;p18"/>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a:solidFill>
                  <a:srgbClr val="1C4587"/>
                </a:solidFill>
              </a:rPr>
              <a:t>Common mNGS Pipeline</a:t>
            </a:r>
            <a:r>
              <a:rPr lang="en" sz="2820">
                <a:solidFill>
                  <a:srgbClr val="4A86E8"/>
                </a:solidFill>
              </a:rPr>
              <a:t> </a:t>
            </a:r>
            <a:r>
              <a:rPr lang="en">
                <a:solidFill>
                  <a:srgbClr val="1C4587"/>
                </a:solidFill>
              </a:rPr>
              <a:t>Workflow</a:t>
            </a:r>
            <a:endParaRPr sz="2820">
              <a:solidFill>
                <a:srgbClr val="4A86E8"/>
              </a:solidFill>
            </a:endParaRPr>
          </a:p>
        </p:txBody>
      </p:sp>
      <p:sp>
        <p:nvSpPr>
          <p:cNvPr id="490" name="Google Shape;490;p18"/>
          <p:cNvSpPr/>
          <p:nvPr/>
        </p:nvSpPr>
        <p:spPr>
          <a:xfrm>
            <a:off x="643676" y="890048"/>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1" name="Google Shape;491;p18"/>
          <p:cNvSpPr/>
          <p:nvPr/>
        </p:nvSpPr>
        <p:spPr>
          <a:xfrm>
            <a:off x="643675" y="1683569"/>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2" name="Google Shape;492;p18"/>
          <p:cNvSpPr/>
          <p:nvPr/>
        </p:nvSpPr>
        <p:spPr>
          <a:xfrm>
            <a:off x="643675" y="2496269"/>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3" name="Google Shape;493;p18"/>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lt1"/>
                </a:solidFill>
                <a:latin typeface="Arial"/>
                <a:ea typeface="Arial"/>
                <a:cs typeface="Arial"/>
                <a:sym typeface="Arial"/>
              </a:rPr>
              <a:t>QC</a:t>
            </a:r>
            <a:endParaRPr sz="1400" b="1" i="0" u="none" strike="noStrike" cap="none">
              <a:solidFill>
                <a:schemeClr val="lt1"/>
              </a:solidFill>
              <a:latin typeface="Arial"/>
              <a:ea typeface="Arial"/>
              <a:cs typeface="Arial"/>
              <a:sym typeface="Arial"/>
            </a:endParaRPr>
          </a:p>
        </p:txBody>
      </p:sp>
      <p:sp>
        <p:nvSpPr>
          <p:cNvPr id="494" name="Google Shape;494;p18"/>
          <p:cNvSpPr txBox="1"/>
          <p:nvPr/>
        </p:nvSpPr>
        <p:spPr>
          <a:xfrm>
            <a:off x="1244416" y="1674090"/>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495" name="Google Shape;495;p18"/>
          <p:cNvSpPr/>
          <p:nvPr/>
        </p:nvSpPr>
        <p:spPr>
          <a:xfrm>
            <a:off x="643675" y="330048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6" name="Google Shape;496;p18"/>
          <p:cNvSpPr txBox="1"/>
          <p:nvPr/>
        </p:nvSpPr>
        <p:spPr>
          <a:xfrm>
            <a:off x="1039733" y="3269658"/>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497" name="Google Shape;497;p18"/>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8" name="Google Shape;498;p18"/>
          <p:cNvSpPr/>
          <p:nvPr/>
        </p:nvSpPr>
        <p:spPr>
          <a:xfrm>
            <a:off x="1669720" y="2259764"/>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99" name="Google Shape;499;p18"/>
          <p:cNvSpPr/>
          <p:nvPr/>
        </p:nvSpPr>
        <p:spPr>
          <a:xfrm>
            <a:off x="1669718" y="306488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00" name="Google Shape;500;p18"/>
          <p:cNvSpPr txBox="1"/>
          <p:nvPr/>
        </p:nvSpPr>
        <p:spPr>
          <a:xfrm>
            <a:off x="2900775" y="914688"/>
            <a:ext cx="5702400" cy="733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Remove bad quality and uninformative reads</a:t>
            </a:r>
            <a:endParaRPr sz="1800" b="0" i="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2"/>
              </a:solidFill>
              <a:latin typeface="Arial"/>
              <a:ea typeface="Arial"/>
              <a:cs typeface="Arial"/>
              <a:sym typeface="Arial"/>
            </a:endParaRPr>
          </a:p>
        </p:txBody>
      </p:sp>
      <p:sp>
        <p:nvSpPr>
          <p:cNvPr id="501" name="Google Shape;501;p18"/>
          <p:cNvSpPr txBox="1"/>
          <p:nvPr/>
        </p:nvSpPr>
        <p:spPr>
          <a:xfrm>
            <a:off x="711825" y="248732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11" name="Google Shape;511;p19"/>
          <p:cNvSpPr/>
          <p:nvPr/>
        </p:nvSpPr>
        <p:spPr>
          <a:xfrm>
            <a:off x="1525425" y="1318000"/>
            <a:ext cx="5519700" cy="15840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highlight>
                <a:schemeClr val="lt2"/>
              </a:highlight>
              <a:latin typeface="Helvetica Neue"/>
              <a:ea typeface="Helvetica Neue"/>
              <a:cs typeface="Helvetica Neue"/>
              <a:sym typeface="Helvetica Neue"/>
            </a:endParaRPr>
          </a:p>
        </p:txBody>
      </p:sp>
      <p:sp>
        <p:nvSpPr>
          <p:cNvPr id="506" name="Google Shape;506;p19"/>
          <p:cNvSpPr txBox="1">
            <a:spLocks noGrp="1"/>
          </p:cNvSpPr>
          <p:nvPr>
            <p:ph type="title"/>
          </p:nvPr>
        </p:nvSpPr>
        <p:spPr>
          <a:xfrm>
            <a:off x="151275" y="-94125"/>
            <a:ext cx="85995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1: Quality Control (QC)</a:t>
            </a:r>
            <a:endParaRPr sz="3000"/>
          </a:p>
        </p:txBody>
      </p:sp>
      <p:grpSp>
        <p:nvGrpSpPr>
          <p:cNvPr id="507" name="Google Shape;507;p19"/>
          <p:cNvGrpSpPr/>
          <p:nvPr/>
        </p:nvGrpSpPr>
        <p:grpSpPr>
          <a:xfrm>
            <a:off x="1509149" y="3087825"/>
            <a:ext cx="5552251" cy="1615744"/>
            <a:chOff x="1188171" y="2660539"/>
            <a:chExt cx="6725110" cy="2092120"/>
          </a:xfrm>
        </p:grpSpPr>
        <p:pic>
          <p:nvPicPr>
            <p:cNvPr id="508" name="Google Shape;508;p19" descr="A close-up of a dna&#10;&#10;Description automatically generated"/>
            <p:cNvPicPr preferRelativeResize="0"/>
            <p:nvPr/>
          </p:nvPicPr>
          <p:blipFill rotWithShape="1">
            <a:blip r:embed="rId3">
              <a:alphaModFix/>
            </a:blip>
            <a:srcRect/>
            <a:stretch/>
          </p:blipFill>
          <p:spPr>
            <a:xfrm>
              <a:off x="1230718" y="2703055"/>
              <a:ext cx="6682563" cy="2049604"/>
            </a:xfrm>
            <a:prstGeom prst="rect">
              <a:avLst/>
            </a:prstGeom>
            <a:noFill/>
            <a:ln w="9525" cap="flat" cmpd="sng">
              <a:solidFill>
                <a:schemeClr val="dk1"/>
              </a:solidFill>
              <a:prstDash val="solid"/>
              <a:round/>
              <a:headEnd type="none" w="sm" len="sm"/>
              <a:tailEnd type="none" w="sm" len="sm"/>
            </a:ln>
          </p:spPr>
        </p:pic>
        <p:sp>
          <p:nvSpPr>
            <p:cNvPr id="509" name="Google Shape;509;p19"/>
            <p:cNvSpPr txBox="1"/>
            <p:nvPr/>
          </p:nvSpPr>
          <p:spPr>
            <a:xfrm>
              <a:off x="1188171" y="2660539"/>
              <a:ext cx="4281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Illumina library</a:t>
              </a:r>
              <a:endParaRPr sz="1400" b="0" i="0" u="none" strike="noStrike" cap="none">
                <a:solidFill>
                  <a:srgbClr val="000000"/>
                </a:solidFill>
                <a:latin typeface="Arial"/>
                <a:ea typeface="Arial"/>
                <a:cs typeface="Arial"/>
                <a:sym typeface="Arial"/>
              </a:endParaRPr>
            </a:p>
          </p:txBody>
        </p:sp>
      </p:grpSp>
      <p:sp>
        <p:nvSpPr>
          <p:cNvPr id="510" name="Google Shape;510;p19"/>
          <p:cNvSpPr txBox="1"/>
          <p:nvPr/>
        </p:nvSpPr>
        <p:spPr>
          <a:xfrm>
            <a:off x="1509148" y="1288000"/>
            <a:ext cx="3535137" cy="30791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a:t>
            </a:r>
            <a:r>
              <a:rPr lang="en"/>
              <a:t>ONT</a:t>
            </a:r>
            <a:r>
              <a:rPr lang="en" sz="1400" b="0" i="0" u="none" strike="noStrike" cap="none">
                <a:solidFill>
                  <a:srgbClr val="000000"/>
                </a:solidFill>
                <a:latin typeface="Arial"/>
                <a:ea typeface="Arial"/>
                <a:cs typeface="Arial"/>
                <a:sym typeface="Arial"/>
              </a:rPr>
              <a:t> library</a:t>
            </a:r>
            <a:endParaRPr sz="1400" b="0" i="0" u="none" strike="noStrike" cap="none">
              <a:solidFill>
                <a:srgbClr val="000000"/>
              </a:solidFill>
              <a:latin typeface="Arial"/>
              <a:ea typeface="Arial"/>
              <a:cs typeface="Arial"/>
              <a:sym typeface="Arial"/>
            </a:endParaRPr>
          </a:p>
        </p:txBody>
      </p:sp>
      <p:pic>
        <p:nvPicPr>
          <p:cNvPr id="512" name="Google Shape;512;p19"/>
          <p:cNvPicPr preferRelativeResize="0"/>
          <p:nvPr/>
        </p:nvPicPr>
        <p:blipFill>
          <a:blip r:embed="rId4">
            <a:alphaModFix/>
          </a:blip>
          <a:stretch>
            <a:fillRect/>
          </a:stretch>
        </p:blipFill>
        <p:spPr>
          <a:xfrm>
            <a:off x="1766125" y="1560550"/>
            <a:ext cx="5038300" cy="939750"/>
          </a:xfrm>
          <a:prstGeom prst="rect">
            <a:avLst/>
          </a:prstGeom>
          <a:noFill/>
          <a:ln>
            <a:noFill/>
          </a:ln>
        </p:spPr>
      </p:pic>
      <p:sp>
        <p:nvSpPr>
          <p:cNvPr id="2" name="TextBox 1">
            <a:extLst>
              <a:ext uri="{FF2B5EF4-FFF2-40B4-BE49-F238E27FC236}">
                <a16:creationId xmlns:a16="http://schemas.microsoft.com/office/drawing/2014/main" id="{3692CA40-1D45-5FB8-90ED-A865FE4E5CE2}"/>
              </a:ext>
            </a:extLst>
          </p:cNvPr>
          <p:cNvSpPr txBox="1"/>
          <p:nvPr/>
        </p:nvSpPr>
        <p:spPr>
          <a:xfrm>
            <a:off x="560613" y="1956111"/>
            <a:ext cx="562975" cy="307777"/>
          </a:xfrm>
          <a:prstGeom prst="rect">
            <a:avLst/>
          </a:prstGeom>
          <a:noFill/>
        </p:spPr>
        <p:txBody>
          <a:bodyPr wrap="none" rtlCol="0">
            <a:spAutoFit/>
          </a:bodyPr>
          <a:lstStyle/>
          <a:p>
            <a:r>
              <a:rPr lang="en-US" dirty="0"/>
              <a:t>ONT</a:t>
            </a:r>
          </a:p>
        </p:txBody>
      </p:sp>
      <p:sp>
        <p:nvSpPr>
          <p:cNvPr id="3" name="TextBox 2">
            <a:extLst>
              <a:ext uri="{FF2B5EF4-FFF2-40B4-BE49-F238E27FC236}">
                <a16:creationId xmlns:a16="http://schemas.microsoft.com/office/drawing/2014/main" id="{47A0D84D-9626-95EC-5B4F-1CDB731CC7A2}"/>
              </a:ext>
            </a:extLst>
          </p:cNvPr>
          <p:cNvSpPr txBox="1"/>
          <p:nvPr/>
        </p:nvSpPr>
        <p:spPr>
          <a:xfrm>
            <a:off x="441188" y="3604337"/>
            <a:ext cx="801823" cy="307777"/>
          </a:xfrm>
          <a:prstGeom prst="rect">
            <a:avLst/>
          </a:prstGeom>
          <a:noFill/>
        </p:spPr>
        <p:txBody>
          <a:bodyPr wrap="none" rtlCol="0">
            <a:spAutoFit/>
          </a:bodyPr>
          <a:lstStyle/>
          <a:p>
            <a:r>
              <a:rPr lang="en-US" dirty="0"/>
              <a:t>Illumina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g36f311d52c8_0_15"/>
          <p:cNvSpPr txBox="1">
            <a:spLocks noGrp="1"/>
          </p:cNvSpPr>
          <p:nvPr>
            <p:ph type="title"/>
          </p:nvPr>
        </p:nvSpPr>
        <p:spPr>
          <a:xfrm>
            <a:off x="151275" y="-94125"/>
            <a:ext cx="85995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dirty="0">
                <a:solidFill>
                  <a:schemeClr val="dk1"/>
                </a:solidFill>
                <a:latin typeface="Arial"/>
                <a:ea typeface="Arial"/>
                <a:cs typeface="Arial"/>
                <a:sym typeface="Arial"/>
              </a:rPr>
              <a:t>Step 1: Quality Control (QC)</a:t>
            </a:r>
            <a:endParaRPr sz="3000" dirty="0"/>
          </a:p>
        </p:txBody>
      </p:sp>
      <p:grpSp>
        <p:nvGrpSpPr>
          <p:cNvPr id="518" name="Google Shape;518;g36f311d52c8_0_15"/>
          <p:cNvGrpSpPr/>
          <p:nvPr/>
        </p:nvGrpSpPr>
        <p:grpSpPr>
          <a:xfrm>
            <a:off x="1509149" y="3394900"/>
            <a:ext cx="5552250" cy="1615744"/>
            <a:chOff x="1188171" y="2660539"/>
            <a:chExt cx="6725110" cy="2092120"/>
          </a:xfrm>
        </p:grpSpPr>
        <p:pic>
          <p:nvPicPr>
            <p:cNvPr id="519" name="Google Shape;519;g36f311d52c8_0_15" descr="A close-up of a dna&#10;&#10;Description automatically generated"/>
            <p:cNvPicPr preferRelativeResize="0"/>
            <p:nvPr/>
          </p:nvPicPr>
          <p:blipFill rotWithShape="1">
            <a:blip r:embed="rId3">
              <a:alphaModFix/>
            </a:blip>
            <a:srcRect/>
            <a:stretch/>
          </p:blipFill>
          <p:spPr>
            <a:xfrm>
              <a:off x="1230718" y="2703055"/>
              <a:ext cx="6682563" cy="2049604"/>
            </a:xfrm>
            <a:prstGeom prst="rect">
              <a:avLst/>
            </a:prstGeom>
            <a:noFill/>
            <a:ln w="9525" cap="flat" cmpd="sng">
              <a:solidFill>
                <a:schemeClr val="dk1"/>
              </a:solidFill>
              <a:prstDash val="solid"/>
              <a:round/>
              <a:headEnd type="none" w="sm" len="sm"/>
              <a:tailEnd type="none" w="sm" len="sm"/>
            </a:ln>
          </p:spPr>
        </p:pic>
        <p:sp>
          <p:nvSpPr>
            <p:cNvPr id="520" name="Google Shape;520;g36f311d52c8_0_15"/>
            <p:cNvSpPr txBox="1"/>
            <p:nvPr/>
          </p:nvSpPr>
          <p:spPr>
            <a:xfrm>
              <a:off x="1188171" y="2660539"/>
              <a:ext cx="4281900" cy="398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Illumina library</a:t>
              </a:r>
              <a:endParaRPr sz="1400" b="0" i="0" u="none" strike="noStrike" cap="none">
                <a:solidFill>
                  <a:srgbClr val="000000"/>
                </a:solidFill>
                <a:latin typeface="Arial"/>
                <a:ea typeface="Arial"/>
                <a:cs typeface="Arial"/>
                <a:sym typeface="Arial"/>
              </a:endParaRPr>
            </a:p>
          </p:txBody>
        </p:sp>
      </p:grpSp>
      <p:pic>
        <p:nvPicPr>
          <p:cNvPr id="521" name="Google Shape;521;g36f311d52c8_0_15"/>
          <p:cNvPicPr preferRelativeResize="0"/>
          <p:nvPr/>
        </p:nvPicPr>
        <p:blipFill rotWithShape="1">
          <a:blip r:embed="rId4">
            <a:alphaModFix/>
          </a:blip>
          <a:srcRect/>
          <a:stretch/>
        </p:blipFill>
        <p:spPr>
          <a:xfrm>
            <a:off x="7615775" y="317008"/>
            <a:ext cx="859675" cy="859675"/>
          </a:xfrm>
          <a:prstGeom prst="rect">
            <a:avLst/>
          </a:prstGeom>
          <a:noFill/>
          <a:ln w="9525" cap="flat" cmpd="sng">
            <a:solidFill>
              <a:schemeClr val="dk2"/>
            </a:solidFill>
            <a:prstDash val="solid"/>
            <a:round/>
            <a:headEnd type="none" w="sm" len="sm"/>
            <a:tailEnd type="none" w="sm" len="sm"/>
          </a:ln>
        </p:spPr>
      </p:pic>
      <p:sp>
        <p:nvSpPr>
          <p:cNvPr id="522" name="Google Shape;522;g36f311d52c8_0_15"/>
          <p:cNvSpPr txBox="1"/>
          <p:nvPr/>
        </p:nvSpPr>
        <p:spPr>
          <a:xfrm>
            <a:off x="7382375" y="1262100"/>
            <a:ext cx="1368300" cy="547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Why?</a:t>
            </a:r>
            <a:endParaRPr sz="2000" b="0" i="0" u="none" strike="noStrike" cap="none">
              <a:solidFill>
                <a:srgbClr val="000000"/>
              </a:solidFill>
              <a:latin typeface="Helvetica Neue"/>
              <a:ea typeface="Helvetica Neue"/>
              <a:cs typeface="Helvetica Neue"/>
              <a:sym typeface="Helvetica Neue"/>
            </a:endParaRPr>
          </a:p>
        </p:txBody>
      </p:sp>
      <p:sp>
        <p:nvSpPr>
          <p:cNvPr id="523" name="Google Shape;523;g36f311d52c8_0_15"/>
          <p:cNvSpPr txBox="1"/>
          <p:nvPr/>
        </p:nvSpPr>
        <p:spPr>
          <a:xfrm>
            <a:off x="393324" y="796110"/>
            <a:ext cx="5888943" cy="7062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Software to:</a:t>
            </a:r>
            <a:endParaRPr sz="2000">
              <a:latin typeface="Helvetica Neue"/>
              <a:ea typeface="Helvetica Neue"/>
              <a:cs typeface="Helvetica Neue"/>
              <a:sym typeface="Helvetica Neue"/>
            </a:endParaRPr>
          </a:p>
          <a:p>
            <a:pPr marL="914400" lvl="1"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Trim adapters (synthetic, non-genomic)</a:t>
            </a:r>
            <a:endParaRPr sz="2000">
              <a:latin typeface="Helvetica Neue"/>
              <a:ea typeface="Helvetica Neue"/>
              <a:cs typeface="Helvetica Neue"/>
              <a:sym typeface="Helvetica Neue"/>
            </a:endParaRPr>
          </a:p>
        </p:txBody>
      </p:sp>
      <p:sp>
        <p:nvSpPr>
          <p:cNvPr id="524" name="Google Shape;524;g36f311d52c8_0_15"/>
          <p:cNvSpPr/>
          <p:nvPr/>
        </p:nvSpPr>
        <p:spPr>
          <a:xfrm>
            <a:off x="1541700" y="1625075"/>
            <a:ext cx="5519700" cy="1584000"/>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highlight>
                <a:schemeClr val="lt2"/>
              </a:highlight>
              <a:latin typeface="Helvetica Neue"/>
              <a:ea typeface="Helvetica Neue"/>
              <a:cs typeface="Helvetica Neue"/>
              <a:sym typeface="Helvetica Neue"/>
            </a:endParaRPr>
          </a:p>
        </p:txBody>
      </p:sp>
      <p:pic>
        <p:nvPicPr>
          <p:cNvPr id="525" name="Google Shape;525;g36f311d52c8_0_15"/>
          <p:cNvPicPr preferRelativeResize="0"/>
          <p:nvPr/>
        </p:nvPicPr>
        <p:blipFill>
          <a:blip r:embed="rId5">
            <a:alphaModFix/>
          </a:blip>
          <a:stretch>
            <a:fillRect/>
          </a:stretch>
        </p:blipFill>
        <p:spPr>
          <a:xfrm>
            <a:off x="1807075" y="1980225"/>
            <a:ext cx="5038300" cy="939750"/>
          </a:xfrm>
          <a:prstGeom prst="rect">
            <a:avLst/>
          </a:prstGeom>
          <a:noFill/>
          <a:ln>
            <a:noFill/>
          </a:ln>
        </p:spPr>
      </p:pic>
      <p:sp>
        <p:nvSpPr>
          <p:cNvPr id="526" name="Google Shape;526;g36f311d52c8_0_15"/>
          <p:cNvSpPr txBox="1"/>
          <p:nvPr/>
        </p:nvSpPr>
        <p:spPr>
          <a:xfrm>
            <a:off x="1571499" y="1625075"/>
            <a:ext cx="35352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a:t>
            </a:r>
            <a:r>
              <a:rPr lang="en"/>
              <a:t>ONT</a:t>
            </a:r>
            <a:r>
              <a:rPr lang="en" sz="1400" b="0" i="0" u="none" strike="noStrike" cap="none">
                <a:solidFill>
                  <a:srgbClr val="000000"/>
                </a:solidFill>
                <a:latin typeface="Arial"/>
                <a:ea typeface="Arial"/>
                <a:cs typeface="Arial"/>
                <a:sym typeface="Arial"/>
              </a:rPr>
              <a:t> library</a:t>
            </a:r>
            <a:endParaRPr sz="1400" b="0" i="0" u="none" strike="noStrike" cap="none">
              <a:solidFill>
                <a:srgbClr val="000000"/>
              </a:solidFill>
              <a:latin typeface="Arial"/>
              <a:ea typeface="Arial"/>
              <a:cs typeface="Arial"/>
              <a:sym typeface="Arial"/>
            </a:endParaRPr>
          </a:p>
        </p:txBody>
      </p:sp>
      <p:sp>
        <p:nvSpPr>
          <p:cNvPr id="527" name="Google Shape;527;g36f311d52c8_0_15"/>
          <p:cNvSpPr/>
          <p:nvPr/>
        </p:nvSpPr>
        <p:spPr>
          <a:xfrm rot="-5400000">
            <a:off x="2626700" y="1901575"/>
            <a:ext cx="81900" cy="15966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528" name="Google Shape;528;g36f311d52c8_0_15"/>
          <p:cNvSpPr txBox="1"/>
          <p:nvPr/>
        </p:nvSpPr>
        <p:spPr>
          <a:xfrm>
            <a:off x="2447700" y="2794675"/>
            <a:ext cx="624300" cy="16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Helvetica Neue"/>
                <a:ea typeface="Helvetica Neue"/>
                <a:cs typeface="Helvetica Neue"/>
                <a:sym typeface="Helvetica Neue"/>
              </a:rPr>
              <a:t>Adapter</a:t>
            </a:r>
            <a:endParaRPr sz="700">
              <a:solidFill>
                <a:schemeClr val="dk2"/>
              </a:solidFill>
              <a:latin typeface="Helvetica Neue"/>
              <a:ea typeface="Helvetica Neue"/>
              <a:cs typeface="Helvetica Neue"/>
              <a:sym typeface="Helvetica Neue"/>
            </a:endParaRPr>
          </a:p>
        </p:txBody>
      </p:sp>
      <p:sp>
        <p:nvSpPr>
          <p:cNvPr id="2" name="TextBox 1">
            <a:extLst>
              <a:ext uri="{FF2B5EF4-FFF2-40B4-BE49-F238E27FC236}">
                <a16:creationId xmlns:a16="http://schemas.microsoft.com/office/drawing/2014/main" id="{77FF5ADC-FD5F-C620-DD37-9E703C3B0198}"/>
              </a:ext>
            </a:extLst>
          </p:cNvPr>
          <p:cNvSpPr txBox="1"/>
          <p:nvPr/>
        </p:nvSpPr>
        <p:spPr>
          <a:xfrm>
            <a:off x="560613" y="2255369"/>
            <a:ext cx="562975" cy="307777"/>
          </a:xfrm>
          <a:prstGeom prst="rect">
            <a:avLst/>
          </a:prstGeom>
          <a:noFill/>
        </p:spPr>
        <p:txBody>
          <a:bodyPr wrap="none" rtlCol="0">
            <a:spAutoFit/>
          </a:bodyPr>
          <a:lstStyle/>
          <a:p>
            <a:r>
              <a:rPr lang="en-US" dirty="0"/>
              <a:t>ONT</a:t>
            </a:r>
          </a:p>
        </p:txBody>
      </p:sp>
      <p:sp>
        <p:nvSpPr>
          <p:cNvPr id="3" name="TextBox 2">
            <a:extLst>
              <a:ext uri="{FF2B5EF4-FFF2-40B4-BE49-F238E27FC236}">
                <a16:creationId xmlns:a16="http://schemas.microsoft.com/office/drawing/2014/main" id="{D9F57C62-9DEF-9142-0442-4EE6B0C3C882}"/>
              </a:ext>
            </a:extLst>
          </p:cNvPr>
          <p:cNvSpPr txBox="1"/>
          <p:nvPr/>
        </p:nvSpPr>
        <p:spPr>
          <a:xfrm>
            <a:off x="441188" y="3903595"/>
            <a:ext cx="801823" cy="307777"/>
          </a:xfrm>
          <a:prstGeom prst="rect">
            <a:avLst/>
          </a:prstGeom>
          <a:noFill/>
        </p:spPr>
        <p:txBody>
          <a:bodyPr wrap="none" rtlCol="0">
            <a:spAutoFit/>
          </a:bodyPr>
          <a:lstStyle/>
          <a:p>
            <a:r>
              <a:rPr lang="en-US" dirty="0"/>
              <a:t>Illumina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g36f325ecb3f_0_10"/>
          <p:cNvSpPr txBox="1">
            <a:spLocks noGrp="1"/>
          </p:cNvSpPr>
          <p:nvPr>
            <p:ph type="title"/>
          </p:nvPr>
        </p:nvSpPr>
        <p:spPr>
          <a:xfrm>
            <a:off x="151275" y="-94125"/>
            <a:ext cx="85995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dirty="0">
                <a:solidFill>
                  <a:schemeClr val="dk1"/>
                </a:solidFill>
                <a:latin typeface="Arial"/>
                <a:ea typeface="Arial"/>
                <a:cs typeface="Arial"/>
                <a:sym typeface="Arial"/>
              </a:rPr>
              <a:t>Step 1: Quality Control (QC)</a:t>
            </a:r>
            <a:endParaRPr sz="3000" dirty="0"/>
          </a:p>
        </p:txBody>
      </p:sp>
      <p:sp>
        <p:nvSpPr>
          <p:cNvPr id="534" name="Google Shape;534;g36f325ecb3f_0_10"/>
          <p:cNvSpPr txBox="1"/>
          <p:nvPr/>
        </p:nvSpPr>
        <p:spPr>
          <a:xfrm>
            <a:off x="323750" y="785216"/>
            <a:ext cx="5823050" cy="706200"/>
          </a:xfrm>
          <a:prstGeom prst="rect">
            <a:avLst/>
          </a:prstGeom>
          <a:noFill/>
          <a:ln>
            <a:noFill/>
          </a:ln>
        </p:spPr>
        <p:txBody>
          <a:bodyPr spcFirstLastPara="1" wrap="square" lIns="91425" tIns="91425" rIns="91425" bIns="91425" anchor="t" anchorCtr="0">
            <a:noAutofit/>
          </a:bodyPr>
          <a:lstStyle/>
          <a:p>
            <a:pPr marL="457200" lvl="0"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Software to:</a:t>
            </a:r>
            <a:endParaRPr sz="2000">
              <a:latin typeface="Helvetica Neue"/>
              <a:ea typeface="Helvetica Neue"/>
              <a:cs typeface="Helvetica Neue"/>
              <a:sym typeface="Helvetica Neue"/>
            </a:endParaRPr>
          </a:p>
          <a:p>
            <a:pPr marL="914400" lvl="1" indent="-355600" algn="l" rtl="0">
              <a:spcBef>
                <a:spcPts val="0"/>
              </a:spcBef>
              <a:spcAft>
                <a:spcPts val="0"/>
              </a:spcAft>
              <a:buSzPts val="2000"/>
              <a:buFont typeface="Helvetica Neue"/>
              <a:buChar char="○"/>
            </a:pPr>
            <a:r>
              <a:rPr lang="en" sz="2000">
                <a:latin typeface="Helvetica Neue"/>
                <a:ea typeface="Helvetica Neue"/>
                <a:cs typeface="Helvetica Neue"/>
                <a:sym typeface="Helvetica Neue"/>
              </a:rPr>
              <a:t>Trim adapters (synthetic, non-genomic)</a:t>
            </a:r>
            <a:endParaRPr sz="2000">
              <a:latin typeface="Helvetica Neue"/>
              <a:ea typeface="Helvetica Neue"/>
              <a:cs typeface="Helvetica Neue"/>
              <a:sym typeface="Helvetica Neue"/>
            </a:endParaRPr>
          </a:p>
        </p:txBody>
      </p:sp>
      <p:sp>
        <p:nvSpPr>
          <p:cNvPr id="535" name="Google Shape;535;g36f325ecb3f_0_10"/>
          <p:cNvSpPr>
            <a:spLocks noChangeAspect="1"/>
          </p:cNvSpPr>
          <p:nvPr/>
        </p:nvSpPr>
        <p:spPr>
          <a:xfrm>
            <a:off x="1086907" y="2050295"/>
            <a:ext cx="3454074" cy="991223"/>
          </a:xfrm>
          <a:prstGeom prst="rect">
            <a:avLst/>
          </a:prstGeom>
          <a:solidFill>
            <a:srgbClr val="EFEFE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2"/>
              </a:solidFill>
              <a:highlight>
                <a:schemeClr val="lt2"/>
              </a:highlight>
              <a:latin typeface="Helvetica Neue"/>
              <a:ea typeface="Helvetica Neue"/>
              <a:cs typeface="Helvetica Neue"/>
              <a:sym typeface="Helvetica Neue"/>
            </a:endParaRPr>
          </a:p>
        </p:txBody>
      </p:sp>
      <p:pic>
        <p:nvPicPr>
          <p:cNvPr id="536" name="Google Shape;536;g36f325ecb3f_0_10"/>
          <p:cNvPicPr preferRelativeResize="0">
            <a:picLocks noChangeAspect="1"/>
          </p:cNvPicPr>
          <p:nvPr/>
        </p:nvPicPr>
        <p:blipFill>
          <a:blip r:embed="rId3">
            <a:alphaModFix/>
          </a:blip>
          <a:stretch>
            <a:fillRect/>
          </a:stretch>
        </p:blipFill>
        <p:spPr>
          <a:xfrm>
            <a:off x="1290606" y="2262592"/>
            <a:ext cx="3070717" cy="572754"/>
          </a:xfrm>
          <a:prstGeom prst="rect">
            <a:avLst/>
          </a:prstGeom>
          <a:noFill/>
          <a:ln>
            <a:noFill/>
          </a:ln>
        </p:spPr>
      </p:pic>
      <p:sp>
        <p:nvSpPr>
          <p:cNvPr id="537" name="Google Shape;537;g36f325ecb3f_0_10"/>
          <p:cNvSpPr txBox="1">
            <a:spLocks noChangeAspect="1"/>
          </p:cNvSpPr>
          <p:nvPr/>
        </p:nvSpPr>
        <p:spPr>
          <a:xfrm>
            <a:off x="1084500" y="1744686"/>
            <a:ext cx="3203701"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a:t>
            </a:r>
            <a:r>
              <a:rPr lang="en"/>
              <a:t>ONT</a:t>
            </a:r>
            <a:r>
              <a:rPr lang="en" sz="1400" b="0" i="0" u="none" strike="noStrike" cap="none">
                <a:solidFill>
                  <a:srgbClr val="000000"/>
                </a:solidFill>
                <a:latin typeface="Arial"/>
                <a:ea typeface="Arial"/>
                <a:cs typeface="Arial"/>
                <a:sym typeface="Arial"/>
              </a:rPr>
              <a:t> library</a:t>
            </a:r>
            <a:endParaRPr sz="1400" b="0" i="0" u="none" strike="noStrike" cap="none">
              <a:solidFill>
                <a:srgbClr val="000000"/>
              </a:solidFill>
              <a:latin typeface="Arial"/>
              <a:ea typeface="Arial"/>
              <a:cs typeface="Arial"/>
              <a:sym typeface="Arial"/>
            </a:endParaRPr>
          </a:p>
        </p:txBody>
      </p:sp>
      <p:sp>
        <p:nvSpPr>
          <p:cNvPr id="538" name="Google Shape;538;g36f325ecb3f_0_10"/>
          <p:cNvSpPr/>
          <p:nvPr/>
        </p:nvSpPr>
        <p:spPr>
          <a:xfrm rot="-5400000">
            <a:off x="1805046" y="2209113"/>
            <a:ext cx="45719" cy="95005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elvetica Neue"/>
              <a:ea typeface="Helvetica Neue"/>
              <a:cs typeface="Helvetica Neue"/>
              <a:sym typeface="Helvetica Neue"/>
            </a:endParaRPr>
          </a:p>
        </p:txBody>
      </p:sp>
      <p:sp>
        <p:nvSpPr>
          <p:cNvPr id="539" name="Google Shape;539;g36f325ecb3f_0_10"/>
          <p:cNvSpPr txBox="1"/>
          <p:nvPr/>
        </p:nvSpPr>
        <p:spPr>
          <a:xfrm>
            <a:off x="1555278" y="2706998"/>
            <a:ext cx="862705" cy="162894"/>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700">
                <a:solidFill>
                  <a:schemeClr val="dk2"/>
                </a:solidFill>
                <a:latin typeface="Helvetica Neue"/>
                <a:ea typeface="Helvetica Neue"/>
                <a:cs typeface="Helvetica Neue"/>
                <a:sym typeface="Helvetica Neue"/>
              </a:rPr>
              <a:t>Adapter</a:t>
            </a:r>
            <a:endParaRPr sz="700">
              <a:solidFill>
                <a:schemeClr val="dk2"/>
              </a:solidFill>
              <a:latin typeface="Helvetica Neue"/>
              <a:ea typeface="Helvetica Neue"/>
              <a:cs typeface="Helvetica Neue"/>
              <a:sym typeface="Helvetica Neue"/>
            </a:endParaRPr>
          </a:p>
        </p:txBody>
      </p:sp>
      <p:sp>
        <p:nvSpPr>
          <p:cNvPr id="540" name="Google Shape;540;g36f325ecb3f_0_10"/>
          <p:cNvSpPr txBox="1"/>
          <p:nvPr/>
        </p:nvSpPr>
        <p:spPr>
          <a:xfrm>
            <a:off x="323750" y="3103000"/>
            <a:ext cx="9104700" cy="7062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2000">
              <a:latin typeface="Helvetica Neue"/>
              <a:ea typeface="Helvetica Neue"/>
              <a:cs typeface="Helvetica Neue"/>
              <a:sym typeface="Helvetica Neue"/>
            </a:endParaRPr>
          </a:p>
          <a:p>
            <a:pPr marL="914400" lvl="1" indent="-355600" algn="l" rtl="0">
              <a:spcBef>
                <a:spcPts val="0"/>
              </a:spcBef>
              <a:spcAft>
                <a:spcPts val="0"/>
              </a:spcAft>
              <a:buSzPts val="2000"/>
              <a:buFont typeface="Helvetica Neue"/>
              <a:buChar char="○"/>
            </a:pPr>
            <a:r>
              <a:rPr lang="en" sz="2000">
                <a:solidFill>
                  <a:schemeClr val="dk1"/>
                </a:solidFill>
              </a:rPr>
              <a:t>Filter reads based on quality, complexity, and length</a:t>
            </a:r>
            <a:endParaRPr sz="2000">
              <a:solidFill>
                <a:schemeClr val="dk1"/>
              </a:solidFill>
            </a:endParaRPr>
          </a:p>
          <a:p>
            <a:pPr marL="1371600" lvl="2" indent="-330200" algn="l" rtl="0">
              <a:spcBef>
                <a:spcPts val="0"/>
              </a:spcBef>
              <a:spcAft>
                <a:spcPts val="0"/>
              </a:spcAft>
              <a:buClr>
                <a:schemeClr val="dk1"/>
              </a:buClr>
              <a:buSzPts val="1600"/>
              <a:buChar char="■"/>
            </a:pPr>
            <a:r>
              <a:rPr lang="en" sz="1600">
                <a:solidFill>
                  <a:schemeClr val="dk1"/>
                </a:solidFill>
              </a:rPr>
              <a:t>Quality: Phred score threshold to ensure high quality data</a:t>
            </a:r>
            <a:endParaRPr sz="1600">
              <a:solidFill>
                <a:schemeClr val="dk1"/>
              </a:solidFill>
            </a:endParaRPr>
          </a:p>
          <a:p>
            <a:pPr marL="0" lvl="0" indent="0" algn="l" rtl="0">
              <a:spcBef>
                <a:spcPts val="0"/>
              </a:spcBef>
              <a:spcAft>
                <a:spcPts val="0"/>
              </a:spcAft>
              <a:buNone/>
            </a:pPr>
            <a:endParaRPr sz="800">
              <a:solidFill>
                <a:schemeClr val="dk1"/>
              </a:solidFill>
            </a:endParaRPr>
          </a:p>
          <a:p>
            <a:pPr marL="1371600" lvl="2" indent="-330200" algn="l" rtl="0">
              <a:spcBef>
                <a:spcPts val="0"/>
              </a:spcBef>
              <a:spcAft>
                <a:spcPts val="0"/>
              </a:spcAft>
              <a:buClr>
                <a:schemeClr val="dk1"/>
              </a:buClr>
              <a:buSzPts val="1600"/>
              <a:buChar char="■"/>
            </a:pPr>
            <a:r>
              <a:rPr lang="en" sz="1600">
                <a:solidFill>
                  <a:schemeClr val="dk1"/>
                </a:solidFill>
              </a:rPr>
              <a:t>Complexity: Remove low complexity, repetitive sequences (non-informative)</a:t>
            </a:r>
            <a:endParaRPr sz="1600">
              <a:solidFill>
                <a:schemeClr val="dk1"/>
              </a:solidFill>
            </a:endParaRPr>
          </a:p>
          <a:p>
            <a:pPr marL="0" lvl="0" indent="0" algn="l" rtl="0">
              <a:spcBef>
                <a:spcPts val="0"/>
              </a:spcBef>
              <a:spcAft>
                <a:spcPts val="0"/>
              </a:spcAft>
              <a:buNone/>
            </a:pPr>
            <a:endParaRPr sz="800">
              <a:solidFill>
                <a:schemeClr val="dk1"/>
              </a:solidFill>
            </a:endParaRPr>
          </a:p>
          <a:p>
            <a:pPr marL="1371600" lvl="2" indent="-330200" algn="l" rtl="0">
              <a:spcBef>
                <a:spcPts val="0"/>
              </a:spcBef>
              <a:spcAft>
                <a:spcPts val="0"/>
              </a:spcAft>
              <a:buClr>
                <a:schemeClr val="dk1"/>
              </a:buClr>
              <a:buSzPts val="1600"/>
              <a:buChar char="■"/>
            </a:pPr>
            <a:r>
              <a:rPr lang="en" sz="1600">
                <a:solidFill>
                  <a:schemeClr val="dk1"/>
                </a:solidFill>
              </a:rPr>
              <a:t>Length: Sequence length threshold to remove short sequences</a:t>
            </a:r>
            <a:endParaRPr sz="2000">
              <a:solidFill>
                <a:schemeClr val="dk1"/>
              </a:solidFill>
            </a:endParaRPr>
          </a:p>
        </p:txBody>
      </p:sp>
      <p:pic>
        <p:nvPicPr>
          <p:cNvPr id="2" name="Google Shape;519;g36f311d52c8_0_15" descr="A close-up of a dna&#10;&#10;Description automatically generated">
            <a:extLst>
              <a:ext uri="{FF2B5EF4-FFF2-40B4-BE49-F238E27FC236}">
                <a16:creationId xmlns:a16="http://schemas.microsoft.com/office/drawing/2014/main" id="{2B764876-8F72-3439-9E52-5C9ACB776647}"/>
              </a:ext>
            </a:extLst>
          </p:cNvPr>
          <p:cNvPicPr preferRelativeResize="0">
            <a:picLocks noChangeAspect="1"/>
          </p:cNvPicPr>
          <p:nvPr/>
        </p:nvPicPr>
        <p:blipFill rotWithShape="1">
          <a:blip r:embed="rId4">
            <a:alphaModFix/>
          </a:blip>
          <a:srcRect/>
          <a:stretch/>
        </p:blipFill>
        <p:spPr>
          <a:xfrm>
            <a:off x="4977958" y="2046243"/>
            <a:ext cx="3454842" cy="991223"/>
          </a:xfrm>
          <a:prstGeom prst="rect">
            <a:avLst/>
          </a:prstGeom>
          <a:noFill/>
          <a:ln w="9525" cap="flat" cmpd="sng">
            <a:solidFill>
              <a:schemeClr val="dk1"/>
            </a:solidFill>
            <a:prstDash val="solid"/>
            <a:round/>
            <a:headEnd type="none" w="sm" len="sm"/>
            <a:tailEnd type="none" w="sm" len="sm"/>
          </a:ln>
        </p:spPr>
      </p:pic>
      <p:sp>
        <p:nvSpPr>
          <p:cNvPr id="3" name="Google Shape;520;g36f311d52c8_0_15">
            <a:extLst>
              <a:ext uri="{FF2B5EF4-FFF2-40B4-BE49-F238E27FC236}">
                <a16:creationId xmlns:a16="http://schemas.microsoft.com/office/drawing/2014/main" id="{D627BE43-A365-251B-3857-55D2E2AAFCEF}"/>
              </a:ext>
            </a:extLst>
          </p:cNvPr>
          <p:cNvSpPr txBox="1"/>
          <p:nvPr/>
        </p:nvSpPr>
        <p:spPr>
          <a:xfrm>
            <a:off x="4977958" y="1732764"/>
            <a:ext cx="3395575" cy="30773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Anatomy of a standard Illumina library</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21"/>
          <p:cNvSpPr txBox="1">
            <a:spLocks noGrp="1"/>
          </p:cNvSpPr>
          <p:nvPr>
            <p:ph type="title"/>
          </p:nvPr>
        </p:nvSpPr>
        <p:spPr>
          <a:xfrm>
            <a:off x="295951" y="0"/>
            <a:ext cx="84549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Clr>
                <a:schemeClr val="dk1"/>
              </a:buClr>
              <a:buSzPts val="700"/>
              <a:buFont typeface="Arial"/>
              <a:buNone/>
            </a:pPr>
            <a:r>
              <a:rPr lang="en" sz="3000">
                <a:solidFill>
                  <a:schemeClr val="dk1"/>
                </a:solidFill>
                <a:latin typeface="Arial"/>
                <a:ea typeface="Arial"/>
                <a:cs typeface="Arial"/>
                <a:sym typeface="Arial"/>
              </a:rPr>
              <a:t>Step 1: QC</a:t>
            </a:r>
            <a:endParaRPr sz="3000"/>
          </a:p>
        </p:txBody>
      </p:sp>
      <p:sp>
        <p:nvSpPr>
          <p:cNvPr id="546" name="Google Shape;546;p21"/>
          <p:cNvSpPr txBox="1"/>
          <p:nvPr/>
        </p:nvSpPr>
        <p:spPr>
          <a:xfrm>
            <a:off x="124900" y="1148500"/>
            <a:ext cx="3813300" cy="37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dk1"/>
                </a:solidFill>
                <a:latin typeface="Arial"/>
                <a:ea typeface="Arial"/>
                <a:cs typeface="Arial"/>
                <a:sym typeface="Arial"/>
              </a:rPr>
              <a:t>Trim adapters and filter reads based on quality (quality scores, complexity, and length)</a:t>
            </a:r>
            <a:endParaRPr sz="2000" b="0" i="0" u="none" strike="noStrike" cap="none">
              <a:solidFill>
                <a:srgbClr val="000000"/>
              </a:solidFill>
              <a:latin typeface="Helvetica Neue"/>
              <a:ea typeface="Helvetica Neue"/>
              <a:cs typeface="Helvetica Neue"/>
              <a:sym typeface="Helvetica Neue"/>
            </a:endParaRPr>
          </a:p>
        </p:txBody>
      </p:sp>
      <p:pic>
        <p:nvPicPr>
          <p:cNvPr id="547" name="Google Shape;547;p21"/>
          <p:cNvPicPr preferRelativeResize="0"/>
          <p:nvPr/>
        </p:nvPicPr>
        <p:blipFill rotWithShape="1">
          <a:blip r:embed="rId3">
            <a:alphaModFix/>
          </a:blip>
          <a:srcRect/>
          <a:stretch/>
        </p:blipFill>
        <p:spPr>
          <a:xfrm>
            <a:off x="4191500" y="1520800"/>
            <a:ext cx="4765174" cy="325279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22"/>
          <p:cNvSpPr txBox="1">
            <a:spLocks noGrp="1"/>
          </p:cNvSpPr>
          <p:nvPr>
            <p:ph type="title"/>
          </p:nvPr>
        </p:nvSpPr>
        <p:spPr>
          <a:xfrm>
            <a:off x="633450" y="-15240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Clr>
                <a:schemeClr val="dk1"/>
              </a:buClr>
              <a:buSzPts val="700"/>
              <a:buFont typeface="Arial"/>
              <a:buNone/>
            </a:pPr>
            <a:r>
              <a:rPr lang="en" sz="3000">
                <a:solidFill>
                  <a:schemeClr val="dk1"/>
                </a:solidFill>
                <a:latin typeface="Arial"/>
                <a:ea typeface="Arial"/>
                <a:cs typeface="Arial"/>
                <a:sym typeface="Arial"/>
              </a:rPr>
              <a:t>Step 1: QC</a:t>
            </a:r>
            <a:endParaRPr sz="3000"/>
          </a:p>
        </p:txBody>
      </p:sp>
      <p:sp>
        <p:nvSpPr>
          <p:cNvPr id="553" name="Google Shape;553;p22"/>
          <p:cNvSpPr txBox="1">
            <a:spLocks noGrp="1"/>
          </p:cNvSpPr>
          <p:nvPr>
            <p:ph type="body" idx="4294967295"/>
          </p:nvPr>
        </p:nvSpPr>
        <p:spPr>
          <a:xfrm>
            <a:off x="80400" y="1192700"/>
            <a:ext cx="4225200" cy="37566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400"/>
              <a:buNone/>
            </a:pPr>
            <a:r>
              <a:rPr lang="en" sz="2000" b="1">
                <a:solidFill>
                  <a:schemeClr val="dk1"/>
                </a:solidFill>
                <a:latin typeface="Arial"/>
                <a:ea typeface="Arial"/>
                <a:cs typeface="Arial"/>
                <a:sym typeface="Arial"/>
              </a:rPr>
              <a:t>Example Parameters </a:t>
            </a:r>
            <a:r>
              <a:rPr lang="en" sz="2000">
                <a:solidFill>
                  <a:schemeClr val="dk1"/>
                </a:solidFill>
                <a:latin typeface="Arial"/>
                <a:ea typeface="Arial"/>
                <a:cs typeface="Arial"/>
                <a:sym typeface="Arial"/>
              </a:rPr>
              <a:t>(fastp):</a:t>
            </a:r>
            <a:endParaRPr sz="2000">
              <a:solidFill>
                <a:schemeClr val="dk1"/>
              </a:solidFill>
              <a:latin typeface="Arial"/>
              <a:ea typeface="Arial"/>
              <a:cs typeface="Arial"/>
              <a:sym typeface="Arial"/>
            </a:endParaRPr>
          </a:p>
          <a:p>
            <a:pPr marL="400050" lvl="2" indent="-307975" algn="l" rtl="0">
              <a:lnSpc>
                <a:spcPct val="115000"/>
              </a:lnSpc>
              <a:spcBef>
                <a:spcPts val="1000"/>
              </a:spcBef>
              <a:spcAft>
                <a:spcPts val="0"/>
              </a:spcAft>
              <a:buClr>
                <a:srgbClr val="1D1C1D"/>
              </a:buClr>
              <a:buSzPts val="1250"/>
              <a:buFont typeface="Arial"/>
              <a:buChar char="•"/>
            </a:pPr>
            <a:r>
              <a:rPr lang="en" sz="1250" b="1">
                <a:solidFill>
                  <a:srgbClr val="1D1C1D"/>
                </a:solidFill>
                <a:latin typeface="Arial"/>
                <a:ea typeface="Arial"/>
                <a:cs typeface="Arial"/>
                <a:sym typeface="Arial"/>
              </a:rPr>
              <a:t>Qualified_quality_phred</a:t>
            </a:r>
            <a:r>
              <a:rPr lang="en" sz="1250">
                <a:solidFill>
                  <a:srgbClr val="1D1C1D"/>
                </a:solidFill>
                <a:latin typeface="Arial"/>
                <a:ea typeface="Arial"/>
                <a:cs typeface="Arial"/>
                <a:sym typeface="Arial"/>
              </a:rPr>
              <a:t>: (i.e., bases with quality scores above a threshold*)</a:t>
            </a: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24292F"/>
                </a:solidFill>
                <a:latin typeface="Arial"/>
                <a:ea typeface="Arial"/>
                <a:cs typeface="Arial"/>
                <a:sym typeface="Arial"/>
              </a:rPr>
              <a:t>Unqualified_percent_limit:</a:t>
            </a:r>
            <a:r>
              <a:rPr lang="en" sz="1250">
                <a:solidFill>
                  <a:srgbClr val="24292F"/>
                </a:solidFill>
                <a:latin typeface="Arial"/>
                <a:ea typeface="Arial"/>
                <a:cs typeface="Arial"/>
                <a:sym typeface="Arial"/>
              </a:rPr>
              <a:t> </a:t>
            </a:r>
            <a:r>
              <a:rPr lang="en" sz="1250">
                <a:solidFill>
                  <a:srgbClr val="1D1C1D"/>
                </a:solidFill>
                <a:latin typeface="Arial"/>
                <a:ea typeface="Arial"/>
                <a:cs typeface="Arial"/>
                <a:sym typeface="Arial"/>
              </a:rPr>
              <a:t>% of the bases allowed to be unqualified</a:t>
            </a: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1D1C1D"/>
                </a:solidFill>
                <a:latin typeface="Arial"/>
                <a:ea typeface="Arial"/>
                <a:cs typeface="Arial"/>
                <a:sym typeface="Arial"/>
              </a:rPr>
              <a:t>Min read length</a:t>
            </a:r>
            <a:r>
              <a:rPr lang="en" sz="1250">
                <a:solidFill>
                  <a:srgbClr val="1D1C1D"/>
                </a:solidFill>
                <a:latin typeface="Arial"/>
                <a:ea typeface="Arial"/>
                <a:cs typeface="Arial"/>
                <a:sym typeface="Arial"/>
              </a:rPr>
              <a:t>: 35bp (Illumina) 100 (ONT)</a:t>
            </a: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1D1C1D"/>
                </a:solidFill>
                <a:latin typeface="Arial"/>
                <a:ea typeface="Arial"/>
                <a:cs typeface="Arial"/>
                <a:sym typeface="Arial"/>
              </a:rPr>
              <a:t>Low_complexity_filter: </a:t>
            </a:r>
            <a:r>
              <a:rPr lang="en" sz="1250">
                <a:solidFill>
                  <a:srgbClr val="1D1C1D"/>
                </a:solidFill>
                <a:latin typeface="Arial"/>
                <a:ea typeface="Arial"/>
                <a:cs typeface="Arial"/>
                <a:sym typeface="Arial"/>
              </a:rPr>
              <a:t>min % of bases followed by identical base</a:t>
            </a:r>
            <a:endParaRPr sz="1250">
              <a:solidFill>
                <a:srgbClr val="1D1C1D"/>
              </a:solidFill>
              <a:latin typeface="Arial"/>
              <a:ea typeface="Arial"/>
              <a:cs typeface="Arial"/>
              <a:sym typeface="Arial"/>
            </a:endParaRPr>
          </a:p>
          <a:p>
            <a:pPr marL="0" lvl="0" indent="0" algn="l" rtl="0">
              <a:lnSpc>
                <a:spcPct val="115000"/>
              </a:lnSpc>
              <a:spcBef>
                <a:spcPts val="0"/>
              </a:spcBef>
              <a:spcAft>
                <a:spcPts val="0"/>
              </a:spcAft>
              <a:buSzPts val="2400"/>
              <a:buNone/>
            </a:pPr>
            <a:endParaRPr sz="1250">
              <a:solidFill>
                <a:srgbClr val="1D1C1D"/>
              </a:solidFill>
              <a:latin typeface="Arial"/>
              <a:ea typeface="Arial"/>
              <a:cs typeface="Arial"/>
              <a:sym typeface="Arial"/>
            </a:endParaRPr>
          </a:p>
          <a:p>
            <a:pPr marL="0" lvl="0" indent="0" algn="l" rtl="0">
              <a:lnSpc>
                <a:spcPct val="115000"/>
              </a:lnSpc>
              <a:spcBef>
                <a:spcPts val="0"/>
              </a:spcBef>
              <a:spcAft>
                <a:spcPts val="0"/>
              </a:spcAft>
              <a:buSzPts val="2400"/>
              <a:buNone/>
            </a:pPr>
            <a:endParaRPr sz="1250">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endParaRPr sz="1250" b="1">
              <a:solidFill>
                <a:srgbClr val="1D1C1D"/>
              </a:solidFill>
              <a:latin typeface="Arial"/>
              <a:ea typeface="Arial"/>
              <a:cs typeface="Arial"/>
              <a:sym typeface="Arial"/>
            </a:endParaRPr>
          </a:p>
          <a:p>
            <a:pPr marL="1371600" lvl="0" indent="0" algn="l" rtl="0">
              <a:lnSpc>
                <a:spcPct val="115000"/>
              </a:lnSpc>
              <a:spcBef>
                <a:spcPts val="0"/>
              </a:spcBef>
              <a:spcAft>
                <a:spcPts val="0"/>
              </a:spcAft>
              <a:buSzPts val="2400"/>
              <a:buNone/>
            </a:pPr>
            <a:endParaRPr sz="1250" b="1">
              <a:solidFill>
                <a:srgbClr val="1D1C1D"/>
              </a:solidFill>
              <a:latin typeface="Arial"/>
              <a:ea typeface="Arial"/>
              <a:cs typeface="Arial"/>
              <a:sym typeface="Arial"/>
            </a:endParaRPr>
          </a:p>
          <a:p>
            <a:pPr marL="400050" lvl="2" indent="-307975" algn="l" rtl="0">
              <a:lnSpc>
                <a:spcPct val="115000"/>
              </a:lnSpc>
              <a:spcBef>
                <a:spcPts val="0"/>
              </a:spcBef>
              <a:spcAft>
                <a:spcPts val="0"/>
              </a:spcAft>
              <a:buClr>
                <a:srgbClr val="1D1C1D"/>
              </a:buClr>
              <a:buSzPts val="1250"/>
              <a:buFont typeface="Arial"/>
              <a:buChar char="•"/>
            </a:pPr>
            <a:r>
              <a:rPr lang="en" sz="1250" b="1">
                <a:solidFill>
                  <a:srgbClr val="1D1C1D"/>
                </a:solidFill>
                <a:latin typeface="Arial"/>
                <a:ea typeface="Arial"/>
                <a:cs typeface="Arial"/>
                <a:sym typeface="Arial"/>
              </a:rPr>
              <a:t>N_base_limit</a:t>
            </a:r>
            <a:r>
              <a:rPr lang="en" sz="1250">
                <a:solidFill>
                  <a:srgbClr val="1D1C1D"/>
                </a:solidFill>
                <a:latin typeface="Arial"/>
                <a:ea typeface="Arial"/>
                <a:cs typeface="Arial"/>
                <a:sym typeface="Arial"/>
              </a:rPr>
              <a:t>: 15 (i.e., discard reads containing </a:t>
            </a:r>
            <a:endParaRPr sz="1250">
              <a:solidFill>
                <a:srgbClr val="1D1C1D"/>
              </a:solidFill>
              <a:latin typeface="Arial"/>
              <a:ea typeface="Arial"/>
              <a:cs typeface="Arial"/>
              <a:sym typeface="Arial"/>
            </a:endParaRPr>
          </a:p>
          <a:p>
            <a:pPr marL="0" lvl="0" indent="0" algn="l" rtl="0">
              <a:lnSpc>
                <a:spcPct val="115000"/>
              </a:lnSpc>
              <a:spcBef>
                <a:spcPts val="0"/>
              </a:spcBef>
              <a:spcAft>
                <a:spcPts val="0"/>
              </a:spcAft>
              <a:buSzPts val="2400"/>
              <a:buNone/>
            </a:pPr>
            <a:r>
              <a:rPr lang="en" sz="1250">
                <a:solidFill>
                  <a:srgbClr val="1D1C1D"/>
                </a:solidFill>
                <a:latin typeface="Arial"/>
                <a:ea typeface="Arial"/>
                <a:cs typeface="Arial"/>
                <a:sym typeface="Arial"/>
              </a:rPr>
              <a:t>         &gt; 15 Ns) </a:t>
            </a:r>
            <a:endParaRPr sz="2000">
              <a:solidFill>
                <a:schemeClr val="dk1"/>
              </a:solidFill>
              <a:latin typeface="Arial"/>
              <a:ea typeface="Arial"/>
              <a:cs typeface="Arial"/>
              <a:sym typeface="Arial"/>
            </a:endParaRPr>
          </a:p>
        </p:txBody>
      </p:sp>
      <p:sp>
        <p:nvSpPr>
          <p:cNvPr id="554" name="Google Shape;554;p22"/>
          <p:cNvSpPr txBox="1"/>
          <p:nvPr/>
        </p:nvSpPr>
        <p:spPr>
          <a:xfrm>
            <a:off x="0" y="639600"/>
            <a:ext cx="5392500" cy="372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dirty="0">
                <a:solidFill>
                  <a:srgbClr val="000000"/>
                </a:solidFill>
                <a:latin typeface="Helvetica Neue"/>
                <a:ea typeface="Helvetica Neue"/>
                <a:cs typeface="Helvetica Neue"/>
                <a:sym typeface="Helvetica Neue"/>
              </a:rPr>
              <a:t>Example Software </a:t>
            </a:r>
            <a:r>
              <a:rPr lang="en" sz="2000" dirty="0">
                <a:latin typeface="Helvetica Neue"/>
                <a:ea typeface="Helvetica Neue"/>
                <a:cs typeface="Helvetica Neue"/>
                <a:sym typeface="Helvetica Neue"/>
              </a:rPr>
              <a:t>(Illumina)</a:t>
            </a:r>
            <a:r>
              <a:rPr lang="en" sz="2000" b="0" i="0" u="none" strike="noStrike" cap="none" dirty="0">
                <a:solidFill>
                  <a:srgbClr val="000000"/>
                </a:solidFill>
                <a:latin typeface="Helvetica Neue"/>
                <a:ea typeface="Helvetica Neue"/>
                <a:cs typeface="Helvetica Neue"/>
                <a:sym typeface="Helvetica Neue"/>
              </a:rPr>
              <a:t>: </a:t>
            </a:r>
          </a:p>
          <a:p>
            <a:pPr marL="0" marR="0" lvl="0" indent="0" algn="l" rtl="0">
              <a:lnSpc>
                <a:spcPct val="100000"/>
              </a:lnSpc>
              <a:spcBef>
                <a:spcPts val="0"/>
              </a:spcBef>
              <a:spcAft>
                <a:spcPts val="0"/>
              </a:spcAft>
              <a:buClr>
                <a:srgbClr val="000000"/>
              </a:buClr>
              <a:buSzPts val="2000"/>
              <a:buFont typeface="Arial"/>
              <a:buNone/>
            </a:pPr>
            <a:r>
              <a:rPr lang="en" sz="2000" b="0" i="0" u="none" strike="noStrike" cap="none" dirty="0">
                <a:solidFill>
                  <a:schemeClr val="hlink"/>
                </a:solidFill>
                <a:uFill>
                  <a:noFill/>
                </a:uFill>
                <a:latin typeface="Helvetica Neue"/>
                <a:ea typeface="Helvetica Neue"/>
                <a:cs typeface="Helvetica Neue"/>
                <a:sym typeface="Helvetica Neue"/>
                <a:hlinkClick r:id="rId3"/>
              </a:rPr>
              <a:t>fastp</a:t>
            </a:r>
            <a:r>
              <a:rPr lang="en" sz="2000" b="0" i="0" u="none" strike="noStrike" cap="none" dirty="0">
                <a:solidFill>
                  <a:srgbClr val="000000"/>
                </a:solidFill>
                <a:latin typeface="Helvetica Neue"/>
                <a:ea typeface="Helvetica Neue"/>
                <a:cs typeface="Helvetica Neue"/>
                <a:sym typeface="Helvetica Neue"/>
              </a:rPr>
              <a:t>, </a:t>
            </a:r>
            <a:r>
              <a:rPr lang="en" sz="2000" b="0" i="0" u="none" strike="noStrike" cap="none" dirty="0">
                <a:solidFill>
                  <a:schemeClr val="hlink"/>
                </a:solidFill>
                <a:uFill>
                  <a:noFill/>
                </a:uFill>
                <a:latin typeface="Helvetica Neue"/>
                <a:ea typeface="Helvetica Neue"/>
                <a:cs typeface="Helvetica Neue"/>
                <a:sym typeface="Helvetica Neue"/>
                <a:hlinkClick r:id="rId4"/>
              </a:rPr>
              <a:t>Trimmomatic</a:t>
            </a:r>
            <a:endParaRPr sz="2000" b="0" i="0" u="none" strike="noStrike" cap="none" dirty="0">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dirty="0">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dirty="0">
              <a:solidFill>
                <a:srgbClr val="000000"/>
              </a:solidFill>
              <a:latin typeface="Helvetica Neue"/>
              <a:ea typeface="Helvetica Neue"/>
              <a:cs typeface="Helvetica Neue"/>
              <a:sym typeface="Helvetica Neue"/>
            </a:endParaRPr>
          </a:p>
        </p:txBody>
      </p:sp>
      <p:pic>
        <p:nvPicPr>
          <p:cNvPr id="555" name="Google Shape;555;p22"/>
          <p:cNvPicPr preferRelativeResize="0"/>
          <p:nvPr/>
        </p:nvPicPr>
        <p:blipFill rotWithShape="1">
          <a:blip r:embed="rId5">
            <a:alphaModFix/>
          </a:blip>
          <a:srcRect/>
          <a:stretch/>
        </p:blipFill>
        <p:spPr>
          <a:xfrm>
            <a:off x="4681675" y="639600"/>
            <a:ext cx="4309924" cy="2942039"/>
          </a:xfrm>
          <a:prstGeom prst="rect">
            <a:avLst/>
          </a:prstGeom>
          <a:noFill/>
          <a:ln>
            <a:noFill/>
          </a:ln>
        </p:spPr>
      </p:pic>
      <p:pic>
        <p:nvPicPr>
          <p:cNvPr id="556" name="Google Shape;556;p22"/>
          <p:cNvPicPr preferRelativeResize="0"/>
          <p:nvPr/>
        </p:nvPicPr>
        <p:blipFill rotWithShape="1">
          <a:blip r:embed="rId6">
            <a:alphaModFix/>
          </a:blip>
          <a:srcRect/>
          <a:stretch/>
        </p:blipFill>
        <p:spPr>
          <a:xfrm>
            <a:off x="80400" y="3537200"/>
            <a:ext cx="4841974" cy="67525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1" name="Google Shape;561;p23"/>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dirty="0">
                <a:solidFill>
                  <a:schemeClr val="tx1"/>
                </a:solidFill>
              </a:rPr>
              <a:t>Common </a:t>
            </a:r>
            <a:r>
              <a:rPr lang="en" sz="2820" dirty="0" err="1">
                <a:solidFill>
                  <a:schemeClr val="tx1"/>
                </a:solidFill>
              </a:rPr>
              <a:t>mNGS</a:t>
            </a:r>
            <a:r>
              <a:rPr lang="en" sz="2820" dirty="0">
                <a:solidFill>
                  <a:schemeClr val="tx1"/>
                </a:solidFill>
              </a:rPr>
              <a:t> Pipeline </a:t>
            </a:r>
            <a:r>
              <a:rPr lang="en" dirty="0">
                <a:solidFill>
                  <a:schemeClr val="tx1"/>
                </a:solidFill>
              </a:rPr>
              <a:t>Workflow</a:t>
            </a:r>
            <a:endParaRPr sz="2820" dirty="0">
              <a:solidFill>
                <a:schemeClr val="tx1"/>
              </a:solidFill>
            </a:endParaRPr>
          </a:p>
        </p:txBody>
      </p:sp>
      <p:sp>
        <p:nvSpPr>
          <p:cNvPr id="562" name="Google Shape;562;p23"/>
          <p:cNvSpPr/>
          <p:nvPr/>
        </p:nvSpPr>
        <p:spPr>
          <a:xfrm>
            <a:off x="643676" y="89004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3" name="Google Shape;563;p23"/>
          <p:cNvSpPr/>
          <p:nvPr/>
        </p:nvSpPr>
        <p:spPr>
          <a:xfrm>
            <a:off x="643675" y="1640735"/>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4" name="Google Shape;564;p23"/>
          <p:cNvSpPr/>
          <p:nvPr/>
        </p:nvSpPr>
        <p:spPr>
          <a:xfrm>
            <a:off x="643675" y="243142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5" name="Google Shape;565;p23"/>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QC</a:t>
            </a:r>
            <a:endParaRPr sz="1400" b="1" i="0" u="none" strike="noStrike" cap="none">
              <a:solidFill>
                <a:schemeClr val="dk1"/>
              </a:solidFill>
              <a:latin typeface="Arial"/>
              <a:ea typeface="Arial"/>
              <a:cs typeface="Arial"/>
              <a:sym typeface="Arial"/>
            </a:endParaRPr>
          </a:p>
        </p:txBody>
      </p:sp>
      <p:sp>
        <p:nvSpPr>
          <p:cNvPr id="566" name="Google Shape;566;p23"/>
          <p:cNvSpPr txBox="1"/>
          <p:nvPr/>
        </p:nvSpPr>
        <p:spPr>
          <a:xfrm>
            <a:off x="1168226" y="1601735"/>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lt1"/>
                </a:solidFill>
                <a:latin typeface="Arial"/>
                <a:ea typeface="Arial"/>
                <a:cs typeface="Arial"/>
                <a:sym typeface="Arial"/>
              </a:rPr>
              <a:t>Host Filtering</a:t>
            </a:r>
            <a:endParaRPr sz="1400" b="1" i="0" u="none" strike="noStrike" cap="none">
              <a:solidFill>
                <a:schemeClr val="lt1"/>
              </a:solidFill>
              <a:latin typeface="Arial"/>
              <a:ea typeface="Arial"/>
              <a:cs typeface="Arial"/>
              <a:sym typeface="Arial"/>
            </a:endParaRPr>
          </a:p>
        </p:txBody>
      </p:sp>
      <p:sp>
        <p:nvSpPr>
          <p:cNvPr id="567" name="Google Shape;567;p23"/>
          <p:cNvSpPr/>
          <p:nvPr/>
        </p:nvSpPr>
        <p:spPr>
          <a:xfrm>
            <a:off x="643675" y="323564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8" name="Google Shape;568;p23"/>
          <p:cNvSpPr txBox="1"/>
          <p:nvPr/>
        </p:nvSpPr>
        <p:spPr>
          <a:xfrm>
            <a:off x="1039733" y="3204813"/>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569" name="Google Shape;569;p23"/>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0" name="Google Shape;570;p23"/>
          <p:cNvSpPr/>
          <p:nvPr/>
        </p:nvSpPr>
        <p:spPr>
          <a:xfrm>
            <a:off x="1669720" y="2206273"/>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1" name="Google Shape;571;p23"/>
          <p:cNvSpPr/>
          <p:nvPr/>
        </p:nvSpPr>
        <p:spPr>
          <a:xfrm>
            <a:off x="1669718" y="3000040"/>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2" name="Google Shape;572;p23"/>
          <p:cNvSpPr txBox="1"/>
          <p:nvPr/>
        </p:nvSpPr>
        <p:spPr>
          <a:xfrm>
            <a:off x="2132250" y="1458600"/>
            <a:ext cx="6052800" cy="663300"/>
          </a:xfrm>
          <a:prstGeom prst="rect">
            <a:avLst/>
          </a:prstGeom>
          <a:noFill/>
          <a:ln>
            <a:noFill/>
          </a:ln>
        </p:spPr>
        <p:txBody>
          <a:bodyPr spcFirstLastPara="1" wrap="square" lIns="91425" tIns="91425" rIns="91425" bIns="91425" anchor="t" anchorCtr="0">
            <a:noAutofit/>
          </a:bodyPr>
          <a:lstStyle/>
          <a:p>
            <a:pPr marL="91440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Filter out host reads to maximize the microbial signal, reduce false-positives, and protect private information</a:t>
            </a:r>
            <a:endParaRPr sz="1800" b="0" i="0" u="none" strike="noStrike" cap="none">
              <a:solidFill>
                <a:schemeClr val="dk2"/>
              </a:solidFill>
              <a:latin typeface="Arial"/>
              <a:ea typeface="Arial"/>
              <a:cs typeface="Arial"/>
              <a:sym typeface="Arial"/>
            </a:endParaRPr>
          </a:p>
        </p:txBody>
      </p:sp>
      <p:sp>
        <p:nvSpPr>
          <p:cNvPr id="573" name="Google Shape;573;p23"/>
          <p:cNvSpPr txBox="1"/>
          <p:nvPr/>
        </p:nvSpPr>
        <p:spPr>
          <a:xfrm>
            <a:off x="711825" y="2418725"/>
            <a:ext cx="2085900" cy="615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700" b="0" i="0" u="none" strike="noStrike" cap="none">
                <a:solidFill>
                  <a:srgbClr val="000000"/>
                </a:solidFill>
                <a:latin typeface="Arial"/>
                <a:ea typeface="Arial"/>
                <a:cs typeface="Arial"/>
                <a:sym typeface="Arial"/>
              </a:rPr>
              <a:t>Duplicate Removal (</a:t>
            </a:r>
            <a:r>
              <a:rPr lang="en" sz="1700"/>
              <a:t>optional</a:t>
            </a:r>
            <a:r>
              <a:rPr lang="en" sz="1700" b="0" i="0" u="none" strike="noStrike" cap="none">
                <a:solidFill>
                  <a:srgbClr val="000000"/>
                </a:solidFill>
                <a:latin typeface="Arial"/>
                <a:ea typeface="Arial"/>
                <a:cs typeface="Arial"/>
                <a:sym typeface="Arial"/>
              </a:rPr>
              <a:t>)</a:t>
            </a:r>
            <a:endParaRPr sz="1300" b="0" i="0" u="none" strike="noStrike" cap="non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pic>
        <p:nvPicPr>
          <p:cNvPr id="578" name="Google Shape;578;p24"/>
          <p:cNvPicPr preferRelativeResize="0"/>
          <p:nvPr/>
        </p:nvPicPr>
        <p:blipFill rotWithShape="1">
          <a:blip r:embed="rId3">
            <a:alphaModFix/>
          </a:blip>
          <a:srcRect/>
          <a:stretch/>
        </p:blipFill>
        <p:spPr>
          <a:xfrm>
            <a:off x="-140975" y="900575"/>
            <a:ext cx="3814999" cy="3814999"/>
          </a:xfrm>
          <a:prstGeom prst="rect">
            <a:avLst/>
          </a:prstGeom>
          <a:noFill/>
          <a:ln>
            <a:noFill/>
          </a:ln>
        </p:spPr>
      </p:pic>
      <p:sp>
        <p:nvSpPr>
          <p:cNvPr id="579" name="Google Shape;579;p24"/>
          <p:cNvSpPr/>
          <p:nvPr/>
        </p:nvSpPr>
        <p:spPr>
          <a:xfrm>
            <a:off x="947550" y="4867975"/>
            <a:ext cx="246000" cy="2226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0" name="Google Shape;580;p24"/>
          <p:cNvSpPr txBox="1"/>
          <p:nvPr/>
        </p:nvSpPr>
        <p:spPr>
          <a:xfrm>
            <a:off x="1197150" y="4776663"/>
            <a:ext cx="608700" cy="29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Host</a:t>
            </a:r>
            <a:endParaRPr sz="1300" b="0" i="0" u="none" strike="noStrike" cap="none">
              <a:solidFill>
                <a:srgbClr val="000000"/>
              </a:solidFill>
              <a:latin typeface="Arial"/>
              <a:ea typeface="Arial"/>
              <a:cs typeface="Arial"/>
              <a:sym typeface="Arial"/>
            </a:endParaRPr>
          </a:p>
        </p:txBody>
      </p:sp>
      <p:sp>
        <p:nvSpPr>
          <p:cNvPr id="581" name="Google Shape;581;p24"/>
          <p:cNvSpPr/>
          <p:nvPr/>
        </p:nvSpPr>
        <p:spPr>
          <a:xfrm>
            <a:off x="1786847" y="4867975"/>
            <a:ext cx="246000" cy="222600"/>
          </a:xfrm>
          <a:prstGeom prst="ellipse">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2" name="Google Shape;582;p24"/>
          <p:cNvSpPr txBox="1"/>
          <p:nvPr/>
        </p:nvSpPr>
        <p:spPr>
          <a:xfrm>
            <a:off x="2048375" y="4791780"/>
            <a:ext cx="847500" cy="294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000000"/>
                </a:solidFill>
                <a:latin typeface="Arial"/>
                <a:ea typeface="Arial"/>
                <a:cs typeface="Arial"/>
                <a:sym typeface="Arial"/>
              </a:rPr>
              <a:t>Microbial</a:t>
            </a:r>
            <a:endParaRPr sz="1300" b="0" i="0" u="none" strike="noStrike" cap="none">
              <a:solidFill>
                <a:srgbClr val="000000"/>
              </a:solidFill>
              <a:latin typeface="Arial"/>
              <a:ea typeface="Arial"/>
              <a:cs typeface="Arial"/>
              <a:sym typeface="Arial"/>
            </a:endParaRPr>
          </a:p>
        </p:txBody>
      </p:sp>
      <p:sp>
        <p:nvSpPr>
          <p:cNvPr id="583" name="Google Shape;583;p24"/>
          <p:cNvSpPr/>
          <p:nvPr/>
        </p:nvSpPr>
        <p:spPr>
          <a:xfrm rot="-7621457">
            <a:off x="2674222" y="2296002"/>
            <a:ext cx="512162" cy="1005047"/>
          </a:xfrm>
          <a:prstGeom prst="triangle">
            <a:avLst>
              <a:gd name="adj" fmla="val 56319"/>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4" name="Google Shape;584;p24"/>
          <p:cNvSpPr/>
          <p:nvPr/>
        </p:nvSpPr>
        <p:spPr>
          <a:xfrm>
            <a:off x="3103995" y="2025125"/>
            <a:ext cx="768300" cy="744900"/>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5" name="Google Shape;585;p24"/>
          <p:cNvSpPr/>
          <p:nvPr/>
        </p:nvSpPr>
        <p:spPr>
          <a:xfrm rot="3370170">
            <a:off x="1190197" y="2351700"/>
            <a:ext cx="373425" cy="1371322"/>
          </a:xfrm>
          <a:prstGeom prst="triangle">
            <a:avLst>
              <a:gd name="adj" fmla="val 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6" name="Google Shape;586;p24"/>
          <p:cNvSpPr/>
          <p:nvPr/>
        </p:nvSpPr>
        <p:spPr>
          <a:xfrm rot="-7868841">
            <a:off x="363389" y="3099633"/>
            <a:ext cx="754562" cy="758599"/>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7" name="Google Shape;587;p24"/>
          <p:cNvSpPr/>
          <p:nvPr/>
        </p:nvSpPr>
        <p:spPr>
          <a:xfrm rot="-4699237">
            <a:off x="2066807" y="3755420"/>
            <a:ext cx="465334" cy="966908"/>
          </a:xfrm>
          <a:prstGeom prst="triangle">
            <a:avLst>
              <a:gd name="adj" fmla="val 51195"/>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8" name="Google Shape;588;p24"/>
          <p:cNvSpPr/>
          <p:nvPr/>
        </p:nvSpPr>
        <p:spPr>
          <a:xfrm rot="2798470">
            <a:off x="2477142" y="3973256"/>
            <a:ext cx="755500" cy="757599"/>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9" name="Google Shape;589;p24"/>
          <p:cNvSpPr/>
          <p:nvPr/>
        </p:nvSpPr>
        <p:spPr>
          <a:xfrm rot="8980673">
            <a:off x="829809" y="816931"/>
            <a:ext cx="376737" cy="781368"/>
          </a:xfrm>
          <a:prstGeom prst="triangle">
            <a:avLst>
              <a:gd name="adj" fmla="val 0"/>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0" name="Google Shape;590;p24"/>
          <p:cNvSpPr/>
          <p:nvPr/>
        </p:nvSpPr>
        <p:spPr>
          <a:xfrm rot="3546881">
            <a:off x="1137892" y="1527506"/>
            <a:ext cx="375788" cy="986062"/>
          </a:xfrm>
          <a:prstGeom prst="triangle">
            <a:avLst>
              <a:gd name="adj" fmla="val 51195"/>
            </a:avLst>
          </a:prstGeom>
          <a:solidFill>
            <a:schemeClr val="dk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1" name="Google Shape;591;p24"/>
          <p:cNvSpPr/>
          <p:nvPr/>
        </p:nvSpPr>
        <p:spPr>
          <a:xfrm>
            <a:off x="280427" y="341695"/>
            <a:ext cx="768300" cy="744900"/>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2" name="Google Shape;592;p24"/>
          <p:cNvSpPr/>
          <p:nvPr/>
        </p:nvSpPr>
        <p:spPr>
          <a:xfrm>
            <a:off x="292179" y="327487"/>
            <a:ext cx="744600" cy="706800"/>
          </a:xfrm>
          <a:prstGeom prst="arc">
            <a:avLst>
              <a:gd name="adj1" fmla="val 10870514"/>
              <a:gd name="adj2" fmla="val 0"/>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3" name="Google Shape;593;p24"/>
          <p:cNvSpPr/>
          <p:nvPr/>
        </p:nvSpPr>
        <p:spPr>
          <a:xfrm>
            <a:off x="2470883" y="3942411"/>
            <a:ext cx="768300" cy="819600"/>
          </a:xfrm>
          <a:prstGeom prst="arc">
            <a:avLst>
              <a:gd name="adj1" fmla="val 10870514"/>
              <a:gd name="adj2" fmla="val 2147389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4" name="Google Shape;594;p24"/>
          <p:cNvSpPr/>
          <p:nvPr/>
        </p:nvSpPr>
        <p:spPr>
          <a:xfrm rot="-10446138">
            <a:off x="254603" y="2003398"/>
            <a:ext cx="767864" cy="745148"/>
          </a:xfrm>
          <a:prstGeom prst="ellipse">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5" name="Google Shape;595;p24"/>
          <p:cNvSpPr/>
          <p:nvPr/>
        </p:nvSpPr>
        <p:spPr>
          <a:xfrm rot="-538854">
            <a:off x="368425" y="2002491"/>
            <a:ext cx="540020" cy="855401"/>
          </a:xfrm>
          <a:prstGeom prst="arc">
            <a:avLst>
              <a:gd name="adj1" fmla="val 16231257"/>
              <a:gd name="adj2" fmla="val 16823809"/>
            </a:avLst>
          </a:prstGeom>
          <a:solidFill>
            <a:srgbClr val="0070C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6" name="Google Shape;596;p24"/>
          <p:cNvSpPr txBox="1">
            <a:spLocks noGrp="1"/>
          </p:cNvSpPr>
          <p:nvPr>
            <p:ph type="title"/>
          </p:nvPr>
        </p:nvSpPr>
        <p:spPr>
          <a:xfrm>
            <a:off x="2127702" y="71994"/>
            <a:ext cx="5627400" cy="5727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4200"/>
              <a:buNone/>
            </a:pPr>
            <a:r>
              <a:rPr lang="en" sz="3200"/>
              <a:t>Step 2: Host Filtering</a:t>
            </a:r>
            <a:endParaRPr sz="3200">
              <a:latin typeface="Helvetica Neue"/>
              <a:ea typeface="Helvetica Neue"/>
              <a:cs typeface="Helvetica Neue"/>
              <a:sym typeface="Helvetica Neue"/>
            </a:endParaRPr>
          </a:p>
        </p:txBody>
      </p:sp>
      <p:sp>
        <p:nvSpPr>
          <p:cNvPr id="597" name="Google Shape;597;p24"/>
          <p:cNvSpPr/>
          <p:nvPr/>
        </p:nvSpPr>
        <p:spPr>
          <a:xfrm>
            <a:off x="280333" y="310936"/>
            <a:ext cx="768300" cy="819600"/>
          </a:xfrm>
          <a:prstGeom prst="arc">
            <a:avLst>
              <a:gd name="adj1" fmla="val 10870514"/>
              <a:gd name="adj2" fmla="val 21473896"/>
            </a:avLst>
          </a:prstGeom>
          <a:solidFill>
            <a:srgbClr val="4A86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98" name="Google Shape;598;p24"/>
          <p:cNvSpPr txBox="1"/>
          <p:nvPr/>
        </p:nvSpPr>
        <p:spPr>
          <a:xfrm>
            <a:off x="4095332" y="1130520"/>
            <a:ext cx="47547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Data may be dominated by host sequences</a:t>
            </a:r>
            <a:endParaRPr sz="1800" b="0" i="0" u="none" strike="noStrike" cap="none">
              <a:solidFill>
                <a:srgbClr val="000000"/>
              </a:solidFill>
              <a:latin typeface="Arial"/>
              <a:ea typeface="Arial"/>
              <a:cs typeface="Arial"/>
              <a:sym typeface="Arial"/>
            </a:endParaRPr>
          </a:p>
        </p:txBody>
      </p:sp>
      <p:pic>
        <p:nvPicPr>
          <p:cNvPr id="599" name="Google Shape;599;p24"/>
          <p:cNvPicPr preferRelativeResize="0"/>
          <p:nvPr/>
        </p:nvPicPr>
        <p:blipFill rotWithShape="1">
          <a:blip r:embed="rId4">
            <a:alphaModFix/>
          </a:blip>
          <a:srcRect/>
          <a:stretch/>
        </p:blipFill>
        <p:spPr>
          <a:xfrm>
            <a:off x="3989220" y="1534027"/>
            <a:ext cx="4966906" cy="2762918"/>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3"/>
        <p:cNvGrpSpPr/>
        <p:nvPr/>
      </p:nvGrpSpPr>
      <p:grpSpPr>
        <a:xfrm>
          <a:off x="0" y="0"/>
          <a:ext cx="0" cy="0"/>
          <a:chOff x="0" y="0"/>
          <a:chExt cx="0" cy="0"/>
        </a:xfrm>
      </p:grpSpPr>
      <p:sp>
        <p:nvSpPr>
          <p:cNvPr id="604" name="Google Shape;604;p25"/>
          <p:cNvSpPr txBox="1">
            <a:spLocks noGrp="1"/>
          </p:cNvSpPr>
          <p:nvPr>
            <p:ph type="title"/>
          </p:nvPr>
        </p:nvSpPr>
        <p:spPr>
          <a:xfrm>
            <a:off x="350401" y="-47575"/>
            <a:ext cx="84432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2: Host Filtering</a:t>
            </a:r>
            <a:endParaRPr sz="3000"/>
          </a:p>
        </p:txBody>
      </p:sp>
      <p:sp>
        <p:nvSpPr>
          <p:cNvPr id="605" name="Google Shape;605;p25"/>
          <p:cNvSpPr txBox="1"/>
          <p:nvPr/>
        </p:nvSpPr>
        <p:spPr>
          <a:xfrm>
            <a:off x="105850" y="8860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Host read removal through </a:t>
            </a:r>
            <a:r>
              <a:rPr lang="en" sz="2000" b="0" i="0" u="none" strike="noStrike" cap="none">
                <a:solidFill>
                  <a:schemeClr val="dk1"/>
                </a:solidFill>
                <a:latin typeface="Helvetica Neue"/>
                <a:ea typeface="Helvetica Neue"/>
                <a:cs typeface="Helvetica Neue"/>
                <a:sym typeface="Helvetica Neue"/>
              </a:rPr>
              <a:t>s</a:t>
            </a:r>
            <a:r>
              <a:rPr lang="en" sz="2000" b="0" i="0" u="none" strike="noStrike" cap="none">
                <a:solidFill>
                  <a:schemeClr val="dk1"/>
                </a:solidFill>
                <a:latin typeface="Arial"/>
                <a:ea typeface="Arial"/>
                <a:cs typeface="Arial"/>
                <a:sym typeface="Arial"/>
              </a:rPr>
              <a:t>ubtractive alignment against reference.</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p:txBody>
      </p:sp>
      <p:pic>
        <p:nvPicPr>
          <p:cNvPr id="606" name="Google Shape;606;p25"/>
          <p:cNvPicPr preferRelativeResize="0"/>
          <p:nvPr/>
        </p:nvPicPr>
        <p:blipFill rotWithShape="1">
          <a:blip r:embed="rId3">
            <a:alphaModFix/>
          </a:blip>
          <a:srcRect/>
          <a:stretch/>
        </p:blipFill>
        <p:spPr>
          <a:xfrm>
            <a:off x="4499400" y="1797125"/>
            <a:ext cx="4568402" cy="311847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26"/>
          <p:cNvSpPr txBox="1">
            <a:spLocks noGrp="1"/>
          </p:cNvSpPr>
          <p:nvPr>
            <p:ph type="title"/>
          </p:nvPr>
        </p:nvSpPr>
        <p:spPr>
          <a:xfrm>
            <a:off x="350401" y="-123775"/>
            <a:ext cx="84432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2200"/>
              </a:spcBef>
              <a:spcAft>
                <a:spcPts val="0"/>
              </a:spcAft>
              <a:buSzPts val="700"/>
              <a:buNone/>
            </a:pPr>
            <a:r>
              <a:rPr lang="en" sz="3000">
                <a:solidFill>
                  <a:schemeClr val="dk1"/>
                </a:solidFill>
                <a:latin typeface="Arial"/>
                <a:ea typeface="Arial"/>
                <a:cs typeface="Arial"/>
                <a:sym typeface="Arial"/>
              </a:rPr>
              <a:t>Step 2: Host Filtering</a:t>
            </a:r>
            <a:endParaRPr sz="3000"/>
          </a:p>
        </p:txBody>
      </p:sp>
      <p:sp>
        <p:nvSpPr>
          <p:cNvPr id="612" name="Google Shape;612;p26"/>
          <p:cNvSpPr txBox="1">
            <a:spLocks noGrp="1"/>
          </p:cNvSpPr>
          <p:nvPr>
            <p:ph type="body" idx="1"/>
          </p:nvPr>
        </p:nvSpPr>
        <p:spPr>
          <a:xfrm>
            <a:off x="152400" y="2254103"/>
            <a:ext cx="4433700" cy="2889398"/>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Human</a:t>
            </a:r>
            <a:r>
              <a:rPr lang="en" sz="1250">
                <a:solidFill>
                  <a:schemeClr val="dk1"/>
                </a:solidFill>
                <a:latin typeface="Arial"/>
                <a:ea typeface="Arial"/>
                <a:cs typeface="Arial"/>
                <a:sym typeface="Arial"/>
              </a:rPr>
              <a:t>: Reads mapped against </a:t>
            </a:r>
            <a:r>
              <a:rPr lang="en" sz="1250">
                <a:solidFill>
                  <a:srgbClr val="3867FA"/>
                </a:solidFill>
                <a:highlight>
                  <a:srgbClr val="FFFFFF"/>
                </a:highlight>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HG38</a:t>
            </a:r>
            <a:r>
              <a:rPr lang="en" sz="1250">
                <a:solidFill>
                  <a:schemeClr val="dk1"/>
                </a:solidFill>
                <a:highlight>
                  <a:srgbClr val="FFFFFF"/>
                </a:highlight>
                <a:latin typeface="Arial"/>
                <a:ea typeface="Arial"/>
                <a:cs typeface="Arial"/>
                <a:sym typeface="Arial"/>
              </a:rPr>
              <a:t> and/or </a:t>
            </a:r>
            <a:r>
              <a:rPr lang="en" sz="1250">
                <a:solidFill>
                  <a:srgbClr val="3867FA"/>
                </a:solidFill>
                <a:highlight>
                  <a:srgbClr val="FFFFFF"/>
                </a:highlight>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T2T-CHM13</a:t>
            </a:r>
            <a:r>
              <a:rPr lang="en" sz="1250">
                <a:solidFill>
                  <a:schemeClr val="dk1"/>
                </a:solidFill>
                <a:latin typeface="Arial"/>
                <a:ea typeface="Arial"/>
                <a:cs typeface="Arial"/>
                <a:sym typeface="Arial"/>
              </a:rPr>
              <a:t> reference genomes.</a:t>
            </a:r>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Non-human host</a:t>
            </a:r>
            <a:r>
              <a:rPr lang="en" sz="1250">
                <a:solidFill>
                  <a:schemeClr val="dk1"/>
                </a:solidFill>
                <a:latin typeface="Arial"/>
                <a:ea typeface="Arial"/>
                <a:cs typeface="Arial"/>
                <a:sym typeface="Arial"/>
              </a:rPr>
              <a:t>: Reads mapped against reference sequence.</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Bowtie2</a:t>
            </a:r>
            <a:r>
              <a:rPr lang="en" sz="1250">
                <a:solidFill>
                  <a:schemeClr val="dk1"/>
                </a:solidFill>
                <a:latin typeface="Arial"/>
                <a:ea typeface="Arial"/>
                <a:cs typeface="Arial"/>
                <a:sym typeface="Arial"/>
              </a:rPr>
              <a:t>: Optimized for short reads (DNA)</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chemeClr val="dk1"/>
                </a:solidFill>
                <a:latin typeface="Arial"/>
                <a:ea typeface="Arial"/>
                <a:cs typeface="Arial"/>
                <a:sym typeface="Arial"/>
              </a:rPr>
              <a:t>HISAT2</a:t>
            </a:r>
            <a:r>
              <a:rPr lang="en" sz="1250">
                <a:solidFill>
                  <a:schemeClr val="dk1"/>
                </a:solidFill>
                <a:latin typeface="Arial"/>
                <a:ea typeface="Arial"/>
                <a:cs typeface="Arial"/>
                <a:sym typeface="Arial"/>
              </a:rPr>
              <a:t>: Optimized for short reads (DNA and RNA)</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b="1">
                <a:solidFill>
                  <a:srgbClr val="990000"/>
                </a:solidFill>
                <a:latin typeface="Arial"/>
                <a:ea typeface="Arial"/>
                <a:cs typeface="Arial"/>
                <a:sym typeface="Arial"/>
              </a:rPr>
              <a:t>Minimap2</a:t>
            </a:r>
            <a:r>
              <a:rPr lang="en" sz="1250">
                <a:solidFill>
                  <a:schemeClr val="dk1"/>
                </a:solidFill>
                <a:latin typeface="Arial"/>
                <a:ea typeface="Arial"/>
                <a:cs typeface="Arial"/>
                <a:sym typeface="Arial"/>
              </a:rPr>
              <a:t>: Versatile (short- or long-reads, DNA or RNA)</a:t>
            </a: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rgbClr val="3867FA"/>
                </a:solidFill>
                <a:highlight>
                  <a:srgbClr val="FFFFFF"/>
                </a:highlight>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Samtools</a:t>
            </a:r>
            <a:r>
              <a:rPr lang="en" sz="1250">
                <a:solidFill>
                  <a:schemeClr val="dk1"/>
                </a:solidFill>
                <a:highlight>
                  <a:srgbClr val="FFFFFF"/>
                </a:highlight>
                <a:latin typeface="Arial"/>
                <a:ea typeface="Arial"/>
                <a:cs typeface="Arial"/>
                <a:sym typeface="Arial"/>
              </a:rPr>
              <a:t> can be used to keep reads </a:t>
            </a:r>
            <a:r>
              <a:rPr lang="en" sz="1250" i="1">
                <a:solidFill>
                  <a:schemeClr val="dk1"/>
                </a:solidFill>
                <a:highlight>
                  <a:srgbClr val="FFFFFF"/>
                </a:highlight>
                <a:latin typeface="Arial"/>
                <a:ea typeface="Arial"/>
                <a:cs typeface="Arial"/>
                <a:sym typeface="Arial"/>
              </a:rPr>
              <a:t>NOT </a:t>
            </a:r>
            <a:r>
              <a:rPr lang="en" sz="1250">
                <a:solidFill>
                  <a:schemeClr val="dk1"/>
                </a:solidFill>
                <a:highlight>
                  <a:srgbClr val="FFFFFF"/>
                </a:highlight>
                <a:latin typeface="Arial"/>
                <a:ea typeface="Arial"/>
                <a:cs typeface="Arial"/>
                <a:sym typeface="Arial"/>
              </a:rPr>
              <a:t>mapping to the reference genome.</a:t>
            </a:r>
            <a:endParaRPr sz="1250">
              <a:solidFill>
                <a:schemeClr val="dk1"/>
              </a:solidFill>
              <a:highlight>
                <a:srgbClr val="FFFFFF"/>
              </a:highlight>
              <a:latin typeface="Arial"/>
              <a:ea typeface="Arial"/>
              <a:cs typeface="Arial"/>
              <a:sym typeface="Arial"/>
            </a:endParaRPr>
          </a:p>
          <a:p>
            <a:pPr marL="0" marR="154382" lvl="0" indent="0" algn="l" rtl="0">
              <a:lnSpc>
                <a:spcPct val="115000"/>
              </a:lnSpc>
              <a:spcBef>
                <a:spcPts val="0"/>
              </a:spcBef>
              <a:spcAft>
                <a:spcPts val="0"/>
              </a:spcAft>
              <a:buSzPts val="2300"/>
              <a:buNone/>
            </a:pPr>
            <a:endParaRPr sz="1250">
              <a:solidFill>
                <a:schemeClr val="dk1"/>
              </a:solidFill>
              <a:highlight>
                <a:srgbClr val="FFFFFF"/>
              </a:highlight>
              <a:latin typeface="Arial"/>
              <a:ea typeface="Arial"/>
              <a:cs typeface="Arial"/>
              <a:sym typeface="Arial"/>
            </a:endParaRPr>
          </a:p>
        </p:txBody>
      </p:sp>
      <p:sp>
        <p:nvSpPr>
          <p:cNvPr id="613" name="Google Shape;613;p26"/>
          <p:cNvSpPr txBox="1"/>
          <p:nvPr/>
        </p:nvSpPr>
        <p:spPr>
          <a:xfrm>
            <a:off x="105850" y="1033175"/>
            <a:ext cx="57756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Arial"/>
                <a:ea typeface="Arial"/>
                <a:cs typeface="Arial"/>
                <a:sym typeface="Arial"/>
              </a:rPr>
              <a:t>Example Software</a:t>
            </a:r>
            <a:r>
              <a:rPr lang="en" sz="2000" b="0" i="0" u="none" strike="noStrike" cap="none">
                <a:solidFill>
                  <a:srgbClr val="000000"/>
                </a:solidFill>
                <a:latin typeface="Arial"/>
                <a:ea typeface="Arial"/>
                <a:cs typeface="Arial"/>
                <a:sym typeface="Arial"/>
              </a:rPr>
              <a:t>: </a:t>
            </a:r>
            <a:r>
              <a:rPr lang="en" sz="2000" b="0" i="0" u="none" strike="noStrike" cap="none">
                <a:solidFill>
                  <a:schemeClr val="hlink"/>
                </a:solidFill>
                <a:uFill>
                  <a:noFill/>
                </a:uFill>
                <a:latin typeface="Arial"/>
                <a:ea typeface="Arial"/>
                <a:cs typeface="Arial"/>
                <a:sym typeface="Arial"/>
                <a:hlinkClick r:id="rId6"/>
              </a:rPr>
              <a:t>Bowtie</a:t>
            </a:r>
            <a:r>
              <a:rPr lang="en" sz="2000" b="0" i="0" u="none" strike="noStrike" cap="none">
                <a:solidFill>
                  <a:schemeClr val="hlink"/>
                </a:solidFill>
                <a:latin typeface="Arial"/>
                <a:ea typeface="Arial"/>
                <a:cs typeface="Arial"/>
                <a:sym typeface="Arial"/>
              </a:rPr>
              <a:t>2, </a:t>
            </a:r>
            <a:r>
              <a:rPr lang="en" sz="2000" b="0" i="0" u="none" strike="noStrike" cap="none">
                <a:solidFill>
                  <a:schemeClr val="hlink"/>
                </a:solidFill>
                <a:uFill>
                  <a:noFill/>
                </a:uFill>
                <a:latin typeface="Arial"/>
                <a:ea typeface="Arial"/>
                <a:cs typeface="Arial"/>
                <a:sym typeface="Arial"/>
                <a:hlinkClick r:id="rId7"/>
              </a:rPr>
              <a:t>minimap2</a:t>
            </a:r>
            <a:r>
              <a:rPr lang="en" sz="2000" b="0" i="0" u="none" strike="noStrike" cap="none">
                <a:solidFill>
                  <a:schemeClr val="dk1"/>
                </a:solidFill>
                <a:latin typeface="Arial"/>
                <a:ea typeface="Arial"/>
                <a:cs typeface="Arial"/>
                <a:sym typeface="Arial"/>
              </a:rPr>
              <a:t>, </a:t>
            </a:r>
            <a:r>
              <a:rPr lang="en" sz="2000" b="0" i="0" u="none" strike="noStrike" cap="none">
                <a:solidFill>
                  <a:schemeClr val="hlink"/>
                </a:solidFill>
                <a:uFill>
                  <a:noFill/>
                </a:uFill>
                <a:latin typeface="Arial"/>
                <a:ea typeface="Arial"/>
                <a:cs typeface="Arial"/>
                <a:sym typeface="Arial"/>
                <a:hlinkClick r:id="rId8"/>
              </a:rPr>
              <a:t>HISAT2</a:t>
            </a:r>
            <a:endParaRPr sz="20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Arial"/>
              <a:ea typeface="Arial"/>
              <a:cs typeface="Arial"/>
              <a:sym typeface="Arial"/>
            </a:endParaRPr>
          </a:p>
        </p:txBody>
      </p:sp>
      <p:pic>
        <p:nvPicPr>
          <p:cNvPr id="614" name="Google Shape;614;p26"/>
          <p:cNvPicPr preferRelativeResize="0"/>
          <p:nvPr/>
        </p:nvPicPr>
        <p:blipFill rotWithShape="1">
          <a:blip r:embed="rId9">
            <a:alphaModFix/>
          </a:blip>
          <a:srcRect/>
          <a:stretch/>
        </p:blipFill>
        <p:spPr>
          <a:xfrm>
            <a:off x="4469748" y="1950825"/>
            <a:ext cx="4568402" cy="311847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619" name="Google Shape;619;p27"/>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dirty="0">
                <a:solidFill>
                  <a:schemeClr val="tx1"/>
                </a:solidFill>
              </a:rPr>
              <a:t>Common </a:t>
            </a:r>
            <a:r>
              <a:rPr lang="en" sz="2820" dirty="0" err="1">
                <a:solidFill>
                  <a:schemeClr val="tx1"/>
                </a:solidFill>
              </a:rPr>
              <a:t>mNGS</a:t>
            </a:r>
            <a:r>
              <a:rPr lang="en" sz="2820" dirty="0">
                <a:solidFill>
                  <a:schemeClr val="tx1"/>
                </a:solidFill>
              </a:rPr>
              <a:t> Pipeline </a:t>
            </a:r>
            <a:r>
              <a:rPr lang="en" dirty="0">
                <a:solidFill>
                  <a:schemeClr val="tx1"/>
                </a:solidFill>
              </a:rPr>
              <a:t>Workflow</a:t>
            </a:r>
            <a:endParaRPr sz="2820" dirty="0">
              <a:solidFill>
                <a:schemeClr val="tx1"/>
              </a:solidFill>
            </a:endParaRPr>
          </a:p>
        </p:txBody>
      </p:sp>
      <p:sp>
        <p:nvSpPr>
          <p:cNvPr id="620" name="Google Shape;620;p27"/>
          <p:cNvSpPr/>
          <p:nvPr/>
        </p:nvSpPr>
        <p:spPr>
          <a:xfrm>
            <a:off x="643676" y="89004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1" name="Google Shape;621;p27"/>
          <p:cNvSpPr/>
          <p:nvPr/>
        </p:nvSpPr>
        <p:spPr>
          <a:xfrm>
            <a:off x="643675" y="1683569"/>
            <a:ext cx="2275500" cy="568500"/>
          </a:xfrm>
          <a:prstGeom prst="roundRect">
            <a:avLst>
              <a:gd name="adj" fmla="val 16667"/>
            </a:avLst>
          </a:prstGeom>
          <a:solidFill>
            <a:schemeClr val="lt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2" name="Google Shape;622;p27"/>
          <p:cNvSpPr/>
          <p:nvPr/>
        </p:nvSpPr>
        <p:spPr>
          <a:xfrm>
            <a:off x="643675" y="2496269"/>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3" name="Google Shape;623;p27"/>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QC</a:t>
            </a:r>
            <a:endParaRPr sz="1400" b="1" i="0" u="none" strike="noStrike" cap="none">
              <a:solidFill>
                <a:schemeClr val="dk1"/>
              </a:solidFill>
              <a:latin typeface="Arial"/>
              <a:ea typeface="Arial"/>
              <a:cs typeface="Arial"/>
              <a:sym typeface="Arial"/>
            </a:endParaRPr>
          </a:p>
        </p:txBody>
      </p:sp>
      <p:sp>
        <p:nvSpPr>
          <p:cNvPr id="624" name="Google Shape;624;p27"/>
          <p:cNvSpPr txBox="1"/>
          <p:nvPr/>
        </p:nvSpPr>
        <p:spPr>
          <a:xfrm>
            <a:off x="1168226" y="1674100"/>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Host Filtering</a:t>
            </a:r>
            <a:endParaRPr sz="1400" b="1" i="0" u="none" strike="noStrike" cap="none">
              <a:solidFill>
                <a:schemeClr val="dk1"/>
              </a:solidFill>
              <a:latin typeface="Arial"/>
              <a:ea typeface="Arial"/>
              <a:cs typeface="Arial"/>
              <a:sym typeface="Arial"/>
            </a:endParaRPr>
          </a:p>
        </p:txBody>
      </p:sp>
      <p:sp>
        <p:nvSpPr>
          <p:cNvPr id="625" name="Google Shape;625;p27"/>
          <p:cNvSpPr txBox="1"/>
          <p:nvPr/>
        </p:nvSpPr>
        <p:spPr>
          <a:xfrm>
            <a:off x="866325" y="2503175"/>
            <a:ext cx="1776900" cy="5232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b="1" i="0" u="none" strike="noStrike" cap="none">
                <a:solidFill>
                  <a:schemeClr val="lt1"/>
                </a:solidFill>
                <a:latin typeface="Arial"/>
                <a:ea typeface="Arial"/>
                <a:cs typeface="Arial"/>
                <a:sym typeface="Arial"/>
              </a:rPr>
              <a:t>Duplicate Removal (optional)</a:t>
            </a:r>
            <a:endParaRPr sz="1000" b="1" i="0" u="none" strike="noStrike" cap="none">
              <a:solidFill>
                <a:schemeClr val="lt1"/>
              </a:solidFill>
              <a:latin typeface="Arial"/>
              <a:ea typeface="Arial"/>
              <a:cs typeface="Arial"/>
              <a:sym typeface="Arial"/>
            </a:endParaRPr>
          </a:p>
        </p:txBody>
      </p:sp>
      <p:sp>
        <p:nvSpPr>
          <p:cNvPr id="626" name="Google Shape;626;p27"/>
          <p:cNvSpPr/>
          <p:nvPr/>
        </p:nvSpPr>
        <p:spPr>
          <a:xfrm>
            <a:off x="643675" y="330048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7" name="Google Shape;627;p27"/>
          <p:cNvSpPr txBox="1"/>
          <p:nvPr/>
        </p:nvSpPr>
        <p:spPr>
          <a:xfrm>
            <a:off x="1039733" y="3269658"/>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628" name="Google Shape;628;p27"/>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29" name="Google Shape;629;p27"/>
          <p:cNvSpPr/>
          <p:nvPr/>
        </p:nvSpPr>
        <p:spPr>
          <a:xfrm>
            <a:off x="1669720" y="2259764"/>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0" name="Google Shape;630;p27"/>
          <p:cNvSpPr/>
          <p:nvPr/>
        </p:nvSpPr>
        <p:spPr>
          <a:xfrm>
            <a:off x="1669718" y="306488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31" name="Google Shape;631;p27"/>
          <p:cNvSpPr txBox="1"/>
          <p:nvPr/>
        </p:nvSpPr>
        <p:spPr>
          <a:xfrm>
            <a:off x="2132250" y="2429213"/>
            <a:ext cx="6052800" cy="663300"/>
          </a:xfrm>
          <a:prstGeom prst="rect">
            <a:avLst/>
          </a:prstGeom>
          <a:noFill/>
          <a:ln>
            <a:noFill/>
          </a:ln>
        </p:spPr>
        <p:txBody>
          <a:bodyPr spcFirstLastPara="1" wrap="square" lIns="91425" tIns="91425" rIns="91425" bIns="91425" anchor="t" anchorCtr="0">
            <a:noAutofit/>
          </a:bodyPr>
          <a:lstStyle/>
          <a:p>
            <a:pPr marL="91440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Cluster duplicate reads to lower computational burden (optional)</a:t>
            </a:r>
            <a:endParaRPr sz="1800" b="0" i="0" u="none" strike="noStrike" cap="none">
              <a:solidFill>
                <a:schemeClr val="dk2"/>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5"/>
        <p:cNvGrpSpPr/>
        <p:nvPr/>
      </p:nvGrpSpPr>
      <p:grpSpPr>
        <a:xfrm>
          <a:off x="0" y="0"/>
          <a:ext cx="0" cy="0"/>
          <a:chOff x="0" y="0"/>
          <a:chExt cx="0" cy="0"/>
        </a:xfrm>
      </p:grpSpPr>
      <p:sp>
        <p:nvSpPr>
          <p:cNvPr id="636" name="Google Shape;636;p28"/>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dirty="0">
                <a:latin typeface="Arial"/>
                <a:ea typeface="Arial"/>
                <a:cs typeface="Arial"/>
                <a:sym typeface="Arial"/>
              </a:rPr>
              <a:t>Step 3: Clustering duplicates</a:t>
            </a:r>
            <a:endParaRPr sz="2800" dirty="0">
              <a:latin typeface="Arial"/>
              <a:ea typeface="Arial"/>
              <a:cs typeface="Arial"/>
              <a:sym typeface="Arial"/>
            </a:endParaRPr>
          </a:p>
        </p:txBody>
      </p:sp>
      <p:sp>
        <p:nvSpPr>
          <p:cNvPr id="637" name="Google Shape;637;p28"/>
          <p:cNvSpPr txBox="1">
            <a:spLocks noGrp="1"/>
          </p:cNvSpPr>
          <p:nvPr>
            <p:ph type="body" idx="1"/>
          </p:nvPr>
        </p:nvSpPr>
        <p:spPr>
          <a:xfrm>
            <a:off x="930949" y="1745550"/>
            <a:ext cx="7579563" cy="33054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a:solidFill>
                  <a:schemeClr val="dk1"/>
                </a:solidFill>
                <a:latin typeface="Arial"/>
                <a:ea typeface="Arial"/>
                <a:cs typeface="Arial"/>
                <a:sym typeface="Arial"/>
              </a:rPr>
              <a:t>Software to:</a:t>
            </a:r>
            <a:endParaRPr sz="2000">
              <a:solidFill>
                <a:schemeClr val="dk1"/>
              </a:solidFill>
              <a:latin typeface="Arial"/>
              <a:ea typeface="Arial"/>
              <a:cs typeface="Arial"/>
              <a:sym typeface="Arial"/>
            </a:endParaRPr>
          </a:p>
          <a:p>
            <a:pPr marL="514350" marR="154382" lvl="2" indent="-387350" algn="l" rtl="0">
              <a:lnSpc>
                <a:spcPct val="150000"/>
              </a:lnSpc>
              <a:spcBef>
                <a:spcPts val="2200"/>
              </a:spcBef>
              <a:spcAft>
                <a:spcPts val="0"/>
              </a:spcAft>
              <a:buClr>
                <a:schemeClr val="dk1"/>
              </a:buClr>
              <a:buSzPts val="2500"/>
              <a:buFont typeface="Arial"/>
              <a:buChar char="•"/>
            </a:pPr>
            <a:r>
              <a:rPr lang="en" sz="2000">
                <a:solidFill>
                  <a:schemeClr val="dk1"/>
                </a:solidFill>
                <a:latin typeface="Arial"/>
                <a:ea typeface="Arial"/>
                <a:cs typeface="Arial"/>
                <a:sym typeface="Arial"/>
              </a:rPr>
              <a:t>Identify and cluster duplicate sequences </a:t>
            </a:r>
            <a:r>
              <a:rPr lang="en" sz="2000">
                <a:solidFill>
                  <a:schemeClr val="dk1"/>
                </a:solidFill>
              </a:rPr>
              <a:t>(i.e., deduplication)</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1371600" lvl="0" indent="0" algn="l" rtl="0">
              <a:lnSpc>
                <a:spcPct val="150000"/>
              </a:lnSpc>
              <a:spcBef>
                <a:spcPts val="2200"/>
              </a:spcBef>
              <a:spcAft>
                <a:spcPts val="0"/>
              </a:spcAft>
              <a:buSzPts val="2300"/>
              <a:buNone/>
            </a:pPr>
            <a:endParaRPr sz="2000">
              <a:solidFill>
                <a:schemeClr val="dk1"/>
              </a:solidFill>
              <a:latin typeface="Arial"/>
              <a:ea typeface="Arial"/>
              <a:cs typeface="Arial"/>
              <a:sym typeface="Arial"/>
            </a:endParaRPr>
          </a:p>
          <a:p>
            <a:pPr marL="1371600" lvl="0" indent="0" algn="l" rtl="0">
              <a:lnSpc>
                <a:spcPct val="150000"/>
              </a:lnSpc>
              <a:spcBef>
                <a:spcPts val="2200"/>
              </a:spcBef>
              <a:spcAft>
                <a:spcPts val="0"/>
              </a:spcAft>
              <a:buSzPts val="2300"/>
              <a:buNone/>
            </a:pPr>
            <a:endParaRPr sz="2000">
              <a:solidFill>
                <a:schemeClr val="dk1"/>
              </a:solidFill>
              <a:latin typeface="Arial"/>
              <a:ea typeface="Arial"/>
              <a:cs typeface="Arial"/>
              <a:sym typeface="Arial"/>
            </a:endParaRPr>
          </a:p>
          <a:p>
            <a:pPr marL="1371600" lvl="0" indent="0" algn="l" rtl="0">
              <a:lnSpc>
                <a:spcPct val="100000"/>
              </a:lnSpc>
              <a:spcBef>
                <a:spcPts val="2200"/>
              </a:spcBef>
              <a:spcAft>
                <a:spcPts val="0"/>
              </a:spcAft>
              <a:buSzPts val="2300"/>
              <a:buNone/>
            </a:pPr>
            <a:endParaRPr sz="2000">
              <a:solidFill>
                <a:schemeClr val="dk1"/>
              </a:solidFill>
              <a:latin typeface="Arial"/>
              <a:ea typeface="Arial"/>
              <a:cs typeface="Arial"/>
              <a:sym typeface="Arial"/>
            </a:endParaRPr>
          </a:p>
          <a:p>
            <a:pPr marL="1371600" lvl="0" indent="0" algn="l" rtl="0">
              <a:lnSpc>
                <a:spcPct val="100000"/>
              </a:lnSpc>
              <a:spcBef>
                <a:spcPts val="2200"/>
              </a:spcBef>
              <a:spcAft>
                <a:spcPts val="0"/>
              </a:spcAft>
              <a:buSzPts val="2300"/>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41"/>
        <p:cNvGrpSpPr/>
        <p:nvPr/>
      </p:nvGrpSpPr>
      <p:grpSpPr>
        <a:xfrm>
          <a:off x="0" y="0"/>
          <a:ext cx="0" cy="0"/>
          <a:chOff x="0" y="0"/>
          <a:chExt cx="0" cy="0"/>
        </a:xfrm>
      </p:grpSpPr>
      <p:sp>
        <p:nvSpPr>
          <p:cNvPr id="642" name="Google Shape;642;p29"/>
          <p:cNvSpPr txBox="1">
            <a:spLocks noGrp="1"/>
          </p:cNvSpPr>
          <p:nvPr>
            <p:ph type="title"/>
          </p:nvPr>
        </p:nvSpPr>
        <p:spPr>
          <a:xfrm>
            <a:off x="350401" y="-47575"/>
            <a:ext cx="8443200" cy="857400"/>
          </a:xfrm>
          <a:prstGeom prst="rect">
            <a:avLst/>
          </a:prstGeom>
          <a:noFill/>
          <a:ln>
            <a:noFill/>
          </a:ln>
        </p:spPr>
        <p:txBody>
          <a:bodyPr spcFirstLastPara="1" wrap="square" lIns="19050" tIns="19050" rIns="19050" bIns="19050" anchor="ctr" anchorCtr="0">
            <a:noAutofit/>
          </a:bodyPr>
          <a:lstStyle/>
          <a:p>
            <a:pPr lvl="0">
              <a:spcBef>
                <a:spcPts val="2200"/>
              </a:spcBef>
            </a:pPr>
            <a:r>
              <a:rPr lang="en" sz="3200" dirty="0">
                <a:latin typeface="Arial"/>
                <a:ea typeface="Arial"/>
                <a:cs typeface="Arial"/>
                <a:sym typeface="Arial"/>
              </a:rPr>
              <a:t>Step 3: Clustering duplicates</a:t>
            </a:r>
            <a:endParaRPr sz="3000" dirty="0"/>
          </a:p>
        </p:txBody>
      </p:sp>
      <p:sp>
        <p:nvSpPr>
          <p:cNvPr id="643" name="Google Shape;643;p29"/>
          <p:cNvSpPr txBox="1"/>
          <p:nvPr/>
        </p:nvSpPr>
        <p:spPr>
          <a:xfrm>
            <a:off x="105850" y="10384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Example Software</a:t>
            </a:r>
            <a:r>
              <a:rPr lang="en" sz="2000" b="0" i="0" u="none" strike="noStrike" cap="none">
                <a:solidFill>
                  <a:srgbClr val="000000"/>
                </a:solidFill>
                <a:latin typeface="Helvetica Neue"/>
                <a:ea typeface="Helvetica Neue"/>
                <a:cs typeface="Helvetica Neue"/>
                <a:sym typeface="Helvetica Neue"/>
              </a:rPr>
              <a:t>: </a:t>
            </a:r>
            <a:r>
              <a:rPr lang="en" sz="2000" b="0" i="0" u="sng" strike="noStrike" cap="none">
                <a:solidFill>
                  <a:schemeClr val="hlink"/>
                </a:solidFill>
                <a:latin typeface="Helvetica Neue"/>
                <a:ea typeface="Helvetica Neue"/>
                <a:cs typeface="Helvetica Neue"/>
                <a:sym typeface="Helvetica Neue"/>
                <a:hlinkClick r:id="rId3"/>
              </a:rPr>
              <a:t>CD-HIT-DUP</a:t>
            </a:r>
            <a:endParaRPr sz="2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p:txBody>
      </p:sp>
      <p:sp>
        <p:nvSpPr>
          <p:cNvPr id="644" name="Google Shape;644;p29"/>
          <p:cNvSpPr txBox="1">
            <a:spLocks noGrp="1"/>
          </p:cNvSpPr>
          <p:nvPr>
            <p:ph type="body" idx="1"/>
          </p:nvPr>
        </p:nvSpPr>
        <p:spPr>
          <a:xfrm>
            <a:off x="182050" y="2311625"/>
            <a:ext cx="4433700" cy="2661900"/>
          </a:xfrm>
          <a:prstGeom prst="rect">
            <a:avLst/>
          </a:prstGeom>
          <a:noFill/>
          <a:ln>
            <a:noFill/>
          </a:ln>
        </p:spPr>
        <p:txBody>
          <a:bodyPr spcFirstLastPara="1" wrap="square" lIns="19050" tIns="19050" rIns="19050" bIns="19050" anchor="ctr" anchorCtr="0">
            <a:noAutofit/>
          </a:bodyPr>
          <a:lstStyle/>
          <a:p>
            <a:pPr marL="0" marR="154382" lvl="0" indent="0" algn="l" rtl="0">
              <a:lnSpc>
                <a:spcPct val="115000"/>
              </a:lnSpc>
              <a:spcBef>
                <a:spcPts val="2200"/>
              </a:spcBef>
              <a:spcAft>
                <a:spcPts val="0"/>
              </a:spcAft>
              <a:buSzPts val="23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Reads are clustered based on specified identity threshold and only representative reads from each cluster are used in downstream analysis. </a:t>
            </a:r>
            <a:endParaRPr sz="1250">
              <a:solidFill>
                <a:schemeClr val="dk1"/>
              </a:solidFill>
              <a:latin typeface="Arial"/>
              <a:ea typeface="Arial"/>
              <a:cs typeface="Arial"/>
              <a:sym typeface="Arial"/>
            </a:endParaRPr>
          </a:p>
          <a:p>
            <a:pPr marL="1828800" marR="154382" lvl="0" indent="0" algn="l" rtl="0">
              <a:lnSpc>
                <a:spcPct val="115000"/>
              </a:lnSpc>
              <a:spcBef>
                <a:spcPts val="0"/>
              </a:spcBef>
              <a:spcAft>
                <a:spcPts val="0"/>
              </a:spcAft>
              <a:buSzPts val="2300"/>
              <a:buNone/>
            </a:pP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Cluster information can be retained to calculate non-deduplicated values</a:t>
            </a:r>
            <a:endParaRPr sz="1250"/>
          </a:p>
        </p:txBody>
      </p:sp>
      <p:pic>
        <p:nvPicPr>
          <p:cNvPr id="645" name="Google Shape;645;p29" title="deduplication.png"/>
          <p:cNvPicPr preferRelativeResize="0"/>
          <p:nvPr/>
        </p:nvPicPr>
        <p:blipFill rotWithShape="1">
          <a:blip r:embed="rId4">
            <a:alphaModFix/>
          </a:blip>
          <a:srcRect/>
          <a:stretch/>
        </p:blipFill>
        <p:spPr>
          <a:xfrm>
            <a:off x="4552300" y="1817325"/>
            <a:ext cx="4472151" cy="30527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g3568970961c_0_15"/>
          <p:cNvSpPr txBox="1">
            <a:spLocks noGrp="1"/>
          </p:cNvSpPr>
          <p:nvPr>
            <p:ph type="title"/>
          </p:nvPr>
        </p:nvSpPr>
        <p:spPr>
          <a:xfrm>
            <a:off x="350401" y="-47575"/>
            <a:ext cx="8443200" cy="857400"/>
          </a:xfrm>
          <a:prstGeom prst="rect">
            <a:avLst/>
          </a:prstGeom>
          <a:noFill/>
          <a:ln>
            <a:noFill/>
          </a:ln>
        </p:spPr>
        <p:txBody>
          <a:bodyPr spcFirstLastPara="1" wrap="square" lIns="19050" tIns="19050" rIns="19050" bIns="19050" anchor="ctr" anchorCtr="0">
            <a:noAutofit/>
          </a:bodyPr>
          <a:lstStyle/>
          <a:p>
            <a:pPr lvl="0">
              <a:spcBef>
                <a:spcPts val="2200"/>
              </a:spcBef>
            </a:pPr>
            <a:r>
              <a:rPr lang="en" sz="3200" dirty="0">
                <a:latin typeface="Arial"/>
                <a:ea typeface="Arial"/>
                <a:cs typeface="Arial"/>
                <a:sym typeface="Arial"/>
              </a:rPr>
              <a:t>Step 3: Clustering duplicates</a:t>
            </a:r>
            <a:endParaRPr sz="3000" dirty="0"/>
          </a:p>
        </p:txBody>
      </p:sp>
      <p:sp>
        <p:nvSpPr>
          <p:cNvPr id="651" name="Google Shape;651;g3568970961c_0_15"/>
          <p:cNvSpPr txBox="1"/>
          <p:nvPr/>
        </p:nvSpPr>
        <p:spPr>
          <a:xfrm>
            <a:off x="105850" y="10384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Example Software</a:t>
            </a:r>
            <a:r>
              <a:rPr lang="en" sz="2000" b="0" i="0" u="none" strike="noStrike" cap="none">
                <a:solidFill>
                  <a:srgbClr val="000000"/>
                </a:solidFill>
                <a:latin typeface="Helvetica Neue"/>
                <a:ea typeface="Helvetica Neue"/>
                <a:cs typeface="Helvetica Neue"/>
                <a:sym typeface="Helvetica Neue"/>
              </a:rPr>
              <a:t>: </a:t>
            </a:r>
            <a:r>
              <a:rPr lang="en" sz="2000" b="0" i="0" u="sng" strike="noStrike" cap="none">
                <a:solidFill>
                  <a:schemeClr val="hlink"/>
                </a:solidFill>
                <a:latin typeface="Helvetica Neue"/>
                <a:ea typeface="Helvetica Neue"/>
                <a:cs typeface="Helvetica Neue"/>
                <a:sym typeface="Helvetica Neue"/>
                <a:hlinkClick r:id="rId3"/>
              </a:rPr>
              <a:t>CD-HIT-DUP</a:t>
            </a:r>
            <a:endParaRPr sz="2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p:txBody>
      </p:sp>
      <p:sp>
        <p:nvSpPr>
          <p:cNvPr id="652" name="Google Shape;652;g3568970961c_0_15"/>
          <p:cNvSpPr txBox="1">
            <a:spLocks noGrp="1"/>
          </p:cNvSpPr>
          <p:nvPr>
            <p:ph type="body" idx="1"/>
          </p:nvPr>
        </p:nvSpPr>
        <p:spPr>
          <a:xfrm>
            <a:off x="182050" y="2311625"/>
            <a:ext cx="4433700" cy="2661900"/>
          </a:xfrm>
          <a:prstGeom prst="rect">
            <a:avLst/>
          </a:prstGeom>
          <a:noFill/>
          <a:ln>
            <a:noFill/>
          </a:ln>
        </p:spPr>
        <p:txBody>
          <a:bodyPr spcFirstLastPara="1" wrap="square" lIns="19050" tIns="19050" rIns="19050" bIns="19050" anchor="ctr" anchorCtr="0">
            <a:noAutofit/>
          </a:bodyPr>
          <a:lstStyle/>
          <a:p>
            <a:pPr marL="0" marR="154382" lvl="0" indent="0" algn="l" rtl="0">
              <a:lnSpc>
                <a:spcPct val="115000"/>
              </a:lnSpc>
              <a:spcBef>
                <a:spcPts val="2200"/>
              </a:spcBef>
              <a:spcAft>
                <a:spcPts val="0"/>
              </a:spcAft>
              <a:buSzPts val="23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Reads are clustered based on specified identity threshold and only representative reads from each cluster are used in downstream analysis. </a:t>
            </a:r>
            <a:endParaRPr sz="1250">
              <a:solidFill>
                <a:schemeClr val="dk1"/>
              </a:solidFill>
              <a:latin typeface="Arial"/>
              <a:ea typeface="Arial"/>
              <a:cs typeface="Arial"/>
              <a:sym typeface="Arial"/>
            </a:endParaRPr>
          </a:p>
          <a:p>
            <a:pPr marL="1828800" marR="154382" lvl="0" indent="0" algn="l" rtl="0">
              <a:lnSpc>
                <a:spcPct val="115000"/>
              </a:lnSpc>
              <a:spcBef>
                <a:spcPts val="0"/>
              </a:spcBef>
              <a:spcAft>
                <a:spcPts val="0"/>
              </a:spcAft>
              <a:buSzPts val="2300"/>
              <a:buNone/>
            </a:pPr>
            <a:endParaRPr sz="1250">
              <a:solidFill>
                <a:schemeClr val="dk1"/>
              </a:solidFill>
              <a:latin typeface="Arial"/>
              <a:ea typeface="Arial"/>
              <a:cs typeface="Arial"/>
              <a:sym typeface="Arial"/>
            </a:endParaRPr>
          </a:p>
          <a:p>
            <a:pPr marL="400050" marR="154382" lvl="3" indent="-307975" algn="l" rtl="0">
              <a:lnSpc>
                <a:spcPct val="115000"/>
              </a:lnSpc>
              <a:spcBef>
                <a:spcPts val="0"/>
              </a:spcBef>
              <a:spcAft>
                <a:spcPts val="0"/>
              </a:spcAft>
              <a:buClr>
                <a:schemeClr val="dk1"/>
              </a:buClr>
              <a:buSzPts val="1250"/>
              <a:buFont typeface="Arial"/>
              <a:buChar char="•"/>
            </a:pPr>
            <a:r>
              <a:rPr lang="en" sz="1250">
                <a:solidFill>
                  <a:schemeClr val="dk1"/>
                </a:solidFill>
                <a:latin typeface="Arial"/>
                <a:ea typeface="Arial"/>
                <a:cs typeface="Arial"/>
                <a:sym typeface="Arial"/>
              </a:rPr>
              <a:t>Cluster information can be retained to calculate non-deduplicated values</a:t>
            </a:r>
            <a:endParaRPr sz="1250"/>
          </a:p>
        </p:txBody>
      </p:sp>
      <p:pic>
        <p:nvPicPr>
          <p:cNvPr id="653" name="Google Shape;653;g3568970961c_0_15"/>
          <p:cNvPicPr preferRelativeResize="0"/>
          <p:nvPr/>
        </p:nvPicPr>
        <p:blipFill rotWithShape="1">
          <a:blip r:embed="rId4">
            <a:alphaModFix/>
          </a:blip>
          <a:srcRect/>
          <a:stretch/>
        </p:blipFill>
        <p:spPr>
          <a:xfrm>
            <a:off x="7731425" y="178758"/>
            <a:ext cx="859675" cy="859675"/>
          </a:xfrm>
          <a:prstGeom prst="rect">
            <a:avLst/>
          </a:prstGeom>
          <a:noFill/>
          <a:ln w="9525" cap="flat" cmpd="sng">
            <a:solidFill>
              <a:schemeClr val="dk2"/>
            </a:solidFill>
            <a:prstDash val="solid"/>
            <a:round/>
            <a:headEnd type="none" w="sm" len="sm"/>
            <a:tailEnd type="none" w="sm" len="sm"/>
          </a:ln>
        </p:spPr>
      </p:pic>
      <p:sp>
        <p:nvSpPr>
          <p:cNvPr id="654" name="Google Shape;654;g3568970961c_0_15"/>
          <p:cNvSpPr txBox="1"/>
          <p:nvPr/>
        </p:nvSpPr>
        <p:spPr>
          <a:xfrm>
            <a:off x="7364163" y="999875"/>
            <a:ext cx="1594200" cy="79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Helvetica Neue"/>
                <a:ea typeface="Helvetica Neue"/>
                <a:cs typeface="Helvetica Neue"/>
                <a:sym typeface="Helvetica Neue"/>
              </a:rPr>
              <a:t>Why calculate non-deduplicated values?</a:t>
            </a:r>
            <a:endParaRPr sz="1400" b="0" i="0" u="none" strike="noStrike" cap="none">
              <a:solidFill>
                <a:srgbClr val="000000"/>
              </a:solidFill>
              <a:latin typeface="Helvetica Neue"/>
              <a:ea typeface="Helvetica Neue"/>
              <a:cs typeface="Helvetica Neue"/>
              <a:sym typeface="Helvetica Neue"/>
            </a:endParaRPr>
          </a:p>
        </p:txBody>
      </p:sp>
      <p:pic>
        <p:nvPicPr>
          <p:cNvPr id="655" name="Google Shape;655;g3568970961c_0_15" title="deduplication.png"/>
          <p:cNvPicPr preferRelativeResize="0"/>
          <p:nvPr/>
        </p:nvPicPr>
        <p:blipFill rotWithShape="1">
          <a:blip r:embed="rId5">
            <a:alphaModFix/>
          </a:blip>
          <a:srcRect/>
          <a:stretch/>
        </p:blipFill>
        <p:spPr>
          <a:xfrm>
            <a:off x="4552300" y="1893525"/>
            <a:ext cx="4472151" cy="3052774"/>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30"/>
          <p:cNvSpPr txBox="1">
            <a:spLocks noGrp="1"/>
          </p:cNvSpPr>
          <p:nvPr>
            <p:ph type="title"/>
          </p:nvPr>
        </p:nvSpPr>
        <p:spPr>
          <a:xfrm>
            <a:off x="1640800" y="16050"/>
            <a:ext cx="64818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820" dirty="0">
                <a:solidFill>
                  <a:schemeClr val="tx1"/>
                </a:solidFill>
              </a:rPr>
              <a:t>Common </a:t>
            </a:r>
            <a:r>
              <a:rPr lang="en" sz="2820" dirty="0" err="1">
                <a:solidFill>
                  <a:schemeClr val="tx1"/>
                </a:solidFill>
              </a:rPr>
              <a:t>mNGS</a:t>
            </a:r>
            <a:r>
              <a:rPr lang="en" sz="2820" dirty="0">
                <a:solidFill>
                  <a:schemeClr val="tx1"/>
                </a:solidFill>
              </a:rPr>
              <a:t> Pipeline </a:t>
            </a:r>
            <a:r>
              <a:rPr lang="en" dirty="0">
                <a:solidFill>
                  <a:schemeClr val="tx1"/>
                </a:solidFill>
              </a:rPr>
              <a:t>Workflow</a:t>
            </a:r>
            <a:endParaRPr sz="2820" dirty="0">
              <a:solidFill>
                <a:schemeClr val="tx1"/>
              </a:solidFill>
            </a:endParaRPr>
          </a:p>
        </p:txBody>
      </p:sp>
      <p:sp>
        <p:nvSpPr>
          <p:cNvPr id="661" name="Google Shape;661;p30"/>
          <p:cNvSpPr/>
          <p:nvPr/>
        </p:nvSpPr>
        <p:spPr>
          <a:xfrm>
            <a:off x="643676" y="890048"/>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2" name="Google Shape;662;p30"/>
          <p:cNvSpPr/>
          <p:nvPr/>
        </p:nvSpPr>
        <p:spPr>
          <a:xfrm>
            <a:off x="643675" y="1683569"/>
            <a:ext cx="2275500" cy="568500"/>
          </a:xfrm>
          <a:prstGeom prst="roundRect">
            <a:avLst>
              <a:gd name="adj" fmla="val 16667"/>
            </a:avLst>
          </a:prstGeom>
          <a:solidFill>
            <a:schemeClr val="lt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3" name="Google Shape;663;p30"/>
          <p:cNvSpPr/>
          <p:nvPr/>
        </p:nvSpPr>
        <p:spPr>
          <a:xfrm>
            <a:off x="643675" y="2496269"/>
            <a:ext cx="2275500" cy="568500"/>
          </a:xfrm>
          <a:prstGeom prst="roundRect">
            <a:avLst>
              <a:gd name="adj" fmla="val 16667"/>
            </a:avLst>
          </a:prstGeom>
          <a:solidFill>
            <a:schemeClr val="lt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4" name="Google Shape;664;p30"/>
          <p:cNvSpPr txBox="1"/>
          <p:nvPr/>
        </p:nvSpPr>
        <p:spPr>
          <a:xfrm>
            <a:off x="1244416" y="1020439"/>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QC</a:t>
            </a:r>
            <a:endParaRPr sz="1400" b="1" i="0" u="none" strike="noStrike" cap="none">
              <a:solidFill>
                <a:schemeClr val="dk1"/>
              </a:solidFill>
              <a:latin typeface="Arial"/>
              <a:ea typeface="Arial"/>
              <a:cs typeface="Arial"/>
              <a:sym typeface="Arial"/>
            </a:endParaRPr>
          </a:p>
        </p:txBody>
      </p:sp>
      <p:sp>
        <p:nvSpPr>
          <p:cNvPr id="665" name="Google Shape;665;p30"/>
          <p:cNvSpPr txBox="1"/>
          <p:nvPr/>
        </p:nvSpPr>
        <p:spPr>
          <a:xfrm>
            <a:off x="1168226" y="1674100"/>
            <a:ext cx="12042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Host Filtering</a:t>
            </a:r>
            <a:endParaRPr sz="1400" b="1" i="0" u="none" strike="noStrike" cap="none">
              <a:solidFill>
                <a:schemeClr val="dk1"/>
              </a:solidFill>
              <a:latin typeface="Arial"/>
              <a:ea typeface="Arial"/>
              <a:cs typeface="Arial"/>
              <a:sym typeface="Arial"/>
            </a:endParaRPr>
          </a:p>
        </p:txBody>
      </p:sp>
      <p:sp>
        <p:nvSpPr>
          <p:cNvPr id="666" name="Google Shape;666;p30"/>
          <p:cNvSpPr/>
          <p:nvPr/>
        </p:nvSpPr>
        <p:spPr>
          <a:xfrm>
            <a:off x="643675" y="3300488"/>
            <a:ext cx="2275500" cy="568500"/>
          </a:xfrm>
          <a:prstGeom prst="roundRect">
            <a:avLst>
              <a:gd name="adj" fmla="val 16667"/>
            </a:avLst>
          </a:prstGeom>
          <a:solidFill>
            <a:srgbClr val="1C4587"/>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7" name="Google Shape;667;p30"/>
          <p:cNvSpPr txBox="1"/>
          <p:nvPr/>
        </p:nvSpPr>
        <p:spPr>
          <a:xfrm>
            <a:off x="963524" y="3269650"/>
            <a:ext cx="15738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1" i="0" u="none" strike="noStrike" cap="none">
                <a:solidFill>
                  <a:schemeClr val="lt1"/>
                </a:solidFill>
                <a:latin typeface="Arial"/>
                <a:ea typeface="Arial"/>
                <a:cs typeface="Arial"/>
                <a:sym typeface="Arial"/>
              </a:rPr>
              <a:t>Taxonomic Assignment</a:t>
            </a:r>
            <a:endParaRPr sz="1400" b="1" i="0" u="none" strike="noStrike" cap="none">
              <a:solidFill>
                <a:schemeClr val="lt1"/>
              </a:solidFill>
              <a:latin typeface="Arial"/>
              <a:ea typeface="Arial"/>
              <a:cs typeface="Arial"/>
              <a:sym typeface="Arial"/>
            </a:endParaRPr>
          </a:p>
        </p:txBody>
      </p:sp>
      <p:sp>
        <p:nvSpPr>
          <p:cNvPr id="668" name="Google Shape;668;p30"/>
          <p:cNvSpPr/>
          <p:nvPr/>
        </p:nvSpPr>
        <p:spPr>
          <a:xfrm>
            <a:off x="1685669" y="145860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69" name="Google Shape;669;p30"/>
          <p:cNvSpPr/>
          <p:nvPr/>
        </p:nvSpPr>
        <p:spPr>
          <a:xfrm>
            <a:off x="1669720" y="2259764"/>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0" name="Google Shape;670;p30"/>
          <p:cNvSpPr/>
          <p:nvPr/>
        </p:nvSpPr>
        <p:spPr>
          <a:xfrm>
            <a:off x="1669718" y="3064886"/>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671" name="Google Shape;671;p30"/>
          <p:cNvSpPr txBox="1"/>
          <p:nvPr/>
        </p:nvSpPr>
        <p:spPr>
          <a:xfrm>
            <a:off x="2013625" y="3211100"/>
            <a:ext cx="6998700" cy="663300"/>
          </a:xfrm>
          <a:prstGeom prst="rect">
            <a:avLst/>
          </a:prstGeom>
          <a:noFill/>
          <a:ln>
            <a:noFill/>
          </a:ln>
        </p:spPr>
        <p:txBody>
          <a:bodyPr spcFirstLastPara="1" wrap="square" lIns="91425" tIns="91425" rIns="91425" bIns="91425" anchor="t" anchorCtr="0">
            <a:noAutofit/>
          </a:bodyPr>
          <a:lstStyle/>
          <a:p>
            <a:pPr marL="914400" marR="0" lvl="0" indent="0" algn="l" rtl="0">
              <a:lnSpc>
                <a:spcPct val="100000"/>
              </a:lnSpc>
              <a:spcBef>
                <a:spcPts val="1000"/>
              </a:spcBef>
              <a:spcAft>
                <a:spcPts val="0"/>
              </a:spcAft>
              <a:buClr>
                <a:srgbClr val="000000"/>
              </a:buClr>
              <a:buSzPts val="1800"/>
              <a:buFont typeface="Arial"/>
              <a:buNone/>
            </a:pPr>
            <a:r>
              <a:rPr lang="en" sz="1800" b="1" i="0" u="none" strike="noStrike" cap="none">
                <a:solidFill>
                  <a:schemeClr val="dk1"/>
                </a:solidFill>
                <a:latin typeface="Arial"/>
                <a:ea typeface="Arial"/>
                <a:cs typeface="Arial"/>
                <a:sym typeface="Arial"/>
              </a:rPr>
              <a:t>Goal</a:t>
            </a:r>
            <a:r>
              <a:rPr lang="en" sz="1800" b="0" i="0" u="none" strike="noStrike" cap="none">
                <a:solidFill>
                  <a:schemeClr val="dk1"/>
                </a:solidFill>
                <a:latin typeface="Arial"/>
                <a:ea typeface="Arial"/>
                <a:cs typeface="Arial"/>
                <a:sym typeface="Arial"/>
              </a:rPr>
              <a:t>: Identify taxa and assess their abundance based on sequence comparisons against a reference database.</a:t>
            </a:r>
            <a:endParaRPr sz="1800" b="0" i="0" u="none" strike="noStrike" cap="none">
              <a:solidFill>
                <a:schemeClr val="dk2"/>
              </a:solidFill>
              <a:latin typeface="Arial"/>
              <a:ea typeface="Arial"/>
              <a:cs typeface="Arial"/>
              <a:sym typeface="Arial"/>
            </a:endParaRPr>
          </a:p>
        </p:txBody>
      </p:sp>
      <p:sp>
        <p:nvSpPr>
          <p:cNvPr id="672" name="Google Shape;672;p30"/>
          <p:cNvSpPr txBox="1"/>
          <p:nvPr/>
        </p:nvSpPr>
        <p:spPr>
          <a:xfrm>
            <a:off x="727375" y="2487325"/>
            <a:ext cx="2085900" cy="554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500" b="1" i="0" u="none" strike="noStrike" cap="none">
                <a:solidFill>
                  <a:srgbClr val="000000"/>
                </a:solidFill>
              </a:rPr>
              <a:t>Duplicate Removal (</a:t>
            </a:r>
            <a:r>
              <a:rPr lang="en" sz="1500" b="1"/>
              <a:t>optional</a:t>
            </a:r>
            <a:r>
              <a:rPr lang="en" sz="1500" b="1" i="0" u="none" strike="noStrike" cap="none">
                <a:solidFill>
                  <a:srgbClr val="000000"/>
                </a:solidFill>
              </a:rPr>
              <a:t>)</a:t>
            </a:r>
            <a:endParaRPr sz="1100" b="1" i="0" u="none" strike="noStrike" cap="none">
              <a:solidFill>
                <a:srgbClr val="000000"/>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31"/>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dirty="0"/>
              <a:t>Step 4: Taxonomic Assignment</a:t>
            </a:r>
            <a:endParaRPr sz="3600" dirty="0"/>
          </a:p>
        </p:txBody>
      </p:sp>
      <p:sp>
        <p:nvSpPr>
          <p:cNvPr id="678" name="Google Shape;678;p31"/>
          <p:cNvSpPr txBox="1">
            <a:spLocks noGrp="1"/>
          </p:cNvSpPr>
          <p:nvPr>
            <p:ph type="body" idx="1"/>
          </p:nvPr>
        </p:nvSpPr>
        <p:spPr>
          <a:xfrm>
            <a:off x="756250" y="1380297"/>
            <a:ext cx="7886700" cy="26277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a:solidFill>
                  <a:schemeClr val="dk1"/>
                </a:solidFill>
                <a:latin typeface="Arial"/>
                <a:ea typeface="Arial"/>
                <a:cs typeface="Arial"/>
                <a:sym typeface="Arial"/>
              </a:rPr>
              <a:t>Software to:</a:t>
            </a:r>
            <a:endParaRPr/>
          </a:p>
          <a:p>
            <a:pPr marL="514350" marR="154382" lvl="2" indent="-387350" algn="l" rtl="0">
              <a:lnSpc>
                <a:spcPct val="150000"/>
              </a:lnSpc>
              <a:spcBef>
                <a:spcPts val="2200"/>
              </a:spcBef>
              <a:spcAft>
                <a:spcPts val="0"/>
              </a:spcAft>
              <a:buClr>
                <a:schemeClr val="dk1"/>
              </a:buClr>
              <a:buSzPts val="2500"/>
              <a:buFont typeface="Arial"/>
              <a:buChar char="•"/>
            </a:pPr>
            <a:r>
              <a:rPr lang="en" sz="2000">
                <a:solidFill>
                  <a:schemeClr val="dk1"/>
                </a:solidFill>
                <a:latin typeface="Arial"/>
                <a:ea typeface="Arial"/>
                <a:cs typeface="Arial"/>
                <a:sym typeface="Arial"/>
              </a:rPr>
              <a:t>Compare sequences against a reference database</a:t>
            </a:r>
            <a:endParaRPr sz="200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a:solidFill>
                  <a:schemeClr val="dk1"/>
                </a:solidFill>
                <a:latin typeface="Arial"/>
                <a:ea typeface="Arial"/>
                <a:cs typeface="Arial"/>
                <a:sym typeface="Arial"/>
              </a:rPr>
              <a:t>k-mer based approaches</a:t>
            </a:r>
            <a:endParaRPr sz="200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a:solidFill>
                  <a:schemeClr val="dk1"/>
                </a:solidFill>
                <a:latin typeface="Arial"/>
                <a:ea typeface="Arial"/>
                <a:cs typeface="Arial"/>
                <a:sym typeface="Arial"/>
              </a:rPr>
              <a:t>Alignment</a:t>
            </a:r>
            <a:endParaRPr sz="2000">
              <a:solidFill>
                <a:schemeClr val="dk1"/>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sp>
        <p:nvSpPr>
          <p:cNvPr id="683" name="Google Shape;683;p32"/>
          <p:cNvSpPr txBox="1">
            <a:spLocks noGrp="1"/>
          </p:cNvSpPr>
          <p:nvPr>
            <p:ph type="title"/>
          </p:nvPr>
        </p:nvSpPr>
        <p:spPr>
          <a:xfrm>
            <a:off x="633413" y="571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a:t>
            </a:r>
            <a:endParaRPr sz="3200"/>
          </a:p>
          <a:p>
            <a:pPr marL="0" lvl="0" indent="0" algn="ctr" rtl="0">
              <a:lnSpc>
                <a:spcPct val="100000"/>
              </a:lnSpc>
              <a:spcBef>
                <a:spcPts val="0"/>
              </a:spcBef>
              <a:spcAft>
                <a:spcPts val="0"/>
              </a:spcAft>
              <a:buSzPts val="700"/>
              <a:buNone/>
            </a:pPr>
            <a:r>
              <a:rPr lang="en" sz="3200"/>
              <a:t>k-mer based  approaches </a:t>
            </a:r>
            <a:endParaRPr sz="3200"/>
          </a:p>
        </p:txBody>
      </p:sp>
      <p:sp>
        <p:nvSpPr>
          <p:cNvPr id="684" name="Google Shape;684;p32"/>
          <p:cNvSpPr txBox="1"/>
          <p:nvPr/>
        </p:nvSpPr>
        <p:spPr>
          <a:xfrm>
            <a:off x="444213" y="1051150"/>
            <a:ext cx="7886700" cy="46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rial"/>
                <a:ea typeface="Arial"/>
                <a:cs typeface="Arial"/>
                <a:sym typeface="Arial"/>
              </a:rPr>
              <a:t>Goal</a:t>
            </a:r>
            <a:r>
              <a:rPr lang="en" sz="1800" b="0" i="0" u="none" strike="noStrike" cap="none">
                <a:solidFill>
                  <a:srgbClr val="000000"/>
                </a:solidFill>
                <a:latin typeface="Arial"/>
                <a:ea typeface="Arial"/>
                <a:cs typeface="Arial"/>
                <a:sym typeface="Arial"/>
              </a:rPr>
              <a:t>: Identify query sequences based on the presence of similar substrings (pieces of sequence) in species found in a reference database.</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88"/>
        <p:cNvGrpSpPr/>
        <p:nvPr/>
      </p:nvGrpSpPr>
      <p:grpSpPr>
        <a:xfrm>
          <a:off x="0" y="0"/>
          <a:ext cx="0" cy="0"/>
          <a:chOff x="0" y="0"/>
          <a:chExt cx="0" cy="0"/>
        </a:xfrm>
      </p:grpSpPr>
      <p:pic>
        <p:nvPicPr>
          <p:cNvPr id="689" name="Google Shape;689;p33"/>
          <p:cNvPicPr preferRelativeResize="0"/>
          <p:nvPr/>
        </p:nvPicPr>
        <p:blipFill rotWithShape="1">
          <a:blip r:embed="rId3">
            <a:alphaModFix/>
          </a:blip>
          <a:srcRect t="2976" b="3685"/>
          <a:stretch/>
        </p:blipFill>
        <p:spPr>
          <a:xfrm>
            <a:off x="2937800" y="2771125"/>
            <a:ext cx="1282725" cy="2302474"/>
          </a:xfrm>
          <a:prstGeom prst="rect">
            <a:avLst/>
          </a:prstGeom>
          <a:noFill/>
          <a:ln>
            <a:noFill/>
          </a:ln>
        </p:spPr>
      </p:pic>
      <p:sp>
        <p:nvSpPr>
          <p:cNvPr id="690" name="Google Shape;690;p33"/>
          <p:cNvSpPr/>
          <p:nvPr/>
        </p:nvSpPr>
        <p:spPr>
          <a:xfrm>
            <a:off x="2103075" y="3109325"/>
            <a:ext cx="1930225" cy="1884800"/>
          </a:xfrm>
          <a:prstGeom prst="flowChartProcess">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691" name="Google Shape;691;p33"/>
          <p:cNvSpPr txBox="1">
            <a:spLocks noGrp="1"/>
          </p:cNvSpPr>
          <p:nvPr>
            <p:ph type="title"/>
          </p:nvPr>
        </p:nvSpPr>
        <p:spPr>
          <a:xfrm>
            <a:off x="633413" y="571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a:t>
            </a:r>
            <a:endParaRPr sz="3200"/>
          </a:p>
          <a:p>
            <a:pPr marL="0" lvl="0" indent="0" algn="ctr" rtl="0">
              <a:lnSpc>
                <a:spcPct val="100000"/>
              </a:lnSpc>
              <a:spcBef>
                <a:spcPts val="0"/>
              </a:spcBef>
              <a:spcAft>
                <a:spcPts val="0"/>
              </a:spcAft>
              <a:buSzPts val="700"/>
              <a:buNone/>
            </a:pPr>
            <a:r>
              <a:rPr lang="en" sz="3200"/>
              <a:t>k-mer based  approaches </a:t>
            </a:r>
            <a:endParaRPr sz="3200"/>
          </a:p>
        </p:txBody>
      </p:sp>
      <p:sp>
        <p:nvSpPr>
          <p:cNvPr id="692" name="Google Shape;692;p33"/>
          <p:cNvSpPr txBox="1">
            <a:spLocks noGrp="1"/>
          </p:cNvSpPr>
          <p:nvPr>
            <p:ph type="body" idx="1"/>
          </p:nvPr>
        </p:nvSpPr>
        <p:spPr>
          <a:xfrm>
            <a:off x="521638" y="2229617"/>
            <a:ext cx="7886700" cy="6939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b="1">
                <a:latin typeface="Arial"/>
                <a:ea typeface="Arial"/>
                <a:cs typeface="Arial"/>
                <a:sym typeface="Arial"/>
              </a:rPr>
              <a:t>k-mer</a:t>
            </a:r>
            <a:r>
              <a:rPr lang="en">
                <a:latin typeface="Arial"/>
                <a:ea typeface="Arial"/>
                <a:cs typeface="Arial"/>
                <a:sym typeface="Arial"/>
              </a:rPr>
              <a:t>: Substring of length </a:t>
            </a:r>
            <a:r>
              <a:rPr lang="en" i="1">
                <a:latin typeface="Arial"/>
                <a:ea typeface="Arial"/>
                <a:cs typeface="Arial"/>
                <a:sym typeface="Arial"/>
              </a:rPr>
              <a:t>k</a:t>
            </a:r>
            <a:r>
              <a:rPr lang="en">
                <a:latin typeface="Arial"/>
                <a:ea typeface="Arial"/>
                <a:cs typeface="Arial"/>
                <a:sym typeface="Arial"/>
              </a:rPr>
              <a:t> in a given sequence. To get all k-mers from a sequence, get the first </a:t>
            </a:r>
            <a:r>
              <a:rPr lang="en" i="1">
                <a:latin typeface="Arial"/>
                <a:ea typeface="Arial"/>
                <a:cs typeface="Arial"/>
                <a:sym typeface="Arial"/>
              </a:rPr>
              <a:t>k</a:t>
            </a:r>
            <a:r>
              <a:rPr lang="en">
                <a:latin typeface="Arial"/>
                <a:ea typeface="Arial"/>
                <a:cs typeface="Arial"/>
                <a:sym typeface="Arial"/>
              </a:rPr>
              <a:t> characters and move just a single character to start the next k-mer and so on</a:t>
            </a:r>
            <a:r>
              <a:rPr lang="en" sz="1800">
                <a:latin typeface="Arial"/>
                <a:ea typeface="Arial"/>
                <a:cs typeface="Arial"/>
                <a:sym typeface="Arial"/>
              </a:rPr>
              <a:t> </a:t>
            </a:r>
            <a:endParaRPr>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pic>
        <p:nvPicPr>
          <p:cNvPr id="693" name="Google Shape;693;p33"/>
          <p:cNvPicPr preferRelativeResize="0"/>
          <p:nvPr/>
        </p:nvPicPr>
        <p:blipFill rotWithShape="1">
          <a:blip r:embed="rId4">
            <a:alphaModFix/>
          </a:blip>
          <a:srcRect t="3365" b="3654"/>
          <a:stretch/>
        </p:blipFill>
        <p:spPr>
          <a:xfrm>
            <a:off x="5824350" y="2816550"/>
            <a:ext cx="1202400" cy="2109450"/>
          </a:xfrm>
          <a:prstGeom prst="rect">
            <a:avLst/>
          </a:prstGeom>
          <a:noFill/>
          <a:ln>
            <a:noFill/>
          </a:ln>
        </p:spPr>
      </p:pic>
      <p:sp>
        <p:nvSpPr>
          <p:cNvPr id="694" name="Google Shape;694;p33"/>
          <p:cNvSpPr txBox="1"/>
          <p:nvPr/>
        </p:nvSpPr>
        <p:spPr>
          <a:xfrm>
            <a:off x="2178200" y="3882900"/>
            <a:ext cx="1056000" cy="19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3-mers (7)</a:t>
            </a:r>
            <a:endParaRPr sz="1600" b="1" i="0" u="none" strike="noStrike" cap="none">
              <a:solidFill>
                <a:srgbClr val="000000"/>
              </a:solidFill>
              <a:latin typeface="Arial"/>
              <a:ea typeface="Arial"/>
              <a:cs typeface="Arial"/>
              <a:sym typeface="Arial"/>
            </a:endParaRPr>
          </a:p>
        </p:txBody>
      </p:sp>
      <p:sp>
        <p:nvSpPr>
          <p:cNvPr id="695" name="Google Shape;695;p33"/>
          <p:cNvSpPr/>
          <p:nvPr/>
        </p:nvSpPr>
        <p:spPr>
          <a:xfrm>
            <a:off x="4946450" y="3188800"/>
            <a:ext cx="1930225" cy="1884800"/>
          </a:xfrm>
          <a:prstGeom prst="flowChartProcess">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696" name="Google Shape;696;p33"/>
          <p:cNvSpPr txBox="1"/>
          <p:nvPr/>
        </p:nvSpPr>
        <p:spPr>
          <a:xfrm>
            <a:off x="4997350" y="3955275"/>
            <a:ext cx="1056000" cy="1929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000000"/>
                </a:solidFill>
                <a:latin typeface="Arial"/>
                <a:ea typeface="Arial"/>
                <a:cs typeface="Arial"/>
                <a:sym typeface="Arial"/>
              </a:rPr>
              <a:t>4-mers (6)</a:t>
            </a:r>
            <a:endParaRPr sz="1600" b="1" i="0" u="none" strike="noStrike" cap="none">
              <a:solidFill>
                <a:srgbClr val="000000"/>
              </a:solidFill>
              <a:latin typeface="Arial"/>
              <a:ea typeface="Arial"/>
              <a:cs typeface="Arial"/>
              <a:sym typeface="Arial"/>
            </a:endParaRPr>
          </a:p>
        </p:txBody>
      </p:sp>
      <p:sp>
        <p:nvSpPr>
          <p:cNvPr id="697" name="Google Shape;697;p33"/>
          <p:cNvSpPr txBox="1"/>
          <p:nvPr/>
        </p:nvSpPr>
        <p:spPr>
          <a:xfrm>
            <a:off x="6697300" y="3036150"/>
            <a:ext cx="2295300" cy="2302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698" name="Google Shape;698;p33"/>
          <p:cNvSpPr txBox="1"/>
          <p:nvPr/>
        </p:nvSpPr>
        <p:spPr>
          <a:xfrm>
            <a:off x="444213" y="1051150"/>
            <a:ext cx="7886700" cy="465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Arial"/>
                <a:ea typeface="Arial"/>
                <a:cs typeface="Arial"/>
                <a:sym typeface="Arial"/>
              </a:rPr>
              <a:t>Goal</a:t>
            </a:r>
            <a:r>
              <a:rPr lang="en" sz="1800" b="0" i="0" u="none" strike="noStrike" cap="none">
                <a:solidFill>
                  <a:srgbClr val="000000"/>
                </a:solidFill>
                <a:latin typeface="Arial"/>
                <a:ea typeface="Arial"/>
                <a:cs typeface="Arial"/>
                <a:sym typeface="Arial"/>
              </a:rPr>
              <a:t>: Identify query sequences based on the presence of similar substrings (pieces of sequence) in species found in a reference database.</a:t>
            </a:r>
            <a:endParaRPr sz="1800" b="0" i="0" u="none" strike="noStrike" cap="non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34"/>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sp>
        <p:nvSpPr>
          <p:cNvPr id="704" name="Google Shape;704;p34"/>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3"/>
              </a:rPr>
              <a:t>Kraken2</a:t>
            </a:r>
            <a:endParaRPr sz="2000" b="0" i="0" u="none" strike="noStrike" cap="none">
              <a:solidFill>
                <a:srgbClr val="000000"/>
              </a:solidFill>
              <a:latin typeface="Helvetica Neue"/>
              <a:ea typeface="Helvetica Neue"/>
              <a:cs typeface="Helvetica Neue"/>
              <a:sym typeface="Helvetica Neue"/>
            </a:endParaRPr>
          </a:p>
        </p:txBody>
      </p:sp>
      <p:sp>
        <p:nvSpPr>
          <p:cNvPr id="705" name="Google Shape;705;p34"/>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06" name="Google Shape;706;p34"/>
          <p:cNvSpPr txBox="1"/>
          <p:nvPr/>
        </p:nvSpPr>
        <p:spPr>
          <a:xfrm>
            <a:off x="257050" y="1269800"/>
            <a:ext cx="7734600" cy="2143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Kraken: </a:t>
            </a:r>
            <a:endParaRPr sz="2000" b="0" i="0" u="none" strike="noStrike" cap="none">
              <a:solidFill>
                <a:srgbClr val="000000"/>
              </a:solidFill>
              <a:latin typeface="Helvetica Neue"/>
              <a:ea typeface="Helvetica Neue"/>
              <a:cs typeface="Helvetica Neue"/>
              <a:sym typeface="Helvetica Neue"/>
            </a:endParaRPr>
          </a:p>
          <a:p>
            <a:pPr marL="457200" marR="0" lvl="0" indent="-355600" algn="l" rtl="0">
              <a:lnSpc>
                <a:spcPct val="100000"/>
              </a:lnSpc>
              <a:spcBef>
                <a:spcPts val="0"/>
              </a:spcBef>
              <a:spcAft>
                <a:spcPts val="0"/>
              </a:spcAft>
              <a:buClr>
                <a:srgbClr val="000000"/>
              </a:buClr>
              <a:buSzPts val="2000"/>
              <a:buFont typeface="Helvetica Neue"/>
              <a:buChar char="●"/>
            </a:pPr>
            <a:r>
              <a:rPr lang="en" sz="2000" b="0" i="0" u="none" strike="noStrike" cap="none">
                <a:solidFill>
                  <a:srgbClr val="000000"/>
                </a:solidFill>
                <a:latin typeface="Helvetica Neue"/>
                <a:ea typeface="Helvetica Neue"/>
                <a:cs typeface="Helvetica Neue"/>
                <a:sym typeface="Helvetica Neue"/>
              </a:rPr>
              <a:t>Taxonomic classification system using </a:t>
            </a:r>
            <a:r>
              <a:rPr lang="en" sz="2000" b="1" i="0" u="none" strike="noStrike" cap="none">
                <a:solidFill>
                  <a:srgbClr val="000000"/>
                </a:solidFill>
                <a:latin typeface="Helvetica Neue"/>
                <a:ea typeface="Helvetica Neue"/>
                <a:cs typeface="Helvetica Neue"/>
                <a:sym typeface="Helvetica Neue"/>
              </a:rPr>
              <a:t>exact k-mer matches</a:t>
            </a:r>
            <a:r>
              <a:rPr lang="en" sz="2000" b="0" i="0" u="none" strike="noStrike" cap="none">
                <a:solidFill>
                  <a:srgbClr val="000000"/>
                </a:solidFill>
                <a:latin typeface="Helvetica Neue"/>
                <a:ea typeface="Helvetica Neue"/>
                <a:cs typeface="Helvetica Neue"/>
                <a:sym typeface="Helvetica Neue"/>
              </a:rPr>
              <a:t>.</a:t>
            </a:r>
            <a:endParaRPr sz="2000" b="0" i="0" u="none" strike="noStrike" cap="none">
              <a:solidFill>
                <a:srgbClr val="000000"/>
              </a:solidFill>
              <a:latin typeface="Helvetica Neue"/>
              <a:ea typeface="Helvetica Neue"/>
              <a:cs typeface="Helvetica Neue"/>
              <a:sym typeface="Helvetica Neue"/>
            </a:endParaRPr>
          </a:p>
          <a:p>
            <a:pPr marL="45720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Helvetica Neue"/>
              <a:ea typeface="Helvetica Neue"/>
              <a:cs typeface="Helvetica Neue"/>
              <a:sym typeface="Helvetica Neue"/>
            </a:endParaRPr>
          </a:p>
          <a:p>
            <a:pPr marL="457200" marR="0" lvl="0" indent="-355600" algn="l" rtl="0">
              <a:lnSpc>
                <a:spcPct val="100000"/>
              </a:lnSpc>
              <a:spcBef>
                <a:spcPts val="0"/>
              </a:spcBef>
              <a:spcAft>
                <a:spcPts val="0"/>
              </a:spcAft>
              <a:buClr>
                <a:srgbClr val="000000"/>
              </a:buClr>
              <a:buSzPts val="2000"/>
              <a:buFont typeface="Helvetica Neue"/>
              <a:buChar char="●"/>
            </a:pPr>
            <a:r>
              <a:rPr lang="en" sz="2000" b="0" i="0" u="none" strike="noStrike" cap="none">
                <a:solidFill>
                  <a:srgbClr val="000000"/>
                </a:solidFill>
                <a:latin typeface="Helvetica Neue"/>
                <a:ea typeface="Helvetica Neue"/>
                <a:cs typeface="Helvetica Neue"/>
                <a:sym typeface="Helvetica Neue"/>
              </a:rPr>
              <a:t>Matches each k-mer within a query sequence to the </a:t>
            </a:r>
            <a:r>
              <a:rPr lang="en" sz="2000" b="1" i="0" u="none" strike="noStrike" cap="none">
                <a:solidFill>
                  <a:srgbClr val="000000"/>
                </a:solidFill>
                <a:latin typeface="Helvetica Neue"/>
                <a:ea typeface="Helvetica Neue"/>
                <a:cs typeface="Helvetica Neue"/>
                <a:sym typeface="Helvetica Neue"/>
              </a:rPr>
              <a:t>lowest common ancestor (LCA)</a:t>
            </a:r>
            <a:r>
              <a:rPr lang="en" sz="2000" b="0" i="0" u="none" strike="noStrike" cap="none">
                <a:solidFill>
                  <a:srgbClr val="000000"/>
                </a:solidFill>
                <a:latin typeface="Helvetica Neue"/>
                <a:ea typeface="Helvetica Neue"/>
                <a:cs typeface="Helvetica Neue"/>
                <a:sym typeface="Helvetica Neue"/>
              </a:rPr>
              <a:t> of all genomes containing the given k-mer.</a:t>
            </a:r>
            <a:endParaRPr sz="20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10"/>
        <p:cNvGrpSpPr/>
        <p:nvPr/>
      </p:nvGrpSpPr>
      <p:grpSpPr>
        <a:xfrm>
          <a:off x="0" y="0"/>
          <a:ext cx="0" cy="0"/>
          <a:chOff x="0" y="0"/>
          <a:chExt cx="0" cy="0"/>
        </a:xfrm>
      </p:grpSpPr>
      <p:sp>
        <p:nvSpPr>
          <p:cNvPr id="711" name="Google Shape;711;g3568970961c_0_26"/>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712" name="Google Shape;712;g3568970961c_0_26"/>
          <p:cNvPicPr preferRelativeResize="0"/>
          <p:nvPr/>
        </p:nvPicPr>
        <p:blipFill rotWithShape="1">
          <a:blip r:embed="rId3">
            <a:alphaModFix/>
          </a:blip>
          <a:srcRect l="11992" t="17927" r="20330" b="64012"/>
          <a:stretch/>
        </p:blipFill>
        <p:spPr>
          <a:xfrm>
            <a:off x="771800" y="1419075"/>
            <a:ext cx="5248426" cy="1050300"/>
          </a:xfrm>
          <a:prstGeom prst="rect">
            <a:avLst/>
          </a:prstGeom>
          <a:noFill/>
          <a:ln>
            <a:noFill/>
          </a:ln>
        </p:spPr>
      </p:pic>
      <p:sp>
        <p:nvSpPr>
          <p:cNvPr id="713" name="Google Shape;713;g3568970961c_0_26"/>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714" name="Google Shape;714;g3568970961c_0_26"/>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sp>
        <p:nvSpPr>
          <p:cNvPr id="715" name="Google Shape;715;g3568970961c_0_26"/>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9"/>
        <p:cNvGrpSpPr/>
        <p:nvPr/>
      </p:nvGrpSpPr>
      <p:grpSpPr>
        <a:xfrm>
          <a:off x="0" y="0"/>
          <a:ext cx="0" cy="0"/>
          <a:chOff x="0" y="0"/>
          <a:chExt cx="0" cy="0"/>
        </a:xfrm>
      </p:grpSpPr>
      <p:sp>
        <p:nvSpPr>
          <p:cNvPr id="720" name="Google Shape;720;p35"/>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721" name="Google Shape;721;p35"/>
          <p:cNvPicPr preferRelativeResize="0"/>
          <p:nvPr/>
        </p:nvPicPr>
        <p:blipFill rotWithShape="1">
          <a:blip r:embed="rId3">
            <a:alphaModFix/>
          </a:blip>
          <a:srcRect l="11992" t="17927" r="20330" b="64014"/>
          <a:stretch/>
        </p:blipFill>
        <p:spPr>
          <a:xfrm>
            <a:off x="771800" y="1419075"/>
            <a:ext cx="5248426" cy="1050300"/>
          </a:xfrm>
          <a:prstGeom prst="rect">
            <a:avLst/>
          </a:prstGeom>
          <a:noFill/>
          <a:ln>
            <a:noFill/>
          </a:ln>
        </p:spPr>
      </p:pic>
      <p:sp>
        <p:nvSpPr>
          <p:cNvPr id="722" name="Google Shape;722;p35"/>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723" name="Google Shape;723;p35"/>
          <p:cNvSpPr txBox="1"/>
          <p:nvPr/>
        </p:nvSpPr>
        <p:spPr>
          <a:xfrm>
            <a:off x="197788" y="2664763"/>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 Compare to pre-computed database to determine taxonomic ID of reference sequences with specified k-mer (Lowest Common Ancestor, </a:t>
            </a:r>
            <a:r>
              <a:rPr lang="en" sz="1600" b="1" i="0" u="none" strike="noStrike" cap="none">
                <a:solidFill>
                  <a:srgbClr val="000000"/>
                </a:solidFill>
                <a:latin typeface="Arial"/>
                <a:ea typeface="Arial"/>
                <a:cs typeface="Arial"/>
                <a:sym typeface="Arial"/>
              </a:rPr>
              <a:t>LCA</a:t>
            </a:r>
            <a:r>
              <a:rPr lang="en" sz="1600" b="0" i="0" u="none" strike="noStrike" cap="none">
                <a:solidFill>
                  <a:srgbClr val="000000"/>
                </a:solidFill>
                <a:latin typeface="Arial"/>
                <a:ea typeface="Arial"/>
                <a:cs typeface="Arial"/>
                <a:sym typeface="Arial"/>
              </a:rPr>
              <a:t>, mapping)</a:t>
            </a:r>
            <a:endParaRPr sz="1600" b="0" i="0" u="none" strike="noStrike" cap="none">
              <a:solidFill>
                <a:srgbClr val="000000"/>
              </a:solidFill>
              <a:latin typeface="Arial"/>
              <a:ea typeface="Arial"/>
              <a:cs typeface="Arial"/>
              <a:sym typeface="Arial"/>
            </a:endParaRPr>
          </a:p>
        </p:txBody>
      </p:sp>
      <p:sp>
        <p:nvSpPr>
          <p:cNvPr id="724" name="Google Shape;724;p35"/>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sp>
        <p:nvSpPr>
          <p:cNvPr id="725" name="Google Shape;725;p35"/>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grpSp>
        <p:nvGrpSpPr>
          <p:cNvPr id="730" name="Google Shape;730;p36"/>
          <p:cNvGrpSpPr/>
          <p:nvPr/>
        </p:nvGrpSpPr>
        <p:grpSpPr>
          <a:xfrm>
            <a:off x="581825" y="1417250"/>
            <a:ext cx="7747750" cy="2825400"/>
            <a:chOff x="218500" y="249775"/>
            <a:chExt cx="7747750" cy="2825400"/>
          </a:xfrm>
        </p:grpSpPr>
        <p:sp>
          <p:nvSpPr>
            <p:cNvPr id="731" name="Google Shape;731;p36"/>
            <p:cNvSpPr txBox="1"/>
            <p:nvPr/>
          </p:nvSpPr>
          <p:spPr>
            <a:xfrm>
              <a:off x="2997550" y="249775"/>
              <a:ext cx="28044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chemeClr val="dk1"/>
                  </a:solidFill>
                  <a:latin typeface="Arial"/>
                  <a:ea typeface="Arial"/>
                  <a:cs typeface="Arial"/>
                  <a:sym typeface="Arial"/>
                </a:rPr>
                <a:t>Enterobacteriaceae</a:t>
              </a:r>
              <a:endParaRPr sz="2200" b="0" i="0" u="none" strike="noStrike" cap="none">
                <a:solidFill>
                  <a:schemeClr val="dk1"/>
                </a:solidFill>
                <a:latin typeface="Arial"/>
                <a:ea typeface="Arial"/>
                <a:cs typeface="Arial"/>
                <a:sym typeface="Arial"/>
              </a:endParaRPr>
            </a:p>
          </p:txBody>
        </p:sp>
        <p:sp>
          <p:nvSpPr>
            <p:cNvPr id="732" name="Google Shape;732;p36"/>
            <p:cNvSpPr txBox="1"/>
            <p:nvPr/>
          </p:nvSpPr>
          <p:spPr>
            <a:xfrm>
              <a:off x="13120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Arial"/>
                  <a:ea typeface="Arial"/>
                  <a:cs typeface="Arial"/>
                  <a:sym typeface="Arial"/>
                </a:rPr>
                <a:t>Klebsiella</a:t>
              </a:r>
              <a:endParaRPr sz="2000" b="0" i="0" u="none" strike="noStrike" cap="none">
                <a:solidFill>
                  <a:schemeClr val="dk1"/>
                </a:solidFill>
                <a:latin typeface="Arial"/>
                <a:ea typeface="Arial"/>
                <a:cs typeface="Arial"/>
                <a:sym typeface="Arial"/>
              </a:endParaRPr>
            </a:p>
          </p:txBody>
        </p:sp>
        <p:sp>
          <p:nvSpPr>
            <p:cNvPr id="733" name="Google Shape;733;p36"/>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734" name="Google Shape;734;p36"/>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735" name="Google Shape;735;p36"/>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736" name="Google Shape;736;p36"/>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737" name="Google Shape;737;p36"/>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738" name="Google Shape;738;p36"/>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739" name="Google Shape;739;p36"/>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740" name="Google Shape;740;p36"/>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741" name="Google Shape;741;p36"/>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2" name="Google Shape;742;p36"/>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3" name="Google Shape;743;p36"/>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4" name="Google Shape;744;p36"/>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5" name="Google Shape;745;p36"/>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6" name="Google Shape;746;p36"/>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7" name="Google Shape;747;p36"/>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8" name="Google Shape;748;p36"/>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49" name="Google Shape;749;p36"/>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750" name="Google Shape;750;p36"/>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751" name="Google Shape;751;p36"/>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752" name="Google Shape;752;p36"/>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753" name="Google Shape;753;p36"/>
          <p:cNvSpPr/>
          <p:nvPr/>
        </p:nvSpPr>
        <p:spPr>
          <a:xfrm>
            <a:off x="123762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54" name="Google Shape;754;p36"/>
          <p:cNvSpPr/>
          <p:nvPr/>
        </p:nvSpPr>
        <p:spPr>
          <a:xfrm>
            <a:off x="352462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55" name="Google Shape;755;p36"/>
          <p:cNvSpPr/>
          <p:nvPr/>
        </p:nvSpPr>
        <p:spPr>
          <a:xfrm>
            <a:off x="640377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56" name="Google Shape;756;p36"/>
          <p:cNvSpPr/>
          <p:nvPr/>
        </p:nvSpPr>
        <p:spPr>
          <a:xfrm>
            <a:off x="483997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grpSp>
        <p:nvGrpSpPr>
          <p:cNvPr id="761" name="Google Shape;761;p37"/>
          <p:cNvGrpSpPr/>
          <p:nvPr/>
        </p:nvGrpSpPr>
        <p:grpSpPr>
          <a:xfrm>
            <a:off x="581825" y="1417250"/>
            <a:ext cx="7747750" cy="2825400"/>
            <a:chOff x="218500" y="249775"/>
            <a:chExt cx="7747750" cy="2825400"/>
          </a:xfrm>
        </p:grpSpPr>
        <p:sp>
          <p:nvSpPr>
            <p:cNvPr id="762" name="Google Shape;762;p37"/>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763" name="Google Shape;763;p37"/>
            <p:cNvSpPr txBox="1"/>
            <p:nvPr/>
          </p:nvSpPr>
          <p:spPr>
            <a:xfrm>
              <a:off x="13120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chemeClr val="dk1"/>
                  </a:solidFill>
                  <a:latin typeface="Arial"/>
                  <a:ea typeface="Arial"/>
                  <a:cs typeface="Arial"/>
                  <a:sym typeface="Arial"/>
                </a:rPr>
                <a:t>Klebsiella</a:t>
              </a:r>
              <a:endParaRPr sz="2000" b="0" i="0" u="none" strike="noStrike" cap="none">
                <a:solidFill>
                  <a:schemeClr val="dk1"/>
                </a:solidFill>
                <a:latin typeface="Arial"/>
                <a:ea typeface="Arial"/>
                <a:cs typeface="Arial"/>
                <a:sym typeface="Arial"/>
              </a:endParaRPr>
            </a:p>
          </p:txBody>
        </p:sp>
        <p:sp>
          <p:nvSpPr>
            <p:cNvPr id="764" name="Google Shape;764;p37"/>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765" name="Google Shape;765;p37"/>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766" name="Google Shape;766;p37"/>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767" name="Google Shape;767;p37"/>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768" name="Google Shape;768;p37"/>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769" name="Google Shape;769;p37"/>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770" name="Google Shape;770;p37"/>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771" name="Google Shape;771;p37"/>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772" name="Google Shape;772;p37"/>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3" name="Google Shape;773;p37"/>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4" name="Google Shape;774;p37"/>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5" name="Google Shape;775;p37"/>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6" name="Google Shape;776;p37"/>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7" name="Google Shape;777;p37"/>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8" name="Google Shape;778;p37"/>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79" name="Google Shape;779;p37"/>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0" name="Google Shape;780;p37"/>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781" name="Google Shape;781;p37"/>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782" name="Google Shape;782;p37"/>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783" name="Google Shape;783;p37"/>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784" name="Google Shape;784;p37"/>
          <p:cNvSpPr/>
          <p:nvPr/>
        </p:nvSpPr>
        <p:spPr>
          <a:xfrm>
            <a:off x="123762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5" name="Google Shape;785;p37"/>
          <p:cNvSpPr/>
          <p:nvPr/>
        </p:nvSpPr>
        <p:spPr>
          <a:xfrm>
            <a:off x="352462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6" name="Google Shape;786;p37"/>
          <p:cNvSpPr/>
          <p:nvPr/>
        </p:nvSpPr>
        <p:spPr>
          <a:xfrm>
            <a:off x="6403775" y="4030775"/>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787" name="Google Shape;787;p37"/>
          <p:cNvSpPr/>
          <p:nvPr/>
        </p:nvSpPr>
        <p:spPr>
          <a:xfrm>
            <a:off x="4839975" y="4039750"/>
            <a:ext cx="238500" cy="211800"/>
          </a:xfrm>
          <a:prstGeom prst="ellipse">
            <a:avLst/>
          </a:prstGeom>
          <a:solidFill>
            <a:srgbClr val="674EA7"/>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91"/>
        <p:cNvGrpSpPr/>
        <p:nvPr/>
      </p:nvGrpSpPr>
      <p:grpSpPr>
        <a:xfrm>
          <a:off x="0" y="0"/>
          <a:ext cx="0" cy="0"/>
          <a:chOff x="0" y="0"/>
          <a:chExt cx="0" cy="0"/>
        </a:xfrm>
      </p:grpSpPr>
      <p:grpSp>
        <p:nvGrpSpPr>
          <p:cNvPr id="792" name="Google Shape;792;p38"/>
          <p:cNvGrpSpPr/>
          <p:nvPr/>
        </p:nvGrpSpPr>
        <p:grpSpPr>
          <a:xfrm>
            <a:off x="581825" y="1417250"/>
            <a:ext cx="7747750" cy="2825400"/>
            <a:chOff x="218500" y="249775"/>
            <a:chExt cx="7747750" cy="2825400"/>
          </a:xfrm>
        </p:grpSpPr>
        <p:sp>
          <p:nvSpPr>
            <p:cNvPr id="793" name="Google Shape;793;p38"/>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794" name="Google Shape;794;p38"/>
            <p:cNvSpPr txBox="1"/>
            <p:nvPr/>
          </p:nvSpPr>
          <p:spPr>
            <a:xfrm>
              <a:off x="1312150" y="1458150"/>
              <a:ext cx="1892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00A2FF"/>
                  </a:solidFill>
                  <a:latin typeface="Arial"/>
                  <a:ea typeface="Arial"/>
                  <a:cs typeface="Arial"/>
                  <a:sym typeface="Arial"/>
                </a:rPr>
                <a:t>Klebsiella</a:t>
              </a:r>
              <a:endParaRPr sz="2000" b="1" i="0" u="none" strike="noStrike" cap="none">
                <a:solidFill>
                  <a:srgbClr val="00A2FF"/>
                </a:solidFill>
                <a:latin typeface="Arial"/>
                <a:ea typeface="Arial"/>
                <a:cs typeface="Arial"/>
                <a:sym typeface="Arial"/>
              </a:endParaRPr>
            </a:p>
          </p:txBody>
        </p:sp>
        <p:sp>
          <p:nvSpPr>
            <p:cNvPr id="795" name="Google Shape;795;p38"/>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796" name="Google Shape;796;p38"/>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797" name="Google Shape;797;p38"/>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798" name="Google Shape;798;p38"/>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799" name="Google Shape;799;p38"/>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800" name="Google Shape;800;p38"/>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801" name="Google Shape;801;p38"/>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802" name="Google Shape;802;p38"/>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803" name="Google Shape;803;p38"/>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4" name="Google Shape;804;p38"/>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5" name="Google Shape;805;p38"/>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6" name="Google Shape;806;p38"/>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7" name="Google Shape;807;p38"/>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8" name="Google Shape;808;p38"/>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09" name="Google Shape;809;p38"/>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0" name="Google Shape;810;p38"/>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1" name="Google Shape;811;p38"/>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812" name="Google Shape;812;p38"/>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813" name="Google Shape;813;p38"/>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814" name="Google Shape;814;p38"/>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815" name="Google Shape;815;p38"/>
          <p:cNvSpPr/>
          <p:nvPr/>
        </p:nvSpPr>
        <p:spPr>
          <a:xfrm>
            <a:off x="1237625" y="4030775"/>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6" name="Google Shape;816;p38"/>
          <p:cNvSpPr/>
          <p:nvPr/>
        </p:nvSpPr>
        <p:spPr>
          <a:xfrm>
            <a:off x="35246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17" name="Google Shape;817;p38"/>
          <p:cNvSpPr/>
          <p:nvPr/>
        </p:nvSpPr>
        <p:spPr>
          <a:xfrm>
            <a:off x="23811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grpSp>
        <p:nvGrpSpPr>
          <p:cNvPr id="822" name="Google Shape;822;g3568970961c_0_35"/>
          <p:cNvGrpSpPr/>
          <p:nvPr/>
        </p:nvGrpSpPr>
        <p:grpSpPr>
          <a:xfrm>
            <a:off x="581825" y="1417250"/>
            <a:ext cx="7747750" cy="2825400"/>
            <a:chOff x="218500" y="249775"/>
            <a:chExt cx="7747750" cy="2825400"/>
          </a:xfrm>
        </p:grpSpPr>
        <p:sp>
          <p:nvSpPr>
            <p:cNvPr id="823" name="Google Shape;823;g3568970961c_0_35"/>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824" name="Google Shape;824;g3568970961c_0_35"/>
            <p:cNvSpPr txBox="1"/>
            <p:nvPr/>
          </p:nvSpPr>
          <p:spPr>
            <a:xfrm>
              <a:off x="1312150" y="1458150"/>
              <a:ext cx="1892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00A2FF"/>
                  </a:solidFill>
                  <a:latin typeface="Arial"/>
                  <a:ea typeface="Arial"/>
                  <a:cs typeface="Arial"/>
                  <a:sym typeface="Arial"/>
                </a:rPr>
                <a:t>Klebsiella (10)</a:t>
              </a:r>
              <a:endParaRPr sz="2000" b="1" i="0" u="none" strike="noStrike" cap="none">
                <a:solidFill>
                  <a:srgbClr val="00A2FF"/>
                </a:solidFill>
                <a:latin typeface="Arial"/>
                <a:ea typeface="Arial"/>
                <a:cs typeface="Arial"/>
                <a:sym typeface="Arial"/>
              </a:endParaRPr>
            </a:p>
          </p:txBody>
        </p:sp>
        <p:sp>
          <p:nvSpPr>
            <p:cNvPr id="825" name="Google Shape;825;g3568970961c_0_35"/>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826" name="Google Shape;826;g3568970961c_0_35"/>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827" name="Google Shape;827;g3568970961c_0_35"/>
            <p:cNvSpPr txBox="1"/>
            <p:nvPr/>
          </p:nvSpPr>
          <p:spPr>
            <a:xfrm>
              <a:off x="218500"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K. pneumoniae</a:t>
              </a:r>
              <a:endParaRPr sz="1400" b="0" i="0" u="none" strike="noStrike" cap="none">
                <a:solidFill>
                  <a:schemeClr val="dk1"/>
                </a:solidFill>
                <a:latin typeface="Arial"/>
                <a:ea typeface="Arial"/>
                <a:cs typeface="Arial"/>
                <a:sym typeface="Arial"/>
              </a:endParaRPr>
            </a:p>
          </p:txBody>
        </p:sp>
        <p:sp>
          <p:nvSpPr>
            <p:cNvPr id="828" name="Google Shape;828;g3568970961c_0_35"/>
            <p:cNvSpPr txBox="1"/>
            <p:nvPr/>
          </p:nvSpPr>
          <p:spPr>
            <a:xfrm>
              <a:off x="14807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829" name="Google Shape;829;g3568970961c_0_35"/>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830" name="Google Shape;830;g3568970961c_0_35"/>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831" name="Google Shape;831;g3568970961c_0_35"/>
            <p:cNvSpPr txBox="1"/>
            <p:nvPr/>
          </p:nvSpPr>
          <p:spPr>
            <a:xfrm>
              <a:off x="5584550" y="2441200"/>
              <a:ext cx="1195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S. enterica</a:t>
              </a:r>
              <a:endParaRPr sz="1400" b="0" i="0" u="none" strike="noStrike" cap="none">
                <a:solidFill>
                  <a:schemeClr val="dk1"/>
                </a:solidFill>
                <a:latin typeface="Arial"/>
                <a:ea typeface="Arial"/>
                <a:cs typeface="Arial"/>
                <a:sym typeface="Arial"/>
              </a:endParaRPr>
            </a:p>
          </p:txBody>
        </p:sp>
        <p:sp>
          <p:nvSpPr>
            <p:cNvPr id="832" name="Google Shape;832;g3568970961c_0_35"/>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833" name="Google Shape;833;g3568970961c_0_35"/>
            <p:cNvSpPr/>
            <p:nvPr/>
          </p:nvSpPr>
          <p:spPr>
            <a:xfrm rot="2491004">
              <a:off x="2670417" y="643861"/>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4" name="Google Shape;834;g3568970961c_0_35"/>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5" name="Google Shape;835;g3568970961c_0_35"/>
            <p:cNvSpPr/>
            <p:nvPr/>
          </p:nvSpPr>
          <p:spPr>
            <a:xfrm rot="-2126743">
              <a:off x="5779426" y="643855"/>
              <a:ext cx="195540" cy="94199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6" name="Google Shape;836;g3568970961c_0_35"/>
            <p:cNvSpPr/>
            <p:nvPr/>
          </p:nvSpPr>
          <p:spPr>
            <a:xfrm rot="2491004">
              <a:off x="1328450" y="1782684"/>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7" name="Google Shape;837;g3568970961c_0_35"/>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8" name="Google Shape;838;g3568970961c_0_35"/>
            <p:cNvSpPr/>
            <p:nvPr/>
          </p:nvSpPr>
          <p:spPr>
            <a:xfrm rot="-2134101">
              <a:off x="2789731" y="1806082"/>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39" name="Google Shape;839;g3568970961c_0_35"/>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0" name="Google Shape;840;g3568970961c_0_35"/>
            <p:cNvSpPr/>
            <p:nvPr/>
          </p:nvSpPr>
          <p:spPr>
            <a:xfrm rot="1775538">
              <a:off x="6170586" y="1883483"/>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1" name="Google Shape;841;g3568970961c_0_35"/>
            <p:cNvSpPr/>
            <p:nvPr/>
          </p:nvSpPr>
          <p:spPr>
            <a:xfrm rot="-1624533">
              <a:off x="6935948" y="1895530"/>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842" name="Google Shape;842;g3568970961c_0_35"/>
          <p:cNvPicPr preferRelativeResize="0"/>
          <p:nvPr/>
        </p:nvPicPr>
        <p:blipFill rotWithShape="1">
          <a:blip r:embed="rId3">
            <a:alphaModFix/>
          </a:blip>
          <a:srcRect l="11992" t="17927" r="20330" b="64012"/>
          <a:stretch/>
        </p:blipFill>
        <p:spPr>
          <a:xfrm>
            <a:off x="4132950" y="211000"/>
            <a:ext cx="4780150" cy="956599"/>
          </a:xfrm>
          <a:prstGeom prst="rect">
            <a:avLst/>
          </a:prstGeom>
          <a:noFill/>
          <a:ln>
            <a:noFill/>
          </a:ln>
        </p:spPr>
      </p:pic>
      <p:sp>
        <p:nvSpPr>
          <p:cNvPr id="843" name="Google Shape;843;g3568970961c_0_35"/>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844" name="Google Shape;844;g3568970961c_0_35"/>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845" name="Google Shape;845;g3568970961c_0_35"/>
          <p:cNvSpPr/>
          <p:nvPr/>
        </p:nvSpPr>
        <p:spPr>
          <a:xfrm>
            <a:off x="1237625" y="4030775"/>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6" name="Google Shape;846;g3568970961c_0_35"/>
          <p:cNvSpPr/>
          <p:nvPr/>
        </p:nvSpPr>
        <p:spPr>
          <a:xfrm>
            <a:off x="35246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47" name="Google Shape;847;g3568970961c_0_35"/>
          <p:cNvSpPr/>
          <p:nvPr/>
        </p:nvSpPr>
        <p:spPr>
          <a:xfrm>
            <a:off x="2381125" y="4039750"/>
            <a:ext cx="238500" cy="211800"/>
          </a:xfrm>
          <a:prstGeom prst="ellipse">
            <a:avLst/>
          </a:prstGeom>
          <a:solidFill>
            <a:srgbClr val="00A2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grpSp>
        <p:nvGrpSpPr>
          <p:cNvPr id="852" name="Google Shape;852;p39"/>
          <p:cNvGrpSpPr/>
          <p:nvPr/>
        </p:nvGrpSpPr>
        <p:grpSpPr>
          <a:xfrm>
            <a:off x="397400" y="1417250"/>
            <a:ext cx="7932175" cy="2825400"/>
            <a:chOff x="34075" y="249775"/>
            <a:chExt cx="7932175" cy="2825400"/>
          </a:xfrm>
        </p:grpSpPr>
        <p:sp>
          <p:nvSpPr>
            <p:cNvPr id="853" name="Google Shape;853;p39"/>
            <p:cNvSpPr txBox="1"/>
            <p:nvPr/>
          </p:nvSpPr>
          <p:spPr>
            <a:xfrm>
              <a:off x="2768950" y="249775"/>
              <a:ext cx="3296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1" i="0" u="none" strike="noStrike" cap="none">
                  <a:solidFill>
                    <a:srgbClr val="674EA7"/>
                  </a:solidFill>
                  <a:latin typeface="Arial"/>
                  <a:ea typeface="Arial"/>
                  <a:cs typeface="Arial"/>
                  <a:sym typeface="Arial"/>
                </a:rPr>
                <a:t>Enterobacteriaceae (1)</a:t>
              </a:r>
              <a:endParaRPr sz="2200" b="1" i="0" u="none" strike="noStrike" cap="none">
                <a:solidFill>
                  <a:srgbClr val="674EA7"/>
                </a:solidFill>
                <a:latin typeface="Arial"/>
                <a:ea typeface="Arial"/>
                <a:cs typeface="Arial"/>
                <a:sym typeface="Arial"/>
              </a:endParaRPr>
            </a:p>
          </p:txBody>
        </p:sp>
        <p:sp>
          <p:nvSpPr>
            <p:cNvPr id="854" name="Google Shape;854;p39"/>
            <p:cNvSpPr txBox="1"/>
            <p:nvPr/>
          </p:nvSpPr>
          <p:spPr>
            <a:xfrm>
              <a:off x="1312150" y="1458150"/>
              <a:ext cx="1892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1" i="0" u="none" strike="noStrike" cap="none">
                  <a:solidFill>
                    <a:srgbClr val="00A2FF"/>
                  </a:solidFill>
                  <a:latin typeface="Arial"/>
                  <a:ea typeface="Arial"/>
                  <a:cs typeface="Arial"/>
                  <a:sym typeface="Arial"/>
                </a:rPr>
                <a:t>Klebsiella (10)</a:t>
              </a:r>
              <a:endParaRPr sz="2000" b="1" i="0" u="none" strike="noStrike" cap="none">
                <a:solidFill>
                  <a:srgbClr val="00A2FF"/>
                </a:solidFill>
                <a:latin typeface="Arial"/>
                <a:ea typeface="Arial"/>
                <a:cs typeface="Arial"/>
                <a:sym typeface="Arial"/>
              </a:endParaRPr>
            </a:p>
          </p:txBody>
        </p:sp>
        <p:sp>
          <p:nvSpPr>
            <p:cNvPr id="855" name="Google Shape;855;p39"/>
            <p:cNvSpPr txBox="1"/>
            <p:nvPr/>
          </p:nvSpPr>
          <p:spPr>
            <a:xfrm>
              <a:off x="37374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Citrobacter</a:t>
              </a:r>
              <a:endParaRPr sz="2000" b="0" i="0" u="none" strike="noStrike" cap="none">
                <a:solidFill>
                  <a:srgbClr val="000000"/>
                </a:solidFill>
                <a:latin typeface="Arial"/>
                <a:ea typeface="Arial"/>
                <a:cs typeface="Arial"/>
                <a:sym typeface="Arial"/>
              </a:endParaRPr>
            </a:p>
          </p:txBody>
        </p:sp>
        <p:sp>
          <p:nvSpPr>
            <p:cNvPr id="856" name="Google Shape;856;p39"/>
            <p:cNvSpPr txBox="1"/>
            <p:nvPr/>
          </p:nvSpPr>
          <p:spPr>
            <a:xfrm>
              <a:off x="5748575" y="1458150"/>
              <a:ext cx="16302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Arial"/>
                  <a:ea typeface="Arial"/>
                  <a:cs typeface="Arial"/>
                  <a:sym typeface="Arial"/>
                </a:rPr>
                <a:t>Salmonella</a:t>
              </a:r>
              <a:endParaRPr sz="2000" b="0" i="0" u="none" strike="noStrike" cap="none">
                <a:solidFill>
                  <a:srgbClr val="000000"/>
                </a:solidFill>
                <a:latin typeface="Arial"/>
                <a:ea typeface="Arial"/>
                <a:cs typeface="Arial"/>
                <a:sym typeface="Arial"/>
              </a:endParaRPr>
            </a:p>
          </p:txBody>
        </p:sp>
        <p:sp>
          <p:nvSpPr>
            <p:cNvPr id="857" name="Google Shape;857;p39"/>
            <p:cNvSpPr txBox="1"/>
            <p:nvPr/>
          </p:nvSpPr>
          <p:spPr>
            <a:xfrm>
              <a:off x="34075" y="2496175"/>
              <a:ext cx="17514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EF8600"/>
                  </a:solidFill>
                  <a:latin typeface="Arial"/>
                  <a:ea typeface="Arial"/>
                  <a:cs typeface="Arial"/>
                  <a:sym typeface="Arial"/>
                </a:rPr>
                <a:t>K. pneumoniae (4)</a:t>
              </a:r>
              <a:endParaRPr sz="1400" b="1" i="0" u="none" strike="noStrike" cap="none">
                <a:solidFill>
                  <a:srgbClr val="EF8600"/>
                </a:solidFill>
                <a:latin typeface="Arial"/>
                <a:ea typeface="Arial"/>
                <a:cs typeface="Arial"/>
                <a:sym typeface="Arial"/>
              </a:endParaRPr>
            </a:p>
          </p:txBody>
        </p:sp>
        <p:sp>
          <p:nvSpPr>
            <p:cNvPr id="858" name="Google Shape;858;p39"/>
            <p:cNvSpPr txBox="1"/>
            <p:nvPr/>
          </p:nvSpPr>
          <p:spPr>
            <a:xfrm>
              <a:off x="1556925" y="24961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oxytoca</a:t>
              </a:r>
              <a:endParaRPr sz="1400" b="0" i="0" u="none" strike="noStrike" cap="none">
                <a:solidFill>
                  <a:srgbClr val="000000"/>
                </a:solidFill>
                <a:latin typeface="Arial"/>
                <a:ea typeface="Arial"/>
                <a:cs typeface="Arial"/>
                <a:sym typeface="Arial"/>
              </a:endParaRPr>
            </a:p>
          </p:txBody>
        </p:sp>
        <p:sp>
          <p:nvSpPr>
            <p:cNvPr id="859" name="Google Shape;859;p39"/>
            <p:cNvSpPr txBox="1"/>
            <p:nvPr/>
          </p:nvSpPr>
          <p:spPr>
            <a:xfrm>
              <a:off x="2554475" y="2496175"/>
              <a:ext cx="14778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K. granulomatis</a:t>
              </a:r>
              <a:endParaRPr sz="1400" b="0" i="0" u="none" strike="noStrike" cap="none">
                <a:solidFill>
                  <a:srgbClr val="000000"/>
                </a:solidFill>
                <a:latin typeface="Arial"/>
                <a:ea typeface="Arial"/>
                <a:cs typeface="Arial"/>
                <a:sym typeface="Arial"/>
              </a:endParaRPr>
            </a:p>
          </p:txBody>
        </p:sp>
        <p:sp>
          <p:nvSpPr>
            <p:cNvPr id="860" name="Google Shape;860;p39"/>
            <p:cNvSpPr txBox="1"/>
            <p:nvPr/>
          </p:nvSpPr>
          <p:spPr>
            <a:xfrm>
              <a:off x="3769125" y="2496175"/>
              <a:ext cx="15669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C. freundii</a:t>
              </a:r>
              <a:endParaRPr sz="1400" b="0" i="0" u="none" strike="noStrike" cap="none">
                <a:solidFill>
                  <a:srgbClr val="000000"/>
                </a:solidFill>
                <a:latin typeface="Arial"/>
                <a:ea typeface="Arial"/>
                <a:cs typeface="Arial"/>
                <a:sym typeface="Arial"/>
              </a:endParaRPr>
            </a:p>
          </p:txBody>
        </p:sp>
        <p:sp>
          <p:nvSpPr>
            <p:cNvPr id="861" name="Google Shape;861;p39"/>
            <p:cNvSpPr txBox="1"/>
            <p:nvPr/>
          </p:nvSpPr>
          <p:spPr>
            <a:xfrm>
              <a:off x="5367675" y="2441200"/>
              <a:ext cx="14127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EB220C"/>
                  </a:solidFill>
                  <a:latin typeface="Arial"/>
                  <a:ea typeface="Arial"/>
                  <a:cs typeface="Arial"/>
                  <a:sym typeface="Arial"/>
                </a:rPr>
                <a:t>S. enterica (1)</a:t>
              </a:r>
              <a:endParaRPr sz="1400" b="1" i="0" u="none" strike="noStrike" cap="none">
                <a:solidFill>
                  <a:srgbClr val="EB220C"/>
                </a:solidFill>
                <a:latin typeface="Arial"/>
                <a:ea typeface="Arial"/>
                <a:cs typeface="Arial"/>
                <a:sym typeface="Arial"/>
              </a:endParaRPr>
            </a:p>
          </p:txBody>
        </p:sp>
        <p:sp>
          <p:nvSpPr>
            <p:cNvPr id="862" name="Google Shape;862;p39"/>
            <p:cNvSpPr txBox="1"/>
            <p:nvPr/>
          </p:nvSpPr>
          <p:spPr>
            <a:xfrm>
              <a:off x="6683150" y="2419975"/>
              <a:ext cx="12831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 bongori</a:t>
              </a:r>
              <a:endParaRPr sz="1400" b="0" i="0" u="none" strike="noStrike" cap="none">
                <a:solidFill>
                  <a:srgbClr val="000000"/>
                </a:solidFill>
                <a:latin typeface="Arial"/>
                <a:ea typeface="Arial"/>
                <a:cs typeface="Arial"/>
                <a:sym typeface="Arial"/>
              </a:endParaRPr>
            </a:p>
          </p:txBody>
        </p:sp>
        <p:sp>
          <p:nvSpPr>
            <p:cNvPr id="863" name="Google Shape;863;p39"/>
            <p:cNvSpPr/>
            <p:nvPr/>
          </p:nvSpPr>
          <p:spPr>
            <a:xfrm rot="2491004">
              <a:off x="2670399" y="643845"/>
              <a:ext cx="195523" cy="941912"/>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4" name="Google Shape;864;p39"/>
            <p:cNvSpPr/>
            <p:nvPr/>
          </p:nvSpPr>
          <p:spPr>
            <a:xfrm>
              <a:off x="4454775" y="723424"/>
              <a:ext cx="195600" cy="8349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5" name="Google Shape;865;p39"/>
            <p:cNvSpPr/>
            <p:nvPr/>
          </p:nvSpPr>
          <p:spPr>
            <a:xfrm rot="-2126743">
              <a:off x="5779391" y="643868"/>
              <a:ext cx="195540" cy="941887"/>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6" name="Google Shape;866;p39"/>
            <p:cNvSpPr/>
            <p:nvPr/>
          </p:nvSpPr>
          <p:spPr>
            <a:xfrm rot="2491004">
              <a:off x="1328391" y="1782632"/>
              <a:ext cx="195523" cy="863285"/>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7" name="Google Shape;867;p39"/>
            <p:cNvSpPr/>
            <p:nvPr/>
          </p:nvSpPr>
          <p:spPr>
            <a:xfrm>
              <a:off x="2074792" y="1917175"/>
              <a:ext cx="195600" cy="6375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8" name="Google Shape;868;p39"/>
            <p:cNvSpPr/>
            <p:nvPr/>
          </p:nvSpPr>
          <p:spPr>
            <a:xfrm rot="-2134101">
              <a:off x="2789710" y="1806097"/>
              <a:ext cx="195470" cy="81584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69" name="Google Shape;869;p39"/>
            <p:cNvSpPr/>
            <p:nvPr/>
          </p:nvSpPr>
          <p:spPr>
            <a:xfrm>
              <a:off x="4454775" y="1863683"/>
              <a:ext cx="195600" cy="714300"/>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70" name="Google Shape;870;p39"/>
            <p:cNvSpPr/>
            <p:nvPr/>
          </p:nvSpPr>
          <p:spPr>
            <a:xfrm rot="1775538">
              <a:off x="6170642" y="1883515"/>
              <a:ext cx="195616" cy="635221"/>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71" name="Google Shape;871;p39"/>
            <p:cNvSpPr/>
            <p:nvPr/>
          </p:nvSpPr>
          <p:spPr>
            <a:xfrm rot="-1624533">
              <a:off x="6935899" y="1895555"/>
              <a:ext cx="195753" cy="635159"/>
            </a:xfrm>
            <a:prstGeom prst="downArrow">
              <a:avLst>
                <a:gd name="adj1" fmla="val 50000"/>
                <a:gd name="adj2" fmla="val 36305"/>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pic>
        <p:nvPicPr>
          <p:cNvPr id="872" name="Google Shape;872;p39"/>
          <p:cNvPicPr preferRelativeResize="0"/>
          <p:nvPr/>
        </p:nvPicPr>
        <p:blipFill rotWithShape="1">
          <a:blip r:embed="rId3">
            <a:alphaModFix/>
          </a:blip>
          <a:srcRect l="11992" t="17927" r="20330" b="64014"/>
          <a:stretch/>
        </p:blipFill>
        <p:spPr>
          <a:xfrm>
            <a:off x="4132950" y="211000"/>
            <a:ext cx="4780150" cy="956599"/>
          </a:xfrm>
          <a:prstGeom prst="rect">
            <a:avLst/>
          </a:prstGeom>
          <a:noFill/>
          <a:ln>
            <a:noFill/>
          </a:ln>
        </p:spPr>
      </p:pic>
      <p:sp>
        <p:nvSpPr>
          <p:cNvPr id="873" name="Google Shape;873;p39"/>
          <p:cNvSpPr txBox="1"/>
          <p:nvPr/>
        </p:nvSpPr>
        <p:spPr>
          <a:xfrm>
            <a:off x="3985350" y="4251550"/>
            <a:ext cx="1703100" cy="42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200"/>
              <a:buFont typeface="Arial"/>
              <a:buNone/>
            </a:pPr>
            <a:r>
              <a:rPr lang="en" sz="2200" b="0" i="0" u="none" strike="noStrike" cap="none">
                <a:solidFill>
                  <a:srgbClr val="000000"/>
                </a:solidFill>
                <a:latin typeface="Arial"/>
                <a:ea typeface="Arial"/>
                <a:cs typeface="Arial"/>
                <a:sym typeface="Arial"/>
              </a:rPr>
              <a:t>Taxonomy</a:t>
            </a:r>
            <a:endParaRPr sz="2200" b="0" i="0" u="none" strike="noStrike" cap="none">
              <a:solidFill>
                <a:srgbClr val="000000"/>
              </a:solidFill>
              <a:latin typeface="Arial"/>
              <a:ea typeface="Arial"/>
              <a:cs typeface="Arial"/>
              <a:sym typeface="Arial"/>
            </a:endParaRPr>
          </a:p>
        </p:txBody>
      </p:sp>
      <p:sp>
        <p:nvSpPr>
          <p:cNvPr id="874" name="Google Shape;874;p39"/>
          <p:cNvSpPr txBox="1"/>
          <p:nvPr/>
        </p:nvSpPr>
        <p:spPr>
          <a:xfrm>
            <a:off x="124900" y="68150"/>
            <a:ext cx="28272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000"/>
              <a:buFont typeface="Arial"/>
              <a:buNone/>
            </a:pPr>
            <a:r>
              <a:rPr lang="en" sz="3000" b="0" i="0" u="none" strike="noStrike" cap="none">
                <a:solidFill>
                  <a:srgbClr val="000000"/>
                </a:solidFill>
                <a:latin typeface="Arial"/>
                <a:ea typeface="Arial"/>
                <a:cs typeface="Arial"/>
                <a:sym typeface="Arial"/>
              </a:rPr>
              <a:t>LCA Mapping</a:t>
            </a:r>
            <a:endParaRPr sz="3000" b="0" i="0" u="none" strike="noStrike" cap="none">
              <a:solidFill>
                <a:srgbClr val="000000"/>
              </a:solidFill>
              <a:latin typeface="Arial"/>
              <a:ea typeface="Arial"/>
              <a:cs typeface="Arial"/>
              <a:sym typeface="Arial"/>
            </a:endParaRPr>
          </a:p>
        </p:txBody>
      </p:sp>
      <p:sp>
        <p:nvSpPr>
          <p:cNvPr id="875" name="Google Shape;875;p39"/>
          <p:cNvSpPr/>
          <p:nvPr/>
        </p:nvSpPr>
        <p:spPr>
          <a:xfrm>
            <a:off x="1237625" y="4030775"/>
            <a:ext cx="238500" cy="211800"/>
          </a:xfrm>
          <a:prstGeom prst="ellipse">
            <a:avLst/>
          </a:prstGeom>
          <a:solidFill>
            <a:srgbClr val="EF86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876" name="Google Shape;876;p39"/>
          <p:cNvSpPr/>
          <p:nvPr/>
        </p:nvSpPr>
        <p:spPr>
          <a:xfrm>
            <a:off x="6403775" y="3967450"/>
            <a:ext cx="238500" cy="211800"/>
          </a:xfrm>
          <a:prstGeom prst="ellipse">
            <a:avLst/>
          </a:prstGeom>
          <a:solidFill>
            <a:srgbClr val="EB220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40"/>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882" name="Google Shape;882;p40"/>
          <p:cNvPicPr preferRelativeResize="0"/>
          <p:nvPr/>
        </p:nvPicPr>
        <p:blipFill rotWithShape="1">
          <a:blip r:embed="rId3">
            <a:alphaModFix/>
          </a:blip>
          <a:srcRect l="11992" t="17927" r="20330" b="64014"/>
          <a:stretch/>
        </p:blipFill>
        <p:spPr>
          <a:xfrm>
            <a:off x="771800" y="1419075"/>
            <a:ext cx="5248426" cy="1050300"/>
          </a:xfrm>
          <a:prstGeom prst="rect">
            <a:avLst/>
          </a:prstGeom>
          <a:noFill/>
          <a:ln>
            <a:noFill/>
          </a:ln>
        </p:spPr>
      </p:pic>
      <p:sp>
        <p:nvSpPr>
          <p:cNvPr id="883" name="Google Shape;883;p40"/>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884" name="Google Shape;884;p40"/>
          <p:cNvSpPr txBox="1"/>
          <p:nvPr/>
        </p:nvSpPr>
        <p:spPr>
          <a:xfrm>
            <a:off x="197788" y="2664763"/>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 Compare to pre-computed database to determine taxonomic ID of reference sequences with specified k-mer (Lowest Common Ancestor, LCA, mapping)</a:t>
            </a:r>
            <a:endParaRPr sz="1600" b="0" i="0" u="none" strike="noStrike" cap="none">
              <a:solidFill>
                <a:srgbClr val="000000"/>
              </a:solidFill>
              <a:latin typeface="Arial"/>
              <a:ea typeface="Arial"/>
              <a:cs typeface="Arial"/>
              <a:sym typeface="Arial"/>
            </a:endParaRPr>
          </a:p>
        </p:txBody>
      </p:sp>
      <p:sp>
        <p:nvSpPr>
          <p:cNvPr id="885" name="Google Shape;885;p40"/>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grpSp>
        <p:nvGrpSpPr>
          <p:cNvPr id="886" name="Google Shape;886;p40"/>
          <p:cNvGrpSpPr/>
          <p:nvPr/>
        </p:nvGrpSpPr>
        <p:grpSpPr>
          <a:xfrm>
            <a:off x="6326784" y="1987606"/>
            <a:ext cx="2484016" cy="1649527"/>
            <a:chOff x="6191900" y="2279196"/>
            <a:chExt cx="2849950" cy="2071229"/>
          </a:xfrm>
        </p:grpSpPr>
        <p:pic>
          <p:nvPicPr>
            <p:cNvPr id="887" name="Google Shape;887;p40"/>
            <p:cNvPicPr preferRelativeResize="0"/>
            <p:nvPr/>
          </p:nvPicPr>
          <p:blipFill rotWithShape="1">
            <a:blip r:embed="rId3">
              <a:alphaModFix/>
            </a:blip>
            <a:srcRect l="4008" t="44491" r="59239" b="23104"/>
            <a:stretch/>
          </p:blipFill>
          <p:spPr>
            <a:xfrm>
              <a:off x="6191900" y="2465600"/>
              <a:ext cx="2849950" cy="1884825"/>
            </a:xfrm>
            <a:prstGeom prst="rect">
              <a:avLst/>
            </a:prstGeom>
            <a:noFill/>
            <a:ln>
              <a:noFill/>
            </a:ln>
          </p:spPr>
        </p:pic>
        <p:sp>
          <p:nvSpPr>
            <p:cNvPr id="888" name="Google Shape;888;p40"/>
            <p:cNvSpPr/>
            <p:nvPr/>
          </p:nvSpPr>
          <p:spPr>
            <a:xfrm>
              <a:off x="8004775" y="2279196"/>
              <a:ext cx="570900" cy="436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sp>
        <p:nvSpPr>
          <p:cNvPr id="889" name="Google Shape;889;p40"/>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93"/>
        <p:cNvGrpSpPr/>
        <p:nvPr/>
      </p:nvGrpSpPr>
      <p:grpSpPr>
        <a:xfrm>
          <a:off x="0" y="0"/>
          <a:ext cx="0" cy="0"/>
          <a:chOff x="0" y="0"/>
          <a:chExt cx="0" cy="0"/>
        </a:xfrm>
      </p:grpSpPr>
      <p:sp>
        <p:nvSpPr>
          <p:cNvPr id="894" name="Google Shape;894;p41"/>
          <p:cNvSpPr txBox="1">
            <a:spLocks noGrp="1"/>
          </p:cNvSpPr>
          <p:nvPr>
            <p:ph type="title"/>
          </p:nvPr>
        </p:nvSpPr>
        <p:spPr>
          <a:xfrm>
            <a:off x="-152400" y="-231350"/>
            <a:ext cx="95550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200"/>
              <a:t>Taxonomic assignment: k-mer based</a:t>
            </a:r>
            <a:endParaRPr sz="3200"/>
          </a:p>
        </p:txBody>
      </p:sp>
      <p:pic>
        <p:nvPicPr>
          <p:cNvPr id="895" name="Google Shape;895;p41"/>
          <p:cNvPicPr preferRelativeResize="0"/>
          <p:nvPr/>
        </p:nvPicPr>
        <p:blipFill rotWithShape="1">
          <a:blip r:embed="rId3">
            <a:alphaModFix/>
          </a:blip>
          <a:srcRect l="11992" t="17927" r="20330" b="64014"/>
          <a:stretch/>
        </p:blipFill>
        <p:spPr>
          <a:xfrm>
            <a:off x="771800" y="1419075"/>
            <a:ext cx="5248426" cy="1050300"/>
          </a:xfrm>
          <a:prstGeom prst="rect">
            <a:avLst/>
          </a:prstGeom>
          <a:noFill/>
          <a:ln>
            <a:noFill/>
          </a:ln>
        </p:spPr>
      </p:pic>
      <p:sp>
        <p:nvSpPr>
          <p:cNvPr id="896" name="Google Shape;896;p41"/>
          <p:cNvSpPr txBox="1"/>
          <p:nvPr/>
        </p:nvSpPr>
        <p:spPr>
          <a:xfrm>
            <a:off x="197800" y="1064725"/>
            <a:ext cx="5007300" cy="295200"/>
          </a:xfrm>
          <a:prstGeom prst="rect">
            <a:avLst/>
          </a:prstGeom>
          <a:noFill/>
          <a:ln>
            <a:noFill/>
          </a:ln>
        </p:spPr>
        <p:txBody>
          <a:bodyPr spcFirstLastPara="1" wrap="square" lIns="91425" tIns="91425" rIns="91425" bIns="91425" anchor="t" anchorCtr="0">
            <a:noAutofit/>
          </a:bodyPr>
          <a:lstStyle/>
          <a:p>
            <a:pPr marL="228600" marR="0" lvl="0" indent="-158750" algn="l" rtl="0">
              <a:lnSpc>
                <a:spcPct val="100000"/>
              </a:lnSpc>
              <a:spcBef>
                <a:spcPts val="0"/>
              </a:spcBef>
              <a:spcAft>
                <a:spcPts val="0"/>
              </a:spcAft>
              <a:buClr>
                <a:srgbClr val="000000"/>
              </a:buClr>
              <a:buSzPts val="1600"/>
              <a:buFont typeface="Arial"/>
              <a:buAutoNum type="arabicPeriod"/>
            </a:pPr>
            <a:r>
              <a:rPr lang="en" sz="1600" b="0" i="0" u="none" strike="noStrike" cap="none">
                <a:solidFill>
                  <a:srgbClr val="000000"/>
                </a:solidFill>
                <a:latin typeface="Arial"/>
                <a:ea typeface="Arial"/>
                <a:cs typeface="Arial"/>
                <a:sym typeface="Arial"/>
              </a:rPr>
              <a:t>Extract k-mers from sequence read (31-mers)</a:t>
            </a:r>
            <a:endParaRPr sz="1600" b="0" i="0" u="none" strike="noStrike" cap="none">
              <a:solidFill>
                <a:srgbClr val="000000"/>
              </a:solidFill>
              <a:latin typeface="Arial"/>
              <a:ea typeface="Arial"/>
              <a:cs typeface="Arial"/>
              <a:sym typeface="Arial"/>
            </a:endParaRPr>
          </a:p>
        </p:txBody>
      </p:sp>
      <p:sp>
        <p:nvSpPr>
          <p:cNvPr id="897" name="Google Shape;897;p41"/>
          <p:cNvSpPr txBox="1"/>
          <p:nvPr/>
        </p:nvSpPr>
        <p:spPr>
          <a:xfrm>
            <a:off x="197788" y="2664763"/>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2. Compare to pre-computed database to determine taxonomic ID of reference sequences with specified k-mer (Lowest Common Ancestor, LCA, mapping)</a:t>
            </a:r>
            <a:endParaRPr sz="1600" b="0" i="0" u="none" strike="noStrike" cap="none">
              <a:solidFill>
                <a:srgbClr val="000000"/>
              </a:solidFill>
              <a:latin typeface="Arial"/>
              <a:ea typeface="Arial"/>
              <a:cs typeface="Arial"/>
              <a:sym typeface="Arial"/>
            </a:endParaRPr>
          </a:p>
        </p:txBody>
      </p:sp>
      <p:sp>
        <p:nvSpPr>
          <p:cNvPr id="898" name="Google Shape;898;p41"/>
          <p:cNvSpPr txBox="1"/>
          <p:nvPr/>
        </p:nvSpPr>
        <p:spPr>
          <a:xfrm>
            <a:off x="113525" y="559450"/>
            <a:ext cx="25434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0" i="0" u="none" strike="noStrike" cap="none">
                <a:solidFill>
                  <a:srgbClr val="000000"/>
                </a:solidFill>
                <a:latin typeface="Helvetica Neue"/>
                <a:ea typeface="Helvetica Neue"/>
                <a:cs typeface="Helvetica Neue"/>
                <a:sym typeface="Helvetica Neue"/>
              </a:rPr>
              <a:t>Example: </a:t>
            </a:r>
            <a:r>
              <a:rPr lang="en" sz="2000" b="0" i="0" u="none" strike="noStrike" cap="none">
                <a:solidFill>
                  <a:schemeClr val="hlink"/>
                </a:solidFill>
                <a:uFill>
                  <a:noFill/>
                </a:uFill>
                <a:latin typeface="Helvetica Neue"/>
                <a:ea typeface="Helvetica Neue"/>
                <a:cs typeface="Helvetica Neue"/>
                <a:sym typeface="Helvetica Neue"/>
                <a:hlinkClick r:id="rId4"/>
              </a:rPr>
              <a:t>Kraken2</a:t>
            </a:r>
            <a:endParaRPr sz="2000" b="0" i="0" u="none" strike="noStrike" cap="none">
              <a:solidFill>
                <a:srgbClr val="000000"/>
              </a:solidFill>
              <a:latin typeface="Helvetica Neue"/>
              <a:ea typeface="Helvetica Neue"/>
              <a:cs typeface="Helvetica Neue"/>
              <a:sym typeface="Helvetica Neue"/>
            </a:endParaRPr>
          </a:p>
        </p:txBody>
      </p:sp>
      <p:grpSp>
        <p:nvGrpSpPr>
          <p:cNvPr id="899" name="Google Shape;899;p41"/>
          <p:cNvGrpSpPr/>
          <p:nvPr/>
        </p:nvGrpSpPr>
        <p:grpSpPr>
          <a:xfrm>
            <a:off x="6326784" y="1987606"/>
            <a:ext cx="2484016" cy="1649527"/>
            <a:chOff x="6191900" y="2279196"/>
            <a:chExt cx="2849950" cy="2071229"/>
          </a:xfrm>
        </p:grpSpPr>
        <p:pic>
          <p:nvPicPr>
            <p:cNvPr id="900" name="Google Shape;900;p41"/>
            <p:cNvPicPr preferRelativeResize="0"/>
            <p:nvPr/>
          </p:nvPicPr>
          <p:blipFill rotWithShape="1">
            <a:blip r:embed="rId3">
              <a:alphaModFix/>
            </a:blip>
            <a:srcRect l="4008" t="44491" r="59239" b="23104"/>
            <a:stretch/>
          </p:blipFill>
          <p:spPr>
            <a:xfrm>
              <a:off x="6191900" y="2465600"/>
              <a:ext cx="2849950" cy="1884825"/>
            </a:xfrm>
            <a:prstGeom prst="rect">
              <a:avLst/>
            </a:prstGeom>
            <a:noFill/>
            <a:ln>
              <a:noFill/>
            </a:ln>
          </p:spPr>
        </p:pic>
        <p:sp>
          <p:nvSpPr>
            <p:cNvPr id="901" name="Google Shape;901;p41"/>
            <p:cNvSpPr/>
            <p:nvPr/>
          </p:nvSpPr>
          <p:spPr>
            <a:xfrm>
              <a:off x="8004775" y="2279196"/>
              <a:ext cx="570900" cy="4362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grpSp>
      <p:sp>
        <p:nvSpPr>
          <p:cNvPr id="902" name="Google Shape;902;p41"/>
          <p:cNvSpPr txBox="1"/>
          <p:nvPr/>
        </p:nvSpPr>
        <p:spPr>
          <a:xfrm>
            <a:off x="197788" y="3831425"/>
            <a:ext cx="5906700" cy="295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Arial"/>
                <a:ea typeface="Arial"/>
                <a:cs typeface="Arial"/>
                <a:sym typeface="Arial"/>
              </a:rPr>
              <a:t>3. Use subtree for classification. Find path with maximum sum and report taxonomic level for leaf</a:t>
            </a:r>
            <a:endParaRPr sz="1600" b="0" i="0" u="none" strike="noStrike" cap="none">
              <a:solidFill>
                <a:srgbClr val="000000"/>
              </a:solidFill>
              <a:latin typeface="Arial"/>
              <a:ea typeface="Arial"/>
              <a:cs typeface="Arial"/>
              <a:sym typeface="Arial"/>
            </a:endParaRPr>
          </a:p>
        </p:txBody>
      </p:sp>
      <p:pic>
        <p:nvPicPr>
          <p:cNvPr id="903" name="Google Shape;903;p41"/>
          <p:cNvPicPr preferRelativeResize="0"/>
          <p:nvPr/>
        </p:nvPicPr>
        <p:blipFill rotWithShape="1">
          <a:blip r:embed="rId3">
            <a:alphaModFix/>
          </a:blip>
          <a:srcRect l="57880" t="37881" r="14591" b="20285"/>
          <a:stretch/>
        </p:blipFill>
        <p:spPr>
          <a:xfrm>
            <a:off x="6020225" y="3706525"/>
            <a:ext cx="1175750" cy="1340075"/>
          </a:xfrm>
          <a:prstGeom prst="rect">
            <a:avLst/>
          </a:prstGeom>
          <a:noFill/>
          <a:ln>
            <a:noFill/>
          </a:ln>
        </p:spPr>
      </p:pic>
      <p:sp>
        <p:nvSpPr>
          <p:cNvPr id="904" name="Google Shape;904;p41"/>
          <p:cNvSpPr/>
          <p:nvPr/>
        </p:nvSpPr>
        <p:spPr>
          <a:xfrm>
            <a:off x="6844086" y="3706519"/>
            <a:ext cx="497700" cy="347400"/>
          </a:xfrm>
          <a:prstGeom prst="rect">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Helvetica Neue"/>
              <a:ea typeface="Helvetica Neue"/>
              <a:cs typeface="Helvetica Neue"/>
              <a:sym typeface="Helvetica Neue"/>
            </a:endParaRPr>
          </a:p>
        </p:txBody>
      </p:sp>
      <p:sp>
        <p:nvSpPr>
          <p:cNvPr id="905" name="Google Shape;905;p41"/>
          <p:cNvSpPr txBox="1"/>
          <p:nvPr/>
        </p:nvSpPr>
        <p:spPr>
          <a:xfrm>
            <a:off x="4422975" y="4609925"/>
            <a:ext cx="1751400" cy="579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EF8600"/>
                </a:solidFill>
                <a:latin typeface="Arial"/>
                <a:ea typeface="Arial"/>
                <a:cs typeface="Arial"/>
                <a:sym typeface="Arial"/>
              </a:rPr>
              <a:t>K. pneumoniae</a:t>
            </a:r>
            <a:endParaRPr sz="1400" b="1" i="0" u="none" strike="noStrike" cap="none">
              <a:solidFill>
                <a:srgbClr val="EF86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909"/>
        <p:cNvGrpSpPr/>
        <p:nvPr/>
      </p:nvGrpSpPr>
      <p:grpSpPr>
        <a:xfrm>
          <a:off x="0" y="0"/>
          <a:ext cx="0" cy="0"/>
          <a:chOff x="0" y="0"/>
          <a:chExt cx="0" cy="0"/>
        </a:xfrm>
      </p:grpSpPr>
      <p:sp>
        <p:nvSpPr>
          <p:cNvPr id="910" name="Google Shape;910;p42"/>
          <p:cNvSpPr txBox="1">
            <a:spLocks noGrp="1"/>
          </p:cNvSpPr>
          <p:nvPr>
            <p:ph type="title"/>
          </p:nvPr>
        </p:nvSpPr>
        <p:spPr>
          <a:xfrm>
            <a:off x="633413" y="1333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dirty="0"/>
              <a:t>Step 4: Taxonomic assignment</a:t>
            </a:r>
            <a:endParaRPr sz="3600" dirty="0"/>
          </a:p>
        </p:txBody>
      </p:sp>
      <p:sp>
        <p:nvSpPr>
          <p:cNvPr id="911" name="Google Shape;911;p42"/>
          <p:cNvSpPr txBox="1">
            <a:spLocks noGrp="1"/>
          </p:cNvSpPr>
          <p:nvPr>
            <p:ph type="body" idx="1"/>
          </p:nvPr>
        </p:nvSpPr>
        <p:spPr>
          <a:xfrm>
            <a:off x="756250" y="1380297"/>
            <a:ext cx="7886700" cy="2627700"/>
          </a:xfrm>
          <a:prstGeom prst="rect">
            <a:avLst/>
          </a:prstGeom>
          <a:noFill/>
          <a:ln>
            <a:noFill/>
          </a:ln>
        </p:spPr>
        <p:txBody>
          <a:bodyPr spcFirstLastPara="1" wrap="square" lIns="19050" tIns="19050" rIns="19050" bIns="19050" anchor="ctr" anchorCtr="0">
            <a:noAutofit/>
          </a:bodyPr>
          <a:lstStyle/>
          <a:p>
            <a:pPr marL="0" marR="154382" lvl="0" indent="0" algn="l" rtl="0">
              <a:lnSpc>
                <a:spcPct val="100000"/>
              </a:lnSpc>
              <a:spcBef>
                <a:spcPts val="2200"/>
              </a:spcBef>
              <a:spcAft>
                <a:spcPts val="0"/>
              </a:spcAft>
              <a:buSzPts val="2300"/>
              <a:buNone/>
            </a:pPr>
            <a:r>
              <a:rPr lang="en" sz="2000" dirty="0">
                <a:solidFill>
                  <a:schemeClr val="dk1"/>
                </a:solidFill>
                <a:latin typeface="Arial"/>
                <a:ea typeface="Arial"/>
                <a:cs typeface="Arial"/>
                <a:sym typeface="Arial"/>
              </a:rPr>
              <a:t>Software to:</a:t>
            </a:r>
            <a:endParaRPr dirty="0"/>
          </a:p>
          <a:p>
            <a:pPr marL="514350" marR="154382" lvl="2" indent="-387350" algn="l" rtl="0">
              <a:lnSpc>
                <a:spcPct val="150000"/>
              </a:lnSpc>
              <a:spcBef>
                <a:spcPts val="2200"/>
              </a:spcBef>
              <a:spcAft>
                <a:spcPts val="0"/>
              </a:spcAft>
              <a:buClr>
                <a:schemeClr val="dk1"/>
              </a:buClr>
              <a:buSzPts val="2500"/>
              <a:buFont typeface="Arial"/>
              <a:buChar char="•"/>
            </a:pPr>
            <a:r>
              <a:rPr lang="en" sz="2000" dirty="0">
                <a:solidFill>
                  <a:schemeClr val="dk1"/>
                </a:solidFill>
                <a:latin typeface="Arial"/>
                <a:ea typeface="Arial"/>
                <a:cs typeface="Arial"/>
                <a:sym typeface="Arial"/>
              </a:rPr>
              <a:t>Compare sequences against a reference database</a:t>
            </a:r>
            <a:endParaRPr sz="2000" dirty="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dirty="0">
                <a:solidFill>
                  <a:schemeClr val="dk1"/>
                </a:solidFill>
                <a:latin typeface="Arial"/>
                <a:ea typeface="Arial"/>
                <a:cs typeface="Arial"/>
                <a:sym typeface="Arial"/>
              </a:rPr>
              <a:t>k-</a:t>
            </a:r>
            <a:r>
              <a:rPr lang="en" sz="2000" dirty="0" err="1">
                <a:solidFill>
                  <a:schemeClr val="dk1"/>
                </a:solidFill>
                <a:latin typeface="Arial"/>
                <a:ea typeface="Arial"/>
                <a:cs typeface="Arial"/>
                <a:sym typeface="Arial"/>
              </a:rPr>
              <a:t>mer</a:t>
            </a:r>
            <a:r>
              <a:rPr lang="en" sz="2000" dirty="0">
                <a:solidFill>
                  <a:schemeClr val="dk1"/>
                </a:solidFill>
                <a:latin typeface="Arial"/>
                <a:ea typeface="Arial"/>
                <a:cs typeface="Arial"/>
                <a:sym typeface="Arial"/>
              </a:rPr>
              <a:t> based approaches (fast, simplify data processing to counting k-</a:t>
            </a:r>
            <a:r>
              <a:rPr lang="en" sz="2000" dirty="0" err="1">
                <a:solidFill>
                  <a:schemeClr val="dk1"/>
                </a:solidFill>
                <a:latin typeface="Arial"/>
                <a:ea typeface="Arial"/>
                <a:cs typeface="Arial"/>
                <a:sym typeface="Arial"/>
              </a:rPr>
              <a:t>mers</a:t>
            </a:r>
            <a:r>
              <a:rPr lang="en" sz="2000" dirty="0">
                <a:solidFill>
                  <a:schemeClr val="dk1"/>
                </a:solidFill>
                <a:latin typeface="Arial"/>
                <a:ea typeface="Arial"/>
                <a:cs typeface="Arial"/>
                <a:sym typeface="Arial"/>
              </a:rPr>
              <a:t> and comparing whether they are shared)</a:t>
            </a:r>
            <a:endParaRPr sz="2000" dirty="0">
              <a:solidFill>
                <a:schemeClr val="dk1"/>
              </a:solidFill>
              <a:latin typeface="Arial"/>
              <a:ea typeface="Arial"/>
              <a:cs typeface="Arial"/>
              <a:sym typeface="Arial"/>
            </a:endParaRPr>
          </a:p>
          <a:p>
            <a:pPr marL="1828800" marR="154382" lvl="3" indent="-355600" algn="l" rtl="0">
              <a:lnSpc>
                <a:spcPct val="150000"/>
              </a:lnSpc>
              <a:spcBef>
                <a:spcPts val="2200"/>
              </a:spcBef>
              <a:spcAft>
                <a:spcPts val="0"/>
              </a:spcAft>
              <a:buClr>
                <a:schemeClr val="dk1"/>
              </a:buClr>
              <a:buSzPts val="2000"/>
              <a:buFont typeface="Arial"/>
              <a:buChar char="•"/>
            </a:pPr>
            <a:r>
              <a:rPr lang="en" sz="2000" dirty="0">
                <a:solidFill>
                  <a:schemeClr val="dk1"/>
                </a:solidFill>
                <a:latin typeface="Arial"/>
                <a:ea typeface="Arial"/>
                <a:cs typeface="Arial"/>
                <a:sym typeface="Arial"/>
              </a:rPr>
              <a:t>Alignment</a:t>
            </a:r>
            <a:endParaRPr sz="2000" dirty="0">
              <a:solidFill>
                <a:schemeClr val="dk1"/>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915"/>
        <p:cNvGrpSpPr/>
        <p:nvPr/>
      </p:nvGrpSpPr>
      <p:grpSpPr>
        <a:xfrm>
          <a:off x="0" y="0"/>
          <a:ext cx="0" cy="0"/>
          <a:chOff x="0" y="0"/>
          <a:chExt cx="0" cy="0"/>
        </a:xfrm>
      </p:grpSpPr>
      <p:sp>
        <p:nvSpPr>
          <p:cNvPr id="916" name="Google Shape;916;p43"/>
          <p:cNvSpPr txBox="1">
            <a:spLocks noGrp="1"/>
          </p:cNvSpPr>
          <p:nvPr>
            <p:ph type="title"/>
          </p:nvPr>
        </p:nvSpPr>
        <p:spPr>
          <a:xfrm>
            <a:off x="633413" y="-190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a:t>Taxonomic assignment: Alignment</a:t>
            </a:r>
            <a:endParaRPr sz="3600"/>
          </a:p>
        </p:txBody>
      </p:sp>
      <p:sp>
        <p:nvSpPr>
          <p:cNvPr id="917" name="Google Shape;917;p43"/>
          <p:cNvSpPr txBox="1">
            <a:spLocks noGrp="1"/>
          </p:cNvSpPr>
          <p:nvPr>
            <p:ph type="body" idx="1"/>
          </p:nvPr>
        </p:nvSpPr>
        <p:spPr>
          <a:xfrm>
            <a:off x="623813" y="1263342"/>
            <a:ext cx="7886700" cy="6939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A</a:t>
            </a:r>
            <a:r>
              <a:rPr lang="en">
                <a:latin typeface="Arial"/>
                <a:ea typeface="Arial"/>
                <a:cs typeface="Arial"/>
                <a:sym typeface="Arial"/>
              </a:rPr>
              <a:t>lign</a:t>
            </a:r>
            <a:r>
              <a:rPr lang="en" sz="1800">
                <a:latin typeface="Arial"/>
                <a:ea typeface="Arial"/>
                <a:cs typeface="Arial"/>
                <a:sym typeface="Arial"/>
              </a:rPr>
              <a:t> unknown (</a:t>
            </a:r>
            <a:r>
              <a:rPr lang="en">
                <a:latin typeface="Arial"/>
                <a:ea typeface="Arial"/>
                <a:cs typeface="Arial"/>
                <a:sym typeface="Arial"/>
              </a:rPr>
              <a:t>query) </a:t>
            </a:r>
            <a:r>
              <a:rPr lang="en" sz="1800">
                <a:latin typeface="Arial"/>
                <a:ea typeface="Arial"/>
                <a:cs typeface="Arial"/>
                <a:sym typeface="Arial"/>
              </a:rPr>
              <a:t>sequences against a database of known sequences to identify the microbe of origin.</a:t>
            </a:r>
            <a:endParaRPr>
              <a:latin typeface="Arial"/>
              <a:ea typeface="Arial"/>
              <a:cs typeface="Arial"/>
              <a:sym typeface="Arial"/>
            </a:endParaRPr>
          </a:p>
          <a:p>
            <a:pPr marL="0" lvl="0" indent="0" algn="l" rtl="0">
              <a:lnSpc>
                <a:spcPct val="100000"/>
              </a:lnSpc>
              <a:spcBef>
                <a:spcPts val="2200"/>
              </a:spcBef>
              <a:spcAft>
                <a:spcPts val="0"/>
              </a:spcAft>
              <a:buSzPts val="2300"/>
              <a:buNone/>
            </a:pPr>
            <a:r>
              <a:rPr lang="en" sz="1800">
                <a:latin typeface="Arial"/>
                <a:ea typeface="Arial"/>
                <a:cs typeface="Arial"/>
                <a:sym typeface="Arial"/>
              </a:rPr>
              <a:t>Database searching occurs through pairwise, </a:t>
            </a:r>
            <a:r>
              <a:rPr lang="en" sz="1800" u="sng">
                <a:latin typeface="Arial"/>
                <a:ea typeface="Arial"/>
                <a:cs typeface="Arial"/>
                <a:sym typeface="Arial"/>
              </a:rPr>
              <a:t>local</a:t>
            </a:r>
            <a:r>
              <a:rPr lang="en">
                <a:latin typeface="Arial"/>
                <a:ea typeface="Arial"/>
                <a:cs typeface="Arial"/>
                <a:sym typeface="Arial"/>
              </a:rPr>
              <a:t> </a:t>
            </a:r>
            <a:r>
              <a:rPr lang="en" sz="1800">
                <a:latin typeface="Arial"/>
                <a:ea typeface="Arial"/>
                <a:cs typeface="Arial"/>
                <a:sym typeface="Arial"/>
              </a:rPr>
              <a:t>alignments against sequences found in the database</a:t>
            </a:r>
            <a:endParaRPr sz="1800">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pic>
        <p:nvPicPr>
          <p:cNvPr id="922" name="Google Shape;922;p44" descr="A close-up of a dna code&#10;&#10;Description automatically generated"/>
          <p:cNvPicPr preferRelativeResize="0"/>
          <p:nvPr/>
        </p:nvPicPr>
        <p:blipFill rotWithShape="1">
          <a:blip r:embed="rId3">
            <a:alphaModFix/>
          </a:blip>
          <a:srcRect l="2425" t="10762" r="33412" b="50121"/>
          <a:stretch/>
        </p:blipFill>
        <p:spPr>
          <a:xfrm>
            <a:off x="2051051" y="3880158"/>
            <a:ext cx="3732027" cy="881777"/>
          </a:xfrm>
          <a:prstGeom prst="rect">
            <a:avLst/>
          </a:prstGeom>
          <a:noFill/>
          <a:ln>
            <a:noFill/>
          </a:ln>
        </p:spPr>
      </p:pic>
      <p:sp>
        <p:nvSpPr>
          <p:cNvPr id="923" name="Google Shape;923;p44"/>
          <p:cNvSpPr txBox="1">
            <a:spLocks noGrp="1"/>
          </p:cNvSpPr>
          <p:nvPr>
            <p:ph type="title"/>
          </p:nvPr>
        </p:nvSpPr>
        <p:spPr>
          <a:xfrm>
            <a:off x="633413" y="-190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3600"/>
              <a:t>Taxonomic assignment: Alignment</a:t>
            </a:r>
            <a:endParaRPr sz="3600"/>
          </a:p>
        </p:txBody>
      </p:sp>
      <p:sp>
        <p:nvSpPr>
          <p:cNvPr id="924" name="Google Shape;924;p44"/>
          <p:cNvSpPr txBox="1">
            <a:spLocks noGrp="1"/>
          </p:cNvSpPr>
          <p:nvPr>
            <p:ph type="body" idx="1"/>
          </p:nvPr>
        </p:nvSpPr>
        <p:spPr>
          <a:xfrm>
            <a:off x="623813" y="1263342"/>
            <a:ext cx="7886700" cy="6939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Query unknown sequences against a database of known sequences to identify the microbe of origin.</a:t>
            </a:r>
            <a:endParaRPr>
              <a:latin typeface="Arial"/>
              <a:ea typeface="Arial"/>
              <a:cs typeface="Arial"/>
              <a:sym typeface="Arial"/>
            </a:endParaRPr>
          </a:p>
          <a:p>
            <a:pPr marL="0" lvl="0" indent="0" algn="l" rtl="0">
              <a:lnSpc>
                <a:spcPct val="100000"/>
              </a:lnSpc>
              <a:spcBef>
                <a:spcPts val="2200"/>
              </a:spcBef>
              <a:spcAft>
                <a:spcPts val="0"/>
              </a:spcAft>
              <a:buSzPts val="2300"/>
              <a:buNone/>
            </a:pPr>
            <a:r>
              <a:rPr lang="en" sz="1800">
                <a:latin typeface="Arial"/>
                <a:ea typeface="Arial"/>
                <a:cs typeface="Arial"/>
                <a:sym typeface="Arial"/>
              </a:rPr>
              <a:t>Database searching:</a:t>
            </a:r>
            <a:r>
              <a:rPr lang="en">
                <a:latin typeface="Arial"/>
                <a:ea typeface="Arial"/>
                <a:cs typeface="Arial"/>
                <a:sym typeface="Arial"/>
              </a:rPr>
              <a:t> P</a:t>
            </a:r>
            <a:r>
              <a:rPr lang="en" sz="1800">
                <a:latin typeface="Arial"/>
                <a:ea typeface="Arial"/>
                <a:cs typeface="Arial"/>
                <a:sym typeface="Arial"/>
              </a:rPr>
              <a:t>airwise, </a:t>
            </a:r>
            <a:r>
              <a:rPr lang="en" sz="1800" u="sng">
                <a:latin typeface="Arial"/>
                <a:ea typeface="Arial"/>
                <a:cs typeface="Arial"/>
                <a:sym typeface="Arial"/>
              </a:rPr>
              <a:t>local</a:t>
            </a:r>
            <a:r>
              <a:rPr lang="en" sz="1800">
                <a:latin typeface="Arial"/>
                <a:ea typeface="Arial"/>
                <a:cs typeface="Arial"/>
                <a:sym typeface="Arial"/>
              </a:rPr>
              <a:t> alignments against sequences found in the database</a:t>
            </a:r>
            <a:endParaRPr sz="1800">
              <a:latin typeface="Arial"/>
              <a:ea typeface="Arial"/>
              <a:cs typeface="Arial"/>
              <a:sym typeface="Arial"/>
            </a:endParaRPr>
          </a:p>
        </p:txBody>
      </p:sp>
      <p:pic>
        <p:nvPicPr>
          <p:cNvPr id="925" name="Google Shape;925;p44" descr="A close-up of a dna code&#10;&#10;Description automatically generated"/>
          <p:cNvPicPr preferRelativeResize="0"/>
          <p:nvPr/>
        </p:nvPicPr>
        <p:blipFill rotWithShape="1">
          <a:blip r:embed="rId3">
            <a:alphaModFix/>
          </a:blip>
          <a:srcRect l="2425" t="50000" r="33412"/>
          <a:stretch/>
        </p:blipFill>
        <p:spPr>
          <a:xfrm>
            <a:off x="2051051" y="2571750"/>
            <a:ext cx="3732027" cy="1127234"/>
          </a:xfrm>
          <a:prstGeom prst="rect">
            <a:avLst/>
          </a:prstGeom>
          <a:noFill/>
          <a:ln>
            <a:noFill/>
          </a:ln>
        </p:spPr>
      </p:pic>
      <p:sp>
        <p:nvSpPr>
          <p:cNvPr id="926" name="Google Shape;926;p44"/>
          <p:cNvSpPr txBox="1"/>
          <p:nvPr/>
        </p:nvSpPr>
        <p:spPr>
          <a:xfrm>
            <a:off x="1825292" y="3647047"/>
            <a:ext cx="1669200" cy="3078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Local Alignment</a:t>
            </a:r>
            <a:endParaRPr sz="1400" b="0" i="0" u="none" strike="noStrike" cap="none">
              <a:solidFill>
                <a:srgbClr val="000000"/>
              </a:solidFill>
              <a:latin typeface="Arial"/>
              <a:ea typeface="Arial"/>
              <a:cs typeface="Arial"/>
              <a:sym typeface="Arial"/>
            </a:endParaRPr>
          </a:p>
        </p:txBody>
      </p:sp>
      <p:sp>
        <p:nvSpPr>
          <p:cNvPr id="927" name="Google Shape;927;p44"/>
          <p:cNvSpPr txBox="1"/>
          <p:nvPr/>
        </p:nvSpPr>
        <p:spPr>
          <a:xfrm>
            <a:off x="1834892" y="2571750"/>
            <a:ext cx="1669200" cy="307800"/>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Global Alignment</a:t>
            </a:r>
            <a:endParaRPr sz="1400" b="0" i="0" u="none" strike="noStrike" cap="none">
              <a:solidFill>
                <a:srgbClr val="000000"/>
              </a:solidFill>
              <a:latin typeface="Arial"/>
              <a:ea typeface="Arial"/>
              <a:cs typeface="Arial"/>
              <a:sym typeface="Arial"/>
            </a:endParaRPr>
          </a:p>
        </p:txBody>
      </p:sp>
      <p:sp>
        <p:nvSpPr>
          <p:cNvPr id="928" name="Google Shape;928;p44"/>
          <p:cNvSpPr txBox="1"/>
          <p:nvPr/>
        </p:nvSpPr>
        <p:spPr>
          <a:xfrm>
            <a:off x="5890437" y="3123497"/>
            <a:ext cx="1095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End-to-end </a:t>
            </a:r>
            <a:endParaRPr sz="1400" b="0" i="0" u="none" strike="noStrike" cap="none">
              <a:solidFill>
                <a:srgbClr val="000000"/>
              </a:solidFill>
              <a:latin typeface="Arial"/>
              <a:ea typeface="Arial"/>
              <a:cs typeface="Arial"/>
              <a:sym typeface="Arial"/>
            </a:endParaRPr>
          </a:p>
        </p:txBody>
      </p:sp>
      <p:sp>
        <p:nvSpPr>
          <p:cNvPr id="929" name="Google Shape;929;p44"/>
          <p:cNvSpPr txBox="1"/>
          <p:nvPr/>
        </p:nvSpPr>
        <p:spPr>
          <a:xfrm>
            <a:off x="5911703" y="4108966"/>
            <a:ext cx="10953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Substring</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p45"/>
          <p:cNvSpPr txBox="1">
            <a:spLocks noGrp="1"/>
          </p:cNvSpPr>
          <p:nvPr>
            <p:ph type="title"/>
          </p:nvPr>
        </p:nvSpPr>
        <p:spPr>
          <a:xfrm>
            <a:off x="628650" y="396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 Alignment</a:t>
            </a:r>
            <a:endParaRPr/>
          </a:p>
        </p:txBody>
      </p:sp>
      <p:sp>
        <p:nvSpPr>
          <p:cNvPr id="935" name="Google Shape;935;p45"/>
          <p:cNvSpPr txBox="1"/>
          <p:nvPr/>
        </p:nvSpPr>
        <p:spPr>
          <a:xfrm>
            <a:off x="2647025" y="1523600"/>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Database of known sequences</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36" name="Google Shape;936;p45"/>
          <p:cNvSpPr txBox="1"/>
          <p:nvPr/>
        </p:nvSpPr>
        <p:spPr>
          <a:xfrm>
            <a:off x="414975" y="1488175"/>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Query: Unknown sequence</a:t>
            </a:r>
            <a:endParaRPr sz="1200" b="0" i="0" u="none" strike="noStrike" cap="none">
              <a:solidFill>
                <a:srgbClr val="000000"/>
              </a:solidFill>
              <a:latin typeface="Helvetica Neue Light"/>
              <a:ea typeface="Helvetica Neue Light"/>
              <a:cs typeface="Helvetica Neue Light"/>
              <a:sym typeface="Helvetica Neue Light"/>
            </a:endParaRPr>
          </a:p>
        </p:txBody>
      </p:sp>
      <p:grpSp>
        <p:nvGrpSpPr>
          <p:cNvPr id="937" name="Google Shape;937;p45"/>
          <p:cNvGrpSpPr/>
          <p:nvPr/>
        </p:nvGrpSpPr>
        <p:grpSpPr>
          <a:xfrm>
            <a:off x="2336775" y="1303875"/>
            <a:ext cx="393000" cy="510737"/>
            <a:chOff x="2308225" y="2473175"/>
            <a:chExt cx="393000" cy="510737"/>
          </a:xfrm>
        </p:grpSpPr>
        <p:sp>
          <p:nvSpPr>
            <p:cNvPr id="938" name="Google Shape;938;p45"/>
            <p:cNvSpPr/>
            <p:nvPr/>
          </p:nvSpPr>
          <p:spPr>
            <a:xfrm>
              <a:off x="2308225" y="2473175"/>
              <a:ext cx="393000" cy="478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39" name="Google Shape;939;p45"/>
            <p:cNvPicPr preferRelativeResize="0"/>
            <p:nvPr/>
          </p:nvPicPr>
          <p:blipFill rotWithShape="1">
            <a:blip r:embed="rId3">
              <a:alphaModFix/>
            </a:blip>
            <a:srcRect l="10530" t="15160" r="84070" b="72982"/>
            <a:stretch/>
          </p:blipFill>
          <p:spPr>
            <a:xfrm>
              <a:off x="2308289" y="2473187"/>
              <a:ext cx="392877" cy="510725"/>
            </a:xfrm>
            <a:prstGeom prst="rect">
              <a:avLst/>
            </a:prstGeom>
            <a:noFill/>
            <a:ln w="9525" cap="flat" cmpd="sng">
              <a:solidFill>
                <a:srgbClr val="FFFFFF"/>
              </a:solidFill>
              <a:prstDash val="solid"/>
              <a:round/>
              <a:headEnd type="none" w="sm" len="sm"/>
              <a:tailEnd type="none" w="sm" len="sm"/>
            </a:ln>
          </p:spPr>
        </p:pic>
      </p:grpSp>
      <p:sp>
        <p:nvSpPr>
          <p:cNvPr id="940" name="Google Shape;940;p45"/>
          <p:cNvSpPr txBox="1"/>
          <p:nvPr/>
        </p:nvSpPr>
        <p:spPr>
          <a:xfrm>
            <a:off x="414975" y="2083975"/>
            <a:ext cx="1589100" cy="37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&gt; Seq_1, unknown</a:t>
            </a:r>
            <a:endParaRPr sz="1000" b="1"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CTCATTCGGT</a:t>
            </a:r>
            <a:endParaRPr sz="1000" b="1" i="0" u="none" strike="noStrike" cap="none">
              <a:solidFill>
                <a:srgbClr val="000000"/>
              </a:solidFill>
              <a:latin typeface="Arial"/>
              <a:ea typeface="Arial"/>
              <a:cs typeface="Arial"/>
              <a:sym typeface="Arial"/>
            </a:endParaRPr>
          </a:p>
        </p:txBody>
      </p:sp>
      <p:sp>
        <p:nvSpPr>
          <p:cNvPr id="941" name="Google Shape;941;p45"/>
          <p:cNvSpPr txBox="1"/>
          <p:nvPr/>
        </p:nvSpPr>
        <p:spPr>
          <a:xfrm>
            <a:off x="2647025" y="2119400"/>
            <a:ext cx="1589100" cy="1503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&gt; 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Courier New"/>
              <a:ea typeface="Courier New"/>
              <a:cs typeface="Courier New"/>
              <a:sym typeface="Courier New"/>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46"/>
          <p:cNvSpPr txBox="1">
            <a:spLocks noGrp="1"/>
          </p:cNvSpPr>
          <p:nvPr>
            <p:ph type="title"/>
          </p:nvPr>
        </p:nvSpPr>
        <p:spPr>
          <a:xfrm>
            <a:off x="628650" y="396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 Alignment</a:t>
            </a:r>
            <a:endParaRPr/>
          </a:p>
        </p:txBody>
      </p:sp>
      <p:sp>
        <p:nvSpPr>
          <p:cNvPr id="947" name="Google Shape;947;p46"/>
          <p:cNvSpPr txBox="1"/>
          <p:nvPr/>
        </p:nvSpPr>
        <p:spPr>
          <a:xfrm>
            <a:off x="2693575" y="1442150"/>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Database of known sequences</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48" name="Google Shape;948;p46"/>
          <p:cNvSpPr txBox="1"/>
          <p:nvPr/>
        </p:nvSpPr>
        <p:spPr>
          <a:xfrm>
            <a:off x="461525" y="1406725"/>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Query: Unknown sequence</a:t>
            </a:r>
            <a:endParaRPr sz="1200" b="0" i="0" u="none" strike="noStrike" cap="none">
              <a:solidFill>
                <a:srgbClr val="000000"/>
              </a:solidFill>
              <a:latin typeface="Helvetica Neue Light"/>
              <a:ea typeface="Helvetica Neue Light"/>
              <a:cs typeface="Helvetica Neue Light"/>
              <a:sym typeface="Helvetica Neue Light"/>
            </a:endParaRPr>
          </a:p>
        </p:txBody>
      </p:sp>
      <p:grpSp>
        <p:nvGrpSpPr>
          <p:cNvPr id="949" name="Google Shape;949;p46"/>
          <p:cNvGrpSpPr/>
          <p:nvPr/>
        </p:nvGrpSpPr>
        <p:grpSpPr>
          <a:xfrm>
            <a:off x="2383325" y="1222425"/>
            <a:ext cx="393000" cy="510737"/>
            <a:chOff x="2308225" y="2473175"/>
            <a:chExt cx="393000" cy="510737"/>
          </a:xfrm>
        </p:grpSpPr>
        <p:sp>
          <p:nvSpPr>
            <p:cNvPr id="950" name="Google Shape;950;p46"/>
            <p:cNvSpPr/>
            <p:nvPr/>
          </p:nvSpPr>
          <p:spPr>
            <a:xfrm>
              <a:off x="2308225" y="2473175"/>
              <a:ext cx="393000" cy="478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51" name="Google Shape;951;p46"/>
            <p:cNvPicPr preferRelativeResize="0"/>
            <p:nvPr/>
          </p:nvPicPr>
          <p:blipFill rotWithShape="1">
            <a:blip r:embed="rId3">
              <a:alphaModFix/>
            </a:blip>
            <a:srcRect l="10530" t="15160" r="84070" b="72982"/>
            <a:stretch/>
          </p:blipFill>
          <p:spPr>
            <a:xfrm>
              <a:off x="2308289" y="2473187"/>
              <a:ext cx="392877" cy="510725"/>
            </a:xfrm>
            <a:prstGeom prst="rect">
              <a:avLst/>
            </a:prstGeom>
            <a:noFill/>
            <a:ln w="9525" cap="flat" cmpd="sng">
              <a:solidFill>
                <a:srgbClr val="FFFFFF"/>
              </a:solidFill>
              <a:prstDash val="solid"/>
              <a:round/>
              <a:headEnd type="none" w="sm" len="sm"/>
              <a:tailEnd type="none" w="sm" len="sm"/>
            </a:ln>
          </p:spPr>
        </p:pic>
      </p:grpSp>
      <p:sp>
        <p:nvSpPr>
          <p:cNvPr id="952" name="Google Shape;952;p46"/>
          <p:cNvSpPr txBox="1"/>
          <p:nvPr/>
        </p:nvSpPr>
        <p:spPr>
          <a:xfrm>
            <a:off x="4832075" y="1452300"/>
            <a:ext cx="33228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Sequence Alignment</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53" name="Google Shape;953;p46"/>
          <p:cNvSpPr txBox="1"/>
          <p:nvPr/>
        </p:nvSpPr>
        <p:spPr>
          <a:xfrm>
            <a:off x="461525" y="2002525"/>
            <a:ext cx="1589100" cy="37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&gt; Seq_1, unknown</a:t>
            </a:r>
            <a:endParaRPr sz="1000" b="1"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CTCATTCGGT</a:t>
            </a:r>
            <a:endParaRPr sz="1000" b="1" i="0" u="none" strike="noStrike" cap="none">
              <a:solidFill>
                <a:srgbClr val="000000"/>
              </a:solidFill>
              <a:latin typeface="Arial"/>
              <a:ea typeface="Arial"/>
              <a:cs typeface="Arial"/>
              <a:sym typeface="Arial"/>
            </a:endParaRPr>
          </a:p>
        </p:txBody>
      </p:sp>
      <p:sp>
        <p:nvSpPr>
          <p:cNvPr id="954" name="Google Shape;954;p46"/>
          <p:cNvSpPr txBox="1"/>
          <p:nvPr/>
        </p:nvSpPr>
        <p:spPr>
          <a:xfrm>
            <a:off x="2693575" y="2037950"/>
            <a:ext cx="1589100" cy="1503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&gt; 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Courier New"/>
              <a:ea typeface="Courier New"/>
              <a:cs typeface="Courier New"/>
              <a:sym typeface="Courier New"/>
            </a:endParaRPr>
          </a:p>
        </p:txBody>
      </p:sp>
      <p:sp>
        <p:nvSpPr>
          <p:cNvPr id="955" name="Google Shape;955;p46"/>
          <p:cNvSpPr txBox="1"/>
          <p:nvPr/>
        </p:nvSpPr>
        <p:spPr>
          <a:xfrm>
            <a:off x="4832075" y="213175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 </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sp>
        <p:nvSpPr>
          <p:cNvPr id="956" name="Google Shape;956;p46"/>
          <p:cNvSpPr txBox="1"/>
          <p:nvPr/>
        </p:nvSpPr>
        <p:spPr>
          <a:xfrm>
            <a:off x="6565775" y="213175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5E5E5E"/>
                </a:solidFill>
                <a:latin typeface="Courier New"/>
                <a:ea typeface="Courier New"/>
                <a:cs typeface="Courier New"/>
                <a:sym typeface="Courier New"/>
              </a:rPr>
              <a:t>&gt; </a:t>
            </a:r>
            <a:r>
              <a:rPr lang="en" sz="1000" b="1" i="0" u="none" strike="noStrike" cap="none">
                <a:solidFill>
                  <a:srgbClr val="674EA7"/>
                </a:solidFill>
                <a:latin typeface="Courier New"/>
                <a:ea typeface="Courier New"/>
                <a:cs typeface="Courier New"/>
                <a:sym typeface="Courier New"/>
              </a:rPr>
              <a:t>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pic>
        <p:nvPicPr>
          <p:cNvPr id="957" name="Google Shape;957;p46"/>
          <p:cNvPicPr preferRelativeResize="0"/>
          <p:nvPr/>
        </p:nvPicPr>
        <p:blipFill rotWithShape="1">
          <a:blip r:embed="rId4">
            <a:alphaModFix/>
          </a:blip>
          <a:srcRect/>
          <a:stretch/>
        </p:blipFill>
        <p:spPr>
          <a:xfrm>
            <a:off x="8101575" y="174183"/>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47"/>
          <p:cNvSpPr txBox="1">
            <a:spLocks noGrp="1"/>
          </p:cNvSpPr>
          <p:nvPr>
            <p:ph type="title"/>
          </p:nvPr>
        </p:nvSpPr>
        <p:spPr>
          <a:xfrm>
            <a:off x="628650" y="396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 Alignment</a:t>
            </a:r>
            <a:endParaRPr/>
          </a:p>
        </p:txBody>
      </p:sp>
      <p:sp>
        <p:nvSpPr>
          <p:cNvPr id="963" name="Google Shape;963;p47"/>
          <p:cNvSpPr txBox="1"/>
          <p:nvPr/>
        </p:nvSpPr>
        <p:spPr>
          <a:xfrm>
            <a:off x="2693575" y="1364000"/>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Database of known sequences</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64" name="Google Shape;964;p47"/>
          <p:cNvSpPr txBox="1"/>
          <p:nvPr/>
        </p:nvSpPr>
        <p:spPr>
          <a:xfrm>
            <a:off x="461525" y="1328575"/>
            <a:ext cx="15891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Query: Unknown sequence</a:t>
            </a:r>
            <a:endParaRPr sz="1200" b="0" i="0" u="none" strike="noStrike" cap="none">
              <a:solidFill>
                <a:srgbClr val="000000"/>
              </a:solidFill>
              <a:latin typeface="Helvetica Neue Light"/>
              <a:ea typeface="Helvetica Neue Light"/>
              <a:cs typeface="Helvetica Neue Light"/>
              <a:sym typeface="Helvetica Neue Light"/>
            </a:endParaRPr>
          </a:p>
        </p:txBody>
      </p:sp>
      <p:grpSp>
        <p:nvGrpSpPr>
          <p:cNvPr id="965" name="Google Shape;965;p47"/>
          <p:cNvGrpSpPr/>
          <p:nvPr/>
        </p:nvGrpSpPr>
        <p:grpSpPr>
          <a:xfrm>
            <a:off x="2383325" y="1144275"/>
            <a:ext cx="393000" cy="510737"/>
            <a:chOff x="2308225" y="2473175"/>
            <a:chExt cx="393000" cy="510737"/>
          </a:xfrm>
        </p:grpSpPr>
        <p:sp>
          <p:nvSpPr>
            <p:cNvPr id="966" name="Google Shape;966;p47"/>
            <p:cNvSpPr/>
            <p:nvPr/>
          </p:nvSpPr>
          <p:spPr>
            <a:xfrm>
              <a:off x="2308225" y="2473175"/>
              <a:ext cx="393000" cy="478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967" name="Google Shape;967;p47"/>
            <p:cNvPicPr preferRelativeResize="0"/>
            <p:nvPr/>
          </p:nvPicPr>
          <p:blipFill rotWithShape="1">
            <a:blip r:embed="rId3">
              <a:alphaModFix/>
            </a:blip>
            <a:srcRect l="10530" t="15160" r="84070" b="72982"/>
            <a:stretch/>
          </p:blipFill>
          <p:spPr>
            <a:xfrm>
              <a:off x="2308289" y="2473187"/>
              <a:ext cx="392877" cy="510725"/>
            </a:xfrm>
            <a:prstGeom prst="rect">
              <a:avLst/>
            </a:prstGeom>
            <a:noFill/>
            <a:ln w="9525" cap="flat" cmpd="sng">
              <a:solidFill>
                <a:srgbClr val="FFFFFF"/>
              </a:solidFill>
              <a:prstDash val="solid"/>
              <a:round/>
              <a:headEnd type="none" w="sm" len="sm"/>
              <a:tailEnd type="none" w="sm" len="sm"/>
            </a:ln>
          </p:spPr>
        </p:pic>
      </p:grpSp>
      <p:sp>
        <p:nvSpPr>
          <p:cNvPr id="968" name="Google Shape;968;p47"/>
          <p:cNvSpPr txBox="1"/>
          <p:nvPr/>
        </p:nvSpPr>
        <p:spPr>
          <a:xfrm>
            <a:off x="4832075" y="1374150"/>
            <a:ext cx="3322800" cy="462900"/>
          </a:xfrm>
          <a:prstGeom prst="rect">
            <a:avLst/>
          </a:prstGeom>
          <a:noFill/>
          <a:ln w="9525" cap="flat" cmpd="sng">
            <a:solidFill>
              <a:srgbClr val="3D85C6"/>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Helvetica Neue Light"/>
                <a:ea typeface="Helvetica Neue Light"/>
                <a:cs typeface="Helvetica Neue Light"/>
                <a:sym typeface="Helvetica Neue Light"/>
              </a:rPr>
              <a:t>Sequence Alignment</a:t>
            </a:r>
            <a:endParaRPr sz="1200" b="0" i="0" u="none" strike="noStrike" cap="none">
              <a:solidFill>
                <a:srgbClr val="000000"/>
              </a:solidFill>
              <a:latin typeface="Helvetica Neue Light"/>
              <a:ea typeface="Helvetica Neue Light"/>
              <a:cs typeface="Helvetica Neue Light"/>
              <a:sym typeface="Helvetica Neue Light"/>
            </a:endParaRPr>
          </a:p>
        </p:txBody>
      </p:sp>
      <p:sp>
        <p:nvSpPr>
          <p:cNvPr id="969" name="Google Shape;969;p47"/>
          <p:cNvSpPr txBox="1"/>
          <p:nvPr/>
        </p:nvSpPr>
        <p:spPr>
          <a:xfrm>
            <a:off x="461525" y="1924375"/>
            <a:ext cx="1589100" cy="373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&gt; Seq_1, unknown</a:t>
            </a:r>
            <a:endParaRPr sz="1000" b="1" i="0" u="none" strike="noStrike" cap="none">
              <a:solidFill>
                <a:srgbClr val="000000"/>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0000"/>
                </a:solidFill>
                <a:latin typeface="Courier New"/>
                <a:ea typeface="Courier New"/>
                <a:cs typeface="Courier New"/>
                <a:sym typeface="Courier New"/>
              </a:rPr>
              <a:t>CTCATTCGGT</a:t>
            </a:r>
            <a:endParaRPr sz="1000" b="1" i="0" u="none" strike="noStrike" cap="none">
              <a:solidFill>
                <a:srgbClr val="000000"/>
              </a:solidFill>
              <a:latin typeface="Arial"/>
              <a:ea typeface="Arial"/>
              <a:cs typeface="Arial"/>
              <a:sym typeface="Arial"/>
            </a:endParaRPr>
          </a:p>
        </p:txBody>
      </p:sp>
      <p:sp>
        <p:nvSpPr>
          <p:cNvPr id="970" name="Google Shape;970;p47"/>
          <p:cNvSpPr txBox="1"/>
          <p:nvPr/>
        </p:nvSpPr>
        <p:spPr>
          <a:xfrm>
            <a:off x="2693575" y="1959800"/>
            <a:ext cx="1589100" cy="1503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&gt; 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0000"/>
              </a:solidFill>
              <a:latin typeface="Courier New"/>
              <a:ea typeface="Courier New"/>
              <a:cs typeface="Courier New"/>
              <a:sym typeface="Courier New"/>
            </a:endParaRPr>
          </a:p>
        </p:txBody>
      </p:sp>
      <p:sp>
        <p:nvSpPr>
          <p:cNvPr id="971" name="Google Shape;971;p47"/>
          <p:cNvSpPr txBox="1"/>
          <p:nvPr/>
        </p:nvSpPr>
        <p:spPr>
          <a:xfrm>
            <a:off x="4832075" y="205360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&gt; species 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GCCTCGATCTGTAGCCT</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&gt; species B</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ATGGACTCATTCGGTCG</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 </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sp>
        <p:nvSpPr>
          <p:cNvPr id="972" name="Google Shape;972;p47"/>
          <p:cNvSpPr txBox="1"/>
          <p:nvPr/>
        </p:nvSpPr>
        <p:spPr>
          <a:xfrm>
            <a:off x="6565775" y="2053600"/>
            <a:ext cx="1589100" cy="1635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&gt; species C</a:t>
            </a:r>
            <a:endParaRPr sz="1000" b="1" i="0" u="none" strike="noStrike" cap="none">
              <a:solidFill>
                <a:srgbClr val="EB220C"/>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EB220C"/>
                </a:solidFill>
                <a:latin typeface="Courier New"/>
                <a:ea typeface="Courier New"/>
                <a:cs typeface="Courier New"/>
                <a:sym typeface="Courier New"/>
              </a:rPr>
              <a:t>TGCTAAATCGCGCCCTA</a:t>
            </a: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00A2F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 ||| </a:t>
            </a:r>
            <a:endParaRPr sz="1000" b="1" i="0" u="none" strike="noStrike" cap="none">
              <a:solidFill>
                <a:srgbClr val="999999"/>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5E5E5E"/>
                </a:solidFill>
                <a:latin typeface="Courier New"/>
                <a:ea typeface="Courier New"/>
                <a:cs typeface="Courier New"/>
                <a:sym typeface="Courier New"/>
              </a:rPr>
              <a:t>&gt; </a:t>
            </a:r>
            <a:r>
              <a:rPr lang="en" sz="1000" b="1" i="0" u="none" strike="noStrike" cap="none">
                <a:solidFill>
                  <a:srgbClr val="674EA7"/>
                </a:solidFill>
                <a:latin typeface="Courier New"/>
                <a:ea typeface="Courier New"/>
                <a:cs typeface="Courier New"/>
                <a:sym typeface="Courier New"/>
              </a:rPr>
              <a:t>species D</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74EA7"/>
                </a:solidFill>
                <a:latin typeface="Courier New"/>
                <a:ea typeface="Courier New"/>
                <a:cs typeface="Courier New"/>
                <a:sym typeface="Courier New"/>
              </a:rPr>
              <a:t>TGGCTAAGTCATATAGC</a:t>
            </a:r>
            <a:endParaRPr sz="1000" b="1" i="0" u="none" strike="noStrike" cap="none">
              <a:solidFill>
                <a:srgbClr val="674EA7"/>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        </a:t>
            </a:r>
            <a:r>
              <a:rPr lang="en" sz="1000" b="1" i="0" u="none" strike="noStrike" cap="none">
                <a:solidFill>
                  <a:srgbClr val="999999"/>
                </a:solidFill>
                <a:latin typeface="Courier New"/>
                <a:ea typeface="Courier New"/>
                <a:cs typeface="Courier New"/>
                <a:sym typeface="Courier New"/>
              </a:rPr>
              <a:t>||||   </a:t>
            </a:r>
            <a:r>
              <a:rPr lang="en" sz="1000" b="1" i="0" u="none" strike="noStrike" cap="none">
                <a:solidFill>
                  <a:srgbClr val="6AA84F"/>
                </a:solidFill>
                <a:latin typeface="Courier New"/>
                <a:ea typeface="Courier New"/>
                <a:cs typeface="Courier New"/>
                <a:sym typeface="Courier New"/>
              </a:rPr>
              <a: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chemeClr val="dk1"/>
                </a:solidFill>
                <a:latin typeface="Courier New"/>
                <a:ea typeface="Courier New"/>
                <a:cs typeface="Courier New"/>
                <a:sym typeface="Courier New"/>
              </a:rPr>
              <a:t>       CTCATTCGGT</a:t>
            </a:r>
            <a:endParaRPr sz="1000" b="1" i="0" u="none" strike="noStrike" cap="none">
              <a:solidFill>
                <a:srgbClr val="6AA84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1000"/>
              <a:buFont typeface="Arial"/>
              <a:buNone/>
            </a:pPr>
            <a:endParaRPr sz="1000" b="1" i="0" u="none" strike="noStrike" cap="none">
              <a:solidFill>
                <a:srgbClr val="00A2FF"/>
              </a:solidFill>
              <a:latin typeface="Courier New"/>
              <a:ea typeface="Courier New"/>
              <a:cs typeface="Courier New"/>
              <a:sym typeface="Courier New"/>
            </a:endParaRPr>
          </a:p>
        </p:txBody>
      </p:sp>
      <p:sp>
        <p:nvSpPr>
          <p:cNvPr id="973" name="Google Shape;973;p47"/>
          <p:cNvSpPr/>
          <p:nvPr/>
        </p:nvSpPr>
        <p:spPr>
          <a:xfrm>
            <a:off x="4648200" y="2781849"/>
            <a:ext cx="1849800" cy="943500"/>
          </a:xfrm>
          <a:prstGeom prst="ellipse">
            <a:avLst/>
          </a:prstGeom>
          <a:noFill/>
          <a:ln w="28575" cap="flat" cmpd="sng">
            <a:solidFill>
              <a:srgbClr val="1DAD0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4" name="Google Shape;974;p47"/>
          <p:cNvSpPr txBox="1"/>
          <p:nvPr/>
        </p:nvSpPr>
        <p:spPr>
          <a:xfrm>
            <a:off x="4572000" y="4184275"/>
            <a:ext cx="1907400" cy="3735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Arial"/>
                <a:ea typeface="Arial"/>
                <a:cs typeface="Arial"/>
                <a:sym typeface="Arial"/>
              </a:rPr>
              <a:t>Seq_1 = Species B</a:t>
            </a:r>
            <a:endParaRPr sz="1400" b="1" i="0" u="none" strike="noStrike" cap="non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48"/>
          <p:cNvSpPr txBox="1">
            <a:spLocks noGrp="1"/>
          </p:cNvSpPr>
          <p:nvPr>
            <p:ph type="title"/>
          </p:nvPr>
        </p:nvSpPr>
        <p:spPr>
          <a:xfrm>
            <a:off x="311700" y="15061"/>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020"/>
              <a:t>Alignment Metrics</a:t>
            </a:r>
            <a:endParaRPr sz="3020"/>
          </a:p>
        </p:txBody>
      </p:sp>
      <p:sp>
        <p:nvSpPr>
          <p:cNvPr id="980" name="Google Shape;980;p48"/>
          <p:cNvSpPr txBox="1">
            <a:spLocks noGrp="1"/>
          </p:cNvSpPr>
          <p:nvPr>
            <p:ph type="body" idx="1"/>
          </p:nvPr>
        </p:nvSpPr>
        <p:spPr>
          <a:xfrm>
            <a:off x="311700" y="587760"/>
            <a:ext cx="8520600" cy="4739151"/>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dk1"/>
                </a:solidFill>
              </a:rPr>
              <a:t>Alignment length </a:t>
            </a:r>
            <a:endParaRPr/>
          </a:p>
          <a:p>
            <a:pPr marL="914400" lvl="1" indent="-317500" algn="l" rtl="0">
              <a:lnSpc>
                <a:spcPct val="115000"/>
              </a:lnSpc>
              <a:spcBef>
                <a:spcPts val="0"/>
              </a:spcBef>
              <a:spcAft>
                <a:spcPts val="0"/>
              </a:spcAft>
              <a:buSzPts val="1400"/>
              <a:buChar char="○"/>
            </a:pPr>
            <a:r>
              <a:rPr lang="en"/>
              <a:t>How long is the alignment between the query and subject (sequence in the database)?</a:t>
            </a:r>
            <a:endParaRPr/>
          </a:p>
          <a:p>
            <a:pPr marL="457200" lvl="0" indent="-228600" algn="l" rtl="0">
              <a:lnSpc>
                <a:spcPct val="115000"/>
              </a:lnSpc>
              <a:spcBef>
                <a:spcPts val="0"/>
              </a:spcBef>
              <a:spcAft>
                <a:spcPts val="0"/>
              </a:spcAft>
              <a:buSzPts val="18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84"/>
        <p:cNvGrpSpPr/>
        <p:nvPr/>
      </p:nvGrpSpPr>
      <p:grpSpPr>
        <a:xfrm>
          <a:off x="0" y="0"/>
          <a:ext cx="0" cy="0"/>
          <a:chOff x="0" y="0"/>
          <a:chExt cx="0" cy="0"/>
        </a:xfrm>
      </p:grpSpPr>
      <p:sp>
        <p:nvSpPr>
          <p:cNvPr id="985" name="Google Shape;985;p49"/>
          <p:cNvSpPr txBox="1">
            <a:spLocks noGrp="1"/>
          </p:cNvSpPr>
          <p:nvPr>
            <p:ph type="title"/>
          </p:nvPr>
        </p:nvSpPr>
        <p:spPr>
          <a:xfrm>
            <a:off x="311700" y="15061"/>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020"/>
              <a:t>Alignment Metrics</a:t>
            </a:r>
            <a:endParaRPr sz="3020"/>
          </a:p>
        </p:txBody>
      </p:sp>
      <p:sp>
        <p:nvSpPr>
          <p:cNvPr id="986" name="Google Shape;986;p49"/>
          <p:cNvSpPr txBox="1">
            <a:spLocks noGrp="1"/>
          </p:cNvSpPr>
          <p:nvPr>
            <p:ph type="body" idx="1"/>
          </p:nvPr>
        </p:nvSpPr>
        <p:spPr>
          <a:xfrm>
            <a:off x="311700" y="587760"/>
            <a:ext cx="8520600" cy="4739151"/>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dk1"/>
                </a:solidFill>
              </a:rPr>
              <a:t>Alignment length </a:t>
            </a:r>
            <a:endParaRPr/>
          </a:p>
          <a:p>
            <a:pPr marL="914400" lvl="1" indent="-323850" algn="l" rtl="0">
              <a:lnSpc>
                <a:spcPct val="115000"/>
              </a:lnSpc>
              <a:spcBef>
                <a:spcPts val="0"/>
              </a:spcBef>
              <a:spcAft>
                <a:spcPts val="0"/>
              </a:spcAft>
              <a:buSzPts val="1500"/>
              <a:buChar char="○"/>
            </a:pPr>
            <a:r>
              <a:rPr lang="en" sz="1500"/>
              <a:t>How long is the alignment between the query and subject (sequence in the database)?</a:t>
            </a:r>
            <a:endParaRPr sz="1500"/>
          </a:p>
          <a:p>
            <a:pPr marL="457200" lvl="0" indent="-228600" algn="l" rtl="0">
              <a:lnSpc>
                <a:spcPct val="115000"/>
              </a:lnSpc>
              <a:spcBef>
                <a:spcPts val="0"/>
              </a:spcBef>
              <a:spcAft>
                <a:spcPts val="0"/>
              </a:spcAft>
              <a:buSzPts val="1800"/>
              <a:buNone/>
            </a:pPr>
            <a:endParaRPr sz="1500"/>
          </a:p>
          <a:p>
            <a:pPr marL="457200" lvl="0" indent="-22860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solidFill>
                  <a:schemeClr val="dk1"/>
                </a:solidFill>
              </a:rPr>
              <a:t>Query coverage</a:t>
            </a:r>
            <a:endParaRPr/>
          </a:p>
          <a:p>
            <a:pPr marL="914400" lvl="1" indent="-323850" algn="l" rtl="0">
              <a:lnSpc>
                <a:spcPct val="115000"/>
              </a:lnSpc>
              <a:spcBef>
                <a:spcPts val="0"/>
              </a:spcBef>
              <a:spcAft>
                <a:spcPts val="0"/>
              </a:spcAft>
              <a:buSzPts val="1500"/>
              <a:buChar char="○"/>
            </a:pPr>
            <a:r>
              <a:rPr lang="en" sz="1500"/>
              <a:t>How much of my query sequence was covered by the alignment?</a:t>
            </a:r>
            <a:endParaRPr sz="1500"/>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114300" lvl="0" indent="0" algn="l" rtl="0">
              <a:lnSpc>
                <a:spcPct val="115000"/>
              </a:lnSpc>
              <a:spcBef>
                <a:spcPts val="0"/>
              </a:spcBef>
              <a:spcAft>
                <a:spcPts val="0"/>
              </a:spcAft>
              <a:buSzPts val="1800"/>
              <a:buNone/>
            </a:pPr>
            <a:endParaRPr/>
          </a:p>
          <a:p>
            <a:pPr marL="114300" lvl="0" indent="0" algn="l" rtl="0">
              <a:lnSpc>
                <a:spcPct val="115000"/>
              </a:lnSpc>
              <a:spcBef>
                <a:spcPts val="0"/>
              </a:spcBef>
              <a:spcAft>
                <a:spcPts val="0"/>
              </a:spcAft>
              <a:buSzPts val="18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p:txBody>
      </p:sp>
      <p:pic>
        <p:nvPicPr>
          <p:cNvPr id="987" name="Google Shape;987;p49"/>
          <p:cNvPicPr preferRelativeResize="0"/>
          <p:nvPr/>
        </p:nvPicPr>
        <p:blipFill rotWithShape="1">
          <a:blip r:embed="rId3">
            <a:alphaModFix/>
          </a:blip>
          <a:srcRect/>
          <a:stretch/>
        </p:blipFill>
        <p:spPr>
          <a:xfrm>
            <a:off x="2128653" y="2645238"/>
            <a:ext cx="4886694" cy="561244"/>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91"/>
        <p:cNvGrpSpPr/>
        <p:nvPr/>
      </p:nvGrpSpPr>
      <p:grpSpPr>
        <a:xfrm>
          <a:off x="0" y="0"/>
          <a:ext cx="0" cy="0"/>
          <a:chOff x="0" y="0"/>
          <a:chExt cx="0" cy="0"/>
        </a:xfrm>
      </p:grpSpPr>
      <p:sp>
        <p:nvSpPr>
          <p:cNvPr id="992" name="Google Shape;992;p50"/>
          <p:cNvSpPr txBox="1">
            <a:spLocks noGrp="1"/>
          </p:cNvSpPr>
          <p:nvPr>
            <p:ph type="title"/>
          </p:nvPr>
        </p:nvSpPr>
        <p:spPr>
          <a:xfrm>
            <a:off x="311700" y="15061"/>
            <a:ext cx="8520600" cy="5727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3020"/>
              <a:t>Alignment Metrics</a:t>
            </a:r>
            <a:endParaRPr sz="3020"/>
          </a:p>
        </p:txBody>
      </p:sp>
      <p:sp>
        <p:nvSpPr>
          <p:cNvPr id="993" name="Google Shape;993;p50"/>
          <p:cNvSpPr txBox="1">
            <a:spLocks noGrp="1"/>
          </p:cNvSpPr>
          <p:nvPr>
            <p:ph type="body" idx="1"/>
          </p:nvPr>
        </p:nvSpPr>
        <p:spPr>
          <a:xfrm>
            <a:off x="311700" y="587760"/>
            <a:ext cx="8520600" cy="4739151"/>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dk1"/>
                </a:solidFill>
              </a:rPr>
              <a:t>Alignment length </a:t>
            </a:r>
            <a:endParaRPr/>
          </a:p>
          <a:p>
            <a:pPr marL="914400" lvl="1" indent="-317500" algn="l" rtl="0">
              <a:lnSpc>
                <a:spcPct val="115000"/>
              </a:lnSpc>
              <a:spcBef>
                <a:spcPts val="0"/>
              </a:spcBef>
              <a:spcAft>
                <a:spcPts val="0"/>
              </a:spcAft>
              <a:buSzPts val="1400"/>
              <a:buChar char="○"/>
            </a:pPr>
            <a:r>
              <a:rPr lang="en" sz="1500"/>
              <a:t>How long is the alignment between the query and subject (sequence in the datab</a:t>
            </a:r>
            <a:r>
              <a:rPr lang="en"/>
              <a:t>ase)?</a:t>
            </a:r>
            <a:endParaRPr/>
          </a:p>
          <a:p>
            <a:pPr marL="457200" lvl="0" indent="-228600" algn="l" rtl="0">
              <a:lnSpc>
                <a:spcPct val="115000"/>
              </a:lnSpc>
              <a:spcBef>
                <a:spcPts val="0"/>
              </a:spcBef>
              <a:spcAft>
                <a:spcPts val="0"/>
              </a:spcAft>
              <a:buSzPts val="1800"/>
              <a:buNone/>
            </a:pPr>
            <a:endParaRPr/>
          </a:p>
          <a:p>
            <a:pPr marL="457200" lvl="0" indent="-22860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solidFill>
                  <a:schemeClr val="dk1"/>
                </a:solidFill>
              </a:rPr>
              <a:t>Query coverage</a:t>
            </a:r>
            <a:endParaRPr/>
          </a:p>
          <a:p>
            <a:pPr marL="914400" lvl="1" indent="-323850" algn="l" rtl="0">
              <a:lnSpc>
                <a:spcPct val="115000"/>
              </a:lnSpc>
              <a:spcBef>
                <a:spcPts val="0"/>
              </a:spcBef>
              <a:spcAft>
                <a:spcPts val="0"/>
              </a:spcAft>
              <a:buSzPts val="1500"/>
              <a:buChar char="○"/>
            </a:pPr>
            <a:r>
              <a:rPr lang="en" sz="1500"/>
              <a:t>How much of my query sequence was covered by the alignment?</a:t>
            </a:r>
            <a:endParaRPr sz="1500"/>
          </a:p>
          <a:p>
            <a:pPr marL="914400" lvl="1" indent="-228600" algn="l" rtl="0">
              <a:lnSpc>
                <a:spcPct val="115000"/>
              </a:lnSpc>
              <a:spcBef>
                <a:spcPts val="0"/>
              </a:spcBef>
              <a:spcAft>
                <a:spcPts val="0"/>
              </a:spcAft>
              <a:buSzPts val="1400"/>
              <a:buNone/>
            </a:pPr>
            <a:endParaRPr sz="1500"/>
          </a:p>
          <a:p>
            <a:pPr marL="914400" lvl="1" indent="-228600" algn="l" rtl="0">
              <a:lnSpc>
                <a:spcPct val="115000"/>
              </a:lnSpc>
              <a:spcBef>
                <a:spcPts val="0"/>
              </a:spcBef>
              <a:spcAft>
                <a:spcPts val="0"/>
              </a:spcAft>
              <a:buSzPts val="1400"/>
              <a:buNone/>
            </a:pPr>
            <a:endParaRPr/>
          </a:p>
          <a:p>
            <a:pPr marL="114300" lvl="0" indent="0" algn="l" rtl="0">
              <a:lnSpc>
                <a:spcPct val="115000"/>
              </a:lnSpc>
              <a:spcBef>
                <a:spcPts val="0"/>
              </a:spcBef>
              <a:spcAft>
                <a:spcPts val="0"/>
              </a:spcAft>
              <a:buSzPts val="1800"/>
              <a:buNone/>
            </a:pPr>
            <a:endParaRPr/>
          </a:p>
          <a:p>
            <a:pPr marL="114300" lvl="0" indent="0" algn="l" rtl="0">
              <a:lnSpc>
                <a:spcPct val="115000"/>
              </a:lnSpc>
              <a:spcBef>
                <a:spcPts val="0"/>
              </a:spcBef>
              <a:spcAft>
                <a:spcPts val="0"/>
              </a:spcAft>
              <a:buSzPts val="1800"/>
              <a:buNone/>
            </a:pPr>
            <a:endParaRPr/>
          </a:p>
          <a:p>
            <a:pPr marL="457200" lvl="0" indent="-342900" algn="l" rtl="0">
              <a:lnSpc>
                <a:spcPct val="115000"/>
              </a:lnSpc>
              <a:spcBef>
                <a:spcPts val="0"/>
              </a:spcBef>
              <a:spcAft>
                <a:spcPts val="0"/>
              </a:spcAft>
              <a:buSzPts val="1800"/>
              <a:buChar char="●"/>
            </a:pPr>
            <a:r>
              <a:rPr lang="en">
                <a:solidFill>
                  <a:schemeClr val="dk1"/>
                </a:solidFill>
              </a:rPr>
              <a:t>Percent identity (% Id) </a:t>
            </a:r>
            <a:endParaRPr/>
          </a:p>
          <a:p>
            <a:pPr marL="914400" lvl="1" indent="-323850" algn="l" rtl="0">
              <a:lnSpc>
                <a:spcPct val="115000"/>
              </a:lnSpc>
              <a:spcBef>
                <a:spcPts val="0"/>
              </a:spcBef>
              <a:spcAft>
                <a:spcPts val="0"/>
              </a:spcAft>
              <a:buSzPts val="1500"/>
              <a:buChar char="○"/>
            </a:pPr>
            <a:r>
              <a:rPr lang="en" sz="1500"/>
              <a:t>How similar is my query sequence to the subject sequence?</a:t>
            </a:r>
            <a:endParaRPr sz="1500"/>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a:p>
            <a:pPr marL="914400" lvl="1" indent="-228600" algn="l" rtl="0">
              <a:lnSpc>
                <a:spcPct val="115000"/>
              </a:lnSpc>
              <a:spcBef>
                <a:spcPts val="0"/>
              </a:spcBef>
              <a:spcAft>
                <a:spcPts val="0"/>
              </a:spcAft>
              <a:buSzPts val="1400"/>
              <a:buNone/>
            </a:pPr>
            <a:endParaRPr/>
          </a:p>
        </p:txBody>
      </p:sp>
      <p:pic>
        <p:nvPicPr>
          <p:cNvPr id="994" name="Google Shape;994;p50"/>
          <p:cNvPicPr preferRelativeResize="0"/>
          <p:nvPr/>
        </p:nvPicPr>
        <p:blipFill rotWithShape="1">
          <a:blip r:embed="rId3">
            <a:alphaModFix/>
          </a:blip>
          <a:srcRect/>
          <a:stretch/>
        </p:blipFill>
        <p:spPr>
          <a:xfrm>
            <a:off x="2128653" y="2645238"/>
            <a:ext cx="4886694" cy="561244"/>
          </a:xfrm>
          <a:prstGeom prst="rect">
            <a:avLst/>
          </a:prstGeom>
          <a:noFill/>
          <a:ln>
            <a:noFill/>
          </a:ln>
        </p:spPr>
      </p:pic>
      <p:pic>
        <p:nvPicPr>
          <p:cNvPr id="995" name="Google Shape;995;p50"/>
          <p:cNvPicPr preferRelativeResize="0"/>
          <p:nvPr/>
        </p:nvPicPr>
        <p:blipFill rotWithShape="1">
          <a:blip r:embed="rId4">
            <a:alphaModFix/>
          </a:blip>
          <a:srcRect/>
          <a:stretch/>
        </p:blipFill>
        <p:spPr>
          <a:xfrm>
            <a:off x="543748" y="4243645"/>
            <a:ext cx="4754063" cy="561244"/>
          </a:xfrm>
          <a:prstGeom prst="rect">
            <a:avLst/>
          </a:prstGeom>
          <a:noFill/>
          <a:ln>
            <a:noFill/>
          </a:ln>
        </p:spPr>
      </p:pic>
      <p:pic>
        <p:nvPicPr>
          <p:cNvPr id="996" name="Google Shape;996;p50" descr="A black background with white text&#10;&#10;Description automatically generated"/>
          <p:cNvPicPr preferRelativeResize="0"/>
          <p:nvPr/>
        </p:nvPicPr>
        <p:blipFill rotWithShape="1">
          <a:blip r:embed="rId5">
            <a:alphaModFix/>
          </a:blip>
          <a:srcRect r="25313"/>
          <a:stretch/>
        </p:blipFill>
        <p:spPr>
          <a:xfrm>
            <a:off x="5583403" y="4243645"/>
            <a:ext cx="3016849" cy="790133"/>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00"/>
        <p:cNvGrpSpPr/>
        <p:nvPr/>
      </p:nvGrpSpPr>
      <p:grpSpPr>
        <a:xfrm>
          <a:off x="0" y="0"/>
          <a:ext cx="0" cy="0"/>
          <a:chOff x="0" y="0"/>
          <a:chExt cx="0" cy="0"/>
        </a:xfrm>
      </p:grpSpPr>
      <p:sp>
        <p:nvSpPr>
          <p:cNvPr id="1001" name="Google Shape;1001;p51"/>
          <p:cNvSpPr txBox="1">
            <a:spLocks noGrp="1"/>
          </p:cNvSpPr>
          <p:nvPr>
            <p:ph type="title"/>
          </p:nvPr>
        </p:nvSpPr>
        <p:spPr>
          <a:xfrm>
            <a:off x="633413" y="-9525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a:latin typeface="Arial"/>
                <a:ea typeface="Arial"/>
                <a:cs typeface="Arial"/>
                <a:sym typeface="Arial"/>
              </a:rPr>
              <a:t>Taxonomic assignment: Alignment</a:t>
            </a:r>
            <a:endParaRPr sz="3600">
              <a:latin typeface="Arial"/>
              <a:ea typeface="Arial"/>
              <a:cs typeface="Arial"/>
              <a:sym typeface="Arial"/>
            </a:endParaRPr>
          </a:p>
        </p:txBody>
      </p:sp>
      <p:sp>
        <p:nvSpPr>
          <p:cNvPr id="1002" name="Google Shape;1002;p51"/>
          <p:cNvSpPr txBox="1">
            <a:spLocks noGrp="1"/>
          </p:cNvSpPr>
          <p:nvPr>
            <p:ph type="body" idx="1"/>
          </p:nvPr>
        </p:nvSpPr>
        <p:spPr>
          <a:xfrm>
            <a:off x="619050" y="2769620"/>
            <a:ext cx="7886700" cy="13842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a:t>
            </a:r>
            <a:r>
              <a:rPr lang="en">
                <a:latin typeface="Arial"/>
                <a:ea typeface="Arial"/>
                <a:cs typeface="Arial"/>
                <a:sym typeface="Arial"/>
              </a:rPr>
              <a:t>Align</a:t>
            </a:r>
            <a:r>
              <a:rPr lang="en" sz="1800">
                <a:latin typeface="Arial"/>
                <a:ea typeface="Arial"/>
                <a:cs typeface="Arial"/>
                <a:sym typeface="Arial"/>
              </a:rPr>
              <a:t> </a:t>
            </a:r>
            <a:r>
              <a:rPr lang="en" sz="1800" u="sng">
                <a:latin typeface="Arial"/>
                <a:ea typeface="Arial"/>
                <a:cs typeface="Arial"/>
                <a:sym typeface="Arial"/>
              </a:rPr>
              <a:t>unknown sequences</a:t>
            </a:r>
            <a:r>
              <a:rPr lang="en">
                <a:latin typeface="Arial"/>
                <a:ea typeface="Arial"/>
                <a:cs typeface="Arial"/>
                <a:sym typeface="Arial"/>
              </a:rPr>
              <a:t> </a:t>
            </a:r>
            <a:r>
              <a:rPr lang="en" sz="1800">
                <a:latin typeface="Arial"/>
                <a:ea typeface="Arial"/>
                <a:cs typeface="Arial"/>
                <a:sym typeface="Arial"/>
              </a:rPr>
              <a:t>against a database of known sequences to identify the microbe of origin.</a:t>
            </a:r>
            <a:r>
              <a:rPr lang="en">
                <a:latin typeface="Arial"/>
                <a:ea typeface="Arial"/>
                <a:cs typeface="Arial"/>
                <a:sym typeface="Arial"/>
              </a:rPr>
              <a:t>	</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Query</a:t>
            </a:r>
            <a:r>
              <a:rPr lang="en" sz="1800">
                <a:latin typeface="Arial"/>
                <a:ea typeface="Arial"/>
                <a:cs typeface="Arial"/>
                <a:sym typeface="Arial"/>
              </a:rPr>
              <a:t>: </a:t>
            </a:r>
            <a:endParaRPr sz="1800">
              <a:latin typeface="Arial"/>
              <a:ea typeface="Arial"/>
              <a:cs typeface="Arial"/>
              <a:sym typeface="Arial"/>
            </a:endParaRPr>
          </a:p>
          <a:p>
            <a:pPr marL="914400" lvl="1" indent="-374650" algn="l" rtl="0">
              <a:lnSpc>
                <a:spcPct val="100000"/>
              </a:lnSpc>
              <a:spcBef>
                <a:spcPts val="2200"/>
              </a:spcBef>
              <a:spcAft>
                <a:spcPts val="0"/>
              </a:spcAft>
              <a:buSzPts val="2300"/>
              <a:buChar char="•"/>
            </a:pPr>
            <a:r>
              <a:rPr lang="en">
                <a:latin typeface="Arial"/>
                <a:ea typeface="Arial"/>
                <a:cs typeface="Arial"/>
                <a:sym typeface="Arial"/>
              </a:rPr>
              <a:t>Reads: Quality- and host- filtered sequence reads </a:t>
            </a:r>
            <a:endParaRPr>
              <a:latin typeface="Arial"/>
              <a:ea typeface="Arial"/>
              <a:cs typeface="Arial"/>
              <a:sym typeface="Arial"/>
            </a:endParaRPr>
          </a:p>
          <a:p>
            <a:pPr marL="914400" lvl="1" indent="-374650" algn="l" rtl="0">
              <a:lnSpc>
                <a:spcPct val="100000"/>
              </a:lnSpc>
              <a:spcBef>
                <a:spcPts val="2200"/>
              </a:spcBef>
              <a:spcAft>
                <a:spcPts val="0"/>
              </a:spcAft>
              <a:buSzPts val="2300"/>
              <a:buChar char="•"/>
            </a:pPr>
            <a:r>
              <a:rPr lang="en">
                <a:latin typeface="Arial"/>
                <a:ea typeface="Arial"/>
                <a:cs typeface="Arial"/>
                <a:sym typeface="Arial"/>
              </a:rPr>
              <a:t>Contigs: </a:t>
            </a:r>
            <a:r>
              <a:rPr lang="en">
                <a:solidFill>
                  <a:schemeClr val="dk1"/>
                </a:solidFill>
                <a:latin typeface="Arial"/>
                <a:ea typeface="Arial"/>
                <a:cs typeface="Arial"/>
                <a:sym typeface="Arial"/>
              </a:rPr>
              <a:t>Assembled or merged sequence reads that form longer DNA sequences.</a:t>
            </a:r>
            <a:endParaRPr sz="1600"/>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r>
              <a:rPr lang="en">
                <a:latin typeface="Arial"/>
                <a:ea typeface="Arial"/>
                <a:cs typeface="Arial"/>
                <a:sym typeface="Arial"/>
              </a:rPr>
              <a:t>	</a:t>
            </a: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p52"/>
          <p:cNvSpPr txBox="1">
            <a:spLocks noGrp="1"/>
          </p:cNvSpPr>
          <p:nvPr>
            <p:ph type="title"/>
          </p:nvPr>
        </p:nvSpPr>
        <p:spPr>
          <a:xfrm>
            <a:off x="628650" y="452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Contigs</a:t>
            </a:r>
            <a:endParaRPr sz="3200">
              <a:latin typeface="Arial"/>
              <a:ea typeface="Arial"/>
              <a:cs typeface="Arial"/>
              <a:sym typeface="Arial"/>
            </a:endParaRPr>
          </a:p>
        </p:txBody>
      </p:sp>
      <p:sp>
        <p:nvSpPr>
          <p:cNvPr id="921" name="Google Shape;921;p52"/>
          <p:cNvSpPr txBox="1">
            <a:spLocks noGrp="1"/>
          </p:cNvSpPr>
          <p:nvPr>
            <p:ph type="body" idx="1"/>
          </p:nvPr>
        </p:nvSpPr>
        <p:spPr>
          <a:xfrm>
            <a:off x="628650" y="10644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90000"/>
              </a:lnSpc>
              <a:spcBef>
                <a:spcPts val="800"/>
              </a:spcBef>
              <a:spcAft>
                <a:spcPts val="0"/>
              </a:spcAft>
              <a:buSzPts val="1400"/>
              <a:buNone/>
            </a:pPr>
            <a:r>
              <a:rPr lang="en" sz="2000" b="1">
                <a:latin typeface="Arial"/>
                <a:ea typeface="Arial"/>
                <a:cs typeface="Arial"/>
                <a:sym typeface="Arial"/>
              </a:rPr>
              <a:t>Contigs</a:t>
            </a:r>
            <a:r>
              <a:rPr lang="en" sz="2000">
                <a:latin typeface="Arial"/>
                <a:ea typeface="Arial"/>
                <a:cs typeface="Arial"/>
                <a:sym typeface="Arial"/>
              </a:rPr>
              <a:t>: Assembled or merged sequence reads that form longer DNA sequences. The assembly aims to reconstruct the original sequence.</a:t>
            </a:r>
            <a:endParaRPr sz="2000">
              <a:latin typeface="Arial"/>
              <a:ea typeface="Arial"/>
              <a:cs typeface="Arial"/>
              <a:sym typeface="Arial"/>
            </a:endParaRPr>
          </a:p>
        </p:txBody>
      </p:sp>
      <p:sp>
        <p:nvSpPr>
          <p:cNvPr id="922" name="Google Shape;922;p52"/>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3" name="Google Shape;923;p52"/>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4" name="Google Shape;924;p52"/>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5" name="Google Shape;925;p52"/>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52"/>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52"/>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8" name="Google Shape;928;p52"/>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52"/>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52"/>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1" name="Google Shape;931;p52"/>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2" name="Google Shape;932;p52"/>
          <p:cNvSpPr/>
          <p:nvPr/>
        </p:nvSpPr>
        <p:spPr>
          <a:xfrm>
            <a:off x="2889225" y="3371625"/>
            <a:ext cx="16278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3" name="Google Shape;933;p52"/>
          <p:cNvSpPr/>
          <p:nvPr/>
        </p:nvSpPr>
        <p:spPr>
          <a:xfrm>
            <a:off x="4866100" y="33716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4" name="Google Shape;934;p52"/>
          <p:cNvSpPr/>
          <p:nvPr/>
        </p:nvSpPr>
        <p:spPr>
          <a:xfrm>
            <a:off x="7468850" y="33716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5" name="Google Shape;935;p52"/>
          <p:cNvSpPr txBox="1"/>
          <p:nvPr/>
        </p:nvSpPr>
        <p:spPr>
          <a:xfrm>
            <a:off x="469175" y="21488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Microbial Genome Sequence</a:t>
            </a:r>
            <a:endParaRPr sz="1400" b="0" i="0" u="none" strike="noStrike" cap="none">
              <a:solidFill>
                <a:srgbClr val="000000"/>
              </a:solidFill>
              <a:latin typeface="Calibri"/>
              <a:ea typeface="Calibri"/>
              <a:cs typeface="Calibri"/>
              <a:sym typeface="Calibri"/>
            </a:endParaRPr>
          </a:p>
        </p:txBody>
      </p:sp>
      <p:sp>
        <p:nvSpPr>
          <p:cNvPr id="936" name="Google Shape;936;p52"/>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Sequencing Reads</a:t>
            </a:r>
            <a:endParaRPr sz="1400" b="0" i="0" u="none" strike="noStrike" cap="none">
              <a:solidFill>
                <a:srgbClr val="000000"/>
              </a:solidFill>
              <a:latin typeface="Calibri"/>
              <a:ea typeface="Calibri"/>
              <a:cs typeface="Calibri"/>
              <a:sym typeface="Calibri"/>
            </a:endParaRPr>
          </a:p>
        </p:txBody>
      </p:sp>
      <p:sp>
        <p:nvSpPr>
          <p:cNvPr id="937" name="Google Shape;937;p52"/>
          <p:cNvSpPr txBox="1"/>
          <p:nvPr/>
        </p:nvSpPr>
        <p:spPr>
          <a:xfrm>
            <a:off x="514425" y="32026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Assembled Contigs</a:t>
            </a:r>
            <a:endParaRPr sz="1400" b="0" i="0" u="none" strike="noStrike" cap="none">
              <a:solidFill>
                <a:srgbClr val="000000"/>
              </a:solidFill>
              <a:latin typeface="Calibri"/>
              <a:ea typeface="Calibri"/>
              <a:cs typeface="Calibri"/>
              <a:sym typeface="Calibri"/>
            </a:endParaRPr>
          </a:p>
        </p:txBody>
      </p:sp>
      <p:sp>
        <p:nvSpPr>
          <p:cNvPr id="938" name="Google Shape;938;p52"/>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006"/>
        <p:cNvGrpSpPr/>
        <p:nvPr/>
      </p:nvGrpSpPr>
      <p:grpSpPr>
        <a:xfrm>
          <a:off x="0" y="0"/>
          <a:ext cx="0" cy="0"/>
          <a:chOff x="0" y="0"/>
          <a:chExt cx="0" cy="0"/>
        </a:xfrm>
      </p:grpSpPr>
      <p:sp>
        <p:nvSpPr>
          <p:cNvPr id="1007" name="Google Shape;1007;g34dfca242b7_0_0"/>
          <p:cNvSpPr txBox="1">
            <a:spLocks noGrp="1"/>
          </p:cNvSpPr>
          <p:nvPr>
            <p:ph type="title"/>
          </p:nvPr>
        </p:nvSpPr>
        <p:spPr>
          <a:xfrm>
            <a:off x="628650" y="463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Sequence Assembly</a:t>
            </a:r>
            <a:endParaRPr sz="3200">
              <a:latin typeface="Arial"/>
              <a:ea typeface="Arial"/>
              <a:cs typeface="Arial"/>
              <a:sym typeface="Arial"/>
            </a:endParaRPr>
          </a:p>
        </p:txBody>
      </p:sp>
      <p:sp>
        <p:nvSpPr>
          <p:cNvPr id="1008" name="Google Shape;1008;g34dfca242b7_0_0"/>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
        <p:nvSpPr>
          <p:cNvPr id="1009" name="Google Shape;1009;g34dfca242b7_0_0"/>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0" name="Google Shape;1010;g34dfca242b7_0_0"/>
          <p:cNvSpPr txBox="1"/>
          <p:nvPr/>
        </p:nvSpPr>
        <p:spPr>
          <a:xfrm>
            <a:off x="238126" y="2148817"/>
            <a:ext cx="2651100" cy="506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Microbial Genome Sequence</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(Sample)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014"/>
        <p:cNvGrpSpPr/>
        <p:nvPr/>
      </p:nvGrpSpPr>
      <p:grpSpPr>
        <a:xfrm>
          <a:off x="0" y="0"/>
          <a:ext cx="0" cy="0"/>
          <a:chOff x="0" y="0"/>
          <a:chExt cx="0" cy="0"/>
        </a:xfrm>
      </p:grpSpPr>
      <p:sp>
        <p:nvSpPr>
          <p:cNvPr id="1015" name="Google Shape;1015;g34dfca242b7_0_7"/>
          <p:cNvSpPr txBox="1">
            <a:spLocks noGrp="1"/>
          </p:cNvSpPr>
          <p:nvPr>
            <p:ph type="title"/>
          </p:nvPr>
        </p:nvSpPr>
        <p:spPr>
          <a:xfrm>
            <a:off x="628650" y="463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Sequence Assembly</a:t>
            </a:r>
            <a:endParaRPr sz="3200">
              <a:latin typeface="Arial"/>
              <a:ea typeface="Arial"/>
              <a:cs typeface="Arial"/>
              <a:sym typeface="Arial"/>
            </a:endParaRPr>
          </a:p>
        </p:txBody>
      </p:sp>
      <p:sp>
        <p:nvSpPr>
          <p:cNvPr id="1016" name="Google Shape;1016;g34dfca242b7_0_7"/>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
        <p:nvSpPr>
          <p:cNvPr id="1017" name="Google Shape;1017;g34dfca242b7_0_7"/>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8" name="Google Shape;1018;g34dfca242b7_0_7"/>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9" name="Google Shape;1019;g34dfca242b7_0_7"/>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0" name="Google Shape;1020;g34dfca242b7_0_7"/>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1" name="Google Shape;1021;g34dfca242b7_0_7"/>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2" name="Google Shape;1022;g34dfca242b7_0_7"/>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3" name="Google Shape;1023;g34dfca242b7_0_7"/>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4" name="Google Shape;1024;g34dfca242b7_0_7"/>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5" name="Google Shape;1025;g34dfca242b7_0_7"/>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6" name="Google Shape;1026;g34dfca242b7_0_7"/>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7" name="Google Shape;1027;g34dfca242b7_0_7"/>
          <p:cNvSpPr txBox="1"/>
          <p:nvPr/>
        </p:nvSpPr>
        <p:spPr>
          <a:xfrm>
            <a:off x="363301" y="2205242"/>
            <a:ext cx="26511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Microbial Genome Sequence</a:t>
            </a:r>
            <a:endParaRPr sz="1400" b="0" i="0" u="none" strike="noStrike" cap="none">
              <a:solidFill>
                <a:srgbClr val="000000"/>
              </a:solidFill>
              <a:latin typeface="Arial"/>
              <a:ea typeface="Arial"/>
              <a:cs typeface="Arial"/>
              <a:sym typeface="Arial"/>
            </a:endParaRPr>
          </a:p>
        </p:txBody>
      </p:sp>
      <p:sp>
        <p:nvSpPr>
          <p:cNvPr id="1028" name="Google Shape;1028;g34dfca242b7_0_7"/>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Sequencing Reads</a:t>
            </a:r>
            <a:endParaRPr sz="1400" b="0" i="0" u="none" strike="noStrike" cap="none">
              <a:solidFill>
                <a:srgbClr val="000000"/>
              </a:solidFill>
              <a:latin typeface="Arial"/>
              <a:ea typeface="Arial"/>
              <a:cs typeface="Arial"/>
              <a:sym typeface="Arial"/>
            </a:endParaRPr>
          </a:p>
        </p:txBody>
      </p:sp>
      <p:sp>
        <p:nvSpPr>
          <p:cNvPr id="1029" name="Google Shape;1029;g34dfca242b7_0_7"/>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033"/>
        <p:cNvGrpSpPr/>
        <p:nvPr/>
      </p:nvGrpSpPr>
      <p:grpSpPr>
        <a:xfrm>
          <a:off x="0" y="0"/>
          <a:ext cx="0" cy="0"/>
          <a:chOff x="0" y="0"/>
          <a:chExt cx="0" cy="0"/>
        </a:xfrm>
      </p:grpSpPr>
      <p:sp>
        <p:nvSpPr>
          <p:cNvPr id="1034" name="Google Shape;1034;g34dfca242b7_0_25"/>
          <p:cNvSpPr txBox="1">
            <a:spLocks noGrp="1"/>
          </p:cNvSpPr>
          <p:nvPr>
            <p:ph type="title"/>
          </p:nvPr>
        </p:nvSpPr>
        <p:spPr>
          <a:xfrm>
            <a:off x="628650" y="463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Arial"/>
                <a:ea typeface="Arial"/>
                <a:cs typeface="Arial"/>
                <a:sym typeface="Arial"/>
              </a:rPr>
              <a:t>Sequence Assembly</a:t>
            </a:r>
            <a:endParaRPr sz="3200">
              <a:latin typeface="Arial"/>
              <a:ea typeface="Arial"/>
              <a:cs typeface="Arial"/>
              <a:sym typeface="Arial"/>
            </a:endParaRPr>
          </a:p>
        </p:txBody>
      </p:sp>
      <p:sp>
        <p:nvSpPr>
          <p:cNvPr id="1035" name="Google Shape;1035;g34dfca242b7_0_25"/>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
        <p:nvSpPr>
          <p:cNvPr id="1036" name="Google Shape;1036;g34dfca242b7_0_25"/>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7" name="Google Shape;1037;g34dfca242b7_0_25"/>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8" name="Google Shape;1038;g34dfca242b7_0_25"/>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9" name="Google Shape;1039;g34dfca242b7_0_25"/>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0" name="Google Shape;1040;g34dfca242b7_0_25"/>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1" name="Google Shape;1041;g34dfca242b7_0_25"/>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2" name="Google Shape;1042;g34dfca242b7_0_25"/>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3" name="Google Shape;1043;g34dfca242b7_0_25"/>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4" name="Google Shape;1044;g34dfca242b7_0_25"/>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5" name="Google Shape;1045;g34dfca242b7_0_25"/>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6" name="Google Shape;1046;g34dfca242b7_0_25"/>
          <p:cNvSpPr/>
          <p:nvPr/>
        </p:nvSpPr>
        <p:spPr>
          <a:xfrm>
            <a:off x="2889225" y="3371625"/>
            <a:ext cx="16278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7" name="Google Shape;1047;g34dfca242b7_0_25"/>
          <p:cNvSpPr/>
          <p:nvPr/>
        </p:nvSpPr>
        <p:spPr>
          <a:xfrm>
            <a:off x="4866100" y="33716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8" name="Google Shape;1048;g34dfca242b7_0_25"/>
          <p:cNvSpPr/>
          <p:nvPr/>
        </p:nvSpPr>
        <p:spPr>
          <a:xfrm>
            <a:off x="7468850" y="33716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9" name="Google Shape;1049;g34dfca242b7_0_25"/>
          <p:cNvSpPr txBox="1"/>
          <p:nvPr/>
        </p:nvSpPr>
        <p:spPr>
          <a:xfrm>
            <a:off x="363301" y="2205242"/>
            <a:ext cx="26511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Microbial Genome Sequence</a:t>
            </a:r>
            <a:endParaRPr sz="1400" b="0" i="0" u="none" strike="noStrike" cap="none">
              <a:solidFill>
                <a:srgbClr val="000000"/>
              </a:solidFill>
              <a:latin typeface="Arial"/>
              <a:ea typeface="Arial"/>
              <a:cs typeface="Arial"/>
              <a:sym typeface="Arial"/>
            </a:endParaRPr>
          </a:p>
        </p:txBody>
      </p:sp>
      <p:sp>
        <p:nvSpPr>
          <p:cNvPr id="1050" name="Google Shape;1050;g34dfca242b7_0_25"/>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Sequencing Reads</a:t>
            </a:r>
            <a:endParaRPr sz="1400" b="0" i="0" u="none" strike="noStrike" cap="none">
              <a:solidFill>
                <a:srgbClr val="000000"/>
              </a:solidFill>
              <a:latin typeface="Arial"/>
              <a:ea typeface="Arial"/>
              <a:cs typeface="Arial"/>
              <a:sym typeface="Arial"/>
            </a:endParaRPr>
          </a:p>
        </p:txBody>
      </p:sp>
      <p:sp>
        <p:nvSpPr>
          <p:cNvPr id="1051" name="Google Shape;1051;g34dfca242b7_0_25"/>
          <p:cNvSpPr txBox="1"/>
          <p:nvPr/>
        </p:nvSpPr>
        <p:spPr>
          <a:xfrm>
            <a:off x="514425" y="32026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Assembled Contigs</a:t>
            </a:r>
            <a:endParaRPr sz="1400" b="0" i="0" u="none" strike="noStrike" cap="none">
              <a:solidFill>
                <a:srgbClr val="000000"/>
              </a:solidFill>
              <a:latin typeface="Arial"/>
              <a:ea typeface="Arial"/>
              <a:cs typeface="Arial"/>
              <a:sym typeface="Arial"/>
            </a:endParaRPr>
          </a:p>
        </p:txBody>
      </p:sp>
      <p:sp>
        <p:nvSpPr>
          <p:cNvPr id="1052" name="Google Shape;1052;g34dfca242b7_0_25"/>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g34dfca242b7_0_162"/>
          <p:cNvSpPr/>
          <p:nvPr/>
        </p:nvSpPr>
        <p:spPr>
          <a:xfrm>
            <a:off x="4774075" y="3640750"/>
            <a:ext cx="3792000" cy="1215600"/>
          </a:xfrm>
          <a:prstGeom prst="rect">
            <a:avLst/>
          </a:prstGeom>
          <a:no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8" name="Google Shape;1058;g34dfca242b7_0_162"/>
          <p:cNvSpPr txBox="1">
            <a:spLocks noGrp="1"/>
          </p:cNvSpPr>
          <p:nvPr>
            <p:ph type="title"/>
          </p:nvPr>
        </p:nvSpPr>
        <p:spPr>
          <a:xfrm>
            <a:off x="553550" y="36519"/>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sz="3200">
                <a:latin typeface="Helvetica Neue"/>
                <a:ea typeface="Helvetica Neue"/>
                <a:cs typeface="Helvetica Neue"/>
                <a:sym typeface="Helvetica Neue"/>
              </a:rPr>
              <a:t>Sequence Assembly</a:t>
            </a:r>
            <a:endParaRPr sz="3200">
              <a:latin typeface="Helvetica Neue"/>
              <a:ea typeface="Helvetica Neue"/>
              <a:cs typeface="Helvetica Neue"/>
              <a:sym typeface="Helvetica Neue"/>
            </a:endParaRPr>
          </a:p>
        </p:txBody>
      </p:sp>
      <p:sp>
        <p:nvSpPr>
          <p:cNvPr id="1059" name="Google Shape;1059;g34dfca242b7_0_162"/>
          <p:cNvSpPr/>
          <p:nvPr/>
        </p:nvSpPr>
        <p:spPr>
          <a:xfrm>
            <a:off x="2889225" y="2368275"/>
            <a:ext cx="5550900" cy="67800"/>
          </a:xfrm>
          <a:prstGeom prst="rect">
            <a:avLst/>
          </a:prstGeom>
          <a:solidFill>
            <a:srgbClr val="6AA84F"/>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0" name="Google Shape;1060;g34dfca242b7_0_162"/>
          <p:cNvSpPr/>
          <p:nvPr/>
        </p:nvSpPr>
        <p:spPr>
          <a:xfrm>
            <a:off x="2889225" y="26782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1" name="Google Shape;1061;g34dfca242b7_0_162"/>
          <p:cNvSpPr/>
          <p:nvPr/>
        </p:nvSpPr>
        <p:spPr>
          <a:xfrm>
            <a:off x="3755275"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2" name="Google Shape;1062;g34dfca242b7_0_162"/>
          <p:cNvSpPr/>
          <p:nvPr/>
        </p:nvSpPr>
        <p:spPr>
          <a:xfrm>
            <a:off x="3259700" y="295407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3" name="Google Shape;1063;g34dfca242b7_0_162"/>
          <p:cNvSpPr/>
          <p:nvPr/>
        </p:nvSpPr>
        <p:spPr>
          <a:xfrm>
            <a:off x="4866100" y="28318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4" name="Google Shape;1064;g34dfca242b7_0_162"/>
          <p:cNvSpPr/>
          <p:nvPr/>
        </p:nvSpPr>
        <p:spPr>
          <a:xfrm>
            <a:off x="5398725" y="29854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5" name="Google Shape;1065;g34dfca242b7_0_162"/>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6" name="Google Shape;1066;g34dfca242b7_0_162"/>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7" name="Google Shape;1067;g34dfca242b7_0_162"/>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8" name="Google Shape;1068;g34dfca242b7_0_162"/>
          <p:cNvSpPr/>
          <p:nvPr/>
        </p:nvSpPr>
        <p:spPr>
          <a:xfrm>
            <a:off x="7468850" y="27640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9" name="Google Shape;1069;g34dfca242b7_0_162"/>
          <p:cNvSpPr/>
          <p:nvPr/>
        </p:nvSpPr>
        <p:spPr>
          <a:xfrm>
            <a:off x="2889225" y="3371625"/>
            <a:ext cx="16278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0" name="Google Shape;1070;g34dfca242b7_0_162"/>
          <p:cNvSpPr/>
          <p:nvPr/>
        </p:nvSpPr>
        <p:spPr>
          <a:xfrm>
            <a:off x="4866100" y="33716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1" name="Google Shape;1071;g34dfca242b7_0_162"/>
          <p:cNvSpPr/>
          <p:nvPr/>
        </p:nvSpPr>
        <p:spPr>
          <a:xfrm>
            <a:off x="7468850" y="33716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2" name="Google Shape;1072;g34dfca242b7_0_162"/>
          <p:cNvSpPr txBox="1"/>
          <p:nvPr/>
        </p:nvSpPr>
        <p:spPr>
          <a:xfrm>
            <a:off x="469175" y="21488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Microbial Genome Sequence</a:t>
            </a:r>
            <a:endParaRPr sz="1400" b="0" i="0" u="none" strike="noStrike" cap="none">
              <a:solidFill>
                <a:srgbClr val="000000"/>
              </a:solidFill>
              <a:latin typeface="Calibri"/>
              <a:ea typeface="Calibri"/>
              <a:cs typeface="Calibri"/>
              <a:sym typeface="Calibri"/>
            </a:endParaRPr>
          </a:p>
        </p:txBody>
      </p:sp>
      <p:sp>
        <p:nvSpPr>
          <p:cNvPr id="1073" name="Google Shape;1073;g34dfca242b7_0_162"/>
          <p:cNvSpPr txBox="1"/>
          <p:nvPr/>
        </p:nvSpPr>
        <p:spPr>
          <a:xfrm>
            <a:off x="514425" y="26757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Sequencing Reads</a:t>
            </a:r>
            <a:endParaRPr sz="1400" b="0" i="0" u="none" strike="noStrike" cap="none">
              <a:solidFill>
                <a:srgbClr val="000000"/>
              </a:solidFill>
              <a:latin typeface="Calibri"/>
              <a:ea typeface="Calibri"/>
              <a:cs typeface="Calibri"/>
              <a:sym typeface="Calibri"/>
            </a:endParaRPr>
          </a:p>
        </p:txBody>
      </p:sp>
      <p:sp>
        <p:nvSpPr>
          <p:cNvPr id="1074" name="Google Shape;1074;g34dfca242b7_0_162"/>
          <p:cNvSpPr txBox="1"/>
          <p:nvPr/>
        </p:nvSpPr>
        <p:spPr>
          <a:xfrm>
            <a:off x="514425" y="3202625"/>
            <a:ext cx="2374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Calibri"/>
                <a:ea typeface="Calibri"/>
                <a:cs typeface="Calibri"/>
                <a:sym typeface="Calibri"/>
              </a:rPr>
              <a:t>Assembled Contigs</a:t>
            </a:r>
            <a:endParaRPr sz="1400" b="0" i="0" u="none" strike="noStrike" cap="none">
              <a:solidFill>
                <a:srgbClr val="000000"/>
              </a:solidFill>
              <a:latin typeface="Calibri"/>
              <a:ea typeface="Calibri"/>
              <a:cs typeface="Calibri"/>
              <a:sym typeface="Calibri"/>
            </a:endParaRPr>
          </a:p>
        </p:txBody>
      </p:sp>
      <p:sp>
        <p:nvSpPr>
          <p:cNvPr id="1075" name="Google Shape;1075;g34dfca242b7_0_162"/>
          <p:cNvSpPr/>
          <p:nvPr/>
        </p:nvSpPr>
        <p:spPr>
          <a:xfrm>
            <a:off x="6071525" y="30931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076" name="Google Shape;1076;g34dfca242b7_0_162"/>
          <p:cNvGrpSpPr/>
          <p:nvPr/>
        </p:nvGrpSpPr>
        <p:grpSpPr>
          <a:xfrm>
            <a:off x="4933050" y="3704825"/>
            <a:ext cx="3792000" cy="1286275"/>
            <a:chOff x="2279900" y="3781025"/>
            <a:chExt cx="3792000" cy="1286275"/>
          </a:xfrm>
        </p:grpSpPr>
        <p:sp>
          <p:nvSpPr>
            <p:cNvPr id="1077" name="Google Shape;1077;g34dfca242b7_0_162"/>
            <p:cNvSpPr txBox="1"/>
            <p:nvPr/>
          </p:nvSpPr>
          <p:spPr>
            <a:xfrm>
              <a:off x="2279900" y="3781025"/>
              <a:ext cx="15891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0" i="0" u="none" strike="noStrike" cap="none">
                  <a:solidFill>
                    <a:srgbClr val="6AA84F"/>
                  </a:solidFill>
                  <a:latin typeface="Courier New"/>
                  <a:ea typeface="Courier New"/>
                  <a:cs typeface="Courier New"/>
                  <a:sym typeface="Courier New"/>
                </a:rPr>
                <a:t>ATGGACTCATTCGG</a:t>
              </a:r>
              <a:r>
                <a:rPr lang="en" sz="1000" b="1" i="0" u="none" strike="noStrike" cap="none">
                  <a:solidFill>
                    <a:srgbClr val="6AA84F"/>
                  </a:solidFill>
                  <a:latin typeface="Courier New"/>
                  <a:ea typeface="Courier New"/>
                  <a:cs typeface="Courier New"/>
                  <a:sym typeface="Courier New"/>
                </a:rPr>
                <a:t>TCG</a:t>
              </a:r>
              <a:endParaRPr sz="1400" b="1" i="0" u="none" strike="noStrike" cap="none">
                <a:solidFill>
                  <a:srgbClr val="000000"/>
                </a:solidFill>
                <a:latin typeface="Arial"/>
                <a:ea typeface="Arial"/>
                <a:cs typeface="Arial"/>
                <a:sym typeface="Arial"/>
              </a:endParaRPr>
            </a:p>
          </p:txBody>
        </p:sp>
        <p:sp>
          <p:nvSpPr>
            <p:cNvPr id="1078" name="Google Shape;1078;g34dfca242b7_0_162"/>
            <p:cNvSpPr txBox="1"/>
            <p:nvPr/>
          </p:nvSpPr>
          <p:spPr>
            <a:xfrm>
              <a:off x="2279900" y="4560600"/>
              <a:ext cx="37920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274E13"/>
                  </a:solidFill>
                  <a:latin typeface="Courier New"/>
                  <a:ea typeface="Courier New"/>
                  <a:cs typeface="Courier New"/>
                  <a:sym typeface="Courier New"/>
                </a:rPr>
                <a:t>ATGGACTCATTCGGTCGAATAGTAGCCTGATAGTTCCTAGATAC</a:t>
              </a:r>
              <a:endParaRPr sz="1400" b="1" i="0" u="none" strike="noStrike" cap="none">
                <a:solidFill>
                  <a:srgbClr val="274E13"/>
                </a:solidFill>
                <a:latin typeface="Arial"/>
                <a:ea typeface="Arial"/>
                <a:cs typeface="Arial"/>
                <a:sym typeface="Arial"/>
              </a:endParaRPr>
            </a:p>
          </p:txBody>
        </p:sp>
        <p:sp>
          <p:nvSpPr>
            <p:cNvPr id="1079" name="Google Shape;1079;g34dfca242b7_0_162"/>
            <p:cNvSpPr txBox="1"/>
            <p:nvPr/>
          </p:nvSpPr>
          <p:spPr>
            <a:xfrm>
              <a:off x="4344275" y="3908125"/>
              <a:ext cx="1727400" cy="572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TGAT</a:t>
              </a:r>
              <a:r>
                <a:rPr lang="en" sz="1000" b="0" i="0" u="none" strike="noStrike" cap="none">
                  <a:solidFill>
                    <a:srgbClr val="6AA84F"/>
                  </a:solidFill>
                  <a:latin typeface="Courier New"/>
                  <a:ea typeface="Courier New"/>
                  <a:cs typeface="Courier New"/>
                  <a:sym typeface="Courier New"/>
                </a:rPr>
                <a:t>AGTTCCTAGATAC</a:t>
              </a:r>
              <a:endParaRPr sz="1400" b="0" i="0" u="none" strike="noStrike" cap="none">
                <a:solidFill>
                  <a:srgbClr val="000000"/>
                </a:solidFill>
                <a:latin typeface="Arial"/>
                <a:ea typeface="Arial"/>
                <a:cs typeface="Arial"/>
                <a:sym typeface="Arial"/>
              </a:endParaRPr>
            </a:p>
          </p:txBody>
        </p:sp>
        <p:sp>
          <p:nvSpPr>
            <p:cNvPr id="1080" name="Google Shape;1080;g34dfca242b7_0_162"/>
            <p:cNvSpPr txBox="1"/>
            <p:nvPr/>
          </p:nvSpPr>
          <p:spPr>
            <a:xfrm>
              <a:off x="3335650" y="4140000"/>
              <a:ext cx="1543200" cy="37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000"/>
                <a:buFont typeface="Arial"/>
                <a:buNone/>
              </a:pPr>
              <a:r>
                <a:rPr lang="en" sz="1000" b="1" i="0" u="none" strike="noStrike" cap="none">
                  <a:solidFill>
                    <a:srgbClr val="6AA84F"/>
                  </a:solidFill>
                  <a:latin typeface="Courier New"/>
                  <a:ea typeface="Courier New"/>
                  <a:cs typeface="Courier New"/>
                  <a:sym typeface="Courier New"/>
                </a:rPr>
                <a:t>TCG</a:t>
              </a:r>
              <a:r>
                <a:rPr lang="en" sz="1000" b="0" i="0" u="none" strike="noStrike" cap="none">
                  <a:solidFill>
                    <a:srgbClr val="6AA84F"/>
                  </a:solidFill>
                  <a:latin typeface="Courier New"/>
                  <a:ea typeface="Courier New"/>
                  <a:cs typeface="Courier New"/>
                  <a:sym typeface="Courier New"/>
                </a:rPr>
                <a:t>AATAGTAGCC</a:t>
              </a:r>
              <a:r>
                <a:rPr lang="en" sz="1000" b="1" i="0" u="none" strike="noStrike" cap="none">
                  <a:solidFill>
                    <a:srgbClr val="6AA84F"/>
                  </a:solidFill>
                  <a:latin typeface="Courier New"/>
                  <a:ea typeface="Courier New"/>
                  <a:cs typeface="Courier New"/>
                  <a:sym typeface="Courier New"/>
                </a:rPr>
                <a:t>TGAT</a:t>
              </a:r>
              <a:endParaRPr sz="1400" b="1" i="0" u="none" strike="noStrike" cap="none">
                <a:solidFill>
                  <a:srgbClr val="000000"/>
                </a:solidFill>
                <a:latin typeface="Arial"/>
                <a:ea typeface="Arial"/>
                <a:cs typeface="Arial"/>
                <a:sym typeface="Arial"/>
              </a:endParaRPr>
            </a:p>
          </p:txBody>
        </p:sp>
      </p:grpSp>
      <p:sp>
        <p:nvSpPr>
          <p:cNvPr id="1081" name="Google Shape;1081;g34dfca242b7_0_162"/>
          <p:cNvSpPr/>
          <p:nvPr/>
        </p:nvSpPr>
        <p:spPr>
          <a:xfrm>
            <a:off x="2783025" y="2571750"/>
            <a:ext cx="1840200" cy="994200"/>
          </a:xfrm>
          <a:prstGeom prst="rect">
            <a:avLst/>
          </a:prstGeom>
          <a:noFill/>
          <a:ln w="9525" cap="flat" cmpd="sng">
            <a:solidFill>
              <a:srgbClr val="000000"/>
            </a:solidFill>
            <a:prstDash val="dash"/>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2" name="Google Shape;1082;g34dfca242b7_0_162"/>
          <p:cNvSpPr/>
          <p:nvPr/>
        </p:nvSpPr>
        <p:spPr>
          <a:xfrm rot="10800000" flipH="1">
            <a:off x="4021400" y="3773629"/>
            <a:ext cx="565500" cy="391200"/>
          </a:xfrm>
          <a:prstGeom prst="bentArrow">
            <a:avLst>
              <a:gd name="adj1" fmla="val 25000"/>
              <a:gd name="adj2" fmla="val 25000"/>
              <a:gd name="adj3" fmla="val 25000"/>
              <a:gd name="adj4" fmla="val 43750"/>
            </a:avLst>
          </a:prstGeom>
          <a:solidFill>
            <a:srgbClr val="66666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3" name="Google Shape;1083;g34dfca242b7_0_162"/>
          <p:cNvSpPr txBox="1">
            <a:spLocks noGrp="1"/>
          </p:cNvSpPr>
          <p:nvPr>
            <p:ph type="body" idx="1"/>
          </p:nvPr>
        </p:nvSpPr>
        <p:spPr>
          <a:xfrm>
            <a:off x="628650" y="1216820"/>
            <a:ext cx="7886700" cy="481200"/>
          </a:xfrm>
          <a:prstGeom prst="rect">
            <a:avLst/>
          </a:prstGeom>
          <a:noFill/>
          <a:ln>
            <a:noFill/>
          </a:ln>
        </p:spPr>
        <p:txBody>
          <a:bodyPr spcFirstLastPara="1" wrap="square" lIns="68575" tIns="34275" rIns="68575" bIns="34275" anchor="t" anchorCtr="0">
            <a:noAutofit/>
          </a:bodyPr>
          <a:lstStyle/>
          <a:p>
            <a:pPr marL="0" lvl="0" indent="0" algn="l" rtl="0">
              <a:lnSpc>
                <a:spcPct val="115000"/>
              </a:lnSpc>
              <a:spcBef>
                <a:spcPts val="800"/>
              </a:spcBef>
              <a:spcAft>
                <a:spcPts val="0"/>
              </a:spcAft>
              <a:buSzPts val="1400"/>
              <a:buNone/>
            </a:pPr>
            <a:r>
              <a:rPr lang="en" sz="2000">
                <a:latin typeface="Arial"/>
                <a:ea typeface="Arial"/>
                <a:cs typeface="Arial"/>
                <a:sym typeface="Arial"/>
              </a:rPr>
              <a:t>Assembly goal: Merge sequence reads into </a:t>
            </a:r>
            <a:r>
              <a:rPr lang="en" sz="2000" b="1">
                <a:latin typeface="Arial"/>
                <a:ea typeface="Arial"/>
                <a:cs typeface="Arial"/>
                <a:sym typeface="Arial"/>
              </a:rPr>
              <a:t>contigs</a:t>
            </a:r>
            <a:r>
              <a:rPr lang="en" sz="2000">
                <a:latin typeface="Arial"/>
                <a:ea typeface="Arial"/>
                <a:cs typeface="Arial"/>
                <a:sym typeface="Arial"/>
              </a:rPr>
              <a:t> to form longer DNA sequences and reconstruct the original sequence</a:t>
            </a:r>
            <a:endParaRPr sz="2000">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sp>
        <p:nvSpPr>
          <p:cNvPr id="1088" name="Google Shape;1088;p54"/>
          <p:cNvSpPr txBox="1">
            <a:spLocks noGrp="1"/>
          </p:cNvSpPr>
          <p:nvPr>
            <p:ph type="title"/>
          </p:nvPr>
        </p:nvSpPr>
        <p:spPr>
          <a:xfrm>
            <a:off x="582100" y="76019"/>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Assembly</a:t>
            </a:r>
            <a:endParaRPr>
              <a:latin typeface="Arial"/>
              <a:ea typeface="Arial"/>
              <a:cs typeface="Arial"/>
              <a:sym typeface="Arial"/>
            </a:endParaRPr>
          </a:p>
        </p:txBody>
      </p:sp>
      <p:grpSp>
        <p:nvGrpSpPr>
          <p:cNvPr id="1089" name="Google Shape;1089;p54"/>
          <p:cNvGrpSpPr/>
          <p:nvPr/>
        </p:nvGrpSpPr>
        <p:grpSpPr>
          <a:xfrm>
            <a:off x="4716475" y="2066325"/>
            <a:ext cx="4270800" cy="2262600"/>
            <a:chOff x="4573300" y="2089600"/>
            <a:chExt cx="4270800" cy="2262600"/>
          </a:xfrm>
        </p:grpSpPr>
        <p:sp>
          <p:nvSpPr>
            <p:cNvPr id="1090" name="Google Shape;1090;p54"/>
            <p:cNvSpPr/>
            <p:nvPr/>
          </p:nvSpPr>
          <p:spPr>
            <a:xfrm>
              <a:off x="4573300" y="2089600"/>
              <a:ext cx="4270800" cy="2262600"/>
            </a:xfrm>
            <a:prstGeom prst="rect">
              <a:avLst/>
            </a:prstGeom>
            <a:solidFill>
              <a:srgbClr val="F3F3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091" name="Google Shape;1091;p54"/>
            <p:cNvSpPr/>
            <p:nvPr/>
          </p:nvSpPr>
          <p:spPr>
            <a:xfrm>
              <a:off x="4866100" y="27556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2" name="Google Shape;1092;p54"/>
            <p:cNvSpPr/>
            <p:nvPr/>
          </p:nvSpPr>
          <p:spPr>
            <a:xfrm>
              <a:off x="5398725" y="29092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3" name="Google Shape;1093;p54"/>
            <p:cNvSpPr/>
            <p:nvPr/>
          </p:nvSpPr>
          <p:spPr>
            <a:xfrm>
              <a:off x="5898050"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4" name="Google Shape;1094;p54"/>
            <p:cNvSpPr/>
            <p:nvPr/>
          </p:nvSpPr>
          <p:spPr>
            <a:xfrm>
              <a:off x="6525575" y="28146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5" name="Google Shape;1095;p54"/>
            <p:cNvSpPr/>
            <p:nvPr/>
          </p:nvSpPr>
          <p:spPr>
            <a:xfrm>
              <a:off x="7678425" y="26387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6" name="Google Shape;1096;p54"/>
            <p:cNvSpPr/>
            <p:nvPr/>
          </p:nvSpPr>
          <p:spPr>
            <a:xfrm>
              <a:off x="7468850" y="2916450"/>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7" name="Google Shape;1097;p54"/>
            <p:cNvSpPr/>
            <p:nvPr/>
          </p:nvSpPr>
          <p:spPr>
            <a:xfrm>
              <a:off x="4866100" y="3981225"/>
              <a:ext cx="24213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8" name="Google Shape;1098;p54"/>
            <p:cNvSpPr/>
            <p:nvPr/>
          </p:nvSpPr>
          <p:spPr>
            <a:xfrm>
              <a:off x="7468850" y="3981225"/>
              <a:ext cx="971400" cy="67800"/>
            </a:xfrm>
            <a:prstGeom prst="rect">
              <a:avLst/>
            </a:prstGeom>
            <a:solidFill>
              <a:srgbClr val="38761D"/>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9" name="Google Shape;1099;p54"/>
            <p:cNvSpPr txBox="1"/>
            <p:nvPr/>
          </p:nvSpPr>
          <p:spPr>
            <a:xfrm>
              <a:off x="4741051" y="2142225"/>
              <a:ext cx="16476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Sequencing Reads</a:t>
              </a:r>
              <a:endParaRPr sz="1400" b="1" i="0" u="none" strike="noStrike" cap="none">
                <a:solidFill>
                  <a:srgbClr val="000000"/>
                </a:solidFill>
                <a:latin typeface="Calibri"/>
                <a:ea typeface="Calibri"/>
                <a:cs typeface="Calibri"/>
                <a:sym typeface="Calibri"/>
              </a:endParaRPr>
            </a:p>
          </p:txBody>
        </p:sp>
        <p:sp>
          <p:nvSpPr>
            <p:cNvPr id="1100" name="Google Shape;1100;p54"/>
            <p:cNvSpPr txBox="1"/>
            <p:nvPr/>
          </p:nvSpPr>
          <p:spPr>
            <a:xfrm>
              <a:off x="4706101" y="3581200"/>
              <a:ext cx="16824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00000"/>
                  </a:solidFill>
                  <a:latin typeface="Calibri"/>
                  <a:ea typeface="Calibri"/>
                  <a:cs typeface="Calibri"/>
                  <a:sym typeface="Calibri"/>
                </a:rPr>
                <a:t>Assembled Contigs</a:t>
              </a:r>
              <a:endParaRPr sz="1400" b="1" i="0" u="none" strike="noStrike" cap="none">
                <a:solidFill>
                  <a:srgbClr val="000000"/>
                </a:solidFill>
                <a:latin typeface="Calibri"/>
                <a:ea typeface="Calibri"/>
                <a:cs typeface="Calibri"/>
                <a:sym typeface="Calibri"/>
              </a:endParaRPr>
            </a:p>
          </p:txBody>
        </p:sp>
        <p:sp>
          <p:nvSpPr>
            <p:cNvPr id="1101" name="Google Shape;1101;p54"/>
            <p:cNvSpPr/>
            <p:nvPr/>
          </p:nvSpPr>
          <p:spPr>
            <a:xfrm>
              <a:off x="6452525" y="3016925"/>
              <a:ext cx="761700" cy="67800"/>
            </a:xfrm>
            <a:prstGeom prst="rect">
              <a:avLst/>
            </a:prstGeom>
            <a:solidFill>
              <a:srgbClr val="B6D7A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2" name="Google Shape;1102;p54"/>
            <p:cNvSpPr/>
            <p:nvPr/>
          </p:nvSpPr>
          <p:spPr>
            <a:xfrm>
              <a:off x="6707675" y="3284413"/>
              <a:ext cx="255900" cy="389400"/>
            </a:xfrm>
            <a:prstGeom prst="downArrow">
              <a:avLst>
                <a:gd name="adj1" fmla="val 50000"/>
                <a:gd name="adj2" fmla="val 50000"/>
              </a:avLst>
            </a:prstGeom>
            <a:solidFill>
              <a:srgbClr val="5E5E5E"/>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Calibri"/>
                <a:ea typeface="Calibri"/>
                <a:cs typeface="Calibri"/>
                <a:sym typeface="Calibri"/>
              </a:endParaRPr>
            </a:p>
          </p:txBody>
        </p:sp>
        <p:sp>
          <p:nvSpPr>
            <p:cNvPr id="1103" name="Google Shape;1103;p54"/>
            <p:cNvSpPr txBox="1"/>
            <p:nvPr/>
          </p:nvSpPr>
          <p:spPr>
            <a:xfrm>
              <a:off x="6977300" y="3225763"/>
              <a:ext cx="1498800" cy="506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1" u="none" strike="noStrike" cap="none">
                  <a:solidFill>
                    <a:srgbClr val="000000"/>
                  </a:solidFill>
                  <a:latin typeface="Calibri"/>
                  <a:ea typeface="Calibri"/>
                  <a:cs typeface="Calibri"/>
                  <a:sym typeface="Calibri"/>
                </a:rPr>
                <a:t>De novo</a:t>
              </a:r>
              <a:r>
                <a:rPr lang="en" sz="1400" b="0" i="0" u="none" strike="noStrike" cap="none">
                  <a:solidFill>
                    <a:srgbClr val="000000"/>
                  </a:solidFill>
                  <a:latin typeface="Calibri"/>
                  <a:ea typeface="Calibri"/>
                  <a:cs typeface="Calibri"/>
                  <a:sym typeface="Calibri"/>
                </a:rPr>
                <a:t> assembly</a:t>
              </a:r>
              <a:endParaRPr sz="1400" b="0" i="0" u="none" strike="noStrike" cap="none">
                <a:solidFill>
                  <a:srgbClr val="000000"/>
                </a:solidFill>
                <a:latin typeface="Calibri"/>
                <a:ea typeface="Calibri"/>
                <a:cs typeface="Calibri"/>
                <a:sym typeface="Calibri"/>
              </a:endParaRPr>
            </a:p>
          </p:txBody>
        </p:sp>
      </p:grpSp>
      <p:sp>
        <p:nvSpPr>
          <p:cNvPr id="1104" name="Google Shape;1104;p54"/>
          <p:cNvSpPr txBox="1">
            <a:spLocks noGrp="1"/>
          </p:cNvSpPr>
          <p:nvPr>
            <p:ph type="body" idx="1"/>
          </p:nvPr>
        </p:nvSpPr>
        <p:spPr>
          <a:xfrm>
            <a:off x="250100" y="2584825"/>
            <a:ext cx="4433700" cy="1409400"/>
          </a:xfrm>
          <a:prstGeom prst="rect">
            <a:avLst/>
          </a:prstGeom>
          <a:noFill/>
          <a:ln>
            <a:noFill/>
          </a:ln>
        </p:spPr>
        <p:txBody>
          <a:bodyPr spcFirstLastPara="1" wrap="square" lIns="68575" tIns="34275" rIns="68575" bIns="34275" anchor="t" anchorCtr="0">
            <a:noAutofit/>
          </a:bodyPr>
          <a:lstStyle/>
          <a:p>
            <a:pPr marL="0" marR="154382" lvl="0" indent="0" algn="l" rtl="0">
              <a:lnSpc>
                <a:spcPct val="115000"/>
              </a:lnSpc>
              <a:spcBef>
                <a:spcPts val="800"/>
              </a:spcBef>
              <a:spcAft>
                <a:spcPts val="0"/>
              </a:spcAft>
              <a:buSzPts val="14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sz="2000">
              <a:solidFill>
                <a:schemeClr val="dk1"/>
              </a:solidFill>
              <a:latin typeface="Arial"/>
              <a:ea typeface="Arial"/>
              <a:cs typeface="Arial"/>
              <a:sym typeface="Arial"/>
            </a:endParaRPr>
          </a:p>
          <a:p>
            <a:pPr marL="400050" marR="154382" lvl="3" indent="-307975" algn="l" rtl="0">
              <a:lnSpc>
                <a:spcPct val="115000"/>
              </a:lnSpc>
              <a:spcBef>
                <a:spcPts val="400"/>
              </a:spcBef>
              <a:spcAft>
                <a:spcPts val="0"/>
              </a:spcAft>
              <a:buClr>
                <a:schemeClr val="dk1"/>
              </a:buClr>
              <a:buSzPts val="1250"/>
              <a:buFont typeface="Arial"/>
              <a:buChar char="•"/>
            </a:pPr>
            <a:r>
              <a:rPr lang="en" sz="1250" b="1">
                <a:latin typeface="Arial"/>
                <a:ea typeface="Arial"/>
                <a:cs typeface="Arial"/>
                <a:sym typeface="Arial"/>
              </a:rPr>
              <a:t>Input</a:t>
            </a:r>
            <a:r>
              <a:rPr lang="en" sz="1250">
                <a:latin typeface="Arial"/>
                <a:ea typeface="Arial"/>
                <a:cs typeface="Arial"/>
                <a:sym typeface="Arial"/>
              </a:rPr>
              <a:t>: preprocessed reads in FASTA or FASTQ format </a:t>
            </a:r>
            <a:endParaRPr/>
          </a:p>
          <a:p>
            <a:pPr marL="400050" marR="154382" lvl="3" indent="-307975" algn="l" rtl="0">
              <a:lnSpc>
                <a:spcPct val="115000"/>
              </a:lnSpc>
              <a:spcBef>
                <a:spcPts val="400"/>
              </a:spcBef>
              <a:spcAft>
                <a:spcPts val="0"/>
              </a:spcAft>
              <a:buClr>
                <a:schemeClr val="dk1"/>
              </a:buClr>
              <a:buSzPts val="1250"/>
              <a:buFont typeface="Arial"/>
              <a:buChar char="•"/>
            </a:pPr>
            <a:r>
              <a:rPr lang="en" sz="1250">
                <a:latin typeface="Arial"/>
                <a:ea typeface="Arial"/>
                <a:cs typeface="Arial"/>
                <a:sym typeface="Arial"/>
              </a:rPr>
              <a:t>Assembly choices based on the type of data (e.g., DNA vs RNA, WGS vs mNGS)</a:t>
            </a:r>
            <a:endParaRPr/>
          </a:p>
          <a:p>
            <a:pPr marL="92075" marR="154382" lvl="3" indent="0" algn="l" rtl="0">
              <a:lnSpc>
                <a:spcPct val="115000"/>
              </a:lnSpc>
              <a:spcBef>
                <a:spcPts val="400"/>
              </a:spcBef>
              <a:spcAft>
                <a:spcPts val="0"/>
              </a:spcAft>
              <a:buClr>
                <a:schemeClr val="dk1"/>
              </a:buClr>
              <a:buSzPts val="1250"/>
              <a:buNone/>
            </a:pPr>
            <a:r>
              <a:rPr lang="en" sz="1250">
                <a:highlight>
                  <a:srgbClr val="FFFFFF"/>
                </a:highlight>
                <a:latin typeface="Arial"/>
                <a:ea typeface="Arial"/>
                <a:cs typeface="Arial"/>
                <a:sym typeface="Arial"/>
              </a:rPr>
              <a:t>.</a:t>
            </a:r>
            <a:endParaRPr sz="1250"/>
          </a:p>
        </p:txBody>
      </p:sp>
      <p:sp>
        <p:nvSpPr>
          <p:cNvPr id="1105" name="Google Shape;1105;p54"/>
          <p:cNvSpPr txBox="1"/>
          <p:nvPr/>
        </p:nvSpPr>
        <p:spPr>
          <a:xfrm>
            <a:off x="250100" y="1070225"/>
            <a:ext cx="4759500"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Software</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hlink"/>
                </a:solidFill>
                <a:uFill>
                  <a:noFill/>
                </a:uFill>
                <a:latin typeface="Helvetica Neue"/>
                <a:ea typeface="Helvetica Neue"/>
                <a:cs typeface="Helvetica Neue"/>
                <a:sym typeface="Helvetica Neue"/>
                <a:hlinkClick r:id="rId3"/>
              </a:rPr>
              <a:t>SPAdes</a:t>
            </a:r>
            <a:r>
              <a:rPr lang="en" sz="2000">
                <a:latin typeface="Helvetica Neue"/>
                <a:ea typeface="Helvetica Neue"/>
                <a:cs typeface="Helvetica Neue"/>
                <a:sym typeface="Helvetica Neue"/>
              </a:rPr>
              <a:t>, </a:t>
            </a:r>
            <a:r>
              <a:rPr lang="en" sz="2000">
                <a:solidFill>
                  <a:schemeClr val="hlink"/>
                </a:solidFill>
                <a:uFill>
                  <a:noFill/>
                </a:uFill>
                <a:latin typeface="Helvetica Neue"/>
                <a:ea typeface="Helvetica Neue"/>
                <a:cs typeface="Helvetica Neue"/>
                <a:sym typeface="Helvetica Neue"/>
                <a:hlinkClick r:id="rId4"/>
              </a:rPr>
              <a:t>Flye, MetaFlye</a:t>
            </a:r>
            <a:endParaRPr sz="2000" b="0" i="0"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Contig assembly</a:t>
            </a:r>
            <a:endParaRPr sz="20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55"/>
          <p:cNvSpPr txBox="1">
            <a:spLocks noGrp="1"/>
          </p:cNvSpPr>
          <p:nvPr>
            <p:ph type="title"/>
          </p:nvPr>
        </p:nvSpPr>
        <p:spPr>
          <a:xfrm>
            <a:off x="633438" y="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a:latin typeface="Helvetica Neue"/>
                <a:ea typeface="Helvetica Neue"/>
                <a:cs typeface="Helvetica Neue"/>
                <a:sym typeface="Helvetica Neue"/>
              </a:rPr>
              <a:t>Taxonomic assignment: Alignment</a:t>
            </a:r>
            <a:endParaRPr sz="3600"/>
          </a:p>
        </p:txBody>
      </p:sp>
      <p:sp>
        <p:nvSpPr>
          <p:cNvPr id="1111" name="Google Shape;1111;p55"/>
          <p:cNvSpPr txBox="1">
            <a:spLocks noGrp="1"/>
          </p:cNvSpPr>
          <p:nvPr>
            <p:ph type="body" idx="1"/>
          </p:nvPr>
        </p:nvSpPr>
        <p:spPr>
          <a:xfrm>
            <a:off x="582363" y="2180969"/>
            <a:ext cx="7886700" cy="13842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Query unknown sequences against a </a:t>
            </a:r>
            <a:r>
              <a:rPr lang="en" sz="1800" u="sng">
                <a:latin typeface="Arial"/>
                <a:ea typeface="Arial"/>
                <a:cs typeface="Arial"/>
                <a:sym typeface="Arial"/>
              </a:rPr>
              <a:t>database</a:t>
            </a:r>
            <a:r>
              <a:rPr lang="en" sz="1800">
                <a:latin typeface="Arial"/>
                <a:ea typeface="Arial"/>
                <a:cs typeface="Arial"/>
                <a:sym typeface="Arial"/>
              </a:rPr>
              <a:t> of known sequences to identify the microbe of origin.</a:t>
            </a:r>
            <a:r>
              <a:rPr lang="en">
                <a:latin typeface="Arial"/>
                <a:ea typeface="Arial"/>
                <a:cs typeface="Arial"/>
                <a:sym typeface="Arial"/>
              </a:rPr>
              <a:t>	</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Query</a:t>
            </a:r>
            <a:r>
              <a:rPr lang="en" sz="1800">
                <a:latin typeface="Arial"/>
                <a:ea typeface="Arial"/>
                <a:cs typeface="Arial"/>
                <a:sym typeface="Arial"/>
              </a:rPr>
              <a:t>: </a:t>
            </a:r>
            <a:r>
              <a:rPr lang="en">
                <a:latin typeface="Arial"/>
                <a:ea typeface="Arial"/>
                <a:cs typeface="Arial"/>
                <a:sym typeface="Arial"/>
              </a:rPr>
              <a:t>Reads or Contigs</a:t>
            </a:r>
            <a:endParaRPr/>
          </a:p>
          <a:p>
            <a:pPr marL="457200" lvl="0" indent="0" algn="l" rtl="0">
              <a:lnSpc>
                <a:spcPct val="100000"/>
              </a:lnSpc>
              <a:spcBef>
                <a:spcPts val="2200"/>
              </a:spcBef>
              <a:spcAft>
                <a:spcPts val="0"/>
              </a:spcAft>
              <a:buSzPts val="2300"/>
              <a:buNone/>
            </a:pPr>
            <a:endParaRPr>
              <a:solidFill>
                <a:schemeClr val="dk1"/>
              </a:solidFill>
              <a:latin typeface="Arial"/>
              <a:ea typeface="Arial"/>
              <a:cs typeface="Arial"/>
              <a:sym typeface="Arial"/>
            </a:endParaRPr>
          </a:p>
          <a:p>
            <a:pPr marL="0" lvl="0" indent="0" algn="l" rtl="0">
              <a:lnSpc>
                <a:spcPct val="100000"/>
              </a:lnSpc>
              <a:spcBef>
                <a:spcPts val="2200"/>
              </a:spcBef>
              <a:spcAft>
                <a:spcPts val="0"/>
              </a:spcAft>
              <a:buSzPts val="2300"/>
              <a:buNone/>
            </a:pPr>
            <a:r>
              <a:rPr lang="en">
                <a:latin typeface="Arial"/>
                <a:ea typeface="Arial"/>
                <a:cs typeface="Arial"/>
                <a:sym typeface="Arial"/>
              </a:rPr>
              <a:t>	</a:t>
            </a: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pic>
        <p:nvPicPr>
          <p:cNvPr id="1112" name="Google Shape;1112;p55"/>
          <p:cNvPicPr preferRelativeResize="0"/>
          <p:nvPr/>
        </p:nvPicPr>
        <p:blipFill rotWithShape="1">
          <a:blip r:embed="rId3">
            <a:alphaModFix/>
          </a:blip>
          <a:srcRect/>
          <a:stretch/>
        </p:blipFill>
        <p:spPr>
          <a:xfrm>
            <a:off x="6682675" y="2109758"/>
            <a:ext cx="859675" cy="859675"/>
          </a:xfrm>
          <a:prstGeom prst="rect">
            <a:avLst/>
          </a:prstGeom>
          <a:noFill/>
          <a:ln w="9525" cap="flat" cmpd="sng">
            <a:solidFill>
              <a:schemeClr val="dk2"/>
            </a:solidFill>
            <a:prstDash val="solid"/>
            <a:round/>
            <a:headEnd type="none" w="sm" len="sm"/>
            <a:tailEnd type="none" w="sm" len="sm"/>
          </a:ln>
        </p:spPr>
      </p:pic>
      <p:sp>
        <p:nvSpPr>
          <p:cNvPr id="1113" name="Google Shape;1113;p55"/>
          <p:cNvSpPr txBox="1"/>
          <p:nvPr/>
        </p:nvSpPr>
        <p:spPr>
          <a:xfrm>
            <a:off x="6356750" y="3020300"/>
            <a:ext cx="1997100" cy="632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Helvetica Neue"/>
                <a:ea typeface="Helvetica Neue"/>
                <a:cs typeface="Helvetica Neue"/>
                <a:sym typeface="Helvetica Neue"/>
              </a:rPr>
              <a:t>If you could do anything (compute resources are not an issue), what would you use as a query?</a:t>
            </a:r>
            <a:endParaRPr sz="14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93013A8-1782-B037-22AD-E9FB32074311}"/>
              </a:ext>
            </a:extLst>
          </p:cNvPr>
          <p:cNvSpPr>
            <a:spLocks noGrp="1"/>
          </p:cNvSpPr>
          <p:nvPr>
            <p:ph type="title"/>
          </p:nvPr>
        </p:nvSpPr>
        <p:spPr/>
        <p:txBody>
          <a:bodyPr/>
          <a:lstStyle/>
          <a:p>
            <a:r>
              <a:rPr lang="en-US" sz="3600" dirty="0"/>
              <a:t>What database(s) do we want to use?</a:t>
            </a:r>
          </a:p>
        </p:txBody>
      </p:sp>
    </p:spTree>
    <p:extLst>
      <p:ext uri="{BB962C8B-B14F-4D97-AF65-F5344CB8AC3E}">
        <p14:creationId xmlns:p14="http://schemas.microsoft.com/office/powerpoint/2010/main" val="61283216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g3568970961c_0_64"/>
          <p:cNvSpPr txBox="1">
            <a:spLocks noGrp="1"/>
          </p:cNvSpPr>
          <p:nvPr>
            <p:ph type="title"/>
          </p:nvPr>
        </p:nvSpPr>
        <p:spPr>
          <a:xfrm>
            <a:off x="633438" y="0"/>
            <a:ext cx="7877100" cy="857400"/>
          </a:xfrm>
          <a:prstGeom prst="rect">
            <a:avLst/>
          </a:prstGeom>
          <a:noFill/>
          <a:ln>
            <a:noFill/>
          </a:ln>
        </p:spPr>
        <p:txBody>
          <a:bodyPr spcFirstLastPara="1" wrap="square" lIns="19050" tIns="19050" rIns="19050" bIns="19050" anchor="ctr" anchorCtr="0">
            <a:noAutofit/>
          </a:bodyPr>
          <a:lstStyle/>
          <a:p>
            <a:pPr marL="0" lvl="0" indent="0" algn="ctr" rtl="0">
              <a:lnSpc>
                <a:spcPct val="100000"/>
              </a:lnSpc>
              <a:spcBef>
                <a:spcPts val="0"/>
              </a:spcBef>
              <a:spcAft>
                <a:spcPts val="0"/>
              </a:spcAft>
              <a:buSzPts val="700"/>
              <a:buNone/>
            </a:pPr>
            <a:r>
              <a:rPr lang="en" sz="2800">
                <a:latin typeface="Helvetica Neue"/>
                <a:ea typeface="Helvetica Neue"/>
                <a:cs typeface="Helvetica Neue"/>
                <a:sym typeface="Helvetica Neue"/>
              </a:rPr>
              <a:t>Taxonomic assignment: Alignment</a:t>
            </a:r>
            <a:endParaRPr sz="3600"/>
          </a:p>
        </p:txBody>
      </p:sp>
      <p:sp>
        <p:nvSpPr>
          <p:cNvPr id="1119" name="Google Shape;1119;g3568970961c_0_64"/>
          <p:cNvSpPr txBox="1">
            <a:spLocks noGrp="1"/>
          </p:cNvSpPr>
          <p:nvPr>
            <p:ph type="body" idx="1"/>
          </p:nvPr>
        </p:nvSpPr>
        <p:spPr>
          <a:xfrm>
            <a:off x="628638" y="2558819"/>
            <a:ext cx="7886700" cy="1384200"/>
          </a:xfrm>
          <a:prstGeom prst="rect">
            <a:avLst/>
          </a:prstGeom>
          <a:noFill/>
          <a:ln>
            <a:noFill/>
          </a:ln>
        </p:spPr>
        <p:txBody>
          <a:bodyPr spcFirstLastPara="1" wrap="square" lIns="19050" tIns="19050" rIns="19050" bIns="19050" anchor="ctr" anchorCtr="0">
            <a:noAutofit/>
          </a:bodyPr>
          <a:lstStyle/>
          <a:p>
            <a:pPr marL="0" lvl="0" indent="0" algn="l" rtl="0">
              <a:lnSpc>
                <a:spcPct val="100000"/>
              </a:lnSpc>
              <a:spcBef>
                <a:spcPts val="2200"/>
              </a:spcBef>
              <a:spcAft>
                <a:spcPts val="0"/>
              </a:spcAft>
              <a:buSzPts val="2300"/>
              <a:buNone/>
            </a:pPr>
            <a:r>
              <a:rPr lang="en" sz="1800" b="1">
                <a:latin typeface="Arial"/>
                <a:ea typeface="Arial"/>
                <a:cs typeface="Arial"/>
                <a:sym typeface="Arial"/>
              </a:rPr>
              <a:t>Alignment goal</a:t>
            </a:r>
            <a:r>
              <a:rPr lang="en" sz="1800">
                <a:latin typeface="Arial"/>
                <a:ea typeface="Arial"/>
                <a:cs typeface="Arial"/>
                <a:sym typeface="Arial"/>
              </a:rPr>
              <a:t>: Query unknown sequences against a </a:t>
            </a:r>
            <a:r>
              <a:rPr lang="en" sz="1800" u="sng">
                <a:latin typeface="Arial"/>
                <a:ea typeface="Arial"/>
                <a:cs typeface="Arial"/>
                <a:sym typeface="Arial"/>
              </a:rPr>
              <a:t>database</a:t>
            </a:r>
            <a:r>
              <a:rPr lang="en" sz="1800">
                <a:latin typeface="Arial"/>
                <a:ea typeface="Arial"/>
                <a:cs typeface="Arial"/>
                <a:sym typeface="Arial"/>
              </a:rPr>
              <a:t> of known sequences to identify the microbe of origin.</a:t>
            </a:r>
            <a:r>
              <a:rPr lang="en">
                <a:latin typeface="Arial"/>
                <a:ea typeface="Arial"/>
                <a:cs typeface="Arial"/>
                <a:sym typeface="Arial"/>
              </a:rPr>
              <a:t>	</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Query</a:t>
            </a:r>
            <a:r>
              <a:rPr lang="en" sz="1800">
                <a:latin typeface="Arial"/>
                <a:ea typeface="Arial"/>
                <a:cs typeface="Arial"/>
                <a:sym typeface="Arial"/>
              </a:rPr>
              <a:t>: </a:t>
            </a:r>
            <a:r>
              <a:rPr lang="en">
                <a:latin typeface="Arial"/>
                <a:ea typeface="Arial"/>
                <a:cs typeface="Arial"/>
                <a:sym typeface="Arial"/>
              </a:rPr>
              <a:t>Reads and/or Contigs</a:t>
            </a:r>
            <a:endParaRPr/>
          </a:p>
          <a:p>
            <a:pPr marL="285750" lvl="0" indent="-285750" algn="l" rtl="0">
              <a:lnSpc>
                <a:spcPct val="100000"/>
              </a:lnSpc>
              <a:spcBef>
                <a:spcPts val="2200"/>
              </a:spcBef>
              <a:spcAft>
                <a:spcPts val="0"/>
              </a:spcAft>
              <a:buSzPts val="2300"/>
              <a:buChar char="•"/>
            </a:pPr>
            <a:r>
              <a:rPr lang="en" b="1">
                <a:latin typeface="Arial"/>
                <a:ea typeface="Arial"/>
                <a:cs typeface="Arial"/>
                <a:sym typeface="Arial"/>
              </a:rPr>
              <a:t>Database</a:t>
            </a:r>
            <a:r>
              <a:rPr lang="en">
                <a:latin typeface="Arial"/>
                <a:ea typeface="Arial"/>
                <a:cs typeface="Arial"/>
                <a:sym typeface="Arial"/>
              </a:rPr>
              <a:t>: Any reference database of known organism sequences. </a:t>
            </a:r>
            <a:r>
              <a:rPr lang="en">
                <a:solidFill>
                  <a:schemeClr val="dk1"/>
                </a:solidFill>
                <a:latin typeface="Arial"/>
                <a:ea typeface="Arial"/>
                <a:cs typeface="Arial"/>
                <a:sym typeface="Arial"/>
              </a:rPr>
              <a:t>Databases from the National Center for Biotechnology Information (NCBI) are ideal because they include comprehensive collections of publicly available sequences. </a:t>
            </a:r>
            <a:endParaRPr>
              <a:solidFill>
                <a:schemeClr val="dk1"/>
              </a:solidFill>
              <a:latin typeface="Arial"/>
              <a:ea typeface="Arial"/>
              <a:cs typeface="Arial"/>
              <a:sym typeface="Arial"/>
            </a:endParaRPr>
          </a:p>
          <a:p>
            <a:pPr marL="0" lvl="0" indent="0" algn="l" rtl="0">
              <a:lnSpc>
                <a:spcPct val="100000"/>
              </a:lnSpc>
              <a:spcBef>
                <a:spcPts val="2200"/>
              </a:spcBef>
              <a:spcAft>
                <a:spcPts val="0"/>
              </a:spcAft>
              <a:buSzPts val="2300"/>
              <a:buNone/>
            </a:pPr>
            <a:r>
              <a:rPr lang="en">
                <a:latin typeface="Arial"/>
                <a:ea typeface="Arial"/>
                <a:cs typeface="Arial"/>
                <a:sym typeface="Arial"/>
              </a:rPr>
              <a:t>	</a:t>
            </a: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a:p>
            <a:pPr marL="0" lvl="0" indent="0" algn="l" rtl="0">
              <a:lnSpc>
                <a:spcPct val="100000"/>
              </a:lnSpc>
              <a:spcBef>
                <a:spcPts val="2200"/>
              </a:spcBef>
              <a:spcAft>
                <a:spcPts val="0"/>
              </a:spcAft>
              <a:buSzPts val="2300"/>
              <a:buNone/>
            </a:pPr>
            <a:endParaRPr sz="1800">
              <a:latin typeface="Arial"/>
              <a:ea typeface="Arial"/>
              <a:cs typeface="Arial"/>
              <a:sym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5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Databases</a:t>
            </a:r>
            <a:endParaRPr>
              <a:latin typeface="Arial"/>
              <a:ea typeface="Arial"/>
              <a:cs typeface="Arial"/>
              <a:sym typeface="Arial"/>
            </a:endParaRPr>
          </a:p>
        </p:txBody>
      </p:sp>
      <p:sp>
        <p:nvSpPr>
          <p:cNvPr id="1125" name="Google Shape;1125;p5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Autofit/>
          </a:bodyPr>
          <a:lstStyle/>
          <a:p>
            <a:pPr marL="457200" lvl="0" indent="0" algn="l" rtl="0">
              <a:lnSpc>
                <a:spcPct val="100000"/>
              </a:lnSpc>
              <a:spcBef>
                <a:spcPts val="2200"/>
              </a:spcBef>
              <a:spcAft>
                <a:spcPts val="0"/>
              </a:spcAft>
              <a:buSzPts val="1400"/>
              <a:buNone/>
            </a:pPr>
            <a:r>
              <a:rPr lang="en" b="1">
                <a:latin typeface="Arial"/>
                <a:ea typeface="Arial"/>
                <a:cs typeface="Arial"/>
                <a:sym typeface="Arial"/>
              </a:rPr>
              <a:t>GenBank</a:t>
            </a:r>
            <a:r>
              <a:rPr lang="en">
                <a:latin typeface="Arial"/>
                <a:ea typeface="Arial"/>
                <a:cs typeface="Arial"/>
                <a:sym typeface="Arial"/>
              </a:rPr>
              <a:t>: Includes a collection of all publicly available DNA sequences. Researches directly submit sequences to GenBank where the data goes through automated and manual processing to ensure data integrity (otherwise, the data is not curated).</a:t>
            </a:r>
            <a:endParaRPr>
              <a:latin typeface="Arial"/>
              <a:ea typeface="Arial"/>
              <a:cs typeface="Arial"/>
              <a:sym typeface="Arial"/>
            </a:endParaRPr>
          </a:p>
          <a:p>
            <a:pPr marL="457200" lvl="0" indent="0" algn="l" rtl="0">
              <a:lnSpc>
                <a:spcPct val="100000"/>
              </a:lnSpc>
              <a:spcBef>
                <a:spcPts val="2200"/>
              </a:spcBef>
              <a:spcAft>
                <a:spcPts val="0"/>
              </a:spcAft>
              <a:buSzPts val="1400"/>
              <a:buNone/>
            </a:pPr>
            <a:r>
              <a:rPr lang="en" b="1">
                <a:latin typeface="Arial"/>
                <a:ea typeface="Arial"/>
                <a:cs typeface="Arial"/>
                <a:sym typeface="Arial"/>
              </a:rPr>
              <a:t>RefSeq</a:t>
            </a:r>
            <a:r>
              <a:rPr lang="en">
                <a:latin typeface="Arial"/>
                <a:ea typeface="Arial"/>
                <a:cs typeface="Arial"/>
                <a:sym typeface="Arial"/>
              </a:rPr>
              <a:t>: Curated subset from GenBank. Curation ensures high accuracy and reliability.</a:t>
            </a:r>
            <a:endParaRPr>
              <a:latin typeface="Arial"/>
              <a:ea typeface="Arial"/>
              <a:cs typeface="Arial"/>
              <a:sym typeface="Arial"/>
            </a:endParaRPr>
          </a:p>
          <a:p>
            <a:pPr marL="146050" lvl="0" indent="0" algn="l" rtl="0">
              <a:lnSpc>
                <a:spcPct val="100000"/>
              </a:lnSpc>
              <a:spcBef>
                <a:spcPts val="2200"/>
              </a:spcBef>
              <a:spcAft>
                <a:spcPts val="0"/>
              </a:spcAft>
              <a:buClr>
                <a:schemeClr val="dk1"/>
              </a:buClr>
              <a:buSzPts val="2300"/>
              <a:buFont typeface="Arial"/>
              <a:buNone/>
            </a:pPr>
            <a:endParaRPr sz="1800">
              <a:latin typeface="Arial"/>
              <a:ea typeface="Arial"/>
              <a:cs typeface="Arial"/>
              <a:sym typeface="Arial"/>
            </a:endParaRPr>
          </a:p>
          <a:p>
            <a:pPr marL="0" lvl="0" indent="0" algn="l" rtl="0">
              <a:lnSpc>
                <a:spcPct val="100000"/>
              </a:lnSpc>
              <a:spcBef>
                <a:spcPts val="2200"/>
              </a:spcBef>
              <a:spcAft>
                <a:spcPts val="0"/>
              </a:spcAft>
              <a:buClr>
                <a:schemeClr val="dk1"/>
              </a:buClr>
              <a:buSzPts val="2300"/>
              <a:buFont typeface="Arial"/>
              <a:buNone/>
            </a:pPr>
            <a:endParaRPr sz="1800">
              <a:latin typeface="Arial"/>
              <a:ea typeface="Arial"/>
              <a:cs typeface="Arial"/>
              <a:sym typeface="Arial"/>
            </a:endParaRPr>
          </a:p>
          <a:p>
            <a:pPr marL="0" lvl="0" indent="0" algn="l" rtl="0">
              <a:lnSpc>
                <a:spcPct val="90000"/>
              </a:lnSpc>
              <a:spcBef>
                <a:spcPts val="800"/>
              </a:spcBef>
              <a:spcAft>
                <a:spcPts val="0"/>
              </a:spcAft>
              <a:buSzPts val="1400"/>
              <a:buNone/>
            </a:pP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129"/>
        <p:cNvGrpSpPr/>
        <p:nvPr/>
      </p:nvGrpSpPr>
      <p:grpSpPr>
        <a:xfrm>
          <a:off x="0" y="0"/>
          <a:ext cx="0" cy="0"/>
          <a:chOff x="0" y="0"/>
          <a:chExt cx="0" cy="0"/>
        </a:xfrm>
      </p:grpSpPr>
      <p:sp>
        <p:nvSpPr>
          <p:cNvPr id="1130" name="Google Shape;1130;p57"/>
          <p:cNvSpPr txBox="1">
            <a:spLocks noGrp="1"/>
          </p:cNvSpPr>
          <p:nvPr>
            <p:ph type="title"/>
          </p:nvPr>
        </p:nvSpPr>
        <p:spPr>
          <a:xfrm>
            <a:off x="628650" y="236630"/>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Databases</a:t>
            </a:r>
            <a:endParaRPr>
              <a:latin typeface="Arial"/>
              <a:ea typeface="Arial"/>
              <a:cs typeface="Arial"/>
              <a:sym typeface="Arial"/>
            </a:endParaRPr>
          </a:p>
        </p:txBody>
      </p:sp>
      <p:graphicFrame>
        <p:nvGraphicFramePr>
          <p:cNvPr id="1131" name="Google Shape;1131;p57"/>
          <p:cNvGraphicFramePr/>
          <p:nvPr/>
        </p:nvGraphicFramePr>
        <p:xfrm>
          <a:off x="401975" y="1570018"/>
          <a:ext cx="8340050" cy="792420"/>
        </p:xfrm>
        <a:graphic>
          <a:graphicData uri="http://schemas.openxmlformats.org/drawingml/2006/table">
            <a:tbl>
              <a:tblPr>
                <a:noFill/>
                <a:tableStyleId>{670C5DA0-37B5-460B-AD53-E6B2C718EC3D}</a:tableStyleId>
              </a:tblPr>
              <a:tblGrid>
                <a:gridCol w="1113800">
                  <a:extLst>
                    <a:ext uri="{9D8B030D-6E8A-4147-A177-3AD203B41FA5}">
                      <a16:colId xmlns:a16="http://schemas.microsoft.com/office/drawing/2014/main" val="20000"/>
                    </a:ext>
                  </a:extLst>
                </a:gridCol>
                <a:gridCol w="3284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Definition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NT = nucleotide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NR = non-redundant protein</a:t>
                      </a: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135"/>
        <p:cNvGrpSpPr/>
        <p:nvPr/>
      </p:nvGrpSpPr>
      <p:grpSpPr>
        <a:xfrm>
          <a:off x="0" y="0"/>
          <a:ext cx="0" cy="0"/>
          <a:chOff x="0" y="0"/>
          <a:chExt cx="0" cy="0"/>
        </a:xfrm>
      </p:grpSpPr>
      <p:sp>
        <p:nvSpPr>
          <p:cNvPr id="1136" name="Google Shape;1136;p58"/>
          <p:cNvSpPr txBox="1">
            <a:spLocks noGrp="1"/>
          </p:cNvSpPr>
          <p:nvPr>
            <p:ph type="title"/>
          </p:nvPr>
        </p:nvSpPr>
        <p:spPr>
          <a:xfrm>
            <a:off x="628650" y="45244"/>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Databases</a:t>
            </a:r>
            <a:endParaRPr>
              <a:latin typeface="Arial"/>
              <a:ea typeface="Arial"/>
              <a:cs typeface="Arial"/>
              <a:sym typeface="Arial"/>
            </a:endParaRPr>
          </a:p>
        </p:txBody>
      </p:sp>
      <p:graphicFrame>
        <p:nvGraphicFramePr>
          <p:cNvPr id="1137" name="Google Shape;1137;p58"/>
          <p:cNvGraphicFramePr/>
          <p:nvPr/>
        </p:nvGraphicFramePr>
        <p:xfrm>
          <a:off x="401975" y="1039450"/>
          <a:ext cx="8340050" cy="2468790"/>
        </p:xfrm>
        <a:graphic>
          <a:graphicData uri="http://schemas.openxmlformats.org/drawingml/2006/table">
            <a:tbl>
              <a:tblPr>
                <a:noFill/>
                <a:tableStyleId>{670C5DA0-37B5-460B-AD53-E6B2C718EC3D}</a:tableStyleId>
              </a:tblPr>
              <a:tblGrid>
                <a:gridCol w="1113800">
                  <a:extLst>
                    <a:ext uri="{9D8B030D-6E8A-4147-A177-3AD203B41FA5}">
                      <a16:colId xmlns:a16="http://schemas.microsoft.com/office/drawing/2014/main" val="20000"/>
                    </a:ext>
                  </a:extLst>
                </a:gridCol>
                <a:gridCol w="3284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Definition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NT = nucleotide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NR = non-redundant protein</a:t>
                      </a:r>
                      <a:endParaRPr sz="1400" u="none" strike="noStrike" cap="none"/>
                    </a:p>
                  </a:txBody>
                  <a:tcPr marL="91425" marR="91425" marT="91425" marB="91425" anchor="ctr"/>
                </a:tc>
                <a:extLst>
                  <a:ext uri="{0D108BD9-81ED-4DB2-BD59-A6C34878D82A}">
                    <a16:rowId xmlns:a16="http://schemas.microsoft.com/office/drawing/2014/main" val="10001"/>
                  </a:ext>
                </a:extLst>
              </a:tr>
              <a:tr h="851500">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What is in the database?</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 sz="1400" b="1" u="none" strike="noStrike" cap="none"/>
                        <a:t>Publicly available nucleotide sequences</a:t>
                      </a:r>
                      <a:r>
                        <a:rPr lang="en" sz="1400" u="none" strike="noStrike" cap="none"/>
                        <a:t> (GenBank sequences except for sequences from NGS projects, such as WGS and SRA databases).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400" b="1" u="none" strike="noStrike" cap="none">
                          <a:solidFill>
                            <a:schemeClr val="dk1"/>
                          </a:solidFill>
                          <a:latin typeface="Helvetica Neue"/>
                          <a:ea typeface="Helvetica Neue"/>
                          <a:cs typeface="Helvetica Neue"/>
                          <a:sym typeface="Helvetica Neue"/>
                        </a:rPr>
                        <a:t>Amino acid sequences</a:t>
                      </a:r>
                      <a:r>
                        <a:rPr lang="en" sz="1400" u="none" strike="noStrike" cap="none">
                          <a:solidFill>
                            <a:schemeClr val="dk1"/>
                          </a:solidFill>
                          <a:latin typeface="Helvetica Neue"/>
                          <a:ea typeface="Helvetica Neue"/>
                          <a:cs typeface="Helvetica Neue"/>
                          <a:sym typeface="Helvetica Neue"/>
                        </a:rPr>
                        <a:t> representing non-redundant,</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annotated</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coding regions</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from GenBank as well as records from protein databases (e.g., UniProt and PDB).</a:t>
                      </a:r>
                      <a:endParaRPr sz="140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p>
                    <a:p>
                      <a:pPr marL="0" marR="0" lvl="0" indent="0" algn="l" rtl="0">
                        <a:lnSpc>
                          <a:spcPct val="100000"/>
                        </a:lnSpc>
                        <a:spcBef>
                          <a:spcPts val="0"/>
                        </a:spcBef>
                        <a:spcAft>
                          <a:spcPts val="0"/>
                        </a:spcAft>
                        <a:buClr>
                          <a:srgbClr val="000000"/>
                        </a:buClr>
                        <a:buSzPts val="1400"/>
                        <a:buFont typeface="Arial"/>
                        <a:buNone/>
                      </a:pPr>
                      <a:r>
                        <a:rPr lang="en" sz="1400" u="none" strike="noStrike" cap="none"/>
                        <a:t>Note: </a:t>
                      </a:r>
                      <a:r>
                        <a:rPr lang="en" sz="1400" b="1" u="none" strike="noStrike" cap="none"/>
                        <a:t>does not contain rRNA sequences</a:t>
                      </a:r>
                      <a:r>
                        <a:rPr lang="en" sz="1400" u="none" strike="noStrike" cap="none"/>
                        <a:t> given that these do not encode proteins</a:t>
                      </a:r>
                      <a:endParaRPr sz="1400" u="none" strike="noStrike" cap="none"/>
                    </a:p>
                  </a:txBody>
                  <a:tcPr marL="91425" marR="91425" marT="91425" marB="914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141"/>
        <p:cNvGrpSpPr/>
        <p:nvPr/>
      </p:nvGrpSpPr>
      <p:grpSpPr>
        <a:xfrm>
          <a:off x="0" y="0"/>
          <a:ext cx="0" cy="0"/>
          <a:chOff x="0" y="0"/>
          <a:chExt cx="0" cy="0"/>
        </a:xfrm>
      </p:grpSpPr>
      <p:sp>
        <p:nvSpPr>
          <p:cNvPr id="1142" name="Google Shape;1142;p59"/>
          <p:cNvSpPr txBox="1">
            <a:spLocks noGrp="1"/>
          </p:cNvSpPr>
          <p:nvPr>
            <p:ph type="title"/>
          </p:nvPr>
        </p:nvSpPr>
        <p:spPr>
          <a:xfrm>
            <a:off x="628650" y="0"/>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Arial"/>
                <a:ea typeface="Arial"/>
                <a:cs typeface="Arial"/>
                <a:sym typeface="Arial"/>
              </a:rPr>
              <a:t>NCBI reference databases</a:t>
            </a:r>
            <a:endParaRPr>
              <a:latin typeface="Arial"/>
              <a:ea typeface="Arial"/>
              <a:cs typeface="Arial"/>
              <a:sym typeface="Arial"/>
            </a:endParaRPr>
          </a:p>
        </p:txBody>
      </p:sp>
      <p:graphicFrame>
        <p:nvGraphicFramePr>
          <p:cNvPr id="1143" name="Google Shape;1143;p59"/>
          <p:cNvGraphicFramePr/>
          <p:nvPr/>
        </p:nvGraphicFramePr>
        <p:xfrm>
          <a:off x="401975" y="1161521"/>
          <a:ext cx="8340050" cy="3575215"/>
        </p:xfrm>
        <a:graphic>
          <a:graphicData uri="http://schemas.openxmlformats.org/drawingml/2006/table">
            <a:tbl>
              <a:tblPr>
                <a:noFill/>
                <a:tableStyleId>{670C5DA0-37B5-460B-AD53-E6B2C718EC3D}</a:tableStyleId>
              </a:tblPr>
              <a:tblGrid>
                <a:gridCol w="1253425">
                  <a:extLst>
                    <a:ext uri="{9D8B030D-6E8A-4147-A177-3AD203B41FA5}">
                      <a16:colId xmlns:a16="http://schemas.microsoft.com/office/drawing/2014/main" val="20000"/>
                    </a:ext>
                  </a:extLst>
                </a:gridCol>
                <a:gridCol w="3144450">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2992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366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Definition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NT = nucleotide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NR = non-redundant protein</a:t>
                      </a:r>
                      <a:endParaRPr sz="1400" u="none" strike="noStrike" cap="none"/>
                    </a:p>
                  </a:txBody>
                  <a:tcPr marL="91425" marR="91425" marT="91425" marB="91425" anchor="ctr"/>
                </a:tc>
                <a:extLst>
                  <a:ext uri="{0D108BD9-81ED-4DB2-BD59-A6C34878D82A}">
                    <a16:rowId xmlns:a16="http://schemas.microsoft.com/office/drawing/2014/main" val="10001"/>
                  </a:ext>
                </a:extLst>
              </a:tr>
              <a:tr h="16152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What is in the database?</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400" b="1" u="none" strike="noStrike" cap="none">
                          <a:solidFill>
                            <a:schemeClr val="dk1"/>
                          </a:solidFill>
                        </a:rPr>
                        <a:t>Publicly available nucleotide sequences</a:t>
                      </a:r>
                      <a:r>
                        <a:rPr lang="en" sz="1400" u="none" strike="noStrike" cap="none">
                          <a:solidFill>
                            <a:schemeClr val="dk1"/>
                          </a:solidFill>
                        </a:rPr>
                        <a:t> (GenBank sequences except for those from NGS projects, such as WGS and SRA databases).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chemeClr val="dk1"/>
                        </a:buClr>
                        <a:buSzPts val="1400"/>
                        <a:buFont typeface="Arial"/>
                        <a:buNone/>
                      </a:pPr>
                      <a:r>
                        <a:rPr lang="en" sz="1400" b="1" u="none" strike="noStrike" cap="none">
                          <a:solidFill>
                            <a:schemeClr val="dk1"/>
                          </a:solidFill>
                          <a:latin typeface="Helvetica Neue"/>
                          <a:ea typeface="Helvetica Neue"/>
                          <a:cs typeface="Helvetica Neue"/>
                          <a:sym typeface="Helvetica Neue"/>
                        </a:rPr>
                        <a:t>Amino acid sequences</a:t>
                      </a:r>
                      <a:r>
                        <a:rPr lang="en" sz="1400" u="none" strike="noStrike" cap="none">
                          <a:solidFill>
                            <a:schemeClr val="dk1"/>
                          </a:solidFill>
                          <a:latin typeface="Helvetica Neue"/>
                          <a:ea typeface="Helvetica Neue"/>
                          <a:cs typeface="Helvetica Neue"/>
                          <a:sym typeface="Helvetica Neue"/>
                        </a:rPr>
                        <a:t> representing non-redundant,</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annotated</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coding regions</a:t>
                      </a:r>
                      <a:r>
                        <a:rPr lang="en" sz="1400" b="1" u="none" strike="noStrike" cap="none">
                          <a:solidFill>
                            <a:schemeClr val="dk1"/>
                          </a:solidFill>
                          <a:latin typeface="Helvetica Neue"/>
                          <a:ea typeface="Helvetica Neue"/>
                          <a:cs typeface="Helvetica Neue"/>
                          <a:sym typeface="Helvetica Neue"/>
                        </a:rPr>
                        <a:t> </a:t>
                      </a:r>
                      <a:r>
                        <a:rPr lang="en" sz="1400" u="none" strike="noStrike" cap="none">
                          <a:solidFill>
                            <a:schemeClr val="dk1"/>
                          </a:solidFill>
                          <a:latin typeface="Helvetica Neue"/>
                          <a:ea typeface="Helvetica Neue"/>
                          <a:cs typeface="Helvetica Neue"/>
                          <a:sym typeface="Helvetica Neue"/>
                        </a:rPr>
                        <a:t>from GenBank as well as records from protein databases (e.g., UniProt and PDB).</a:t>
                      </a:r>
                      <a:endParaRPr sz="140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000"/>
                        <a:buFont typeface="Arial"/>
                        <a:buNone/>
                      </a:pPr>
                      <a:endParaRPr sz="1400" u="none" strike="noStrike" cap="none">
                        <a:solidFill>
                          <a:schemeClr val="dk1"/>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400"/>
                        <a:buFont typeface="Arial"/>
                        <a:buNone/>
                      </a:pPr>
                      <a:r>
                        <a:rPr lang="en" sz="1400" u="none" strike="noStrike" cap="none"/>
                        <a:t>Note: </a:t>
                      </a:r>
                      <a:r>
                        <a:rPr lang="en" sz="1400" b="1" u="none" strike="noStrike" cap="none"/>
                        <a:t>does not contain rRNA sequences</a:t>
                      </a:r>
                      <a:r>
                        <a:rPr lang="en" sz="1400" u="none" strike="noStrike" cap="none"/>
                        <a:t> (do not encode proteins)</a:t>
                      </a:r>
                      <a:endParaRPr sz="1400" u="none" strike="noStrike" cap="none"/>
                    </a:p>
                  </a:txBody>
                  <a:tcPr marL="91425" marR="91425" marT="91425" marB="91425" anchor="ctr"/>
                </a:tc>
                <a:extLst>
                  <a:ext uri="{0D108BD9-81ED-4DB2-BD59-A6C34878D82A}">
                    <a16:rowId xmlns:a16="http://schemas.microsoft.com/office/drawing/2014/main" val="10002"/>
                  </a:ext>
                </a:extLst>
              </a:tr>
              <a:tr h="11064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How does it influence analysis?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NT alignments </a:t>
                      </a:r>
                      <a:r>
                        <a:rPr lang="en" sz="1400" b="1" u="none" strike="noStrike" cap="none"/>
                        <a:t>tend to be more accurate for most organisms</a:t>
                      </a:r>
                      <a:r>
                        <a:rPr lang="en" sz="1400" u="none" strike="noStrike" cap="none"/>
                        <a:t> (bacteria, eukaryotes, known viruses)</a:t>
                      </a:r>
                      <a:endParaRPr sz="1400" u="none" strike="noStrike" cap="none"/>
                    </a:p>
                  </a:txBody>
                  <a:tcPr marL="91425" marR="91425" marT="91425" marB="91425" anchor="ct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NR alignments are </a:t>
                      </a:r>
                      <a:r>
                        <a:rPr lang="en" sz="1400" b="1" u="none" strike="noStrike" cap="none"/>
                        <a:t>especially good for detecting divergent viruses</a:t>
                      </a:r>
                      <a:r>
                        <a:rPr lang="en" sz="1400" u="none" strike="noStrike" cap="none"/>
                        <a:t>, given that  mutations in the NT sequence accumulate faster than the amino acid sequence</a:t>
                      </a:r>
                      <a:endParaRPr sz="1400" u="none" strike="noStrike" cap="none"/>
                    </a:p>
                  </a:txBody>
                  <a:tcPr marL="91425" marR="91425" marT="91425" marB="91425"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147"/>
        <p:cNvGrpSpPr/>
        <p:nvPr/>
      </p:nvGrpSpPr>
      <p:grpSpPr>
        <a:xfrm>
          <a:off x="0" y="0"/>
          <a:ext cx="0" cy="0"/>
          <a:chOff x="0" y="0"/>
          <a:chExt cx="0" cy="0"/>
        </a:xfrm>
      </p:grpSpPr>
      <p:sp>
        <p:nvSpPr>
          <p:cNvPr id="1148" name="Google Shape;1148;g36f5f7fd2e5_0_0"/>
          <p:cNvSpPr txBox="1">
            <a:spLocks noGrp="1"/>
          </p:cNvSpPr>
          <p:nvPr>
            <p:ph type="title"/>
          </p:nvPr>
        </p:nvSpPr>
        <p:spPr>
          <a:xfrm>
            <a:off x="688400" y="-152406"/>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t>Amino Acid vs Nucleotide Alignments</a:t>
            </a:r>
            <a:endParaRPr/>
          </a:p>
        </p:txBody>
      </p:sp>
      <p:sp>
        <p:nvSpPr>
          <p:cNvPr id="1149" name="Google Shape;1149;g36f5f7fd2e5_0_0"/>
          <p:cNvSpPr txBox="1"/>
          <p:nvPr/>
        </p:nvSpPr>
        <p:spPr>
          <a:xfrm>
            <a:off x="2178600" y="111905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50" name="Google Shape;1150;g36f5f7fd2e5_0_0"/>
          <p:cNvSpPr txBox="1"/>
          <p:nvPr/>
        </p:nvSpPr>
        <p:spPr>
          <a:xfrm>
            <a:off x="969650" y="11223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1</a:t>
            </a:r>
            <a:endParaRPr sz="2100" b="0" i="0" u="none" strike="noStrike" cap="none">
              <a:solidFill>
                <a:schemeClr val="dk1"/>
              </a:solidFill>
              <a:latin typeface="Calibri"/>
              <a:ea typeface="Calibri"/>
              <a:cs typeface="Calibri"/>
              <a:sym typeface="Calibri"/>
            </a:endParaRPr>
          </a:p>
        </p:txBody>
      </p:sp>
      <p:sp>
        <p:nvSpPr>
          <p:cNvPr id="1151" name="Google Shape;1151;g36f5f7fd2e5_0_0"/>
          <p:cNvSpPr txBox="1"/>
          <p:nvPr/>
        </p:nvSpPr>
        <p:spPr>
          <a:xfrm>
            <a:off x="969650" y="17615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2</a:t>
            </a:r>
            <a:endParaRPr sz="2100" b="0" i="0" u="none" strike="noStrike" cap="none">
              <a:solidFill>
                <a:schemeClr val="dk1"/>
              </a:solidFill>
              <a:latin typeface="Calibri"/>
              <a:ea typeface="Calibri"/>
              <a:cs typeface="Calibri"/>
              <a:sym typeface="Calibri"/>
            </a:endParaRPr>
          </a:p>
        </p:txBody>
      </p:sp>
      <p:sp>
        <p:nvSpPr>
          <p:cNvPr id="1152" name="Google Shape;1152;g36f5f7fd2e5_0_0"/>
          <p:cNvSpPr txBox="1"/>
          <p:nvPr/>
        </p:nvSpPr>
        <p:spPr>
          <a:xfrm>
            <a:off x="6778525" y="1402875"/>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100 % Id</a:t>
            </a:r>
            <a:endParaRPr sz="2100" b="0" i="0" u="none" strike="noStrike" cap="none">
              <a:solidFill>
                <a:schemeClr val="dk1"/>
              </a:solidFill>
              <a:latin typeface="Calibri"/>
              <a:ea typeface="Calibri"/>
              <a:cs typeface="Calibri"/>
              <a:sym typeface="Calibri"/>
            </a:endParaRPr>
          </a:p>
        </p:txBody>
      </p:sp>
      <p:sp>
        <p:nvSpPr>
          <p:cNvPr id="1153" name="Google Shape;1153;g36f5f7fd2e5_0_0"/>
          <p:cNvSpPr txBox="1"/>
          <p:nvPr/>
        </p:nvSpPr>
        <p:spPr>
          <a:xfrm>
            <a:off x="2178600" y="176150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157"/>
        <p:cNvGrpSpPr/>
        <p:nvPr/>
      </p:nvGrpSpPr>
      <p:grpSpPr>
        <a:xfrm>
          <a:off x="0" y="0"/>
          <a:ext cx="0" cy="0"/>
          <a:chOff x="0" y="0"/>
          <a:chExt cx="0" cy="0"/>
        </a:xfrm>
      </p:grpSpPr>
      <p:sp>
        <p:nvSpPr>
          <p:cNvPr id="1158" name="Google Shape;1158;g36f50cf8f39_0_136"/>
          <p:cNvSpPr txBox="1"/>
          <p:nvPr/>
        </p:nvSpPr>
        <p:spPr>
          <a:xfrm>
            <a:off x="0" y="31431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1</a:t>
            </a:r>
            <a:endParaRPr sz="2100" b="0" i="0" u="none" strike="noStrike" cap="none">
              <a:solidFill>
                <a:schemeClr val="dk1"/>
              </a:solidFill>
              <a:latin typeface="Calibri"/>
              <a:ea typeface="Calibri"/>
              <a:cs typeface="Calibri"/>
              <a:sym typeface="Calibri"/>
            </a:endParaRPr>
          </a:p>
        </p:txBody>
      </p:sp>
      <p:sp>
        <p:nvSpPr>
          <p:cNvPr id="1159" name="Google Shape;1159;g36f50cf8f39_0_136"/>
          <p:cNvSpPr txBox="1"/>
          <p:nvPr/>
        </p:nvSpPr>
        <p:spPr>
          <a:xfrm>
            <a:off x="648450" y="3185475"/>
            <a:ext cx="83814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GTA GCT GTC TTG ATC GTG ATC GCA TAT GAA CTG ATG GCT ACG GAA</a:t>
            </a:r>
            <a:endParaRPr sz="1600" b="1" i="0" u="none" strike="noStrike" cap="none">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1160" name="Google Shape;1160;g36f50cf8f39_0_136"/>
          <p:cNvSpPr txBox="1">
            <a:spLocks noGrp="1"/>
          </p:cNvSpPr>
          <p:nvPr>
            <p:ph type="title"/>
          </p:nvPr>
        </p:nvSpPr>
        <p:spPr>
          <a:xfrm>
            <a:off x="688400" y="-152406"/>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t>Amino Acid vs Nucleotide Alignments</a:t>
            </a:r>
            <a:endParaRPr/>
          </a:p>
        </p:txBody>
      </p:sp>
      <p:sp>
        <p:nvSpPr>
          <p:cNvPr id="1161" name="Google Shape;1161;g36f50cf8f39_0_136"/>
          <p:cNvSpPr txBox="1"/>
          <p:nvPr/>
        </p:nvSpPr>
        <p:spPr>
          <a:xfrm>
            <a:off x="2178600" y="111905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62" name="Google Shape;1162;g36f50cf8f39_0_136"/>
          <p:cNvSpPr txBox="1"/>
          <p:nvPr/>
        </p:nvSpPr>
        <p:spPr>
          <a:xfrm>
            <a:off x="969650" y="11223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1</a:t>
            </a:r>
            <a:endParaRPr sz="2100" b="0" i="0" u="none" strike="noStrike" cap="none">
              <a:solidFill>
                <a:schemeClr val="dk1"/>
              </a:solidFill>
              <a:latin typeface="Calibri"/>
              <a:ea typeface="Calibri"/>
              <a:cs typeface="Calibri"/>
              <a:sym typeface="Calibri"/>
            </a:endParaRPr>
          </a:p>
        </p:txBody>
      </p:sp>
      <p:sp>
        <p:nvSpPr>
          <p:cNvPr id="1163" name="Google Shape;1163;g36f50cf8f39_0_136"/>
          <p:cNvSpPr txBox="1"/>
          <p:nvPr/>
        </p:nvSpPr>
        <p:spPr>
          <a:xfrm>
            <a:off x="969650" y="17615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2</a:t>
            </a:r>
            <a:endParaRPr sz="2100" b="0" i="0" u="none" strike="noStrike" cap="none">
              <a:solidFill>
                <a:schemeClr val="dk1"/>
              </a:solidFill>
              <a:latin typeface="Calibri"/>
              <a:ea typeface="Calibri"/>
              <a:cs typeface="Calibri"/>
              <a:sym typeface="Calibri"/>
            </a:endParaRPr>
          </a:p>
        </p:txBody>
      </p:sp>
      <p:sp>
        <p:nvSpPr>
          <p:cNvPr id="1164" name="Google Shape;1164;g36f50cf8f39_0_136"/>
          <p:cNvSpPr txBox="1"/>
          <p:nvPr/>
        </p:nvSpPr>
        <p:spPr>
          <a:xfrm>
            <a:off x="6778525" y="1402875"/>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100 % Id</a:t>
            </a:r>
            <a:endParaRPr sz="2100" b="0" i="0" u="none" strike="noStrike" cap="none">
              <a:solidFill>
                <a:schemeClr val="dk1"/>
              </a:solidFill>
              <a:latin typeface="Calibri"/>
              <a:ea typeface="Calibri"/>
              <a:cs typeface="Calibri"/>
              <a:sym typeface="Calibri"/>
            </a:endParaRPr>
          </a:p>
        </p:txBody>
      </p:sp>
      <p:sp>
        <p:nvSpPr>
          <p:cNvPr id="1165" name="Google Shape;1165;g36f50cf8f39_0_136"/>
          <p:cNvSpPr txBox="1"/>
          <p:nvPr/>
        </p:nvSpPr>
        <p:spPr>
          <a:xfrm>
            <a:off x="2178600" y="176150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66" name="Google Shape;1166;g36f50cf8f39_0_136"/>
          <p:cNvSpPr txBox="1"/>
          <p:nvPr/>
        </p:nvSpPr>
        <p:spPr>
          <a:xfrm>
            <a:off x="0" y="38130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a:t>
            </a:r>
            <a:r>
              <a:rPr lang="en" sz="2100">
                <a:solidFill>
                  <a:schemeClr val="dk1"/>
                </a:solidFill>
                <a:latin typeface="Calibri"/>
                <a:ea typeface="Calibri"/>
                <a:cs typeface="Calibri"/>
                <a:sym typeface="Calibri"/>
              </a:rPr>
              <a:t>2  </a:t>
            </a:r>
            <a:endParaRPr sz="2100" b="0" i="0" u="none" strike="noStrike" cap="none">
              <a:solidFill>
                <a:schemeClr val="dk1"/>
              </a:solidFill>
              <a:latin typeface="Calibri"/>
              <a:ea typeface="Calibri"/>
              <a:cs typeface="Calibri"/>
              <a:sym typeface="Calibri"/>
            </a:endParaRPr>
          </a:p>
        </p:txBody>
      </p:sp>
      <p:sp>
        <p:nvSpPr>
          <p:cNvPr id="1167" name="Google Shape;1167;g36f50cf8f39_0_136"/>
          <p:cNvSpPr txBox="1"/>
          <p:nvPr/>
        </p:nvSpPr>
        <p:spPr>
          <a:xfrm>
            <a:off x="648450" y="3855375"/>
            <a:ext cx="8381400" cy="6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GTG GCC GTC TTG ATA GTG ATC GCG TAT GAA CTA ATG GCA ACG GAA</a:t>
            </a:r>
            <a:endParaRPr sz="1600" b="1">
              <a:solidFill>
                <a:schemeClr val="dk1"/>
              </a:solidFill>
              <a:latin typeface="Courier New" panose="02070309020205020404" pitchFamily="49" charset="0"/>
              <a:ea typeface="Calibri"/>
              <a:cs typeface="Courier New" panose="02070309020205020404" pitchFamily="49" charset="0"/>
              <a:sym typeface="Calibri"/>
            </a:endParaRPr>
          </a:p>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 </a:t>
            </a:r>
            <a:endParaRPr sz="1600" b="1" i="0" u="none" strike="noStrike" cap="none">
              <a:solidFill>
                <a:schemeClr val="accent2"/>
              </a:solidFill>
              <a:latin typeface="Courier New" panose="02070309020205020404" pitchFamily="49" charset="0"/>
              <a:ea typeface="Calibri"/>
              <a:cs typeface="Courier New" panose="02070309020205020404" pitchFamily="49" charset="0"/>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71"/>
        <p:cNvGrpSpPr/>
        <p:nvPr/>
      </p:nvGrpSpPr>
      <p:grpSpPr>
        <a:xfrm>
          <a:off x="0" y="0"/>
          <a:ext cx="0" cy="0"/>
          <a:chOff x="0" y="0"/>
          <a:chExt cx="0" cy="0"/>
        </a:xfrm>
      </p:grpSpPr>
      <p:sp>
        <p:nvSpPr>
          <p:cNvPr id="1172" name="Google Shape;1172;g36f50cf8f39_0_122"/>
          <p:cNvSpPr txBox="1"/>
          <p:nvPr/>
        </p:nvSpPr>
        <p:spPr>
          <a:xfrm>
            <a:off x="0" y="31431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1</a:t>
            </a:r>
            <a:endParaRPr sz="2100" b="0" i="0" u="none" strike="noStrike" cap="none">
              <a:solidFill>
                <a:schemeClr val="dk1"/>
              </a:solidFill>
              <a:latin typeface="Calibri"/>
              <a:ea typeface="Calibri"/>
              <a:cs typeface="Calibri"/>
              <a:sym typeface="Calibri"/>
            </a:endParaRPr>
          </a:p>
        </p:txBody>
      </p:sp>
      <p:sp>
        <p:nvSpPr>
          <p:cNvPr id="1173" name="Google Shape;1173;g36f50cf8f39_0_122"/>
          <p:cNvSpPr txBox="1"/>
          <p:nvPr/>
        </p:nvSpPr>
        <p:spPr>
          <a:xfrm>
            <a:off x="648450" y="3185475"/>
            <a:ext cx="83814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GC</a:t>
            </a:r>
            <a:r>
              <a:rPr lang="en" sz="1600">
                <a:solidFill>
                  <a:schemeClr val="accent2"/>
                </a:solidFill>
                <a:latin typeface="Courier New" panose="02070309020205020404" pitchFamily="49" charset="0"/>
                <a:ea typeface="Calibri"/>
                <a:cs typeface="Courier New" panose="02070309020205020404" pitchFamily="49" charset="0"/>
                <a:sym typeface="Calibri"/>
              </a:rPr>
              <a:t>T</a:t>
            </a:r>
            <a:r>
              <a:rPr lang="en" sz="1600">
                <a:solidFill>
                  <a:schemeClr val="dk1"/>
                </a:solidFill>
                <a:latin typeface="Courier New" panose="02070309020205020404" pitchFamily="49" charset="0"/>
                <a:ea typeface="Calibri"/>
                <a:cs typeface="Courier New" panose="02070309020205020404" pitchFamily="49" charset="0"/>
                <a:sym typeface="Calibri"/>
              </a:rPr>
              <a:t> GTC TTG AT</a:t>
            </a:r>
            <a:r>
              <a:rPr lang="en" sz="1600">
                <a:solidFill>
                  <a:schemeClr val="accent2"/>
                </a:solidFill>
                <a:latin typeface="Courier New" panose="02070309020205020404" pitchFamily="49" charset="0"/>
                <a:ea typeface="Calibri"/>
                <a:cs typeface="Courier New" panose="02070309020205020404" pitchFamily="49" charset="0"/>
                <a:sym typeface="Calibri"/>
              </a:rPr>
              <a:t>C</a:t>
            </a:r>
            <a:r>
              <a:rPr lang="en" sz="1600">
                <a:solidFill>
                  <a:schemeClr val="dk1"/>
                </a:solidFill>
                <a:latin typeface="Courier New" panose="02070309020205020404" pitchFamily="49" charset="0"/>
                <a:ea typeface="Calibri"/>
                <a:cs typeface="Courier New" panose="02070309020205020404" pitchFamily="49" charset="0"/>
                <a:sym typeface="Calibri"/>
              </a:rPr>
              <a:t> GTG ATC GC</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TAT GAA CT</a:t>
            </a:r>
            <a:r>
              <a:rPr lang="en" sz="1600">
                <a:solidFill>
                  <a:schemeClr val="accent2"/>
                </a:solidFill>
                <a:latin typeface="Courier New" panose="02070309020205020404" pitchFamily="49" charset="0"/>
                <a:ea typeface="Calibri"/>
                <a:cs typeface="Courier New" panose="02070309020205020404" pitchFamily="49" charset="0"/>
                <a:sym typeface="Calibri"/>
              </a:rPr>
              <a:t>G</a:t>
            </a:r>
            <a:r>
              <a:rPr lang="en" sz="1600">
                <a:solidFill>
                  <a:schemeClr val="dk1"/>
                </a:solidFill>
                <a:latin typeface="Courier New" panose="02070309020205020404" pitchFamily="49" charset="0"/>
                <a:ea typeface="Calibri"/>
                <a:cs typeface="Courier New" panose="02070309020205020404" pitchFamily="49" charset="0"/>
                <a:sym typeface="Calibri"/>
              </a:rPr>
              <a:t> ATG GC</a:t>
            </a:r>
            <a:r>
              <a:rPr lang="en" sz="1600">
                <a:solidFill>
                  <a:schemeClr val="accent2"/>
                </a:solidFill>
                <a:latin typeface="Courier New" panose="02070309020205020404" pitchFamily="49" charset="0"/>
                <a:ea typeface="Calibri"/>
                <a:cs typeface="Courier New" panose="02070309020205020404" pitchFamily="49" charset="0"/>
                <a:sym typeface="Calibri"/>
              </a:rPr>
              <a:t>T</a:t>
            </a:r>
            <a:r>
              <a:rPr lang="en" sz="1600">
                <a:solidFill>
                  <a:schemeClr val="dk1"/>
                </a:solidFill>
                <a:latin typeface="Courier New" panose="02070309020205020404" pitchFamily="49" charset="0"/>
                <a:ea typeface="Calibri"/>
                <a:cs typeface="Courier New" panose="02070309020205020404" pitchFamily="49" charset="0"/>
                <a:sym typeface="Calibri"/>
              </a:rPr>
              <a:t> ACG GAA</a:t>
            </a:r>
            <a:endParaRPr sz="1600" b="1" i="0" u="none" strike="noStrike" cap="none">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1174" name="Google Shape;1174;g36f50cf8f39_0_122"/>
          <p:cNvSpPr txBox="1">
            <a:spLocks noGrp="1"/>
          </p:cNvSpPr>
          <p:nvPr>
            <p:ph type="title"/>
          </p:nvPr>
        </p:nvSpPr>
        <p:spPr>
          <a:xfrm>
            <a:off x="688400" y="-152406"/>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t>Amino Acid vs Nucleotide Alignments</a:t>
            </a:r>
            <a:endParaRPr/>
          </a:p>
        </p:txBody>
      </p:sp>
      <p:sp>
        <p:nvSpPr>
          <p:cNvPr id="1175" name="Google Shape;1175;g36f50cf8f39_0_122"/>
          <p:cNvSpPr txBox="1"/>
          <p:nvPr/>
        </p:nvSpPr>
        <p:spPr>
          <a:xfrm>
            <a:off x="2178600" y="111905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76" name="Google Shape;1176;g36f50cf8f39_0_122"/>
          <p:cNvSpPr txBox="1"/>
          <p:nvPr/>
        </p:nvSpPr>
        <p:spPr>
          <a:xfrm>
            <a:off x="969650" y="11223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1</a:t>
            </a:r>
            <a:endParaRPr sz="2100" b="0" i="0" u="none" strike="noStrike" cap="none">
              <a:solidFill>
                <a:schemeClr val="dk1"/>
              </a:solidFill>
              <a:latin typeface="Calibri"/>
              <a:ea typeface="Calibri"/>
              <a:cs typeface="Calibri"/>
              <a:sym typeface="Calibri"/>
            </a:endParaRPr>
          </a:p>
        </p:txBody>
      </p:sp>
      <p:sp>
        <p:nvSpPr>
          <p:cNvPr id="1177" name="Google Shape;1177;g36f50cf8f39_0_122"/>
          <p:cNvSpPr txBox="1"/>
          <p:nvPr/>
        </p:nvSpPr>
        <p:spPr>
          <a:xfrm>
            <a:off x="969650" y="1761500"/>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Species 2</a:t>
            </a:r>
            <a:endParaRPr sz="2100" b="0" i="0" u="none" strike="noStrike" cap="none">
              <a:solidFill>
                <a:schemeClr val="dk1"/>
              </a:solidFill>
              <a:latin typeface="Calibri"/>
              <a:ea typeface="Calibri"/>
              <a:cs typeface="Calibri"/>
              <a:sym typeface="Calibri"/>
            </a:endParaRPr>
          </a:p>
        </p:txBody>
      </p:sp>
      <p:sp>
        <p:nvSpPr>
          <p:cNvPr id="1178" name="Google Shape;1178;g36f50cf8f39_0_122"/>
          <p:cNvSpPr txBox="1"/>
          <p:nvPr/>
        </p:nvSpPr>
        <p:spPr>
          <a:xfrm>
            <a:off x="6778525" y="1402875"/>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100 % Id</a:t>
            </a:r>
            <a:endParaRPr sz="2100" b="0" i="0" u="none" strike="noStrike" cap="none">
              <a:solidFill>
                <a:schemeClr val="dk1"/>
              </a:solidFill>
              <a:latin typeface="Calibri"/>
              <a:ea typeface="Calibri"/>
              <a:cs typeface="Calibri"/>
              <a:sym typeface="Calibri"/>
            </a:endParaRPr>
          </a:p>
        </p:txBody>
      </p:sp>
      <p:sp>
        <p:nvSpPr>
          <p:cNvPr id="1179" name="Google Shape;1179;g36f50cf8f39_0_122"/>
          <p:cNvSpPr txBox="1"/>
          <p:nvPr/>
        </p:nvSpPr>
        <p:spPr>
          <a:xfrm>
            <a:off x="2178600" y="1761500"/>
            <a:ext cx="4500000" cy="669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V  I  V  A  E  L  M  A  T  E  Y  V  L  I  V  I  A</a:t>
            </a:r>
            <a:endParaRPr sz="2100" b="0" i="0" u="none" strike="noStrike" cap="none">
              <a:solidFill>
                <a:schemeClr val="dk1"/>
              </a:solidFill>
              <a:latin typeface="Calibri"/>
              <a:ea typeface="Calibri"/>
              <a:cs typeface="Calibri"/>
              <a:sym typeface="Calibri"/>
            </a:endParaRPr>
          </a:p>
        </p:txBody>
      </p:sp>
      <p:sp>
        <p:nvSpPr>
          <p:cNvPr id="1180" name="Google Shape;1180;g36f50cf8f39_0_122"/>
          <p:cNvSpPr txBox="1"/>
          <p:nvPr/>
        </p:nvSpPr>
        <p:spPr>
          <a:xfrm>
            <a:off x="0" y="3813037"/>
            <a:ext cx="1192500" cy="42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100"/>
              <a:buFont typeface="Arial"/>
              <a:buNone/>
            </a:pPr>
            <a:r>
              <a:rPr lang="en" sz="2100" b="0" i="0" u="none" strike="noStrike" cap="none">
                <a:solidFill>
                  <a:schemeClr val="dk1"/>
                </a:solidFill>
                <a:latin typeface="Calibri"/>
                <a:ea typeface="Calibri"/>
                <a:cs typeface="Calibri"/>
                <a:sym typeface="Calibri"/>
              </a:rPr>
              <a:t>Sp</a:t>
            </a:r>
            <a:r>
              <a:rPr lang="en" sz="2100">
                <a:solidFill>
                  <a:schemeClr val="dk1"/>
                </a:solidFill>
                <a:latin typeface="Calibri"/>
                <a:ea typeface="Calibri"/>
                <a:cs typeface="Calibri"/>
                <a:sym typeface="Calibri"/>
              </a:rPr>
              <a:t>.</a:t>
            </a:r>
            <a:r>
              <a:rPr lang="en" sz="2100" b="0" i="0" u="none" strike="noStrike" cap="none">
                <a:solidFill>
                  <a:schemeClr val="dk1"/>
                </a:solidFill>
                <a:latin typeface="Calibri"/>
                <a:ea typeface="Calibri"/>
                <a:cs typeface="Calibri"/>
                <a:sym typeface="Calibri"/>
              </a:rPr>
              <a:t> </a:t>
            </a:r>
            <a:r>
              <a:rPr lang="en" sz="2100">
                <a:solidFill>
                  <a:schemeClr val="dk1"/>
                </a:solidFill>
                <a:latin typeface="Calibri"/>
                <a:ea typeface="Calibri"/>
                <a:cs typeface="Calibri"/>
                <a:sym typeface="Calibri"/>
              </a:rPr>
              <a:t>2  </a:t>
            </a:r>
            <a:endParaRPr sz="2100" b="0" i="0" u="none" strike="noStrike" cap="none">
              <a:solidFill>
                <a:schemeClr val="dk1"/>
              </a:solidFill>
              <a:latin typeface="Calibri"/>
              <a:ea typeface="Calibri"/>
              <a:cs typeface="Calibri"/>
              <a:sym typeface="Calibri"/>
            </a:endParaRPr>
          </a:p>
        </p:txBody>
      </p:sp>
      <p:sp>
        <p:nvSpPr>
          <p:cNvPr id="1181" name="Google Shape;1181;g36f50cf8f39_0_122"/>
          <p:cNvSpPr txBox="1"/>
          <p:nvPr/>
        </p:nvSpPr>
        <p:spPr>
          <a:xfrm>
            <a:off x="648450" y="3855375"/>
            <a:ext cx="8381400" cy="66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GTG ATA GT</a:t>
            </a:r>
            <a:r>
              <a:rPr lang="en" sz="1600">
                <a:solidFill>
                  <a:schemeClr val="accent2"/>
                </a:solidFill>
                <a:latin typeface="Courier New" panose="02070309020205020404" pitchFamily="49" charset="0"/>
                <a:ea typeface="Calibri"/>
                <a:cs typeface="Courier New" panose="02070309020205020404" pitchFamily="49" charset="0"/>
                <a:sym typeface="Calibri"/>
              </a:rPr>
              <a:t>G</a:t>
            </a:r>
            <a:r>
              <a:rPr lang="en" sz="1600">
                <a:solidFill>
                  <a:schemeClr val="dk1"/>
                </a:solidFill>
                <a:latin typeface="Courier New" panose="02070309020205020404" pitchFamily="49" charset="0"/>
                <a:ea typeface="Calibri"/>
                <a:cs typeface="Courier New" panose="02070309020205020404" pitchFamily="49" charset="0"/>
                <a:sym typeface="Calibri"/>
              </a:rPr>
              <a:t> GC</a:t>
            </a:r>
            <a:r>
              <a:rPr lang="en" sz="1600">
                <a:solidFill>
                  <a:schemeClr val="accent2"/>
                </a:solidFill>
                <a:latin typeface="Courier New" panose="02070309020205020404" pitchFamily="49" charset="0"/>
                <a:ea typeface="Calibri"/>
                <a:cs typeface="Courier New" panose="02070309020205020404" pitchFamily="49" charset="0"/>
                <a:sym typeface="Calibri"/>
              </a:rPr>
              <a:t>C</a:t>
            </a:r>
            <a:r>
              <a:rPr lang="en" sz="1600">
                <a:solidFill>
                  <a:schemeClr val="dk1"/>
                </a:solidFill>
                <a:latin typeface="Courier New" panose="02070309020205020404" pitchFamily="49" charset="0"/>
                <a:ea typeface="Calibri"/>
                <a:cs typeface="Courier New" panose="02070309020205020404" pitchFamily="49" charset="0"/>
                <a:sym typeface="Calibri"/>
              </a:rPr>
              <a:t> GTC TTG AT</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GTG ATC GC</a:t>
            </a:r>
            <a:r>
              <a:rPr lang="en" sz="1600">
                <a:solidFill>
                  <a:schemeClr val="accent2"/>
                </a:solidFill>
                <a:latin typeface="Courier New" panose="02070309020205020404" pitchFamily="49" charset="0"/>
                <a:ea typeface="Calibri"/>
                <a:cs typeface="Courier New" panose="02070309020205020404" pitchFamily="49" charset="0"/>
                <a:sym typeface="Calibri"/>
              </a:rPr>
              <a:t>G</a:t>
            </a:r>
            <a:r>
              <a:rPr lang="en" sz="1600">
                <a:solidFill>
                  <a:schemeClr val="dk1"/>
                </a:solidFill>
                <a:latin typeface="Courier New" panose="02070309020205020404" pitchFamily="49" charset="0"/>
                <a:ea typeface="Calibri"/>
                <a:cs typeface="Courier New" panose="02070309020205020404" pitchFamily="49" charset="0"/>
                <a:sym typeface="Calibri"/>
              </a:rPr>
              <a:t> TAT GAA CT</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ATG GC</a:t>
            </a:r>
            <a:r>
              <a:rPr lang="en" sz="1600">
                <a:solidFill>
                  <a:schemeClr val="accent2"/>
                </a:solidFill>
                <a:latin typeface="Courier New" panose="02070309020205020404" pitchFamily="49" charset="0"/>
                <a:ea typeface="Calibri"/>
                <a:cs typeface="Courier New" panose="02070309020205020404" pitchFamily="49" charset="0"/>
                <a:sym typeface="Calibri"/>
              </a:rPr>
              <a:t>A</a:t>
            </a:r>
            <a:r>
              <a:rPr lang="en" sz="1600">
                <a:solidFill>
                  <a:schemeClr val="dk1"/>
                </a:solidFill>
                <a:latin typeface="Courier New" panose="02070309020205020404" pitchFamily="49" charset="0"/>
                <a:ea typeface="Calibri"/>
                <a:cs typeface="Courier New" panose="02070309020205020404" pitchFamily="49" charset="0"/>
                <a:sym typeface="Calibri"/>
              </a:rPr>
              <a:t> ACG GAA</a:t>
            </a:r>
            <a:endParaRPr sz="1600" b="1">
              <a:solidFill>
                <a:schemeClr val="dk1"/>
              </a:solidFill>
              <a:latin typeface="Courier New" panose="02070309020205020404" pitchFamily="49" charset="0"/>
              <a:ea typeface="Calibri"/>
              <a:cs typeface="Courier New" panose="02070309020205020404" pitchFamily="49" charset="0"/>
              <a:sym typeface="Calibri"/>
            </a:endParaRPr>
          </a:p>
          <a:p>
            <a:pPr marL="0" marR="0" lvl="0" indent="0" algn="l" rtl="0">
              <a:lnSpc>
                <a:spcPct val="100000"/>
              </a:lnSpc>
              <a:spcBef>
                <a:spcPts val="0"/>
              </a:spcBef>
              <a:spcAft>
                <a:spcPts val="0"/>
              </a:spcAft>
              <a:buClr>
                <a:srgbClr val="000000"/>
              </a:buClr>
              <a:buSzPts val="2100"/>
              <a:buFont typeface="Arial"/>
              <a:buNone/>
            </a:pPr>
            <a:r>
              <a:rPr lang="en" sz="1600">
                <a:solidFill>
                  <a:schemeClr val="dk1"/>
                </a:solidFill>
                <a:latin typeface="Courier New" panose="02070309020205020404" pitchFamily="49" charset="0"/>
                <a:ea typeface="Calibri"/>
                <a:cs typeface="Courier New" panose="02070309020205020404" pitchFamily="49" charset="0"/>
                <a:sym typeface="Calibri"/>
              </a:rPr>
              <a:t> </a:t>
            </a:r>
            <a:endParaRPr sz="1600" b="1" i="0" u="none" strike="noStrike" cap="none">
              <a:solidFill>
                <a:schemeClr val="accent2"/>
              </a:solidFill>
              <a:latin typeface="Courier New" panose="02070309020205020404" pitchFamily="49" charset="0"/>
              <a:ea typeface="Calibri"/>
              <a:cs typeface="Courier New" panose="02070309020205020404" pitchFamily="49" charset="0"/>
              <a:sym typeface="Calibri"/>
            </a:endParaRPr>
          </a:p>
        </p:txBody>
      </p:sp>
      <p:sp>
        <p:nvSpPr>
          <p:cNvPr id="1182" name="Google Shape;1182;g36f50cf8f39_0_122"/>
          <p:cNvSpPr txBox="1"/>
          <p:nvPr/>
        </p:nvSpPr>
        <p:spPr>
          <a:xfrm>
            <a:off x="7360650" y="2671100"/>
            <a:ext cx="1669200" cy="601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100"/>
              <a:buFont typeface="Arial"/>
              <a:buNone/>
            </a:pPr>
            <a:r>
              <a:rPr lang="en" sz="2100">
                <a:solidFill>
                  <a:schemeClr val="dk1"/>
                </a:solidFill>
                <a:latin typeface="Calibri"/>
                <a:ea typeface="Calibri"/>
                <a:cs typeface="Calibri"/>
                <a:sym typeface="Calibri"/>
              </a:rPr>
              <a:t>88</a:t>
            </a:r>
            <a:r>
              <a:rPr lang="en" sz="2100" b="0" i="0" u="none" strike="noStrike" cap="none">
                <a:solidFill>
                  <a:schemeClr val="dk1"/>
                </a:solidFill>
                <a:latin typeface="Calibri"/>
                <a:ea typeface="Calibri"/>
                <a:cs typeface="Calibri"/>
                <a:sym typeface="Calibri"/>
              </a:rPr>
              <a:t> % Id</a:t>
            </a:r>
            <a:endParaRPr sz="2100" b="0" i="0" u="none" strike="noStrike" cap="none">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86"/>
        <p:cNvGrpSpPr/>
        <p:nvPr/>
      </p:nvGrpSpPr>
      <p:grpSpPr>
        <a:xfrm>
          <a:off x="0" y="0"/>
          <a:ext cx="0" cy="0"/>
          <a:chOff x="0" y="0"/>
          <a:chExt cx="0" cy="0"/>
        </a:xfrm>
      </p:grpSpPr>
      <p:sp>
        <p:nvSpPr>
          <p:cNvPr id="1187" name="Google Shape;1187;p62"/>
          <p:cNvSpPr txBox="1">
            <a:spLocks noGrp="1"/>
          </p:cNvSpPr>
          <p:nvPr>
            <p:ph type="title"/>
          </p:nvPr>
        </p:nvSpPr>
        <p:spPr>
          <a:xfrm>
            <a:off x="324475" y="54469"/>
            <a:ext cx="7886700" cy="994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sz="2000">
                <a:latin typeface="Helvetica Neue"/>
                <a:ea typeface="Helvetica Neue"/>
                <a:cs typeface="Helvetica Neue"/>
                <a:sym typeface="Helvetica Neue"/>
              </a:rPr>
              <a:t>Where would you see the following </a:t>
            </a:r>
            <a:r>
              <a:rPr lang="en" sz="2000" i="1">
                <a:latin typeface="Helvetica Neue"/>
                <a:ea typeface="Helvetica Neue"/>
                <a:cs typeface="Helvetica Neue"/>
                <a:sym typeface="Helvetica Neue"/>
              </a:rPr>
              <a:t>E. coli</a:t>
            </a:r>
            <a:r>
              <a:rPr lang="en" sz="2000">
                <a:latin typeface="Helvetica Neue"/>
                <a:ea typeface="Helvetica Neue"/>
                <a:cs typeface="Helvetica Neue"/>
                <a:sym typeface="Helvetica Neue"/>
              </a:rPr>
              <a:t> matches?</a:t>
            </a:r>
            <a:endParaRPr sz="2000">
              <a:latin typeface="Helvetica Neue"/>
              <a:ea typeface="Helvetica Neue"/>
              <a:cs typeface="Helvetica Neue"/>
              <a:sym typeface="Helvetica Neue"/>
            </a:endParaRPr>
          </a:p>
        </p:txBody>
      </p:sp>
      <p:sp>
        <p:nvSpPr>
          <p:cNvPr id="1188" name="Google Shape;1188;p62"/>
          <p:cNvSpPr txBox="1">
            <a:spLocks noGrp="1"/>
          </p:cNvSpPr>
          <p:nvPr>
            <p:ph type="body" idx="1"/>
          </p:nvPr>
        </p:nvSpPr>
        <p:spPr>
          <a:xfrm>
            <a:off x="3676025" y="1173575"/>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a:t>
            </a:r>
            <a:r>
              <a:rPr lang="en" sz="1700" b="1">
                <a:latin typeface="Helvetica Neue"/>
                <a:ea typeface="Helvetica Neue"/>
                <a:cs typeface="Helvetica Neue"/>
                <a:sym typeface="Helvetica Neue"/>
              </a:rPr>
              <a:t>16S rRNA</a:t>
            </a:r>
            <a:endParaRPr sz="1700" b="1">
              <a:latin typeface="Helvetica Neue"/>
              <a:ea typeface="Helvetica Neue"/>
              <a:cs typeface="Helvetica Neue"/>
              <a:sym typeface="Helvetica Neue"/>
            </a:endParaRPr>
          </a:p>
        </p:txBody>
      </p:sp>
      <p:graphicFrame>
        <p:nvGraphicFramePr>
          <p:cNvPr id="1189" name="Google Shape;1189;p62"/>
          <p:cNvGraphicFramePr/>
          <p:nvPr/>
        </p:nvGraphicFramePr>
        <p:xfrm>
          <a:off x="401975" y="2292225"/>
          <a:ext cx="8340050" cy="1219140"/>
        </p:xfrm>
        <a:graphic>
          <a:graphicData uri="http://schemas.openxmlformats.org/drawingml/2006/table">
            <a:tbl>
              <a:tblPr>
                <a:noFill/>
                <a:tableStyleId>{670C5DA0-37B5-460B-AD53-E6B2C718EC3D}</a:tableStyleId>
              </a:tblPr>
              <a:tblGrid>
                <a:gridCol w="1369800">
                  <a:extLst>
                    <a:ext uri="{9D8B030D-6E8A-4147-A177-3AD203B41FA5}">
                      <a16:colId xmlns:a16="http://schemas.microsoft.com/office/drawing/2014/main" val="20000"/>
                    </a:ext>
                  </a:extLst>
                </a:gridCol>
                <a:gridCol w="3028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Match (or hit) to </a:t>
                      </a:r>
                      <a:r>
                        <a:rPr lang="en" sz="1400" i="1" u="none" strike="noStrike" cap="none">
                          <a:solidFill>
                            <a:schemeClr val="dk1"/>
                          </a:solidFill>
                        </a:rPr>
                        <a:t>E. coli </a:t>
                      </a:r>
                      <a:r>
                        <a:rPr lang="en" sz="1400" u="none" strike="noStrike" cap="none">
                          <a:solidFill>
                            <a:schemeClr val="dk1"/>
                          </a:solidFill>
                        </a:rPr>
                        <a:t>based 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pic>
        <p:nvPicPr>
          <p:cNvPr id="1190" name="Google Shape;1190;p62"/>
          <p:cNvPicPr preferRelativeResize="0"/>
          <p:nvPr/>
        </p:nvPicPr>
        <p:blipFill rotWithShape="1">
          <a:blip r:embed="rId3">
            <a:alphaModFix/>
          </a:blip>
          <a:srcRect/>
          <a:stretch/>
        </p:blipFill>
        <p:spPr>
          <a:xfrm>
            <a:off x="7939650" y="281683"/>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94"/>
        <p:cNvGrpSpPr/>
        <p:nvPr/>
      </p:nvGrpSpPr>
      <p:grpSpPr>
        <a:xfrm>
          <a:off x="0" y="0"/>
          <a:ext cx="0" cy="0"/>
          <a:chOff x="0" y="0"/>
          <a:chExt cx="0" cy="0"/>
        </a:xfrm>
      </p:grpSpPr>
      <p:sp>
        <p:nvSpPr>
          <p:cNvPr id="1195" name="Google Shape;1195;p63"/>
          <p:cNvSpPr txBox="1">
            <a:spLocks noGrp="1"/>
          </p:cNvSpPr>
          <p:nvPr>
            <p:ph type="title"/>
          </p:nvPr>
        </p:nvSpPr>
        <p:spPr>
          <a:xfrm>
            <a:off x="324475" y="54469"/>
            <a:ext cx="7886700" cy="994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sz="2000">
                <a:latin typeface="Helvetica Neue"/>
                <a:ea typeface="Helvetica Neue"/>
                <a:cs typeface="Helvetica Neue"/>
                <a:sym typeface="Helvetica Neue"/>
              </a:rPr>
              <a:t>Where would you see the following </a:t>
            </a:r>
            <a:r>
              <a:rPr lang="en" sz="2000" i="1">
                <a:latin typeface="Helvetica Neue"/>
                <a:ea typeface="Helvetica Neue"/>
                <a:cs typeface="Helvetica Neue"/>
                <a:sym typeface="Helvetica Neue"/>
              </a:rPr>
              <a:t>E. coli</a:t>
            </a:r>
            <a:r>
              <a:rPr lang="en" sz="2000">
                <a:latin typeface="Helvetica Neue"/>
                <a:ea typeface="Helvetica Neue"/>
                <a:cs typeface="Helvetica Neue"/>
                <a:sym typeface="Helvetica Neue"/>
              </a:rPr>
              <a:t> matches?</a:t>
            </a:r>
            <a:endParaRPr sz="2000">
              <a:latin typeface="Helvetica Neue"/>
              <a:ea typeface="Helvetica Neue"/>
              <a:cs typeface="Helvetica Neue"/>
              <a:sym typeface="Helvetica Neue"/>
            </a:endParaRPr>
          </a:p>
        </p:txBody>
      </p:sp>
      <p:graphicFrame>
        <p:nvGraphicFramePr>
          <p:cNvPr id="1196" name="Google Shape;1196;p63"/>
          <p:cNvGraphicFramePr/>
          <p:nvPr/>
        </p:nvGraphicFramePr>
        <p:xfrm>
          <a:off x="401975" y="2292225"/>
          <a:ext cx="8340050" cy="1219140"/>
        </p:xfrm>
        <a:graphic>
          <a:graphicData uri="http://schemas.openxmlformats.org/drawingml/2006/table">
            <a:tbl>
              <a:tblPr>
                <a:noFill/>
                <a:tableStyleId>{670C5DA0-37B5-460B-AD53-E6B2C718EC3D}</a:tableStyleId>
              </a:tblPr>
              <a:tblGrid>
                <a:gridCol w="1369800">
                  <a:extLst>
                    <a:ext uri="{9D8B030D-6E8A-4147-A177-3AD203B41FA5}">
                      <a16:colId xmlns:a16="http://schemas.microsoft.com/office/drawing/2014/main" val="20000"/>
                    </a:ext>
                  </a:extLst>
                </a:gridCol>
                <a:gridCol w="3028075">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solidFill>
                            <a:schemeClr val="dk1"/>
                          </a:solidFill>
                        </a:rPr>
                        <a:t>Match (or hit) to </a:t>
                      </a:r>
                      <a:r>
                        <a:rPr lang="en" sz="1400" i="1" u="none" strike="noStrike" cap="none">
                          <a:solidFill>
                            <a:schemeClr val="dk1"/>
                          </a:solidFill>
                        </a:rPr>
                        <a:t>E. coli</a:t>
                      </a:r>
                      <a:r>
                        <a:rPr lang="en" sz="1400" u="none" strike="noStrike" cap="none">
                          <a:solidFill>
                            <a:schemeClr val="dk1"/>
                          </a:solidFill>
                        </a:rPr>
                        <a:t> based 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sp>
        <p:nvSpPr>
          <p:cNvPr id="1197" name="Google Shape;1197;p63"/>
          <p:cNvSpPr txBox="1">
            <a:spLocks noGrp="1"/>
          </p:cNvSpPr>
          <p:nvPr>
            <p:ph type="body" idx="1"/>
          </p:nvPr>
        </p:nvSpPr>
        <p:spPr>
          <a:xfrm>
            <a:off x="3596150" y="1178250"/>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a:t>
            </a:r>
            <a:r>
              <a:rPr lang="en" sz="1700" b="1">
                <a:latin typeface="Helvetica Neue"/>
                <a:ea typeface="Helvetica Neue"/>
                <a:cs typeface="Helvetica Neue"/>
                <a:sym typeface="Helvetica Neue"/>
              </a:rPr>
              <a:t>polymerase</a:t>
            </a:r>
            <a:endParaRPr sz="1700" b="1">
              <a:latin typeface="Helvetica Neue"/>
              <a:ea typeface="Helvetica Neue"/>
              <a:cs typeface="Helvetica Neue"/>
              <a:sym typeface="Helvetica Neue"/>
            </a:endParaRPr>
          </a:p>
        </p:txBody>
      </p:sp>
      <p:pic>
        <p:nvPicPr>
          <p:cNvPr id="1198" name="Google Shape;1198;p63"/>
          <p:cNvPicPr preferRelativeResize="0"/>
          <p:nvPr/>
        </p:nvPicPr>
        <p:blipFill rotWithShape="1">
          <a:blip r:embed="rId3">
            <a:alphaModFix/>
          </a:blip>
          <a:srcRect/>
          <a:stretch/>
        </p:blipFill>
        <p:spPr>
          <a:xfrm>
            <a:off x="7962775" y="258558"/>
            <a:ext cx="859675" cy="8596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202"/>
        <p:cNvGrpSpPr/>
        <p:nvPr/>
      </p:nvGrpSpPr>
      <p:grpSpPr>
        <a:xfrm>
          <a:off x="0" y="0"/>
          <a:ext cx="0" cy="0"/>
          <a:chOff x="0" y="0"/>
          <a:chExt cx="0" cy="0"/>
        </a:xfrm>
      </p:grpSpPr>
      <p:sp>
        <p:nvSpPr>
          <p:cNvPr id="1203" name="Google Shape;1203;p64"/>
          <p:cNvSpPr txBox="1">
            <a:spLocks noGrp="1"/>
          </p:cNvSpPr>
          <p:nvPr>
            <p:ph type="title"/>
          </p:nvPr>
        </p:nvSpPr>
        <p:spPr>
          <a:xfrm>
            <a:off x="324475" y="54469"/>
            <a:ext cx="7886700" cy="994200"/>
          </a:xfrm>
          <a:prstGeom prst="rect">
            <a:avLst/>
          </a:prstGeom>
          <a:noFill/>
          <a:ln>
            <a:noFill/>
          </a:ln>
        </p:spPr>
        <p:txBody>
          <a:bodyPr spcFirstLastPara="1" wrap="square" lIns="68575" tIns="34275" rIns="68575" bIns="34275" anchor="ctr" anchorCtr="0">
            <a:noAutofit/>
          </a:bodyPr>
          <a:lstStyle/>
          <a:p>
            <a:pPr marL="0" lvl="0" indent="0" algn="l" rtl="0">
              <a:lnSpc>
                <a:spcPct val="90000"/>
              </a:lnSpc>
              <a:spcBef>
                <a:spcPts val="0"/>
              </a:spcBef>
              <a:spcAft>
                <a:spcPts val="0"/>
              </a:spcAft>
              <a:buSzPts val="1400"/>
              <a:buNone/>
            </a:pPr>
            <a:r>
              <a:rPr lang="en" sz="2000">
                <a:latin typeface="Helvetica Neue"/>
                <a:ea typeface="Helvetica Neue"/>
                <a:cs typeface="Helvetica Neue"/>
                <a:sym typeface="Helvetica Neue"/>
              </a:rPr>
              <a:t>Where would you see the following </a:t>
            </a:r>
            <a:r>
              <a:rPr lang="en" sz="2000" i="1">
                <a:latin typeface="Helvetica Neue"/>
                <a:ea typeface="Helvetica Neue"/>
                <a:cs typeface="Helvetica Neue"/>
                <a:sym typeface="Helvetica Neue"/>
              </a:rPr>
              <a:t>E. coli</a:t>
            </a:r>
            <a:r>
              <a:rPr lang="en" sz="2000">
                <a:latin typeface="Helvetica Neue"/>
                <a:ea typeface="Helvetica Neue"/>
                <a:cs typeface="Helvetica Neue"/>
                <a:sym typeface="Helvetica Neue"/>
              </a:rPr>
              <a:t> matches?</a:t>
            </a:r>
            <a:endParaRPr sz="2000">
              <a:latin typeface="Helvetica Neue"/>
              <a:ea typeface="Helvetica Neue"/>
              <a:cs typeface="Helvetica Neue"/>
              <a:sym typeface="Helvetica Neue"/>
            </a:endParaRPr>
          </a:p>
        </p:txBody>
      </p:sp>
      <p:sp>
        <p:nvSpPr>
          <p:cNvPr id="1204" name="Google Shape;1204;p64"/>
          <p:cNvSpPr txBox="1">
            <a:spLocks noGrp="1"/>
          </p:cNvSpPr>
          <p:nvPr>
            <p:ph type="body" idx="1"/>
          </p:nvPr>
        </p:nvSpPr>
        <p:spPr>
          <a:xfrm>
            <a:off x="5606250" y="1552950"/>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16S rRNA</a:t>
            </a:r>
            <a:endParaRPr sz="1700">
              <a:latin typeface="Helvetica Neue Light"/>
              <a:ea typeface="Helvetica Neue Light"/>
              <a:cs typeface="Helvetica Neue Light"/>
              <a:sym typeface="Helvetica Neue Light"/>
            </a:endParaRPr>
          </a:p>
        </p:txBody>
      </p:sp>
      <p:graphicFrame>
        <p:nvGraphicFramePr>
          <p:cNvPr id="1205" name="Google Shape;1205;p64"/>
          <p:cNvGraphicFramePr/>
          <p:nvPr/>
        </p:nvGraphicFramePr>
        <p:xfrm>
          <a:off x="401975" y="2292225"/>
          <a:ext cx="8340050" cy="1219140"/>
        </p:xfrm>
        <a:graphic>
          <a:graphicData uri="http://schemas.openxmlformats.org/drawingml/2006/table">
            <a:tbl>
              <a:tblPr>
                <a:noFill/>
                <a:tableStyleId>{670C5DA0-37B5-460B-AD53-E6B2C718EC3D}</a:tableStyleId>
              </a:tblPr>
              <a:tblGrid>
                <a:gridCol w="1323275">
                  <a:extLst>
                    <a:ext uri="{9D8B030D-6E8A-4147-A177-3AD203B41FA5}">
                      <a16:colId xmlns:a16="http://schemas.microsoft.com/office/drawing/2014/main" val="20000"/>
                    </a:ext>
                  </a:extLst>
                </a:gridCol>
                <a:gridCol w="3074600">
                  <a:extLst>
                    <a:ext uri="{9D8B030D-6E8A-4147-A177-3AD203B41FA5}">
                      <a16:colId xmlns:a16="http://schemas.microsoft.com/office/drawing/2014/main" val="20001"/>
                    </a:ext>
                  </a:extLst>
                </a:gridCol>
                <a:gridCol w="3942175">
                  <a:extLst>
                    <a:ext uri="{9D8B030D-6E8A-4147-A177-3AD203B41FA5}">
                      <a16:colId xmlns:a16="http://schemas.microsoft.com/office/drawing/2014/main" val="20002"/>
                    </a:ext>
                  </a:extLst>
                </a:gridCol>
              </a:tblGrid>
              <a:tr h="313775">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00A2FF"/>
                          </a:solidFill>
                        </a:rPr>
                        <a:t>NT Database</a:t>
                      </a:r>
                      <a:endParaRPr sz="1400" b="1" u="none" strike="noStrike" cap="none">
                        <a:solidFill>
                          <a:srgbClr val="00A2FF"/>
                        </a:solidFill>
                      </a:endParaRPr>
                    </a:p>
                  </a:txBody>
                  <a:tcPr marL="91425" marR="91425" marT="91425" marB="91425"/>
                </a:tc>
                <a:tc>
                  <a:txBody>
                    <a:bodyPr/>
                    <a:lstStyle/>
                    <a:p>
                      <a:pPr marL="0" marR="0" lvl="0" indent="0" algn="ctr" rtl="0">
                        <a:lnSpc>
                          <a:spcPct val="100000"/>
                        </a:lnSpc>
                        <a:spcBef>
                          <a:spcPts val="0"/>
                        </a:spcBef>
                        <a:spcAft>
                          <a:spcPts val="0"/>
                        </a:spcAft>
                        <a:buClr>
                          <a:srgbClr val="000000"/>
                        </a:buClr>
                        <a:buSzPts val="1400"/>
                        <a:buFont typeface="Arial"/>
                        <a:buNone/>
                      </a:pPr>
                      <a:r>
                        <a:rPr lang="en" sz="1400" b="1" u="none" strike="noStrike" cap="none">
                          <a:solidFill>
                            <a:srgbClr val="9DC061"/>
                          </a:solidFill>
                        </a:rPr>
                        <a:t>NR Database</a:t>
                      </a:r>
                      <a:endParaRPr sz="1400" b="1" u="none" strike="noStrike" cap="none">
                        <a:solidFill>
                          <a:srgbClr val="9DC061"/>
                        </a:solidFill>
                      </a:endParaRPr>
                    </a:p>
                  </a:txBody>
                  <a:tcPr marL="91425" marR="91425" marT="91425" marB="91425"/>
                </a:tc>
                <a:extLst>
                  <a:ext uri="{0D108BD9-81ED-4DB2-BD59-A6C34878D82A}">
                    <a16:rowId xmlns:a16="http://schemas.microsoft.com/office/drawing/2014/main" val="10000"/>
                  </a:ext>
                </a:extLst>
              </a:tr>
              <a:tr h="26162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t>Match (or hit) to </a:t>
                      </a:r>
                      <a:r>
                        <a:rPr lang="en" sz="1400" i="1" u="none" strike="noStrike" cap="none"/>
                        <a:t>E. coli </a:t>
                      </a:r>
                      <a:r>
                        <a:rPr lang="en" sz="1400" u="none" strike="noStrike" cap="none"/>
                        <a:t>based on…</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16S rRNA</a:t>
                      </a:r>
                      <a:endParaRPr sz="1400" u="none" strike="noStrike" cap="none"/>
                    </a:p>
                    <a:p>
                      <a:pPr marL="0" marR="0" lvl="0" indent="0" algn="ctr" rtl="0">
                        <a:lnSpc>
                          <a:spcPct val="100000"/>
                        </a:lnSpc>
                        <a:spcBef>
                          <a:spcPts val="0"/>
                        </a:spcBef>
                        <a:spcAft>
                          <a:spcPts val="0"/>
                        </a:spcAft>
                        <a:buClr>
                          <a:srgbClr val="000000"/>
                        </a:buClr>
                        <a:buSzPts val="1400"/>
                        <a:buFont typeface="Arial"/>
                        <a:buNone/>
                      </a:pPr>
                      <a:endParaRPr sz="1400" u="none" strike="noStrike" cap="none"/>
                    </a:p>
                    <a:p>
                      <a:pPr marL="0" marR="0" lvl="0" indent="0" algn="ctr" rtl="0">
                        <a:lnSpc>
                          <a:spcPct val="100000"/>
                        </a:lnSpc>
                        <a:spcBef>
                          <a:spcPts val="0"/>
                        </a:spcBef>
                        <a:spcAft>
                          <a:spcPts val="0"/>
                        </a:spcAft>
                        <a:buClr>
                          <a:srgbClr val="000000"/>
                        </a:buClr>
                        <a:buSzPts val="1400"/>
                        <a:buFont typeface="Arial"/>
                        <a:buNone/>
                      </a:pPr>
                      <a:r>
                        <a:rPr lang="en" sz="1400" u="none" strike="noStrike" cap="none"/>
                        <a:t>Polymerase</a:t>
                      </a:r>
                      <a:endParaRPr sz="1400" u="none" strike="noStrike" cap="none"/>
                    </a:p>
                  </a:txBody>
                  <a:tcPr marL="91425" marR="91425" marT="91425" marB="91425" anchor="ctr"/>
                </a:tc>
                <a:tc>
                  <a:txBody>
                    <a:bodyPr/>
                    <a:lstStyle/>
                    <a:p>
                      <a:pPr marL="0" marR="0" lvl="0" indent="0" algn="ctr" rtl="0">
                        <a:lnSpc>
                          <a:spcPct val="100000"/>
                        </a:lnSpc>
                        <a:spcBef>
                          <a:spcPts val="0"/>
                        </a:spcBef>
                        <a:spcAft>
                          <a:spcPts val="0"/>
                        </a:spcAft>
                        <a:buClr>
                          <a:srgbClr val="000000"/>
                        </a:buClr>
                        <a:buSzPts val="1400"/>
                        <a:buFont typeface="Arial"/>
                        <a:buNone/>
                      </a:pPr>
                      <a:r>
                        <a:rPr lang="en" sz="1400" u="none" strike="noStrike" cap="none"/>
                        <a:t>Polymerase</a:t>
                      </a:r>
                      <a:endParaRPr sz="1400" u="none" strike="noStrike" cap="none"/>
                    </a:p>
                  </a:txBody>
                  <a:tcPr marL="91425" marR="91425" marT="91425" marB="91425" anchor="ctr"/>
                </a:tc>
                <a:extLst>
                  <a:ext uri="{0D108BD9-81ED-4DB2-BD59-A6C34878D82A}">
                    <a16:rowId xmlns:a16="http://schemas.microsoft.com/office/drawing/2014/main" val="10001"/>
                  </a:ext>
                </a:extLst>
              </a:tr>
            </a:tbl>
          </a:graphicData>
        </a:graphic>
      </p:graphicFrame>
      <p:sp>
        <p:nvSpPr>
          <p:cNvPr id="1206" name="Google Shape;1206;p64"/>
          <p:cNvSpPr txBox="1">
            <a:spLocks noGrp="1"/>
          </p:cNvSpPr>
          <p:nvPr>
            <p:ph type="body" idx="1"/>
          </p:nvPr>
        </p:nvSpPr>
        <p:spPr>
          <a:xfrm>
            <a:off x="1847600" y="1552950"/>
            <a:ext cx="2394900" cy="481200"/>
          </a:xfrm>
          <a:prstGeom prst="rect">
            <a:avLst/>
          </a:prstGeom>
          <a:noFill/>
          <a:ln>
            <a:noFill/>
          </a:ln>
        </p:spPr>
        <p:txBody>
          <a:bodyPr spcFirstLastPara="1" wrap="square" lIns="68575" tIns="34275" rIns="68575" bIns="34275" anchor="t" anchorCtr="0">
            <a:noAutofit/>
          </a:bodyPr>
          <a:lstStyle/>
          <a:p>
            <a:pPr marL="0" lvl="0" indent="0" algn="ctr" rtl="0">
              <a:lnSpc>
                <a:spcPct val="90000"/>
              </a:lnSpc>
              <a:spcBef>
                <a:spcPts val="800"/>
              </a:spcBef>
              <a:spcAft>
                <a:spcPts val="0"/>
              </a:spcAft>
              <a:buSzPts val="1400"/>
              <a:buNone/>
            </a:pPr>
            <a:r>
              <a:rPr lang="en" sz="1700" i="1">
                <a:latin typeface="Helvetica Neue Light"/>
                <a:ea typeface="Helvetica Neue Light"/>
                <a:cs typeface="Helvetica Neue Light"/>
                <a:sym typeface="Helvetica Neue Light"/>
              </a:rPr>
              <a:t>E. coli</a:t>
            </a:r>
            <a:r>
              <a:rPr lang="en" sz="1700">
                <a:latin typeface="Helvetica Neue Light"/>
                <a:ea typeface="Helvetica Neue Light"/>
                <a:cs typeface="Helvetica Neue Light"/>
                <a:sym typeface="Helvetica Neue Light"/>
              </a:rPr>
              <a:t> polymerase</a:t>
            </a:r>
            <a:endParaRPr sz="1700">
              <a:latin typeface="Helvetica Neue Light"/>
              <a:ea typeface="Helvetica Neue Light"/>
              <a:cs typeface="Helvetica Neue Light"/>
              <a:sym typeface="Helvetica Neue Light"/>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210"/>
        <p:cNvGrpSpPr/>
        <p:nvPr/>
      </p:nvGrpSpPr>
      <p:grpSpPr>
        <a:xfrm>
          <a:off x="0" y="0"/>
          <a:ext cx="0" cy="0"/>
          <a:chOff x="0" y="0"/>
          <a:chExt cx="0" cy="0"/>
        </a:xfrm>
      </p:grpSpPr>
      <p:sp>
        <p:nvSpPr>
          <p:cNvPr id="1211" name="Google Shape;1211;p65"/>
          <p:cNvSpPr txBox="1">
            <a:spLocks noGrp="1"/>
          </p:cNvSpPr>
          <p:nvPr>
            <p:ph type="title"/>
          </p:nvPr>
        </p:nvSpPr>
        <p:spPr>
          <a:xfrm>
            <a:off x="582100" y="76019"/>
            <a:ext cx="7886700" cy="994200"/>
          </a:xfrm>
          <a:prstGeom prst="rect">
            <a:avLst/>
          </a:prstGeom>
          <a:noFill/>
          <a:ln>
            <a:noFill/>
          </a:ln>
        </p:spPr>
        <p:txBody>
          <a:bodyPr spcFirstLastPara="1" wrap="square" lIns="68575" tIns="34275" rIns="68575" bIns="34275" anchor="ctr" anchorCtr="0">
            <a:noAutofit/>
          </a:bodyPr>
          <a:lstStyle/>
          <a:p>
            <a:pPr marL="0" lvl="0" indent="0" algn="ctr" rtl="0">
              <a:lnSpc>
                <a:spcPct val="90000"/>
              </a:lnSpc>
              <a:spcBef>
                <a:spcPts val="0"/>
              </a:spcBef>
              <a:spcAft>
                <a:spcPts val="0"/>
              </a:spcAft>
              <a:buSzPts val="1400"/>
              <a:buNone/>
            </a:pPr>
            <a:r>
              <a:rPr lang="en">
                <a:latin typeface="Helvetica Neue"/>
                <a:ea typeface="Helvetica Neue"/>
                <a:cs typeface="Helvetica Neue"/>
                <a:sym typeface="Helvetica Neue"/>
              </a:rPr>
              <a:t>Taxonomic assignment</a:t>
            </a:r>
            <a:endParaRPr>
              <a:latin typeface="Helvetica Neue"/>
              <a:ea typeface="Helvetica Neue"/>
              <a:cs typeface="Helvetica Neue"/>
              <a:sym typeface="Helvetica Neue"/>
            </a:endParaRPr>
          </a:p>
        </p:txBody>
      </p:sp>
      <p:sp>
        <p:nvSpPr>
          <p:cNvPr id="1212" name="Google Shape;1212;p65"/>
          <p:cNvSpPr txBox="1">
            <a:spLocks noGrp="1"/>
          </p:cNvSpPr>
          <p:nvPr>
            <p:ph type="body" idx="1"/>
          </p:nvPr>
        </p:nvSpPr>
        <p:spPr>
          <a:xfrm>
            <a:off x="250100" y="2584824"/>
            <a:ext cx="4433700" cy="2482657"/>
          </a:xfrm>
          <a:prstGeom prst="rect">
            <a:avLst/>
          </a:prstGeom>
          <a:noFill/>
          <a:ln>
            <a:noFill/>
          </a:ln>
        </p:spPr>
        <p:txBody>
          <a:bodyPr spcFirstLastPara="1" wrap="square" lIns="68575" tIns="34275" rIns="68575" bIns="34275" anchor="t" anchorCtr="0">
            <a:noAutofit/>
          </a:bodyPr>
          <a:lstStyle/>
          <a:p>
            <a:pPr marL="0" marR="154382" lvl="0" indent="0" algn="l" rtl="0">
              <a:lnSpc>
                <a:spcPct val="115000"/>
              </a:lnSpc>
              <a:spcBef>
                <a:spcPts val="800"/>
              </a:spcBef>
              <a:spcAft>
                <a:spcPts val="0"/>
              </a:spcAft>
              <a:buSzPts val="1400"/>
              <a:buNone/>
            </a:pPr>
            <a:r>
              <a:rPr lang="en" sz="2000" b="1">
                <a:solidFill>
                  <a:schemeClr val="dk1"/>
                </a:solidFill>
                <a:latin typeface="Arial"/>
                <a:ea typeface="Arial"/>
                <a:cs typeface="Arial"/>
                <a:sym typeface="Arial"/>
              </a:rPr>
              <a:t>Notes</a:t>
            </a:r>
            <a:r>
              <a:rPr lang="en" sz="2000">
                <a:solidFill>
                  <a:schemeClr val="dk1"/>
                </a:solidFill>
                <a:latin typeface="Arial"/>
                <a:ea typeface="Arial"/>
                <a:cs typeface="Arial"/>
                <a:sym typeface="Arial"/>
              </a:rPr>
              <a:t>: </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BLAST – aligns nucleotide and amino acid sequences</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Minimap2 – aligns nucleotide sequences</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Kraken2 - kmer-based approach for searching nucleotide and amino acid sequences</a:t>
            </a:r>
            <a:endParaRPr/>
          </a:p>
          <a:p>
            <a:pPr marL="342900" marR="154382" lvl="0" indent="-342900" algn="l" rtl="0">
              <a:lnSpc>
                <a:spcPct val="115000"/>
              </a:lnSpc>
              <a:spcBef>
                <a:spcPts val="800"/>
              </a:spcBef>
              <a:spcAft>
                <a:spcPts val="0"/>
              </a:spcAft>
              <a:buSzPts val="1400"/>
              <a:buChar char="•"/>
            </a:pPr>
            <a:r>
              <a:rPr lang="en" sz="1400">
                <a:latin typeface="Arial"/>
                <a:ea typeface="Arial"/>
                <a:cs typeface="Arial"/>
                <a:sym typeface="Arial"/>
              </a:rPr>
              <a:t>DIAMOND – aligns amino acid sequences</a:t>
            </a:r>
            <a:endParaRPr sz="2000">
              <a:latin typeface="Arial"/>
              <a:ea typeface="Arial"/>
              <a:cs typeface="Arial"/>
              <a:sym typeface="Arial"/>
            </a:endParaRPr>
          </a:p>
          <a:p>
            <a:pPr marL="0" marR="154382" lvl="0" indent="0" algn="l" rtl="0">
              <a:lnSpc>
                <a:spcPct val="115000"/>
              </a:lnSpc>
              <a:spcBef>
                <a:spcPts val="800"/>
              </a:spcBef>
              <a:spcAft>
                <a:spcPts val="0"/>
              </a:spcAft>
              <a:buSzPts val="1400"/>
              <a:buNone/>
            </a:pPr>
            <a:endParaRPr sz="2000">
              <a:solidFill>
                <a:schemeClr val="dk1"/>
              </a:solidFill>
              <a:latin typeface="Arial"/>
              <a:ea typeface="Arial"/>
              <a:cs typeface="Arial"/>
              <a:sym typeface="Arial"/>
            </a:endParaRPr>
          </a:p>
          <a:p>
            <a:pPr marL="92075" marR="154382" lvl="3" indent="0" algn="l" rtl="0">
              <a:lnSpc>
                <a:spcPct val="115000"/>
              </a:lnSpc>
              <a:spcBef>
                <a:spcPts val="400"/>
              </a:spcBef>
              <a:spcAft>
                <a:spcPts val="0"/>
              </a:spcAft>
              <a:buClr>
                <a:schemeClr val="dk1"/>
              </a:buClr>
              <a:buSzPts val="1250"/>
              <a:buNone/>
            </a:pPr>
            <a:r>
              <a:rPr lang="en" sz="1250">
                <a:highlight>
                  <a:srgbClr val="FFFFFF"/>
                </a:highlight>
                <a:latin typeface="Arial"/>
                <a:ea typeface="Arial"/>
                <a:cs typeface="Arial"/>
                <a:sym typeface="Arial"/>
              </a:rPr>
              <a:t>.</a:t>
            </a:r>
            <a:endParaRPr sz="1250"/>
          </a:p>
        </p:txBody>
      </p:sp>
      <p:sp>
        <p:nvSpPr>
          <p:cNvPr id="1213" name="Google Shape;1213;p65"/>
          <p:cNvSpPr txBox="1"/>
          <p:nvPr/>
        </p:nvSpPr>
        <p:spPr>
          <a:xfrm>
            <a:off x="250099" y="1070225"/>
            <a:ext cx="5215035" cy="1627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Example software</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rgbClr val="0070C0"/>
                </a:solidFill>
                <a:uFill>
                  <a:noFill/>
                </a:uFill>
                <a:latin typeface="Helvetica Neue"/>
                <a:ea typeface="Helvetica Neue"/>
                <a:cs typeface="Helvetica Neue"/>
                <a:sym typeface="Helvetica Neue"/>
                <a:hlinkClick r:id="rId3">
                  <a:extLst>
                    <a:ext uri="{A12FA001-AC4F-418D-AE19-62706E023703}">
                      <ahyp:hlinkClr xmlns:ahyp="http://schemas.microsoft.com/office/drawing/2018/hyperlinkcolor" val="tx"/>
                    </a:ext>
                  </a:extLst>
                </a:hlinkClick>
              </a:rPr>
              <a:t>BLAST</a:t>
            </a:r>
            <a:r>
              <a:rPr lang="en" sz="2000" b="0" i="0" u="none" strike="noStrike" cap="none">
                <a:solidFill>
                  <a:srgbClr val="000000"/>
                </a:solidFill>
                <a:latin typeface="Helvetica Neue"/>
                <a:ea typeface="Helvetica Neue"/>
                <a:cs typeface="Helvetica Neue"/>
                <a:sym typeface="Helvetica Neue"/>
              </a:rPr>
              <a:t>, </a:t>
            </a:r>
            <a:r>
              <a:rPr lang="en" sz="2000" b="0" i="0" u="none" strike="noStrike" cap="none">
                <a:solidFill>
                  <a:schemeClr val="hlink"/>
                </a:solidFill>
                <a:uFill>
                  <a:noFill/>
                </a:uFill>
                <a:latin typeface="Arial"/>
                <a:ea typeface="Arial"/>
                <a:cs typeface="Arial"/>
                <a:sym typeface="Arial"/>
                <a:hlinkClick r:id="rId4"/>
              </a:rPr>
              <a:t>minimap2</a:t>
            </a:r>
            <a:r>
              <a:rPr lang="en" sz="2000" b="0" i="0" u="none" strike="noStrike" cap="none">
                <a:solidFill>
                  <a:schemeClr val="dk1"/>
                </a:solidFill>
                <a:latin typeface="Arial"/>
                <a:ea typeface="Arial"/>
                <a:cs typeface="Arial"/>
                <a:sym typeface="Arial"/>
              </a:rPr>
              <a:t>, </a:t>
            </a:r>
            <a:r>
              <a:rPr lang="en" sz="2000" b="0" i="0" u="none" strike="noStrike" cap="none">
                <a:solidFill>
                  <a:srgbClr val="0070C0"/>
                </a:solidFill>
                <a:uFill>
                  <a:noFill/>
                </a:uFill>
                <a:latin typeface="Arial"/>
                <a:ea typeface="Arial"/>
                <a:cs typeface="Arial"/>
                <a:sym typeface="Arial"/>
                <a:hlinkClick r:id="rId5">
                  <a:extLst>
                    <a:ext uri="{A12FA001-AC4F-418D-AE19-62706E023703}">
                      <ahyp:hlinkClr xmlns:ahyp="http://schemas.microsoft.com/office/drawing/2018/hyperlinkcolor" val="tx"/>
                    </a:ext>
                  </a:extLst>
                </a:hlinkClick>
              </a:rPr>
              <a:t>Kraken2</a:t>
            </a:r>
            <a:r>
              <a:rPr lang="en" sz="2000" b="0" i="0" u="none" strike="noStrike" cap="none">
                <a:solidFill>
                  <a:schemeClr val="dk1"/>
                </a:solidFill>
                <a:latin typeface="Arial"/>
                <a:ea typeface="Arial"/>
                <a:cs typeface="Arial"/>
                <a:sym typeface="Arial"/>
              </a:rPr>
              <a:t>, </a:t>
            </a:r>
            <a:r>
              <a:rPr lang="en" sz="2000" b="0" i="0" u="none" strike="noStrike" cap="none">
                <a:solidFill>
                  <a:schemeClr val="hlink"/>
                </a:solidFill>
                <a:uFill>
                  <a:noFill/>
                </a:uFill>
                <a:latin typeface="Arial"/>
                <a:ea typeface="Arial"/>
                <a:cs typeface="Arial"/>
                <a:sym typeface="Arial"/>
                <a:hlinkClick r:id="rId6"/>
              </a:rPr>
              <a:t>DIAMOND</a:t>
            </a:r>
            <a:r>
              <a:rPr lang="en" sz="2000" b="0" i="0" u="none" strike="noStrike" cap="none">
                <a:solidFill>
                  <a:srgbClr val="000000"/>
                </a:solidFill>
                <a:latin typeface="Arial"/>
                <a:ea typeface="Arial"/>
                <a:cs typeface="Arial"/>
                <a:sym typeface="Arial"/>
              </a:rPr>
              <a:t> </a:t>
            </a:r>
            <a:endParaRPr sz="20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Helvetica Neue"/>
              <a:ea typeface="Helvetica Neue"/>
              <a:cs typeface="Helvetica Neue"/>
              <a:sym typeface="Helvetica Neue"/>
            </a:endParaRPr>
          </a:p>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000000"/>
                </a:solidFill>
                <a:latin typeface="Helvetica Neue"/>
                <a:ea typeface="Helvetica Neue"/>
                <a:cs typeface="Helvetica Neue"/>
                <a:sym typeface="Helvetica Neue"/>
              </a:rPr>
              <a:t>Step</a:t>
            </a:r>
            <a:r>
              <a:rPr lang="en" sz="2000" b="0" i="0" u="none" strike="noStrike" cap="none">
                <a:solidFill>
                  <a:srgbClr val="000000"/>
                </a:solidFill>
                <a:latin typeface="Helvetica Neue"/>
                <a:ea typeface="Helvetica Neue"/>
                <a:cs typeface="Helvetica Neue"/>
                <a:sym typeface="Helvetica Neue"/>
              </a:rPr>
              <a:t>: Querying reference database</a:t>
            </a:r>
            <a:endParaRPr sz="2000" b="0" i="0" u="none" strike="noStrike" cap="none">
              <a:solidFill>
                <a:srgbClr val="000000"/>
              </a:solidFill>
              <a:latin typeface="Helvetica Neue"/>
              <a:ea typeface="Helvetica Neue"/>
              <a:cs typeface="Helvetica Neue"/>
              <a:sym typeface="Helvetica Neue"/>
            </a:endParaRPr>
          </a:p>
        </p:txBody>
      </p:sp>
      <p:pic>
        <p:nvPicPr>
          <p:cNvPr id="1214" name="Google Shape;1214;p65" descr="A diagram of a database&#10;&#10;Description automatically generated"/>
          <p:cNvPicPr preferRelativeResize="0"/>
          <p:nvPr/>
        </p:nvPicPr>
        <p:blipFill rotWithShape="1">
          <a:blip r:embed="rId7">
            <a:alphaModFix/>
          </a:blip>
          <a:srcRect/>
          <a:stretch/>
        </p:blipFill>
        <p:spPr>
          <a:xfrm>
            <a:off x="5232368" y="2154127"/>
            <a:ext cx="3159375" cy="2832543"/>
          </a:xfrm>
          <a:prstGeom prst="rect">
            <a:avLst/>
          </a:prstGeom>
          <a:noFill/>
          <a:ln>
            <a:noFill/>
          </a:ln>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1218"/>
        <p:cNvGrpSpPr/>
        <p:nvPr/>
      </p:nvGrpSpPr>
      <p:grpSpPr>
        <a:xfrm>
          <a:off x="0" y="0"/>
          <a:ext cx="0" cy="0"/>
          <a:chOff x="0" y="0"/>
          <a:chExt cx="0" cy="0"/>
        </a:xfrm>
      </p:grpSpPr>
      <p:sp>
        <p:nvSpPr>
          <p:cNvPr id="1219" name="Google Shape;1219;p66"/>
          <p:cNvSpPr txBox="1">
            <a:spLocks noGrp="1"/>
          </p:cNvSpPr>
          <p:nvPr>
            <p:ph type="title"/>
          </p:nvPr>
        </p:nvSpPr>
        <p:spPr>
          <a:xfrm>
            <a:off x="311701" y="239450"/>
            <a:ext cx="30588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a:t>Common mNGS Pipeline Steps</a:t>
            </a:r>
            <a:endParaRPr/>
          </a:p>
        </p:txBody>
      </p:sp>
      <p:sp>
        <p:nvSpPr>
          <p:cNvPr id="1220" name="Google Shape;1220;p66"/>
          <p:cNvSpPr/>
          <p:nvPr/>
        </p:nvSpPr>
        <p:spPr>
          <a:xfrm>
            <a:off x="3732026" y="236573"/>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1" name="Google Shape;1221;p66"/>
          <p:cNvSpPr/>
          <p:nvPr/>
        </p:nvSpPr>
        <p:spPr>
          <a:xfrm>
            <a:off x="3732025" y="10300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2" name="Google Shape;1222;p66"/>
          <p:cNvSpPr/>
          <p:nvPr/>
        </p:nvSpPr>
        <p:spPr>
          <a:xfrm>
            <a:off x="3732025" y="1842794"/>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3" name="Google Shape;1223;p66"/>
          <p:cNvSpPr/>
          <p:nvPr/>
        </p:nvSpPr>
        <p:spPr>
          <a:xfrm>
            <a:off x="3732025" y="2639551"/>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4" name="Google Shape;1224;p66"/>
          <p:cNvSpPr txBox="1"/>
          <p:nvPr/>
        </p:nvSpPr>
        <p:spPr>
          <a:xfrm>
            <a:off x="4332766" y="366964"/>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QC</a:t>
            </a:r>
            <a:endParaRPr sz="1400" b="0" i="0" u="none" strike="noStrike" cap="none">
              <a:solidFill>
                <a:srgbClr val="000000"/>
              </a:solidFill>
              <a:latin typeface="Arial"/>
              <a:ea typeface="Arial"/>
              <a:cs typeface="Arial"/>
              <a:sym typeface="Arial"/>
            </a:endParaRPr>
          </a:p>
        </p:txBody>
      </p:sp>
      <p:sp>
        <p:nvSpPr>
          <p:cNvPr id="1225" name="Google Shape;1225;p66"/>
          <p:cNvSpPr txBox="1"/>
          <p:nvPr/>
        </p:nvSpPr>
        <p:spPr>
          <a:xfrm>
            <a:off x="4332766" y="1020615"/>
            <a:ext cx="10740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Host Filtering</a:t>
            </a:r>
            <a:endParaRPr sz="1400" b="0" i="0" u="none" strike="noStrike" cap="none">
              <a:solidFill>
                <a:srgbClr val="000000"/>
              </a:solidFill>
              <a:latin typeface="Arial"/>
              <a:ea typeface="Arial"/>
              <a:cs typeface="Arial"/>
              <a:sym typeface="Arial"/>
            </a:endParaRPr>
          </a:p>
        </p:txBody>
      </p:sp>
      <p:sp>
        <p:nvSpPr>
          <p:cNvPr id="1226" name="Google Shape;1226;p66"/>
          <p:cNvSpPr txBox="1"/>
          <p:nvPr/>
        </p:nvSpPr>
        <p:spPr>
          <a:xfrm>
            <a:off x="4267639" y="2737793"/>
            <a:ext cx="1204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Assembly</a:t>
            </a:r>
            <a:endParaRPr sz="1400" b="0" i="0" u="none" strike="noStrike" cap="none">
              <a:solidFill>
                <a:srgbClr val="000000"/>
              </a:solidFill>
              <a:latin typeface="Arial"/>
              <a:ea typeface="Arial"/>
              <a:cs typeface="Arial"/>
              <a:sym typeface="Arial"/>
            </a:endParaRPr>
          </a:p>
        </p:txBody>
      </p:sp>
      <p:sp>
        <p:nvSpPr>
          <p:cNvPr id="1227" name="Google Shape;1227;p66"/>
          <p:cNvSpPr/>
          <p:nvPr/>
        </p:nvSpPr>
        <p:spPr>
          <a:xfrm>
            <a:off x="3732025" y="3432287"/>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28" name="Google Shape;1228;p66"/>
          <p:cNvSpPr txBox="1"/>
          <p:nvPr/>
        </p:nvSpPr>
        <p:spPr>
          <a:xfrm>
            <a:off x="4128083" y="3401457"/>
            <a:ext cx="14754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Taxonomic Assignment</a:t>
            </a:r>
            <a:endParaRPr sz="1400" b="0" i="0" u="none" strike="noStrike" cap="none">
              <a:solidFill>
                <a:srgbClr val="000000"/>
              </a:solidFill>
              <a:latin typeface="Arial"/>
              <a:ea typeface="Arial"/>
              <a:cs typeface="Arial"/>
              <a:sym typeface="Arial"/>
            </a:endParaRPr>
          </a:p>
        </p:txBody>
      </p:sp>
      <p:sp>
        <p:nvSpPr>
          <p:cNvPr id="1229" name="Google Shape;1229;p66"/>
          <p:cNvSpPr/>
          <p:nvPr/>
        </p:nvSpPr>
        <p:spPr>
          <a:xfrm>
            <a:off x="3721393" y="4235156"/>
            <a:ext cx="2275500" cy="568500"/>
          </a:xfrm>
          <a:prstGeom prst="roundRect">
            <a:avLst>
              <a:gd name="adj" fmla="val 16667"/>
            </a:avLst>
          </a:prstGeom>
          <a:solidFill>
            <a:srgbClr val="F2F2F2"/>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0" name="Google Shape;1230;p66"/>
          <p:cNvSpPr txBox="1"/>
          <p:nvPr/>
        </p:nvSpPr>
        <p:spPr>
          <a:xfrm>
            <a:off x="4332766" y="4365547"/>
            <a:ext cx="10740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Arial"/>
                <a:ea typeface="Arial"/>
                <a:cs typeface="Arial"/>
                <a:sym typeface="Arial"/>
              </a:rPr>
              <a:t>Report</a:t>
            </a:r>
            <a:endParaRPr sz="1400" b="0" i="0" u="none" strike="noStrike" cap="none">
              <a:solidFill>
                <a:srgbClr val="000000"/>
              </a:solidFill>
              <a:latin typeface="Arial"/>
              <a:ea typeface="Arial"/>
              <a:cs typeface="Arial"/>
              <a:sym typeface="Arial"/>
            </a:endParaRPr>
          </a:p>
        </p:txBody>
      </p:sp>
      <p:sp>
        <p:nvSpPr>
          <p:cNvPr id="1231" name="Google Shape;1231;p66"/>
          <p:cNvSpPr/>
          <p:nvPr/>
        </p:nvSpPr>
        <p:spPr>
          <a:xfrm>
            <a:off x="4774019" y="80513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2" name="Google Shape;1232;p66"/>
          <p:cNvSpPr/>
          <p:nvPr/>
        </p:nvSpPr>
        <p:spPr>
          <a:xfrm>
            <a:off x="4758070" y="1606289"/>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3" name="Google Shape;1233;p66"/>
          <p:cNvSpPr/>
          <p:nvPr/>
        </p:nvSpPr>
        <p:spPr>
          <a:xfrm>
            <a:off x="4758068" y="2411411"/>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4" name="Google Shape;1234;p66"/>
          <p:cNvSpPr/>
          <p:nvPr/>
        </p:nvSpPr>
        <p:spPr>
          <a:xfrm>
            <a:off x="4758068" y="3209382"/>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5" name="Google Shape;1235;p66"/>
          <p:cNvSpPr/>
          <p:nvPr/>
        </p:nvSpPr>
        <p:spPr>
          <a:xfrm>
            <a:off x="4758068" y="4010202"/>
            <a:ext cx="170100" cy="204900"/>
          </a:xfrm>
          <a:prstGeom prst="downArrow">
            <a:avLst>
              <a:gd name="adj1" fmla="val 50000"/>
              <a:gd name="adj2" fmla="val 50000"/>
            </a:avLst>
          </a:prstGeom>
          <a:solidFill>
            <a:schemeClr val="accent1"/>
          </a:solidFill>
          <a:ln w="25400" cap="flat" cmpd="sng">
            <a:solidFill>
              <a:srgbClr val="1B3867"/>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1236" name="Google Shape;1236;p66"/>
          <p:cNvSpPr txBox="1"/>
          <p:nvPr/>
        </p:nvSpPr>
        <p:spPr>
          <a:xfrm>
            <a:off x="3911000" y="1834250"/>
            <a:ext cx="2085900" cy="5541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 sz="1500" i="0" u="none" strike="noStrike" cap="none">
                <a:solidFill>
                  <a:srgbClr val="000000"/>
                </a:solidFill>
              </a:rPr>
              <a:t>Duplicate Removal (</a:t>
            </a:r>
            <a:r>
              <a:rPr lang="en" sz="1500"/>
              <a:t>optional</a:t>
            </a:r>
            <a:r>
              <a:rPr lang="en" sz="1500" i="0" u="none" strike="noStrike" cap="none">
                <a:solidFill>
                  <a:srgbClr val="000000"/>
                </a:solidFill>
              </a:rPr>
              <a:t>)</a:t>
            </a:r>
            <a:endParaRPr sz="1100" i="0" u="none" strike="noStrike" cap="none">
              <a:solidFill>
                <a:srgbClr val="000000"/>
              </a:solidFill>
            </a:endParaRPr>
          </a:p>
        </p:txBody>
      </p:sp>
      <p:sp>
        <p:nvSpPr>
          <p:cNvPr id="1237" name="Google Shape;1237;p66"/>
          <p:cNvSpPr/>
          <p:nvPr/>
        </p:nvSpPr>
        <p:spPr>
          <a:xfrm>
            <a:off x="3384050" y="4047950"/>
            <a:ext cx="3058800" cy="957600"/>
          </a:xfrm>
          <a:prstGeom prst="ellipse">
            <a:avLst/>
          </a:prstGeom>
          <a:noFill/>
          <a:ln w="9525" cap="flat" cmpd="sng">
            <a:solidFill>
              <a:srgbClr val="EB220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1241"/>
        <p:cNvGrpSpPr/>
        <p:nvPr/>
      </p:nvGrpSpPr>
      <p:grpSpPr>
        <a:xfrm>
          <a:off x="0" y="0"/>
          <a:ext cx="0" cy="0"/>
          <a:chOff x="0" y="0"/>
          <a:chExt cx="0" cy="0"/>
        </a:xfrm>
      </p:grpSpPr>
      <p:sp>
        <p:nvSpPr>
          <p:cNvPr id="1242" name="Google Shape;1242;p67"/>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43" name="Google Shape;1243;p67"/>
          <p:cNvSpPr txBox="1">
            <a:spLocks noGrp="1"/>
          </p:cNvSpPr>
          <p:nvPr>
            <p:ph type="body" idx="1"/>
          </p:nvPr>
        </p:nvSpPr>
        <p:spPr>
          <a:xfrm>
            <a:off x="311700" y="783809"/>
            <a:ext cx="8520600" cy="4266656"/>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0" algn="l" rtl="0">
              <a:lnSpc>
                <a:spcPct val="115000"/>
              </a:lnSpc>
              <a:spcBef>
                <a:spcPts val="0"/>
              </a:spcBef>
              <a:spcAft>
                <a:spcPts val="0"/>
              </a:spcAft>
              <a:buSzPts val="1800"/>
              <a:buNone/>
            </a:pPr>
            <a:endParaRPr>
              <a:solidFill>
                <a:schemeClr val="tx1"/>
              </a:solidFil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1247"/>
        <p:cNvGrpSpPr/>
        <p:nvPr/>
      </p:nvGrpSpPr>
      <p:grpSpPr>
        <a:xfrm>
          <a:off x="0" y="0"/>
          <a:ext cx="0" cy="0"/>
          <a:chOff x="0" y="0"/>
          <a:chExt cx="0" cy="0"/>
        </a:xfrm>
      </p:grpSpPr>
      <p:sp>
        <p:nvSpPr>
          <p:cNvPr id="1248" name="Google Shape;1248;p68"/>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49" name="Google Shape;1249;p68"/>
          <p:cNvSpPr txBox="1">
            <a:spLocks noGrp="1"/>
          </p:cNvSpPr>
          <p:nvPr>
            <p:ph type="body" idx="1"/>
          </p:nvPr>
        </p:nvSpPr>
        <p:spPr>
          <a:xfrm>
            <a:off x="311700" y="783809"/>
            <a:ext cx="8520600" cy="42666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Provides alignment metrics to evaluate the significance of alignments</a:t>
            </a:r>
            <a:endParaRPr>
              <a:solidFill>
                <a:schemeClr val="tx1"/>
              </a:solidFill>
            </a:endParaRPr>
          </a:p>
          <a:p>
            <a:pPr marL="914400" lvl="1" indent="-317500" algn="l" rtl="0">
              <a:lnSpc>
                <a:spcPct val="115000"/>
              </a:lnSpc>
              <a:spcBef>
                <a:spcPts val="0"/>
              </a:spcBef>
              <a:spcAft>
                <a:spcPts val="0"/>
              </a:spcAft>
              <a:buSzPts val="1400"/>
              <a:buChar char="○"/>
            </a:pPr>
            <a:r>
              <a:rPr lang="en" b="1">
                <a:solidFill>
                  <a:schemeClr val="tx1"/>
                </a:solidFill>
              </a:rPr>
              <a:t>Bit score</a:t>
            </a:r>
            <a:r>
              <a:rPr lang="en">
                <a:solidFill>
                  <a:schemeClr val="tx1"/>
                </a:solidFill>
              </a:rPr>
              <a:t>: Metric derived from the raw alignment score. The higher the bit score, the more significant the alignment (higher similarity).</a:t>
            </a:r>
            <a:endParaRPr>
              <a:solidFill>
                <a:schemeClr val="tx1"/>
              </a:solidFill>
            </a:endParaRPr>
          </a:p>
          <a:p>
            <a:pPr marL="914400" lvl="0" indent="0" algn="l" rtl="0">
              <a:lnSpc>
                <a:spcPct val="115000"/>
              </a:lnSpc>
              <a:spcBef>
                <a:spcPts val="0"/>
              </a:spcBef>
              <a:spcAft>
                <a:spcPts val="0"/>
              </a:spcAft>
              <a:buSzPts val="1800"/>
              <a:buNone/>
            </a:pPr>
            <a:endParaRPr>
              <a:solidFill>
                <a:schemeClr val="tx1"/>
              </a:solidFill>
            </a:endParaRPr>
          </a:p>
          <a:p>
            <a:pPr marL="914400" lvl="1" indent="-317500" algn="l" rtl="0">
              <a:lnSpc>
                <a:spcPct val="115000"/>
              </a:lnSpc>
              <a:spcBef>
                <a:spcPts val="0"/>
              </a:spcBef>
              <a:spcAft>
                <a:spcPts val="0"/>
              </a:spcAft>
              <a:buSzPts val="1400"/>
              <a:buChar char="○"/>
            </a:pPr>
            <a:r>
              <a:rPr lang="en" b="1">
                <a:solidFill>
                  <a:schemeClr val="tx1"/>
                </a:solidFill>
              </a:rPr>
              <a:t>E-value</a:t>
            </a:r>
            <a:r>
              <a:rPr lang="en">
                <a:solidFill>
                  <a:schemeClr val="tx1"/>
                </a:solidFill>
              </a:rPr>
              <a:t>: Number of matches you expect to see by chance. The lower the E-value, the more significant the alignment.</a:t>
            </a:r>
            <a:endParaRPr>
              <a:solidFill>
                <a:schemeClr val="tx1"/>
              </a:solidFill>
            </a:endParaRPr>
          </a:p>
          <a:p>
            <a:pPr marL="596900" lvl="1" indent="0" algn="l" rtl="0">
              <a:lnSpc>
                <a:spcPct val="115000"/>
              </a:lnSpc>
              <a:spcBef>
                <a:spcPts val="0"/>
              </a:spcBef>
              <a:spcAft>
                <a:spcPts val="0"/>
              </a:spcAft>
              <a:buSzPts val="1400"/>
              <a:buNone/>
            </a:pPr>
            <a:endParaRPr>
              <a:solidFill>
                <a:schemeClr val="tx1"/>
              </a:solidFill>
            </a:endParaRPr>
          </a:p>
          <a:p>
            <a:pPr marL="457200" lvl="0" indent="0" algn="l" rtl="0">
              <a:lnSpc>
                <a:spcPct val="115000"/>
              </a:lnSpc>
              <a:spcBef>
                <a:spcPts val="0"/>
              </a:spcBef>
              <a:spcAft>
                <a:spcPts val="0"/>
              </a:spcAft>
              <a:buSzPts val="1800"/>
              <a:buNone/>
            </a:pPr>
            <a:endParaRPr>
              <a:solidFill>
                <a:schemeClr val="tx1"/>
              </a:solidFil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sp>
        <p:nvSpPr>
          <p:cNvPr id="1254" name="Google Shape;1254;p69"/>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55" name="Google Shape;1255;p69"/>
          <p:cNvSpPr txBox="1">
            <a:spLocks noGrp="1"/>
          </p:cNvSpPr>
          <p:nvPr>
            <p:ph type="body" idx="1"/>
          </p:nvPr>
        </p:nvSpPr>
        <p:spPr>
          <a:xfrm>
            <a:off x="311700" y="783809"/>
            <a:ext cx="8520600" cy="42666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Provides alignment metrics to evaluate the significance of alignments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Bit score</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E-value</a:t>
            </a:r>
            <a:endParaRPr>
              <a:solidFill>
                <a:schemeClr val="tx1"/>
              </a:solidFill>
            </a:endParaRPr>
          </a:p>
          <a:p>
            <a:pPr marL="596900" lvl="1" indent="0" algn="l" rtl="0">
              <a:lnSpc>
                <a:spcPct val="115000"/>
              </a:lnSpc>
              <a:spcBef>
                <a:spcPts val="0"/>
              </a:spcBef>
              <a:spcAft>
                <a:spcPts val="0"/>
              </a:spcAft>
              <a:buSzPts val="14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Great resource for genomic applications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Finding similar sequences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Identifying unknown sequences (taxonomy)</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Genome annotation</a:t>
            </a:r>
            <a:endParaRPr>
              <a:solidFill>
                <a:schemeClr val="tx1"/>
              </a:solidFill>
            </a:endParaRPr>
          </a:p>
          <a:p>
            <a:pPr marL="914400" lvl="1" indent="-228600" algn="l" rtl="0">
              <a:lnSpc>
                <a:spcPct val="115000"/>
              </a:lnSpc>
              <a:spcBef>
                <a:spcPts val="0"/>
              </a:spcBef>
              <a:spcAft>
                <a:spcPts val="0"/>
              </a:spcAft>
              <a:buSzPts val="1400"/>
              <a:buNone/>
            </a:pPr>
            <a:endParaRPr>
              <a:solidFill>
                <a:schemeClr val="tx1"/>
              </a:solidFill>
            </a:endParaRPr>
          </a:p>
          <a:p>
            <a:pPr marL="457200" lvl="0" indent="0" algn="l" rtl="0">
              <a:lnSpc>
                <a:spcPct val="115000"/>
              </a:lnSpc>
              <a:spcBef>
                <a:spcPts val="0"/>
              </a:spcBef>
              <a:spcAft>
                <a:spcPts val="0"/>
              </a:spcAft>
              <a:buSzPts val="1800"/>
              <a:buNone/>
            </a:pPr>
            <a:endParaRPr>
              <a:solidFill>
                <a:schemeClr val="tx1"/>
              </a:solidFil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70"/>
          <p:cNvSpPr txBox="1">
            <a:spLocks noGrp="1"/>
          </p:cNvSpPr>
          <p:nvPr>
            <p:ph type="title"/>
          </p:nvPr>
        </p:nvSpPr>
        <p:spPr>
          <a:xfrm>
            <a:off x="311700" y="211109"/>
            <a:ext cx="8520600" cy="57270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u="sng"/>
              <a:t>B</a:t>
            </a:r>
            <a:r>
              <a:rPr lang="en"/>
              <a:t>asic </a:t>
            </a:r>
            <a:r>
              <a:rPr lang="en" u="sng"/>
              <a:t>L</a:t>
            </a:r>
            <a:r>
              <a:rPr lang="en"/>
              <a:t>ocal </a:t>
            </a:r>
            <a:r>
              <a:rPr lang="en" u="sng"/>
              <a:t>A</a:t>
            </a:r>
            <a:r>
              <a:rPr lang="en"/>
              <a:t>lignment </a:t>
            </a:r>
            <a:r>
              <a:rPr lang="en" u="sng"/>
              <a:t>S</a:t>
            </a:r>
            <a:r>
              <a:rPr lang="en"/>
              <a:t>earch </a:t>
            </a:r>
            <a:r>
              <a:rPr lang="en" u="sng"/>
              <a:t>T</a:t>
            </a:r>
            <a:r>
              <a:rPr lang="en"/>
              <a:t>ool (BLAST)</a:t>
            </a:r>
            <a:endParaRPr/>
          </a:p>
        </p:txBody>
      </p:sp>
      <p:sp>
        <p:nvSpPr>
          <p:cNvPr id="1261" name="Google Shape;1261;p70"/>
          <p:cNvSpPr txBox="1">
            <a:spLocks noGrp="1"/>
          </p:cNvSpPr>
          <p:nvPr>
            <p:ph type="body" idx="1"/>
          </p:nvPr>
        </p:nvSpPr>
        <p:spPr>
          <a:xfrm>
            <a:off x="311700" y="783809"/>
            <a:ext cx="8520600" cy="4266600"/>
          </a:xfrm>
          <a:prstGeom prst="rect">
            <a:avLst/>
          </a:prstGeom>
          <a:noFill/>
          <a:ln>
            <a:noFill/>
          </a:ln>
        </p:spPr>
        <p:txBody>
          <a:bodyPr spcFirstLastPara="1" wrap="square" lIns="91425" tIns="91425" rIns="91425" bIns="91425" anchor="t" anchorCtr="0">
            <a:normAutofit/>
          </a:bodyPr>
          <a:lstStyle/>
          <a:p>
            <a:pPr marL="457200" lvl="0" indent="-342900" algn="l" rtl="0">
              <a:lnSpc>
                <a:spcPct val="115000"/>
              </a:lnSpc>
              <a:spcBef>
                <a:spcPts val="0"/>
              </a:spcBef>
              <a:spcAft>
                <a:spcPts val="0"/>
              </a:spcAft>
              <a:buSzPts val="1800"/>
              <a:buChar char="●"/>
            </a:pPr>
            <a:r>
              <a:rPr lang="en">
                <a:solidFill>
                  <a:schemeClr val="tx1"/>
                </a:solidFill>
              </a:rPr>
              <a:t>Gold standard tool for sequence similarity searching against databases (sensitive!)</a:t>
            </a:r>
            <a:endParaRPr>
              <a:solidFill>
                <a:schemeClr val="tx1"/>
              </a:solidFill>
            </a:endParaRPr>
          </a:p>
          <a:p>
            <a:pPr marL="114300" lvl="0" indent="0" algn="l" rtl="0">
              <a:lnSpc>
                <a:spcPct val="115000"/>
              </a:lnSpc>
              <a:spcBef>
                <a:spcPts val="0"/>
              </a:spcBef>
              <a:spcAft>
                <a:spcPts val="0"/>
              </a:spcAft>
              <a:buSzPts val="18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Provides alignment metrics to evaluate the significance of alignments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Bit score</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E-value</a:t>
            </a:r>
            <a:endParaRPr>
              <a:solidFill>
                <a:schemeClr val="tx1"/>
              </a:solidFill>
            </a:endParaRPr>
          </a:p>
          <a:p>
            <a:pPr marL="596900" lvl="1" indent="0" algn="l" rtl="0">
              <a:lnSpc>
                <a:spcPct val="115000"/>
              </a:lnSpc>
              <a:spcBef>
                <a:spcPts val="0"/>
              </a:spcBef>
              <a:spcAft>
                <a:spcPts val="0"/>
              </a:spcAft>
              <a:buSzPts val="14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Great resource for genomic applications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Finding similar sequences</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Identifying unknown sequences (taxonomy)</a:t>
            </a:r>
            <a:endParaRPr>
              <a:solidFill>
                <a:schemeClr val="tx1"/>
              </a:solidFill>
            </a:endParaRPr>
          </a:p>
          <a:p>
            <a:pPr marL="914400" lvl="1" indent="-317500" algn="l" rtl="0">
              <a:lnSpc>
                <a:spcPct val="115000"/>
              </a:lnSpc>
              <a:spcBef>
                <a:spcPts val="0"/>
              </a:spcBef>
              <a:spcAft>
                <a:spcPts val="0"/>
              </a:spcAft>
              <a:buSzPts val="1400"/>
              <a:buChar char="○"/>
            </a:pPr>
            <a:r>
              <a:rPr lang="en">
                <a:solidFill>
                  <a:schemeClr val="tx1"/>
                </a:solidFill>
              </a:rPr>
              <a:t>Genome annotation</a:t>
            </a:r>
            <a:endParaRPr>
              <a:solidFill>
                <a:schemeClr val="tx1"/>
              </a:solidFill>
            </a:endParaRPr>
          </a:p>
          <a:p>
            <a:pPr marL="914400" lvl="1" indent="-228600" algn="l" rtl="0">
              <a:lnSpc>
                <a:spcPct val="115000"/>
              </a:lnSpc>
              <a:spcBef>
                <a:spcPts val="0"/>
              </a:spcBef>
              <a:spcAft>
                <a:spcPts val="0"/>
              </a:spcAft>
              <a:buSzPts val="1400"/>
              <a:buNone/>
            </a:pPr>
            <a:endParaRPr>
              <a:solidFill>
                <a:schemeClr val="tx1"/>
              </a:solidFill>
            </a:endParaRPr>
          </a:p>
          <a:p>
            <a:pPr marL="457200" lvl="0" indent="-342900" algn="l" rtl="0">
              <a:lnSpc>
                <a:spcPct val="115000"/>
              </a:lnSpc>
              <a:spcBef>
                <a:spcPts val="0"/>
              </a:spcBef>
              <a:spcAft>
                <a:spcPts val="0"/>
              </a:spcAft>
              <a:buSzPts val="1800"/>
              <a:buChar char="●"/>
            </a:pPr>
            <a:r>
              <a:rPr lang="en">
                <a:solidFill>
                  <a:schemeClr val="tx1"/>
                </a:solidFill>
              </a:rPr>
              <a:t>Limitation: Time required for alignment scales with query and database length </a:t>
            </a:r>
            <a:endParaRPr>
              <a:solidFill>
                <a:schemeClr val="tx1"/>
              </a:solidFil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1265"/>
        <p:cNvGrpSpPr/>
        <p:nvPr/>
      </p:nvGrpSpPr>
      <p:grpSpPr>
        <a:xfrm>
          <a:off x="0" y="0"/>
          <a:ext cx="0" cy="0"/>
          <a:chOff x="0" y="0"/>
          <a:chExt cx="0" cy="0"/>
        </a:xfrm>
      </p:grpSpPr>
      <p:sp>
        <p:nvSpPr>
          <p:cNvPr id="1266" name="Google Shape;1266;p71"/>
          <p:cNvSpPr txBox="1">
            <a:spLocks noGrp="1"/>
          </p:cNvSpPr>
          <p:nvPr>
            <p:ph type="title"/>
          </p:nvPr>
        </p:nvSpPr>
        <p:spPr>
          <a:xfrm>
            <a:off x="311700" y="2097475"/>
            <a:ext cx="8520600" cy="1240450"/>
          </a:xfrm>
          <a:prstGeom prst="rect">
            <a:avLst/>
          </a:prstGeom>
          <a:noFill/>
          <a:ln>
            <a:noFill/>
          </a:ln>
        </p:spPr>
        <p:txBody>
          <a:bodyPr spcFirstLastPara="1" wrap="square" lIns="91425" tIns="91425" rIns="91425" bIns="91425" anchor="t" anchorCtr="0">
            <a:normAutofit fontScale="90000"/>
          </a:bodyPr>
          <a:lstStyle/>
          <a:p>
            <a:pPr marL="0" lvl="0" indent="0" algn="ctr" rtl="0">
              <a:lnSpc>
                <a:spcPct val="100000"/>
              </a:lnSpc>
              <a:spcBef>
                <a:spcPts val="0"/>
              </a:spcBef>
              <a:spcAft>
                <a:spcPts val="0"/>
              </a:spcAft>
              <a:buSzPct val="111111"/>
              <a:buNone/>
            </a:pPr>
            <a:r>
              <a:rPr lang="en" dirty="0"/>
              <a:t>Let’s BLAST!</a:t>
            </a:r>
            <a:endParaRPr dirty="0"/>
          </a:p>
          <a:p>
            <a:pPr marL="0" lvl="0" indent="0" algn="ctr" rtl="0">
              <a:lnSpc>
                <a:spcPct val="100000"/>
              </a:lnSpc>
              <a:spcBef>
                <a:spcPts val="0"/>
              </a:spcBef>
              <a:spcAft>
                <a:spcPts val="0"/>
              </a:spcAft>
              <a:buSzPct val="111111"/>
              <a:buNone/>
            </a:pPr>
            <a:endParaRPr dirty="0"/>
          </a:p>
          <a:p>
            <a:pPr lvl="0" algn="ctr">
              <a:buSzPct val="111111"/>
            </a:pPr>
            <a:r>
              <a:rPr lang="en" b="1" dirty="0">
                <a:solidFill>
                  <a:schemeClr val="tx1"/>
                </a:solidFill>
              </a:rPr>
              <a:t>Activity</a:t>
            </a:r>
            <a:r>
              <a:rPr lang="en" dirty="0">
                <a:solidFill>
                  <a:schemeClr val="tx1"/>
                </a:solidFill>
              </a:rPr>
              <a:t>: </a:t>
            </a:r>
            <a:r>
              <a:rPr lang="en-US" dirty="0">
                <a:solidFill>
                  <a:schemeClr val="tx1"/>
                </a:solidFill>
              </a:rPr>
              <a:t>DL1_BLAST – Activity</a:t>
            </a:r>
            <a:br>
              <a:rPr lang="en-US" dirty="0">
                <a:solidFill>
                  <a:schemeClr val="tx1"/>
                </a:solidFill>
              </a:rPr>
            </a:br>
            <a:br>
              <a:rPr lang="en-US" dirty="0">
                <a:solidFill>
                  <a:schemeClr val="tx1"/>
                </a:solidFill>
              </a:rPr>
            </a:br>
            <a:br>
              <a:rPr lang="en-US" dirty="0">
                <a:solidFill>
                  <a:schemeClr val="tx1"/>
                </a:solidFill>
              </a:rPr>
            </a:br>
            <a:r>
              <a:rPr lang="en-US" sz="1600" b="1" dirty="0"/>
              <a:t>Next Slides</a:t>
            </a:r>
            <a:r>
              <a:rPr lang="en-US" sz="1600" dirty="0"/>
              <a:t>: DL2_Intro to CZ ID - Slides</a:t>
            </a:r>
            <a:endParaRPr sz="1600" dirty="0">
              <a:solidFill>
                <a:schemeClr val="tx1"/>
              </a:solidFill>
            </a:endParaRPr>
          </a:p>
          <a:p>
            <a:pPr marL="0" lvl="0" indent="0" algn="ctr" rtl="0">
              <a:lnSpc>
                <a:spcPct val="100000"/>
              </a:lnSpc>
              <a:spcBef>
                <a:spcPts val="0"/>
              </a:spcBef>
              <a:spcAft>
                <a:spcPts val="0"/>
              </a:spcAft>
              <a:buSzPct val="111111"/>
              <a:buNone/>
            </a:pPr>
            <a:endParaRPr dirty="0"/>
          </a:p>
          <a:p>
            <a:pPr marL="0" lvl="0" indent="0" algn="ctr" rtl="0">
              <a:lnSpc>
                <a:spcPct val="100000"/>
              </a:lnSpc>
              <a:spcBef>
                <a:spcPts val="0"/>
              </a:spcBef>
              <a:spcAft>
                <a:spcPts val="0"/>
              </a:spcAft>
              <a:buSzPct val="111111"/>
              <a:buNone/>
            </a:pPr>
            <a:endParaRPr dirty="0"/>
          </a:p>
          <a:p>
            <a:pPr marL="0" lvl="0" indent="0" algn="ctr" rtl="0">
              <a:lnSpc>
                <a:spcPct val="100000"/>
              </a:lnSpc>
              <a:spcBef>
                <a:spcPts val="0"/>
              </a:spcBef>
              <a:spcAft>
                <a:spcPts val="0"/>
              </a:spcAft>
              <a:buSzPct val="111111"/>
              <a:buNone/>
            </a:pPr>
            <a:endParaRPr dirty="0"/>
          </a:p>
        </p:txBody>
      </p:sp>
      <p:pic>
        <p:nvPicPr>
          <p:cNvPr id="1267" name="Google Shape;1267;p71"/>
          <p:cNvPicPr preferRelativeResize="0"/>
          <p:nvPr/>
        </p:nvPicPr>
        <p:blipFill rotWithShape="1">
          <a:blip r:embed="rId3">
            <a:alphaModFix/>
          </a:blip>
          <a:srcRect/>
          <a:stretch/>
        </p:blipFill>
        <p:spPr>
          <a:xfrm>
            <a:off x="1719426" y="2906840"/>
            <a:ext cx="522525" cy="522525"/>
          </a:xfrm>
          <a:prstGeom prst="rect">
            <a:avLst/>
          </a:prstGeom>
          <a:noFill/>
          <a:ln>
            <a:noFill/>
          </a:ln>
        </p:spPr>
      </p:pic>
    </p:spTree>
  </p:cSld>
  <p:clrMapOvr>
    <a:masterClrMapping/>
  </p:clrMapOvr>
</p:sld>
</file>

<file path=ppt/theme/theme1.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97</TotalTime>
  <Words>3673</Words>
  <Application>Microsoft Macintosh PowerPoint</Application>
  <PresentationFormat>On-screen Show (16:9)</PresentationFormat>
  <Paragraphs>703</Paragraphs>
  <Slides>81</Slides>
  <Notes>80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81</vt:i4>
      </vt:variant>
    </vt:vector>
  </HeadingPairs>
  <TitlesOfParts>
    <vt:vector size="91" baseType="lpstr">
      <vt:lpstr>Courier New</vt:lpstr>
      <vt:lpstr>Poppins</vt:lpstr>
      <vt:lpstr>Helvetica Neue Light</vt:lpstr>
      <vt:lpstr>Avenir</vt:lpstr>
      <vt:lpstr>Calibri</vt:lpstr>
      <vt:lpstr>Helvetica Neue</vt:lpstr>
      <vt:lpstr>Arial</vt:lpstr>
      <vt:lpstr>White</vt:lpstr>
      <vt:lpstr>Office Theme</vt:lpstr>
      <vt:lpstr>Simple Light</vt:lpstr>
      <vt:lpstr>PowerPoint Presentation</vt:lpstr>
      <vt:lpstr>Outline </vt:lpstr>
      <vt:lpstr>PowerPoint Presentation</vt:lpstr>
      <vt:lpstr>PowerPoint Presentation</vt:lpstr>
      <vt:lpstr>Sequence File Format: FASTA vs FASTQ </vt:lpstr>
      <vt:lpstr>Sequence File Format: FASTA vs FASTQ </vt:lpstr>
      <vt:lpstr>Sequence File Format: FASTA vs FASTQ </vt:lpstr>
      <vt:lpstr>PowerPoint Presentation</vt:lpstr>
      <vt:lpstr>PowerPoint Presentation</vt:lpstr>
      <vt:lpstr>PowerPoint Presentation</vt:lpstr>
      <vt:lpstr>PowerPoint Presentation</vt:lpstr>
      <vt:lpstr>PowerPoint Presentation</vt:lpstr>
      <vt:lpstr>PowerPoint Presentation</vt:lpstr>
      <vt:lpstr>Pipeline Goals</vt:lpstr>
      <vt:lpstr>Common Pipeline Steps</vt:lpstr>
      <vt:lpstr>Common Pipeline Steps</vt:lpstr>
      <vt:lpstr>Common Pipeline Steps</vt:lpstr>
      <vt:lpstr>Common mNGS Pipeline Workflow</vt:lpstr>
      <vt:lpstr>Step 1: Quality Control (QC)</vt:lpstr>
      <vt:lpstr>Step 1: Quality Control (QC)</vt:lpstr>
      <vt:lpstr>Step 1: Quality Control (QC)</vt:lpstr>
      <vt:lpstr>Step 1: QC</vt:lpstr>
      <vt:lpstr>Step 1: QC</vt:lpstr>
      <vt:lpstr>Common mNGS Pipeline Workflow</vt:lpstr>
      <vt:lpstr>Step 2: Host Filtering</vt:lpstr>
      <vt:lpstr>Step 2: Host Filtering</vt:lpstr>
      <vt:lpstr>Step 2: Host Filtering</vt:lpstr>
      <vt:lpstr>Common mNGS Pipeline Workflow</vt:lpstr>
      <vt:lpstr>Step 3: Clustering duplicates</vt:lpstr>
      <vt:lpstr>Step 3: Clustering duplicates</vt:lpstr>
      <vt:lpstr>Step 3: Clustering duplicates</vt:lpstr>
      <vt:lpstr>Common mNGS Pipeline Workflow</vt:lpstr>
      <vt:lpstr>Step 4: Taxonomic Assignment</vt:lpstr>
      <vt:lpstr>Taxonomic assignment:  k-mer based  approaches </vt:lpstr>
      <vt:lpstr>Taxonomic assignment:  k-mer based  approaches </vt:lpstr>
      <vt:lpstr>Taxonomic assignment: k-mer based</vt:lpstr>
      <vt:lpstr>Taxonomic assignment: k-mer based</vt:lpstr>
      <vt:lpstr>Taxonomic assignment: k-mer based</vt:lpstr>
      <vt:lpstr>PowerPoint Presentation</vt:lpstr>
      <vt:lpstr>PowerPoint Presentation</vt:lpstr>
      <vt:lpstr>PowerPoint Presentation</vt:lpstr>
      <vt:lpstr>PowerPoint Presentation</vt:lpstr>
      <vt:lpstr>PowerPoint Presentation</vt:lpstr>
      <vt:lpstr>Taxonomic assignment: k-mer based</vt:lpstr>
      <vt:lpstr>Taxonomic assignment: k-mer based</vt:lpstr>
      <vt:lpstr>Step 4: Taxonomic assignment</vt:lpstr>
      <vt:lpstr>Taxonomic assignment: Alignment</vt:lpstr>
      <vt:lpstr>Taxonomic assignment: Alignment</vt:lpstr>
      <vt:lpstr>Taxonomic assignment: Alignment</vt:lpstr>
      <vt:lpstr>Taxonomic assignment: Alignment</vt:lpstr>
      <vt:lpstr>Taxonomic assignment: Alignment</vt:lpstr>
      <vt:lpstr>Alignment Metrics</vt:lpstr>
      <vt:lpstr>Alignment Metrics</vt:lpstr>
      <vt:lpstr>Alignment Metrics</vt:lpstr>
      <vt:lpstr>Taxonomic assignment: Alignment</vt:lpstr>
      <vt:lpstr>Contigs</vt:lpstr>
      <vt:lpstr>Sequence Assembly</vt:lpstr>
      <vt:lpstr>Sequence Assembly</vt:lpstr>
      <vt:lpstr>Sequence Assembly</vt:lpstr>
      <vt:lpstr>Sequence Assembly</vt:lpstr>
      <vt:lpstr>Assembly</vt:lpstr>
      <vt:lpstr>Taxonomic assignment: Alignment</vt:lpstr>
      <vt:lpstr>What database(s) do we want to use?</vt:lpstr>
      <vt:lpstr>Taxonomic assignment: Alignment</vt:lpstr>
      <vt:lpstr>NCBI Databases</vt:lpstr>
      <vt:lpstr>NCBI Databases</vt:lpstr>
      <vt:lpstr>NCBI Databases</vt:lpstr>
      <vt:lpstr>NCBI reference databases</vt:lpstr>
      <vt:lpstr>Amino Acid vs Nucleotide Alignments</vt:lpstr>
      <vt:lpstr>Amino Acid vs Nucleotide Alignments</vt:lpstr>
      <vt:lpstr>Amino Acid vs Nucleotide Alignments</vt:lpstr>
      <vt:lpstr>Where would you see the following E. coli matches?</vt:lpstr>
      <vt:lpstr>Where would you see the following E. coli matches?</vt:lpstr>
      <vt:lpstr>Where would you see the following E. coli matches?</vt:lpstr>
      <vt:lpstr>Taxonomic assignment</vt:lpstr>
      <vt:lpstr>Common mNGS Pipeline Steps</vt:lpstr>
      <vt:lpstr>Basic Local Alignment Search Tool (BLAST)</vt:lpstr>
      <vt:lpstr>Basic Local Alignment Search Tool (BLAST)</vt:lpstr>
      <vt:lpstr>Basic Local Alignment Search Tool (BLAST)</vt:lpstr>
      <vt:lpstr>Basic Local Alignment Search Tool (BLAST)</vt:lpstr>
      <vt:lpstr>Let’s BLAST!  Activity: DL1_BLAST – Activity   Next Slides: DL2_Intro to CZ ID - Slides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Genay Pilarowski</cp:lastModifiedBy>
  <cp:revision>7</cp:revision>
  <dcterms:modified xsi:type="dcterms:W3CDTF">2026-09-29T17:08:28Z</dcterms:modified>
</cp:coreProperties>
</file>