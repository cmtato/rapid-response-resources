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35"/>
  </p:notesMasterIdLst>
  <p:sldIdLst>
    <p:sldId id="28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9144000" cy="5143500" type="screen16x9"/>
  <p:notesSz cx="6858000" cy="9144000"/>
  <p:embeddedFontLst>
    <p:embeddedFont>
      <p:font typeface="Avenir" panose="02000503020000020003" pitchFamily="2" charset="0"/>
      <p:regular r:id="rId36"/>
      <p:italic r:id="rId37"/>
    </p:embeddedFont>
    <p:embeddedFont>
      <p:font typeface="Poppins" pitchFamily="2" charset="77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hIym6s2vDEU4B7Efko7DAEJV/6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29FF7F-0D34-4120-A0CC-1128EB59EA35}">
  <a:tblStyle styleId="{7E29FF7F-0D34-4120-A0CC-1128EB59EA3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C9C9B7B-F9EF-4514-B8FF-6C31B2BDEDA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575"/>
  </p:normalViewPr>
  <p:slideViewPr>
    <p:cSldViewPr snapToGrid="0">
      <p:cViewPr varScale="1">
        <p:scale>
          <a:sx n="143" d="100"/>
          <a:sy n="143" d="100"/>
        </p:scale>
        <p:origin x="85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Relationship Id="rId20" Type="http://schemas.openxmlformats.org/officeDocument/2006/relationships/slide" Target="slides/slide18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/>
          </a:p>
        </p:txBody>
      </p:sp>
      <p:sp>
        <p:nvSpPr>
          <p:cNvPr id="133" name="Google Shape;1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@&lt;instrument&gt;:&lt;run number&gt;:&lt;flowcell ID&gt;:&lt;lane&gt;:&lt;tile&gt;:&lt;x-pos&gt;:&lt;y-pos&gt; &lt;read&gt;:&lt;is filtered&gt;:&lt;control number&gt;:&lt;sample number&gt;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1" name="Google Shape;26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4" name="Google Shape;2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6" name="Google Shape;57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6" name="Google Shape;6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8" name="Google Shape;78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Accessions are assigned based on contigs unless reads did not align to contigs (those taxa will be assigned based on read hits)</a:t>
            </a:r>
            <a:endParaRPr/>
          </a:p>
        </p:txBody>
      </p:sp>
      <p:sp>
        <p:nvSpPr>
          <p:cNvPr id="922" name="Google Shape;92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9" name="Google Shape;107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2" name="Google Shape;123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6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3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pic>
        <p:nvPicPr>
          <p:cNvPr id="18" name="Google Shape;18;p39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1"/>
          <p:cNvSpPr>
            <a:spLocks noGrp="1"/>
          </p:cNvSpPr>
          <p:nvPr>
            <p:ph type="pic" idx="2"/>
          </p:nvPr>
        </p:nvSpPr>
        <p:spPr>
          <a:xfrm>
            <a:off x="1172238" y="252413"/>
            <a:ext cx="6801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51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1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2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3"/>
          <p:cNvSpPr>
            <a:spLocks noGrp="1"/>
          </p:cNvSpPr>
          <p:nvPr>
            <p:ph type="pic" idx="2"/>
          </p:nvPr>
        </p:nvSpPr>
        <p:spPr>
          <a:xfrm>
            <a:off x="4937242" y="357188"/>
            <a:ext cx="35718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53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3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4"/>
          <p:cNvSpPr>
            <a:spLocks noGrp="1"/>
          </p:cNvSpPr>
          <p:nvPr>
            <p:ph type="pic" idx="2"/>
          </p:nvPr>
        </p:nvSpPr>
        <p:spPr>
          <a:xfrm>
            <a:off x="4938713" y="1181100"/>
            <a:ext cx="3571800" cy="34860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54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4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7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5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6"/>
          <p:cNvSpPr>
            <a:spLocks noGrp="1"/>
          </p:cNvSpPr>
          <p:nvPr>
            <p:ph type="pic" idx="2"/>
          </p:nvPr>
        </p:nvSpPr>
        <p:spPr>
          <a:xfrm>
            <a:off x="5910263" y="2643188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56"/>
          <p:cNvSpPr>
            <a:spLocks noGrp="1"/>
          </p:cNvSpPr>
          <p:nvPr>
            <p:ph type="pic" idx="3"/>
          </p:nvPr>
        </p:nvSpPr>
        <p:spPr>
          <a:xfrm>
            <a:off x="5910263" y="423863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56"/>
          <p:cNvSpPr>
            <a:spLocks noGrp="1"/>
          </p:cNvSpPr>
          <p:nvPr>
            <p:ph type="pic" idx="4"/>
          </p:nvPr>
        </p:nvSpPr>
        <p:spPr>
          <a:xfrm>
            <a:off x="452438" y="423863"/>
            <a:ext cx="53151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5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7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1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8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5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9334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4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4" name="Google Shape;94;p4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4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4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47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8" name="Google Shape;108;p47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9" name="Google Shape;109;p4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8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48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6" name="Google Shape;116;p4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49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4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0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50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5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5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5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3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3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nzuckerberg/czid-web" TargetMode="External"/><Relationship Id="rId7" Type="http://schemas.openxmlformats.org/officeDocument/2006/relationships/hyperlink" Target="https://czid.org/samples/517076/pipeline_viz/8.3?0=true&amp;1=true&amp;2=true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chanzuckerberg/czid-bench" TargetMode="External"/><Relationship Id="rId5" Type="http://schemas.openxmlformats.org/officeDocument/2006/relationships/hyperlink" Target="https://github.com/chanzuckerberg/czid-cli" TargetMode="External"/><Relationship Id="rId4" Type="http://schemas.openxmlformats.org/officeDocument/2006/relationships/hyperlink" Target="https://github.com/chanzuckerberg/czid-workflows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" name="Google Shape;135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36" name="Google Shape;136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Bioinformatic Basics and mNGS Pipeline Information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8" name="Google Shape;13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F039F3-EC76-90C0-15AC-04E96EEBADE4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3300"/>
              <a:t>Outline </a:t>
            </a:r>
            <a:endParaRPr sz="3300"/>
          </a:p>
        </p:txBody>
      </p:sp>
      <p:sp>
        <p:nvSpPr>
          <p:cNvPr id="145" name="Google Shape;145;p2"/>
          <p:cNvSpPr txBox="1">
            <a:spLocks noGrp="1"/>
          </p:cNvSpPr>
          <p:nvPr>
            <p:ph type="body" idx="1"/>
          </p:nvPr>
        </p:nvSpPr>
        <p:spPr>
          <a:xfrm>
            <a:off x="633425" y="1181100"/>
            <a:ext cx="7877100" cy="35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Review NGS workflow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 Light"/>
              <a:buChar char="○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Whole genome sequencing (WGS) vs metagenomic NGS (mNGS)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 Light"/>
              <a:buChar char="●"/>
            </a:pP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Pipeline basics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 Light"/>
              <a:buChar char="●"/>
            </a:pP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Walk through CZ ID mNGS pipeline steps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/>
        </p:nvSpPr>
        <p:spPr>
          <a:xfrm>
            <a:off x="645325" y="1174450"/>
            <a:ext cx="1179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Sample Collection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2058256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DNA or RNA Extraction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3894413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Library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Preparation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5607869" y="125630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Sequencing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7321325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Bioinformatic Analysis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55" name="Google Shape;15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3870" y="1780249"/>
            <a:ext cx="1279380" cy="1108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"/>
          <p:cNvPicPr preferRelativeResize="0"/>
          <p:nvPr/>
        </p:nvPicPr>
        <p:blipFill rotWithShape="1">
          <a:blip r:embed="rId4">
            <a:alphaModFix/>
          </a:blip>
          <a:srcRect l="5735" t="50307" r="53875" b="6687"/>
          <a:stretch/>
        </p:blipFill>
        <p:spPr>
          <a:xfrm>
            <a:off x="2227675" y="1769425"/>
            <a:ext cx="1373281" cy="1023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" name="Google Shape;157;p3"/>
          <p:cNvGrpSpPr/>
          <p:nvPr/>
        </p:nvGrpSpPr>
        <p:grpSpPr>
          <a:xfrm>
            <a:off x="4115988" y="2128889"/>
            <a:ext cx="1268962" cy="492861"/>
            <a:chOff x="3963588" y="2128889"/>
            <a:chExt cx="1268962" cy="492861"/>
          </a:xfrm>
        </p:grpSpPr>
        <p:sp>
          <p:nvSpPr>
            <p:cNvPr id="158" name="Google Shape;158;p3"/>
            <p:cNvSpPr/>
            <p:nvPr/>
          </p:nvSpPr>
          <p:spPr>
            <a:xfrm>
              <a:off x="4316650" y="255515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4458129" y="255515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4536088" y="255513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3963588" y="243370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4105066" y="243370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4183025" y="243368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4299338" y="2342025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4440816" y="2342025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4518775" y="2342014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3963588" y="225035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4105066" y="225035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4183025" y="225033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4206463" y="212890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4347941" y="212890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4425900" y="212888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cxnSp>
        <p:nvCxnSpPr>
          <p:cNvPr id="173" name="Google Shape;173;p3"/>
          <p:cNvCxnSpPr/>
          <p:nvPr/>
        </p:nvCxnSpPr>
        <p:spPr>
          <a:xfrm>
            <a:off x="1791378" y="2375350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3"/>
          <p:cNvCxnSpPr/>
          <p:nvPr/>
        </p:nvCxnSpPr>
        <p:spPr>
          <a:xfrm>
            <a:off x="3651928" y="2375350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3"/>
          <p:cNvCxnSpPr/>
          <p:nvPr/>
        </p:nvCxnSpPr>
        <p:spPr>
          <a:xfrm>
            <a:off x="5535928" y="2375350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6" name="Google Shape;176;p3"/>
          <p:cNvSpPr txBox="1"/>
          <p:nvPr/>
        </p:nvSpPr>
        <p:spPr>
          <a:xfrm>
            <a:off x="-68850" y="2196200"/>
            <a:ext cx="705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WGS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7112675" y="1998025"/>
            <a:ext cx="19770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Char char="●"/>
            </a:pPr>
            <a:r>
              <a:rPr lang="en" sz="12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Genome Assembly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Variant Analysis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504675" y="274951"/>
            <a:ext cx="81345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WGS vs mNGS Workflow Overview</a:t>
            </a:r>
            <a:endParaRPr sz="11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79" name="Google Shape;179;p3"/>
          <p:cNvGrpSpPr/>
          <p:nvPr/>
        </p:nvGrpSpPr>
        <p:grpSpPr>
          <a:xfrm rot="869516">
            <a:off x="600761" y="2129000"/>
            <a:ext cx="1091249" cy="558639"/>
            <a:chOff x="617839" y="2888500"/>
            <a:chExt cx="1268950" cy="596389"/>
          </a:xfrm>
        </p:grpSpPr>
        <p:pic>
          <p:nvPicPr>
            <p:cNvPr id="180" name="Google Shape;180;p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7839" y="2888500"/>
              <a:ext cx="1268950" cy="596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3"/>
            <p:cNvSpPr/>
            <p:nvPr/>
          </p:nvSpPr>
          <p:spPr>
            <a:xfrm>
              <a:off x="913050" y="3094225"/>
              <a:ext cx="172500" cy="94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 rot="10800000" flipH="1">
              <a:off x="1217625" y="3040215"/>
              <a:ext cx="162300" cy="894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1108250" y="3205825"/>
              <a:ext cx="141900" cy="780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 rot="10800000" flipH="1">
              <a:off x="1360125" y="3216929"/>
              <a:ext cx="182400" cy="100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1522200" y="3094225"/>
              <a:ext cx="182400" cy="100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782300" y="3205825"/>
              <a:ext cx="152100" cy="8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 txBox="1"/>
          <p:nvPr/>
        </p:nvSpPr>
        <p:spPr>
          <a:xfrm>
            <a:off x="645325" y="1174450"/>
            <a:ext cx="1179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Sample Collection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2058256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DNA or RNA Extraction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3894413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Library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Preparation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5607869" y="125630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Sequencing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7321325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Bioinformatic Analysis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96" name="Google Shape;19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3870" y="1780249"/>
            <a:ext cx="1279380" cy="1108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"/>
          <p:cNvPicPr preferRelativeResize="0"/>
          <p:nvPr/>
        </p:nvPicPr>
        <p:blipFill rotWithShape="1">
          <a:blip r:embed="rId4">
            <a:alphaModFix/>
          </a:blip>
          <a:srcRect l="5735" t="50307" r="53875" b="6687"/>
          <a:stretch/>
        </p:blipFill>
        <p:spPr>
          <a:xfrm>
            <a:off x="2227675" y="1769425"/>
            <a:ext cx="1373281" cy="1023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4"/>
          <p:cNvGrpSpPr/>
          <p:nvPr/>
        </p:nvGrpSpPr>
        <p:grpSpPr>
          <a:xfrm>
            <a:off x="4115988" y="2128889"/>
            <a:ext cx="1268962" cy="492861"/>
            <a:chOff x="3963588" y="2128889"/>
            <a:chExt cx="1268962" cy="492861"/>
          </a:xfrm>
        </p:grpSpPr>
        <p:sp>
          <p:nvSpPr>
            <p:cNvPr id="199" name="Google Shape;199;p4"/>
            <p:cNvSpPr/>
            <p:nvPr/>
          </p:nvSpPr>
          <p:spPr>
            <a:xfrm>
              <a:off x="4316650" y="255515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4458129" y="255515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4536088" y="255513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3963588" y="243370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4105066" y="243370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4183025" y="243368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4299338" y="2342025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4440816" y="2342025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4518775" y="2342014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3963588" y="225035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4105066" y="225035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4183025" y="225033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4206463" y="212890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4347941" y="212890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4425900" y="212888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cxnSp>
        <p:nvCxnSpPr>
          <p:cNvPr id="214" name="Google Shape;214;p4"/>
          <p:cNvCxnSpPr/>
          <p:nvPr/>
        </p:nvCxnSpPr>
        <p:spPr>
          <a:xfrm>
            <a:off x="1791378" y="2375350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5" name="Google Shape;215;p4"/>
          <p:cNvCxnSpPr/>
          <p:nvPr/>
        </p:nvCxnSpPr>
        <p:spPr>
          <a:xfrm>
            <a:off x="3651928" y="2375350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6" name="Google Shape;216;p4"/>
          <p:cNvCxnSpPr/>
          <p:nvPr/>
        </p:nvCxnSpPr>
        <p:spPr>
          <a:xfrm>
            <a:off x="5535928" y="2375350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7" name="Google Shape;217;p4"/>
          <p:cNvSpPr txBox="1"/>
          <p:nvPr/>
        </p:nvSpPr>
        <p:spPr>
          <a:xfrm>
            <a:off x="-68850" y="2196200"/>
            <a:ext cx="705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WGS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7112675" y="1998025"/>
            <a:ext cx="19770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Char char="●"/>
            </a:pPr>
            <a:r>
              <a:rPr lang="en" sz="12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Genome Assembly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Variant Analysis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9" name="Google Shape;219;p4"/>
          <p:cNvSpPr txBox="1"/>
          <p:nvPr/>
        </p:nvSpPr>
        <p:spPr>
          <a:xfrm>
            <a:off x="504675" y="274951"/>
            <a:ext cx="81345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WGS vs mNGS Workflow Overview</a:t>
            </a:r>
            <a:endParaRPr sz="11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20" name="Google Shape;220;p4"/>
          <p:cNvGrpSpPr/>
          <p:nvPr/>
        </p:nvGrpSpPr>
        <p:grpSpPr>
          <a:xfrm rot="869516">
            <a:off x="600761" y="2129000"/>
            <a:ext cx="1091249" cy="558639"/>
            <a:chOff x="617839" y="2888500"/>
            <a:chExt cx="1268950" cy="596389"/>
          </a:xfrm>
        </p:grpSpPr>
        <p:pic>
          <p:nvPicPr>
            <p:cNvPr id="221" name="Google Shape;221;p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7839" y="2888500"/>
              <a:ext cx="1268950" cy="596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4"/>
            <p:cNvSpPr/>
            <p:nvPr/>
          </p:nvSpPr>
          <p:spPr>
            <a:xfrm>
              <a:off x="913050" y="3094225"/>
              <a:ext cx="172500" cy="94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"/>
            <p:cNvSpPr/>
            <p:nvPr/>
          </p:nvSpPr>
          <p:spPr>
            <a:xfrm rot="10800000" flipH="1">
              <a:off x="1217625" y="3040215"/>
              <a:ext cx="162300" cy="894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1108250" y="3205825"/>
              <a:ext cx="141900" cy="780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"/>
            <p:cNvSpPr/>
            <p:nvPr/>
          </p:nvSpPr>
          <p:spPr>
            <a:xfrm rot="10800000" flipH="1">
              <a:off x="1360125" y="3216929"/>
              <a:ext cx="182400" cy="100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1522200" y="3094225"/>
              <a:ext cx="182400" cy="100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"/>
            <p:cNvSpPr/>
            <p:nvPr/>
          </p:nvSpPr>
          <p:spPr>
            <a:xfrm>
              <a:off x="782300" y="3205825"/>
              <a:ext cx="152100" cy="8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8" name="Google Shape;22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24225" y="3364229"/>
            <a:ext cx="1279381" cy="1279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"/>
          <p:cNvPicPr preferRelativeResize="0"/>
          <p:nvPr/>
        </p:nvPicPr>
        <p:blipFill rotWithShape="1">
          <a:blip r:embed="rId4">
            <a:alphaModFix/>
          </a:blip>
          <a:srcRect l="6072" t="3306" r="55419" b="53687"/>
          <a:stretch/>
        </p:blipFill>
        <p:spPr>
          <a:xfrm>
            <a:off x="2274119" y="3361562"/>
            <a:ext cx="1373281" cy="107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"/>
          <p:cNvPicPr preferRelativeResize="0"/>
          <p:nvPr/>
        </p:nvPicPr>
        <p:blipFill rotWithShape="1">
          <a:blip r:embed="rId7">
            <a:alphaModFix/>
          </a:blip>
          <a:srcRect l="50763" t="7839" r="7590" b="41157"/>
          <a:stretch/>
        </p:blipFill>
        <p:spPr>
          <a:xfrm rot="4379005">
            <a:off x="841945" y="3632265"/>
            <a:ext cx="931084" cy="7982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4"/>
          <p:cNvGrpSpPr/>
          <p:nvPr/>
        </p:nvGrpSpPr>
        <p:grpSpPr>
          <a:xfrm>
            <a:off x="4115988" y="3758189"/>
            <a:ext cx="1268962" cy="492861"/>
            <a:chOff x="3963588" y="3758189"/>
            <a:chExt cx="1268962" cy="492861"/>
          </a:xfrm>
        </p:grpSpPr>
        <p:sp>
          <p:nvSpPr>
            <p:cNvPr id="232" name="Google Shape;232;p4"/>
            <p:cNvSpPr/>
            <p:nvPr/>
          </p:nvSpPr>
          <p:spPr>
            <a:xfrm>
              <a:off x="4316650" y="418445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4458129" y="418445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4536088" y="4184439"/>
              <a:ext cx="477000" cy="66600"/>
            </a:xfrm>
            <a:prstGeom prst="rect">
              <a:avLst/>
            </a:prstGeom>
            <a:solidFill>
              <a:srgbClr val="EB220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3963588" y="406300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4105066" y="406300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4183025" y="4062989"/>
              <a:ext cx="477000" cy="66600"/>
            </a:xfrm>
            <a:prstGeom prst="rect">
              <a:avLst/>
            </a:prstGeom>
            <a:solidFill>
              <a:srgbClr val="1DAD0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4299338" y="3971325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4440816" y="3971325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4518775" y="3971314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3963588" y="387965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4105066" y="387965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4183025" y="3879639"/>
              <a:ext cx="477000" cy="66600"/>
            </a:xfrm>
            <a:prstGeom prst="rect">
              <a:avLst/>
            </a:prstGeom>
            <a:solidFill>
              <a:srgbClr val="EB220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4206463" y="375820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4347941" y="375820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4425900" y="3758189"/>
              <a:ext cx="477000" cy="66600"/>
            </a:xfrm>
            <a:prstGeom prst="rect">
              <a:avLst/>
            </a:prstGeom>
            <a:solidFill>
              <a:srgbClr val="00A2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cxnSp>
        <p:nvCxnSpPr>
          <p:cNvPr id="247" name="Google Shape;247;p4"/>
          <p:cNvCxnSpPr/>
          <p:nvPr/>
        </p:nvCxnSpPr>
        <p:spPr>
          <a:xfrm>
            <a:off x="1791378" y="4004625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8" name="Google Shape;248;p4"/>
          <p:cNvCxnSpPr/>
          <p:nvPr/>
        </p:nvCxnSpPr>
        <p:spPr>
          <a:xfrm>
            <a:off x="3651928" y="4004625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9" name="Google Shape;249;p4"/>
          <p:cNvCxnSpPr/>
          <p:nvPr/>
        </p:nvCxnSpPr>
        <p:spPr>
          <a:xfrm>
            <a:off x="5535928" y="4004625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0" name="Google Shape;250;p4"/>
          <p:cNvSpPr txBox="1"/>
          <p:nvPr/>
        </p:nvSpPr>
        <p:spPr>
          <a:xfrm>
            <a:off x="7350" y="3817125"/>
            <a:ext cx="7824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mNGS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1" name="Google Shape;251;p4"/>
          <p:cNvSpPr txBox="1"/>
          <p:nvPr/>
        </p:nvSpPr>
        <p:spPr>
          <a:xfrm>
            <a:off x="7112675" y="3688425"/>
            <a:ext cx="1977000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Taxonomic Identification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Microbiome analysis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Discovery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990600"/>
            <a:ext cx="8839199" cy="365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"/>
          <p:cNvSpPr txBox="1"/>
          <p:nvPr/>
        </p:nvSpPr>
        <p:spPr>
          <a:xfrm>
            <a:off x="504666" y="274954"/>
            <a:ext cx="81345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sequencing reads: FASTQ format </a:t>
            </a:r>
            <a:endParaRPr sz="11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"/>
          <p:cNvSpPr txBox="1"/>
          <p:nvPr/>
        </p:nvSpPr>
        <p:spPr>
          <a:xfrm>
            <a:off x="504666" y="274954"/>
            <a:ext cx="81345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FASTQ format </a:t>
            </a:r>
            <a:endParaRPr sz="11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64" name="Google Shape;264;p6"/>
          <p:cNvGraphicFramePr/>
          <p:nvPr/>
        </p:nvGraphicFramePr>
        <p:xfrm>
          <a:off x="5150479" y="2777537"/>
          <a:ext cx="3481875" cy="1500675"/>
        </p:xfrm>
        <a:graphic>
          <a:graphicData uri="http://schemas.openxmlformats.org/drawingml/2006/table">
            <a:tbl>
              <a:tblPr>
                <a:noFill/>
                <a:tableStyleId>{7E29FF7F-0D34-4120-A0CC-1128EB59EA35}</a:tableStyleId>
              </a:tblPr>
              <a:tblGrid>
                <a:gridCol w="99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5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Quality 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Score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Probability of Incorrect 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Base Call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Inferred Base Call Accuracy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10 (Q10)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 in 10 = 10%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90%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20 (Q20)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 in 100 = 1%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99%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30 (Q30)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 in 1000 = 0.1%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99.9%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5" name="Google Shape;265;p6"/>
          <p:cNvSpPr/>
          <p:nvPr/>
        </p:nvSpPr>
        <p:spPr>
          <a:xfrm>
            <a:off x="5155325" y="4338400"/>
            <a:ext cx="1467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Q = -10log</a:t>
            </a:r>
            <a:r>
              <a:rPr lang="en" sz="1400" b="0" i="0" u="none" strike="noStrike" cap="none" baseline="-25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10</a:t>
            </a: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(e)</a:t>
            </a:r>
            <a:endParaRPr sz="11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279950" y="2906500"/>
            <a:ext cx="4744500" cy="16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 sequence identifier with information about the run.</a:t>
            </a:r>
            <a:endParaRPr sz="14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The base calls: A, C, T, G and N.</a:t>
            </a:r>
            <a:endParaRPr sz="14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 separator, which is simply a plus (+) sign.</a:t>
            </a:r>
            <a:endParaRPr sz="14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The base call quality scores (coded in ASCII format)</a:t>
            </a:r>
            <a:endParaRPr sz="14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357975" y="1440000"/>
            <a:ext cx="8281200" cy="10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@NB501961:14:HM7TLBGX2:1:11102:3233:17234 1:N:0:GATCACCA+GATCACCA</a:t>
            </a:r>
            <a:endParaRPr sz="14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DC061"/>
                </a:solidFill>
                <a:latin typeface="Courier New"/>
                <a:ea typeface="Courier New"/>
                <a:cs typeface="Courier New"/>
                <a:sym typeface="Courier New"/>
              </a:rPr>
              <a:t>CATTCGGCTGGGTTTCGTCACCCTGCGGGAAGATGCGGGTCCAGGCGATAGAGGTGCGGAAGCATTTGAAGCCCA</a:t>
            </a:r>
            <a:endParaRPr sz="1400" b="0" i="0" u="none" strike="noStrike" cap="none">
              <a:solidFill>
                <a:srgbClr val="9DC06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sz="14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AAAAAEEEEEEEEEE/EEEEEEEEEEEEEEEEEEEEEE&lt;EEEEEEEEE//EAEEEEEEAA/EEE/EEAAEEE&lt;6/</a:t>
            </a:r>
            <a:endParaRPr sz="14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381825" y="1108200"/>
            <a:ext cx="22467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Example Read1.fastq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"/>
          <p:cNvSpPr txBox="1">
            <a:spLocks noGrp="1"/>
          </p:cNvSpPr>
          <p:nvPr>
            <p:ph type="body" idx="1"/>
          </p:nvPr>
        </p:nvSpPr>
        <p:spPr>
          <a:xfrm>
            <a:off x="871050" y="1604950"/>
            <a:ext cx="7401900" cy="28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@NB501961:14:HM7TLBGX2:1:11102:3233:17234 1:N:0:GATCACCA+GATCACCA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DC061"/>
                </a:solidFill>
                <a:latin typeface="Avenir"/>
                <a:ea typeface="Avenir"/>
                <a:cs typeface="Avenir"/>
                <a:sym typeface="Avenir"/>
              </a:rPr>
              <a:t>CATTCGGCTGGGTTTCGTCACCCTGCGGGAAGATGCGGGTCCAGGCGATAGAGGTGCGGAAGCATTTGAAGCCCATCTCGGCGATCAGTTTGATGTCTTCTTTGTAGCGACCGTAGAAGTCGACGGCTTCGTGGTTCGGGTAGTATTTTN</a:t>
            </a:r>
            <a:endParaRPr sz="1000">
              <a:solidFill>
                <a:srgbClr val="9DC06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+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AAAAAEEEEEEEEEE/EEEEEEEEEEEEEEEEEEEEEE&lt;EEEEEEEEE//EAEEEEEEAA/EEE/EEAAEEE&lt;6/&lt;AEE&lt;E&lt;A//EEEEEAEE&lt;EA/&lt;AA//EAAEAAE&lt;E/EAEE///E&lt;A/&lt;AA//A&lt;A&lt;&lt;A6&lt;A//AA/E////6A#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@NB501961:14:HM7TLBGX2:1:11103:13923:13163 1:N:0:GATCACCA+GATCACCA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DC061"/>
                </a:solidFill>
                <a:latin typeface="Avenir"/>
                <a:ea typeface="Avenir"/>
                <a:cs typeface="Avenir"/>
                <a:sym typeface="Avenir"/>
              </a:rPr>
              <a:t>GAACTGGAGCTTTAGCCCGGTGATCCTGTGCCTCATTTGTATGGCTACCGCCATGGTGATGTACCTGCCATTTCTCAAAGCTTACGAAAAACAGCTGCTGGCCCAGGAGCGTGAAAACGCCGTCGGCCAGGCTGACAACGCGGCGCAGAN</a:t>
            </a:r>
            <a:endParaRPr sz="1000">
              <a:solidFill>
                <a:srgbClr val="9DC06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+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AAAAAEEEEEEEEEEEEAEEEEEEEEEEEEEAEEEEEEEEEEEEEEEEEEE/EEEEEEAAAEAEAEEAEEAEEEEEEEEEEEEEEEAAEEEEEEEEEEEEEEA&lt;EEEEEEEAE&lt;AEAEEAA&lt;AAEEAEEEAE/6/A/EEEE/EEE&lt;AE/#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@NB501961:14:HM7TLBGX2:1:11104:15318:11334 1:N:0:GATCACCA+GATCACCA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DC061"/>
                </a:solidFill>
                <a:latin typeface="Avenir"/>
                <a:ea typeface="Avenir"/>
                <a:cs typeface="Avenir"/>
                <a:sym typeface="Avenir"/>
              </a:rPr>
              <a:t>GATAGTGCTGTTCGCGAGCGATCGCCAGTACGCGCTCGCGCGTCTCCTGCGCCACGCGCAGCTCTTTACCACGACCGTTGAGTACCAGGCTGGCGGTCGCTTTGGAGACGCCCGCCAGTTCGGCGATATCTTTGATAGTTACGCGTTTGG</a:t>
            </a:r>
            <a:endParaRPr sz="1000">
              <a:solidFill>
                <a:srgbClr val="9DC06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+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AAAAAEEEEEEEAEEEAEEEEEEEEEEEEEEEEEEEEEEEEEEEEEEEEEEEEEEEEEEAEEAEE&lt;EAEE/EE/EEE&lt;AEEEE/EEEEEEEEEEEE/EEE//AEE&lt;E/EEEEAEEA/E&lt;&lt;AEEEE/&lt;66A///&lt;&lt;/AA&lt;//6AE&lt;&lt;6/&lt;6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4" name="Google Shape;274;p7"/>
          <p:cNvSpPr txBox="1">
            <a:spLocks noGrp="1"/>
          </p:cNvSpPr>
          <p:nvPr>
            <p:ph type="body" idx="1"/>
          </p:nvPr>
        </p:nvSpPr>
        <p:spPr>
          <a:xfrm>
            <a:off x="867650" y="581475"/>
            <a:ext cx="7239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 many reads are listed here?</a:t>
            </a:r>
            <a:endParaRPr/>
          </a:p>
        </p:txBody>
      </p:sp>
      <p:sp>
        <p:nvSpPr>
          <p:cNvPr id="275" name="Google Shape;275;p7"/>
          <p:cNvSpPr txBox="1">
            <a:spLocks noGrp="1"/>
          </p:cNvSpPr>
          <p:nvPr>
            <p:ph type="body" idx="1"/>
          </p:nvPr>
        </p:nvSpPr>
        <p:spPr>
          <a:xfrm>
            <a:off x="867650" y="1223975"/>
            <a:ext cx="71922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400">
                <a:latin typeface="Helvetica Neue Light"/>
                <a:ea typeface="Helvetica Neue Light"/>
                <a:cs typeface="Helvetica Neue Light"/>
                <a:sym typeface="Helvetica Neue Light"/>
              </a:rPr>
              <a:t>File: Sample_R1.fastq</a:t>
            </a:r>
            <a:endParaRPr sz="14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 txBox="1">
            <a:spLocks noGrp="1"/>
          </p:cNvSpPr>
          <p:nvPr>
            <p:ph type="body" idx="1"/>
          </p:nvPr>
        </p:nvSpPr>
        <p:spPr>
          <a:xfrm>
            <a:off x="871050" y="1604950"/>
            <a:ext cx="7401900" cy="28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@NB501961:14:HM7TLBGX2:1:11102:3233:17234 1:N:0:GATCACCA+GATCACCA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DC061"/>
                </a:solidFill>
                <a:latin typeface="Avenir"/>
                <a:ea typeface="Avenir"/>
                <a:cs typeface="Avenir"/>
                <a:sym typeface="Avenir"/>
              </a:rPr>
              <a:t>CATTCGGCTGGGTTTCGTCACCCTGCGGGAAGATGCGGGTCCAGGCGATAGAGGTGCGGAAGCATTTGAAGCCCATCTCGGCGATCAGTTTGATGTCTTCTTTGTAGCGACCGTAGAAGTCGACGGCTTCGTGGTTCGGGTAGTATTTTN</a:t>
            </a:r>
            <a:endParaRPr sz="1000">
              <a:solidFill>
                <a:srgbClr val="9DC06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+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AAAAAEEEEEEEEEE/EEEEEEEEEEEEEEEEEEEEEE&lt;EEEEEEEEE//EAEEEEEEAA/EEE/EEAAEEE&lt;6/&lt;AEE&lt;E&lt;A//EEEEEAEE&lt;EA/&lt;AA//EAAEAAE&lt;E/EAEE///E&lt;A/&lt;AA//A&lt;A&lt;&lt;A6&lt;A//AA/E////6A#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@NB501961:14:HM7TLBGX2:1:11103:13923:13163 1:N:0:GATCACCA+GATCACCA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DC061"/>
                </a:solidFill>
                <a:latin typeface="Avenir"/>
                <a:ea typeface="Avenir"/>
                <a:cs typeface="Avenir"/>
                <a:sym typeface="Avenir"/>
              </a:rPr>
              <a:t>GAACTGGAGCTTTAGCCCGGTGATCCTGTGCCTCATTTGTATGGCTACCGCCATGGTGATGTACCTGCCATTTCTCAAAGCTTACGAAAAACAGCTGCTGGCCCAGGAGCGTGAAAACGCCGTCGGCCAGGCTGACAACGCGGCGCAGAN</a:t>
            </a:r>
            <a:endParaRPr sz="1000">
              <a:solidFill>
                <a:srgbClr val="9DC06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+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AAAAAEEEEEEEEEEEEAEEEEEEEEEEEEEAEEEEEEEEEEEEEEEEEEE/EEEEEEAAAEAEAEEAEEAEEEEEEEEEEEEEEEAAEEEEEEEEEEEEEEA&lt;EEEEEEEAE&lt;AEAEEAA&lt;AAEEAEEEAE/6/A/EEEE/EEE&lt;AE/#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@NB501961:14:HM7TLBGX2:1:11104:15318:11334 1:N:0:GATCACCA+GATCACCA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DC061"/>
                </a:solidFill>
                <a:latin typeface="Avenir"/>
                <a:ea typeface="Avenir"/>
                <a:cs typeface="Avenir"/>
                <a:sym typeface="Avenir"/>
              </a:rPr>
              <a:t>GATAGTGCTGTTCGCGAGCGATCGCCAGTACGCGCTCGCGCGTCTCCTGCGCCACGCGCAGCTCTTTACCACGACCGTTGAGTACCAGGCTGGCGGTCGCTTTGGAGACGCCCGCCAGTTCGGCGATATCTTTGATAGTTACGCGTTTGG</a:t>
            </a:r>
            <a:endParaRPr sz="1000">
              <a:solidFill>
                <a:srgbClr val="9DC06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+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AAAAAEEEEEEEAEEEAEEEEEEEEEEEEEEEEEEEEEEEEEEEEEEEEEEEEEEEEEEAEEAEE&lt;EAEE/EE/EEE&lt;AEEEE/EEEEEEEEEEEE/EEE//AEE&lt;E/EEEEAEEA/E&lt;&lt;AEEEE/&lt;66A///&lt;&lt;/AA&lt;//6AE&lt;&lt;6/&lt;6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82" name="Google Shape;282;p8"/>
          <p:cNvSpPr txBox="1">
            <a:spLocks noGrp="1"/>
          </p:cNvSpPr>
          <p:nvPr>
            <p:ph type="body" idx="1"/>
          </p:nvPr>
        </p:nvSpPr>
        <p:spPr>
          <a:xfrm>
            <a:off x="867650" y="581475"/>
            <a:ext cx="7239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How do we get from here...</a:t>
            </a:r>
            <a:endParaRPr/>
          </a:p>
        </p:txBody>
      </p:sp>
      <p:sp>
        <p:nvSpPr>
          <p:cNvPr id="283" name="Google Shape;283;p8"/>
          <p:cNvSpPr txBox="1">
            <a:spLocks noGrp="1"/>
          </p:cNvSpPr>
          <p:nvPr>
            <p:ph type="body" idx="1"/>
          </p:nvPr>
        </p:nvSpPr>
        <p:spPr>
          <a:xfrm>
            <a:off x="867650" y="1223975"/>
            <a:ext cx="71922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400">
                <a:latin typeface="Helvetica Neue Light"/>
                <a:ea typeface="Helvetica Neue Light"/>
                <a:cs typeface="Helvetica Neue Light"/>
                <a:sym typeface="Helvetica Neue Light"/>
              </a:rPr>
              <a:t>sample_R1.fastq</a:t>
            </a:r>
            <a:endParaRPr sz="14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"/>
          <p:cNvSpPr txBox="1">
            <a:spLocks noGrp="1"/>
          </p:cNvSpPr>
          <p:nvPr>
            <p:ph type="body" idx="1"/>
          </p:nvPr>
        </p:nvSpPr>
        <p:spPr>
          <a:xfrm>
            <a:off x="867650" y="581475"/>
            <a:ext cx="7239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...to here?</a:t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9"/>
          <p:cNvPicPr preferRelativeResize="0"/>
          <p:nvPr/>
        </p:nvPicPr>
        <p:blipFill rotWithShape="1">
          <a:blip r:embed="rId3">
            <a:alphaModFix/>
          </a:blip>
          <a:srcRect t="1758"/>
          <a:stretch/>
        </p:blipFill>
        <p:spPr>
          <a:xfrm>
            <a:off x="152400" y="1176675"/>
            <a:ext cx="8839199" cy="3443051"/>
          </a:xfrm>
          <a:prstGeom prst="rect">
            <a:avLst/>
          </a:prstGeom>
          <a:noFill/>
          <a:ln w="9525" cap="flat" cmpd="sng">
            <a:solidFill>
              <a:srgbClr val="5E5E5E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6" name="Google Shape;296;p10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97" name="Google Shape;297;p10"/>
          <p:cNvSpPr txBox="1"/>
          <p:nvPr/>
        </p:nvSpPr>
        <p:spPr>
          <a:xfrm>
            <a:off x="481094" y="2632796"/>
            <a:ext cx="43593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23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Pipeline Overview</a:t>
            </a:r>
            <a:endParaRPr sz="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98" name="Google Shape;29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0" y="1437825"/>
            <a:ext cx="2838450" cy="92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801875" y="1470975"/>
            <a:ext cx="438300" cy="29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476250" y="3400825"/>
            <a:ext cx="84450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1500"/>
              <a:buFont typeface="Avenir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Pipeline Goal</a:t>
            </a:r>
            <a:endParaRPr sz="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Assign quality filtered reads to taxa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by mapping or aligning against reference databases</a:t>
            </a:r>
            <a:endParaRPr sz="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Assemble contigs and map reads to contigs to increase support for identified taxa (assembly-based alignment)</a:t>
            </a:r>
            <a:endParaRPr sz="1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332" name="Google Shape;332;p11"/>
          <p:cNvPicPr preferRelativeResize="0"/>
          <p:nvPr/>
        </p:nvPicPr>
        <p:blipFill rotWithShape="1">
          <a:blip r:embed="rId3">
            <a:alphaModFix/>
          </a:blip>
          <a:srcRect t="1758"/>
          <a:stretch/>
        </p:blipFill>
        <p:spPr>
          <a:xfrm>
            <a:off x="2126075" y="204350"/>
            <a:ext cx="6881326" cy="2680422"/>
          </a:xfrm>
          <a:prstGeom prst="rect">
            <a:avLst/>
          </a:prstGeom>
          <a:noFill/>
          <a:ln w="9525" cap="flat" cmpd="sng">
            <a:solidFill>
              <a:srgbClr val="5E5E5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3" name="Google Shape;333;p11"/>
          <p:cNvSpPr/>
          <p:nvPr/>
        </p:nvSpPr>
        <p:spPr>
          <a:xfrm>
            <a:off x="1224963" y="1470975"/>
            <a:ext cx="438300" cy="29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1663275" y="1470975"/>
            <a:ext cx="438300" cy="29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Pipeline Basics</a:t>
            </a:r>
            <a:endParaRPr/>
          </a:p>
        </p:txBody>
      </p:sp>
      <p:sp>
        <p:nvSpPr>
          <p:cNvPr id="340" name="Google Shape;340;p12"/>
          <p:cNvSpPr txBox="1">
            <a:spLocks noGrp="1"/>
          </p:cNvSpPr>
          <p:nvPr>
            <p:ph type="body" idx="1"/>
          </p:nvPr>
        </p:nvSpPr>
        <p:spPr>
          <a:xfrm>
            <a:off x="458925" y="1117100"/>
            <a:ext cx="7877100" cy="3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873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Assembly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 alignment against reference database(s)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Reference database(s)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Sequence assembly into contigs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6" name="Google Shape;346;p13"/>
          <p:cNvSpPr txBox="1">
            <a:spLocks noGrp="1"/>
          </p:cNvSpPr>
          <p:nvPr>
            <p:ph type="body" idx="1"/>
          </p:nvPr>
        </p:nvSpPr>
        <p:spPr>
          <a:xfrm>
            <a:off x="628650" y="1216820"/>
            <a:ext cx="78867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Helvetica Neue Light"/>
                <a:ea typeface="Helvetica Neue Light"/>
                <a:cs typeface="Helvetica Neue Light"/>
                <a:sym typeface="Helvetica Neue Light"/>
              </a:rPr>
              <a:t>Assembly goal: Merge sequence reads into contigs to form longer DNA sequences and reconstruct the original sequence</a:t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2889225" y="2368275"/>
            <a:ext cx="5550900" cy="678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2889225" y="267827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3755275" y="28318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259700" y="295407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4866100" y="28318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398725" y="298542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898050" y="26387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6525575" y="281462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7678425" y="26387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7468850" y="27640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2889225" y="3371625"/>
            <a:ext cx="1627800" cy="678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4866100" y="3371625"/>
            <a:ext cx="2421300" cy="678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7468850" y="3371625"/>
            <a:ext cx="971400" cy="678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3"/>
          <p:cNvSpPr txBox="1"/>
          <p:nvPr/>
        </p:nvSpPr>
        <p:spPr>
          <a:xfrm>
            <a:off x="469175" y="2148825"/>
            <a:ext cx="23748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Microbial Genome Sequence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 txBox="1"/>
          <p:nvPr/>
        </p:nvSpPr>
        <p:spPr>
          <a:xfrm>
            <a:off x="514425" y="2675725"/>
            <a:ext cx="23748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Sequencing Reads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514425" y="3202625"/>
            <a:ext cx="23748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Assembled Contigs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6071525" y="309312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"/>
          <p:cNvSpPr/>
          <p:nvPr/>
        </p:nvSpPr>
        <p:spPr>
          <a:xfrm>
            <a:off x="4774075" y="3640750"/>
            <a:ext cx="3792000" cy="121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Sequence assembly into contigs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2889225" y="2368275"/>
            <a:ext cx="5550900" cy="678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2889225" y="267827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3755275" y="28318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3259700" y="295407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4866100" y="28318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5398725" y="298542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5898050" y="26387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6525575" y="281462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7678425" y="26387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7468850" y="27640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2889225" y="3371625"/>
            <a:ext cx="1627800" cy="678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4866100" y="3371625"/>
            <a:ext cx="2421300" cy="678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7468850" y="3371625"/>
            <a:ext cx="971400" cy="678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4"/>
          <p:cNvSpPr txBox="1"/>
          <p:nvPr/>
        </p:nvSpPr>
        <p:spPr>
          <a:xfrm>
            <a:off x="469175" y="2148825"/>
            <a:ext cx="23748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Microbial Genome Sequence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 txBox="1"/>
          <p:nvPr/>
        </p:nvSpPr>
        <p:spPr>
          <a:xfrm>
            <a:off x="514425" y="2675725"/>
            <a:ext cx="23748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Sequencing Reads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514425" y="3202625"/>
            <a:ext cx="23748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Assembled Contigs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6071525" y="309312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7" name="Google Shape;387;p14"/>
          <p:cNvGrpSpPr/>
          <p:nvPr/>
        </p:nvGrpSpPr>
        <p:grpSpPr>
          <a:xfrm>
            <a:off x="4933050" y="3704825"/>
            <a:ext cx="3792000" cy="1286275"/>
            <a:chOff x="2279900" y="3781025"/>
            <a:chExt cx="3792000" cy="1286275"/>
          </a:xfrm>
        </p:grpSpPr>
        <p:sp>
          <p:nvSpPr>
            <p:cNvPr id="388" name="Google Shape;388;p14"/>
            <p:cNvSpPr txBox="1"/>
            <p:nvPr/>
          </p:nvSpPr>
          <p:spPr>
            <a:xfrm>
              <a:off x="2279900" y="3781025"/>
              <a:ext cx="15891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ATGGACTCATTCGG</a:t>
              </a:r>
              <a:r>
                <a:rPr lang="en" sz="1000" b="1" i="0" u="none" strike="noStrike" cap="none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TCG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4"/>
            <p:cNvSpPr txBox="1"/>
            <p:nvPr/>
          </p:nvSpPr>
          <p:spPr>
            <a:xfrm>
              <a:off x="2279900" y="4560600"/>
              <a:ext cx="37920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1" i="0" u="none" strike="noStrike" cap="none">
                  <a:solidFill>
                    <a:srgbClr val="274E1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ATGGACTCATTCGGTCGAATAGTAGCCTGATAGTTCCTAGATAC</a:t>
              </a:r>
              <a:endParaRPr sz="1400" b="1" i="0" u="none" strike="noStrike" cap="none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4"/>
            <p:cNvSpPr txBox="1"/>
            <p:nvPr/>
          </p:nvSpPr>
          <p:spPr>
            <a:xfrm>
              <a:off x="4344275" y="3908125"/>
              <a:ext cx="17274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1" i="0" u="none" strike="noStrike" cap="none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TGAT</a:t>
              </a:r>
              <a:r>
                <a:rPr lang="en" sz="1000" b="0" i="0" u="none" strike="noStrike" cap="none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AGTTCCTAGATAC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4"/>
            <p:cNvSpPr txBox="1"/>
            <p:nvPr/>
          </p:nvSpPr>
          <p:spPr>
            <a:xfrm>
              <a:off x="3335650" y="4140000"/>
              <a:ext cx="15432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1" i="0" u="none" strike="noStrike" cap="none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TCG</a:t>
              </a:r>
              <a:r>
                <a:rPr lang="en" sz="1000" b="0" i="0" u="none" strike="noStrike" cap="none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AATAGTAGCC</a:t>
              </a:r>
              <a:r>
                <a:rPr lang="en" sz="1000" b="1" i="0" u="none" strike="noStrike" cap="none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TGAT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" name="Google Shape;392;p14"/>
          <p:cNvSpPr/>
          <p:nvPr/>
        </p:nvSpPr>
        <p:spPr>
          <a:xfrm>
            <a:off x="2783025" y="2571750"/>
            <a:ext cx="1840200" cy="99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"/>
          <p:cNvSpPr/>
          <p:nvPr/>
        </p:nvSpPr>
        <p:spPr>
          <a:xfrm rot="10800000" flipH="1">
            <a:off x="4021400" y="3773629"/>
            <a:ext cx="565500" cy="3912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 txBox="1">
            <a:spLocks noGrp="1"/>
          </p:cNvSpPr>
          <p:nvPr>
            <p:ph type="body" idx="1"/>
          </p:nvPr>
        </p:nvSpPr>
        <p:spPr>
          <a:xfrm>
            <a:off x="628650" y="1216820"/>
            <a:ext cx="78867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Helvetica Neue Light"/>
                <a:ea typeface="Helvetica Neue Light"/>
                <a:cs typeface="Helvetica Neue Light"/>
                <a:sym typeface="Helvetica Neue Light"/>
              </a:rPr>
              <a:t>Assembly goal: Merge sequence reads into contigs to form longer DNA sequences and reconstruct the original sequence</a:t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5"/>
          <p:cNvSpPr txBox="1">
            <a:spLocks noGrp="1"/>
          </p:cNvSpPr>
          <p:nvPr>
            <p:ph type="title"/>
          </p:nvPr>
        </p:nvSpPr>
        <p:spPr>
          <a:xfrm>
            <a:off x="628650" y="396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Sequence alignment against database</a:t>
            </a:r>
            <a:endParaRPr/>
          </a:p>
        </p:txBody>
      </p:sp>
      <p:sp>
        <p:nvSpPr>
          <p:cNvPr id="400" name="Google Shape;400;p15"/>
          <p:cNvSpPr txBox="1"/>
          <p:nvPr/>
        </p:nvSpPr>
        <p:spPr>
          <a:xfrm>
            <a:off x="2693575" y="2303275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Database of known sequences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01" name="Google Shape;401;p15"/>
          <p:cNvSpPr txBox="1"/>
          <p:nvPr/>
        </p:nvSpPr>
        <p:spPr>
          <a:xfrm>
            <a:off x="461525" y="2267850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Unknown sequence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402" name="Google Shape;402;p15"/>
          <p:cNvGrpSpPr/>
          <p:nvPr/>
        </p:nvGrpSpPr>
        <p:grpSpPr>
          <a:xfrm>
            <a:off x="2383325" y="2083550"/>
            <a:ext cx="393000" cy="510737"/>
            <a:chOff x="2308225" y="2473175"/>
            <a:chExt cx="393000" cy="510737"/>
          </a:xfrm>
        </p:grpSpPr>
        <p:sp>
          <p:nvSpPr>
            <p:cNvPr id="403" name="Google Shape;403;p15"/>
            <p:cNvSpPr/>
            <p:nvPr/>
          </p:nvSpPr>
          <p:spPr>
            <a:xfrm>
              <a:off x="2308225" y="2473175"/>
              <a:ext cx="393000" cy="47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4" name="Google Shape;404;p15"/>
            <p:cNvPicPr preferRelativeResize="0"/>
            <p:nvPr/>
          </p:nvPicPr>
          <p:blipFill rotWithShape="1">
            <a:blip r:embed="rId3">
              <a:alphaModFix/>
            </a:blip>
            <a:srcRect l="10530" t="15160" r="84070" b="72982"/>
            <a:stretch/>
          </p:blipFill>
          <p:spPr>
            <a:xfrm>
              <a:off x="2308289" y="2473187"/>
              <a:ext cx="392877" cy="510725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405" name="Google Shape;405;p15"/>
          <p:cNvSpPr txBox="1"/>
          <p:nvPr/>
        </p:nvSpPr>
        <p:spPr>
          <a:xfrm>
            <a:off x="461525" y="2863650"/>
            <a:ext cx="15891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seq_1, unknown</a:t>
            </a:r>
            <a:endParaRPr sz="10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CTCATTCGGT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"/>
          <p:cNvSpPr txBox="1"/>
          <p:nvPr/>
        </p:nvSpPr>
        <p:spPr>
          <a:xfrm>
            <a:off x="2693575" y="2899075"/>
            <a:ext cx="1589100" cy="15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A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GCCTCGATCTGTAGCCT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B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ATGGACTCATTCGGTCG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C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TGCTAAATCGCGCCCTA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D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TGGCTAAGTCATATAGC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7" name="Google Shape;407;p15"/>
          <p:cNvSpPr txBox="1">
            <a:spLocks noGrp="1"/>
          </p:cNvSpPr>
          <p:nvPr>
            <p:ph type="body" idx="1"/>
          </p:nvPr>
        </p:nvSpPr>
        <p:spPr>
          <a:xfrm>
            <a:off x="628650" y="1018795"/>
            <a:ext cx="78867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Helvetica Neue Light"/>
                <a:ea typeface="Helvetica Neue Light"/>
                <a:cs typeface="Helvetica Neue Light"/>
                <a:sym typeface="Helvetica Neue Light"/>
              </a:rPr>
              <a:t>Alignment goal: Query unknown sequences against a reference database of known sequences to identify the microbe of origin</a:t>
            </a:r>
            <a:endParaRPr sz="1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6"/>
          <p:cNvSpPr txBox="1">
            <a:spLocks noGrp="1"/>
          </p:cNvSpPr>
          <p:nvPr>
            <p:ph type="title"/>
          </p:nvPr>
        </p:nvSpPr>
        <p:spPr>
          <a:xfrm>
            <a:off x="628650" y="396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Sequence alignment against database</a:t>
            </a:r>
            <a:endParaRPr/>
          </a:p>
        </p:txBody>
      </p:sp>
      <p:sp>
        <p:nvSpPr>
          <p:cNvPr id="413" name="Google Shape;413;p16"/>
          <p:cNvSpPr txBox="1"/>
          <p:nvPr/>
        </p:nvSpPr>
        <p:spPr>
          <a:xfrm>
            <a:off x="2693575" y="2303275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Database of known sequences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14" name="Google Shape;414;p16"/>
          <p:cNvSpPr txBox="1"/>
          <p:nvPr/>
        </p:nvSpPr>
        <p:spPr>
          <a:xfrm>
            <a:off x="461525" y="2267850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Unknown sequence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415" name="Google Shape;415;p16"/>
          <p:cNvGrpSpPr/>
          <p:nvPr/>
        </p:nvGrpSpPr>
        <p:grpSpPr>
          <a:xfrm>
            <a:off x="2383325" y="2083550"/>
            <a:ext cx="393000" cy="510737"/>
            <a:chOff x="2308225" y="2473175"/>
            <a:chExt cx="393000" cy="510737"/>
          </a:xfrm>
        </p:grpSpPr>
        <p:sp>
          <p:nvSpPr>
            <p:cNvPr id="416" name="Google Shape;416;p16"/>
            <p:cNvSpPr/>
            <p:nvPr/>
          </p:nvSpPr>
          <p:spPr>
            <a:xfrm>
              <a:off x="2308225" y="2473175"/>
              <a:ext cx="393000" cy="47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7" name="Google Shape;417;p16"/>
            <p:cNvPicPr preferRelativeResize="0"/>
            <p:nvPr/>
          </p:nvPicPr>
          <p:blipFill rotWithShape="1">
            <a:blip r:embed="rId3">
              <a:alphaModFix/>
            </a:blip>
            <a:srcRect l="10530" t="15160" r="84070" b="72982"/>
            <a:stretch/>
          </p:blipFill>
          <p:spPr>
            <a:xfrm>
              <a:off x="2308289" y="2473187"/>
              <a:ext cx="392877" cy="510725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418" name="Google Shape;418;p16"/>
          <p:cNvSpPr txBox="1"/>
          <p:nvPr/>
        </p:nvSpPr>
        <p:spPr>
          <a:xfrm>
            <a:off x="4832075" y="2313425"/>
            <a:ext cx="33228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Sequence Alignment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19" name="Google Shape;419;p16"/>
          <p:cNvSpPr txBox="1"/>
          <p:nvPr/>
        </p:nvSpPr>
        <p:spPr>
          <a:xfrm>
            <a:off x="461525" y="2863650"/>
            <a:ext cx="15891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seq_1, unknown</a:t>
            </a:r>
            <a:endParaRPr sz="10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CTCATTCGGT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6"/>
          <p:cNvSpPr txBox="1"/>
          <p:nvPr/>
        </p:nvSpPr>
        <p:spPr>
          <a:xfrm>
            <a:off x="2693575" y="2899075"/>
            <a:ext cx="1589100" cy="15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A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GCCTCGATCTGTAGCCT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B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ATGGACTCATTCGGTCG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C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TGCTAAATCGCGCCCTA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D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TGGCTAAGTCATATAGC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1" name="Google Shape;421;p16"/>
          <p:cNvSpPr txBox="1"/>
          <p:nvPr/>
        </p:nvSpPr>
        <p:spPr>
          <a:xfrm>
            <a:off x="4832075" y="2992875"/>
            <a:ext cx="1589100" cy="16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A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GCCTCGATCTGTAGCCT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|||   | ||</a:t>
            </a:r>
            <a:endParaRPr sz="1000" b="1" i="0" u="none" strike="noStrike" cap="none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CTCATTCGGT</a:t>
            </a: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B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ATGGACTCATTCGGTCG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|||||||||| </a:t>
            </a: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CTCATTCGGT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2" name="Google Shape;422;p16"/>
          <p:cNvSpPr txBox="1"/>
          <p:nvPr/>
        </p:nvSpPr>
        <p:spPr>
          <a:xfrm>
            <a:off x="6565775" y="2992875"/>
            <a:ext cx="1589100" cy="16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C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TGCTAAATCGCGCCCTA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 | ||| </a:t>
            </a:r>
            <a:endParaRPr sz="1000" b="1" i="0" u="none" strike="noStrike" cap="none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CTCATTCGGT</a:t>
            </a: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species D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TGGCTAAGTCATATAGC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||||   </a:t>
            </a: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CTCATTCGGT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3" name="Google Shape;423;p16"/>
          <p:cNvSpPr txBox="1">
            <a:spLocks noGrp="1"/>
          </p:cNvSpPr>
          <p:nvPr>
            <p:ph type="body" idx="1"/>
          </p:nvPr>
        </p:nvSpPr>
        <p:spPr>
          <a:xfrm>
            <a:off x="628650" y="1094995"/>
            <a:ext cx="78867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Helvetica Neue Light"/>
                <a:ea typeface="Helvetica Neue Light"/>
                <a:cs typeface="Helvetica Neue Light"/>
                <a:sym typeface="Helvetica Neue Light"/>
              </a:rPr>
              <a:t>Alignment goal: Query unknown sequences against a database of known sequences to identify the microbe of origin</a:t>
            </a:r>
            <a:endParaRPr sz="1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7"/>
          <p:cNvSpPr txBox="1">
            <a:spLocks noGrp="1"/>
          </p:cNvSpPr>
          <p:nvPr>
            <p:ph type="title"/>
          </p:nvPr>
        </p:nvSpPr>
        <p:spPr>
          <a:xfrm>
            <a:off x="628650" y="396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Sequence alignment against database</a:t>
            </a:r>
            <a:endParaRPr/>
          </a:p>
        </p:txBody>
      </p:sp>
      <p:sp>
        <p:nvSpPr>
          <p:cNvPr id="429" name="Google Shape;429;p17"/>
          <p:cNvSpPr txBox="1"/>
          <p:nvPr/>
        </p:nvSpPr>
        <p:spPr>
          <a:xfrm>
            <a:off x="2693575" y="2303275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Database of known sequences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30" name="Google Shape;430;p17"/>
          <p:cNvSpPr txBox="1"/>
          <p:nvPr/>
        </p:nvSpPr>
        <p:spPr>
          <a:xfrm>
            <a:off x="461525" y="2267850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Unknown sequence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431" name="Google Shape;431;p17"/>
          <p:cNvGrpSpPr/>
          <p:nvPr/>
        </p:nvGrpSpPr>
        <p:grpSpPr>
          <a:xfrm>
            <a:off x="2383325" y="2083550"/>
            <a:ext cx="393000" cy="510737"/>
            <a:chOff x="2308225" y="2473175"/>
            <a:chExt cx="393000" cy="510737"/>
          </a:xfrm>
        </p:grpSpPr>
        <p:sp>
          <p:nvSpPr>
            <p:cNvPr id="432" name="Google Shape;432;p17"/>
            <p:cNvSpPr/>
            <p:nvPr/>
          </p:nvSpPr>
          <p:spPr>
            <a:xfrm>
              <a:off x="2308225" y="2473175"/>
              <a:ext cx="393000" cy="47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3" name="Google Shape;433;p17"/>
            <p:cNvPicPr preferRelativeResize="0"/>
            <p:nvPr/>
          </p:nvPicPr>
          <p:blipFill rotWithShape="1">
            <a:blip r:embed="rId3">
              <a:alphaModFix/>
            </a:blip>
            <a:srcRect l="10530" t="15160" r="84070" b="72982"/>
            <a:stretch/>
          </p:blipFill>
          <p:spPr>
            <a:xfrm>
              <a:off x="2308289" y="2473187"/>
              <a:ext cx="392877" cy="510725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434" name="Google Shape;434;p17"/>
          <p:cNvSpPr txBox="1"/>
          <p:nvPr/>
        </p:nvSpPr>
        <p:spPr>
          <a:xfrm>
            <a:off x="4832075" y="2313425"/>
            <a:ext cx="33228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Sequence Alignment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35" name="Google Shape;435;p17"/>
          <p:cNvSpPr txBox="1"/>
          <p:nvPr/>
        </p:nvSpPr>
        <p:spPr>
          <a:xfrm>
            <a:off x="461525" y="2863650"/>
            <a:ext cx="15891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seq_1, unknown</a:t>
            </a:r>
            <a:endParaRPr sz="10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CTCATTCGGT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7"/>
          <p:cNvSpPr txBox="1"/>
          <p:nvPr/>
        </p:nvSpPr>
        <p:spPr>
          <a:xfrm>
            <a:off x="2693575" y="2899075"/>
            <a:ext cx="1589100" cy="15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A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GCCTCGATCTGTAGCCT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B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ATGGACTCATTCGGTCG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C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TGCTAAATCGCGCCCTA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D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TGGCTAAGTCATATAGC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7" name="Google Shape;437;p17"/>
          <p:cNvSpPr txBox="1"/>
          <p:nvPr/>
        </p:nvSpPr>
        <p:spPr>
          <a:xfrm>
            <a:off x="4832075" y="2992875"/>
            <a:ext cx="1589100" cy="16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A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GCCTCGATCTGTAGCCT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|||   | ||</a:t>
            </a:r>
            <a:endParaRPr sz="1000" b="1" i="0" u="none" strike="noStrike" cap="none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CTCATTCGGT</a:t>
            </a: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B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ATGGACTCATTCGGTCG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|||||||||| </a:t>
            </a: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CTCATTCGGT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8" name="Google Shape;438;p17"/>
          <p:cNvSpPr txBox="1"/>
          <p:nvPr/>
        </p:nvSpPr>
        <p:spPr>
          <a:xfrm>
            <a:off x="6565775" y="2992875"/>
            <a:ext cx="1589100" cy="16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C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TGCTAAATCGCGCCCTA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 | ||| </a:t>
            </a:r>
            <a:endParaRPr sz="1000" b="1" i="0" u="none" strike="noStrike" cap="none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CTCATTCGGT</a:t>
            </a: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species D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TGGCTAAGTCATATAGC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||||   </a:t>
            </a: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CTCATTCGGT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9" name="Google Shape;439;p17"/>
          <p:cNvSpPr txBox="1">
            <a:spLocks noGrp="1"/>
          </p:cNvSpPr>
          <p:nvPr>
            <p:ph type="body" idx="1"/>
          </p:nvPr>
        </p:nvSpPr>
        <p:spPr>
          <a:xfrm>
            <a:off x="628650" y="1094995"/>
            <a:ext cx="78867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Helvetica Neue Light"/>
                <a:ea typeface="Helvetica Neue Light"/>
                <a:cs typeface="Helvetica Neue Light"/>
                <a:sym typeface="Helvetica Neue Light"/>
              </a:rPr>
              <a:t>Alignment goal: Query unknown sequences against a database of known sequences to identify the microbe of origin</a:t>
            </a:r>
            <a:endParaRPr sz="1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4572000" y="3713050"/>
            <a:ext cx="1849800" cy="943500"/>
          </a:xfrm>
          <a:prstGeom prst="ellipse">
            <a:avLst/>
          </a:prstGeom>
          <a:noFill/>
          <a:ln w="9525" cap="flat" cmpd="sng">
            <a:solidFill>
              <a:srgbClr val="1DAD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7"/>
          <p:cNvSpPr txBox="1"/>
          <p:nvPr/>
        </p:nvSpPr>
        <p:spPr>
          <a:xfrm>
            <a:off x="4615975" y="4565000"/>
            <a:ext cx="1907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Seq_1 = Species B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8"/>
          <p:cNvSpPr txBox="1">
            <a:spLocks noGrp="1"/>
          </p:cNvSpPr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CZ ID uses NCBI reference databases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7" name="Google Shape;447;p18"/>
          <p:cNvSpPr txBox="1">
            <a:spLocks noGrp="1"/>
          </p:cNvSpPr>
          <p:nvPr>
            <p:ph type="body" idx="1"/>
          </p:nvPr>
        </p:nvSpPr>
        <p:spPr>
          <a:xfrm>
            <a:off x="628650" y="1064420"/>
            <a:ext cx="78867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700">
                <a:latin typeface="Helvetica Neue Light"/>
                <a:ea typeface="Helvetica Neue Light"/>
                <a:cs typeface="Helvetica Neue Light"/>
                <a:sym typeface="Helvetica Neue Light"/>
              </a:rPr>
              <a:t>NCBI houses a series of databases containing annotated collections of publicly available sequences </a:t>
            </a:r>
            <a:endParaRPr sz="1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448" name="Google Shape;448;p18"/>
          <p:cNvGraphicFramePr/>
          <p:nvPr/>
        </p:nvGraphicFramePr>
        <p:xfrm>
          <a:off x="401950" y="1868200"/>
          <a:ext cx="8340050" cy="883860"/>
        </p:xfrm>
        <a:graphic>
          <a:graphicData uri="http://schemas.openxmlformats.org/drawingml/2006/table">
            <a:tbl>
              <a:tblPr>
                <a:noFill/>
                <a:tableStyleId>{4C9C9B7B-F9EF-4514-B8FF-6C31B2BDEDA0}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A2FF"/>
                          </a:solidFill>
                        </a:rPr>
                        <a:t>NT Database</a:t>
                      </a:r>
                      <a:endParaRPr sz="1200" b="1" u="none" strike="noStrike" cap="none">
                        <a:solidFill>
                          <a:srgbClr val="00A2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9DC061"/>
                          </a:solidFill>
                        </a:rPr>
                        <a:t>NR Database</a:t>
                      </a:r>
                      <a:endParaRPr sz="1200" b="1" u="none" strike="noStrike" cap="none">
                        <a:solidFill>
                          <a:srgbClr val="9DC06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What does NT/NR mean?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NT = nucleotide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NR = non-redundant protein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9"/>
          <p:cNvSpPr txBox="1">
            <a:spLocks noGrp="1"/>
          </p:cNvSpPr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CZ ID uses NCBI reference databases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4" name="Google Shape;454;p19"/>
          <p:cNvSpPr txBox="1">
            <a:spLocks noGrp="1"/>
          </p:cNvSpPr>
          <p:nvPr>
            <p:ph type="body" idx="1"/>
          </p:nvPr>
        </p:nvSpPr>
        <p:spPr>
          <a:xfrm>
            <a:off x="628650" y="1064420"/>
            <a:ext cx="78867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700">
                <a:latin typeface="Helvetica Neue Light"/>
                <a:ea typeface="Helvetica Neue Light"/>
                <a:cs typeface="Helvetica Neue Light"/>
                <a:sym typeface="Helvetica Neue Light"/>
              </a:rPr>
              <a:t>NCBI houses a series of databases containing annotated collections of publicly available sequences </a:t>
            </a:r>
            <a:endParaRPr sz="1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455" name="Google Shape;455;p19"/>
          <p:cNvGraphicFramePr/>
          <p:nvPr/>
        </p:nvGraphicFramePr>
        <p:xfrm>
          <a:off x="401950" y="1868200"/>
          <a:ext cx="8340050" cy="2072550"/>
        </p:xfrm>
        <a:graphic>
          <a:graphicData uri="http://schemas.openxmlformats.org/drawingml/2006/table">
            <a:tbl>
              <a:tblPr>
                <a:noFill/>
                <a:tableStyleId>{4C9C9B7B-F9EF-4514-B8FF-6C31B2BDEDA0}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A2FF"/>
                          </a:solidFill>
                        </a:rPr>
                        <a:t>NT Database</a:t>
                      </a:r>
                      <a:endParaRPr sz="1200" b="1" u="none" strike="noStrike" cap="none">
                        <a:solidFill>
                          <a:srgbClr val="00A2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9DC061"/>
                          </a:solidFill>
                        </a:rPr>
                        <a:t>NR Database</a:t>
                      </a:r>
                      <a:endParaRPr sz="1200" b="1" u="none" strike="noStrike" cap="none">
                        <a:solidFill>
                          <a:srgbClr val="9DC06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What does NT/NR mean?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NT = nucleotide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NR = non-redundant protein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What is in the database?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Contains </a:t>
                      </a:r>
                      <a:r>
                        <a:rPr lang="en" sz="1100" b="1" u="none" strike="noStrike" cap="none"/>
                        <a:t>all nucleotide sequences</a:t>
                      </a:r>
                      <a:r>
                        <a:rPr lang="en" sz="1100" u="none" strike="noStrike" cap="none"/>
                        <a:t> (RefSeq records plus all GenBank sequences except for those from the EST, GSS, STS and HTG divisions).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Contains </a:t>
                      </a:r>
                      <a:r>
                        <a:rPr lang="en" sz="11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non-redundant set of all CDS translations from GenBank</a:t>
                      </a:r>
                      <a:r>
                        <a:rPr lang="en" sz="11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along with all RefSeq, UniProtKB/Swiss-Prot, PDB and PRF proteins.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Note: </a:t>
                      </a:r>
                      <a:r>
                        <a:rPr lang="en" sz="1100" b="1" u="none" strike="noStrike" cap="none"/>
                        <a:t>does not contain rRNA sequences</a:t>
                      </a:r>
                      <a:r>
                        <a:rPr lang="en" sz="1100" u="none" strike="noStrike" cap="none"/>
                        <a:t> given that these do not encode proteins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"/>
          <p:cNvSpPr txBox="1">
            <a:spLocks noGrp="1"/>
          </p:cNvSpPr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CZ ID uses NCBI reference databases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1" name="Google Shape;461;p20"/>
          <p:cNvSpPr txBox="1">
            <a:spLocks noGrp="1"/>
          </p:cNvSpPr>
          <p:nvPr>
            <p:ph type="body" idx="1"/>
          </p:nvPr>
        </p:nvSpPr>
        <p:spPr>
          <a:xfrm>
            <a:off x="628650" y="1064420"/>
            <a:ext cx="78867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700">
                <a:latin typeface="Helvetica Neue Light"/>
                <a:ea typeface="Helvetica Neue Light"/>
                <a:cs typeface="Helvetica Neue Light"/>
                <a:sym typeface="Helvetica Neue Light"/>
              </a:rPr>
              <a:t>NCBI houses a series of databases containing annotated collections of all publicly available sequences (GenBank)</a:t>
            </a:r>
            <a:endParaRPr sz="1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462" name="Google Shape;462;p20"/>
          <p:cNvGraphicFramePr/>
          <p:nvPr/>
        </p:nvGraphicFramePr>
        <p:xfrm>
          <a:off x="401950" y="1868200"/>
          <a:ext cx="8340050" cy="2758320"/>
        </p:xfrm>
        <a:graphic>
          <a:graphicData uri="http://schemas.openxmlformats.org/drawingml/2006/table">
            <a:tbl>
              <a:tblPr>
                <a:noFill/>
                <a:tableStyleId>{4C9C9B7B-F9EF-4514-B8FF-6C31B2BDEDA0}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A2FF"/>
                          </a:solidFill>
                        </a:rPr>
                        <a:t>NT Database</a:t>
                      </a:r>
                      <a:endParaRPr sz="1200" b="1" u="none" strike="noStrike" cap="none">
                        <a:solidFill>
                          <a:srgbClr val="00A2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9DC061"/>
                          </a:solidFill>
                        </a:rPr>
                        <a:t>NR Database</a:t>
                      </a:r>
                      <a:endParaRPr sz="1200" b="1" u="none" strike="noStrike" cap="none">
                        <a:solidFill>
                          <a:srgbClr val="9DC06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What does NT/NR mean?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NT = nucleotide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NR = non-redundant protein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What is in the database?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Contains </a:t>
                      </a:r>
                      <a:r>
                        <a:rPr lang="en" sz="1100" b="1" u="none" strike="noStrike" cap="none"/>
                        <a:t>nucleotide sequences</a:t>
                      </a:r>
                      <a:r>
                        <a:rPr lang="en" sz="1100" u="none" strike="noStrike" cap="none"/>
                        <a:t> (RefSeq records plus all GenBank sequences except for those from the EST, GSS, STS and HTG divisions).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Contains non-redundant</a:t>
                      </a:r>
                      <a:r>
                        <a:rPr lang="en" sz="11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set of coding sequence translations from GenBank</a:t>
                      </a:r>
                      <a:r>
                        <a:rPr lang="en" sz="11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along with all RefSeq, UniProtKB/Swiss-Prot, PDB and PRF proteins.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Note: </a:t>
                      </a:r>
                      <a:r>
                        <a:rPr lang="en" sz="1100" b="1" u="none" strike="noStrike" cap="none"/>
                        <a:t>does not contain rRNA sequences</a:t>
                      </a:r>
                      <a:r>
                        <a:rPr lang="en" sz="1100" u="none" strike="noStrike" cap="none"/>
                        <a:t> given that these do not encode proteins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How does it influence analysis?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NT hits </a:t>
                      </a:r>
                      <a:r>
                        <a:rPr lang="en" sz="1100" b="1" u="none" strike="noStrike" cap="none"/>
                        <a:t>tend to be more accurate for most organisms</a:t>
                      </a:r>
                      <a:r>
                        <a:rPr lang="en" sz="1100" u="none" strike="noStrike" cap="none"/>
                        <a:t> (bacteria, eukaryotes, viruses with close relatives in the DB)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NR alignments are </a:t>
                      </a:r>
                      <a:r>
                        <a:rPr lang="en" sz="1100" b="1" u="none" strike="noStrike" cap="none"/>
                        <a:t>especially good for detecting divergent viruses</a:t>
                      </a:r>
                      <a:r>
                        <a:rPr lang="en" sz="1100" u="none" strike="noStrike" cap="none"/>
                        <a:t>, since mutations in the NT sequence accumulate faster than the amino acid sequence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1"/>
          <p:cNvSpPr txBox="1">
            <a:spLocks noGrp="1"/>
          </p:cNvSpPr>
          <p:nvPr>
            <p:ph type="title"/>
          </p:nvPr>
        </p:nvSpPr>
        <p:spPr>
          <a:xfrm>
            <a:off x="324475" y="544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Helvetica Neue"/>
                <a:ea typeface="Helvetica Neue"/>
                <a:cs typeface="Helvetica Neue"/>
                <a:sym typeface="Helvetica Neue"/>
              </a:rPr>
              <a:t>Where would you see the following </a:t>
            </a:r>
            <a:r>
              <a:rPr lang="en" sz="2000" i="1">
                <a:latin typeface="Helvetica Neue"/>
                <a:ea typeface="Helvetica Neue"/>
                <a:cs typeface="Helvetica Neue"/>
                <a:sym typeface="Helvetica Neue"/>
              </a:rPr>
              <a:t>E. coli</a:t>
            </a:r>
            <a:r>
              <a:rPr lang="en" sz="2000">
                <a:latin typeface="Helvetica Neue"/>
                <a:ea typeface="Helvetica Neue"/>
                <a:cs typeface="Helvetica Neue"/>
                <a:sym typeface="Helvetica Neue"/>
              </a:rPr>
              <a:t> matches?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8" name="Google Shape;468;p21"/>
          <p:cNvSpPr txBox="1">
            <a:spLocks noGrp="1"/>
          </p:cNvSpPr>
          <p:nvPr>
            <p:ph type="body" idx="1"/>
          </p:nvPr>
        </p:nvSpPr>
        <p:spPr>
          <a:xfrm>
            <a:off x="5606250" y="1552950"/>
            <a:ext cx="23949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700" i="1">
                <a:latin typeface="Helvetica Neue Light"/>
                <a:ea typeface="Helvetica Neue Light"/>
                <a:cs typeface="Helvetica Neue Light"/>
                <a:sym typeface="Helvetica Neue Light"/>
              </a:rPr>
              <a:t>E. coli</a:t>
            </a:r>
            <a:r>
              <a:rPr lang="en" sz="1700">
                <a:latin typeface="Helvetica Neue Light"/>
                <a:ea typeface="Helvetica Neue Light"/>
                <a:cs typeface="Helvetica Neue Light"/>
                <a:sym typeface="Helvetica Neue Light"/>
              </a:rPr>
              <a:t> 16S rRNA</a:t>
            </a:r>
            <a:endParaRPr sz="1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469" name="Google Shape;469;p21"/>
          <p:cNvGraphicFramePr/>
          <p:nvPr/>
        </p:nvGraphicFramePr>
        <p:xfrm>
          <a:off x="401975" y="2292225"/>
          <a:ext cx="8340050" cy="1051500"/>
        </p:xfrm>
        <a:graphic>
          <a:graphicData uri="http://schemas.openxmlformats.org/drawingml/2006/table">
            <a:tbl>
              <a:tblPr>
                <a:noFill/>
                <a:tableStyleId>{4C9C9B7B-F9EF-4514-B8FF-6C31B2BDEDA0}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A2FF"/>
                          </a:solidFill>
                        </a:rPr>
                        <a:t>NT Database</a:t>
                      </a:r>
                      <a:endParaRPr sz="1200" b="1" u="none" strike="noStrike" cap="none">
                        <a:solidFill>
                          <a:srgbClr val="00A2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9DC061"/>
                          </a:solidFill>
                        </a:rPr>
                        <a:t>NR Database</a:t>
                      </a:r>
                      <a:endParaRPr sz="1200" b="1" u="none" strike="noStrike" cap="none">
                        <a:solidFill>
                          <a:srgbClr val="9DC06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dk1"/>
                          </a:solidFill>
                        </a:rPr>
                        <a:t>Match (or hit) to E. coli based on…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0" name="Google Shape;470;p21"/>
          <p:cNvSpPr txBox="1">
            <a:spLocks noGrp="1"/>
          </p:cNvSpPr>
          <p:nvPr>
            <p:ph type="body" idx="1"/>
          </p:nvPr>
        </p:nvSpPr>
        <p:spPr>
          <a:xfrm>
            <a:off x="1847600" y="1552950"/>
            <a:ext cx="23949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700" i="1">
                <a:latin typeface="Helvetica Neue Light"/>
                <a:ea typeface="Helvetica Neue Light"/>
                <a:cs typeface="Helvetica Neue Light"/>
                <a:sym typeface="Helvetica Neue Light"/>
              </a:rPr>
              <a:t>E. coli</a:t>
            </a:r>
            <a:r>
              <a:rPr lang="en" sz="1700">
                <a:latin typeface="Helvetica Neue Light"/>
                <a:ea typeface="Helvetica Neue Light"/>
                <a:cs typeface="Helvetica Neue Light"/>
                <a:sym typeface="Helvetica Neue Light"/>
              </a:rPr>
              <a:t> polymerase</a:t>
            </a:r>
            <a:endParaRPr sz="1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2"/>
          <p:cNvSpPr txBox="1">
            <a:spLocks noGrp="1"/>
          </p:cNvSpPr>
          <p:nvPr>
            <p:ph type="title"/>
          </p:nvPr>
        </p:nvSpPr>
        <p:spPr>
          <a:xfrm>
            <a:off x="324475" y="544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Helvetica Neue"/>
                <a:ea typeface="Helvetica Neue"/>
                <a:cs typeface="Helvetica Neue"/>
                <a:sym typeface="Helvetica Neue"/>
              </a:rPr>
              <a:t>Where would you see the following </a:t>
            </a:r>
            <a:r>
              <a:rPr lang="en" sz="2000" i="1">
                <a:latin typeface="Helvetica Neue"/>
                <a:ea typeface="Helvetica Neue"/>
                <a:cs typeface="Helvetica Neue"/>
                <a:sym typeface="Helvetica Neue"/>
              </a:rPr>
              <a:t>E. coli</a:t>
            </a:r>
            <a:r>
              <a:rPr lang="en" sz="2000">
                <a:latin typeface="Helvetica Neue"/>
                <a:ea typeface="Helvetica Neue"/>
                <a:cs typeface="Helvetica Neue"/>
                <a:sym typeface="Helvetica Neue"/>
              </a:rPr>
              <a:t> matches?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6" name="Google Shape;476;p22"/>
          <p:cNvSpPr txBox="1">
            <a:spLocks noGrp="1"/>
          </p:cNvSpPr>
          <p:nvPr>
            <p:ph type="body" idx="1"/>
          </p:nvPr>
        </p:nvSpPr>
        <p:spPr>
          <a:xfrm>
            <a:off x="5606250" y="1552950"/>
            <a:ext cx="23949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700" i="1">
                <a:latin typeface="Helvetica Neue Light"/>
                <a:ea typeface="Helvetica Neue Light"/>
                <a:cs typeface="Helvetica Neue Light"/>
                <a:sym typeface="Helvetica Neue Light"/>
              </a:rPr>
              <a:t>E. coli</a:t>
            </a:r>
            <a:r>
              <a:rPr lang="en" sz="1700">
                <a:latin typeface="Helvetica Neue Light"/>
                <a:ea typeface="Helvetica Neue Light"/>
                <a:cs typeface="Helvetica Neue Light"/>
                <a:sym typeface="Helvetica Neue Light"/>
              </a:rPr>
              <a:t> 16S rRNA</a:t>
            </a:r>
            <a:endParaRPr sz="1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477" name="Google Shape;477;p22"/>
          <p:cNvGraphicFramePr/>
          <p:nvPr/>
        </p:nvGraphicFramePr>
        <p:xfrm>
          <a:off x="401975" y="2292225"/>
          <a:ext cx="8340050" cy="1051500"/>
        </p:xfrm>
        <a:graphic>
          <a:graphicData uri="http://schemas.openxmlformats.org/drawingml/2006/table">
            <a:tbl>
              <a:tblPr>
                <a:noFill/>
                <a:tableStyleId>{4C9C9B7B-F9EF-4514-B8FF-6C31B2BDEDA0}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A2FF"/>
                          </a:solidFill>
                        </a:rPr>
                        <a:t>NT Database</a:t>
                      </a:r>
                      <a:endParaRPr sz="1200" b="1" u="none" strike="noStrike" cap="none">
                        <a:solidFill>
                          <a:srgbClr val="00A2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9DC061"/>
                          </a:solidFill>
                        </a:rPr>
                        <a:t>NR Database</a:t>
                      </a:r>
                      <a:endParaRPr sz="1200" b="1" u="none" strike="noStrike" cap="none">
                        <a:solidFill>
                          <a:srgbClr val="9DC06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Match (or hit) to E. coli based on…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16S rRNA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Polymerase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Polymerase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8" name="Google Shape;478;p22"/>
          <p:cNvSpPr txBox="1">
            <a:spLocks noGrp="1"/>
          </p:cNvSpPr>
          <p:nvPr>
            <p:ph type="body" idx="1"/>
          </p:nvPr>
        </p:nvSpPr>
        <p:spPr>
          <a:xfrm>
            <a:off x="1847600" y="1552950"/>
            <a:ext cx="23949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700" i="1">
                <a:latin typeface="Helvetica Neue Light"/>
                <a:ea typeface="Helvetica Neue Light"/>
                <a:cs typeface="Helvetica Neue Light"/>
                <a:sym typeface="Helvetica Neue Light"/>
              </a:rPr>
              <a:t>E. coli</a:t>
            </a:r>
            <a:r>
              <a:rPr lang="en" sz="1700">
                <a:latin typeface="Helvetica Neue Light"/>
                <a:ea typeface="Helvetica Neue Light"/>
                <a:cs typeface="Helvetica Neue Light"/>
                <a:sym typeface="Helvetica Neue Light"/>
              </a:rPr>
              <a:t> polymerase</a:t>
            </a:r>
            <a:endParaRPr sz="1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3"/>
          <p:cNvSpPr txBox="1">
            <a:spLocks noGrp="1"/>
          </p:cNvSpPr>
          <p:nvPr>
            <p:ph type="title"/>
          </p:nvPr>
        </p:nvSpPr>
        <p:spPr>
          <a:xfrm>
            <a:off x="628650" y="17785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CZ ID mNGS Pipeline Walkthrough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4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9" name="Google Shape;489;p24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0" name="Google Shape;490;p24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1" name="Google Shape;491;p24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2" name="Google Shape;492;p24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3" name="Google Shape;493;p24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4" name="Google Shape;494;p24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5" name="Google Shape;495;p24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6" name="Google Shape;496;p24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7" name="Google Shape;497;p24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8" name="Google Shape;498;p24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9" name="Google Shape;499;p24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0" name="Google Shape;500;p24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1" name="Google Shape;501;p24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2" name="Google Shape;502;p24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3" name="Google Shape;503;p24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4" name="Google Shape;504;p24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5" name="Google Shape;505;p24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6" name="Google Shape;506;p24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8" name="Google Shape;508;p24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9" name="Google Shape;509;p24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0" name="Google Shape;510;p24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1" name="Google Shape;511;p24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2" name="Google Shape;512;p24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3" name="Google Shape;513;p24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4" name="Google Shape;514;p24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4"/>
          <p:cNvSpPr txBox="1"/>
          <p:nvPr/>
        </p:nvSpPr>
        <p:spPr>
          <a:xfrm>
            <a:off x="440525" y="3238500"/>
            <a:ext cx="84450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16" name="Google Shape;516;p24"/>
          <p:cNvSpPr/>
          <p:nvPr/>
        </p:nvSpPr>
        <p:spPr>
          <a:xfrm>
            <a:off x="8127425" y="975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5"/>
          <p:cNvSpPr/>
          <p:nvPr/>
        </p:nvSpPr>
        <p:spPr>
          <a:xfrm>
            <a:off x="846825" y="1468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Filtering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3" name="Google Shape;523;p25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4" name="Google Shape;524;p25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5" name="Google Shape;525;p25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6" name="Google Shape;526;p25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7" name="Google Shape;527;p25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8" name="Google Shape;528;p25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9" name="Google Shape;529;p25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0" name="Google Shape;530;p25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1" name="Google Shape;531;p25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2" name="Google Shape;532;p25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4" name="Google Shape;534;p25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5" name="Google Shape;535;p25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6" name="Google Shape;536;p25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7" name="Google Shape;537;p25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8" name="Google Shape;538;p25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9" name="Google Shape;539;p25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0" name="Google Shape;540;p25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4" name="Google Shape;544;p25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6" name="Google Shape;546;p25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7" name="Google Shape;547;p25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8" name="Google Shape;548;p25"/>
          <p:cNvSpPr/>
          <p:nvPr/>
        </p:nvSpPr>
        <p:spPr>
          <a:xfrm>
            <a:off x="1533525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9" name="Google Shape;549;p25"/>
          <p:cNvSpPr/>
          <p:nvPr/>
        </p:nvSpPr>
        <p:spPr>
          <a:xfrm>
            <a:off x="1533525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0" name="Google Shape;550;p25"/>
          <p:cNvSpPr/>
          <p:nvPr/>
        </p:nvSpPr>
        <p:spPr>
          <a:xfrm>
            <a:off x="1533525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1" name="Google Shape;551;p25"/>
          <p:cNvSpPr/>
          <p:nvPr/>
        </p:nvSpPr>
        <p:spPr>
          <a:xfrm>
            <a:off x="1533525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2" name="Google Shape;552;p25"/>
          <p:cNvSpPr/>
          <p:nvPr/>
        </p:nvSpPr>
        <p:spPr>
          <a:xfrm>
            <a:off x="1533525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3" name="Google Shape;553;p25"/>
          <p:cNvSpPr/>
          <p:nvPr/>
        </p:nvSpPr>
        <p:spPr>
          <a:xfrm>
            <a:off x="1533525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4" name="Google Shape;554;p25"/>
          <p:cNvSpPr/>
          <p:nvPr/>
        </p:nvSpPr>
        <p:spPr>
          <a:xfrm>
            <a:off x="1533525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5" name="Google Shape;555;p25"/>
          <p:cNvSpPr/>
          <p:nvPr/>
        </p:nvSpPr>
        <p:spPr>
          <a:xfrm>
            <a:off x="1533525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6" name="Google Shape;556;p25"/>
          <p:cNvSpPr/>
          <p:nvPr/>
        </p:nvSpPr>
        <p:spPr>
          <a:xfrm>
            <a:off x="1533525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7" name="Google Shape;557;p25"/>
          <p:cNvSpPr/>
          <p:nvPr/>
        </p:nvSpPr>
        <p:spPr>
          <a:xfrm>
            <a:off x="1533525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8" name="Google Shape;558;p25"/>
          <p:cNvSpPr/>
          <p:nvPr/>
        </p:nvSpPr>
        <p:spPr>
          <a:xfrm>
            <a:off x="1533525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9" name="Google Shape;559;p25"/>
          <p:cNvSpPr/>
          <p:nvPr/>
        </p:nvSpPr>
        <p:spPr>
          <a:xfrm>
            <a:off x="1533525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0" name="Google Shape;560;p25"/>
          <p:cNvSpPr/>
          <p:nvPr/>
        </p:nvSpPr>
        <p:spPr>
          <a:xfrm>
            <a:off x="1533525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1" name="Google Shape;561;p25"/>
          <p:cNvSpPr/>
          <p:nvPr/>
        </p:nvSpPr>
        <p:spPr>
          <a:xfrm>
            <a:off x="153352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2" name="Google Shape;562;p25"/>
          <p:cNvSpPr/>
          <p:nvPr/>
        </p:nvSpPr>
        <p:spPr>
          <a:xfrm>
            <a:off x="1533525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3" name="Google Shape;563;p25"/>
          <p:cNvSpPr/>
          <p:nvPr/>
        </p:nvSpPr>
        <p:spPr>
          <a:xfrm>
            <a:off x="1533525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4" name="Google Shape;564;p25"/>
          <p:cNvSpPr/>
          <p:nvPr/>
        </p:nvSpPr>
        <p:spPr>
          <a:xfrm>
            <a:off x="1533525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5" name="Google Shape;565;p25"/>
          <p:cNvSpPr/>
          <p:nvPr/>
        </p:nvSpPr>
        <p:spPr>
          <a:xfrm>
            <a:off x="1533525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6" name="Google Shape;566;p25"/>
          <p:cNvSpPr/>
          <p:nvPr/>
        </p:nvSpPr>
        <p:spPr>
          <a:xfrm>
            <a:off x="1533525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7" name="Google Shape;567;p25"/>
          <p:cNvSpPr/>
          <p:nvPr/>
        </p:nvSpPr>
        <p:spPr>
          <a:xfrm>
            <a:off x="1533525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8" name="Google Shape;568;p25"/>
          <p:cNvSpPr/>
          <p:nvPr/>
        </p:nvSpPr>
        <p:spPr>
          <a:xfrm>
            <a:off x="1533525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9" name="Google Shape;569;p25"/>
          <p:cNvSpPr/>
          <p:nvPr/>
        </p:nvSpPr>
        <p:spPr>
          <a:xfrm>
            <a:off x="1533525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0" name="Google Shape;570;p25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5"/>
          <p:cNvSpPr txBox="1"/>
          <p:nvPr/>
        </p:nvSpPr>
        <p:spPr>
          <a:xfrm>
            <a:off x="2854675" y="351875"/>
            <a:ext cx="6098700" cy="28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1500"/>
              <a:buFont typeface="Avenir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1: QC and Host Filtering </a:t>
            </a:r>
            <a:endParaRPr sz="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Truncate to 150 million reads (PE data) or 75 million read</a:t>
            </a: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s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(SE data)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Filter out low quality reads, low complexity reads, and adapters (</a:t>
            </a:r>
            <a:r>
              <a:rPr lang="en" sz="14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fastp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Host read removal (</a:t>
            </a:r>
            <a:r>
              <a:rPr lang="en" sz="14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Bowtie</a:t>
            </a: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followed by </a:t>
            </a:r>
            <a:r>
              <a:rPr lang="en" sz="14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HISAT2</a:t>
            </a: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Human read removal (</a:t>
            </a:r>
            <a:r>
              <a:rPr lang="en" sz="14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Bowtie</a:t>
            </a: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followed by </a:t>
            </a:r>
            <a:r>
              <a:rPr lang="en" sz="14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HISAT2</a:t>
            </a: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Collapse duplicate reads (</a:t>
            </a:r>
            <a:r>
              <a:rPr lang="en" sz="14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CZID-dedup</a:t>
            </a: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Subsampling to 2 million </a:t>
            </a: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PE r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eads or 1 million </a:t>
            </a: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SE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203200" marR="0" lvl="0" indent="-88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venir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203200" marR="0" lvl="0" indent="-88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venir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2" name="Google Shape;572;p25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5"/>
          <p:cNvSpPr txBox="1"/>
          <p:nvPr/>
        </p:nvSpPr>
        <p:spPr>
          <a:xfrm>
            <a:off x="6821100" y="4811650"/>
            <a:ext cx="232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DA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Bioinformatic tool/software</a:t>
            </a:r>
            <a:endParaRPr sz="1200" b="0" i="0" u="none" strike="noStrike" cap="none">
              <a:solidFill>
                <a:srgbClr val="1DAD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6"/>
          <p:cNvSpPr/>
          <p:nvPr/>
        </p:nvSpPr>
        <p:spPr>
          <a:xfrm>
            <a:off x="846825" y="1468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Filtering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6"/>
          <p:cNvSpPr/>
          <p:nvPr/>
        </p:nvSpPr>
        <p:spPr>
          <a:xfrm>
            <a:off x="1918500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6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1" name="Google Shape;581;p26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2" name="Google Shape;582;p26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3" name="Google Shape;583;p26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4" name="Google Shape;584;p26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5" name="Google Shape;585;p26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6" name="Google Shape;586;p26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7" name="Google Shape;587;p26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8" name="Google Shape;588;p26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9" name="Google Shape;589;p26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0" name="Google Shape;590;p26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1" name="Google Shape;591;p26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2" name="Google Shape;592;p26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3" name="Google Shape;593;p26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5" name="Google Shape;595;p26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6" name="Google Shape;596;p26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7" name="Google Shape;597;p26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8" name="Google Shape;598;p26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9" name="Google Shape;599;p26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0" name="Google Shape;600;p26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1" name="Google Shape;601;p26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2" name="Google Shape;602;p26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3" name="Google Shape;603;p26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4" name="Google Shape;604;p26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5" name="Google Shape;605;p26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6" name="Google Shape;606;p26"/>
          <p:cNvSpPr/>
          <p:nvPr/>
        </p:nvSpPr>
        <p:spPr>
          <a:xfrm>
            <a:off x="1533525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7" name="Google Shape;607;p26"/>
          <p:cNvSpPr/>
          <p:nvPr/>
        </p:nvSpPr>
        <p:spPr>
          <a:xfrm>
            <a:off x="1533525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8" name="Google Shape;608;p26"/>
          <p:cNvSpPr/>
          <p:nvPr/>
        </p:nvSpPr>
        <p:spPr>
          <a:xfrm>
            <a:off x="1533525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9" name="Google Shape;609;p26"/>
          <p:cNvSpPr/>
          <p:nvPr/>
        </p:nvSpPr>
        <p:spPr>
          <a:xfrm>
            <a:off x="1533525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0" name="Google Shape;610;p26"/>
          <p:cNvSpPr/>
          <p:nvPr/>
        </p:nvSpPr>
        <p:spPr>
          <a:xfrm>
            <a:off x="1533525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1" name="Google Shape;611;p26"/>
          <p:cNvSpPr/>
          <p:nvPr/>
        </p:nvSpPr>
        <p:spPr>
          <a:xfrm>
            <a:off x="1533525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2" name="Google Shape;612;p26"/>
          <p:cNvSpPr/>
          <p:nvPr/>
        </p:nvSpPr>
        <p:spPr>
          <a:xfrm>
            <a:off x="1533525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3" name="Google Shape;613;p26"/>
          <p:cNvSpPr/>
          <p:nvPr/>
        </p:nvSpPr>
        <p:spPr>
          <a:xfrm>
            <a:off x="1533525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4" name="Google Shape;614;p26"/>
          <p:cNvSpPr/>
          <p:nvPr/>
        </p:nvSpPr>
        <p:spPr>
          <a:xfrm>
            <a:off x="1533525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1533525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6" name="Google Shape;616;p26"/>
          <p:cNvSpPr/>
          <p:nvPr/>
        </p:nvSpPr>
        <p:spPr>
          <a:xfrm>
            <a:off x="1533525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1533525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8" name="Google Shape;618;p26"/>
          <p:cNvSpPr/>
          <p:nvPr/>
        </p:nvSpPr>
        <p:spPr>
          <a:xfrm>
            <a:off x="1533525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9" name="Google Shape;619;p26"/>
          <p:cNvSpPr/>
          <p:nvPr/>
        </p:nvSpPr>
        <p:spPr>
          <a:xfrm>
            <a:off x="153352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0" name="Google Shape;620;p26"/>
          <p:cNvSpPr/>
          <p:nvPr/>
        </p:nvSpPr>
        <p:spPr>
          <a:xfrm>
            <a:off x="1533525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1533525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2" name="Google Shape;622;p26"/>
          <p:cNvSpPr/>
          <p:nvPr/>
        </p:nvSpPr>
        <p:spPr>
          <a:xfrm>
            <a:off x="1533525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3" name="Google Shape;623;p26"/>
          <p:cNvSpPr/>
          <p:nvPr/>
        </p:nvSpPr>
        <p:spPr>
          <a:xfrm>
            <a:off x="1533525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4" name="Google Shape;624;p26"/>
          <p:cNvSpPr/>
          <p:nvPr/>
        </p:nvSpPr>
        <p:spPr>
          <a:xfrm>
            <a:off x="1533525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5" name="Google Shape;625;p26"/>
          <p:cNvSpPr/>
          <p:nvPr/>
        </p:nvSpPr>
        <p:spPr>
          <a:xfrm>
            <a:off x="1533525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6" name="Google Shape;626;p26"/>
          <p:cNvSpPr/>
          <p:nvPr/>
        </p:nvSpPr>
        <p:spPr>
          <a:xfrm>
            <a:off x="1533525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1533525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8" name="Google Shape;628;p26"/>
          <p:cNvSpPr/>
          <p:nvPr/>
        </p:nvSpPr>
        <p:spPr>
          <a:xfrm>
            <a:off x="2714625" y="6115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9" name="Google Shape;629;p26"/>
          <p:cNvSpPr/>
          <p:nvPr/>
        </p:nvSpPr>
        <p:spPr>
          <a:xfrm>
            <a:off x="2714625" y="17342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0" name="Google Shape;630;p26"/>
          <p:cNvSpPr/>
          <p:nvPr/>
        </p:nvSpPr>
        <p:spPr>
          <a:xfrm>
            <a:off x="2714625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1" name="Google Shape;631;p26"/>
          <p:cNvSpPr/>
          <p:nvPr/>
        </p:nvSpPr>
        <p:spPr>
          <a:xfrm>
            <a:off x="2714625" y="22994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2" name="Google Shape;632;p26"/>
          <p:cNvSpPr/>
          <p:nvPr/>
        </p:nvSpPr>
        <p:spPr>
          <a:xfrm>
            <a:off x="3228975" y="14078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3" name="Google Shape;633;p26"/>
          <p:cNvSpPr/>
          <p:nvPr/>
        </p:nvSpPr>
        <p:spPr>
          <a:xfrm>
            <a:off x="3390900" y="15029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4" name="Google Shape;634;p26"/>
          <p:cNvSpPr/>
          <p:nvPr/>
        </p:nvSpPr>
        <p:spPr>
          <a:xfrm>
            <a:off x="3228975" y="15981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5" name="Google Shape;635;p26"/>
          <p:cNvSpPr/>
          <p:nvPr/>
        </p:nvSpPr>
        <p:spPr>
          <a:xfrm>
            <a:off x="3324225" y="17886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6" name="Google Shape;636;p26"/>
          <p:cNvSpPr/>
          <p:nvPr/>
        </p:nvSpPr>
        <p:spPr>
          <a:xfrm>
            <a:off x="3324225" y="1312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7" name="Google Shape;637;p26"/>
          <p:cNvSpPr/>
          <p:nvPr/>
        </p:nvSpPr>
        <p:spPr>
          <a:xfrm>
            <a:off x="3162300" y="170092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8" name="Google Shape;638;p26"/>
          <p:cNvSpPr/>
          <p:nvPr/>
        </p:nvSpPr>
        <p:spPr>
          <a:xfrm>
            <a:off x="2714625" y="20200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9" name="Google Shape;639;p26"/>
          <p:cNvSpPr/>
          <p:nvPr/>
        </p:nvSpPr>
        <p:spPr>
          <a:xfrm>
            <a:off x="2714625" y="19247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0" name="Google Shape;640;p26"/>
          <p:cNvSpPr/>
          <p:nvPr/>
        </p:nvSpPr>
        <p:spPr>
          <a:xfrm>
            <a:off x="3489740" y="170021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1" name="Google Shape;641;p26"/>
          <p:cNvSpPr/>
          <p:nvPr/>
        </p:nvSpPr>
        <p:spPr>
          <a:xfrm>
            <a:off x="316230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2" name="Google Shape;642;p26"/>
          <p:cNvSpPr/>
          <p:nvPr/>
        </p:nvSpPr>
        <p:spPr>
          <a:xfrm>
            <a:off x="2714625" y="18295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3" name="Google Shape;643;p26"/>
          <p:cNvSpPr/>
          <p:nvPr/>
        </p:nvSpPr>
        <p:spPr>
          <a:xfrm>
            <a:off x="2714625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4" name="Google Shape;644;p26"/>
          <p:cNvSpPr/>
          <p:nvPr/>
        </p:nvSpPr>
        <p:spPr>
          <a:xfrm>
            <a:off x="2714625" y="8973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5" name="Google Shape;645;p26"/>
          <p:cNvSpPr/>
          <p:nvPr/>
        </p:nvSpPr>
        <p:spPr>
          <a:xfrm>
            <a:off x="2714625" y="23946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6" name="Google Shape;646;p26"/>
          <p:cNvSpPr/>
          <p:nvPr/>
        </p:nvSpPr>
        <p:spPr>
          <a:xfrm>
            <a:off x="322897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2714625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8" name="Google Shape;648;p26"/>
          <p:cNvSpPr/>
          <p:nvPr/>
        </p:nvSpPr>
        <p:spPr>
          <a:xfrm>
            <a:off x="2714625" y="8020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9" name="Google Shape;649;p26"/>
          <p:cNvSpPr/>
          <p:nvPr/>
        </p:nvSpPr>
        <p:spPr>
          <a:xfrm>
            <a:off x="2714625" y="7068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0" name="Google Shape;650;p26"/>
          <p:cNvSpPr txBox="1"/>
          <p:nvPr/>
        </p:nvSpPr>
        <p:spPr>
          <a:xfrm>
            <a:off x="2269350" y="58525"/>
            <a:ext cx="11559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accessions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6"/>
          <p:cNvSpPr txBox="1"/>
          <p:nvPr/>
        </p:nvSpPr>
        <p:spPr>
          <a:xfrm>
            <a:off x="3004171" y="732787"/>
            <a:ext cx="8280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Unmapped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6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6"/>
          <p:cNvSpPr/>
          <p:nvPr/>
        </p:nvSpPr>
        <p:spPr>
          <a:xfrm>
            <a:off x="3214388" y="2706064"/>
            <a:ext cx="4770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4" name="Google Shape;654;p26"/>
          <p:cNvSpPr/>
          <p:nvPr/>
        </p:nvSpPr>
        <p:spPr>
          <a:xfrm>
            <a:off x="3214388" y="2599209"/>
            <a:ext cx="4770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5" name="Google Shape;655;p26"/>
          <p:cNvSpPr/>
          <p:nvPr/>
        </p:nvSpPr>
        <p:spPr>
          <a:xfrm>
            <a:off x="3214388" y="2492350"/>
            <a:ext cx="4770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6" name="Google Shape;656;p26"/>
          <p:cNvSpPr/>
          <p:nvPr/>
        </p:nvSpPr>
        <p:spPr>
          <a:xfrm>
            <a:off x="3214388" y="2812897"/>
            <a:ext cx="4770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57" name="Google Shape;657;p26"/>
          <p:cNvCxnSpPr/>
          <p:nvPr/>
        </p:nvCxnSpPr>
        <p:spPr>
          <a:xfrm>
            <a:off x="2849250" y="3083064"/>
            <a:ext cx="22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58" name="Google Shape;658;p26"/>
          <p:cNvSpPr txBox="1"/>
          <p:nvPr/>
        </p:nvSpPr>
        <p:spPr>
          <a:xfrm>
            <a:off x="2997788" y="2919725"/>
            <a:ext cx="9102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Database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p26"/>
          <p:cNvCxnSpPr>
            <a:endCxn id="658" idx="1"/>
          </p:cNvCxnSpPr>
          <p:nvPr/>
        </p:nvCxnSpPr>
        <p:spPr>
          <a:xfrm rot="-5400000" flipH="1">
            <a:off x="2650538" y="2735825"/>
            <a:ext cx="546000" cy="14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0" name="Google Shape;660;p26"/>
          <p:cNvSpPr txBox="1"/>
          <p:nvPr/>
        </p:nvSpPr>
        <p:spPr>
          <a:xfrm>
            <a:off x="516732" y="3314700"/>
            <a:ext cx="7698600" cy="19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1500"/>
              <a:buFont typeface="Avenir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2: Read alignment against NCBI databases</a:t>
            </a:r>
            <a:endParaRPr sz="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Reads are mapped against nucleotide (</a:t>
            </a: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NT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 </a:t>
            </a: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and</a:t>
            </a:r>
            <a:r>
              <a:rPr lang="en" sz="1500" b="0" i="0" u="none" strike="noStrike" cap="none">
                <a:solidFill>
                  <a:srgbClr val="9DC06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protein (</a:t>
            </a: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NR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 databases to obtain a preliminary accession for each read (</a:t>
            </a:r>
            <a:r>
              <a:rPr lang="en" sz="15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minimap2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and </a:t>
            </a:r>
            <a:r>
              <a:rPr lang="en" sz="15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DIAMOND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).</a:t>
            </a:r>
            <a:endParaRPr sz="1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Generate custom BLAST database containing all taxa identified as preliminary accessions.</a:t>
            </a:r>
            <a:endParaRPr sz="1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61" name="Google Shape;661;p26"/>
          <p:cNvSpPr/>
          <p:nvPr/>
        </p:nvSpPr>
        <p:spPr>
          <a:xfrm>
            <a:off x="201450" y="217775"/>
            <a:ext cx="1299600" cy="29040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6"/>
          <p:cNvSpPr txBox="1"/>
          <p:nvPr/>
        </p:nvSpPr>
        <p:spPr>
          <a:xfrm>
            <a:off x="6821100" y="4811650"/>
            <a:ext cx="232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DA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Bioinformatic tool/software</a:t>
            </a:r>
            <a:endParaRPr sz="1200" b="0" i="0" u="none" strike="noStrike" cap="none">
              <a:solidFill>
                <a:srgbClr val="1DAD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7"/>
          <p:cNvSpPr/>
          <p:nvPr/>
        </p:nvSpPr>
        <p:spPr>
          <a:xfrm>
            <a:off x="846825" y="1468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Filtering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7"/>
          <p:cNvSpPr/>
          <p:nvPr/>
        </p:nvSpPr>
        <p:spPr>
          <a:xfrm>
            <a:off x="1918500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7"/>
          <p:cNvSpPr/>
          <p:nvPr/>
        </p:nvSpPr>
        <p:spPr>
          <a:xfrm>
            <a:off x="3856725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Assembly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7"/>
          <p:cNvSpPr/>
          <p:nvPr/>
        </p:nvSpPr>
        <p:spPr>
          <a:xfrm>
            <a:off x="4772025" y="4591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4848225" y="18104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4827163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4" name="Google Shape;674;p27"/>
          <p:cNvSpPr/>
          <p:nvPr/>
        </p:nvSpPr>
        <p:spPr>
          <a:xfrm>
            <a:off x="4738700" y="24518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4943475" y="20962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5276850" y="20009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7" name="Google Shape;677;p27"/>
          <p:cNvSpPr/>
          <p:nvPr/>
        </p:nvSpPr>
        <p:spPr>
          <a:xfrm>
            <a:off x="5372100" y="19057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5065288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5057775" y="7449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0" name="Google Shape;680;p27"/>
          <p:cNvSpPr/>
          <p:nvPr/>
        </p:nvSpPr>
        <p:spPr>
          <a:xfrm>
            <a:off x="4976825" y="25470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1" name="Google Shape;681;p27"/>
          <p:cNvSpPr/>
          <p:nvPr/>
        </p:nvSpPr>
        <p:spPr>
          <a:xfrm>
            <a:off x="5303413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2" name="Google Shape;682;p27"/>
          <p:cNvSpPr/>
          <p:nvPr/>
        </p:nvSpPr>
        <p:spPr>
          <a:xfrm>
            <a:off x="4867275" y="6496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3" name="Google Shape;683;p27"/>
          <p:cNvSpPr/>
          <p:nvPr/>
        </p:nvSpPr>
        <p:spPr>
          <a:xfrm>
            <a:off x="4914900" y="5544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4" name="Google Shape;684;p27"/>
          <p:cNvSpPr/>
          <p:nvPr/>
        </p:nvSpPr>
        <p:spPr>
          <a:xfrm>
            <a:off x="4581525" y="840175"/>
            <a:ext cx="9888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5" name="Google Shape;685;p27"/>
          <p:cNvSpPr/>
          <p:nvPr/>
        </p:nvSpPr>
        <p:spPr>
          <a:xfrm>
            <a:off x="4584263" y="1502900"/>
            <a:ext cx="107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6" name="Google Shape;686;p27"/>
          <p:cNvSpPr/>
          <p:nvPr/>
        </p:nvSpPr>
        <p:spPr>
          <a:xfrm>
            <a:off x="4605325" y="2191450"/>
            <a:ext cx="624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7" name="Google Shape;687;p27"/>
          <p:cNvSpPr/>
          <p:nvPr/>
        </p:nvSpPr>
        <p:spPr>
          <a:xfrm>
            <a:off x="5276850" y="2191461"/>
            <a:ext cx="38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8" name="Google Shape;688;p27"/>
          <p:cNvSpPr/>
          <p:nvPr/>
        </p:nvSpPr>
        <p:spPr>
          <a:xfrm>
            <a:off x="4738700" y="2739950"/>
            <a:ext cx="762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9" name="Google Shape;689;p27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0" name="Google Shape;690;p27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1" name="Google Shape;691;p27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2" name="Google Shape;692;p27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3" name="Google Shape;693;p27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4" name="Google Shape;694;p27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5" name="Google Shape;695;p27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6" name="Google Shape;696;p27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7" name="Google Shape;697;p27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8" name="Google Shape;698;p27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9" name="Google Shape;699;p27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0" name="Google Shape;700;p27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1" name="Google Shape;701;p27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2" name="Google Shape;702;p27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3" name="Google Shape;703;p27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4" name="Google Shape;704;p27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5" name="Google Shape;705;p27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6" name="Google Shape;706;p27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7" name="Google Shape;707;p27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8" name="Google Shape;708;p27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9" name="Google Shape;709;p27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0" name="Google Shape;710;p27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1" name="Google Shape;711;p27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2" name="Google Shape;712;p27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3" name="Google Shape;713;p27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4" name="Google Shape;714;p27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5" name="Google Shape;715;p27"/>
          <p:cNvSpPr/>
          <p:nvPr/>
        </p:nvSpPr>
        <p:spPr>
          <a:xfrm>
            <a:off x="1533525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6" name="Google Shape;716;p27"/>
          <p:cNvSpPr/>
          <p:nvPr/>
        </p:nvSpPr>
        <p:spPr>
          <a:xfrm>
            <a:off x="1533525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7" name="Google Shape;717;p27"/>
          <p:cNvSpPr/>
          <p:nvPr/>
        </p:nvSpPr>
        <p:spPr>
          <a:xfrm>
            <a:off x="1533525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8" name="Google Shape;718;p27"/>
          <p:cNvSpPr/>
          <p:nvPr/>
        </p:nvSpPr>
        <p:spPr>
          <a:xfrm>
            <a:off x="1533525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9" name="Google Shape;719;p27"/>
          <p:cNvSpPr/>
          <p:nvPr/>
        </p:nvSpPr>
        <p:spPr>
          <a:xfrm>
            <a:off x="1533525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0" name="Google Shape;720;p27"/>
          <p:cNvSpPr/>
          <p:nvPr/>
        </p:nvSpPr>
        <p:spPr>
          <a:xfrm>
            <a:off x="1533525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1" name="Google Shape;721;p27"/>
          <p:cNvSpPr/>
          <p:nvPr/>
        </p:nvSpPr>
        <p:spPr>
          <a:xfrm>
            <a:off x="1533525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2" name="Google Shape;722;p27"/>
          <p:cNvSpPr/>
          <p:nvPr/>
        </p:nvSpPr>
        <p:spPr>
          <a:xfrm>
            <a:off x="1533525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3" name="Google Shape;723;p27"/>
          <p:cNvSpPr/>
          <p:nvPr/>
        </p:nvSpPr>
        <p:spPr>
          <a:xfrm>
            <a:off x="1533525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4" name="Google Shape;724;p27"/>
          <p:cNvSpPr/>
          <p:nvPr/>
        </p:nvSpPr>
        <p:spPr>
          <a:xfrm>
            <a:off x="1533525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5" name="Google Shape;725;p27"/>
          <p:cNvSpPr/>
          <p:nvPr/>
        </p:nvSpPr>
        <p:spPr>
          <a:xfrm>
            <a:off x="1533525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6" name="Google Shape;726;p27"/>
          <p:cNvSpPr/>
          <p:nvPr/>
        </p:nvSpPr>
        <p:spPr>
          <a:xfrm>
            <a:off x="1533525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7" name="Google Shape;727;p27"/>
          <p:cNvSpPr/>
          <p:nvPr/>
        </p:nvSpPr>
        <p:spPr>
          <a:xfrm>
            <a:off x="1533525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8" name="Google Shape;728;p27"/>
          <p:cNvSpPr/>
          <p:nvPr/>
        </p:nvSpPr>
        <p:spPr>
          <a:xfrm>
            <a:off x="153352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9" name="Google Shape;729;p27"/>
          <p:cNvSpPr/>
          <p:nvPr/>
        </p:nvSpPr>
        <p:spPr>
          <a:xfrm>
            <a:off x="1533525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0" name="Google Shape;730;p27"/>
          <p:cNvSpPr/>
          <p:nvPr/>
        </p:nvSpPr>
        <p:spPr>
          <a:xfrm>
            <a:off x="1533525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1" name="Google Shape;731;p27"/>
          <p:cNvSpPr/>
          <p:nvPr/>
        </p:nvSpPr>
        <p:spPr>
          <a:xfrm>
            <a:off x="1533525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2" name="Google Shape;732;p27"/>
          <p:cNvSpPr/>
          <p:nvPr/>
        </p:nvSpPr>
        <p:spPr>
          <a:xfrm>
            <a:off x="1533525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3" name="Google Shape;733;p27"/>
          <p:cNvSpPr/>
          <p:nvPr/>
        </p:nvSpPr>
        <p:spPr>
          <a:xfrm>
            <a:off x="1533525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4" name="Google Shape;734;p27"/>
          <p:cNvSpPr/>
          <p:nvPr/>
        </p:nvSpPr>
        <p:spPr>
          <a:xfrm>
            <a:off x="1533525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5" name="Google Shape;735;p27"/>
          <p:cNvSpPr/>
          <p:nvPr/>
        </p:nvSpPr>
        <p:spPr>
          <a:xfrm>
            <a:off x="1533525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6" name="Google Shape;736;p27"/>
          <p:cNvSpPr/>
          <p:nvPr/>
        </p:nvSpPr>
        <p:spPr>
          <a:xfrm>
            <a:off x="1533525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7" name="Google Shape;737;p27"/>
          <p:cNvSpPr/>
          <p:nvPr/>
        </p:nvSpPr>
        <p:spPr>
          <a:xfrm>
            <a:off x="2714625" y="6115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8" name="Google Shape;738;p27"/>
          <p:cNvSpPr/>
          <p:nvPr/>
        </p:nvSpPr>
        <p:spPr>
          <a:xfrm>
            <a:off x="2714625" y="17342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9" name="Google Shape;739;p27"/>
          <p:cNvSpPr/>
          <p:nvPr/>
        </p:nvSpPr>
        <p:spPr>
          <a:xfrm>
            <a:off x="2714625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0" name="Google Shape;740;p27"/>
          <p:cNvSpPr/>
          <p:nvPr/>
        </p:nvSpPr>
        <p:spPr>
          <a:xfrm>
            <a:off x="2714625" y="22994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1" name="Google Shape;741;p27"/>
          <p:cNvSpPr/>
          <p:nvPr/>
        </p:nvSpPr>
        <p:spPr>
          <a:xfrm>
            <a:off x="3228975" y="14078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2" name="Google Shape;742;p27"/>
          <p:cNvSpPr/>
          <p:nvPr/>
        </p:nvSpPr>
        <p:spPr>
          <a:xfrm>
            <a:off x="3390900" y="15029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3" name="Google Shape;743;p27"/>
          <p:cNvSpPr/>
          <p:nvPr/>
        </p:nvSpPr>
        <p:spPr>
          <a:xfrm>
            <a:off x="3228975" y="15981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4" name="Google Shape;744;p27"/>
          <p:cNvSpPr/>
          <p:nvPr/>
        </p:nvSpPr>
        <p:spPr>
          <a:xfrm>
            <a:off x="3324225" y="17886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5" name="Google Shape;745;p27"/>
          <p:cNvSpPr/>
          <p:nvPr/>
        </p:nvSpPr>
        <p:spPr>
          <a:xfrm>
            <a:off x="3324225" y="1312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6" name="Google Shape;746;p27"/>
          <p:cNvSpPr/>
          <p:nvPr/>
        </p:nvSpPr>
        <p:spPr>
          <a:xfrm>
            <a:off x="3162300" y="170092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7" name="Google Shape;747;p27"/>
          <p:cNvSpPr/>
          <p:nvPr/>
        </p:nvSpPr>
        <p:spPr>
          <a:xfrm>
            <a:off x="2714625" y="20200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8" name="Google Shape;748;p27"/>
          <p:cNvSpPr/>
          <p:nvPr/>
        </p:nvSpPr>
        <p:spPr>
          <a:xfrm>
            <a:off x="2714625" y="19247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9" name="Google Shape;749;p27"/>
          <p:cNvSpPr/>
          <p:nvPr/>
        </p:nvSpPr>
        <p:spPr>
          <a:xfrm>
            <a:off x="3489740" y="170021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0" name="Google Shape;750;p27"/>
          <p:cNvSpPr/>
          <p:nvPr/>
        </p:nvSpPr>
        <p:spPr>
          <a:xfrm>
            <a:off x="316230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1" name="Google Shape;751;p27"/>
          <p:cNvSpPr/>
          <p:nvPr/>
        </p:nvSpPr>
        <p:spPr>
          <a:xfrm>
            <a:off x="2714625" y="18295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2" name="Google Shape;752;p27"/>
          <p:cNvSpPr/>
          <p:nvPr/>
        </p:nvSpPr>
        <p:spPr>
          <a:xfrm>
            <a:off x="2714625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3" name="Google Shape;753;p27"/>
          <p:cNvSpPr/>
          <p:nvPr/>
        </p:nvSpPr>
        <p:spPr>
          <a:xfrm>
            <a:off x="2714625" y="8973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4" name="Google Shape;754;p27"/>
          <p:cNvSpPr/>
          <p:nvPr/>
        </p:nvSpPr>
        <p:spPr>
          <a:xfrm>
            <a:off x="2714625" y="23946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5" name="Google Shape;755;p27"/>
          <p:cNvSpPr/>
          <p:nvPr/>
        </p:nvSpPr>
        <p:spPr>
          <a:xfrm>
            <a:off x="322897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6" name="Google Shape;756;p27"/>
          <p:cNvSpPr/>
          <p:nvPr/>
        </p:nvSpPr>
        <p:spPr>
          <a:xfrm>
            <a:off x="2714625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7" name="Google Shape;757;p27"/>
          <p:cNvSpPr/>
          <p:nvPr/>
        </p:nvSpPr>
        <p:spPr>
          <a:xfrm>
            <a:off x="2714625" y="8020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8" name="Google Shape;758;p27"/>
          <p:cNvSpPr/>
          <p:nvPr/>
        </p:nvSpPr>
        <p:spPr>
          <a:xfrm>
            <a:off x="2714625" y="7068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9" name="Google Shape;759;p27"/>
          <p:cNvSpPr txBox="1"/>
          <p:nvPr/>
        </p:nvSpPr>
        <p:spPr>
          <a:xfrm>
            <a:off x="2269350" y="58525"/>
            <a:ext cx="11559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accessions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7"/>
          <p:cNvSpPr txBox="1"/>
          <p:nvPr/>
        </p:nvSpPr>
        <p:spPr>
          <a:xfrm>
            <a:off x="3004171" y="732787"/>
            <a:ext cx="8280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Unmapped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7"/>
          <p:cNvSpPr txBox="1"/>
          <p:nvPr/>
        </p:nvSpPr>
        <p:spPr>
          <a:xfrm>
            <a:off x="5610292" y="502030"/>
            <a:ext cx="8079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7"/>
          <p:cNvSpPr txBox="1"/>
          <p:nvPr/>
        </p:nvSpPr>
        <p:spPr>
          <a:xfrm>
            <a:off x="5636942" y="768322"/>
            <a:ext cx="477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7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7"/>
          <p:cNvSpPr/>
          <p:nvPr/>
        </p:nvSpPr>
        <p:spPr>
          <a:xfrm>
            <a:off x="3214388" y="2706064"/>
            <a:ext cx="4770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5" name="Google Shape;765;p27"/>
          <p:cNvSpPr/>
          <p:nvPr/>
        </p:nvSpPr>
        <p:spPr>
          <a:xfrm>
            <a:off x="3214388" y="2599209"/>
            <a:ext cx="4770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6" name="Google Shape;766;p27"/>
          <p:cNvSpPr/>
          <p:nvPr/>
        </p:nvSpPr>
        <p:spPr>
          <a:xfrm>
            <a:off x="3214388" y="2492350"/>
            <a:ext cx="4770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7" name="Google Shape;767;p27"/>
          <p:cNvSpPr/>
          <p:nvPr/>
        </p:nvSpPr>
        <p:spPr>
          <a:xfrm>
            <a:off x="3214388" y="2812897"/>
            <a:ext cx="4770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68" name="Google Shape;768;p27"/>
          <p:cNvCxnSpPr/>
          <p:nvPr/>
        </p:nvCxnSpPr>
        <p:spPr>
          <a:xfrm>
            <a:off x="2849250" y="3083064"/>
            <a:ext cx="22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69" name="Google Shape;769;p27"/>
          <p:cNvSpPr txBox="1"/>
          <p:nvPr/>
        </p:nvSpPr>
        <p:spPr>
          <a:xfrm>
            <a:off x="2997788" y="2919725"/>
            <a:ext cx="9102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Database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7"/>
          <p:cNvSpPr/>
          <p:nvPr/>
        </p:nvSpPr>
        <p:spPr>
          <a:xfrm>
            <a:off x="4809975" y="26423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1" name="Google Shape;771;p27"/>
          <p:cNvSpPr/>
          <p:nvPr/>
        </p:nvSpPr>
        <p:spPr>
          <a:xfrm>
            <a:off x="5351038" y="1218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2" name="Google Shape;772;p27"/>
          <p:cNvSpPr/>
          <p:nvPr/>
        </p:nvSpPr>
        <p:spPr>
          <a:xfrm>
            <a:off x="5324400" y="1799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3" name="Google Shape;773;p27"/>
          <p:cNvSpPr/>
          <p:nvPr/>
        </p:nvSpPr>
        <p:spPr>
          <a:xfrm>
            <a:off x="5351038" y="1123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4" name="Google Shape;774;p27"/>
          <p:cNvSpPr/>
          <p:nvPr/>
        </p:nvSpPr>
        <p:spPr>
          <a:xfrm>
            <a:off x="4581375" y="5539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5" name="Google Shape;775;p27"/>
          <p:cNvSpPr/>
          <p:nvPr/>
        </p:nvSpPr>
        <p:spPr>
          <a:xfrm>
            <a:off x="4584263" y="130378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6" name="Google Shape;776;p27"/>
          <p:cNvSpPr/>
          <p:nvPr/>
        </p:nvSpPr>
        <p:spPr>
          <a:xfrm>
            <a:off x="5284490" y="64967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7" name="Google Shape;777;p27"/>
          <p:cNvSpPr/>
          <p:nvPr/>
        </p:nvSpPr>
        <p:spPr>
          <a:xfrm>
            <a:off x="4605325" y="197736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8" name="Google Shape;778;p27"/>
          <p:cNvSpPr/>
          <p:nvPr/>
        </p:nvSpPr>
        <p:spPr>
          <a:xfrm>
            <a:off x="5214950" y="245499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79" name="Google Shape;779;p27"/>
          <p:cNvCxnSpPr>
            <a:endCxn id="769" idx="1"/>
          </p:cNvCxnSpPr>
          <p:nvPr/>
        </p:nvCxnSpPr>
        <p:spPr>
          <a:xfrm rot="-5400000" flipH="1">
            <a:off x="2650538" y="2735825"/>
            <a:ext cx="546000" cy="14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0" name="Google Shape;780;p27"/>
          <p:cNvCxnSpPr/>
          <p:nvPr/>
        </p:nvCxnSpPr>
        <p:spPr>
          <a:xfrm>
            <a:off x="3814500" y="3083064"/>
            <a:ext cx="2537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81" name="Google Shape;781;p27"/>
          <p:cNvSpPr txBox="1"/>
          <p:nvPr/>
        </p:nvSpPr>
        <p:spPr>
          <a:xfrm>
            <a:off x="516725" y="3314700"/>
            <a:ext cx="7980900" cy="19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1500"/>
              <a:buFont typeface="Avenir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3: Assemble contigs and map reads to contigs</a:t>
            </a:r>
            <a:endParaRPr sz="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Assemble reads into contigs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using de novo assembly (</a:t>
            </a:r>
            <a:r>
              <a:rPr lang="en" sz="15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SPAdes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).</a:t>
            </a:r>
            <a:endParaRPr sz="1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Align reads to assembled contigs (</a:t>
            </a:r>
            <a:r>
              <a:rPr lang="en" sz="15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Bowtie2</a:t>
            </a: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).</a:t>
            </a:r>
            <a:endParaRPr sz="1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82" name="Google Shape;782;p27"/>
          <p:cNvSpPr/>
          <p:nvPr/>
        </p:nvSpPr>
        <p:spPr>
          <a:xfrm>
            <a:off x="216550" y="554425"/>
            <a:ext cx="2390700" cy="25674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3" name="Google Shape;783;p27"/>
          <p:cNvSpPr/>
          <p:nvPr/>
        </p:nvSpPr>
        <p:spPr>
          <a:xfrm>
            <a:off x="268725" y="248225"/>
            <a:ext cx="1810500" cy="1494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4" name="Google Shape;784;p27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7"/>
          <p:cNvSpPr txBox="1"/>
          <p:nvPr/>
        </p:nvSpPr>
        <p:spPr>
          <a:xfrm>
            <a:off x="6821100" y="4811650"/>
            <a:ext cx="232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DA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Bioinformatic tool/software</a:t>
            </a:r>
            <a:endParaRPr sz="1200" b="0" i="0" u="none" strike="noStrike" cap="none">
              <a:solidFill>
                <a:srgbClr val="1DAD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8"/>
          <p:cNvSpPr/>
          <p:nvPr/>
        </p:nvSpPr>
        <p:spPr>
          <a:xfrm>
            <a:off x="846825" y="1468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Filtering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8"/>
          <p:cNvSpPr/>
          <p:nvPr/>
        </p:nvSpPr>
        <p:spPr>
          <a:xfrm>
            <a:off x="1918500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8"/>
          <p:cNvSpPr/>
          <p:nvPr/>
        </p:nvSpPr>
        <p:spPr>
          <a:xfrm>
            <a:off x="3856725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Assembly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8"/>
          <p:cNvSpPr/>
          <p:nvPr/>
        </p:nvSpPr>
        <p:spPr>
          <a:xfrm>
            <a:off x="4772025" y="4591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4" name="Google Shape;794;p28"/>
          <p:cNvSpPr/>
          <p:nvPr/>
        </p:nvSpPr>
        <p:spPr>
          <a:xfrm>
            <a:off x="4848225" y="18104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5" name="Google Shape;795;p28"/>
          <p:cNvSpPr/>
          <p:nvPr/>
        </p:nvSpPr>
        <p:spPr>
          <a:xfrm>
            <a:off x="4827163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6" name="Google Shape;796;p28"/>
          <p:cNvSpPr/>
          <p:nvPr/>
        </p:nvSpPr>
        <p:spPr>
          <a:xfrm>
            <a:off x="4738700" y="24518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7" name="Google Shape;797;p28"/>
          <p:cNvSpPr/>
          <p:nvPr/>
        </p:nvSpPr>
        <p:spPr>
          <a:xfrm>
            <a:off x="4943475" y="20962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8" name="Google Shape;798;p28"/>
          <p:cNvSpPr/>
          <p:nvPr/>
        </p:nvSpPr>
        <p:spPr>
          <a:xfrm>
            <a:off x="5276850" y="20009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9" name="Google Shape;799;p28"/>
          <p:cNvSpPr/>
          <p:nvPr/>
        </p:nvSpPr>
        <p:spPr>
          <a:xfrm>
            <a:off x="5372100" y="19057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0" name="Google Shape;800;p28"/>
          <p:cNvSpPr/>
          <p:nvPr/>
        </p:nvSpPr>
        <p:spPr>
          <a:xfrm>
            <a:off x="5065288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1" name="Google Shape;801;p28"/>
          <p:cNvSpPr/>
          <p:nvPr/>
        </p:nvSpPr>
        <p:spPr>
          <a:xfrm>
            <a:off x="5057775" y="7449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2" name="Google Shape;802;p28"/>
          <p:cNvSpPr/>
          <p:nvPr/>
        </p:nvSpPr>
        <p:spPr>
          <a:xfrm>
            <a:off x="4976825" y="25470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3" name="Google Shape;803;p28"/>
          <p:cNvSpPr/>
          <p:nvPr/>
        </p:nvSpPr>
        <p:spPr>
          <a:xfrm>
            <a:off x="5303413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4" name="Google Shape;804;p28"/>
          <p:cNvSpPr/>
          <p:nvPr/>
        </p:nvSpPr>
        <p:spPr>
          <a:xfrm>
            <a:off x="4867275" y="6496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5" name="Google Shape;805;p28"/>
          <p:cNvSpPr/>
          <p:nvPr/>
        </p:nvSpPr>
        <p:spPr>
          <a:xfrm>
            <a:off x="4914900" y="5544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6" name="Google Shape;806;p28"/>
          <p:cNvSpPr/>
          <p:nvPr/>
        </p:nvSpPr>
        <p:spPr>
          <a:xfrm>
            <a:off x="4581525" y="840175"/>
            <a:ext cx="9888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7" name="Google Shape;807;p28"/>
          <p:cNvSpPr/>
          <p:nvPr/>
        </p:nvSpPr>
        <p:spPr>
          <a:xfrm>
            <a:off x="4584263" y="1502900"/>
            <a:ext cx="107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8" name="Google Shape;808;p28"/>
          <p:cNvSpPr/>
          <p:nvPr/>
        </p:nvSpPr>
        <p:spPr>
          <a:xfrm>
            <a:off x="4605325" y="2191450"/>
            <a:ext cx="624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9" name="Google Shape;809;p28"/>
          <p:cNvSpPr/>
          <p:nvPr/>
        </p:nvSpPr>
        <p:spPr>
          <a:xfrm>
            <a:off x="5276850" y="2191461"/>
            <a:ext cx="38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0" name="Google Shape;810;p28"/>
          <p:cNvSpPr/>
          <p:nvPr/>
        </p:nvSpPr>
        <p:spPr>
          <a:xfrm>
            <a:off x="4738700" y="2739950"/>
            <a:ext cx="762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1" name="Google Shape;811;p28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2" name="Google Shape;812;p28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3" name="Google Shape;813;p28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4" name="Google Shape;814;p28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5" name="Google Shape;815;p28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6" name="Google Shape;816;p28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7" name="Google Shape;817;p28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8" name="Google Shape;818;p28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9" name="Google Shape;819;p28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0" name="Google Shape;820;p28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1" name="Google Shape;821;p28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2" name="Google Shape;822;p28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3" name="Google Shape;823;p28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4" name="Google Shape;824;p28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5" name="Google Shape;825;p28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6" name="Google Shape;826;p28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7" name="Google Shape;827;p28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8" name="Google Shape;828;p28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9" name="Google Shape;829;p28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0" name="Google Shape;830;p28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1" name="Google Shape;831;p28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2" name="Google Shape;832;p28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3" name="Google Shape;833;p28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4" name="Google Shape;834;p28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5" name="Google Shape;835;p28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6" name="Google Shape;836;p28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7" name="Google Shape;837;p28"/>
          <p:cNvSpPr/>
          <p:nvPr/>
        </p:nvSpPr>
        <p:spPr>
          <a:xfrm>
            <a:off x="1533525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8" name="Google Shape;838;p28"/>
          <p:cNvSpPr/>
          <p:nvPr/>
        </p:nvSpPr>
        <p:spPr>
          <a:xfrm>
            <a:off x="1533525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9" name="Google Shape;839;p28"/>
          <p:cNvSpPr/>
          <p:nvPr/>
        </p:nvSpPr>
        <p:spPr>
          <a:xfrm>
            <a:off x="1533525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0" name="Google Shape;840;p28"/>
          <p:cNvSpPr/>
          <p:nvPr/>
        </p:nvSpPr>
        <p:spPr>
          <a:xfrm>
            <a:off x="1533525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1" name="Google Shape;841;p28"/>
          <p:cNvSpPr/>
          <p:nvPr/>
        </p:nvSpPr>
        <p:spPr>
          <a:xfrm>
            <a:off x="1533525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2" name="Google Shape;842;p28"/>
          <p:cNvSpPr/>
          <p:nvPr/>
        </p:nvSpPr>
        <p:spPr>
          <a:xfrm>
            <a:off x="1533525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3" name="Google Shape;843;p28"/>
          <p:cNvSpPr/>
          <p:nvPr/>
        </p:nvSpPr>
        <p:spPr>
          <a:xfrm>
            <a:off x="1533525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4" name="Google Shape;844;p28"/>
          <p:cNvSpPr/>
          <p:nvPr/>
        </p:nvSpPr>
        <p:spPr>
          <a:xfrm>
            <a:off x="1533525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5" name="Google Shape;845;p28"/>
          <p:cNvSpPr/>
          <p:nvPr/>
        </p:nvSpPr>
        <p:spPr>
          <a:xfrm>
            <a:off x="1533525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6" name="Google Shape;846;p28"/>
          <p:cNvSpPr/>
          <p:nvPr/>
        </p:nvSpPr>
        <p:spPr>
          <a:xfrm>
            <a:off x="1533525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7" name="Google Shape;847;p28"/>
          <p:cNvSpPr/>
          <p:nvPr/>
        </p:nvSpPr>
        <p:spPr>
          <a:xfrm>
            <a:off x="1533525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8" name="Google Shape;848;p28"/>
          <p:cNvSpPr/>
          <p:nvPr/>
        </p:nvSpPr>
        <p:spPr>
          <a:xfrm>
            <a:off x="1533525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9" name="Google Shape;849;p28"/>
          <p:cNvSpPr/>
          <p:nvPr/>
        </p:nvSpPr>
        <p:spPr>
          <a:xfrm>
            <a:off x="1533525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0" name="Google Shape;850;p28"/>
          <p:cNvSpPr/>
          <p:nvPr/>
        </p:nvSpPr>
        <p:spPr>
          <a:xfrm>
            <a:off x="153352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1" name="Google Shape;851;p28"/>
          <p:cNvSpPr/>
          <p:nvPr/>
        </p:nvSpPr>
        <p:spPr>
          <a:xfrm>
            <a:off x="1533525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2" name="Google Shape;852;p28"/>
          <p:cNvSpPr/>
          <p:nvPr/>
        </p:nvSpPr>
        <p:spPr>
          <a:xfrm>
            <a:off x="1533525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3" name="Google Shape;853;p28"/>
          <p:cNvSpPr/>
          <p:nvPr/>
        </p:nvSpPr>
        <p:spPr>
          <a:xfrm>
            <a:off x="1533525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4" name="Google Shape;854;p28"/>
          <p:cNvSpPr/>
          <p:nvPr/>
        </p:nvSpPr>
        <p:spPr>
          <a:xfrm>
            <a:off x="1533525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5" name="Google Shape;855;p28"/>
          <p:cNvSpPr/>
          <p:nvPr/>
        </p:nvSpPr>
        <p:spPr>
          <a:xfrm>
            <a:off x="1533525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6" name="Google Shape;856;p28"/>
          <p:cNvSpPr/>
          <p:nvPr/>
        </p:nvSpPr>
        <p:spPr>
          <a:xfrm>
            <a:off x="1533525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7" name="Google Shape;857;p28"/>
          <p:cNvSpPr/>
          <p:nvPr/>
        </p:nvSpPr>
        <p:spPr>
          <a:xfrm>
            <a:off x="1533525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8" name="Google Shape;858;p28"/>
          <p:cNvSpPr/>
          <p:nvPr/>
        </p:nvSpPr>
        <p:spPr>
          <a:xfrm>
            <a:off x="1533525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9" name="Google Shape;859;p28"/>
          <p:cNvSpPr/>
          <p:nvPr/>
        </p:nvSpPr>
        <p:spPr>
          <a:xfrm>
            <a:off x="2714625" y="6115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0" name="Google Shape;860;p28"/>
          <p:cNvSpPr/>
          <p:nvPr/>
        </p:nvSpPr>
        <p:spPr>
          <a:xfrm>
            <a:off x="2714625" y="17342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1" name="Google Shape;861;p28"/>
          <p:cNvSpPr/>
          <p:nvPr/>
        </p:nvSpPr>
        <p:spPr>
          <a:xfrm>
            <a:off x="2714625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2" name="Google Shape;862;p28"/>
          <p:cNvSpPr/>
          <p:nvPr/>
        </p:nvSpPr>
        <p:spPr>
          <a:xfrm>
            <a:off x="2714625" y="22994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3" name="Google Shape;863;p28"/>
          <p:cNvSpPr/>
          <p:nvPr/>
        </p:nvSpPr>
        <p:spPr>
          <a:xfrm>
            <a:off x="3228975" y="14078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4" name="Google Shape;864;p28"/>
          <p:cNvSpPr/>
          <p:nvPr/>
        </p:nvSpPr>
        <p:spPr>
          <a:xfrm>
            <a:off x="3390900" y="15029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5" name="Google Shape;865;p28"/>
          <p:cNvSpPr/>
          <p:nvPr/>
        </p:nvSpPr>
        <p:spPr>
          <a:xfrm>
            <a:off x="3228975" y="15981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6" name="Google Shape;866;p28"/>
          <p:cNvSpPr/>
          <p:nvPr/>
        </p:nvSpPr>
        <p:spPr>
          <a:xfrm>
            <a:off x="3324225" y="17886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7" name="Google Shape;867;p28"/>
          <p:cNvSpPr/>
          <p:nvPr/>
        </p:nvSpPr>
        <p:spPr>
          <a:xfrm>
            <a:off x="3324225" y="1312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8" name="Google Shape;868;p28"/>
          <p:cNvSpPr/>
          <p:nvPr/>
        </p:nvSpPr>
        <p:spPr>
          <a:xfrm>
            <a:off x="3162300" y="170092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9" name="Google Shape;869;p28"/>
          <p:cNvSpPr/>
          <p:nvPr/>
        </p:nvSpPr>
        <p:spPr>
          <a:xfrm>
            <a:off x="2714625" y="20200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0" name="Google Shape;870;p28"/>
          <p:cNvSpPr/>
          <p:nvPr/>
        </p:nvSpPr>
        <p:spPr>
          <a:xfrm>
            <a:off x="2714625" y="19247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1" name="Google Shape;871;p28"/>
          <p:cNvSpPr/>
          <p:nvPr/>
        </p:nvSpPr>
        <p:spPr>
          <a:xfrm>
            <a:off x="3489740" y="170021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2" name="Google Shape;872;p28"/>
          <p:cNvSpPr/>
          <p:nvPr/>
        </p:nvSpPr>
        <p:spPr>
          <a:xfrm>
            <a:off x="316230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3" name="Google Shape;873;p28"/>
          <p:cNvSpPr/>
          <p:nvPr/>
        </p:nvSpPr>
        <p:spPr>
          <a:xfrm>
            <a:off x="2714625" y="18295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4" name="Google Shape;874;p28"/>
          <p:cNvSpPr/>
          <p:nvPr/>
        </p:nvSpPr>
        <p:spPr>
          <a:xfrm>
            <a:off x="2714625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5" name="Google Shape;875;p28"/>
          <p:cNvSpPr/>
          <p:nvPr/>
        </p:nvSpPr>
        <p:spPr>
          <a:xfrm>
            <a:off x="2714625" y="8973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6" name="Google Shape;876;p28"/>
          <p:cNvSpPr/>
          <p:nvPr/>
        </p:nvSpPr>
        <p:spPr>
          <a:xfrm>
            <a:off x="2714625" y="23946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7" name="Google Shape;877;p28"/>
          <p:cNvSpPr/>
          <p:nvPr/>
        </p:nvSpPr>
        <p:spPr>
          <a:xfrm>
            <a:off x="322897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8" name="Google Shape;878;p28"/>
          <p:cNvSpPr/>
          <p:nvPr/>
        </p:nvSpPr>
        <p:spPr>
          <a:xfrm>
            <a:off x="2714625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9" name="Google Shape;879;p28"/>
          <p:cNvSpPr/>
          <p:nvPr/>
        </p:nvSpPr>
        <p:spPr>
          <a:xfrm>
            <a:off x="2714625" y="8020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0" name="Google Shape;880;p28"/>
          <p:cNvSpPr/>
          <p:nvPr/>
        </p:nvSpPr>
        <p:spPr>
          <a:xfrm>
            <a:off x="2714625" y="7068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1" name="Google Shape;881;p28"/>
          <p:cNvSpPr txBox="1"/>
          <p:nvPr/>
        </p:nvSpPr>
        <p:spPr>
          <a:xfrm>
            <a:off x="2269350" y="58525"/>
            <a:ext cx="11559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accessions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8"/>
          <p:cNvSpPr txBox="1"/>
          <p:nvPr/>
        </p:nvSpPr>
        <p:spPr>
          <a:xfrm>
            <a:off x="3004171" y="732787"/>
            <a:ext cx="8280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Unmapped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28"/>
          <p:cNvSpPr txBox="1"/>
          <p:nvPr/>
        </p:nvSpPr>
        <p:spPr>
          <a:xfrm>
            <a:off x="5610292" y="502030"/>
            <a:ext cx="8079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28"/>
          <p:cNvSpPr txBox="1"/>
          <p:nvPr/>
        </p:nvSpPr>
        <p:spPr>
          <a:xfrm>
            <a:off x="5636942" y="768322"/>
            <a:ext cx="477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28"/>
          <p:cNvSpPr/>
          <p:nvPr/>
        </p:nvSpPr>
        <p:spPr>
          <a:xfrm>
            <a:off x="5724375" y="1468525"/>
            <a:ext cx="6240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28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28"/>
          <p:cNvSpPr/>
          <p:nvPr/>
        </p:nvSpPr>
        <p:spPr>
          <a:xfrm>
            <a:off x="3214388" y="2706064"/>
            <a:ext cx="4770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8" name="Google Shape;888;p28"/>
          <p:cNvSpPr/>
          <p:nvPr/>
        </p:nvSpPr>
        <p:spPr>
          <a:xfrm>
            <a:off x="3214388" y="2599209"/>
            <a:ext cx="4770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9" name="Google Shape;889;p28"/>
          <p:cNvSpPr/>
          <p:nvPr/>
        </p:nvSpPr>
        <p:spPr>
          <a:xfrm>
            <a:off x="3214388" y="2492350"/>
            <a:ext cx="4770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0" name="Google Shape;890;p28"/>
          <p:cNvSpPr/>
          <p:nvPr/>
        </p:nvSpPr>
        <p:spPr>
          <a:xfrm>
            <a:off x="3214388" y="2812897"/>
            <a:ext cx="4770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91" name="Google Shape;891;p28"/>
          <p:cNvCxnSpPr/>
          <p:nvPr/>
        </p:nvCxnSpPr>
        <p:spPr>
          <a:xfrm>
            <a:off x="2849250" y="3083064"/>
            <a:ext cx="22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92" name="Google Shape;892;p28"/>
          <p:cNvSpPr txBox="1"/>
          <p:nvPr/>
        </p:nvSpPr>
        <p:spPr>
          <a:xfrm>
            <a:off x="2997788" y="2919725"/>
            <a:ext cx="9102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Database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28"/>
          <p:cNvSpPr/>
          <p:nvPr/>
        </p:nvSpPr>
        <p:spPr>
          <a:xfrm>
            <a:off x="4809975" y="26423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4" name="Google Shape;894;p28"/>
          <p:cNvSpPr/>
          <p:nvPr/>
        </p:nvSpPr>
        <p:spPr>
          <a:xfrm>
            <a:off x="5351038" y="1218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5" name="Google Shape;895;p28"/>
          <p:cNvSpPr/>
          <p:nvPr/>
        </p:nvSpPr>
        <p:spPr>
          <a:xfrm>
            <a:off x="5324400" y="1799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6" name="Google Shape;896;p28"/>
          <p:cNvSpPr/>
          <p:nvPr/>
        </p:nvSpPr>
        <p:spPr>
          <a:xfrm>
            <a:off x="5351038" y="1123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7" name="Google Shape;897;p28"/>
          <p:cNvSpPr/>
          <p:nvPr/>
        </p:nvSpPr>
        <p:spPr>
          <a:xfrm>
            <a:off x="4581375" y="5539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8" name="Google Shape;898;p28"/>
          <p:cNvSpPr/>
          <p:nvPr/>
        </p:nvSpPr>
        <p:spPr>
          <a:xfrm>
            <a:off x="4584263" y="130378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9" name="Google Shape;899;p28"/>
          <p:cNvSpPr/>
          <p:nvPr/>
        </p:nvSpPr>
        <p:spPr>
          <a:xfrm>
            <a:off x="5284490" y="64967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0" name="Google Shape;900;p28"/>
          <p:cNvSpPr/>
          <p:nvPr/>
        </p:nvSpPr>
        <p:spPr>
          <a:xfrm>
            <a:off x="4605325" y="197736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1" name="Google Shape;901;p28"/>
          <p:cNvSpPr/>
          <p:nvPr/>
        </p:nvSpPr>
        <p:spPr>
          <a:xfrm>
            <a:off x="5214950" y="245499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2" name="Google Shape;902;p28"/>
          <p:cNvSpPr/>
          <p:nvPr/>
        </p:nvSpPr>
        <p:spPr>
          <a:xfrm>
            <a:off x="6440125" y="1088425"/>
            <a:ext cx="879000" cy="66600"/>
          </a:xfrm>
          <a:prstGeom prst="rect">
            <a:avLst/>
          </a:prstGeom>
          <a:solidFill>
            <a:srgbClr val="0076B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3" name="Google Shape;903;p28"/>
          <p:cNvSpPr/>
          <p:nvPr/>
        </p:nvSpPr>
        <p:spPr>
          <a:xfrm>
            <a:off x="6440125" y="1408250"/>
            <a:ext cx="951900" cy="66600"/>
          </a:xfrm>
          <a:prstGeom prst="rect">
            <a:avLst/>
          </a:prstGeom>
          <a:solidFill>
            <a:srgbClr val="B416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4" name="Google Shape;904;p28"/>
          <p:cNvSpPr/>
          <p:nvPr/>
        </p:nvSpPr>
        <p:spPr>
          <a:xfrm>
            <a:off x="6440125" y="1728075"/>
            <a:ext cx="554400" cy="6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5" name="Google Shape;905;p28"/>
          <p:cNvSpPr/>
          <p:nvPr/>
        </p:nvSpPr>
        <p:spPr>
          <a:xfrm>
            <a:off x="7037005" y="1728086"/>
            <a:ext cx="338700" cy="6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6" name="Google Shape;906;p28"/>
          <p:cNvSpPr/>
          <p:nvPr/>
        </p:nvSpPr>
        <p:spPr>
          <a:xfrm>
            <a:off x="6440125" y="2047900"/>
            <a:ext cx="677400" cy="66600"/>
          </a:xfrm>
          <a:prstGeom prst="rect">
            <a:avLst/>
          </a:prstGeom>
          <a:solidFill>
            <a:srgbClr val="016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07" name="Google Shape;907;p28"/>
          <p:cNvCxnSpPr>
            <a:endCxn id="892" idx="1"/>
          </p:cNvCxnSpPr>
          <p:nvPr/>
        </p:nvCxnSpPr>
        <p:spPr>
          <a:xfrm rot="-5400000" flipH="1">
            <a:off x="2650538" y="2735825"/>
            <a:ext cx="546000" cy="14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8" name="Google Shape;908;p28"/>
          <p:cNvCxnSpPr/>
          <p:nvPr/>
        </p:nvCxnSpPr>
        <p:spPr>
          <a:xfrm>
            <a:off x="3814500" y="3083064"/>
            <a:ext cx="2537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09" name="Google Shape;909;p28"/>
          <p:cNvSpPr txBox="1"/>
          <p:nvPr/>
        </p:nvSpPr>
        <p:spPr>
          <a:xfrm>
            <a:off x="6377723" y="112173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A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28"/>
          <p:cNvSpPr txBox="1"/>
          <p:nvPr/>
        </p:nvSpPr>
        <p:spPr>
          <a:xfrm>
            <a:off x="6377723" y="1458413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B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28"/>
          <p:cNvSpPr txBox="1"/>
          <p:nvPr/>
        </p:nvSpPr>
        <p:spPr>
          <a:xfrm>
            <a:off x="6377723" y="179508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C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28"/>
          <p:cNvSpPr txBox="1"/>
          <p:nvPr/>
        </p:nvSpPr>
        <p:spPr>
          <a:xfrm>
            <a:off x="6377723" y="211448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D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8"/>
          <p:cNvSpPr txBox="1"/>
          <p:nvPr/>
        </p:nvSpPr>
        <p:spPr>
          <a:xfrm>
            <a:off x="516725" y="3314700"/>
            <a:ext cx="7980900" cy="19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1500"/>
              <a:buFont typeface="Avenir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4: Align contigs against custom database</a:t>
            </a:r>
            <a:r>
              <a:rPr lang="en" sz="1500" b="0" i="0" u="none" strike="noStrike" cap="none">
                <a:solidFill>
                  <a:srgbClr val="9DC0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Align contigs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against database of preliminary accessions generated in the previous step (</a:t>
            </a:r>
            <a:r>
              <a:rPr lang="en" sz="15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BLAST</a:t>
            </a: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  <a:endParaRPr sz="1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14" name="Google Shape;914;p28"/>
          <p:cNvSpPr/>
          <p:nvPr/>
        </p:nvSpPr>
        <p:spPr>
          <a:xfrm>
            <a:off x="216550" y="554425"/>
            <a:ext cx="2390700" cy="25674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5" name="Google Shape;915;p28"/>
          <p:cNvSpPr/>
          <p:nvPr/>
        </p:nvSpPr>
        <p:spPr>
          <a:xfrm>
            <a:off x="268725" y="116225"/>
            <a:ext cx="3246300" cy="3864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6" name="Google Shape;916;p28"/>
          <p:cNvSpPr/>
          <p:nvPr/>
        </p:nvSpPr>
        <p:spPr>
          <a:xfrm>
            <a:off x="2629200" y="540350"/>
            <a:ext cx="1938300" cy="19293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7" name="Google Shape;917;p28"/>
          <p:cNvSpPr/>
          <p:nvPr/>
        </p:nvSpPr>
        <p:spPr>
          <a:xfrm>
            <a:off x="2703825" y="2505450"/>
            <a:ext cx="412800" cy="6570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8" name="Google Shape;918;p28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28"/>
          <p:cNvSpPr txBox="1"/>
          <p:nvPr/>
        </p:nvSpPr>
        <p:spPr>
          <a:xfrm>
            <a:off x="6821100" y="4811650"/>
            <a:ext cx="232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DA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Bioinformatic tool/software</a:t>
            </a:r>
            <a:endParaRPr sz="1200" b="0" i="0" u="none" strike="noStrike" cap="none">
              <a:solidFill>
                <a:srgbClr val="1DAD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29"/>
          <p:cNvSpPr/>
          <p:nvPr/>
        </p:nvSpPr>
        <p:spPr>
          <a:xfrm>
            <a:off x="846825" y="1468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Filtering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29"/>
          <p:cNvSpPr/>
          <p:nvPr/>
        </p:nvSpPr>
        <p:spPr>
          <a:xfrm>
            <a:off x="1918500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29"/>
          <p:cNvSpPr/>
          <p:nvPr/>
        </p:nvSpPr>
        <p:spPr>
          <a:xfrm>
            <a:off x="3856725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Assembly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29"/>
          <p:cNvSpPr/>
          <p:nvPr/>
        </p:nvSpPr>
        <p:spPr>
          <a:xfrm>
            <a:off x="4772025" y="4591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8" name="Google Shape;928;p29"/>
          <p:cNvSpPr/>
          <p:nvPr/>
        </p:nvSpPr>
        <p:spPr>
          <a:xfrm>
            <a:off x="4848225" y="18104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9" name="Google Shape;929;p29"/>
          <p:cNvSpPr/>
          <p:nvPr/>
        </p:nvSpPr>
        <p:spPr>
          <a:xfrm>
            <a:off x="4827163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0" name="Google Shape;930;p29"/>
          <p:cNvSpPr/>
          <p:nvPr/>
        </p:nvSpPr>
        <p:spPr>
          <a:xfrm>
            <a:off x="4738700" y="24518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1" name="Google Shape;931;p29"/>
          <p:cNvSpPr/>
          <p:nvPr/>
        </p:nvSpPr>
        <p:spPr>
          <a:xfrm>
            <a:off x="4943475" y="20962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2" name="Google Shape;932;p29"/>
          <p:cNvSpPr/>
          <p:nvPr/>
        </p:nvSpPr>
        <p:spPr>
          <a:xfrm>
            <a:off x="5276850" y="20009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3" name="Google Shape;933;p29"/>
          <p:cNvSpPr/>
          <p:nvPr/>
        </p:nvSpPr>
        <p:spPr>
          <a:xfrm>
            <a:off x="5372100" y="19057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4" name="Google Shape;934;p29"/>
          <p:cNvSpPr/>
          <p:nvPr/>
        </p:nvSpPr>
        <p:spPr>
          <a:xfrm>
            <a:off x="5065288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5" name="Google Shape;935;p29"/>
          <p:cNvSpPr/>
          <p:nvPr/>
        </p:nvSpPr>
        <p:spPr>
          <a:xfrm>
            <a:off x="5057775" y="7449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6" name="Google Shape;936;p29"/>
          <p:cNvSpPr/>
          <p:nvPr/>
        </p:nvSpPr>
        <p:spPr>
          <a:xfrm>
            <a:off x="4976825" y="25470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7" name="Google Shape;937;p29"/>
          <p:cNvSpPr/>
          <p:nvPr/>
        </p:nvSpPr>
        <p:spPr>
          <a:xfrm>
            <a:off x="5303413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8" name="Google Shape;938;p29"/>
          <p:cNvSpPr/>
          <p:nvPr/>
        </p:nvSpPr>
        <p:spPr>
          <a:xfrm>
            <a:off x="4867275" y="6496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9" name="Google Shape;939;p29"/>
          <p:cNvSpPr/>
          <p:nvPr/>
        </p:nvSpPr>
        <p:spPr>
          <a:xfrm>
            <a:off x="4914900" y="5544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0" name="Google Shape;940;p29"/>
          <p:cNvSpPr/>
          <p:nvPr/>
        </p:nvSpPr>
        <p:spPr>
          <a:xfrm>
            <a:off x="4581525" y="840175"/>
            <a:ext cx="9888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1" name="Google Shape;941;p29"/>
          <p:cNvSpPr/>
          <p:nvPr/>
        </p:nvSpPr>
        <p:spPr>
          <a:xfrm>
            <a:off x="4584263" y="1502900"/>
            <a:ext cx="107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2" name="Google Shape;942;p29"/>
          <p:cNvSpPr/>
          <p:nvPr/>
        </p:nvSpPr>
        <p:spPr>
          <a:xfrm>
            <a:off x="4605325" y="2191450"/>
            <a:ext cx="624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3" name="Google Shape;943;p29"/>
          <p:cNvSpPr/>
          <p:nvPr/>
        </p:nvSpPr>
        <p:spPr>
          <a:xfrm>
            <a:off x="5276850" y="2191461"/>
            <a:ext cx="38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4" name="Google Shape;944;p29"/>
          <p:cNvSpPr/>
          <p:nvPr/>
        </p:nvSpPr>
        <p:spPr>
          <a:xfrm>
            <a:off x="4738700" y="2739950"/>
            <a:ext cx="762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5" name="Google Shape;945;p29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6" name="Google Shape;946;p29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7" name="Google Shape;947;p29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8" name="Google Shape;948;p29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9" name="Google Shape;949;p29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0" name="Google Shape;950;p29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1" name="Google Shape;951;p29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2" name="Google Shape;952;p29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3" name="Google Shape;953;p29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4" name="Google Shape;954;p29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5" name="Google Shape;955;p29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6" name="Google Shape;956;p29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7" name="Google Shape;957;p29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8" name="Google Shape;958;p29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9" name="Google Shape;959;p29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0" name="Google Shape;960;p29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1" name="Google Shape;961;p29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2" name="Google Shape;962;p29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3" name="Google Shape;963;p29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4" name="Google Shape;964;p29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5" name="Google Shape;965;p29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6" name="Google Shape;966;p29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7" name="Google Shape;967;p29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8" name="Google Shape;968;p29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9" name="Google Shape;969;p29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0" name="Google Shape;970;p29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1" name="Google Shape;971;p29"/>
          <p:cNvSpPr/>
          <p:nvPr/>
        </p:nvSpPr>
        <p:spPr>
          <a:xfrm>
            <a:off x="1533525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2" name="Google Shape;972;p29"/>
          <p:cNvSpPr/>
          <p:nvPr/>
        </p:nvSpPr>
        <p:spPr>
          <a:xfrm>
            <a:off x="1533525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3" name="Google Shape;973;p29"/>
          <p:cNvSpPr/>
          <p:nvPr/>
        </p:nvSpPr>
        <p:spPr>
          <a:xfrm>
            <a:off x="1533525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4" name="Google Shape;974;p29"/>
          <p:cNvSpPr/>
          <p:nvPr/>
        </p:nvSpPr>
        <p:spPr>
          <a:xfrm>
            <a:off x="1533525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5" name="Google Shape;975;p29"/>
          <p:cNvSpPr/>
          <p:nvPr/>
        </p:nvSpPr>
        <p:spPr>
          <a:xfrm>
            <a:off x="1533525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6" name="Google Shape;976;p29"/>
          <p:cNvSpPr/>
          <p:nvPr/>
        </p:nvSpPr>
        <p:spPr>
          <a:xfrm>
            <a:off x="1533525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7" name="Google Shape;977;p29"/>
          <p:cNvSpPr/>
          <p:nvPr/>
        </p:nvSpPr>
        <p:spPr>
          <a:xfrm>
            <a:off x="1533525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8" name="Google Shape;978;p29"/>
          <p:cNvSpPr/>
          <p:nvPr/>
        </p:nvSpPr>
        <p:spPr>
          <a:xfrm>
            <a:off x="1533525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9" name="Google Shape;979;p29"/>
          <p:cNvSpPr/>
          <p:nvPr/>
        </p:nvSpPr>
        <p:spPr>
          <a:xfrm>
            <a:off x="1533525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0" name="Google Shape;980;p29"/>
          <p:cNvSpPr/>
          <p:nvPr/>
        </p:nvSpPr>
        <p:spPr>
          <a:xfrm>
            <a:off x="1533525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1" name="Google Shape;981;p29"/>
          <p:cNvSpPr/>
          <p:nvPr/>
        </p:nvSpPr>
        <p:spPr>
          <a:xfrm>
            <a:off x="1533525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2" name="Google Shape;982;p29"/>
          <p:cNvSpPr/>
          <p:nvPr/>
        </p:nvSpPr>
        <p:spPr>
          <a:xfrm>
            <a:off x="1533525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3" name="Google Shape;983;p29"/>
          <p:cNvSpPr/>
          <p:nvPr/>
        </p:nvSpPr>
        <p:spPr>
          <a:xfrm>
            <a:off x="1533525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4" name="Google Shape;984;p29"/>
          <p:cNvSpPr/>
          <p:nvPr/>
        </p:nvSpPr>
        <p:spPr>
          <a:xfrm>
            <a:off x="153352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5" name="Google Shape;985;p29"/>
          <p:cNvSpPr/>
          <p:nvPr/>
        </p:nvSpPr>
        <p:spPr>
          <a:xfrm>
            <a:off x="1533525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6" name="Google Shape;986;p29"/>
          <p:cNvSpPr/>
          <p:nvPr/>
        </p:nvSpPr>
        <p:spPr>
          <a:xfrm>
            <a:off x="1533525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7" name="Google Shape;987;p29"/>
          <p:cNvSpPr/>
          <p:nvPr/>
        </p:nvSpPr>
        <p:spPr>
          <a:xfrm>
            <a:off x="1533525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8" name="Google Shape;988;p29"/>
          <p:cNvSpPr/>
          <p:nvPr/>
        </p:nvSpPr>
        <p:spPr>
          <a:xfrm>
            <a:off x="1533525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9" name="Google Shape;989;p29"/>
          <p:cNvSpPr/>
          <p:nvPr/>
        </p:nvSpPr>
        <p:spPr>
          <a:xfrm>
            <a:off x="1533525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0" name="Google Shape;990;p29"/>
          <p:cNvSpPr/>
          <p:nvPr/>
        </p:nvSpPr>
        <p:spPr>
          <a:xfrm>
            <a:off x="1533525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1" name="Google Shape;991;p29"/>
          <p:cNvSpPr/>
          <p:nvPr/>
        </p:nvSpPr>
        <p:spPr>
          <a:xfrm>
            <a:off x="1533525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2" name="Google Shape;992;p29"/>
          <p:cNvSpPr/>
          <p:nvPr/>
        </p:nvSpPr>
        <p:spPr>
          <a:xfrm>
            <a:off x="1533525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3" name="Google Shape;993;p29"/>
          <p:cNvSpPr/>
          <p:nvPr/>
        </p:nvSpPr>
        <p:spPr>
          <a:xfrm>
            <a:off x="2714625" y="6115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4" name="Google Shape;994;p29"/>
          <p:cNvSpPr/>
          <p:nvPr/>
        </p:nvSpPr>
        <p:spPr>
          <a:xfrm>
            <a:off x="2714625" y="17342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5" name="Google Shape;995;p29"/>
          <p:cNvSpPr/>
          <p:nvPr/>
        </p:nvSpPr>
        <p:spPr>
          <a:xfrm>
            <a:off x="2714625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6" name="Google Shape;996;p29"/>
          <p:cNvSpPr/>
          <p:nvPr/>
        </p:nvSpPr>
        <p:spPr>
          <a:xfrm>
            <a:off x="2714625" y="22994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7" name="Google Shape;997;p29"/>
          <p:cNvSpPr/>
          <p:nvPr/>
        </p:nvSpPr>
        <p:spPr>
          <a:xfrm>
            <a:off x="3228975" y="14078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8" name="Google Shape;998;p29"/>
          <p:cNvSpPr/>
          <p:nvPr/>
        </p:nvSpPr>
        <p:spPr>
          <a:xfrm>
            <a:off x="3390900" y="15029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9" name="Google Shape;999;p29"/>
          <p:cNvSpPr/>
          <p:nvPr/>
        </p:nvSpPr>
        <p:spPr>
          <a:xfrm>
            <a:off x="3228975" y="15981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0" name="Google Shape;1000;p29"/>
          <p:cNvSpPr/>
          <p:nvPr/>
        </p:nvSpPr>
        <p:spPr>
          <a:xfrm>
            <a:off x="3324225" y="17886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1" name="Google Shape;1001;p29"/>
          <p:cNvSpPr/>
          <p:nvPr/>
        </p:nvSpPr>
        <p:spPr>
          <a:xfrm>
            <a:off x="3324225" y="1312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2" name="Google Shape;1002;p29"/>
          <p:cNvSpPr/>
          <p:nvPr/>
        </p:nvSpPr>
        <p:spPr>
          <a:xfrm>
            <a:off x="3162300" y="170092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3" name="Google Shape;1003;p29"/>
          <p:cNvSpPr/>
          <p:nvPr/>
        </p:nvSpPr>
        <p:spPr>
          <a:xfrm>
            <a:off x="2714625" y="20200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4" name="Google Shape;1004;p29"/>
          <p:cNvSpPr/>
          <p:nvPr/>
        </p:nvSpPr>
        <p:spPr>
          <a:xfrm>
            <a:off x="2714625" y="19247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5" name="Google Shape;1005;p29"/>
          <p:cNvSpPr/>
          <p:nvPr/>
        </p:nvSpPr>
        <p:spPr>
          <a:xfrm>
            <a:off x="3489740" y="170021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6" name="Google Shape;1006;p29"/>
          <p:cNvSpPr/>
          <p:nvPr/>
        </p:nvSpPr>
        <p:spPr>
          <a:xfrm>
            <a:off x="316230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7" name="Google Shape;1007;p29"/>
          <p:cNvSpPr/>
          <p:nvPr/>
        </p:nvSpPr>
        <p:spPr>
          <a:xfrm>
            <a:off x="2714625" y="18295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8" name="Google Shape;1008;p29"/>
          <p:cNvSpPr/>
          <p:nvPr/>
        </p:nvSpPr>
        <p:spPr>
          <a:xfrm>
            <a:off x="2714625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9" name="Google Shape;1009;p29"/>
          <p:cNvSpPr/>
          <p:nvPr/>
        </p:nvSpPr>
        <p:spPr>
          <a:xfrm>
            <a:off x="2714625" y="8973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0" name="Google Shape;1010;p29"/>
          <p:cNvSpPr/>
          <p:nvPr/>
        </p:nvSpPr>
        <p:spPr>
          <a:xfrm>
            <a:off x="2714625" y="23946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1" name="Google Shape;1011;p29"/>
          <p:cNvSpPr/>
          <p:nvPr/>
        </p:nvSpPr>
        <p:spPr>
          <a:xfrm>
            <a:off x="322897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2" name="Google Shape;1012;p29"/>
          <p:cNvSpPr/>
          <p:nvPr/>
        </p:nvSpPr>
        <p:spPr>
          <a:xfrm>
            <a:off x="2714625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3" name="Google Shape;1013;p29"/>
          <p:cNvSpPr/>
          <p:nvPr/>
        </p:nvSpPr>
        <p:spPr>
          <a:xfrm>
            <a:off x="2714625" y="8020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4" name="Google Shape;1014;p29"/>
          <p:cNvSpPr/>
          <p:nvPr/>
        </p:nvSpPr>
        <p:spPr>
          <a:xfrm>
            <a:off x="2714625" y="7068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5" name="Google Shape;1015;p29"/>
          <p:cNvSpPr txBox="1"/>
          <p:nvPr/>
        </p:nvSpPr>
        <p:spPr>
          <a:xfrm>
            <a:off x="2269350" y="58525"/>
            <a:ext cx="11559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accessions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29"/>
          <p:cNvSpPr txBox="1"/>
          <p:nvPr/>
        </p:nvSpPr>
        <p:spPr>
          <a:xfrm>
            <a:off x="3004171" y="732787"/>
            <a:ext cx="8280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Unmapped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29"/>
          <p:cNvSpPr txBox="1"/>
          <p:nvPr/>
        </p:nvSpPr>
        <p:spPr>
          <a:xfrm>
            <a:off x="5610292" y="502030"/>
            <a:ext cx="8079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29"/>
          <p:cNvSpPr txBox="1"/>
          <p:nvPr/>
        </p:nvSpPr>
        <p:spPr>
          <a:xfrm>
            <a:off x="5636942" y="768322"/>
            <a:ext cx="477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29"/>
          <p:cNvSpPr/>
          <p:nvPr/>
        </p:nvSpPr>
        <p:spPr>
          <a:xfrm>
            <a:off x="5724375" y="1468525"/>
            <a:ext cx="6240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29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29"/>
          <p:cNvSpPr/>
          <p:nvPr/>
        </p:nvSpPr>
        <p:spPr>
          <a:xfrm>
            <a:off x="3214388" y="2706064"/>
            <a:ext cx="4770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2" name="Google Shape;1022;p29"/>
          <p:cNvSpPr/>
          <p:nvPr/>
        </p:nvSpPr>
        <p:spPr>
          <a:xfrm>
            <a:off x="3214388" y="2599209"/>
            <a:ext cx="4770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3" name="Google Shape;1023;p29"/>
          <p:cNvSpPr/>
          <p:nvPr/>
        </p:nvSpPr>
        <p:spPr>
          <a:xfrm>
            <a:off x="3214388" y="2492350"/>
            <a:ext cx="4770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4" name="Google Shape;1024;p29"/>
          <p:cNvSpPr/>
          <p:nvPr/>
        </p:nvSpPr>
        <p:spPr>
          <a:xfrm>
            <a:off x="3214388" y="2812897"/>
            <a:ext cx="4770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25" name="Google Shape;1025;p29"/>
          <p:cNvCxnSpPr/>
          <p:nvPr/>
        </p:nvCxnSpPr>
        <p:spPr>
          <a:xfrm>
            <a:off x="2849250" y="3083064"/>
            <a:ext cx="22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26" name="Google Shape;1026;p29"/>
          <p:cNvSpPr txBox="1"/>
          <p:nvPr/>
        </p:nvSpPr>
        <p:spPr>
          <a:xfrm>
            <a:off x="2997788" y="2919725"/>
            <a:ext cx="9102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Database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29"/>
          <p:cNvSpPr/>
          <p:nvPr/>
        </p:nvSpPr>
        <p:spPr>
          <a:xfrm>
            <a:off x="4809975" y="26423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8" name="Google Shape;1028;p29"/>
          <p:cNvSpPr/>
          <p:nvPr/>
        </p:nvSpPr>
        <p:spPr>
          <a:xfrm>
            <a:off x="5351038" y="1218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9" name="Google Shape;1029;p29"/>
          <p:cNvSpPr/>
          <p:nvPr/>
        </p:nvSpPr>
        <p:spPr>
          <a:xfrm>
            <a:off x="5324400" y="1799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0" name="Google Shape;1030;p29"/>
          <p:cNvSpPr/>
          <p:nvPr/>
        </p:nvSpPr>
        <p:spPr>
          <a:xfrm>
            <a:off x="5351038" y="1123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1" name="Google Shape;1031;p29"/>
          <p:cNvSpPr/>
          <p:nvPr/>
        </p:nvSpPr>
        <p:spPr>
          <a:xfrm>
            <a:off x="4581375" y="5539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2" name="Google Shape;1032;p29"/>
          <p:cNvSpPr/>
          <p:nvPr/>
        </p:nvSpPr>
        <p:spPr>
          <a:xfrm>
            <a:off x="4584263" y="130378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3" name="Google Shape;1033;p29"/>
          <p:cNvSpPr/>
          <p:nvPr/>
        </p:nvSpPr>
        <p:spPr>
          <a:xfrm>
            <a:off x="5284490" y="64967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4" name="Google Shape;1034;p29"/>
          <p:cNvSpPr/>
          <p:nvPr/>
        </p:nvSpPr>
        <p:spPr>
          <a:xfrm>
            <a:off x="4605325" y="197736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5" name="Google Shape;1035;p29"/>
          <p:cNvSpPr/>
          <p:nvPr/>
        </p:nvSpPr>
        <p:spPr>
          <a:xfrm>
            <a:off x="5214950" y="245499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6" name="Google Shape;1036;p29"/>
          <p:cNvSpPr/>
          <p:nvPr/>
        </p:nvSpPr>
        <p:spPr>
          <a:xfrm>
            <a:off x="6440125" y="1088425"/>
            <a:ext cx="879000" cy="66600"/>
          </a:xfrm>
          <a:prstGeom prst="rect">
            <a:avLst/>
          </a:prstGeom>
          <a:solidFill>
            <a:srgbClr val="0076B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7" name="Google Shape;1037;p29"/>
          <p:cNvSpPr/>
          <p:nvPr/>
        </p:nvSpPr>
        <p:spPr>
          <a:xfrm>
            <a:off x="6440125" y="1408250"/>
            <a:ext cx="951900" cy="66600"/>
          </a:xfrm>
          <a:prstGeom prst="rect">
            <a:avLst/>
          </a:prstGeom>
          <a:solidFill>
            <a:srgbClr val="B416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8" name="Google Shape;1038;p29"/>
          <p:cNvSpPr/>
          <p:nvPr/>
        </p:nvSpPr>
        <p:spPr>
          <a:xfrm>
            <a:off x="6440125" y="1728075"/>
            <a:ext cx="554400" cy="6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9" name="Google Shape;1039;p29"/>
          <p:cNvSpPr/>
          <p:nvPr/>
        </p:nvSpPr>
        <p:spPr>
          <a:xfrm>
            <a:off x="7037005" y="1728086"/>
            <a:ext cx="338700" cy="6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0" name="Google Shape;1040;p29"/>
          <p:cNvSpPr/>
          <p:nvPr/>
        </p:nvSpPr>
        <p:spPr>
          <a:xfrm>
            <a:off x="6440125" y="2047900"/>
            <a:ext cx="677400" cy="66600"/>
          </a:xfrm>
          <a:prstGeom prst="rect">
            <a:avLst/>
          </a:prstGeom>
          <a:solidFill>
            <a:srgbClr val="016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41" name="Google Shape;1041;p29"/>
          <p:cNvCxnSpPr>
            <a:endCxn id="1026" idx="1"/>
          </p:cNvCxnSpPr>
          <p:nvPr/>
        </p:nvCxnSpPr>
        <p:spPr>
          <a:xfrm rot="-5400000" flipH="1">
            <a:off x="2650538" y="2735825"/>
            <a:ext cx="546000" cy="14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2" name="Google Shape;1042;p29"/>
          <p:cNvCxnSpPr/>
          <p:nvPr/>
        </p:nvCxnSpPr>
        <p:spPr>
          <a:xfrm>
            <a:off x="3814500" y="3083064"/>
            <a:ext cx="2537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43" name="Google Shape;1043;p29"/>
          <p:cNvSpPr txBox="1"/>
          <p:nvPr/>
        </p:nvSpPr>
        <p:spPr>
          <a:xfrm>
            <a:off x="6377723" y="112173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A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29"/>
          <p:cNvSpPr txBox="1"/>
          <p:nvPr/>
        </p:nvSpPr>
        <p:spPr>
          <a:xfrm>
            <a:off x="6377723" y="1458413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B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29"/>
          <p:cNvSpPr txBox="1"/>
          <p:nvPr/>
        </p:nvSpPr>
        <p:spPr>
          <a:xfrm>
            <a:off x="6377723" y="179508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C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29"/>
          <p:cNvSpPr txBox="1"/>
          <p:nvPr/>
        </p:nvSpPr>
        <p:spPr>
          <a:xfrm>
            <a:off x="6377723" y="211448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D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29"/>
          <p:cNvSpPr/>
          <p:nvPr/>
        </p:nvSpPr>
        <p:spPr>
          <a:xfrm>
            <a:off x="7427250" y="1478600"/>
            <a:ext cx="864600" cy="4764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 to Taxa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29"/>
          <p:cNvSpPr/>
          <p:nvPr/>
        </p:nvSpPr>
        <p:spPr>
          <a:xfrm>
            <a:off x="8368475" y="1673303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9" name="Google Shape;1049;p29"/>
          <p:cNvSpPr/>
          <p:nvPr/>
        </p:nvSpPr>
        <p:spPr>
          <a:xfrm>
            <a:off x="8368475" y="1319396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0" name="Google Shape;1050;p29"/>
          <p:cNvSpPr/>
          <p:nvPr/>
        </p:nvSpPr>
        <p:spPr>
          <a:xfrm>
            <a:off x="8368475" y="2027211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1" name="Google Shape;1051;p29"/>
          <p:cNvSpPr/>
          <p:nvPr/>
        </p:nvSpPr>
        <p:spPr>
          <a:xfrm>
            <a:off x="8368475" y="22041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2" name="Google Shape;1052;p29"/>
          <p:cNvSpPr/>
          <p:nvPr/>
        </p:nvSpPr>
        <p:spPr>
          <a:xfrm>
            <a:off x="8368475" y="965488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3" name="Google Shape;1053;p29"/>
          <p:cNvSpPr/>
          <p:nvPr/>
        </p:nvSpPr>
        <p:spPr>
          <a:xfrm>
            <a:off x="8368475" y="877012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4" name="Google Shape;1054;p29"/>
          <p:cNvSpPr/>
          <p:nvPr/>
        </p:nvSpPr>
        <p:spPr>
          <a:xfrm>
            <a:off x="8368475" y="1584826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5" name="Google Shape;1055;p29"/>
          <p:cNvSpPr/>
          <p:nvPr/>
        </p:nvSpPr>
        <p:spPr>
          <a:xfrm>
            <a:off x="8368475" y="1938734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6" name="Google Shape;1056;p29"/>
          <p:cNvSpPr/>
          <p:nvPr/>
        </p:nvSpPr>
        <p:spPr>
          <a:xfrm>
            <a:off x="8368475" y="2115687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7" name="Google Shape;1057;p29"/>
          <p:cNvSpPr/>
          <p:nvPr/>
        </p:nvSpPr>
        <p:spPr>
          <a:xfrm>
            <a:off x="8368475" y="1496350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8" name="Google Shape;1058;p29"/>
          <p:cNvSpPr/>
          <p:nvPr/>
        </p:nvSpPr>
        <p:spPr>
          <a:xfrm>
            <a:off x="8368475" y="229264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9" name="Google Shape;1059;p29"/>
          <p:cNvSpPr/>
          <p:nvPr/>
        </p:nvSpPr>
        <p:spPr>
          <a:xfrm>
            <a:off x="8368475" y="2381118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0" name="Google Shape;1060;p29"/>
          <p:cNvSpPr/>
          <p:nvPr/>
        </p:nvSpPr>
        <p:spPr>
          <a:xfrm>
            <a:off x="8368475" y="1053965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1" name="Google Shape;1061;p29"/>
          <p:cNvSpPr/>
          <p:nvPr/>
        </p:nvSpPr>
        <p:spPr>
          <a:xfrm>
            <a:off x="8368475" y="1142442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2" name="Google Shape;1062;p29"/>
          <p:cNvSpPr/>
          <p:nvPr/>
        </p:nvSpPr>
        <p:spPr>
          <a:xfrm>
            <a:off x="8368475" y="2469595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3" name="Google Shape;1063;p29"/>
          <p:cNvSpPr/>
          <p:nvPr/>
        </p:nvSpPr>
        <p:spPr>
          <a:xfrm>
            <a:off x="8368475" y="2558072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4" name="Google Shape;1064;p29"/>
          <p:cNvSpPr/>
          <p:nvPr/>
        </p:nvSpPr>
        <p:spPr>
          <a:xfrm>
            <a:off x="8368475" y="6115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5" name="Google Shape;1065;p29"/>
          <p:cNvSpPr/>
          <p:nvPr/>
        </p:nvSpPr>
        <p:spPr>
          <a:xfrm>
            <a:off x="8368475" y="2646549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6" name="Google Shape;1066;p29"/>
          <p:cNvSpPr/>
          <p:nvPr/>
        </p:nvSpPr>
        <p:spPr>
          <a:xfrm>
            <a:off x="8368475" y="1230919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7" name="Google Shape;1067;p29"/>
          <p:cNvSpPr/>
          <p:nvPr/>
        </p:nvSpPr>
        <p:spPr>
          <a:xfrm>
            <a:off x="8368475" y="788535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8" name="Google Shape;1068;p29"/>
          <p:cNvSpPr/>
          <p:nvPr/>
        </p:nvSpPr>
        <p:spPr>
          <a:xfrm>
            <a:off x="8368475" y="2735026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9" name="Google Shape;1069;p29"/>
          <p:cNvSpPr/>
          <p:nvPr/>
        </p:nvSpPr>
        <p:spPr>
          <a:xfrm>
            <a:off x="8368475" y="2823502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0" name="Google Shape;1070;p29"/>
          <p:cNvSpPr txBox="1"/>
          <p:nvPr/>
        </p:nvSpPr>
        <p:spPr>
          <a:xfrm>
            <a:off x="516732" y="3314700"/>
            <a:ext cx="7698600" cy="19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1500"/>
              <a:buFont typeface="Avenir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5: Mapping to taxa</a:t>
            </a:r>
            <a:endParaRPr sz="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Assign each read a final accession based on: </a:t>
            </a:r>
            <a:endParaRPr sz="1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9144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1. Contig accession, or  </a:t>
            </a:r>
            <a:endParaRPr sz="1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9144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2. Initial read accession (if the read did not assemble into a contig)</a:t>
            </a:r>
            <a:endParaRPr sz="1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Assign each contig/unassembled read to a taxon using NCBI taxon IDs</a:t>
            </a:r>
            <a:endParaRPr sz="1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Compute statistics (e.g., reads per million for each taxon)</a:t>
            </a:r>
            <a:endParaRPr sz="1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9DC06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9DC06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71" name="Google Shape;1071;p29"/>
          <p:cNvSpPr/>
          <p:nvPr/>
        </p:nvSpPr>
        <p:spPr>
          <a:xfrm>
            <a:off x="216550" y="554425"/>
            <a:ext cx="2390700" cy="25674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2" name="Google Shape;1072;p29"/>
          <p:cNvSpPr/>
          <p:nvPr/>
        </p:nvSpPr>
        <p:spPr>
          <a:xfrm>
            <a:off x="268725" y="116225"/>
            <a:ext cx="5845200" cy="4242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3" name="Google Shape;1073;p29"/>
          <p:cNvSpPr/>
          <p:nvPr/>
        </p:nvSpPr>
        <p:spPr>
          <a:xfrm>
            <a:off x="2629200" y="540350"/>
            <a:ext cx="3748500" cy="27060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4" name="Google Shape;1074;p29"/>
          <p:cNvSpPr/>
          <p:nvPr/>
        </p:nvSpPr>
        <p:spPr>
          <a:xfrm>
            <a:off x="2703825" y="2505450"/>
            <a:ext cx="412800" cy="6570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5" name="Google Shape;1075;p29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29"/>
          <p:cNvSpPr txBox="1"/>
          <p:nvPr/>
        </p:nvSpPr>
        <p:spPr>
          <a:xfrm>
            <a:off x="7933475" y="27175"/>
            <a:ext cx="11559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Report summary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32"/>
          <p:cNvSpPr/>
          <p:nvPr/>
        </p:nvSpPr>
        <p:spPr>
          <a:xfrm>
            <a:off x="846825" y="1468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Filtering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32"/>
          <p:cNvSpPr/>
          <p:nvPr/>
        </p:nvSpPr>
        <p:spPr>
          <a:xfrm>
            <a:off x="1918500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2"/>
          <p:cNvSpPr/>
          <p:nvPr/>
        </p:nvSpPr>
        <p:spPr>
          <a:xfrm>
            <a:off x="3856725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Assembly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32"/>
          <p:cNvSpPr/>
          <p:nvPr/>
        </p:nvSpPr>
        <p:spPr>
          <a:xfrm>
            <a:off x="4772025" y="4591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5" name="Google Shape;1085;p32"/>
          <p:cNvSpPr/>
          <p:nvPr/>
        </p:nvSpPr>
        <p:spPr>
          <a:xfrm>
            <a:off x="4848225" y="18104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6" name="Google Shape;1086;p32"/>
          <p:cNvSpPr/>
          <p:nvPr/>
        </p:nvSpPr>
        <p:spPr>
          <a:xfrm>
            <a:off x="4827163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7" name="Google Shape;1087;p32"/>
          <p:cNvSpPr/>
          <p:nvPr/>
        </p:nvSpPr>
        <p:spPr>
          <a:xfrm>
            <a:off x="4738700" y="24518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8" name="Google Shape;1088;p32"/>
          <p:cNvSpPr/>
          <p:nvPr/>
        </p:nvSpPr>
        <p:spPr>
          <a:xfrm>
            <a:off x="4943475" y="20962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9" name="Google Shape;1089;p32"/>
          <p:cNvSpPr/>
          <p:nvPr/>
        </p:nvSpPr>
        <p:spPr>
          <a:xfrm>
            <a:off x="5276850" y="20009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0" name="Google Shape;1090;p32"/>
          <p:cNvSpPr/>
          <p:nvPr/>
        </p:nvSpPr>
        <p:spPr>
          <a:xfrm>
            <a:off x="5372100" y="19057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1" name="Google Shape;1091;p32"/>
          <p:cNvSpPr/>
          <p:nvPr/>
        </p:nvSpPr>
        <p:spPr>
          <a:xfrm>
            <a:off x="5065288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2" name="Google Shape;1092;p32"/>
          <p:cNvSpPr/>
          <p:nvPr/>
        </p:nvSpPr>
        <p:spPr>
          <a:xfrm>
            <a:off x="5057775" y="7449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3" name="Google Shape;1093;p32"/>
          <p:cNvSpPr/>
          <p:nvPr/>
        </p:nvSpPr>
        <p:spPr>
          <a:xfrm>
            <a:off x="4976825" y="25470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4" name="Google Shape;1094;p32"/>
          <p:cNvSpPr/>
          <p:nvPr/>
        </p:nvSpPr>
        <p:spPr>
          <a:xfrm>
            <a:off x="5303413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5" name="Google Shape;1095;p32"/>
          <p:cNvSpPr/>
          <p:nvPr/>
        </p:nvSpPr>
        <p:spPr>
          <a:xfrm>
            <a:off x="4867275" y="6496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6" name="Google Shape;1096;p32"/>
          <p:cNvSpPr/>
          <p:nvPr/>
        </p:nvSpPr>
        <p:spPr>
          <a:xfrm>
            <a:off x="4914900" y="5544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7" name="Google Shape;1097;p32"/>
          <p:cNvSpPr/>
          <p:nvPr/>
        </p:nvSpPr>
        <p:spPr>
          <a:xfrm>
            <a:off x="4581525" y="840175"/>
            <a:ext cx="9888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8" name="Google Shape;1098;p32"/>
          <p:cNvSpPr/>
          <p:nvPr/>
        </p:nvSpPr>
        <p:spPr>
          <a:xfrm>
            <a:off x="4584263" y="1502900"/>
            <a:ext cx="107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9" name="Google Shape;1099;p32"/>
          <p:cNvSpPr/>
          <p:nvPr/>
        </p:nvSpPr>
        <p:spPr>
          <a:xfrm>
            <a:off x="4605325" y="2191450"/>
            <a:ext cx="624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0" name="Google Shape;1100;p32"/>
          <p:cNvSpPr/>
          <p:nvPr/>
        </p:nvSpPr>
        <p:spPr>
          <a:xfrm>
            <a:off x="5276850" y="2191461"/>
            <a:ext cx="38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1" name="Google Shape;1101;p32"/>
          <p:cNvSpPr/>
          <p:nvPr/>
        </p:nvSpPr>
        <p:spPr>
          <a:xfrm>
            <a:off x="4738700" y="2739950"/>
            <a:ext cx="762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2" name="Google Shape;1102;p32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3" name="Google Shape;1103;p32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4" name="Google Shape;1104;p32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5" name="Google Shape;1105;p32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6" name="Google Shape;1106;p32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7" name="Google Shape;1107;p32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8" name="Google Shape;1108;p32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9" name="Google Shape;1109;p32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0" name="Google Shape;1110;p32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1" name="Google Shape;1111;p32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2" name="Google Shape;1112;p32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3" name="Google Shape;1113;p32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4" name="Google Shape;1114;p32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5" name="Google Shape;1115;p32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6" name="Google Shape;1116;p32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7" name="Google Shape;1117;p32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8" name="Google Shape;1118;p32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9" name="Google Shape;1119;p32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0" name="Google Shape;1120;p32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1" name="Google Shape;1121;p32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2" name="Google Shape;1122;p32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3" name="Google Shape;1123;p32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4" name="Google Shape;1124;p32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5" name="Google Shape;1125;p32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6" name="Google Shape;1126;p32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7" name="Google Shape;1127;p32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8" name="Google Shape;1128;p32"/>
          <p:cNvSpPr/>
          <p:nvPr/>
        </p:nvSpPr>
        <p:spPr>
          <a:xfrm>
            <a:off x="1533525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9" name="Google Shape;1129;p32"/>
          <p:cNvSpPr/>
          <p:nvPr/>
        </p:nvSpPr>
        <p:spPr>
          <a:xfrm>
            <a:off x="1533525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0" name="Google Shape;1130;p32"/>
          <p:cNvSpPr/>
          <p:nvPr/>
        </p:nvSpPr>
        <p:spPr>
          <a:xfrm>
            <a:off x="1533525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1" name="Google Shape;1131;p32"/>
          <p:cNvSpPr/>
          <p:nvPr/>
        </p:nvSpPr>
        <p:spPr>
          <a:xfrm>
            <a:off x="1533525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2" name="Google Shape;1132;p32"/>
          <p:cNvSpPr/>
          <p:nvPr/>
        </p:nvSpPr>
        <p:spPr>
          <a:xfrm>
            <a:off x="1533525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3" name="Google Shape;1133;p32"/>
          <p:cNvSpPr/>
          <p:nvPr/>
        </p:nvSpPr>
        <p:spPr>
          <a:xfrm>
            <a:off x="1533525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4" name="Google Shape;1134;p32"/>
          <p:cNvSpPr/>
          <p:nvPr/>
        </p:nvSpPr>
        <p:spPr>
          <a:xfrm>
            <a:off x="1533525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5" name="Google Shape;1135;p32"/>
          <p:cNvSpPr/>
          <p:nvPr/>
        </p:nvSpPr>
        <p:spPr>
          <a:xfrm>
            <a:off x="1533525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6" name="Google Shape;1136;p32"/>
          <p:cNvSpPr/>
          <p:nvPr/>
        </p:nvSpPr>
        <p:spPr>
          <a:xfrm>
            <a:off x="1533525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7" name="Google Shape;1137;p32"/>
          <p:cNvSpPr/>
          <p:nvPr/>
        </p:nvSpPr>
        <p:spPr>
          <a:xfrm>
            <a:off x="1533525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8" name="Google Shape;1138;p32"/>
          <p:cNvSpPr/>
          <p:nvPr/>
        </p:nvSpPr>
        <p:spPr>
          <a:xfrm>
            <a:off x="1533525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9" name="Google Shape;1139;p32"/>
          <p:cNvSpPr/>
          <p:nvPr/>
        </p:nvSpPr>
        <p:spPr>
          <a:xfrm>
            <a:off x="1533525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0" name="Google Shape;1140;p32"/>
          <p:cNvSpPr/>
          <p:nvPr/>
        </p:nvSpPr>
        <p:spPr>
          <a:xfrm>
            <a:off x="1533525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1" name="Google Shape;1141;p32"/>
          <p:cNvSpPr/>
          <p:nvPr/>
        </p:nvSpPr>
        <p:spPr>
          <a:xfrm>
            <a:off x="153352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2" name="Google Shape;1142;p32"/>
          <p:cNvSpPr/>
          <p:nvPr/>
        </p:nvSpPr>
        <p:spPr>
          <a:xfrm>
            <a:off x="1533525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3" name="Google Shape;1143;p32"/>
          <p:cNvSpPr/>
          <p:nvPr/>
        </p:nvSpPr>
        <p:spPr>
          <a:xfrm>
            <a:off x="1533525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4" name="Google Shape;1144;p32"/>
          <p:cNvSpPr/>
          <p:nvPr/>
        </p:nvSpPr>
        <p:spPr>
          <a:xfrm>
            <a:off x="1533525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5" name="Google Shape;1145;p32"/>
          <p:cNvSpPr/>
          <p:nvPr/>
        </p:nvSpPr>
        <p:spPr>
          <a:xfrm>
            <a:off x="1533525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6" name="Google Shape;1146;p32"/>
          <p:cNvSpPr/>
          <p:nvPr/>
        </p:nvSpPr>
        <p:spPr>
          <a:xfrm>
            <a:off x="1533525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7" name="Google Shape;1147;p32"/>
          <p:cNvSpPr/>
          <p:nvPr/>
        </p:nvSpPr>
        <p:spPr>
          <a:xfrm>
            <a:off x="1533525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8" name="Google Shape;1148;p32"/>
          <p:cNvSpPr/>
          <p:nvPr/>
        </p:nvSpPr>
        <p:spPr>
          <a:xfrm>
            <a:off x="1533525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9" name="Google Shape;1149;p32"/>
          <p:cNvSpPr/>
          <p:nvPr/>
        </p:nvSpPr>
        <p:spPr>
          <a:xfrm>
            <a:off x="1533525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0" name="Google Shape;1150;p32"/>
          <p:cNvSpPr/>
          <p:nvPr/>
        </p:nvSpPr>
        <p:spPr>
          <a:xfrm>
            <a:off x="2714625" y="6115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1" name="Google Shape;1151;p32"/>
          <p:cNvSpPr/>
          <p:nvPr/>
        </p:nvSpPr>
        <p:spPr>
          <a:xfrm>
            <a:off x="2714625" y="17342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2" name="Google Shape;1152;p32"/>
          <p:cNvSpPr/>
          <p:nvPr/>
        </p:nvSpPr>
        <p:spPr>
          <a:xfrm>
            <a:off x="2714625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3" name="Google Shape;1153;p32"/>
          <p:cNvSpPr/>
          <p:nvPr/>
        </p:nvSpPr>
        <p:spPr>
          <a:xfrm>
            <a:off x="2714625" y="22994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4" name="Google Shape;1154;p32"/>
          <p:cNvSpPr/>
          <p:nvPr/>
        </p:nvSpPr>
        <p:spPr>
          <a:xfrm>
            <a:off x="3228975" y="14078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5" name="Google Shape;1155;p32"/>
          <p:cNvSpPr/>
          <p:nvPr/>
        </p:nvSpPr>
        <p:spPr>
          <a:xfrm>
            <a:off x="3390900" y="15029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6" name="Google Shape;1156;p32"/>
          <p:cNvSpPr/>
          <p:nvPr/>
        </p:nvSpPr>
        <p:spPr>
          <a:xfrm>
            <a:off x="3228975" y="15981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7" name="Google Shape;1157;p32"/>
          <p:cNvSpPr/>
          <p:nvPr/>
        </p:nvSpPr>
        <p:spPr>
          <a:xfrm>
            <a:off x="3324225" y="17886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8" name="Google Shape;1158;p32"/>
          <p:cNvSpPr/>
          <p:nvPr/>
        </p:nvSpPr>
        <p:spPr>
          <a:xfrm>
            <a:off x="3324225" y="1312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9" name="Google Shape;1159;p32"/>
          <p:cNvSpPr/>
          <p:nvPr/>
        </p:nvSpPr>
        <p:spPr>
          <a:xfrm>
            <a:off x="3162300" y="170092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0" name="Google Shape;1160;p32"/>
          <p:cNvSpPr/>
          <p:nvPr/>
        </p:nvSpPr>
        <p:spPr>
          <a:xfrm>
            <a:off x="2714625" y="20200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1" name="Google Shape;1161;p32"/>
          <p:cNvSpPr/>
          <p:nvPr/>
        </p:nvSpPr>
        <p:spPr>
          <a:xfrm>
            <a:off x="2714625" y="19247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2" name="Google Shape;1162;p32"/>
          <p:cNvSpPr/>
          <p:nvPr/>
        </p:nvSpPr>
        <p:spPr>
          <a:xfrm>
            <a:off x="3489740" y="170021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3" name="Google Shape;1163;p32"/>
          <p:cNvSpPr/>
          <p:nvPr/>
        </p:nvSpPr>
        <p:spPr>
          <a:xfrm>
            <a:off x="316230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4" name="Google Shape;1164;p32"/>
          <p:cNvSpPr/>
          <p:nvPr/>
        </p:nvSpPr>
        <p:spPr>
          <a:xfrm>
            <a:off x="2714625" y="18295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5" name="Google Shape;1165;p32"/>
          <p:cNvSpPr/>
          <p:nvPr/>
        </p:nvSpPr>
        <p:spPr>
          <a:xfrm>
            <a:off x="2714625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6" name="Google Shape;1166;p32"/>
          <p:cNvSpPr/>
          <p:nvPr/>
        </p:nvSpPr>
        <p:spPr>
          <a:xfrm>
            <a:off x="2714625" y="8973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7" name="Google Shape;1167;p32"/>
          <p:cNvSpPr/>
          <p:nvPr/>
        </p:nvSpPr>
        <p:spPr>
          <a:xfrm>
            <a:off x="2714625" y="23946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8" name="Google Shape;1168;p32"/>
          <p:cNvSpPr/>
          <p:nvPr/>
        </p:nvSpPr>
        <p:spPr>
          <a:xfrm>
            <a:off x="322897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9" name="Google Shape;1169;p32"/>
          <p:cNvSpPr/>
          <p:nvPr/>
        </p:nvSpPr>
        <p:spPr>
          <a:xfrm>
            <a:off x="2714625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0" name="Google Shape;1170;p32"/>
          <p:cNvSpPr/>
          <p:nvPr/>
        </p:nvSpPr>
        <p:spPr>
          <a:xfrm>
            <a:off x="2714625" y="8020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1" name="Google Shape;1171;p32"/>
          <p:cNvSpPr/>
          <p:nvPr/>
        </p:nvSpPr>
        <p:spPr>
          <a:xfrm>
            <a:off x="2714625" y="7068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2" name="Google Shape;1172;p32"/>
          <p:cNvSpPr txBox="1"/>
          <p:nvPr/>
        </p:nvSpPr>
        <p:spPr>
          <a:xfrm>
            <a:off x="2269350" y="58525"/>
            <a:ext cx="11559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accessions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32"/>
          <p:cNvSpPr txBox="1"/>
          <p:nvPr/>
        </p:nvSpPr>
        <p:spPr>
          <a:xfrm>
            <a:off x="3004171" y="732787"/>
            <a:ext cx="8280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Unmapped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32"/>
          <p:cNvSpPr txBox="1"/>
          <p:nvPr/>
        </p:nvSpPr>
        <p:spPr>
          <a:xfrm>
            <a:off x="5610292" y="502030"/>
            <a:ext cx="8079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32"/>
          <p:cNvSpPr txBox="1"/>
          <p:nvPr/>
        </p:nvSpPr>
        <p:spPr>
          <a:xfrm>
            <a:off x="5636942" y="768322"/>
            <a:ext cx="477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32"/>
          <p:cNvSpPr/>
          <p:nvPr/>
        </p:nvSpPr>
        <p:spPr>
          <a:xfrm>
            <a:off x="5724375" y="1468525"/>
            <a:ext cx="6240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2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32"/>
          <p:cNvSpPr/>
          <p:nvPr/>
        </p:nvSpPr>
        <p:spPr>
          <a:xfrm>
            <a:off x="3214388" y="2706064"/>
            <a:ext cx="4770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9" name="Google Shape;1179;p32"/>
          <p:cNvSpPr/>
          <p:nvPr/>
        </p:nvSpPr>
        <p:spPr>
          <a:xfrm>
            <a:off x="3214388" y="2599209"/>
            <a:ext cx="4770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0" name="Google Shape;1180;p32"/>
          <p:cNvSpPr/>
          <p:nvPr/>
        </p:nvSpPr>
        <p:spPr>
          <a:xfrm>
            <a:off x="3214388" y="2492350"/>
            <a:ext cx="4770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1" name="Google Shape;1181;p32"/>
          <p:cNvSpPr/>
          <p:nvPr/>
        </p:nvSpPr>
        <p:spPr>
          <a:xfrm>
            <a:off x="3214388" y="2812897"/>
            <a:ext cx="4770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82" name="Google Shape;1182;p32"/>
          <p:cNvCxnSpPr/>
          <p:nvPr/>
        </p:nvCxnSpPr>
        <p:spPr>
          <a:xfrm>
            <a:off x="2849250" y="3083064"/>
            <a:ext cx="22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83" name="Google Shape;1183;p32"/>
          <p:cNvSpPr txBox="1"/>
          <p:nvPr/>
        </p:nvSpPr>
        <p:spPr>
          <a:xfrm>
            <a:off x="2997788" y="2919725"/>
            <a:ext cx="9102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Database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2"/>
          <p:cNvSpPr/>
          <p:nvPr/>
        </p:nvSpPr>
        <p:spPr>
          <a:xfrm>
            <a:off x="4809975" y="26423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5" name="Google Shape;1185;p32"/>
          <p:cNvSpPr/>
          <p:nvPr/>
        </p:nvSpPr>
        <p:spPr>
          <a:xfrm>
            <a:off x="5351038" y="1218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6" name="Google Shape;1186;p32"/>
          <p:cNvSpPr/>
          <p:nvPr/>
        </p:nvSpPr>
        <p:spPr>
          <a:xfrm>
            <a:off x="5324400" y="1799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7" name="Google Shape;1187;p32"/>
          <p:cNvSpPr/>
          <p:nvPr/>
        </p:nvSpPr>
        <p:spPr>
          <a:xfrm>
            <a:off x="5351038" y="1123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8" name="Google Shape;1188;p32"/>
          <p:cNvSpPr/>
          <p:nvPr/>
        </p:nvSpPr>
        <p:spPr>
          <a:xfrm>
            <a:off x="4581375" y="5539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9" name="Google Shape;1189;p32"/>
          <p:cNvSpPr/>
          <p:nvPr/>
        </p:nvSpPr>
        <p:spPr>
          <a:xfrm>
            <a:off x="4584263" y="130378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0" name="Google Shape;1190;p32"/>
          <p:cNvSpPr/>
          <p:nvPr/>
        </p:nvSpPr>
        <p:spPr>
          <a:xfrm>
            <a:off x="5284490" y="64967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1" name="Google Shape;1191;p32"/>
          <p:cNvSpPr/>
          <p:nvPr/>
        </p:nvSpPr>
        <p:spPr>
          <a:xfrm>
            <a:off x="4605325" y="197736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2" name="Google Shape;1192;p32"/>
          <p:cNvSpPr/>
          <p:nvPr/>
        </p:nvSpPr>
        <p:spPr>
          <a:xfrm>
            <a:off x="5214950" y="245499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3" name="Google Shape;1193;p32"/>
          <p:cNvSpPr/>
          <p:nvPr/>
        </p:nvSpPr>
        <p:spPr>
          <a:xfrm>
            <a:off x="6440125" y="1088425"/>
            <a:ext cx="879000" cy="66600"/>
          </a:xfrm>
          <a:prstGeom prst="rect">
            <a:avLst/>
          </a:prstGeom>
          <a:solidFill>
            <a:srgbClr val="0076B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4" name="Google Shape;1194;p32"/>
          <p:cNvSpPr/>
          <p:nvPr/>
        </p:nvSpPr>
        <p:spPr>
          <a:xfrm>
            <a:off x="6440125" y="1408250"/>
            <a:ext cx="951900" cy="66600"/>
          </a:xfrm>
          <a:prstGeom prst="rect">
            <a:avLst/>
          </a:prstGeom>
          <a:solidFill>
            <a:srgbClr val="B416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5" name="Google Shape;1195;p32"/>
          <p:cNvSpPr/>
          <p:nvPr/>
        </p:nvSpPr>
        <p:spPr>
          <a:xfrm>
            <a:off x="6440125" y="1728075"/>
            <a:ext cx="554400" cy="6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6" name="Google Shape;1196;p32"/>
          <p:cNvSpPr/>
          <p:nvPr/>
        </p:nvSpPr>
        <p:spPr>
          <a:xfrm>
            <a:off x="7037005" y="1728086"/>
            <a:ext cx="338700" cy="6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7" name="Google Shape;1197;p32"/>
          <p:cNvSpPr/>
          <p:nvPr/>
        </p:nvSpPr>
        <p:spPr>
          <a:xfrm>
            <a:off x="6440125" y="2047900"/>
            <a:ext cx="677400" cy="66600"/>
          </a:xfrm>
          <a:prstGeom prst="rect">
            <a:avLst/>
          </a:prstGeom>
          <a:solidFill>
            <a:srgbClr val="016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98" name="Google Shape;1198;p32"/>
          <p:cNvCxnSpPr>
            <a:endCxn id="1183" idx="1"/>
          </p:cNvCxnSpPr>
          <p:nvPr/>
        </p:nvCxnSpPr>
        <p:spPr>
          <a:xfrm rot="-5400000" flipH="1">
            <a:off x="2650538" y="2735825"/>
            <a:ext cx="546000" cy="14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9" name="Google Shape;1199;p32"/>
          <p:cNvCxnSpPr/>
          <p:nvPr/>
        </p:nvCxnSpPr>
        <p:spPr>
          <a:xfrm>
            <a:off x="3814500" y="3083064"/>
            <a:ext cx="2537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00" name="Google Shape;1200;p32"/>
          <p:cNvSpPr txBox="1"/>
          <p:nvPr/>
        </p:nvSpPr>
        <p:spPr>
          <a:xfrm>
            <a:off x="6377723" y="112173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A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32"/>
          <p:cNvSpPr txBox="1"/>
          <p:nvPr/>
        </p:nvSpPr>
        <p:spPr>
          <a:xfrm>
            <a:off x="6377723" y="1458413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B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32"/>
          <p:cNvSpPr txBox="1"/>
          <p:nvPr/>
        </p:nvSpPr>
        <p:spPr>
          <a:xfrm>
            <a:off x="6377723" y="179508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C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2"/>
          <p:cNvSpPr txBox="1"/>
          <p:nvPr/>
        </p:nvSpPr>
        <p:spPr>
          <a:xfrm>
            <a:off x="6377723" y="211448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D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32"/>
          <p:cNvSpPr/>
          <p:nvPr/>
        </p:nvSpPr>
        <p:spPr>
          <a:xfrm>
            <a:off x="7427250" y="1478600"/>
            <a:ext cx="864600" cy="4764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 to Taxa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32"/>
          <p:cNvSpPr/>
          <p:nvPr/>
        </p:nvSpPr>
        <p:spPr>
          <a:xfrm>
            <a:off x="8368475" y="1673303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6" name="Google Shape;1206;p32"/>
          <p:cNvSpPr/>
          <p:nvPr/>
        </p:nvSpPr>
        <p:spPr>
          <a:xfrm>
            <a:off x="8368475" y="1319396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7" name="Google Shape;1207;p32"/>
          <p:cNvSpPr/>
          <p:nvPr/>
        </p:nvSpPr>
        <p:spPr>
          <a:xfrm>
            <a:off x="8368475" y="2027211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8" name="Google Shape;1208;p32"/>
          <p:cNvSpPr/>
          <p:nvPr/>
        </p:nvSpPr>
        <p:spPr>
          <a:xfrm>
            <a:off x="8368475" y="22041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9" name="Google Shape;1209;p32"/>
          <p:cNvSpPr/>
          <p:nvPr/>
        </p:nvSpPr>
        <p:spPr>
          <a:xfrm>
            <a:off x="8368475" y="965488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0" name="Google Shape;1210;p32"/>
          <p:cNvSpPr/>
          <p:nvPr/>
        </p:nvSpPr>
        <p:spPr>
          <a:xfrm>
            <a:off x="8368475" y="877012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1" name="Google Shape;1211;p32"/>
          <p:cNvSpPr/>
          <p:nvPr/>
        </p:nvSpPr>
        <p:spPr>
          <a:xfrm>
            <a:off x="8368475" y="1584826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2" name="Google Shape;1212;p32"/>
          <p:cNvSpPr/>
          <p:nvPr/>
        </p:nvSpPr>
        <p:spPr>
          <a:xfrm>
            <a:off x="8368475" y="1938734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3" name="Google Shape;1213;p32"/>
          <p:cNvSpPr/>
          <p:nvPr/>
        </p:nvSpPr>
        <p:spPr>
          <a:xfrm>
            <a:off x="8368475" y="2115687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4" name="Google Shape;1214;p32"/>
          <p:cNvSpPr/>
          <p:nvPr/>
        </p:nvSpPr>
        <p:spPr>
          <a:xfrm>
            <a:off x="8368475" y="1496350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5" name="Google Shape;1215;p32"/>
          <p:cNvSpPr/>
          <p:nvPr/>
        </p:nvSpPr>
        <p:spPr>
          <a:xfrm>
            <a:off x="8368475" y="229264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6" name="Google Shape;1216;p32"/>
          <p:cNvSpPr/>
          <p:nvPr/>
        </p:nvSpPr>
        <p:spPr>
          <a:xfrm>
            <a:off x="8368475" y="2381118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7" name="Google Shape;1217;p32"/>
          <p:cNvSpPr/>
          <p:nvPr/>
        </p:nvSpPr>
        <p:spPr>
          <a:xfrm>
            <a:off x="8368475" y="1053965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8" name="Google Shape;1218;p32"/>
          <p:cNvSpPr/>
          <p:nvPr/>
        </p:nvSpPr>
        <p:spPr>
          <a:xfrm>
            <a:off x="8368475" y="1142442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9" name="Google Shape;1219;p32"/>
          <p:cNvSpPr/>
          <p:nvPr/>
        </p:nvSpPr>
        <p:spPr>
          <a:xfrm>
            <a:off x="8368475" y="2469595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0" name="Google Shape;1220;p32"/>
          <p:cNvSpPr/>
          <p:nvPr/>
        </p:nvSpPr>
        <p:spPr>
          <a:xfrm>
            <a:off x="8368475" y="2558072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1" name="Google Shape;1221;p32"/>
          <p:cNvSpPr/>
          <p:nvPr/>
        </p:nvSpPr>
        <p:spPr>
          <a:xfrm>
            <a:off x="8368475" y="6115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2" name="Google Shape;1222;p32"/>
          <p:cNvSpPr/>
          <p:nvPr/>
        </p:nvSpPr>
        <p:spPr>
          <a:xfrm>
            <a:off x="8368475" y="2646549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3" name="Google Shape;1223;p32"/>
          <p:cNvSpPr/>
          <p:nvPr/>
        </p:nvSpPr>
        <p:spPr>
          <a:xfrm>
            <a:off x="8368475" y="1230919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4" name="Google Shape;1224;p32"/>
          <p:cNvSpPr/>
          <p:nvPr/>
        </p:nvSpPr>
        <p:spPr>
          <a:xfrm>
            <a:off x="8368475" y="788535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5" name="Google Shape;1225;p32"/>
          <p:cNvSpPr/>
          <p:nvPr/>
        </p:nvSpPr>
        <p:spPr>
          <a:xfrm>
            <a:off x="8368475" y="2735026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6" name="Google Shape;1226;p32"/>
          <p:cNvSpPr/>
          <p:nvPr/>
        </p:nvSpPr>
        <p:spPr>
          <a:xfrm>
            <a:off x="8368475" y="2823502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7" name="Google Shape;1227;p32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32"/>
          <p:cNvSpPr txBox="1"/>
          <p:nvPr/>
        </p:nvSpPr>
        <p:spPr>
          <a:xfrm>
            <a:off x="5610300" y="3726975"/>
            <a:ext cx="3516900" cy="14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CZ ID GitHub Repositories: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czid-web</a:t>
            </a:r>
            <a:r>
              <a:rPr lang="en" sz="1200" b="0" i="0" u="none" strike="noStrike" cap="non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Frontend portal</a:t>
            </a:r>
            <a:endParaRPr sz="1200" b="0" i="0" u="none" strike="noStrike" cap="none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czid-workflows</a:t>
            </a:r>
            <a:r>
              <a:rPr lang="en" sz="1200" b="0" i="0" u="none" strike="noStrike" cap="non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Bioinformatics workflows</a:t>
            </a:r>
            <a:endParaRPr sz="1200" b="0" i="0" u="none" strike="noStrike" cap="none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/>
              </a:rPr>
              <a:t>czid-cli</a:t>
            </a:r>
            <a:r>
              <a:rPr lang="en" sz="1200" b="0" i="0" u="none" strike="noStrike" cap="non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Command line upload interface</a:t>
            </a:r>
            <a:endParaRPr sz="1200" b="0" i="0" u="none" strike="noStrike" cap="none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/>
              </a:rPr>
              <a:t>czid-bench</a:t>
            </a:r>
            <a:r>
              <a:rPr lang="en" sz="1200" b="0" i="0" u="none" strike="noStrike" cap="non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Pipeline benchmarking tools</a:t>
            </a:r>
            <a:endParaRPr sz="1200" b="0" i="0" u="none" strike="noStrike" cap="none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9" name="Google Shape;1229;p32"/>
          <p:cNvSpPr txBox="1"/>
          <p:nvPr/>
        </p:nvSpPr>
        <p:spPr>
          <a:xfrm>
            <a:off x="331850" y="3945200"/>
            <a:ext cx="18435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7"/>
              </a:rPr>
              <a:t>Pipeline visualization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31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Let’s talk about QC next…</a:t>
            </a:r>
            <a:endParaRPr/>
          </a:p>
        </p:txBody>
      </p:sp>
      <p:sp>
        <p:nvSpPr>
          <p:cNvPr id="1235" name="Google Shape;1235;p31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4D963B-C147-7D23-15BD-E321511E3A26}"/>
              </a:ext>
            </a:extLst>
          </p:cNvPr>
          <p:cNvSpPr txBox="1"/>
          <p:nvPr/>
        </p:nvSpPr>
        <p:spPr>
          <a:xfrm>
            <a:off x="2107222" y="3182471"/>
            <a:ext cx="49295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Next Slides</a:t>
            </a:r>
            <a:r>
              <a:rPr lang="en-US" dirty="0"/>
              <a:t>: DL5-I_QC and interpretation slides for Illumina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1827</Words>
  <Application>Microsoft Macintosh PowerPoint</Application>
  <PresentationFormat>On-screen Show (16:9)</PresentationFormat>
  <Paragraphs>362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Courier New</vt:lpstr>
      <vt:lpstr>Poppins</vt:lpstr>
      <vt:lpstr>Helvetica Neue Light</vt:lpstr>
      <vt:lpstr>Avenir</vt:lpstr>
      <vt:lpstr>Calibri</vt:lpstr>
      <vt:lpstr>Arial</vt:lpstr>
      <vt:lpstr>Helvetica Neue</vt:lpstr>
      <vt:lpstr>White</vt:lpstr>
      <vt:lpstr>Office Theme</vt:lpstr>
      <vt:lpstr>Disclaimer</vt:lpstr>
      <vt:lpstr>PowerPoint Presentation</vt:lpstr>
      <vt:lpstr>Outline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Pipeline Basics</vt:lpstr>
      <vt:lpstr>Sequence assembly into contigs</vt:lpstr>
      <vt:lpstr>Sequence assembly into contigs</vt:lpstr>
      <vt:lpstr>Sequence alignment against database</vt:lpstr>
      <vt:lpstr>Sequence alignment against database</vt:lpstr>
      <vt:lpstr>Sequence alignment against database</vt:lpstr>
      <vt:lpstr>CZ ID uses NCBI reference databases</vt:lpstr>
      <vt:lpstr>CZ ID uses NCBI reference databases</vt:lpstr>
      <vt:lpstr>CZ ID uses NCBI reference databases</vt:lpstr>
      <vt:lpstr>Where would you see the following E. coli matches?</vt:lpstr>
      <vt:lpstr>Where would you see the following E. coli matches?</vt:lpstr>
      <vt:lpstr>CZ ID mNGS Pipeline Walkthrough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talk about QC next…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3</cp:revision>
  <dcterms:modified xsi:type="dcterms:W3CDTF">2026-09-29T00:28:15Z</dcterms:modified>
</cp:coreProperties>
</file>